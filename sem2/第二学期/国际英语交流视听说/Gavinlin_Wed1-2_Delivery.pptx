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8551"/>
    <a:srgbClr val="D4AF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76"/>
    <p:restoredTop sz="94646"/>
  </p:normalViewPr>
  <p:slideViewPr>
    <p:cSldViewPr snapToGrid="0" snapToObjects="1">
      <p:cViewPr varScale="1">
        <p:scale>
          <a:sx n="81" d="100"/>
          <a:sy n="81" d="100"/>
        </p:scale>
        <p:origin x="208" y="7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7721" y="1249937"/>
            <a:ext cx="5567464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0" i="0">
                <a:solidFill>
                  <a:srgbClr val="1A1A1A"/>
                </a:solidFill>
                <a:latin typeface="Playfair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Wu Xing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(5-elements theory)</a:t>
            </a:r>
            <a:endParaRPr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3524" y="2490072"/>
            <a:ext cx="5391404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1400"/>
              </a:spcAft>
              <a:defRPr sz="1600" b="0">
                <a:solidFill>
                  <a:srgbClr val="1A1A1A"/>
                </a:solidFill>
                <a:latin typeface="Inter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raised the theory? </a:t>
            </a:r>
          </a:p>
          <a:p>
            <a:pPr algn="l">
              <a:spcAft>
                <a:spcPts val="1400"/>
              </a:spcAft>
              <a:defRPr sz="1600" b="0">
                <a:solidFill>
                  <a:srgbClr val="1A1A1A"/>
                </a:solidFill>
                <a:latin typeface="Inter"/>
              </a:defRPr>
            </a:pP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Zou Yan in </a:t>
            </a:r>
            <a:r>
              <a:rPr lang="en-US" i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Zhanguo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(2000 years ago)</a:t>
            </a:r>
          </a:p>
          <a:p>
            <a:pPr algn="l">
              <a:spcAft>
                <a:spcPts val="1400"/>
              </a:spcAft>
              <a:defRPr sz="1600" b="0">
                <a:solidFill>
                  <a:srgbClr val="1A1A1A"/>
                </a:solidFill>
                <a:latin typeface="Inter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elements generates and restrain each other.</a:t>
            </a:r>
          </a:p>
          <a:p>
            <a:pPr algn="l">
              <a:spcAft>
                <a:spcPts val="1400"/>
              </a:spcAft>
              <a:defRPr sz="1600" b="0">
                <a:solidFill>
                  <a:srgbClr val="1A1A1A"/>
                </a:solidFill>
                <a:latin typeface="Inter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Ancient naive materialism -- how they see the world?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4364" y="6040831"/>
            <a:ext cx="201168" cy="201168"/>
          </a:xfrm>
          <a:prstGeom prst="rect">
            <a:avLst/>
          </a:prstGeom>
          <a:solidFill>
            <a:srgbClr val="D4AF37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61835" y="5995111"/>
            <a:ext cx="2409895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1A1A1A"/>
                </a:solidFill>
                <a:latin typeface="Inter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Cycle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4364" y="6452311"/>
            <a:ext cx="201168" cy="201168"/>
          </a:xfrm>
          <a:prstGeom prst="rect">
            <a:avLst/>
          </a:prstGeom>
          <a:solidFill>
            <a:srgbClr val="C48552"/>
          </a:solidFill>
          <a:ln w="6350">
            <a:solidFill>
              <a:srgbClr val="C48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61835" y="6406591"/>
            <a:ext cx="2229591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1A1A1A"/>
                </a:solidFill>
                <a:latin typeface="Inter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Restraint Cycle</a:t>
            </a:r>
          </a:p>
        </p:txBody>
      </p:sp>
      <p:sp>
        <p:nvSpPr>
          <p:cNvPr id="9" name="Oval 8"/>
          <p:cNvSpPr/>
          <p:nvPr/>
        </p:nvSpPr>
        <p:spPr>
          <a:xfrm>
            <a:off x="8613648" y="1252728"/>
            <a:ext cx="1060704" cy="1060704"/>
          </a:xfrm>
          <a:prstGeom prst="ellipse">
            <a:avLst/>
          </a:prstGeom>
          <a:solidFill>
            <a:srgbClr val="D94535"/>
          </a:solidFill>
          <a:ln w="19050">
            <a:solidFill>
              <a:srgbClr val="D94535"/>
            </a:solidFill>
          </a:ln>
          <a:effectLst>
            <a:outerShdw blurRad="76200" dist="38100" dir="5400000" algn="ctr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13648" y="1570939"/>
            <a:ext cx="1060704" cy="4242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AFAF8"/>
                </a:solidFill>
                <a:latin typeface="Playfair Display"/>
              </a:defRPr>
            </a:pPr>
            <a:r>
              <a:rPr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87384" y="627489"/>
            <a:ext cx="822960" cy="448137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1A1A1A"/>
                </a:solidFill>
                <a:latin typeface="Inter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</a:t>
            </a:r>
          </a:p>
        </p:txBody>
      </p:sp>
      <p:sp>
        <p:nvSpPr>
          <p:cNvPr id="12" name="Oval 11"/>
          <p:cNvSpPr/>
          <p:nvPr/>
        </p:nvSpPr>
        <p:spPr>
          <a:xfrm>
            <a:off x="10179010" y="2390030"/>
            <a:ext cx="1060704" cy="1060704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9050">
            <a:solidFill>
              <a:srgbClr val="C8983E"/>
            </a:solidFill>
          </a:ln>
          <a:effectLst>
            <a:outerShdw blurRad="76200" dist="38100" dir="5400000" algn="ctr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179010" y="2708241"/>
            <a:ext cx="1060704" cy="4242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AFAF8"/>
                </a:solidFill>
                <a:latin typeface="Playfair Display"/>
              </a:defRPr>
            </a:pPr>
            <a:r>
              <a:rPr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土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245193" y="2177625"/>
            <a:ext cx="822960" cy="69827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1A1A1A"/>
                </a:solidFill>
                <a:latin typeface="Inter"/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Earth</a:t>
            </a:r>
          </a:p>
        </p:txBody>
      </p:sp>
      <p:sp>
        <p:nvSpPr>
          <p:cNvPr id="15" name="Oval 14"/>
          <p:cNvSpPr/>
          <p:nvPr/>
        </p:nvSpPr>
        <p:spPr>
          <a:xfrm>
            <a:off x="9581095" y="4230225"/>
            <a:ext cx="1060704" cy="1060704"/>
          </a:xfrm>
          <a:prstGeom prst="ellipse">
            <a:avLst/>
          </a:prstGeom>
          <a:solidFill>
            <a:srgbClr val="FFC000"/>
          </a:solidFill>
          <a:ln w="19050">
            <a:solidFill>
              <a:srgbClr val="8A8A8A"/>
            </a:solidFill>
          </a:ln>
          <a:effectLst>
            <a:outerShdw blurRad="76200" dist="38100" dir="5400000" algn="ctr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581095" y="4548436"/>
            <a:ext cx="1060704" cy="4242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AFAF8"/>
                </a:solidFill>
                <a:latin typeface="Playfair Display"/>
              </a:defRPr>
            </a:pPr>
            <a:r>
              <a:rPr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金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297882" y="5391133"/>
            <a:ext cx="822960" cy="67928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1A1A1A"/>
                </a:solidFill>
                <a:latin typeface="Inter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</a:t>
            </a:r>
          </a:p>
        </p:txBody>
      </p:sp>
      <p:sp>
        <p:nvSpPr>
          <p:cNvPr id="18" name="Oval 17"/>
          <p:cNvSpPr/>
          <p:nvPr/>
        </p:nvSpPr>
        <p:spPr>
          <a:xfrm>
            <a:off x="7646200" y="4230225"/>
            <a:ext cx="1060704" cy="1060704"/>
          </a:xfrm>
          <a:prstGeom prst="ellipse">
            <a:avLst/>
          </a:prstGeom>
          <a:solidFill>
            <a:srgbClr val="50758A"/>
          </a:solidFill>
          <a:ln w="19050">
            <a:solidFill>
              <a:srgbClr val="50758A"/>
            </a:solidFill>
          </a:ln>
          <a:effectLst>
            <a:outerShdw blurRad="76200" dist="38100" dir="5400000" algn="ctr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46200" y="4548436"/>
            <a:ext cx="1060704" cy="4242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AFAF8"/>
                </a:solidFill>
                <a:latin typeface="Playfair Display"/>
              </a:defRPr>
            </a:pPr>
            <a:r>
              <a:rPr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8285" y="5367128"/>
            <a:ext cx="822960" cy="703291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1A1A1A"/>
                </a:solidFill>
                <a:latin typeface="Inter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</a:t>
            </a:r>
          </a:p>
        </p:txBody>
      </p:sp>
      <p:sp>
        <p:nvSpPr>
          <p:cNvPr id="21" name="Oval 20"/>
          <p:cNvSpPr/>
          <p:nvPr/>
        </p:nvSpPr>
        <p:spPr>
          <a:xfrm>
            <a:off x="7048285" y="2390030"/>
            <a:ext cx="1060704" cy="1060704"/>
          </a:xfrm>
          <a:prstGeom prst="ellipse">
            <a:avLst/>
          </a:prstGeom>
          <a:solidFill>
            <a:srgbClr val="5B8C5A"/>
          </a:solidFill>
          <a:ln w="19050">
            <a:solidFill>
              <a:srgbClr val="5B8C5A"/>
            </a:solidFill>
          </a:ln>
          <a:effectLst>
            <a:outerShdw blurRad="76200" dist="38100" dir="5400000" algn="ctr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48285" y="2708241"/>
            <a:ext cx="1060704" cy="4242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AFAF8"/>
                </a:solidFill>
                <a:latin typeface="Playfair Display"/>
              </a:defRPr>
            </a:pPr>
            <a:r>
              <a:rPr dirty="0" err="1"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木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88471" y="2251234"/>
            <a:ext cx="1363904" cy="5882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1A1A1A"/>
                </a:solidFill>
                <a:latin typeface="Inter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Wood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35560">
            <a:solidFill>
              <a:srgbClr val="D4AF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0" y="0"/>
            <a:ext cx="0" cy="0"/>
          </a:xfrm>
          <a:prstGeom prst="line">
            <a:avLst/>
          </a:prstGeom>
          <a:ln w="35560">
            <a:solidFill>
              <a:srgbClr val="D4AF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0" y="0"/>
            <a:ext cx="0" cy="0"/>
          </a:xfrm>
          <a:prstGeom prst="line">
            <a:avLst/>
          </a:prstGeom>
          <a:ln w="35560">
            <a:solidFill>
              <a:srgbClr val="D4AF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0" y="0"/>
            <a:ext cx="0" cy="0"/>
          </a:xfrm>
          <a:prstGeom prst="line">
            <a:avLst/>
          </a:prstGeom>
          <a:ln w="35560">
            <a:solidFill>
              <a:srgbClr val="D4AF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35560">
            <a:solidFill>
              <a:srgbClr val="D4AF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C48552"/>
            </a:solidFill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0" y="0"/>
            <a:ext cx="0" cy="0"/>
          </a:xfrm>
          <a:prstGeom prst="line">
            <a:avLst/>
          </a:prstGeom>
          <a:ln w="15240">
            <a:solidFill>
              <a:srgbClr val="C48552"/>
            </a:solidFill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0" y="0"/>
            <a:ext cx="0" cy="0"/>
          </a:xfrm>
          <a:prstGeom prst="line">
            <a:avLst/>
          </a:prstGeom>
          <a:ln w="15240">
            <a:solidFill>
              <a:srgbClr val="C48552"/>
            </a:solidFill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15240">
            <a:solidFill>
              <a:srgbClr val="C48552"/>
            </a:solidFill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5240">
            <a:solidFill>
              <a:srgbClr val="C48552"/>
            </a:solidFill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089136" y="3374136"/>
            <a:ext cx="109728" cy="109728"/>
          </a:xfrm>
          <a:prstGeom prst="ellipse">
            <a:avLst/>
          </a:prstGeom>
          <a:solidFill>
            <a:srgbClr val="1A1A1A"/>
          </a:solidFill>
          <a:ln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6812280" y="1097280"/>
            <a:ext cx="4663440" cy="4663440"/>
          </a:xfrm>
          <a:prstGeom prst="ellipse">
            <a:avLst/>
          </a:prstGeom>
          <a:noFill/>
          <a:ln w="6350">
            <a:solidFill>
              <a:srgbClr val="E5E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314DB1A3-53A3-1D43-4574-15844AFD6D51}"/>
              </a:ext>
            </a:extLst>
          </p:cNvPr>
          <p:cNvCxnSpPr>
            <a:cxnSpLocks/>
            <a:stCxn id="15" idx="4"/>
            <a:endCxn id="18" idx="4"/>
          </p:cNvCxnSpPr>
          <p:nvPr/>
        </p:nvCxnSpPr>
        <p:spPr>
          <a:xfrm flipH="1">
            <a:off x="8176552" y="5290929"/>
            <a:ext cx="1934895" cy="0"/>
          </a:xfrm>
          <a:prstGeom prst="straightConnector1">
            <a:avLst/>
          </a:prstGeom>
          <a:ln w="44450">
            <a:solidFill>
              <a:srgbClr val="D4AF3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E7C3AC8A-D2D7-D43B-5E58-F762576645EC}"/>
              </a:ext>
            </a:extLst>
          </p:cNvPr>
          <p:cNvCxnSpPr>
            <a:cxnSpLocks/>
            <a:stCxn id="21" idx="1"/>
            <a:endCxn id="9" idx="1"/>
          </p:cNvCxnSpPr>
          <p:nvPr/>
        </p:nvCxnSpPr>
        <p:spPr>
          <a:xfrm flipV="1">
            <a:off x="7203622" y="1408065"/>
            <a:ext cx="1565363" cy="1137302"/>
          </a:xfrm>
          <a:prstGeom prst="straightConnector1">
            <a:avLst/>
          </a:prstGeom>
          <a:ln w="44450">
            <a:solidFill>
              <a:srgbClr val="D4AF3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线箭头连接符 40">
            <a:extLst>
              <a:ext uri="{FF2B5EF4-FFF2-40B4-BE49-F238E27FC236}">
                <a16:creationId xmlns:a16="http://schemas.microsoft.com/office/drawing/2014/main" id="{51214519-8C86-B4CC-9446-C332E8E388C5}"/>
              </a:ext>
            </a:extLst>
          </p:cNvPr>
          <p:cNvCxnSpPr>
            <a:cxnSpLocks/>
            <a:stCxn id="9" idx="7"/>
            <a:endCxn id="12" idx="7"/>
          </p:cNvCxnSpPr>
          <p:nvPr/>
        </p:nvCxnSpPr>
        <p:spPr>
          <a:xfrm>
            <a:off x="9519015" y="1408065"/>
            <a:ext cx="1565362" cy="1137302"/>
          </a:xfrm>
          <a:prstGeom prst="straightConnector1">
            <a:avLst/>
          </a:prstGeom>
          <a:ln w="44450">
            <a:solidFill>
              <a:srgbClr val="D4AF3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D6A8ED12-9B42-B116-B03A-D3DF89C61F95}"/>
              </a:ext>
            </a:extLst>
          </p:cNvPr>
          <p:cNvCxnSpPr>
            <a:cxnSpLocks/>
            <a:stCxn id="19" idx="1"/>
            <a:endCxn id="21" idx="3"/>
          </p:cNvCxnSpPr>
          <p:nvPr/>
        </p:nvCxnSpPr>
        <p:spPr>
          <a:xfrm flipH="1" flipV="1">
            <a:off x="7203622" y="3295397"/>
            <a:ext cx="442578" cy="1465180"/>
          </a:xfrm>
          <a:prstGeom prst="straightConnector1">
            <a:avLst/>
          </a:prstGeom>
          <a:ln w="44450">
            <a:solidFill>
              <a:srgbClr val="D4AF3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0A6A1FDB-574B-3748-3F2D-85928F19FB87}"/>
              </a:ext>
            </a:extLst>
          </p:cNvPr>
          <p:cNvCxnSpPr>
            <a:cxnSpLocks/>
            <a:stCxn id="12" idx="5"/>
            <a:endCxn id="16" idx="3"/>
          </p:cNvCxnSpPr>
          <p:nvPr/>
        </p:nvCxnSpPr>
        <p:spPr>
          <a:xfrm flipH="1">
            <a:off x="10641799" y="3295397"/>
            <a:ext cx="442578" cy="1465180"/>
          </a:xfrm>
          <a:prstGeom prst="straightConnector1">
            <a:avLst/>
          </a:prstGeom>
          <a:ln w="44450">
            <a:solidFill>
              <a:srgbClr val="D4AF3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线箭头连接符 61">
            <a:extLst>
              <a:ext uri="{FF2B5EF4-FFF2-40B4-BE49-F238E27FC236}">
                <a16:creationId xmlns:a16="http://schemas.microsoft.com/office/drawing/2014/main" id="{F53685AF-1646-19E0-81CD-45E3BEF25CAE}"/>
              </a:ext>
            </a:extLst>
          </p:cNvPr>
          <p:cNvCxnSpPr>
            <a:cxnSpLocks/>
            <a:stCxn id="18" idx="0"/>
            <a:endCxn id="9" idx="4"/>
          </p:cNvCxnSpPr>
          <p:nvPr/>
        </p:nvCxnSpPr>
        <p:spPr>
          <a:xfrm flipV="1">
            <a:off x="8176552" y="2313432"/>
            <a:ext cx="967448" cy="1916793"/>
          </a:xfrm>
          <a:prstGeom prst="straightConnector1">
            <a:avLst/>
          </a:prstGeom>
          <a:ln w="44450">
            <a:solidFill>
              <a:srgbClr val="C4855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线箭头连接符 66">
            <a:extLst>
              <a:ext uri="{FF2B5EF4-FFF2-40B4-BE49-F238E27FC236}">
                <a16:creationId xmlns:a16="http://schemas.microsoft.com/office/drawing/2014/main" id="{5B8B581C-9823-721E-8001-3FEFA7F81FA6}"/>
              </a:ext>
            </a:extLst>
          </p:cNvPr>
          <p:cNvCxnSpPr>
            <a:cxnSpLocks/>
            <a:stCxn id="9" idx="4"/>
            <a:endCxn id="15" idx="0"/>
          </p:cNvCxnSpPr>
          <p:nvPr/>
        </p:nvCxnSpPr>
        <p:spPr>
          <a:xfrm>
            <a:off x="9144000" y="2313432"/>
            <a:ext cx="967447" cy="1916793"/>
          </a:xfrm>
          <a:prstGeom prst="straightConnector1">
            <a:avLst/>
          </a:prstGeom>
          <a:ln w="44450">
            <a:solidFill>
              <a:srgbClr val="C4855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282B188A-70E2-69C3-C573-3C8ACEBC161F}"/>
              </a:ext>
            </a:extLst>
          </p:cNvPr>
          <p:cNvCxnSpPr>
            <a:cxnSpLocks/>
            <a:stCxn id="22" idx="3"/>
            <a:endCxn id="12" idx="2"/>
          </p:cNvCxnSpPr>
          <p:nvPr/>
        </p:nvCxnSpPr>
        <p:spPr>
          <a:xfrm>
            <a:off x="8108989" y="2920382"/>
            <a:ext cx="2070021" cy="0"/>
          </a:xfrm>
          <a:prstGeom prst="straightConnector1">
            <a:avLst/>
          </a:prstGeom>
          <a:ln w="44450">
            <a:solidFill>
              <a:srgbClr val="C4855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8674F9B3-FD3E-49EA-839D-8F3F161062F1}"/>
              </a:ext>
            </a:extLst>
          </p:cNvPr>
          <p:cNvCxnSpPr>
            <a:cxnSpLocks/>
            <a:stCxn id="15" idx="1"/>
            <a:endCxn id="21" idx="5"/>
          </p:cNvCxnSpPr>
          <p:nvPr/>
        </p:nvCxnSpPr>
        <p:spPr>
          <a:xfrm flipH="1" flipV="1">
            <a:off x="7953652" y="3295397"/>
            <a:ext cx="1782780" cy="1090165"/>
          </a:xfrm>
          <a:prstGeom prst="straightConnector1">
            <a:avLst/>
          </a:prstGeom>
          <a:ln w="44450">
            <a:solidFill>
              <a:srgbClr val="C4855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直线箭头连接符 75">
            <a:extLst>
              <a:ext uri="{FF2B5EF4-FFF2-40B4-BE49-F238E27FC236}">
                <a16:creationId xmlns:a16="http://schemas.microsoft.com/office/drawing/2014/main" id="{386916AF-916D-9F74-2914-CED4062C80C2}"/>
              </a:ext>
            </a:extLst>
          </p:cNvPr>
          <p:cNvCxnSpPr>
            <a:cxnSpLocks/>
            <a:stCxn id="12" idx="3"/>
            <a:endCxn id="18" idx="7"/>
          </p:cNvCxnSpPr>
          <p:nvPr/>
        </p:nvCxnSpPr>
        <p:spPr>
          <a:xfrm flipH="1">
            <a:off x="8551567" y="3295397"/>
            <a:ext cx="1782780" cy="1090165"/>
          </a:xfrm>
          <a:prstGeom prst="straightConnector1">
            <a:avLst/>
          </a:prstGeom>
          <a:ln w="44450">
            <a:solidFill>
              <a:srgbClr val="C4855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4">
            <a:extLst>
              <a:ext uri="{FF2B5EF4-FFF2-40B4-BE49-F238E27FC236}">
                <a16:creationId xmlns:a16="http://schemas.microsoft.com/office/drawing/2014/main" id="{43C595EF-68E4-F304-BE96-F51AD95030BE}"/>
              </a:ext>
            </a:extLst>
          </p:cNvPr>
          <p:cNvSpPr txBox="1"/>
          <p:nvPr/>
        </p:nvSpPr>
        <p:spPr>
          <a:xfrm>
            <a:off x="822960" y="210581"/>
            <a:ext cx="103628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spcBef>
                <a:spcPts val="0"/>
              </a:spcBef>
              <a:spcAft>
                <a:spcPts val="0"/>
              </a:spcAft>
              <a:defRPr sz="4400" b="0" i="0">
                <a:solidFill>
                  <a:srgbClr val="1A1A1A"/>
                </a:solidFill>
                <a:latin typeface="Playfair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is our world built?</a:t>
            </a:r>
          </a:p>
        </p:txBody>
      </p:sp>
      <p:sp>
        <p:nvSpPr>
          <p:cNvPr id="37" name="TextBox 4">
            <a:extLst>
              <a:ext uri="{FF2B5EF4-FFF2-40B4-BE49-F238E27FC236}">
                <a16:creationId xmlns:a16="http://schemas.microsoft.com/office/drawing/2014/main" id="{A8C480FE-DC37-5716-CCCF-9BCDAE5A8B04}"/>
              </a:ext>
            </a:extLst>
          </p:cNvPr>
          <p:cNvSpPr txBox="1"/>
          <p:nvPr/>
        </p:nvSpPr>
        <p:spPr>
          <a:xfrm>
            <a:off x="822960" y="5024228"/>
            <a:ext cx="493776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200" b="1" i="0">
                <a:solidFill>
                  <a:srgbClr val="1A1A1A"/>
                </a:solidFill>
                <a:latin typeface="Playfair Display"/>
              </a:defRPr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Dividing Mind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4E8A36FC-7505-FBD4-6E78-19A5998B85ED}"/>
              </a:ext>
            </a:extLst>
          </p:cNvPr>
          <p:cNvSpPr txBox="1"/>
          <p:nvPr/>
        </p:nvSpPr>
        <p:spPr>
          <a:xfrm>
            <a:off x="807721" y="4416419"/>
            <a:ext cx="493776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200" b="1" i="0">
                <a:solidFill>
                  <a:srgbClr val="1A1A1A"/>
                </a:solidFill>
                <a:latin typeface="Playfair Display"/>
              </a:defRPr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Vision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 animBg="1"/>
      <p:bldP spid="6" grpId="0"/>
      <p:bldP spid="7" grpId="0" animBg="1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34" grpId="0" animBg="1"/>
      <p:bldP spid="35" grpId="0" animBg="1"/>
      <p:bldP spid="37" grpId="0"/>
      <p:bldP spid="3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63</Words>
  <Application>Microsoft Macintosh PowerPoint</Application>
  <PresentationFormat>宽屏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SimSun</vt:lpstr>
      <vt:lpstr>Arial</vt:lpstr>
      <vt:lpstr>Calibri</vt:lpstr>
      <vt:lpstr>Times New Roman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10</cp:revision>
  <dcterms:created xsi:type="dcterms:W3CDTF">2013-01-27T09:14:16Z</dcterms:created>
  <dcterms:modified xsi:type="dcterms:W3CDTF">2026-06-02T13:55:27Z</dcterms:modified>
  <cp:category/>
</cp:coreProperties>
</file>