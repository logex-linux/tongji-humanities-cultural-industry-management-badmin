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35"/>
  </p:notesMasterIdLst>
  <p:handoutMasterIdLst>
    <p:handoutMasterId r:id="rId36"/>
  </p:handoutMasterIdLst>
  <p:sldIdLst>
    <p:sldId id="256" r:id="rId2"/>
    <p:sldId id="383" r:id="rId3"/>
    <p:sldId id="409" r:id="rId4"/>
    <p:sldId id="344" r:id="rId5"/>
    <p:sldId id="392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35" r:id="rId18"/>
    <p:sldId id="422" r:id="rId19"/>
    <p:sldId id="423" r:id="rId20"/>
    <p:sldId id="424" r:id="rId21"/>
    <p:sldId id="434" r:id="rId22"/>
    <p:sldId id="438" r:id="rId23"/>
    <p:sldId id="425" r:id="rId24"/>
    <p:sldId id="426" r:id="rId25"/>
    <p:sldId id="436" r:id="rId26"/>
    <p:sldId id="437" r:id="rId27"/>
    <p:sldId id="368" r:id="rId28"/>
    <p:sldId id="369" r:id="rId29"/>
    <p:sldId id="370" r:id="rId30"/>
    <p:sldId id="371" r:id="rId31"/>
    <p:sldId id="372" r:id="rId32"/>
    <p:sldId id="373" r:id="rId33"/>
    <p:sldId id="374" r:id="rId3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00A8"/>
    <a:srgbClr val="0000B4"/>
    <a:srgbClr val="000096"/>
    <a:srgbClr val="00FFA8"/>
    <a:srgbClr val="006699"/>
    <a:srgbClr val="CC0099"/>
    <a:srgbClr val="A7D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>
      <p:cViewPr varScale="1">
        <p:scale>
          <a:sx n="116" d="100"/>
          <a:sy n="116" d="100"/>
        </p:scale>
        <p:origin x="150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448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BD166CF-6E35-43E2-A5D5-0F5CD5F97553}" type="datetimeFigureOut">
              <a:rPr lang="zh-CN" altLang="en-US"/>
              <a:pPr>
                <a:defRPr/>
              </a:pPr>
              <a:t>2025/4/16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592758F-AF89-4E1A-8BFA-9CF1203E404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5912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BE26F37-DC11-4BAC-B4D7-6B624C80AD08}" type="datetimeFigureOut">
              <a:rPr lang="zh-CN" altLang="en-US"/>
              <a:pPr>
                <a:defRPr/>
              </a:pPr>
              <a:t>2025/4/16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1FA80E0-6A02-4797-B90A-746FD6185F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53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31D432-6F1F-4CA5-9DB9-BBA88A771467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24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312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653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22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724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PIL(Python Image Library)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的第三方图像处理库，但是由于其强大的功能与众多的使用人数，几乎已经被认为是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官方图像处理库了。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历史悠久，原来是只支持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python2.x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的版本的，后来出现了移植到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的库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[pillow](http://python-pillow.org/),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pillow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号称是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`friendly fork for PIL`,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其功能和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差不多，但是支持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可以做很多和图像处理相关的事情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图像归档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(Image Archives)**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非常适合于图像归档以及图像的批处理任务。你可以使用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创建缩略图，转换图像格式，打印图像等等。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图像展示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(Image Display)**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较新的版本支持包括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PhotoImage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BitmapImage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 DIB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等接口。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支持众多的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框架接口，可以用于图像展示。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图像处理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(Image Processing)**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包括了基础的图像处理函数，包括对点的处理，使用众多的卷积核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(convolution kernels)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做过滤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(filter),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还有颜色空间的转换。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库同样支持图像的大小转换，图像旋转，以及任意的仿射变换。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还有一些直方图的方法，允许你展示图像的一些统计特性。这个可以用来实现图像的自动对比度增强，还有全局的统计分析等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726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中的核心类，你有很多种方式来对它进行初始化，比如从文件中加载一张图像，处理其他形式的图像，或者是从头创造一张图像等。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Image.open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对象，该对象有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size,format,mode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等属性，其中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`size`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表示图像的宽度和高度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像素表示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);`format`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表示图像的格式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常见的包括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JPEG,PNG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等格式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;`mode`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表示图像的模式，定义了像素类型还有图像深度等，常见的有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RGB,HSV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Import </a:t>
            </a:r>
            <a:r>
              <a:rPr lang="en-US" altLang="zh-CN" b="1" dirty="0" err="1">
                <a:solidFill>
                  <a:srgbClr val="C00000"/>
                </a:solidFill>
              </a:rPr>
              <a:t>numpy</a:t>
            </a:r>
            <a:r>
              <a:rPr lang="en-US" altLang="zh-CN" b="1" dirty="0">
                <a:solidFill>
                  <a:srgbClr val="C00000"/>
                </a:solidFill>
              </a:rPr>
              <a:t> as np</a:t>
            </a:r>
          </a:p>
          <a:p>
            <a:r>
              <a:rPr lang="en-US" altLang="zh-CN" sz="1800" b="0" dirty="0">
                <a:solidFill>
                  <a:schemeClr val="tx1"/>
                </a:solidFill>
              </a:rPr>
              <a:t>from PIL import Image</a:t>
            </a:r>
          </a:p>
          <a:p>
            <a:r>
              <a:rPr lang="en-US" altLang="zh-CN" sz="1800" b="0" dirty="0" err="1">
                <a:solidFill>
                  <a:schemeClr val="tx1"/>
                </a:solidFill>
              </a:rPr>
              <a:t>im</a:t>
            </a:r>
            <a:r>
              <a:rPr lang="en-US" altLang="zh-CN" sz="1800" b="0" dirty="0">
                <a:solidFill>
                  <a:schemeClr val="tx1"/>
                </a:solidFill>
              </a:rPr>
              <a:t> = </a:t>
            </a:r>
            <a:r>
              <a:rPr lang="en-US" altLang="zh-CN" sz="1800" b="0" dirty="0" err="1">
                <a:solidFill>
                  <a:schemeClr val="tx1"/>
                </a:solidFill>
              </a:rPr>
              <a:t>Image.open</a:t>
            </a:r>
            <a:r>
              <a:rPr lang="en-US" altLang="zh-CN" sz="1800" b="0" dirty="0">
                <a:solidFill>
                  <a:schemeClr val="tx1"/>
                </a:solidFill>
              </a:rPr>
              <a:t>("d:/images/hm.jpg","r") 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imData=np.as array(</a:t>
            </a:r>
            <a:r>
              <a:rPr lang="en-US" altLang="zh-CN" b="1" dirty="0" err="1">
                <a:solidFill>
                  <a:srgbClr val="C00000"/>
                </a:solidFill>
              </a:rPr>
              <a:t>im</a:t>
            </a:r>
            <a:r>
              <a:rPr lang="en-US" altLang="zh-CN" b="1" dirty="0">
                <a:solidFill>
                  <a:srgbClr val="C00000"/>
                </a:solidFill>
              </a:rPr>
              <a:t>)    #</a:t>
            </a:r>
            <a:r>
              <a:rPr lang="en-US" altLang="zh-CN" b="1" dirty="0" err="1">
                <a:solidFill>
                  <a:srgbClr val="C00000"/>
                </a:solidFill>
              </a:rPr>
              <a:t>imData</a:t>
            </a:r>
            <a:r>
              <a:rPr lang="zh-CN" altLang="en-US" b="1" dirty="0">
                <a:solidFill>
                  <a:srgbClr val="C00000"/>
                </a:solidFill>
              </a:rPr>
              <a:t>是只读的，无法修改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注意：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sz="1200" b="1" dirty="0"/>
              <a:t>      </a:t>
            </a:r>
            <a:r>
              <a:rPr lang="en-US" altLang="zh-CN" sz="1200" b="1" dirty="0" err="1"/>
              <a:t>imData</a:t>
            </a:r>
            <a:r>
              <a:rPr lang="zh-CN" altLang="en-US" sz="1200" b="1" dirty="0"/>
              <a:t>是一个只读数组，无法修改其数据</a:t>
            </a:r>
            <a:endParaRPr lang="en-US" altLang="zh-CN" sz="1200" b="1" dirty="0"/>
          </a:p>
          <a:p>
            <a:r>
              <a:rPr lang="zh-CN" altLang="en-US" sz="1200" b="1" dirty="0"/>
              <a:t>打开时改用：</a:t>
            </a:r>
            <a:endParaRPr lang="en-US" altLang="zh-CN" sz="1200" b="1" dirty="0"/>
          </a:p>
          <a:p>
            <a:r>
              <a:rPr lang="en-US" altLang="zh-CN" sz="1200" b="1" dirty="0"/>
              <a:t>     </a:t>
            </a:r>
            <a:r>
              <a:rPr lang="en-US" altLang="zh-CN" sz="1200" b="1" dirty="0" err="1"/>
              <a:t>img</a:t>
            </a:r>
            <a:r>
              <a:rPr lang="en-US" altLang="zh-CN" sz="1200" b="1" dirty="0"/>
              <a:t> = </a:t>
            </a:r>
            <a:r>
              <a:rPr lang="en-US" altLang="zh-CN" sz="1200" b="1" dirty="0" err="1"/>
              <a:t>np.array</a:t>
            </a:r>
            <a:r>
              <a:rPr lang="en-US" altLang="zh-CN" sz="1200" b="1" dirty="0"/>
              <a:t>(</a:t>
            </a:r>
            <a:r>
              <a:rPr lang="en-US" altLang="zh-CN" sz="1200" b="1" dirty="0" err="1"/>
              <a:t>Image.open</a:t>
            </a:r>
            <a:r>
              <a:rPr lang="en-US" altLang="zh-CN" sz="1200" b="1" dirty="0"/>
              <a:t>(filename))</a:t>
            </a:r>
          </a:p>
          <a:p>
            <a:r>
              <a:rPr lang="en-US" altLang="zh-CN" sz="1200" b="1" dirty="0"/>
              <a:t>     </a:t>
            </a:r>
            <a:r>
              <a:rPr lang="en-US" altLang="zh-CN" sz="1200" b="1" dirty="0" err="1"/>
              <a:t>img</a:t>
            </a:r>
            <a:r>
              <a:rPr lang="zh-CN" altLang="en-US" sz="1200" b="1" dirty="0"/>
              <a:t>的数组是原始图像数据的拷贝，允许修改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从</a:t>
            </a:r>
            <a:r>
              <a:rPr lang="en-US" altLang="zh-CN" sz="1200" b="1" dirty="0"/>
              <a:t>np  </a:t>
            </a:r>
            <a:r>
              <a:rPr lang="zh-CN" altLang="en-US" sz="1200" b="1" dirty="0"/>
              <a:t>数组数据变回到图像数据</a:t>
            </a:r>
            <a:endParaRPr lang="en-US" altLang="zh-CN" sz="1200" b="1" dirty="0"/>
          </a:p>
          <a:p>
            <a:r>
              <a:rPr lang="en-US" altLang="zh-CN" sz="1200" b="1" dirty="0" err="1"/>
              <a:t>imgS</a:t>
            </a:r>
            <a:r>
              <a:rPr lang="en-US" altLang="zh-CN" sz="1200" b="1" dirty="0"/>
              <a:t>=</a:t>
            </a:r>
            <a:r>
              <a:rPr lang="en-US" altLang="zh-CN" sz="1200" b="1" dirty="0" err="1"/>
              <a:t>Image.fromarray</a:t>
            </a:r>
            <a:r>
              <a:rPr lang="en-US" altLang="zh-CN" sz="1200" b="1" dirty="0"/>
              <a:t>(</a:t>
            </a:r>
            <a:r>
              <a:rPr lang="en-US" altLang="zh-CN" sz="1200" b="1" dirty="0" err="1"/>
              <a:t>img</a:t>
            </a:r>
            <a:r>
              <a:rPr lang="en-US" altLang="zh-CN" sz="1200" b="1" dirty="0"/>
              <a:t>)</a:t>
            </a:r>
          </a:p>
          <a:p>
            <a:endParaRPr lang="en-US" altLang="zh-CN" sz="1200" b="1" dirty="0"/>
          </a:p>
          <a:p>
            <a:endParaRPr lang="zh-CN" altLang="en-US" sz="1200" b="1" dirty="0"/>
          </a:p>
          <a:p>
            <a:r>
              <a:rPr lang="en-US" altLang="zh-CN" sz="1200" b="1" dirty="0"/>
              <a:t>#</a:t>
            </a:r>
            <a:r>
              <a:rPr lang="zh-CN" altLang="en-US" sz="1200" b="1" dirty="0"/>
              <a:t>在命令行下执行：</a:t>
            </a:r>
            <a:r>
              <a:rPr lang="en-US" altLang="zh-CN" sz="1200" b="1" dirty="0"/>
              <a:t>python -m PIL</a:t>
            </a:r>
            <a:r>
              <a:rPr lang="zh-CN" altLang="en-US" sz="1200" b="1" dirty="0"/>
              <a:t>可以查看所有</a:t>
            </a:r>
            <a:r>
              <a:rPr lang="en-US" altLang="zh-CN" sz="1200" b="1" dirty="0"/>
              <a:t>Python</a:t>
            </a:r>
            <a:r>
              <a:rPr lang="zh-CN" altLang="en-US" sz="1200" b="1" dirty="0"/>
              <a:t>支持的图像格式</a:t>
            </a:r>
          </a:p>
          <a:p>
            <a:r>
              <a:rPr lang="en-US" altLang="zh-CN" sz="1200" b="1" dirty="0"/>
              <a:t>#(base) C:\Users\lixm1&gt;python -m PIL</a:t>
            </a:r>
          </a:p>
          <a:p>
            <a:r>
              <a:rPr lang="en-US" altLang="zh-CN" sz="1200" b="1" dirty="0"/>
              <a:t>#--------------------------------------------------------------------</a:t>
            </a:r>
          </a:p>
          <a:p>
            <a:r>
              <a:rPr lang="en-US" altLang="zh-CN" sz="1200" b="1" dirty="0"/>
              <a:t>#Pillow 8.2.0</a:t>
            </a:r>
          </a:p>
          <a:p>
            <a:r>
              <a:rPr lang="en-US" altLang="zh-CN" sz="1200" b="1" dirty="0"/>
              <a:t>#Python 3.8.8 (default, Apr 13 2021, 15:08:03) [MSC v.1916 64 bit (AMD64)]</a:t>
            </a:r>
          </a:p>
          <a:p>
            <a:r>
              <a:rPr lang="en-US" altLang="zh-CN" sz="1200" b="1" dirty="0"/>
              <a:t>#--------------------------------------------------------------------</a:t>
            </a:r>
          </a:p>
          <a:p>
            <a:r>
              <a:rPr lang="en-US" altLang="zh-CN" sz="1200" b="1" dirty="0"/>
              <a:t>#Python modules loaded from D:\anaconda3\lib\site-packages\PIL</a:t>
            </a:r>
          </a:p>
          <a:p>
            <a:r>
              <a:rPr lang="en-US" altLang="zh-CN" sz="1200" b="1" dirty="0"/>
              <a:t>#Binary modules loaded from D:\anaconda3\lib\site-packages\PIL</a:t>
            </a:r>
          </a:p>
          <a:p>
            <a:r>
              <a:rPr lang="en-US" altLang="zh-CN" sz="1200" b="1" dirty="0"/>
              <a:t>#--------------------------------------------------------------------</a:t>
            </a:r>
          </a:p>
          <a:p>
            <a:r>
              <a:rPr lang="en-US" altLang="zh-CN" sz="1200" b="1" dirty="0"/>
              <a:t>#--- PIL CORE support ok, compiled for 8.2.0</a:t>
            </a:r>
          </a:p>
          <a:p>
            <a:r>
              <a:rPr lang="en-US" altLang="zh-CN" sz="1200" b="1" dirty="0"/>
              <a:t>#--- TKINTER support ok, loaded 8.6</a:t>
            </a:r>
          </a:p>
          <a:p>
            <a:r>
              <a:rPr lang="en-US" altLang="zh-CN" sz="1200" b="1" dirty="0"/>
              <a:t>#--- FREETYPE2 support ok, loaded 2.10.4</a:t>
            </a:r>
          </a:p>
          <a:p>
            <a:r>
              <a:rPr lang="en-US" altLang="zh-CN" sz="1200" b="1" dirty="0"/>
              <a:t>#*** LITTLECMS2 support not installed</a:t>
            </a:r>
          </a:p>
          <a:p>
            <a:r>
              <a:rPr lang="en-US" altLang="zh-CN" sz="1200" b="1" dirty="0"/>
              <a:t>#*** WEBP support not installed</a:t>
            </a:r>
          </a:p>
          <a:p>
            <a:r>
              <a:rPr lang="en-US" altLang="zh-CN" sz="1200" b="1" dirty="0"/>
              <a:t>#*** WEBP Transparency support not installed</a:t>
            </a:r>
          </a:p>
          <a:p>
            <a:r>
              <a:rPr lang="en-US" altLang="zh-CN" sz="1200" b="1" dirty="0"/>
              <a:t>#*** WEBPMUX support not installed</a:t>
            </a:r>
          </a:p>
          <a:p>
            <a:r>
              <a:rPr lang="en-US" altLang="zh-CN" sz="1200" b="1" dirty="0"/>
              <a:t>#*** WEBP Animation support not installed</a:t>
            </a:r>
          </a:p>
          <a:p>
            <a:r>
              <a:rPr lang="en-US" altLang="zh-CN" sz="1200" b="1" dirty="0"/>
              <a:t>#--- JPEG support ok, compiled for 9.0</a:t>
            </a:r>
          </a:p>
          <a:p>
            <a:r>
              <a:rPr lang="en-US" altLang="zh-CN" sz="1200" b="1" dirty="0"/>
              <a:t>#*** OPENJPEG (JPEG2000) support not installed</a:t>
            </a:r>
          </a:p>
          <a:p>
            <a:r>
              <a:rPr lang="en-US" altLang="zh-CN" sz="1200" b="1" dirty="0"/>
              <a:t>#--- ZLIB (PNG/ZIP) support ok, loaded 1.2.11</a:t>
            </a:r>
          </a:p>
          <a:p>
            <a:r>
              <a:rPr lang="en-US" altLang="zh-CN" sz="1200" b="1" dirty="0"/>
              <a:t>#--- LIBTIFF support ok, loaded 4.2.0</a:t>
            </a:r>
          </a:p>
          <a:p>
            <a:r>
              <a:rPr lang="en-US" altLang="zh-CN" sz="1200" b="1" dirty="0"/>
              <a:t>#*** RAQM (Bidirectional Text) support not installed</a:t>
            </a:r>
          </a:p>
          <a:p>
            <a:r>
              <a:rPr lang="en-US" altLang="zh-CN" sz="1200" b="1" dirty="0"/>
              <a:t>#*** LIBIMAGEQUANT (Quantization method) support not installed</a:t>
            </a:r>
          </a:p>
          <a:p>
            <a:r>
              <a:rPr lang="en-US" altLang="zh-CN" sz="1200" b="1" dirty="0"/>
              <a:t>#*** XCB (X protocol) support not installed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from PIL import Image</a:t>
            </a:r>
          </a:p>
          <a:p>
            <a:r>
              <a:rPr lang="en-US" altLang="zh-CN" sz="1200" b="1" dirty="0" err="1"/>
              <a:t>im</a:t>
            </a:r>
            <a:r>
              <a:rPr lang="en-US" altLang="zh-CN" sz="1200" b="1" dirty="0"/>
              <a:t> = </a:t>
            </a:r>
            <a:r>
              <a:rPr lang="en-US" altLang="zh-CN" sz="1200" b="1" dirty="0" err="1"/>
              <a:t>Image.open</a:t>
            </a:r>
            <a:r>
              <a:rPr lang="en-US" altLang="zh-CN" sz="1200" b="1" dirty="0"/>
              <a:t>("d:/images/hm.jpg","r")    #</a:t>
            </a:r>
            <a:r>
              <a:rPr lang="en-US" altLang="zh-CN" sz="1200" b="1" dirty="0" err="1"/>
              <a:t>param</a:t>
            </a:r>
            <a:r>
              <a:rPr lang="en-US" altLang="zh-CN" sz="1200" b="1" dirty="0"/>
              <a:t> mode: The mode.  If given, this argument must be "r"</a:t>
            </a:r>
          </a:p>
          <a:p>
            <a:endParaRPr lang="zh-CN" altLang="en-US" sz="12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165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from  PIL import Image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 err="1"/>
              <a:t>im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("hm.jpg")</a:t>
            </a:r>
          </a:p>
          <a:p>
            <a:r>
              <a:rPr lang="en-US" altLang="zh-CN" dirty="0" err="1"/>
              <a:t>imN</a:t>
            </a:r>
            <a:r>
              <a:rPr lang="en-US" altLang="zh-CN" dirty="0"/>
              <a:t>=</a:t>
            </a:r>
            <a:r>
              <a:rPr lang="en-US" altLang="zh-CN" dirty="0" err="1"/>
              <a:t>im.convert</a:t>
            </a:r>
            <a:r>
              <a:rPr lang="en-US" altLang="zh-CN" dirty="0"/>
              <a:t>("RGBA")</a:t>
            </a:r>
          </a:p>
          <a:p>
            <a:endParaRPr lang="en-US" altLang="zh-CN" dirty="0"/>
          </a:p>
          <a:p>
            <a:r>
              <a:rPr lang="en-US" altLang="zh-CN" dirty="0" err="1"/>
              <a:t>imNData</a:t>
            </a:r>
            <a:r>
              <a:rPr lang="en-US" altLang="zh-CN" dirty="0"/>
              <a:t>=</a:t>
            </a:r>
            <a:r>
              <a:rPr lang="en-US" altLang="zh-CN" dirty="0" err="1"/>
              <a:t>np.array</a:t>
            </a:r>
            <a:r>
              <a:rPr lang="en-US" altLang="zh-CN" dirty="0"/>
              <a:t>(</a:t>
            </a:r>
            <a:r>
              <a:rPr lang="en-US" altLang="zh-CN" dirty="0" err="1"/>
              <a:t>imN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[300][300][0])   #red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[300][300][1])   #green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[300][300][2])   #blue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[300][300][3])   #Alpha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077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from  PIL import Image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/>
              <a:t>import random</a:t>
            </a:r>
          </a:p>
          <a:p>
            <a:r>
              <a:rPr lang="en-US" altLang="zh-CN" dirty="0" err="1"/>
              <a:t>im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("hm.jpg")</a:t>
            </a:r>
          </a:p>
          <a:p>
            <a:r>
              <a:rPr lang="en-US" altLang="zh-CN" dirty="0" err="1"/>
              <a:t>imN</a:t>
            </a:r>
            <a:r>
              <a:rPr lang="en-US" altLang="zh-CN" dirty="0"/>
              <a:t>=</a:t>
            </a:r>
            <a:r>
              <a:rPr lang="en-US" altLang="zh-CN" dirty="0" err="1"/>
              <a:t>im.convert</a:t>
            </a:r>
            <a:r>
              <a:rPr lang="en-US" altLang="zh-CN" dirty="0"/>
              <a:t>("RGBA")</a:t>
            </a:r>
          </a:p>
          <a:p>
            <a:endParaRPr lang="en-US" altLang="zh-CN" dirty="0"/>
          </a:p>
          <a:p>
            <a:r>
              <a:rPr lang="en-US" altLang="zh-CN" dirty="0" err="1"/>
              <a:t>imNData</a:t>
            </a:r>
            <a:r>
              <a:rPr lang="en-US" altLang="zh-CN" dirty="0"/>
              <a:t>=</a:t>
            </a:r>
            <a:r>
              <a:rPr lang="en-US" altLang="zh-CN" dirty="0" err="1"/>
              <a:t>np.array</a:t>
            </a:r>
            <a:r>
              <a:rPr lang="en-US" altLang="zh-CN" dirty="0"/>
              <a:t>(</a:t>
            </a:r>
            <a:r>
              <a:rPr lang="en-US" altLang="zh-CN" dirty="0" err="1"/>
              <a:t>imN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[300][300][0])   #red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[300][300][1])   #green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[300][300][2])   #blue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[300][300][3])   #Alpha</a:t>
            </a:r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range(50,100,2):</a:t>
            </a:r>
          </a:p>
          <a:p>
            <a:r>
              <a:rPr lang="en-US" altLang="zh-CN" dirty="0"/>
              <a:t>    for j in range(50,100,2):</a:t>
            </a:r>
          </a:p>
          <a:p>
            <a:r>
              <a:rPr lang="en-US" altLang="zh-CN" dirty="0"/>
              <a:t>        r=</a:t>
            </a:r>
            <a:r>
              <a:rPr lang="en-US" altLang="zh-CN" dirty="0" err="1"/>
              <a:t>random.randint</a:t>
            </a:r>
            <a:r>
              <a:rPr lang="en-US" altLang="zh-CN" dirty="0"/>
              <a:t>(0,255); g=</a:t>
            </a:r>
            <a:r>
              <a:rPr lang="en-US" altLang="zh-CN" dirty="0" err="1"/>
              <a:t>random.randint</a:t>
            </a:r>
            <a:r>
              <a:rPr lang="en-US" altLang="zh-CN" dirty="0"/>
              <a:t>(0,255); b=</a:t>
            </a:r>
            <a:r>
              <a:rPr lang="en-US" altLang="zh-CN" dirty="0" err="1"/>
              <a:t>random.randint</a:t>
            </a:r>
            <a:r>
              <a:rPr lang="en-US" altLang="zh-CN" dirty="0"/>
              <a:t>(0,255); 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im.putpixel</a:t>
            </a:r>
            <a:r>
              <a:rPr lang="en-US" altLang="zh-CN" dirty="0"/>
              <a:t>((</a:t>
            </a:r>
            <a:r>
              <a:rPr lang="en-US" altLang="zh-CN" dirty="0" err="1"/>
              <a:t>i,j</a:t>
            </a:r>
            <a:r>
              <a:rPr lang="en-US" altLang="zh-CN" dirty="0"/>
              <a:t>),(</a:t>
            </a:r>
            <a:r>
              <a:rPr lang="en-US" altLang="zh-CN" dirty="0" err="1"/>
              <a:t>r,b,g</a:t>
            </a:r>
            <a:r>
              <a:rPr lang="en-US" altLang="zh-CN" dirty="0"/>
              <a:t>))</a:t>
            </a:r>
          </a:p>
          <a:p>
            <a:endParaRPr lang="en-US" altLang="zh-CN" dirty="0"/>
          </a:p>
          <a:p>
            <a:r>
              <a:rPr lang="en-US" altLang="zh-CN" dirty="0" err="1"/>
              <a:t>im.show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355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3503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741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resize()</a:t>
            </a:r>
            <a:r>
              <a:rPr lang="zh-CN" altLang="en-US" dirty="0"/>
              <a:t>方法可以缩小也可以放大，而</a:t>
            </a:r>
            <a:r>
              <a:rPr lang="en-US" altLang="zh-CN" dirty="0"/>
              <a:t>thumbnail()</a:t>
            </a:r>
            <a:r>
              <a:rPr lang="zh-CN" altLang="en-US" dirty="0"/>
              <a:t>方法只能缩小；</a:t>
            </a:r>
            <a:endParaRPr lang="en-US" altLang="zh-CN" dirty="0"/>
          </a:p>
          <a:p>
            <a:r>
              <a:rPr lang="en-US" altLang="zh-CN" dirty="0"/>
              <a:t>resize()</a:t>
            </a:r>
            <a:r>
              <a:rPr lang="zh-CN" altLang="en-US" dirty="0"/>
              <a:t>方法不会改变对象的大小，只会返回一个新的</a:t>
            </a:r>
            <a:r>
              <a:rPr lang="en-US" altLang="zh-CN" dirty="0"/>
              <a:t>Image</a:t>
            </a:r>
            <a:r>
              <a:rPr lang="zh-CN" altLang="en-US" dirty="0"/>
              <a:t>对象，而</a:t>
            </a:r>
            <a:r>
              <a:rPr lang="en-US" altLang="zh-CN" dirty="0"/>
              <a:t>thumbnail()</a:t>
            </a:r>
            <a:r>
              <a:rPr lang="zh-CN" altLang="en-US" dirty="0"/>
              <a:t>方法会直接改变对象的大小，返回值为</a:t>
            </a:r>
            <a:r>
              <a:rPr lang="en-US" altLang="zh-CN" dirty="0"/>
              <a:t>none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resize()</a:t>
            </a:r>
            <a:r>
              <a:rPr lang="zh-CN" altLang="en-US" dirty="0"/>
              <a:t>方法中的</a:t>
            </a:r>
            <a:r>
              <a:rPr lang="en-US" altLang="zh-CN" dirty="0"/>
              <a:t>size</a:t>
            </a:r>
            <a:r>
              <a:rPr lang="zh-CN" altLang="en-US" dirty="0"/>
              <a:t>参数直接规定了修改后的大小，而</a:t>
            </a:r>
            <a:r>
              <a:rPr lang="en-US" altLang="zh-CN" dirty="0"/>
              <a:t>thumbnail()</a:t>
            </a:r>
            <a:r>
              <a:rPr lang="zh-CN" altLang="en-US" dirty="0"/>
              <a:t>方法按比例缩小，</a:t>
            </a:r>
            <a:r>
              <a:rPr lang="en-US" altLang="zh-CN" dirty="0"/>
              <a:t>size</a:t>
            </a:r>
            <a:r>
              <a:rPr lang="zh-CN" altLang="en-US" dirty="0"/>
              <a:t>参数只规定修改后</a:t>
            </a:r>
            <a:r>
              <a:rPr lang="en-US" altLang="zh-CN" dirty="0"/>
              <a:t>size</a:t>
            </a:r>
            <a:r>
              <a:rPr lang="zh-CN" altLang="en-US" dirty="0"/>
              <a:t>的最大值。</a:t>
            </a:r>
            <a:endParaRPr lang="en-US" altLang="zh-CN" dirty="0"/>
          </a:p>
          <a:p>
            <a:endParaRPr lang="en-US" altLang="zh-CN" dirty="0"/>
          </a:p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PIL.Image.LANCZOS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兰克索斯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lanczos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Lanczos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迭代就是一种解对称方阵部分特征值的方法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874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im2=</a:t>
            </a:r>
            <a:r>
              <a:rPr lang="en-US" altLang="zh-CN" dirty="0" err="1"/>
              <a:t>Image.open</a:t>
            </a:r>
            <a:r>
              <a:rPr lang="en-US" altLang="zh-CN" dirty="0"/>
              <a:t>("hm.jpg")</a:t>
            </a:r>
          </a:p>
          <a:p>
            <a:r>
              <a:rPr lang="en-US" altLang="zh-CN" dirty="0" err="1"/>
              <a:t>hua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</a:t>
            </a:r>
            <a:r>
              <a:rPr lang="en-US" altLang="zh-CN" dirty="0" err="1"/>
              <a:t>r"d</a:t>
            </a:r>
            <a:r>
              <a:rPr lang="en-US" altLang="zh-CN" dirty="0"/>
              <a:t>:\images\hua.jpg")</a:t>
            </a:r>
          </a:p>
          <a:p>
            <a:r>
              <a:rPr lang="en-US" altLang="zh-CN" dirty="0" err="1"/>
              <a:t>maskIM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</a:t>
            </a:r>
            <a:r>
              <a:rPr lang="en-US" altLang="zh-CN" dirty="0" err="1"/>
              <a:t>r"d</a:t>
            </a:r>
            <a:r>
              <a:rPr lang="en-US" altLang="zh-CN" dirty="0"/>
              <a:t>:\images\hmMask.jpg").convert("L")  #mask</a:t>
            </a:r>
            <a:r>
              <a:rPr lang="zh-CN" altLang="en-US" dirty="0"/>
              <a:t>图像只能是单通道图像</a:t>
            </a:r>
          </a:p>
          <a:p>
            <a:endParaRPr lang="zh-CN" altLang="en-US" dirty="0"/>
          </a:p>
          <a:p>
            <a:r>
              <a:rPr lang="en-US" altLang="zh-CN" dirty="0" err="1"/>
              <a:t>hua.paste</a:t>
            </a:r>
            <a:r>
              <a:rPr lang="en-US" altLang="zh-CN" dirty="0"/>
              <a:t>(im2,(50,50),mask=</a:t>
            </a:r>
            <a:r>
              <a:rPr lang="en-US" altLang="zh-CN" dirty="0" err="1"/>
              <a:t>maskIM</a:t>
            </a:r>
            <a:r>
              <a:rPr lang="en-US" altLang="zh-CN" dirty="0"/>
              <a:t>)     #</a:t>
            </a:r>
            <a:r>
              <a:rPr lang="zh-CN" altLang="en-US" dirty="0"/>
              <a:t>通过</a:t>
            </a:r>
            <a:r>
              <a:rPr lang="en-US" altLang="zh-CN" dirty="0"/>
              <a:t>mask</a:t>
            </a:r>
            <a:r>
              <a:rPr lang="zh-CN" altLang="en-US" dirty="0"/>
              <a:t>来控制透明区域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267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8357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459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3132138"/>
            <a:ext cx="9144000" cy="3725862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3125788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325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BF95EB6-EBEA-436B-B8C7-CC5733D447DD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85750"/>
            <a:ext cx="19050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406525"/>
            <a:ext cx="7508875" cy="1470025"/>
          </a:xfrm>
        </p:spPr>
        <p:txBody>
          <a:bodyPr anchor="ctr"/>
          <a:lstStyle>
            <a:lvl1pPr algn="r">
              <a:defRPr sz="48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1063" y="3357562"/>
            <a:ext cx="5205412" cy="1085859"/>
          </a:xfrm>
        </p:spPr>
        <p:txBody>
          <a:bodyPr/>
          <a:lstStyle>
            <a:lvl1pPr marL="0" indent="0" algn="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432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68580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253219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>
          <a:xfrm>
            <a:off x="2268538" y="6423025"/>
            <a:ext cx="345598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http://cal.tongji.edu.cn/soft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2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>
          <a:xfrm>
            <a:off x="2498725" y="6448425"/>
            <a:ext cx="560228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http://cal.tongji.edu.cn/soft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0432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2339975" y="6469063"/>
            <a:ext cx="560228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http://cal.tongji.edu.cn/soft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712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375400"/>
            <a:ext cx="9144000" cy="482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369050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412875"/>
            <a:ext cx="82931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8621713" y="6453188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11846873-C626-4E8F-AAAA-8170E633D58C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39700"/>
            <a:ext cx="8275638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TextBox 6"/>
          <p:cNvSpPr txBox="1">
            <a:spLocks noChangeArrowheads="1"/>
          </p:cNvSpPr>
          <p:nvPr/>
        </p:nvSpPr>
        <p:spPr bwMode="auto">
          <a:xfrm>
            <a:off x="107504" y="6431756"/>
            <a:ext cx="6438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 err="1">
                <a:solidFill>
                  <a:schemeClr val="bg1"/>
                </a:solidFill>
              </a:rPr>
              <a:t>Tongji</a:t>
            </a:r>
            <a:r>
              <a:rPr lang="en-US" altLang="zh-CN" b="1" dirty="0">
                <a:solidFill>
                  <a:schemeClr val="bg1"/>
                </a:solidFill>
              </a:rPr>
              <a:t> University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032" name="Picture 9" descr="tongji university lo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15888"/>
            <a:ext cx="2124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ctrTitle" sz="quarter"/>
          </p:nvPr>
        </p:nvSpPr>
        <p:spPr>
          <a:xfrm>
            <a:off x="1691680" y="1484784"/>
            <a:ext cx="5062587" cy="1470025"/>
          </a:xfrm>
        </p:spPr>
        <p:txBody>
          <a:bodyPr/>
          <a:lstStyle/>
          <a:p>
            <a:pPr eaLnBrk="1" hangingPunct="1"/>
            <a:r>
              <a:rPr lang="zh-CN" altLang="en-US" dirty="0"/>
              <a:t>图像处理</a:t>
            </a:r>
            <a:r>
              <a:rPr lang="en-US" altLang="zh-CN" dirty="0"/>
              <a:t>PIL</a:t>
            </a:r>
            <a:endParaRPr lang="zh-CN" altLang="en-US" dirty="0"/>
          </a:p>
        </p:txBody>
      </p:sp>
      <p:sp>
        <p:nvSpPr>
          <p:cNvPr id="7171" name="副标题 2"/>
          <p:cNvSpPr>
            <a:spLocks noGrp="1"/>
          </p:cNvSpPr>
          <p:nvPr>
            <p:ph type="subTitle" sz="quarter" idx="1"/>
          </p:nvPr>
        </p:nvSpPr>
        <p:spPr>
          <a:xfrm>
            <a:off x="3421063" y="3357562"/>
            <a:ext cx="5205412" cy="1583605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Bodoni MT Black"/>
              </a:rPr>
              <a:t>同济大学计算机</a:t>
            </a:r>
            <a:endParaRPr lang="en-US" altLang="zh-CN" sz="4000" dirty="0">
              <a:latin typeface="Bodoni MT Black"/>
            </a:endParaRPr>
          </a:p>
          <a:p>
            <a:pPr eaLnBrk="1" hangingPunct="1"/>
            <a:r>
              <a:rPr lang="zh-CN" altLang="en-US" sz="4000" dirty="0">
                <a:latin typeface="Bodoni MT Black"/>
              </a:rPr>
              <a:t>基础教研室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12777" y="188640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 smtClean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原则</a:t>
            </a:r>
            <a:endParaRPr lang="zh-CN" altLang="en-US" sz="2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38254" y="1124744"/>
            <a:ext cx="8354226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eaLnBrk="1" hangingPunct="1">
              <a:defRPr/>
            </a:pPr>
            <a:r>
              <a:rPr lang="zh-CN" altLang="en-US" sz="2400" dirty="0" smtClean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本节内容，在自己的电脑上操作一遍</a:t>
            </a:r>
            <a:endParaRPr lang="en-US" altLang="zh-CN" sz="2400" dirty="0" smtClean="0">
              <a:solidFill>
                <a:srgbClr val="0000B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eaLnBrk="1" hangingPunct="1">
              <a:defRPr/>
            </a:pPr>
            <a:r>
              <a:rPr lang="zh-CN" altLang="en-US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</a:t>
            </a:r>
            <a:r>
              <a:rPr lang="zh-CN" altLang="en-US" sz="2400" dirty="0" smtClean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有个印象，知道可以完成什么样的事情</a:t>
            </a:r>
            <a:endParaRPr lang="en-US" altLang="zh-CN" sz="2400" dirty="0" smtClean="0">
              <a:solidFill>
                <a:srgbClr val="0000B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eaLnBrk="1" hangingPunct="1">
              <a:defRPr/>
            </a:pPr>
            <a:r>
              <a:rPr lang="zh-CN" altLang="en-US" sz="2400" dirty="0" smtClean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考试时会有提示，例如，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IF.EMBOSS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用于图像的浮雕处理</a:t>
            </a:r>
            <a:endParaRPr lang="zh-CN" altLang="zh-CN" sz="2400" dirty="0">
              <a:solidFill>
                <a:srgbClr val="0000B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eaLnBrk="1" hangingPunct="1">
              <a:defRPr/>
            </a:pP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162099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12777" y="188640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</a:t>
            </a:r>
            <a:r>
              <a:rPr lang="en-US" altLang="zh-CN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图像处理包</a:t>
            </a:r>
            <a:r>
              <a:rPr lang="en-US" altLang="zh-CN" sz="2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endParaRPr lang="zh-CN" altLang="en-US" sz="2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38254" y="1124744"/>
            <a:ext cx="8354226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eaLnBrk="1" hangingPunct="1">
              <a:defRPr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 Image Library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图像处理包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eaLnBrk="1" hangingPunct="1">
              <a:defRPr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库有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个处理图像的类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：只讲解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Image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ImageFilter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ImageEnhance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图像的存储（格式转换）、处理、显示等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eaLnBrk="1" hangingPunct="1">
              <a:defRPr/>
            </a:pPr>
            <a:r>
              <a:rPr lang="en-US" altLang="zh-CN" sz="2400" dirty="0" err="1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zh-CN" altLang="en-US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包的安装</a:t>
            </a:r>
            <a:endParaRPr lang="en-US" altLang="zh-CN" sz="2400" dirty="0">
              <a:solidFill>
                <a:srgbClr val="0000B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Anaconda</a:t>
            </a:r>
            <a:r>
              <a:rPr lang="zh-CN" altLang="en-US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 smtClean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缺省已经安装</a:t>
            </a:r>
            <a:endParaRPr lang="en-US" altLang="zh-CN" sz="2400" dirty="0">
              <a:solidFill>
                <a:srgbClr val="0000B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IDLE</a:t>
            </a:r>
            <a:r>
              <a:rPr lang="zh-CN" altLang="en-US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：手工安装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b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pip  install  pillow</a:t>
            </a:r>
          </a:p>
          <a:p>
            <a:pPr marL="342900" eaLnBrk="1" hangingPunct="1">
              <a:defRPr/>
            </a:pPr>
            <a:r>
              <a:rPr lang="en-US" altLang="zh-CN" sz="2400" dirty="0" err="1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zh-CN" altLang="en-US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包的导入：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from </a:t>
            </a:r>
            <a:r>
              <a:rPr lang="en-US" altLang="zh-CN" sz="2400" dirty="0" err="1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import Image</a:t>
            </a: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sz="16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from </a:t>
            </a:r>
            <a:r>
              <a:rPr lang="en-US" altLang="zh-CN" sz="2400" dirty="0" err="1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import *</a:t>
            </a:r>
          </a:p>
          <a:p>
            <a:pPr marL="342900" eaLnBrk="1" hangingPunct="1">
              <a:defRPr/>
            </a:pPr>
            <a:r>
              <a:rPr lang="zh-CN" altLang="en-US" sz="2400" dirty="0" smtClean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打开图像文件：</a:t>
            </a:r>
            <a:r>
              <a:rPr lang="en-US" altLang="zh-CN" sz="2400" dirty="0" err="1" smtClean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</a:t>
            </a:r>
            <a:r>
              <a:rPr lang="en-US" altLang="zh-CN" sz="2400" dirty="0" smtClean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dirty="0" err="1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Image.open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r"E</a:t>
            </a: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:\pyteach\digit.jpg")</a:t>
            </a:r>
          </a:p>
          <a:p>
            <a:pPr marL="342900" eaLnBrk="1" hangingPunct="1">
              <a:defRPr/>
            </a:pPr>
            <a:endParaRPr lang="zh-CN" altLang="zh-CN" sz="2400" dirty="0">
              <a:solidFill>
                <a:srgbClr val="0000B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eaLnBrk="1" hangingPunct="1">
              <a:defRPr/>
            </a:pP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925687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1653F15-0871-47F9-AB5C-DECEDDF40C19}"/>
              </a:ext>
            </a:extLst>
          </p:cNvPr>
          <p:cNvSpPr/>
          <p:nvPr/>
        </p:nvSpPr>
        <p:spPr>
          <a:xfrm>
            <a:off x="1259632" y="3205091"/>
            <a:ext cx="41681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● ● ● ●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………….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●</a:t>
            </a:r>
            <a:endParaRPr lang="en-US" altLang="zh-CN" sz="24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● ● ● ●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………….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●</a:t>
            </a:r>
            <a:endParaRPr lang="en-US" altLang="zh-CN" sz="24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● ● ● ●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………….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●</a:t>
            </a:r>
            <a:endParaRPr lang="en-US" altLang="zh-CN" sz="24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● ● ● ●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………….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●</a:t>
            </a:r>
            <a:endParaRPr lang="zh-CN" altLang="en-US" sz="240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38254" y="1124744"/>
            <a:ext cx="8210210" cy="187220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eaLnBrk="1" hangingPunct="1"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图像文件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BMP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JPEG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GIF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PNG</a:t>
            </a:r>
            <a:b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：笛卡尔坐标系，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以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左上角为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(0,0)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，水平向右为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垂直向下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 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800*600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的图像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/>
            </a:r>
            <a:b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        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xmlns="" id="{3C327003-4B27-4AD2-9739-F3A256754F12}"/>
              </a:ext>
            </a:extLst>
          </p:cNvPr>
          <p:cNvCxnSpPr>
            <a:cxnSpLocks/>
          </p:cNvCxnSpPr>
          <p:nvPr/>
        </p:nvCxnSpPr>
        <p:spPr bwMode="auto">
          <a:xfrm>
            <a:off x="1331640" y="3245740"/>
            <a:ext cx="3816424" cy="83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B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xmlns="" id="{4D958E36-F163-4FEB-BF8A-771FB138C198}"/>
              </a:ext>
            </a:extLst>
          </p:cNvPr>
          <p:cNvCxnSpPr>
            <a:cxnSpLocks/>
          </p:cNvCxnSpPr>
          <p:nvPr/>
        </p:nvCxnSpPr>
        <p:spPr bwMode="auto">
          <a:xfrm>
            <a:off x="1331640" y="3254124"/>
            <a:ext cx="0" cy="29042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B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76651DBA-27CF-4623-A336-4E4F6E41CD8F}"/>
              </a:ext>
            </a:extLst>
          </p:cNvPr>
          <p:cNvSpPr/>
          <p:nvPr/>
        </p:nvSpPr>
        <p:spPr>
          <a:xfrm>
            <a:off x="1331640" y="2780928"/>
            <a:ext cx="41681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3                 799    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96FC65E6-8D41-467A-95BD-07CF402DB8D5}"/>
              </a:ext>
            </a:extLst>
          </p:cNvPr>
          <p:cNvSpPr/>
          <p:nvPr/>
        </p:nvSpPr>
        <p:spPr>
          <a:xfrm>
            <a:off x="611560" y="3190635"/>
            <a:ext cx="80517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599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00B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endParaRPr lang="zh-CN" altLang="en-US" sz="2400" dirty="0">
              <a:solidFill>
                <a:srgbClr val="0000B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xmlns="" id="{9972EA20-E3DB-460E-A954-7AE62865A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77" y="188640"/>
            <a:ext cx="7959634" cy="69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二、图像基本概念</a:t>
            </a:r>
            <a:endParaRPr lang="zh-CN" altLang="en-US" sz="2800" b="0" kern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27052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1167" y="260648"/>
            <a:ext cx="7959634" cy="7703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三、图像处理引例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xmlns="" id="{65FF2532-7C6D-4B06-BAB4-5EBE30147503}"/>
              </a:ext>
            </a:extLst>
          </p:cNvPr>
          <p:cNvSpPr txBox="1">
            <a:spLocks/>
          </p:cNvSpPr>
          <p:nvPr/>
        </p:nvSpPr>
        <p:spPr bwMode="auto">
          <a:xfrm>
            <a:off x="538254" y="1124744"/>
            <a:ext cx="7706154" cy="50405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eaLnBrk="1" hangingPunct="1"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彩色</a:t>
            </a:r>
            <a:r>
              <a:rPr lang="zh-CN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灰度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黑白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/>
            </a:r>
            <a:b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       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596C46E4-22E0-4BC2-85A0-036341672C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556792"/>
            <a:ext cx="1890392" cy="14177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69AEEAC2-432E-4064-81E1-7890C3F3D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487" y="1556792"/>
            <a:ext cx="1890393" cy="141779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343E176-B892-443D-8334-B3A6ACC1211D}"/>
              </a:ext>
            </a:extLst>
          </p:cNvPr>
          <p:cNvSpPr/>
          <p:nvPr/>
        </p:nvSpPr>
        <p:spPr>
          <a:xfrm>
            <a:off x="755576" y="3140968"/>
            <a:ext cx="82809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		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导入PIL库的Image模块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 = Image.open(r"C:\Test\Tulips.jpg")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加载图像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im.show()	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显示图像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 = im.convert("L")  			# 转换为灰度8位图像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im.show()				# 显示图像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 = im.point(lambda x: 255 if x &gt; 196 else 0)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一个一个像素数处理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im.show()	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显示图像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 = im.convert("1")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转换成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位黑白图像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im.show()	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im.save(r "C:\Test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New_Tulips.jpg")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存储图像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4B8F55EC-CBE2-469A-BF71-C1FEBF4CCB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598" y="1556792"/>
            <a:ext cx="1890392" cy="141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8229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167016"/>
            <a:ext cx="5969726" cy="52378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100" dirty="0">
                <a:solidFill>
                  <a:srgbClr val="0070C0"/>
                </a:solidFill>
              </a:rPr>
              <a:t>四</a:t>
            </a:r>
            <a:r>
              <a:rPr lang="en-US" altLang="zh-CN" sz="2100" dirty="0" smtClean="0">
                <a:solidFill>
                  <a:srgbClr val="0070C0"/>
                </a:solidFill>
              </a:rPr>
              <a:t>  </a:t>
            </a:r>
            <a:r>
              <a:rPr lang="zh-CN" altLang="en-US" sz="2100" dirty="0">
                <a:solidFill>
                  <a:srgbClr val="0070C0"/>
                </a:solidFill>
              </a:rPr>
              <a:t>图像文件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764577" y="2456892"/>
            <a:ext cx="7614846" cy="25922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57175"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Image Library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图像处理包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包支持图像的存储、显示、处理（缩放、裁剪、叠加、颜色处理、边缘检测等）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个处理图像的类，如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ImageFilter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ImageEnhance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zh-CN" altLang="en-US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r>
              <a:rPr lang="en-US" altLang="zh-CN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类的引用  </a:t>
            </a:r>
            <a:r>
              <a:rPr lang="en-US" altLang="zh-CN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PIL import Image</a:t>
            </a:r>
            <a:endParaRPr lang="zh-CN" altLang="zh-CN" sz="1500" dirty="0">
              <a:solidFill>
                <a:srgbClr val="0000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加载图像：</a:t>
            </a:r>
            <a:r>
              <a:rPr lang="en-US" altLang="zh-CN" sz="1500" dirty="0" err="1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Image.open</a:t>
            </a:r>
            <a:r>
              <a:rPr lang="en-US" altLang="zh-CN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500" dirty="0" err="1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500" dirty="0" err="1"/>
              <a:t>"</a:t>
            </a:r>
            <a:r>
              <a:rPr lang="en-US" altLang="zh-CN" sz="1500" dirty="0" err="1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hm.jpg</a:t>
            </a:r>
            <a:r>
              <a:rPr lang="en-US" altLang="zh-CN" sz="15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sz="1500" dirty="0">
              <a:solidFill>
                <a:srgbClr val="0000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5586" y="1970838"/>
            <a:ext cx="7236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图像文件是典型的二进制文件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 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.jpg    .bmp    .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png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.gif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2878097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 smtClean="0"/>
              <a:t>4.1 </a:t>
            </a:r>
            <a:r>
              <a:rPr lang="zh-CN" altLang="en-US" sz="2400" dirty="0"/>
              <a:t>图像基本处理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5557" y="2135326"/>
            <a:ext cx="8293100" cy="350792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135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Image.open</a:t>
            </a:r>
            <a:r>
              <a: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35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filename,mode</a:t>
            </a:r>
            <a:r>
              <a: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</a:t>
            </a:r>
            <a:r>
              <a:rPr lang="zh-CN" altLang="en-US" sz="13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打开一张图像</a:t>
            </a:r>
            <a:r>
              <a:rPr lang="en-US" altLang="zh-CN" sz="13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 marL="0" indent="0">
              <a:buNone/>
            </a:pPr>
            <a:r>
              <a:rPr lang="zh-CN" altLang="en-US" sz="13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返回一个</a:t>
            </a:r>
            <a:r>
              <a:rPr lang="en-US" altLang="zh-CN" sz="13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sz="13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对象，该对象有</a:t>
            </a:r>
            <a:r>
              <a:rPr lang="en-US" altLang="zh-CN" sz="13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size,format,mode</a:t>
            </a:r>
            <a:r>
              <a:rPr lang="zh-CN" altLang="en-US" sz="13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等属性</a:t>
            </a:r>
            <a:endParaRPr lang="en-US" altLang="zh-CN" sz="135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表示图像的宽度和高度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像素表示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format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表示图像的格式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常见的包括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JPEG,PNG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等格式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表示图像的模式，定义了像素类型还有图像深度等，常见的有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RGB,HSV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135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350" dirty="0">
                <a:solidFill>
                  <a:schemeClr val="tx1"/>
                </a:solidFill>
              </a:rPr>
              <a:t>from PIL import Image</a:t>
            </a:r>
          </a:p>
          <a:p>
            <a:pPr marL="300038" lvl="1" indent="0">
              <a:buNone/>
            </a:pPr>
            <a:r>
              <a:rPr lang="en-US" altLang="zh-CN" sz="1350" dirty="0" err="1">
                <a:solidFill>
                  <a:schemeClr val="tx1"/>
                </a:solidFill>
              </a:rPr>
              <a:t>im</a:t>
            </a:r>
            <a:r>
              <a:rPr lang="en-US" altLang="zh-CN" sz="1350" dirty="0">
                <a:solidFill>
                  <a:schemeClr val="tx1"/>
                </a:solidFill>
              </a:rPr>
              <a:t> = </a:t>
            </a:r>
            <a:r>
              <a:rPr lang="en-US" altLang="zh-CN" sz="1350" dirty="0" err="1">
                <a:solidFill>
                  <a:schemeClr val="tx1"/>
                </a:solidFill>
              </a:rPr>
              <a:t>Image.open</a:t>
            </a:r>
            <a:r>
              <a:rPr lang="en-US" altLang="zh-CN" sz="1350" dirty="0">
                <a:solidFill>
                  <a:schemeClr val="tx1"/>
                </a:solidFill>
              </a:rPr>
              <a:t>("d:/images/hm.jpg","r") </a:t>
            </a:r>
          </a:p>
          <a:p>
            <a:pPr marL="300038" lvl="1" indent="0">
              <a:buNone/>
            </a:pPr>
            <a:r>
              <a:rPr lang="en-US" altLang="zh-CN" sz="1350" dirty="0">
                <a:solidFill>
                  <a:schemeClr val="tx1"/>
                </a:solidFill>
              </a:rPr>
              <a:t>print(</a:t>
            </a:r>
            <a:r>
              <a:rPr lang="en-US" altLang="zh-CN" sz="1350" dirty="0" err="1">
                <a:solidFill>
                  <a:schemeClr val="tx1"/>
                </a:solidFill>
              </a:rPr>
              <a:t>im.size,im.format,im.mode</a:t>
            </a:r>
            <a:r>
              <a:rPr lang="en-US" altLang="zh-CN" sz="1350" dirty="0">
                <a:solidFill>
                  <a:schemeClr val="tx1"/>
                </a:solidFill>
              </a:rPr>
              <a:t>)      #</a:t>
            </a:r>
            <a:r>
              <a:rPr lang="zh-CN" altLang="en-US" sz="1350" dirty="0">
                <a:solidFill>
                  <a:schemeClr val="tx1"/>
                </a:solidFill>
              </a:rPr>
              <a:t>显示图像的大小，格式和模式</a:t>
            </a:r>
          </a:p>
          <a:p>
            <a:pPr marL="300038" lvl="1" indent="0">
              <a:buNone/>
            </a:pPr>
            <a:r>
              <a:rPr lang="en-US" altLang="zh-CN" sz="1350" dirty="0" err="1">
                <a:solidFill>
                  <a:schemeClr val="tx1"/>
                </a:solidFill>
              </a:rPr>
              <a:t>im.show</a:t>
            </a:r>
            <a:r>
              <a:rPr lang="en-US" altLang="zh-CN" sz="1350" dirty="0">
                <a:solidFill>
                  <a:schemeClr val="tx1"/>
                </a:solidFill>
              </a:rPr>
              <a:t>()          #</a:t>
            </a:r>
            <a:r>
              <a:rPr lang="zh-CN" altLang="en-US" sz="1350" dirty="0">
                <a:solidFill>
                  <a:schemeClr val="tx1"/>
                </a:solidFill>
              </a:rPr>
              <a:t>显示图像</a:t>
            </a:r>
          </a:p>
        </p:txBody>
      </p:sp>
      <p:sp>
        <p:nvSpPr>
          <p:cNvPr id="4" name="矩形 3"/>
          <p:cNvSpPr/>
          <p:nvPr/>
        </p:nvSpPr>
        <p:spPr>
          <a:xfrm>
            <a:off x="791580" y="1701187"/>
            <a:ext cx="7167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中最重要的类，可以用来实现图像处理的所有基本功能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401108"/>
            <a:ext cx="1975483" cy="2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4236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0498" y="1397299"/>
            <a:ext cx="6318702" cy="43204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 smtClean="0"/>
              <a:t>【例】</a:t>
            </a:r>
            <a:r>
              <a:rPr lang="zh-CN" altLang="zh-CN" dirty="0"/>
              <a:t>将彩色图像转换成黑白图像</a:t>
            </a:r>
          </a:p>
        </p:txBody>
      </p:sp>
      <p:sp>
        <p:nvSpPr>
          <p:cNvPr id="4" name="矩形 3"/>
          <p:cNvSpPr/>
          <p:nvPr/>
        </p:nvSpPr>
        <p:spPr>
          <a:xfrm>
            <a:off x="737574" y="1856526"/>
            <a:ext cx="7668852" cy="21698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1500" dirty="0"/>
              <a:t>from PIL import Image		   # 导入PIL库的Image模块</a:t>
            </a:r>
          </a:p>
          <a:p>
            <a:pPr lvl="1">
              <a:lnSpc>
                <a:spcPct val="150000"/>
              </a:lnSpc>
            </a:pPr>
            <a:r>
              <a:rPr lang="zh-CN" altLang="en-US" sz="1500" dirty="0"/>
              <a:t>im = Image.open(r"D:\</a:t>
            </a:r>
            <a:r>
              <a:rPr lang="en-US" altLang="zh-CN" sz="1500" dirty="0"/>
              <a:t>data</a:t>
            </a:r>
            <a:r>
              <a:rPr lang="zh-CN" altLang="en-US" sz="1500" dirty="0"/>
              <a:t>\Tulips.jpg") # 打开图像文件</a:t>
            </a:r>
            <a:endParaRPr lang="en-US" altLang="zh-CN" sz="1500" dirty="0"/>
          </a:p>
          <a:p>
            <a:pPr lvl="1">
              <a:lnSpc>
                <a:spcPct val="150000"/>
              </a:lnSpc>
            </a:pPr>
            <a:r>
              <a:rPr lang="zh-CN" altLang="en-US" sz="1500" dirty="0"/>
              <a:t>im.show() 			                # 显示图像对象im中的图像</a:t>
            </a:r>
          </a:p>
          <a:p>
            <a:pPr lvl="1">
              <a:lnSpc>
                <a:spcPct val="150000"/>
              </a:lnSpc>
            </a:pPr>
            <a:r>
              <a:rPr lang="zh-CN" altLang="en-US" sz="1500" dirty="0"/>
              <a:t>im = im.</a:t>
            </a:r>
            <a:r>
              <a:rPr lang="zh-CN" altLang="en-US" sz="1500" b="1" dirty="0">
                <a:solidFill>
                  <a:srgbClr val="00B050"/>
                </a:solidFill>
              </a:rPr>
              <a:t>convert(</a:t>
            </a:r>
            <a:r>
              <a:rPr lang="zh-CN" altLang="en-US" sz="1500" dirty="0"/>
              <a:t>" </a:t>
            </a:r>
            <a:r>
              <a:rPr lang="zh-CN" altLang="en-US" sz="1500" b="1" dirty="0">
                <a:solidFill>
                  <a:srgbClr val="00B050"/>
                </a:solidFill>
              </a:rPr>
              <a:t>L</a:t>
            </a:r>
            <a:r>
              <a:rPr lang="zh-CN" altLang="en-US" sz="1500" dirty="0"/>
              <a:t> "</a:t>
            </a:r>
            <a:r>
              <a:rPr lang="zh-CN" altLang="en-US" sz="1500" b="1" dirty="0">
                <a:solidFill>
                  <a:srgbClr val="00B050"/>
                </a:solidFill>
              </a:rPr>
              <a:t>) </a:t>
            </a:r>
            <a:r>
              <a:rPr lang="zh-CN" altLang="en-US" sz="1500" dirty="0"/>
              <a:t>	 	   # 转换为灰度8位图像</a:t>
            </a:r>
          </a:p>
          <a:p>
            <a:pPr lvl="1">
              <a:lnSpc>
                <a:spcPct val="150000"/>
              </a:lnSpc>
            </a:pPr>
            <a:r>
              <a:rPr lang="zh-CN" altLang="en-US" sz="1500" dirty="0"/>
              <a:t>im.show()		                             # 显示图像</a:t>
            </a:r>
          </a:p>
          <a:p>
            <a:pPr lvl="1">
              <a:lnSpc>
                <a:spcPct val="150000"/>
              </a:lnSpc>
            </a:pPr>
            <a:r>
              <a:rPr lang="zh-CN" altLang="en-US" sz="1500" dirty="0"/>
              <a:t>im.save(r“D:\</a:t>
            </a:r>
            <a:r>
              <a:rPr lang="en-US" altLang="zh-CN" sz="1500" dirty="0"/>
              <a:t>data</a:t>
            </a:r>
            <a:r>
              <a:rPr lang="zh-CN" altLang="en-US" sz="1500" dirty="0"/>
              <a:t>\New-Tulips.jpg”)      # 保存图像文件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36" y="4083012"/>
            <a:ext cx="2159031" cy="16114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700" y="4083011"/>
            <a:ext cx="2151273" cy="161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26426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006" y="1350850"/>
            <a:ext cx="8275638" cy="651272"/>
          </a:xfrm>
        </p:spPr>
        <p:txBody>
          <a:bodyPr/>
          <a:lstStyle/>
          <a:p>
            <a:r>
              <a:rPr lang="en-US" altLang="zh-CN" sz="2100" dirty="0">
                <a:solidFill>
                  <a:srgbClr val="0070C0"/>
                </a:solidFill>
              </a:rPr>
              <a:t>1</a:t>
            </a:r>
            <a:r>
              <a:rPr lang="zh-CN" altLang="zh-CN" sz="2100" dirty="0">
                <a:solidFill>
                  <a:srgbClr val="0070C0"/>
                </a:solidFill>
              </a:rPr>
              <a:t>．图像打开、显示、转换和保存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5" y="2132856"/>
            <a:ext cx="8293100" cy="253828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）打开图像：  </a:t>
            </a:r>
            <a:r>
              <a:rPr lang="en-US" altLang="zh-CN" b="0" dirty="0" err="1">
                <a:solidFill>
                  <a:schemeClr val="tx1"/>
                </a:solidFill>
              </a:rPr>
              <a:t>Image.open</a:t>
            </a:r>
            <a:r>
              <a:rPr lang="en-US" altLang="zh-CN" b="0" dirty="0">
                <a:solidFill>
                  <a:schemeClr val="tx1"/>
                </a:solidFill>
              </a:rPr>
              <a:t>(filename)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）显示图像：  </a:t>
            </a:r>
            <a:r>
              <a:rPr lang="en-US" altLang="zh-CN" b="0" dirty="0" err="1">
                <a:solidFill>
                  <a:schemeClr val="tx1"/>
                </a:solidFill>
              </a:rPr>
              <a:t>im.show</a:t>
            </a:r>
            <a:r>
              <a:rPr lang="en-US" altLang="zh-CN" b="0" dirty="0">
                <a:solidFill>
                  <a:schemeClr val="tx1"/>
                </a:solidFill>
              </a:rPr>
              <a:t>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 dirty="0">
                <a:solidFill>
                  <a:srgbClr val="00B050"/>
                </a:solidFill>
              </a:rPr>
              <a:t>3</a:t>
            </a:r>
            <a:r>
              <a:rPr lang="zh-CN" altLang="en-US" dirty="0">
                <a:solidFill>
                  <a:srgbClr val="00B050"/>
                </a:solidFill>
              </a:rPr>
              <a:t>）保存图像：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Image. save(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filename,format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 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Image.open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r"digit.jpg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im.save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(“</a:t>
            </a:r>
            <a:r>
              <a:rPr lang="en-US" altLang="zh-CN" sz="1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digit.bmp”,“bmp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”)        #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存成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bmp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2437036322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5556" y="1160749"/>
            <a:ext cx="7826896" cy="651272"/>
          </a:xfrm>
        </p:spPr>
        <p:txBody>
          <a:bodyPr/>
          <a:lstStyle/>
          <a:p>
            <a:r>
              <a:rPr lang="zh-CN" altLang="en-US" sz="2100" dirty="0">
                <a:solidFill>
                  <a:srgbClr val="0070C0"/>
                </a:solidFill>
              </a:rPr>
              <a:t>（</a:t>
            </a:r>
            <a:r>
              <a:rPr lang="en-US" altLang="zh-CN" sz="2100" dirty="0">
                <a:solidFill>
                  <a:srgbClr val="0070C0"/>
                </a:solidFill>
              </a:rPr>
              <a:t>4</a:t>
            </a:r>
            <a:r>
              <a:rPr lang="zh-CN" altLang="en-US" sz="2100" dirty="0">
                <a:solidFill>
                  <a:srgbClr val="0070C0"/>
                </a:solidFill>
              </a:rPr>
              <a:t>）图像转换</a:t>
            </a:r>
            <a:r>
              <a:rPr lang="en-US" altLang="zh-CN" sz="2100" dirty="0">
                <a:solidFill>
                  <a:srgbClr val="0070C0"/>
                </a:solidFill>
              </a:rPr>
              <a:t>         </a:t>
            </a:r>
            <a:r>
              <a:rPr lang="zh-CN" altLang="en-US" sz="1800" dirty="0">
                <a:solidFill>
                  <a:srgbClr val="00B050"/>
                </a:solidFill>
              </a:rPr>
              <a:t>图像对象</a:t>
            </a:r>
            <a:r>
              <a:rPr lang="en-US" altLang="zh-CN" sz="1800" dirty="0">
                <a:solidFill>
                  <a:srgbClr val="00B050"/>
                </a:solidFill>
              </a:rPr>
              <a:t>.convert(</a:t>
            </a:r>
            <a:r>
              <a:rPr lang="zh-CN" altLang="en-US" sz="1800" dirty="0">
                <a:solidFill>
                  <a:srgbClr val="00B050"/>
                </a:solidFill>
              </a:rPr>
              <a:t>格式</a:t>
            </a:r>
            <a:r>
              <a:rPr lang="en-US" altLang="zh-CN" sz="1800" dirty="0">
                <a:solidFill>
                  <a:srgbClr val="00B050"/>
                </a:solidFill>
              </a:rPr>
              <a:t>) </a:t>
            </a:r>
            <a:endParaRPr lang="zh-CN" altLang="en-US" sz="1800" dirty="0"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5557" y="1916832"/>
            <a:ext cx="8125736" cy="34563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1350" dirty="0">
                <a:solidFill>
                  <a:schemeClr val="tx1"/>
                </a:solidFill>
              </a:rPr>
              <a:t>例如：</a:t>
            </a:r>
            <a:endParaRPr lang="en-US" altLang="zh-CN" sz="1350" dirty="0">
              <a:solidFill>
                <a:schemeClr val="tx1"/>
              </a:solidFill>
            </a:endParaRPr>
          </a:p>
          <a:p>
            <a:pPr marL="300038" lvl="1" indent="0">
              <a:buNone/>
            </a:pPr>
            <a:r>
              <a:rPr lang="en-US" altLang="zh-CN" sz="1350" dirty="0"/>
              <a:t>from PIL import Image		       # </a:t>
            </a:r>
            <a:r>
              <a:rPr lang="zh-CN" altLang="en-US" sz="1350" dirty="0"/>
              <a:t>导入</a:t>
            </a:r>
            <a:r>
              <a:rPr lang="en-US" altLang="zh-CN" sz="1350" dirty="0"/>
              <a:t>PIL</a:t>
            </a:r>
            <a:r>
              <a:rPr lang="zh-CN" altLang="en-US" sz="1350" dirty="0"/>
              <a:t>库的</a:t>
            </a:r>
            <a:r>
              <a:rPr lang="en-US" altLang="zh-CN" sz="1350" dirty="0"/>
              <a:t>Image</a:t>
            </a:r>
            <a:r>
              <a:rPr lang="zh-CN" altLang="en-US" sz="1350" dirty="0"/>
              <a:t>模块</a:t>
            </a:r>
          </a:p>
          <a:p>
            <a:pPr marL="300038" lvl="1" indent="0">
              <a:buNone/>
            </a:pPr>
            <a:r>
              <a:rPr lang="en-US" altLang="zh-CN" sz="1350" dirty="0" err="1"/>
              <a:t>im</a:t>
            </a:r>
            <a:r>
              <a:rPr lang="en-US" altLang="zh-CN" sz="1350" dirty="0"/>
              <a:t> = </a:t>
            </a:r>
            <a:r>
              <a:rPr lang="en-US" altLang="zh-CN" sz="1350" dirty="0" err="1"/>
              <a:t>Image.open</a:t>
            </a:r>
            <a:r>
              <a:rPr lang="en-US" altLang="zh-CN" sz="1350" dirty="0"/>
              <a:t>(</a:t>
            </a:r>
            <a:r>
              <a:rPr lang="en-US" altLang="zh-CN" sz="1350" dirty="0" err="1"/>
              <a:t>r"D</a:t>
            </a:r>
            <a:r>
              <a:rPr lang="en-US" altLang="zh-CN" sz="1350" dirty="0"/>
              <a:t>:\images\Tulips.jpg") # </a:t>
            </a:r>
            <a:r>
              <a:rPr lang="zh-CN" altLang="en-US" sz="1350" dirty="0"/>
              <a:t>打开图像文件</a:t>
            </a:r>
          </a:p>
          <a:p>
            <a:pPr marL="300038" lvl="1" indent="0">
              <a:buNone/>
            </a:pPr>
            <a:r>
              <a:rPr lang="en-US" altLang="zh-CN" sz="1350" dirty="0" err="1"/>
              <a:t>im_L</a:t>
            </a:r>
            <a:r>
              <a:rPr lang="en-US" altLang="zh-CN" sz="1350" dirty="0"/>
              <a:t> = </a:t>
            </a:r>
            <a:r>
              <a:rPr lang="en-US" altLang="zh-CN" sz="1350" b="1" dirty="0" err="1">
                <a:solidFill>
                  <a:srgbClr val="00B050"/>
                </a:solidFill>
              </a:rPr>
              <a:t>im.convert</a:t>
            </a:r>
            <a:r>
              <a:rPr lang="en-US" altLang="zh-CN" sz="1350" b="1" dirty="0">
                <a:solidFill>
                  <a:srgbClr val="00B050"/>
                </a:solidFill>
              </a:rPr>
              <a:t>("L")</a:t>
            </a:r>
          </a:p>
          <a:p>
            <a:pPr marL="300038" lvl="1" indent="0">
              <a:buNone/>
            </a:pPr>
            <a:r>
              <a:rPr lang="en-US" altLang="zh-CN" sz="1350" dirty="0" err="1"/>
              <a:t>im_L.show</a:t>
            </a:r>
            <a:r>
              <a:rPr lang="en-US" altLang="zh-CN" sz="1350" dirty="0"/>
              <a:t>()</a:t>
            </a:r>
          </a:p>
          <a:p>
            <a:pPr marL="300038" lvl="1" indent="0">
              <a:buNone/>
            </a:pPr>
            <a:r>
              <a:rPr lang="en-US" altLang="zh-CN" sz="1350" dirty="0" err="1"/>
              <a:t>im_rgb</a:t>
            </a:r>
            <a:r>
              <a:rPr lang="en-US" altLang="zh-CN" sz="1350" dirty="0"/>
              <a:t> </a:t>
            </a:r>
            <a:r>
              <a:rPr lang="en-US" altLang="zh-CN" sz="1350" b="1" dirty="0">
                <a:solidFill>
                  <a:srgbClr val="C00000"/>
                </a:solidFill>
              </a:rPr>
              <a:t>= </a:t>
            </a:r>
            <a:r>
              <a:rPr lang="en-US" altLang="zh-CN" sz="1350" b="1" dirty="0" err="1">
                <a:solidFill>
                  <a:srgbClr val="00B050"/>
                </a:solidFill>
              </a:rPr>
              <a:t>im_L.convert</a:t>
            </a:r>
            <a:r>
              <a:rPr lang="en-US" altLang="zh-CN" sz="1350" b="1" dirty="0">
                <a:solidFill>
                  <a:srgbClr val="00B050"/>
                </a:solidFill>
              </a:rPr>
              <a:t>("RGB")</a:t>
            </a:r>
          </a:p>
          <a:p>
            <a:pPr marL="300038" lvl="1" indent="0">
              <a:buNone/>
            </a:pPr>
            <a:r>
              <a:rPr lang="en-US" altLang="zh-CN" sz="1350" dirty="0" err="1"/>
              <a:t>im_rgb.show</a:t>
            </a:r>
            <a:r>
              <a:rPr lang="en-US" altLang="zh-CN" sz="1350" dirty="0"/>
              <a:t>()</a:t>
            </a:r>
          </a:p>
          <a:p>
            <a:pPr marL="300038" lvl="1" indent="0"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convert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方法可以改变图像的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，一般是在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‘RGB’(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真彩图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‘L’(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灰度图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‘CMYK’(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印刷模式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之间转换。   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注意：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前面将图像转化为灰度图，再从灰度图转化为真彩图，但是恢复不了原来的真彩色。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9638284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551" y="1430778"/>
            <a:ext cx="7976219" cy="4320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500" dirty="0"/>
              <a:t>PIL</a:t>
            </a:r>
            <a:r>
              <a:rPr lang="zh-CN" altLang="en-US" sz="1500" dirty="0"/>
              <a:t>支持</a:t>
            </a:r>
            <a:r>
              <a:rPr lang="en-US" altLang="zh-CN" sz="1500" dirty="0"/>
              <a:t>9</a:t>
            </a:r>
            <a:r>
              <a:rPr lang="zh-CN" altLang="en-US" sz="1500" dirty="0"/>
              <a:t>种图像模式</a:t>
            </a:r>
            <a:r>
              <a:rPr lang="en-US" altLang="zh-CN" sz="1500" dirty="0"/>
              <a:t>:    </a:t>
            </a:r>
            <a:r>
              <a:rPr lang="en-US" altLang="zh-CN" sz="1500" dirty="0">
                <a:solidFill>
                  <a:srgbClr val="00B050"/>
                </a:solidFill>
              </a:rPr>
              <a:t>1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L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P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RGB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RGBA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CMYK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 err="1">
                <a:solidFill>
                  <a:srgbClr val="00B050"/>
                </a:solidFill>
              </a:rPr>
              <a:t>YCbCr</a:t>
            </a:r>
            <a:r>
              <a:rPr lang="en-US" altLang="zh-CN" sz="1500" dirty="0">
                <a:solidFill>
                  <a:srgbClr val="00B050"/>
                </a:solidFill>
              </a:rPr>
              <a:t>, I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F</a:t>
            </a:r>
            <a:r>
              <a:rPr lang="en-US" altLang="zh-CN" sz="1500" b="0" dirty="0"/>
              <a:t> </a:t>
            </a:r>
            <a:endParaRPr lang="zh-CN" altLang="en-US" sz="15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5556" y="2024844"/>
            <a:ext cx="7668852" cy="3294366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 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二值图像，每个像素用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表示黑，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255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表示白</a:t>
            </a: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L”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为灰色图像，每个像素用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0~255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个灰度级别</a:t>
            </a: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位彩色图像，每个像素用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表示，其对应的彩色值是按照调色板查询出来的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RGBA</a:t>
            </a:r>
            <a:r>
              <a:rPr lang="zh-CN" altLang="en-US" sz="1200" dirty="0">
                <a:solidFill>
                  <a:srgbClr val="00B050"/>
                </a:solidFill>
              </a:rPr>
              <a:t>” </a:t>
            </a:r>
            <a:r>
              <a:rPr lang="zh-CN" altLang="en-US" sz="1200" b="0" dirty="0"/>
              <a:t>为</a:t>
            </a:r>
            <a:r>
              <a:rPr lang="en-US" altLang="zh-CN" sz="1200" b="0" dirty="0"/>
              <a:t>32</a:t>
            </a:r>
            <a:r>
              <a:rPr lang="zh-CN" altLang="en-US" sz="1200" b="0" dirty="0"/>
              <a:t>位彩色图像    </a:t>
            </a:r>
            <a:endParaRPr lang="en-US" altLang="zh-CN" sz="1200" b="0" dirty="0"/>
          </a:p>
          <a:p>
            <a:pPr marL="342900" lvl="1" indent="0">
              <a:lnSpc>
                <a:spcPct val="150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每个像素用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表示，其中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24bit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三个通道，另外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8bit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通道，</a:t>
            </a:r>
            <a:r>
              <a:rPr lang="zh-CN" altLang="en-US" sz="1200" dirty="0"/>
              <a:t>控制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CMYK</a:t>
            </a:r>
            <a:r>
              <a:rPr lang="zh-CN" altLang="en-US" sz="1200" dirty="0">
                <a:solidFill>
                  <a:srgbClr val="00B050"/>
                </a:solidFill>
              </a:rPr>
              <a:t>”</a:t>
            </a:r>
            <a:r>
              <a:rPr lang="zh-CN" altLang="en-US" sz="1200" b="0" dirty="0"/>
              <a:t>为</a:t>
            </a:r>
            <a:r>
              <a:rPr lang="en-US" altLang="zh-CN" sz="1200" b="0" dirty="0"/>
              <a:t>32</a:t>
            </a:r>
            <a:r>
              <a:rPr lang="zh-CN" altLang="en-US" sz="1200" b="0" dirty="0"/>
              <a:t>位彩色图像，每个像素用</a:t>
            </a:r>
            <a:r>
              <a:rPr lang="en-US" altLang="zh-CN" sz="1200" b="0" dirty="0"/>
              <a:t>32</a:t>
            </a:r>
            <a:r>
              <a:rPr lang="zh-CN" altLang="en-US" sz="1200" b="0" dirty="0"/>
              <a:t>个</a:t>
            </a:r>
            <a:r>
              <a:rPr lang="en-US" altLang="zh-CN" sz="1200" b="0" dirty="0"/>
              <a:t>bit</a:t>
            </a:r>
            <a:r>
              <a:rPr lang="zh-CN" altLang="en-US" sz="1200" b="0" dirty="0"/>
              <a:t>表示，是印刷的四分色模式</a:t>
            </a:r>
            <a:endParaRPr lang="en-US" altLang="zh-CN" sz="1200" b="0" dirty="0"/>
          </a:p>
          <a:p>
            <a:pPr marL="257175" lvl="1" indent="-257175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1200" b="1" dirty="0">
                <a:solidFill>
                  <a:srgbClr val="00B050"/>
                </a:solidFill>
                <a:cs typeface="+mn-cs"/>
              </a:rPr>
              <a:t>模式“</a:t>
            </a:r>
            <a:r>
              <a:rPr lang="en-US" altLang="zh-CN" sz="1200" b="1" dirty="0" err="1">
                <a:solidFill>
                  <a:srgbClr val="00B050"/>
                </a:solidFill>
                <a:cs typeface="+mn-cs"/>
              </a:rPr>
              <a:t>YCbCr</a:t>
            </a:r>
            <a:r>
              <a:rPr lang="zh-CN" altLang="en-US" sz="1200" b="1" dirty="0">
                <a:solidFill>
                  <a:srgbClr val="00B050"/>
                </a:solidFill>
                <a:cs typeface="+mn-cs"/>
              </a:rPr>
              <a:t>”</a:t>
            </a:r>
            <a:r>
              <a:rPr lang="zh-CN" altLang="en-US" sz="1200" dirty="0">
                <a:cs typeface="+mn-cs"/>
              </a:rPr>
              <a:t>为</a:t>
            </a:r>
            <a:r>
              <a:rPr lang="en-US" altLang="zh-CN" sz="1200" dirty="0">
                <a:cs typeface="+mn-cs"/>
              </a:rPr>
              <a:t>24</a:t>
            </a:r>
            <a:r>
              <a:rPr lang="zh-CN" altLang="en-US" sz="1200" dirty="0">
                <a:cs typeface="+mn-cs"/>
              </a:rPr>
              <a:t>位彩色图像</a:t>
            </a:r>
            <a:endParaRPr lang="en-US" altLang="zh-CN" sz="1200" dirty="0">
              <a:cs typeface="+mn-cs"/>
            </a:endParaRPr>
          </a:p>
          <a:p>
            <a:pPr marL="342900" lvl="1" indent="0">
              <a:lnSpc>
                <a:spcPct val="150000"/>
              </a:lnSpc>
              <a:buNone/>
            </a:pPr>
            <a:r>
              <a:rPr lang="zh-CN" altLang="en-US" sz="1200" dirty="0"/>
              <a:t>每个像素用</a:t>
            </a:r>
            <a:r>
              <a:rPr lang="en-US" altLang="zh-CN" sz="1200" dirty="0"/>
              <a:t>24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</a:t>
            </a:r>
            <a:r>
              <a:rPr lang="en-US" altLang="zh-CN" sz="1200" dirty="0"/>
              <a:t>Y</a:t>
            </a:r>
            <a:r>
              <a:rPr lang="zh-CN" altLang="en-US" sz="1200" dirty="0"/>
              <a:t>是亮度，</a:t>
            </a:r>
            <a:r>
              <a:rPr lang="en-US" altLang="zh-CN" sz="1200" dirty="0" err="1"/>
              <a:t>Cb</a:t>
            </a:r>
            <a:r>
              <a:rPr lang="zh-CN" altLang="en-US" sz="1200" dirty="0"/>
              <a:t>：蓝色色度分量，</a:t>
            </a:r>
            <a:r>
              <a:rPr lang="en-US" altLang="zh-CN" sz="1200" dirty="0"/>
              <a:t>Cr</a:t>
            </a:r>
            <a:r>
              <a:rPr lang="zh-CN" altLang="en-US" sz="1200" dirty="0"/>
              <a:t>：红色色度分量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I</a:t>
            </a:r>
            <a:r>
              <a:rPr lang="zh-CN" altLang="en-US" sz="1200" dirty="0">
                <a:solidFill>
                  <a:srgbClr val="00B050"/>
                </a:solidFill>
              </a:rPr>
              <a:t>”</a:t>
            </a:r>
            <a:r>
              <a:rPr lang="zh-CN" altLang="en-US" sz="1200" b="0" dirty="0"/>
              <a:t>为</a:t>
            </a:r>
            <a:r>
              <a:rPr lang="en-US" altLang="zh-CN" sz="1200" b="0" dirty="0"/>
              <a:t>32</a:t>
            </a:r>
            <a:r>
              <a:rPr lang="zh-CN" altLang="en-US" sz="1200" b="0" dirty="0"/>
              <a:t>位整型灰色图像</a:t>
            </a:r>
            <a:r>
              <a:rPr lang="zh-CN" altLang="en-US" sz="1200" dirty="0">
                <a:solidFill>
                  <a:srgbClr val="00B050"/>
                </a:solidFill>
              </a:rPr>
              <a:t>， </a:t>
            </a:r>
            <a:endParaRPr lang="en-US" altLang="zh-CN" sz="12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F</a:t>
            </a:r>
            <a:r>
              <a:rPr lang="zh-CN" altLang="en-US" sz="1200" dirty="0">
                <a:solidFill>
                  <a:srgbClr val="00B050"/>
                </a:solidFill>
              </a:rPr>
              <a:t>”</a:t>
            </a:r>
            <a:r>
              <a:rPr lang="zh-CN" altLang="en-US" sz="1200" b="0" dirty="0"/>
              <a:t>为</a:t>
            </a:r>
            <a:r>
              <a:rPr lang="en-US" altLang="zh-CN" sz="1200" b="0" dirty="0"/>
              <a:t>32</a:t>
            </a:r>
            <a:r>
              <a:rPr lang="zh-CN" altLang="en-US" sz="1200" b="0" dirty="0"/>
              <a:t>位浮点灰色图像，</a:t>
            </a:r>
            <a:r>
              <a:rPr lang="zh-CN" altLang="en-US" sz="1200" dirty="0"/>
              <a:t>每个像素用</a:t>
            </a:r>
            <a:r>
              <a:rPr lang="en-US" altLang="zh-CN" sz="1200" dirty="0"/>
              <a:t>32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</a:t>
            </a:r>
            <a:r>
              <a:rPr lang="en-US" altLang="zh-CN" sz="1200" dirty="0"/>
              <a:t>0~255</a:t>
            </a:r>
            <a:r>
              <a:rPr lang="zh-CN" altLang="en-US" sz="1200" dirty="0"/>
              <a:t>对应</a:t>
            </a:r>
            <a:r>
              <a:rPr lang="en-US" altLang="zh-CN" sz="1200" dirty="0"/>
              <a:t>256</a:t>
            </a:r>
            <a:r>
              <a:rPr lang="zh-CN" altLang="en-US" sz="1200" dirty="0"/>
              <a:t>个灰度级别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667758831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169" y="1052736"/>
            <a:ext cx="8275638" cy="506556"/>
          </a:xfrm>
        </p:spPr>
        <p:txBody>
          <a:bodyPr/>
          <a:lstStyle/>
          <a:p>
            <a:r>
              <a:rPr lang="zh-CN" altLang="zh-CN" sz="2100" dirty="0">
                <a:solidFill>
                  <a:srgbClr val="0070C0"/>
                </a:solidFill>
              </a:rPr>
              <a:t>（</a:t>
            </a:r>
            <a:r>
              <a:rPr lang="en-US" altLang="zh-CN" sz="2100" dirty="0">
                <a:solidFill>
                  <a:srgbClr val="0070C0"/>
                </a:solidFill>
              </a:rPr>
              <a:t>5</a:t>
            </a:r>
            <a:r>
              <a:rPr lang="zh-CN" altLang="zh-CN" sz="2100" dirty="0">
                <a:solidFill>
                  <a:srgbClr val="0070C0"/>
                </a:solidFill>
              </a:rPr>
              <a:t>）像素</a:t>
            </a:r>
            <a:r>
              <a:rPr lang="zh-CN" altLang="en-US" sz="2100" dirty="0">
                <a:solidFill>
                  <a:srgbClr val="0070C0"/>
                </a:solidFill>
              </a:rPr>
              <a:t>点处理</a:t>
            </a:r>
            <a:endParaRPr lang="zh-CN" altLang="zh-CN" sz="2100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850" y="1613298"/>
            <a:ext cx="8046894" cy="4083954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>
                <a:solidFill>
                  <a:srgbClr val="00B050"/>
                </a:solidFill>
              </a:rPr>
              <a:t>图像对象</a:t>
            </a:r>
            <a:r>
              <a:rPr lang="en-US" altLang="zh-CN" dirty="0">
                <a:solidFill>
                  <a:srgbClr val="00B050"/>
                </a:solidFill>
              </a:rPr>
              <a:t>.</a:t>
            </a:r>
            <a:r>
              <a:rPr lang="en-US" altLang="zh-CN" dirty="0" err="1">
                <a:solidFill>
                  <a:srgbClr val="00B050"/>
                </a:solidFill>
              </a:rPr>
              <a:t>getpixel</a:t>
            </a:r>
            <a:r>
              <a:rPr lang="en-US" altLang="zh-CN" dirty="0">
                <a:solidFill>
                  <a:srgbClr val="00B050"/>
                </a:solidFill>
              </a:rPr>
              <a:t>(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x,y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en-US" altLang="zh-CN" dirty="0">
                <a:solidFill>
                  <a:srgbClr val="00B050"/>
                </a:solidFill>
              </a:rPr>
              <a:t> )           #</a:t>
            </a:r>
            <a:r>
              <a:rPr lang="zh-CN" altLang="en-US" dirty="0">
                <a:solidFill>
                  <a:srgbClr val="00B050"/>
                </a:solidFill>
              </a:rPr>
              <a:t>获取指定位置像素点的颜色值</a:t>
            </a:r>
            <a:endParaRPr lang="en-US" altLang="zh-CN" dirty="0">
              <a:solidFill>
                <a:srgbClr val="00B050"/>
              </a:solidFill>
            </a:endParaRPr>
          </a:p>
          <a:p>
            <a:pPr marL="600075" lvl="2" indent="0">
              <a:buNone/>
            </a:pPr>
            <a:r>
              <a:rPr lang="en-US" altLang="zh-CN" sz="1200" dirty="0"/>
              <a:t>from PIL import Image		          # </a:t>
            </a:r>
            <a:r>
              <a:rPr lang="zh-CN" altLang="en-US" sz="1200" dirty="0"/>
              <a:t>导入</a:t>
            </a:r>
            <a:r>
              <a:rPr lang="en-US" altLang="zh-CN" sz="1200" dirty="0"/>
              <a:t>PIL</a:t>
            </a:r>
            <a:r>
              <a:rPr lang="zh-CN" altLang="en-US" sz="1200" dirty="0"/>
              <a:t>库的</a:t>
            </a:r>
            <a:r>
              <a:rPr lang="en-US" altLang="zh-CN" sz="1200" dirty="0"/>
              <a:t>Image</a:t>
            </a:r>
            <a:r>
              <a:rPr lang="zh-CN" altLang="en-US" sz="1200" dirty="0"/>
              <a:t>模块</a:t>
            </a:r>
          </a:p>
          <a:p>
            <a:pPr marL="600075" lvl="2" indent="0">
              <a:buNone/>
            </a:pPr>
            <a:r>
              <a:rPr lang="en-US" altLang="zh-CN" sz="1200" dirty="0" err="1"/>
              <a:t>im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Image.open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r"D</a:t>
            </a:r>
            <a:r>
              <a:rPr lang="en-US" altLang="zh-CN" sz="1200" dirty="0"/>
              <a:t>:\images\Tulips.jpg")     # </a:t>
            </a:r>
            <a:r>
              <a:rPr lang="zh-CN" altLang="en-US" sz="1200" dirty="0"/>
              <a:t>打开图像文件</a:t>
            </a:r>
          </a:p>
          <a:p>
            <a:pPr marL="600075" lvl="2" indent="0">
              <a:buNone/>
            </a:pPr>
            <a:r>
              <a:rPr lang="en-US" altLang="zh-CN" sz="1200" dirty="0"/>
              <a:t>print(</a:t>
            </a:r>
            <a:r>
              <a:rPr lang="en-US" altLang="zh-CN" sz="1200" dirty="0" err="1"/>
              <a:t>im.getpixel</a:t>
            </a:r>
            <a:r>
              <a:rPr lang="en-US" altLang="zh-CN" sz="1200" dirty="0"/>
              <a:t>( (100,80) ))                           # </a:t>
            </a:r>
            <a:r>
              <a:rPr lang="zh-CN" altLang="en-US" sz="1200" dirty="0"/>
              <a:t>返回指定位置的</a:t>
            </a:r>
            <a:r>
              <a:rPr lang="en-US" altLang="zh-CN" sz="1200" dirty="0"/>
              <a:t>RGB</a:t>
            </a:r>
            <a:r>
              <a:rPr lang="zh-CN" altLang="en-US" sz="1200" dirty="0"/>
              <a:t>值</a:t>
            </a:r>
            <a:r>
              <a:rPr lang="en-US" altLang="zh-CN" sz="1200" dirty="0"/>
              <a:t>(156, 204, 253)</a:t>
            </a:r>
            <a:r>
              <a:rPr lang="en-US" altLang="zh-CN" sz="1200" b="1" dirty="0">
                <a:solidFill>
                  <a:srgbClr val="00B050"/>
                </a:solidFill>
                <a:cs typeface="+mn-cs"/>
              </a:rPr>
              <a:t>  </a:t>
            </a:r>
          </a:p>
          <a:p>
            <a:pPr marL="0" lvl="1" indent="0">
              <a:buClr>
                <a:schemeClr val="hlink"/>
              </a:buClr>
              <a:buNone/>
            </a:pPr>
            <a:r>
              <a:rPr lang="en-US" altLang="zh-CN" sz="1800" b="1" dirty="0">
                <a:solidFill>
                  <a:srgbClr val="00B050"/>
                </a:solidFill>
                <a:cs typeface="+mn-cs"/>
              </a:rPr>
              <a:t>    </a:t>
            </a:r>
            <a:r>
              <a:rPr lang="zh-CN" altLang="zh-CN" sz="1800" b="1" dirty="0">
                <a:solidFill>
                  <a:srgbClr val="00B050"/>
                </a:solidFill>
                <a:cs typeface="+mn-cs"/>
              </a:rPr>
              <a:t>图像对象</a:t>
            </a:r>
            <a:r>
              <a:rPr lang="en-US" altLang="zh-CN" sz="1800" b="1" dirty="0">
                <a:solidFill>
                  <a:srgbClr val="00B050"/>
                </a:solidFill>
                <a:cs typeface="+mn-cs"/>
              </a:rPr>
              <a:t>. </a:t>
            </a:r>
            <a:r>
              <a:rPr lang="zh-CN" altLang="zh-CN" sz="1800" b="1" dirty="0">
                <a:solidFill>
                  <a:srgbClr val="00B050"/>
                </a:solidFill>
                <a:cs typeface="+mn-cs"/>
              </a:rPr>
              <a:t>putpixel(self, </a:t>
            </a:r>
            <a:r>
              <a:rPr lang="zh-CN" altLang="en-US" sz="1800" b="1" dirty="0">
                <a:solidFill>
                  <a:srgbClr val="C00000"/>
                </a:solidFill>
                <a:cs typeface="+mn-cs"/>
              </a:rPr>
              <a:t>（</a:t>
            </a:r>
            <a:r>
              <a:rPr lang="zh-CN" altLang="zh-CN" sz="1800" b="1" dirty="0">
                <a:solidFill>
                  <a:srgbClr val="C00000"/>
                </a:solidFill>
                <a:cs typeface="+mn-cs"/>
              </a:rPr>
              <a:t>x</a:t>
            </a:r>
            <a:r>
              <a:rPr lang="en-US" altLang="zh-CN" sz="1800" b="1" dirty="0">
                <a:solidFill>
                  <a:srgbClr val="C00000"/>
                </a:solidFill>
                <a:cs typeface="+mn-cs"/>
              </a:rPr>
              <a:t>,</a:t>
            </a:r>
            <a:r>
              <a:rPr lang="zh-CN" altLang="zh-CN" sz="1800" b="1" dirty="0">
                <a:solidFill>
                  <a:srgbClr val="C00000"/>
                </a:solidFill>
                <a:cs typeface="+mn-cs"/>
              </a:rPr>
              <a:t>y</a:t>
            </a:r>
            <a:r>
              <a:rPr lang="zh-CN" altLang="en-US" sz="1800" b="1" dirty="0">
                <a:solidFill>
                  <a:srgbClr val="C00000"/>
                </a:solidFill>
                <a:cs typeface="+mn-cs"/>
              </a:rPr>
              <a:t>）</a:t>
            </a:r>
            <a:r>
              <a:rPr lang="zh-CN" altLang="zh-CN" sz="1800" b="1" dirty="0">
                <a:solidFill>
                  <a:srgbClr val="00B050"/>
                </a:solidFill>
                <a:cs typeface="+mn-cs"/>
              </a:rPr>
              <a:t>, color) </a:t>
            </a:r>
            <a:r>
              <a:rPr lang="en-US" altLang="zh-CN" sz="1800" b="1" dirty="0">
                <a:solidFill>
                  <a:srgbClr val="00B050"/>
                </a:solidFill>
                <a:cs typeface="+mn-cs"/>
              </a:rPr>
              <a:t> #</a:t>
            </a:r>
            <a:r>
              <a:rPr lang="zh-CN" altLang="en-US" sz="1800" b="1" dirty="0">
                <a:solidFill>
                  <a:srgbClr val="00B050"/>
                </a:solidFill>
                <a:cs typeface="+mn-cs"/>
              </a:rPr>
              <a:t>修改指定像素点的颜色</a:t>
            </a:r>
            <a:endParaRPr lang="en-US" altLang="zh-CN" sz="1800" b="1" dirty="0">
              <a:solidFill>
                <a:srgbClr val="00B050"/>
              </a:solidFill>
              <a:cs typeface="+mn-cs"/>
            </a:endParaRPr>
          </a:p>
          <a:p>
            <a:pPr marL="600075" lvl="2" indent="0">
              <a:buNone/>
            </a:pPr>
            <a:r>
              <a:rPr lang="en-US" altLang="zh-CN" sz="1200" dirty="0"/>
              <a:t>from PIL import Image</a:t>
            </a:r>
          </a:p>
          <a:p>
            <a:pPr marL="600075" lvl="2" indent="0">
              <a:buNone/>
            </a:pPr>
            <a:r>
              <a:rPr lang="en-US" altLang="zh-CN" sz="1200" dirty="0" err="1"/>
              <a:t>im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Image.open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r'd</a:t>
            </a:r>
            <a:r>
              <a:rPr lang="en-US" altLang="zh-CN" sz="1200" dirty="0"/>
              <a:t>:\images\hm.jpg')  </a:t>
            </a:r>
          </a:p>
          <a:p>
            <a:pPr marL="600075" lvl="2" indent="0">
              <a:buNone/>
            </a:pPr>
            <a:r>
              <a:rPr lang="en-US" altLang="zh-CN" sz="1200" dirty="0"/>
              <a:t>width, height = </a:t>
            </a:r>
            <a:r>
              <a:rPr lang="en-US" altLang="zh-CN" sz="1200" dirty="0" err="1"/>
              <a:t>im.size</a:t>
            </a:r>
            <a:r>
              <a:rPr lang="en-US" altLang="zh-CN" sz="1200" dirty="0"/>
              <a:t>  </a:t>
            </a:r>
          </a:p>
          <a:p>
            <a:pPr marL="600075" lvl="2" indent="0">
              <a:buNone/>
            </a:pPr>
            <a:r>
              <a:rPr lang="en-US" altLang="zh-CN" sz="1200" dirty="0"/>
              <a:t>for x in range(width):</a:t>
            </a:r>
          </a:p>
          <a:p>
            <a:pPr marL="600075" lvl="2" indent="0">
              <a:buNone/>
            </a:pPr>
            <a:r>
              <a:rPr lang="en-US" altLang="zh-CN" sz="1200" dirty="0"/>
              <a:t>    for y in range(height):</a:t>
            </a:r>
          </a:p>
          <a:p>
            <a:pPr marL="600075" lvl="2" indent="0">
              <a:buNone/>
            </a:pPr>
            <a:r>
              <a:rPr lang="en-US" altLang="zh-CN" sz="1200" dirty="0"/>
              <a:t>        a=</a:t>
            </a:r>
            <a:r>
              <a:rPr lang="en-US" altLang="zh-CN" sz="1200" dirty="0" err="1"/>
              <a:t>im.getpixel</a:t>
            </a:r>
            <a:r>
              <a:rPr lang="en-US" altLang="zh-CN" sz="1200" dirty="0"/>
              <a:t>((</a:t>
            </a:r>
            <a:r>
              <a:rPr lang="en-US" altLang="zh-CN" sz="1200" dirty="0" err="1"/>
              <a:t>x,y</a:t>
            </a:r>
            <a:r>
              <a:rPr lang="en-US" altLang="zh-CN" sz="1200" dirty="0"/>
              <a:t>))     #</a:t>
            </a:r>
            <a:r>
              <a:rPr lang="zh-CN" altLang="en-US" sz="1200" dirty="0"/>
              <a:t>获取了每个像素点的</a:t>
            </a:r>
            <a:r>
              <a:rPr lang="en-US" altLang="zh-CN" sz="1200" dirty="0"/>
              <a:t>RGB</a:t>
            </a:r>
            <a:r>
              <a:rPr lang="zh-CN" altLang="en-US" sz="1200" dirty="0"/>
              <a:t>值（元组）</a:t>
            </a:r>
          </a:p>
          <a:p>
            <a:pPr marL="600075" lvl="2" indent="0">
              <a:buNone/>
            </a:pPr>
            <a:r>
              <a:rPr lang="zh-CN" altLang="en-US" sz="1200" dirty="0"/>
              <a:t>        </a:t>
            </a:r>
            <a:r>
              <a:rPr lang="en-US" altLang="zh-CN" sz="1200" dirty="0" err="1"/>
              <a:t>r,g,b</a:t>
            </a:r>
            <a:r>
              <a:rPr lang="en-US" altLang="zh-CN" sz="1200" dirty="0"/>
              <a:t>=a                        #</a:t>
            </a:r>
            <a:r>
              <a:rPr lang="zh-CN" altLang="en-US" sz="1200" dirty="0"/>
              <a:t>先解包获取各个颜色值</a:t>
            </a:r>
          </a:p>
          <a:p>
            <a:pPr marL="600075" lvl="2" indent="0">
              <a:buNone/>
            </a:pPr>
            <a:r>
              <a:rPr lang="zh-CN" altLang="en-US" sz="1200" dirty="0"/>
              <a:t>        </a:t>
            </a:r>
            <a:r>
              <a:rPr lang="en-US" altLang="zh-CN" sz="1200" dirty="0"/>
              <a:t>b=(r*10,g+b,b-50)      #</a:t>
            </a:r>
            <a:r>
              <a:rPr lang="zh-CN" altLang="en-US" sz="1200" dirty="0"/>
              <a:t>每个颜色处理后重新放到元组中</a:t>
            </a:r>
          </a:p>
          <a:p>
            <a:pPr marL="600075" lvl="2" indent="0">
              <a:buNone/>
            </a:pPr>
            <a:r>
              <a:rPr lang="zh-CN" altLang="en-US" sz="1200" dirty="0"/>
              <a:t>        </a:t>
            </a:r>
            <a:r>
              <a:rPr lang="en-US" altLang="zh-CN" sz="1200" dirty="0" err="1"/>
              <a:t>im.putpixel</a:t>
            </a:r>
            <a:r>
              <a:rPr lang="en-US" altLang="zh-CN" sz="1200" dirty="0"/>
              <a:t>( (x, y), b )  #</a:t>
            </a:r>
            <a:r>
              <a:rPr lang="zh-CN" altLang="en-US" sz="1200" dirty="0"/>
              <a:t>修改每个像素点的颜色值  </a:t>
            </a:r>
          </a:p>
          <a:p>
            <a:pPr marL="600075" lvl="2" indent="0">
              <a:buNone/>
            </a:pPr>
            <a:r>
              <a:rPr lang="en-US" altLang="zh-CN" sz="1200" dirty="0" err="1"/>
              <a:t>im.show</a:t>
            </a:r>
            <a:r>
              <a:rPr lang="en-US" altLang="zh-CN" sz="1200" dirty="0"/>
              <a:t>()</a:t>
            </a:r>
            <a:endParaRPr lang="zh-CN" altLang="zh-CN" sz="1200" dirty="0"/>
          </a:p>
          <a:p>
            <a:pPr marL="0" indent="0">
              <a:buNone/>
            </a:pPr>
            <a:endParaRPr lang="en-US" altLang="zh-CN" sz="15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5614282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322629" y="1376773"/>
            <a:ext cx="8275638" cy="651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zh-CN" sz="2100" kern="0" dirty="0">
                <a:solidFill>
                  <a:srgbClr val="0070C0"/>
                </a:solidFill>
              </a:rPr>
              <a:t>（</a:t>
            </a:r>
            <a:r>
              <a:rPr lang="en-US" altLang="zh-CN" sz="2100" kern="0" dirty="0">
                <a:solidFill>
                  <a:srgbClr val="0070C0"/>
                </a:solidFill>
              </a:rPr>
              <a:t>6</a:t>
            </a:r>
            <a:r>
              <a:rPr lang="zh-CN" altLang="zh-CN" sz="2100" kern="0" dirty="0">
                <a:solidFill>
                  <a:srgbClr val="0070C0"/>
                </a:solidFill>
              </a:rPr>
              <a:t>）</a:t>
            </a:r>
            <a:r>
              <a:rPr lang="zh-CN" altLang="en-US" sz="2100" kern="0" dirty="0">
                <a:solidFill>
                  <a:srgbClr val="0070C0"/>
                </a:solidFill>
              </a:rPr>
              <a:t>更改</a:t>
            </a:r>
            <a:r>
              <a:rPr lang="zh-CN" altLang="zh-CN" sz="2100" kern="0" dirty="0">
                <a:solidFill>
                  <a:srgbClr val="0070C0"/>
                </a:solidFill>
              </a:rPr>
              <a:t>像素</a:t>
            </a:r>
            <a:r>
              <a:rPr lang="zh-CN" altLang="en-US" sz="2100" kern="0" dirty="0">
                <a:solidFill>
                  <a:srgbClr val="0070C0"/>
                </a:solidFill>
              </a:rPr>
              <a:t>点的值</a:t>
            </a:r>
            <a:endParaRPr lang="zh-CN" altLang="zh-CN" sz="2100" kern="0" dirty="0">
              <a:solidFill>
                <a:srgbClr val="0070C0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25507" y="2186862"/>
            <a:ext cx="8420980" cy="214987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zh-CN" sz="1800" kern="0" dirty="0"/>
              <a:t>     </a:t>
            </a:r>
            <a:r>
              <a:rPr lang="zh-CN" altLang="zh-CN" sz="1800" b="0" kern="0" dirty="0">
                <a:solidFill>
                  <a:schemeClr val="tx1"/>
                </a:solidFill>
              </a:rPr>
              <a:t>图像对象</a:t>
            </a:r>
            <a:r>
              <a:rPr lang="en-US" altLang="zh-CN" sz="1800" b="0" kern="0" dirty="0">
                <a:solidFill>
                  <a:schemeClr val="tx1"/>
                </a:solidFill>
              </a:rPr>
              <a:t>.point(</a:t>
            </a:r>
            <a:r>
              <a:rPr lang="en-US" altLang="zh-CN" sz="1800" b="0" kern="0" dirty="0" err="1">
                <a:solidFill>
                  <a:schemeClr val="tx1"/>
                </a:solidFill>
              </a:rPr>
              <a:t>lut,mode</a:t>
            </a:r>
            <a:r>
              <a:rPr lang="en-US" altLang="zh-CN" sz="1800" b="0" kern="0" dirty="0">
                <a:solidFill>
                  <a:schemeClr val="tx1"/>
                </a:solidFill>
              </a:rPr>
              <a:t>=None)  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chemeClr val="tx1"/>
                </a:solidFill>
              </a:rPr>
              <a:t>      #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500" b="0" dirty="0">
                <a:solidFill>
                  <a:schemeClr val="tx1"/>
                </a:solidFill>
              </a:rPr>
              <a:t>对图像的每个像素点进行改变，</a:t>
            </a:r>
            <a:r>
              <a:rPr lang="en-US" altLang="zh-CN" sz="1500" b="0" dirty="0" err="1">
                <a:solidFill>
                  <a:schemeClr val="tx1"/>
                </a:solidFill>
              </a:rPr>
              <a:t>lut</a:t>
            </a:r>
            <a:r>
              <a:rPr lang="zh-CN" altLang="en-US" sz="1500" b="0" dirty="0">
                <a:solidFill>
                  <a:schemeClr val="tx1"/>
                </a:solidFill>
              </a:rPr>
              <a:t>：</a:t>
            </a:r>
            <a:r>
              <a:rPr lang="en-US" altLang="zh-CN" sz="1500" b="0" dirty="0">
                <a:solidFill>
                  <a:schemeClr val="tx1"/>
                </a:solidFill>
              </a:rPr>
              <a:t>look up table </a:t>
            </a:r>
            <a:r>
              <a:rPr lang="zh-CN" altLang="en-US" sz="1500" b="0" dirty="0">
                <a:solidFill>
                  <a:schemeClr val="tx1"/>
                </a:solidFill>
              </a:rPr>
              <a:t>查找表</a:t>
            </a:r>
            <a:endParaRPr lang="en-US" altLang="zh-CN" sz="1500" b="0" kern="0" dirty="0">
              <a:solidFill>
                <a:schemeClr val="tx1"/>
              </a:solidFill>
            </a:endParaRPr>
          </a:p>
          <a:p>
            <a:pPr marL="300038" lvl="1" indent="0">
              <a:buNone/>
            </a:pPr>
            <a:r>
              <a:rPr lang="en-US" altLang="zh-CN" sz="1350" kern="0" dirty="0"/>
              <a:t>from PIL import Image		                   # </a:t>
            </a:r>
            <a:r>
              <a:rPr lang="zh-CN" altLang="en-US" sz="1350" kern="0" dirty="0"/>
              <a:t>导入</a:t>
            </a:r>
            <a:r>
              <a:rPr lang="en-US" altLang="zh-CN" sz="1350" kern="0" dirty="0"/>
              <a:t>PIL</a:t>
            </a:r>
            <a:r>
              <a:rPr lang="zh-CN" altLang="en-US" sz="1350" kern="0" dirty="0"/>
              <a:t>库的</a:t>
            </a:r>
            <a:r>
              <a:rPr lang="en-US" altLang="zh-CN" sz="1350" kern="0" dirty="0"/>
              <a:t>Image</a:t>
            </a:r>
            <a:r>
              <a:rPr lang="zh-CN" altLang="en-US" sz="1350" kern="0" dirty="0"/>
              <a:t>模块</a:t>
            </a:r>
          </a:p>
          <a:p>
            <a:pPr marL="300038" lvl="1" indent="0">
              <a:buNone/>
            </a:pPr>
            <a:r>
              <a:rPr lang="en-US" altLang="zh-CN" sz="1350" kern="0" dirty="0" err="1"/>
              <a:t>im</a:t>
            </a:r>
            <a:r>
              <a:rPr lang="en-US" altLang="zh-CN" sz="1350" kern="0" dirty="0"/>
              <a:t> = </a:t>
            </a:r>
            <a:r>
              <a:rPr lang="en-US" altLang="zh-CN" sz="1350" kern="0" dirty="0" err="1"/>
              <a:t>Image.open</a:t>
            </a:r>
            <a:r>
              <a:rPr lang="en-US" altLang="zh-CN" sz="1350" kern="0" dirty="0"/>
              <a:t>(</a:t>
            </a:r>
            <a:r>
              <a:rPr lang="en-US" altLang="zh-CN" sz="1350" kern="0" dirty="0" err="1"/>
              <a:t>r"D</a:t>
            </a:r>
            <a:r>
              <a:rPr lang="en-US" altLang="zh-CN" sz="1350" kern="0" dirty="0"/>
              <a:t>:\images\Tulips.jpg")             # </a:t>
            </a:r>
            <a:r>
              <a:rPr lang="zh-CN" altLang="en-US" sz="1350" kern="0" dirty="0"/>
              <a:t>打开图像文件</a:t>
            </a:r>
            <a:endParaRPr lang="en-US" altLang="zh-CN" sz="1350" kern="0" dirty="0"/>
          </a:p>
          <a:p>
            <a:pPr marL="300038" lvl="1" indent="0">
              <a:buNone/>
            </a:pPr>
            <a:r>
              <a:rPr lang="en-US" altLang="zh-CN" sz="1350" kern="0" dirty="0"/>
              <a:t>im1=</a:t>
            </a:r>
            <a:r>
              <a:rPr lang="en-US" altLang="zh-CN" sz="1350" kern="0" dirty="0" err="1"/>
              <a:t>im.point</a:t>
            </a:r>
            <a:r>
              <a:rPr lang="en-US" altLang="zh-CN" sz="1350" kern="0" dirty="0"/>
              <a:t>(lambda x: 255 if x &gt; 127 else 0)       #lambda</a:t>
            </a:r>
            <a:r>
              <a:rPr lang="zh-CN" altLang="en-US" sz="1350" kern="0" dirty="0"/>
              <a:t>的作用：使图像三个通道的值都改</a:t>
            </a:r>
            <a:endParaRPr lang="en-US" altLang="zh-CN" sz="1350" kern="0" dirty="0"/>
          </a:p>
          <a:p>
            <a:pPr marL="300038" lvl="1" indent="0">
              <a:buNone/>
            </a:pPr>
            <a:r>
              <a:rPr lang="en-US" altLang="zh-CN" sz="1350" kern="0" dirty="0"/>
              <a:t>im1.show()</a:t>
            </a:r>
            <a:endParaRPr lang="en-US" altLang="zh-CN" sz="1500" kern="0" dirty="0"/>
          </a:p>
        </p:txBody>
      </p:sp>
    </p:spTree>
    <p:extLst>
      <p:ext uri="{BB962C8B-B14F-4D97-AF65-F5344CB8AC3E}">
        <p14:creationId xmlns:p14="http://schemas.microsoft.com/office/powerpoint/2010/main" val="144712800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24102" y="1664830"/>
            <a:ext cx="5036030" cy="47486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100" dirty="0">
                <a:solidFill>
                  <a:srgbClr val="0070C0"/>
                </a:solidFill>
              </a:rPr>
              <a:t>图像模式转换，去除背景灰度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721784" y="2294874"/>
            <a:ext cx="7884876" cy="324377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import Image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Image.open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r"d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:\images\digit.jpg")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im.show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im.convert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("L")                                              # 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转换为灰度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im.point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(lambda x: 255 if x &gt; 196 else 0)     #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像素点处理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代表数字的图像的像素值是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	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im1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im.convert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("1")               #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位表示颜色，只有黑和白，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取值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im1.save("sample_1.bmp")       #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转存为位图</a:t>
            </a:r>
            <a:endParaRPr lang="zh-CN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im1.show()</a:t>
            </a:r>
          </a:p>
        </p:txBody>
      </p:sp>
      <p:pic>
        <p:nvPicPr>
          <p:cNvPr id="7" name="图片 6" descr="E:\pyteach\sample_1.b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198" y="1397310"/>
            <a:ext cx="2252462" cy="1005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3966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235" y="620688"/>
            <a:ext cx="7938882" cy="651272"/>
          </a:xfrm>
        </p:spPr>
        <p:txBody>
          <a:bodyPr/>
          <a:lstStyle/>
          <a:p>
            <a:r>
              <a:rPr lang="en-US" altLang="zh-CN" sz="2100" dirty="0">
                <a:solidFill>
                  <a:srgbClr val="0070C0"/>
                </a:solidFill>
              </a:rPr>
              <a:t>2. </a:t>
            </a:r>
            <a:r>
              <a:rPr lang="zh-CN" altLang="en-US" sz="2100" dirty="0">
                <a:solidFill>
                  <a:srgbClr val="0070C0"/>
                </a:solidFill>
              </a:rPr>
              <a:t>图像的变换</a:t>
            </a:r>
            <a:endParaRPr lang="zh-CN" altLang="zh-CN" sz="2100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235" y="1412776"/>
            <a:ext cx="7938882" cy="34563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transpose(method)                                            </a:t>
            </a:r>
            <a:r>
              <a:rPr lang="en-US" altLang="zh-CN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图像翻转或者旋转</a:t>
            </a:r>
            <a:endParaRPr lang="en-US" altLang="zh-CN" sz="15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im_new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im.transpose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(Image.ROTATE_180)      #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画布旋转</a:t>
            </a:r>
            <a:endParaRPr lang="en-US" altLang="zh-CN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im_new.show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method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transpose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的参数，表示选择什么样的翻转或者旋转方式，可以选择的值有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Image.</a:t>
            </a:r>
            <a:r>
              <a:rPr lang="en-US" altLang="zh-CN" sz="15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FLIP_LEFT_RIGHT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表示将图像左右翻转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Image.</a:t>
            </a:r>
            <a:r>
              <a:rPr lang="en-US" altLang="zh-CN" sz="15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FLIP_TOP_BOTTOM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表示将图像上下翻转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Image.</a:t>
            </a:r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ROTATE_90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表示将图像逆时针旋转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90°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Image.</a:t>
            </a:r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ROTATE_180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表示将图像逆时针旋转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180°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Image.</a:t>
            </a:r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ROTATE_270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表示将图像逆时针旋转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270°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Image.</a:t>
            </a:r>
            <a:r>
              <a:rPr lang="en-US" altLang="zh-CN" sz="15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TRANSPOSE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表示将图像进行转置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相当于顺时针旋转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90°)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Image.</a:t>
            </a:r>
            <a:r>
              <a:rPr lang="en-US" altLang="zh-CN" sz="15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TRANSVERSE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表示将图像进行转置，再水平翻转</a:t>
            </a:r>
          </a:p>
        </p:txBody>
      </p:sp>
    </p:spTree>
    <p:extLst>
      <p:ext uri="{BB962C8B-B14F-4D97-AF65-F5344CB8AC3E}">
        <p14:creationId xmlns:p14="http://schemas.microsoft.com/office/powerpoint/2010/main" val="3276442195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109" y="620688"/>
            <a:ext cx="8275638" cy="651272"/>
          </a:xfrm>
        </p:spPr>
        <p:txBody>
          <a:bodyPr/>
          <a:lstStyle/>
          <a:p>
            <a:r>
              <a:rPr lang="en-US" altLang="zh-CN" sz="2100" dirty="0">
                <a:solidFill>
                  <a:srgbClr val="0070C0"/>
                </a:solidFill>
              </a:rPr>
              <a:t>3. </a:t>
            </a:r>
            <a:r>
              <a:rPr lang="zh-CN" altLang="zh-CN" sz="2100" dirty="0">
                <a:solidFill>
                  <a:srgbClr val="0070C0"/>
                </a:solidFill>
              </a:rPr>
              <a:t>色彩通道的分离和合并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418" y="1271960"/>
            <a:ext cx="8043020" cy="467732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每个像素都是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三个分量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分离：把所有像素的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分量分开，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生成三个列表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合并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分离的逆操作，通过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个颜色通道合并成新图像</a:t>
            </a:r>
          </a:p>
          <a:p>
            <a:r>
              <a:rPr lang="en-US" altLang="zh-CN" sz="15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split</a:t>
            </a:r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     </a:t>
            </a:r>
            <a:r>
              <a:rPr lang="zh-CN" altLang="en-US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颜色通道分离</a:t>
            </a:r>
            <a:endParaRPr lang="en-US" altLang="zh-CN" sz="15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r,g,b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im.split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 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 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split()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方法可以使原来图像的各个通道分离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对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图像，可分离成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个通道</a:t>
            </a:r>
            <a:endParaRPr lang="en-US" altLang="zh-CN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merge(</a:t>
            </a:r>
            <a:r>
              <a:rPr lang="en-US" altLang="zh-CN" sz="15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mode,channels</a:t>
            </a:r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   </a:t>
            </a:r>
            <a:r>
              <a:rPr lang="zh-CN" altLang="en-US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颜色通道合并</a:t>
            </a:r>
            <a:endParaRPr lang="en-US" altLang="zh-CN" sz="15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im_merge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Image.merge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("RGB",[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b,r,g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  <a:p>
            <a:pPr marL="300038" lvl="1" indent="0">
              <a:buNone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im_merge.show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方法和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split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方法相对的，将多个单一通道的序列合并起来，组成一个多通道的图像</a:t>
            </a:r>
            <a:endParaRPr lang="en-US" altLang="zh-CN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是合并之后图像的模式，比如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"RGB"</a:t>
            </a: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channels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是多个单一通道组成的序列。</a:t>
            </a:r>
          </a:p>
        </p:txBody>
      </p:sp>
    </p:spTree>
    <p:extLst>
      <p:ext uri="{BB962C8B-B14F-4D97-AF65-F5344CB8AC3E}">
        <p14:creationId xmlns:p14="http://schemas.microsoft.com/office/powerpoint/2010/main" val="412459051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A2E18500-DBD8-4CAC-A244-AFCDC2397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167" y="260648"/>
            <a:ext cx="7959634" cy="7703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六、</a:t>
            </a:r>
            <a:r>
              <a:rPr lang="zh-CN" altLang="zh-CN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色彩通道的分离和合并</a:t>
            </a:r>
            <a:endParaRPr lang="zh-CN" altLang="en-US" sz="2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087FEE16-74E2-45FC-8FFB-7EEA32510CFE}"/>
              </a:ext>
            </a:extLst>
          </p:cNvPr>
          <p:cNvSpPr/>
          <p:nvPr/>
        </p:nvSpPr>
        <p:spPr>
          <a:xfrm>
            <a:off x="323528" y="1162046"/>
            <a:ext cx="84249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每个像素都是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三个分量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分离：把所有像素的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分量分开，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生成三个列表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r,g,b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im.split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合并：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分离的逆操作，通过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个颜色通道合并成新图像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om=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Image.merge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r,g,b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lang="zh-CN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2E53D3B0-2AB5-4EE6-AFF6-0C0C402335ED}"/>
              </a:ext>
            </a:extLst>
          </p:cNvPr>
          <p:cNvSpPr/>
          <p:nvPr/>
        </p:nvSpPr>
        <p:spPr>
          <a:xfrm>
            <a:off x="344240" y="3232052"/>
            <a:ext cx="762682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将图像中的红色和蓝色两个颜色通道进行交换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from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PIL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import Image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Image.open</a:t>
            </a:r>
            <a:r>
              <a:rPr lang="en-US" altLang="zh-CN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D:\Test\birdnest.jpg")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im.show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r,g,b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im.split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om=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Image.merge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b,g,r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om.show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4496043"/>
            <a:ext cx="2592288" cy="185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6219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75638" cy="435248"/>
          </a:xfrm>
        </p:spPr>
        <p:txBody>
          <a:bodyPr/>
          <a:lstStyle/>
          <a:p>
            <a:r>
              <a:rPr lang="zh-CN" altLang="en-US" sz="2400" dirty="0"/>
              <a:t>改变图像大小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268760"/>
            <a:ext cx="7776864" cy="410445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resize(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size,resample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改变图像大小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im_resize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im.resize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((200,200))</a:t>
            </a: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im_resize.show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im_resize_box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im.resize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((100,100)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Image.NEAREST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指定重采样方法</a:t>
            </a:r>
            <a:endParaRPr lang="en-US" altLang="zh-CN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im_resize_box.show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lvl="1" indent="-2571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是转换之后的大小，二元组：（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width, height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2571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resample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是重新采样使用的方法</a:t>
            </a:r>
            <a:endParaRPr lang="en-US" altLang="zh-CN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PIL.Image.BICUBIC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(4*4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的三次样条插值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PIL.Image.LANCZOS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kern="1200" dirty="0">
                <a:solidFill>
                  <a:schemeClr val="tx1"/>
                </a:solidFill>
              </a:rPr>
              <a:t> </a:t>
            </a:r>
            <a:r>
              <a:rPr lang="en-US" altLang="zh-CN" kern="1200" dirty="0" err="1">
                <a:solidFill>
                  <a:schemeClr val="tx1"/>
                </a:solidFill>
              </a:rPr>
              <a:t>Lanczos</a:t>
            </a:r>
            <a:r>
              <a:rPr lang="zh-CN" altLang="en-US" kern="1200" dirty="0">
                <a:solidFill>
                  <a:schemeClr val="tx1"/>
                </a:solidFill>
              </a:rPr>
              <a:t>迭代法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PIL.Image.BILINEAR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(2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的线性插值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PIL.Image.NEAREST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(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最近邻插值法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0874159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331" y="692696"/>
            <a:ext cx="8275638" cy="651272"/>
          </a:xfrm>
        </p:spPr>
        <p:txBody>
          <a:bodyPr/>
          <a:lstStyle/>
          <a:p>
            <a:r>
              <a:rPr lang="zh-CN" altLang="en-US" sz="2400" dirty="0">
                <a:solidFill>
                  <a:srgbClr val="0070C0"/>
                </a:solidFill>
              </a:rPr>
              <a:t>图像复制</a:t>
            </a:r>
            <a:r>
              <a:rPr lang="en-US" altLang="zh-CN" sz="2400" dirty="0">
                <a:solidFill>
                  <a:srgbClr val="0070C0"/>
                </a:solidFill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</a:rPr>
              <a:t>合成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684" y="2024845"/>
            <a:ext cx="8150932" cy="307062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paste(</a:t>
            </a:r>
            <a:r>
              <a:rPr lang="en-US" altLang="zh-CN" sz="15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region,box,mask</a:t>
            </a:r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</a:t>
            </a:r>
            <a:r>
              <a:rPr lang="zh-CN" altLang="en-US" sz="1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将一个图像粘贴到另一个图像上</a:t>
            </a:r>
            <a:endParaRPr lang="en-US" altLang="zh-CN" sz="15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im.paste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(region,(100,100),None)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region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图像粘贴到左上角为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(100,100)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的位置。</a:t>
            </a:r>
            <a:endParaRPr lang="en-US" altLang="zh-CN" sz="15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region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是要粘贴的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,box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是要粘贴的位置，可以是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个元素的元组，表示粘贴区域的左上角坐标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也可以是一个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个元素的元组，表示左上角和右下角的坐标。</a:t>
            </a:r>
            <a:endParaRPr lang="en-US" altLang="zh-CN" sz="15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如果是四个元素元组的话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,box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必须要和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region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保持一致</a:t>
            </a:r>
          </a:p>
        </p:txBody>
      </p:sp>
    </p:spTree>
    <p:extLst>
      <p:ext uri="{BB962C8B-B14F-4D97-AF65-F5344CB8AC3E}">
        <p14:creationId xmlns:p14="http://schemas.microsoft.com/office/powerpoint/2010/main" val="440188852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6673" y="692696"/>
            <a:ext cx="8096926" cy="398544"/>
          </a:xfrm>
        </p:spPr>
        <p:txBody>
          <a:bodyPr/>
          <a:lstStyle/>
          <a:p>
            <a:r>
              <a:rPr lang="zh-CN" altLang="en-US" sz="2100" dirty="0">
                <a:solidFill>
                  <a:srgbClr val="0070C0"/>
                </a:solidFill>
              </a:rPr>
              <a:t>图像的裁切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563" y="1672582"/>
            <a:ext cx="7793558" cy="413268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crop(box)   </a:t>
            </a:r>
            <a:r>
              <a:rPr lang="zh-CN" altLang="en-US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裁剪矩形区域</a:t>
            </a:r>
            <a:endParaRPr lang="en-US" altLang="zh-CN" sz="15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Image.open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digit.jpg","r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box = (100,100,200,200)</a:t>
            </a: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region = </a:t>
            </a: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im.crop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(box)</a:t>
            </a: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region.show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3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图像上裁剪一个</a:t>
            </a: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box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矩形区域，然后显示出来</a:t>
            </a:r>
            <a:endParaRPr lang="en-US" altLang="zh-CN" sz="135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box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是一个包含四个数字的元组</a:t>
            </a: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3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upper_left_x,upper_left_y,lower_right_x,lower_right_y</a:t>
            </a: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即裁剪矩形区域的左上角</a:t>
            </a:r>
            <a:r>
              <a:rPr lang="en-US" altLang="zh-CN" sz="13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坐标，右下角的</a:t>
            </a:r>
            <a:r>
              <a:rPr lang="en-US" altLang="zh-CN" sz="13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</a:t>
            </a:r>
            <a:endParaRPr lang="en-US" altLang="zh-CN" sz="135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规定图像的最左上角的坐标为原点</a:t>
            </a: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(0,0)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，宽度的方向为</a:t>
            </a: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轴，高度的方向为</a:t>
            </a: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endParaRPr lang="en-US" altLang="zh-CN" sz="135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crop()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返回的仍然是一个</a:t>
            </a:r>
            <a:r>
              <a:rPr lang="en-US" altLang="zh-CN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sz="13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对象。</a:t>
            </a:r>
            <a:endParaRPr lang="en-US" altLang="zh-CN" sz="135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64027" y="1807635"/>
            <a:ext cx="2646528" cy="2168244"/>
            <a:chOff x="7685369" y="1267180"/>
            <a:chExt cx="3528704" cy="289099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85369" y="1267180"/>
              <a:ext cx="2757488" cy="23241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8129210" y="3665729"/>
              <a:ext cx="308486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box</a:t>
              </a:r>
              <a:r>
                <a:rPr lang="zh-CN" altLang="en-US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（</a:t>
              </a:r>
              <a:r>
                <a:rPr lang="en-US" altLang="zh-CN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b1,a1,b2,a2</a:t>
              </a:r>
              <a:r>
                <a:rPr lang="zh-CN" altLang="en-US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）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696987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</a:rPr>
              <a:t>图像缩略图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169368"/>
            <a:ext cx="8568952" cy="5067944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from PIL import Image</a:t>
            </a:r>
          </a:p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kern="1200" dirty="0" err="1" smtClean="0">
                <a:latin typeface="等线" panose="02010600030101010101" pitchFamily="2" charset="-122"/>
                <a:ea typeface="等线" panose="02010600030101010101" pitchFamily="2" charset="-122"/>
              </a:rPr>
              <a:t>Image.open</a:t>
            </a:r>
            <a:r>
              <a:rPr lang="en-US" altLang="zh-CN" kern="1200" dirty="0" smtClean="0">
                <a:latin typeface="等线" panose="02010600030101010101" pitchFamily="2" charset="-122"/>
                <a:ea typeface="等线" panose="02010600030101010101" pitchFamily="2" charset="-122"/>
              </a:rPr>
              <a:t>("birdnest.jpg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")</a:t>
            </a:r>
          </a:p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im.show</a:t>
            </a:r>
            <a:r>
              <a:rPr lang="en-US" altLang="zh-CN" kern="1200" dirty="0" smtClean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b="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img2=</a:t>
            </a:r>
            <a:r>
              <a:rPr lang="en-US" altLang="zh-CN" b="0" kern="1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im.transpose</a:t>
            </a:r>
            <a:r>
              <a:rPr lang="en-US" altLang="zh-CN" b="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b="0" kern="1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Image.FLIP_LEFT_RIGHT</a:t>
            </a:r>
            <a:r>
              <a:rPr lang="en-US" altLang="zh-CN" b="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# </a:t>
            </a:r>
            <a:r>
              <a:rPr lang="zh-CN" altLang="en-US" b="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左右互换</a:t>
            </a:r>
            <a:endParaRPr lang="en-US" altLang="zh-CN" kern="12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r>
              <a:rPr lang="en-US" altLang="zh-CN" kern="12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im.thumbnail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((128,128</a:t>
            </a:r>
            <a:r>
              <a:rPr lang="en-US" altLang="zh-CN" kern="1200" dirty="0" smtClean="0">
                <a:latin typeface="等线" panose="02010600030101010101" pitchFamily="2" charset="-122"/>
                <a:ea typeface="等线" panose="02010600030101010101" pitchFamily="2" charset="-122"/>
              </a:rPr>
              <a:t>))   # </a:t>
            </a:r>
            <a:r>
              <a:rPr lang="zh-CN" altLang="en-US" kern="12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大拇指图</a:t>
            </a:r>
            <a:endParaRPr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im.show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r>
              <a:rPr lang="en-US" altLang="zh-CN" kern="1200" dirty="0" err="1" smtClean="0">
                <a:latin typeface="等线" panose="02010600030101010101" pitchFamily="2" charset="-122"/>
                <a:ea typeface="等线" panose="02010600030101010101" pitchFamily="2" charset="-122"/>
              </a:rPr>
              <a:t>im.save</a:t>
            </a:r>
            <a:r>
              <a:rPr lang="en-US" altLang="zh-CN" kern="1200" dirty="0" smtClean="0">
                <a:latin typeface="等线" panose="02010600030101010101" pitchFamily="2" charset="-122"/>
                <a:ea typeface="等线" panose="02010600030101010101" pitchFamily="2" charset="-122"/>
              </a:rPr>
              <a:t>(“birdnest1.jpg”) # </a:t>
            </a:r>
            <a:r>
              <a:rPr lang="zh-CN" altLang="en-US" kern="1200" dirty="0" smtClean="0">
                <a:latin typeface="等线" panose="02010600030101010101" pitchFamily="2" charset="-122"/>
                <a:ea typeface="等线" panose="02010600030101010101" pitchFamily="2" charset="-122"/>
              </a:rPr>
              <a:t>保存的是大拇指图</a:t>
            </a:r>
            <a:endParaRPr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15677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82B60D7-06D4-4F5C-8FCB-1D160D595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4624"/>
            <a:ext cx="8820472" cy="633670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zh-CN" altLang="en-US" sz="1800" dirty="0" smtClean="0"/>
              <a:t>例子汇总  缩放</a:t>
            </a:r>
            <a:r>
              <a:rPr lang="zh-CN" altLang="en-US" sz="1800" dirty="0"/>
              <a:t>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img1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Image.open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1.png</a:t>
            </a:r>
            <a:r>
              <a:rPr lang="en-US" altLang="zh-CN" sz="1800" dirty="0"/>
              <a:t>")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img2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img1.resize</a:t>
            </a:r>
            <a:r>
              <a:rPr lang="en-US" altLang="zh-CN" sz="1800" dirty="0"/>
              <a:t>((200,200))</a:t>
            </a:r>
            <a:r>
              <a:rPr lang="zh-CN" altLang="en-US" sz="1800" dirty="0"/>
              <a:t>　　</a:t>
            </a:r>
            <a:r>
              <a:rPr lang="en-US" altLang="zh-CN" sz="1800" dirty="0"/>
              <a:t>#</a:t>
            </a:r>
            <a:r>
              <a:rPr lang="zh-CN" altLang="en-US" sz="1800" dirty="0"/>
              <a:t>默认</a:t>
            </a:r>
            <a:r>
              <a:rPr lang="en-US" altLang="zh-CN" sz="1800" dirty="0"/>
              <a:t>nearest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img2.show</a:t>
            </a:r>
            <a:r>
              <a:rPr lang="en-US" altLang="zh-CN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dirty="0"/>
              <a:t>缩略图：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img1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Image.open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1.png</a:t>
            </a:r>
            <a:r>
              <a:rPr lang="en-US" altLang="zh-CN" sz="1800" dirty="0"/>
              <a:t>")  </a:t>
            </a:r>
            <a:r>
              <a:rPr lang="zh-CN" altLang="en-US" sz="1800" dirty="0"/>
              <a:t>　　</a:t>
            </a:r>
            <a:r>
              <a:rPr lang="en-US" altLang="zh-CN" sz="1800" dirty="0"/>
              <a:t>#</a:t>
            </a:r>
            <a:r>
              <a:rPr lang="zh-CN" altLang="en-US" sz="1800" dirty="0"/>
              <a:t>（</a:t>
            </a:r>
            <a:r>
              <a:rPr lang="en-US" altLang="zh-CN" sz="1800" dirty="0"/>
              <a:t>400,380</a:t>
            </a:r>
            <a:r>
              <a:rPr lang="zh-CN" altLang="en-US" sz="1800" dirty="0"/>
              <a:t>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img1.thumbnail</a:t>
            </a:r>
            <a:r>
              <a:rPr lang="en-US" altLang="zh-CN" sz="1800" dirty="0"/>
              <a:t>((200,200))   #</a:t>
            </a:r>
            <a:r>
              <a:rPr lang="zh-CN" altLang="en-US" sz="1800" dirty="0"/>
              <a:t>按最大的比例进行缩放（</a:t>
            </a:r>
            <a:r>
              <a:rPr lang="en-US" altLang="zh-CN" sz="1800" dirty="0"/>
              <a:t>200,190</a:t>
            </a:r>
            <a:r>
              <a:rPr lang="zh-CN" altLang="en-US" sz="1800" dirty="0"/>
              <a:t>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img1.save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2.png</a:t>
            </a:r>
            <a:r>
              <a:rPr lang="en-US" altLang="zh-CN" sz="1800" dirty="0"/>
              <a:t>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dirty="0"/>
              <a:t>旋转：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img1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Image.open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1.png</a:t>
            </a:r>
            <a:r>
              <a:rPr lang="en-US" altLang="zh-CN" sz="1800" dirty="0"/>
              <a:t>")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img2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img1.rotate</a:t>
            </a:r>
            <a:r>
              <a:rPr lang="en-US" altLang="zh-CN" sz="1800" dirty="0"/>
              <a:t>(-45)    #</a:t>
            </a:r>
            <a:r>
              <a:rPr lang="zh-CN" altLang="en-US" sz="1800" dirty="0"/>
              <a:t>负数代表顺时针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img2.save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3.png</a:t>
            </a:r>
            <a:r>
              <a:rPr lang="en-US" altLang="zh-CN" sz="1800" dirty="0"/>
              <a:t>")    #</a:t>
            </a:r>
            <a:r>
              <a:rPr lang="zh-CN" altLang="en-US" sz="1800" dirty="0"/>
              <a:t>大小不变，空区域为黑色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dirty="0"/>
              <a:t>翻转：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img1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Image.open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1.png</a:t>
            </a:r>
            <a:r>
              <a:rPr lang="en-US" altLang="zh-CN" sz="1800" dirty="0"/>
              <a:t>")  #</a:t>
            </a:r>
            <a:r>
              <a:rPr lang="zh-CN" altLang="en-US" sz="1800" dirty="0"/>
              <a:t>使用</a:t>
            </a:r>
            <a:r>
              <a:rPr lang="en-US" altLang="zh-CN" sz="1800" dirty="0"/>
              <a:t>Image</a:t>
            </a:r>
            <a:r>
              <a:rPr lang="zh-CN" altLang="en-US" sz="1800" dirty="0"/>
              <a:t>模块中的</a:t>
            </a:r>
            <a:r>
              <a:rPr lang="en-US" altLang="zh-CN" sz="1800" dirty="0"/>
              <a:t>open</a:t>
            </a:r>
            <a:r>
              <a:rPr lang="zh-CN" altLang="en-US" sz="1800" dirty="0"/>
              <a:t>方法，从指定的图像文件</a:t>
            </a:r>
            <a:r>
              <a:rPr lang="zh-CN" altLang="en-US" sz="1800" dirty="0" smtClean="0"/>
              <a:t>中</a:t>
            </a:r>
            <a:endParaRPr lang="zh-CN" alt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# </a:t>
            </a:r>
            <a:r>
              <a:rPr lang="en-US" altLang="zh-CN" sz="1800" dirty="0" err="1"/>
              <a:t>img2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img1.transpose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Image.FLIP_LEFT_RIGHT</a:t>
            </a:r>
            <a:r>
              <a:rPr lang="en-US" altLang="zh-CN" sz="1800" dirty="0"/>
              <a:t>)    #</a:t>
            </a:r>
            <a:r>
              <a:rPr lang="zh-CN" altLang="en-US" sz="1800" dirty="0"/>
              <a:t>左右翻转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# </a:t>
            </a:r>
            <a:r>
              <a:rPr lang="en-US" altLang="zh-CN" sz="1800" dirty="0" err="1"/>
              <a:t>img2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img1.transpose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Image.FLIP_TOP_BOTTOM</a:t>
            </a:r>
            <a:r>
              <a:rPr lang="en-US" altLang="zh-CN" sz="1800" dirty="0"/>
              <a:t>)    #</a:t>
            </a:r>
            <a:r>
              <a:rPr lang="zh-CN" altLang="en-US" sz="1800" dirty="0"/>
              <a:t>上下翻转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# </a:t>
            </a:r>
            <a:r>
              <a:rPr lang="en-US" altLang="zh-CN" sz="1800" dirty="0" err="1"/>
              <a:t>img2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img1.transpose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Image.ROTATE_90</a:t>
            </a:r>
            <a:r>
              <a:rPr lang="en-US" altLang="zh-CN" sz="1800" dirty="0"/>
              <a:t>)    #</a:t>
            </a:r>
            <a:r>
              <a:rPr lang="zh-CN" altLang="en-US" sz="1800" dirty="0"/>
              <a:t>逆时针</a:t>
            </a:r>
            <a:r>
              <a:rPr lang="en-US" altLang="zh-CN" sz="1800" dirty="0"/>
              <a:t>90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# </a:t>
            </a:r>
            <a:r>
              <a:rPr lang="en-US" altLang="zh-CN" sz="1800" dirty="0" err="1"/>
              <a:t>img2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img1.transpose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Image.ROTATE_180</a:t>
            </a:r>
            <a:r>
              <a:rPr lang="en-US" altLang="zh-CN" sz="1800" dirty="0"/>
              <a:t>)    #</a:t>
            </a:r>
            <a:r>
              <a:rPr lang="zh-CN" altLang="en-US" sz="1800" dirty="0"/>
              <a:t>逆时针</a:t>
            </a:r>
            <a:r>
              <a:rPr lang="en-US" altLang="zh-CN" sz="1800" dirty="0"/>
              <a:t>180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img2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img1.transpose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Image.ROTATE_270</a:t>
            </a:r>
            <a:r>
              <a:rPr lang="en-US" altLang="zh-CN" sz="1800" dirty="0"/>
              <a:t>)    #</a:t>
            </a:r>
            <a:r>
              <a:rPr lang="zh-CN" altLang="en-US" sz="1800" dirty="0"/>
              <a:t>逆时针</a:t>
            </a:r>
            <a:r>
              <a:rPr lang="en-US" altLang="zh-CN" sz="1800" dirty="0"/>
              <a:t>270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/>
              <a:t>img2.save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3.png</a:t>
            </a:r>
            <a:r>
              <a:rPr lang="en-US" altLang="zh-CN" sz="1800" dirty="0"/>
              <a:t>")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0018674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100" dirty="0" smtClean="0">
                <a:solidFill>
                  <a:srgbClr val="0070C0"/>
                </a:solidFill>
              </a:rPr>
              <a:t>4.2  </a:t>
            </a:r>
            <a:r>
              <a:rPr lang="zh-CN" altLang="zh-CN" sz="2100" dirty="0">
                <a:solidFill>
                  <a:srgbClr val="0070C0"/>
                </a:solidFill>
              </a:rPr>
              <a:t>图像的滤波和增强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194" y="1340768"/>
            <a:ext cx="8312950" cy="383442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filter(filter)   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滤镜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0075" lvl="2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from PIL import Image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Image.open</a:t>
            </a:r>
            <a:r>
              <a:rPr lang="en-US" altLang="zh-CN" dirty="0">
                <a:solidFill>
                  <a:schemeClr val="tx1"/>
                </a:solidFill>
              </a:rPr>
              <a:t>("d:\images\hm.jpg","r")</a:t>
            </a:r>
          </a:p>
          <a:p>
            <a:pPr marL="600075" lvl="2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from PIL import </a:t>
            </a:r>
            <a:r>
              <a:rPr lang="en-US" altLang="zh-CN" b="1" dirty="0" err="1">
                <a:solidFill>
                  <a:srgbClr val="C00000"/>
                </a:solidFill>
              </a:rPr>
              <a:t>ImageFilter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im_blur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im.filter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ImageFilter.BLUR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im_blur.show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im_blur.save</a:t>
            </a:r>
            <a:r>
              <a:rPr lang="en-US" altLang="zh-CN" dirty="0">
                <a:solidFill>
                  <a:schemeClr val="tx1"/>
                </a:solidFill>
              </a:rPr>
              <a:t>("blur.jpg")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im_contour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im.filter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ImageFilter.CONTOUR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im_contour.show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im_contour.save</a:t>
            </a:r>
            <a:r>
              <a:rPr lang="en-US" altLang="zh-CN" dirty="0">
                <a:solidFill>
                  <a:schemeClr val="tx1"/>
                </a:solidFill>
              </a:rPr>
              <a:t>("contour.jpg")</a:t>
            </a:r>
          </a:p>
          <a:p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是过滤器函数，在</a:t>
            </a:r>
            <a:r>
              <a:rPr lang="en-US" altLang="zh-CN" sz="15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PIL.ImageFilter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函数中定义了大量内置的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函数，比如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BLUR(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模糊操作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GaussianBlur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高斯模糊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MedianFilter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中值过滤器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FIND_EDGES(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查找边缘</a:t>
            </a:r>
            <a:r>
              <a:rPr lang="en-US" altLang="zh-CN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724128" y="1484784"/>
            <a:ext cx="2754000" cy="24999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BLUR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	</a:t>
            </a: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变模糊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CONTOUR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黑白边框素描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DETAIL	     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变清晰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EDGE_ENHANCE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边缘明显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EMBOSS	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灰色浮雕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SHARPEN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锐化</a:t>
            </a:r>
            <a:endParaRPr lang="en-US" altLang="zh-CN" sz="1200" dirty="0">
              <a:solidFill>
                <a:srgbClr val="0000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FIND_EDGES      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寻找边缘信息</a:t>
            </a:r>
          </a:p>
        </p:txBody>
      </p:sp>
    </p:spTree>
    <p:extLst>
      <p:ext uri="{BB962C8B-B14F-4D97-AF65-F5344CB8AC3E}">
        <p14:creationId xmlns:p14="http://schemas.microsoft.com/office/powerpoint/2010/main" val="484386209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77" y="4240725"/>
            <a:ext cx="1890210" cy="14918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237" y="1214754"/>
            <a:ext cx="5829300" cy="41151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100" dirty="0">
                <a:solidFill>
                  <a:srgbClr val="0070C0"/>
                </a:solidFill>
              </a:rPr>
              <a:t>图像过滤和增强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562" y="1734276"/>
            <a:ext cx="7668852" cy="2450808"/>
          </a:xfrm>
          <a:noFill/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51197" indent="0">
              <a:spcBef>
                <a:spcPts val="525"/>
              </a:spcBef>
              <a:buClr>
                <a:schemeClr val="tx2"/>
              </a:buClr>
              <a:buSzPct val="95000"/>
              <a:buNone/>
            </a:pP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from PIL import Image</a:t>
            </a:r>
          </a:p>
          <a:p>
            <a:pPr marL="51197" indent="0">
              <a:spcBef>
                <a:spcPts val="525"/>
              </a:spcBef>
              <a:buClr>
                <a:schemeClr val="tx2"/>
              </a:buClr>
              <a:buSzPct val="95000"/>
              <a:buNone/>
            </a:pP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from PIL import </a:t>
            </a:r>
            <a:r>
              <a:rPr lang="en-US" altLang="zh-CN" sz="15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ImageFilter</a:t>
            </a: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 as IF</a:t>
            </a:r>
          </a:p>
          <a:p>
            <a:pPr marL="51197" indent="0">
              <a:spcBef>
                <a:spcPts val="525"/>
              </a:spcBef>
              <a:buClr>
                <a:schemeClr val="tx2"/>
              </a:buClr>
              <a:buSzPct val="95000"/>
              <a:buNone/>
            </a:pPr>
            <a:r>
              <a:rPr lang="en-US" altLang="zh-CN" sz="15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sz="15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Image.open</a:t>
            </a: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5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r"d</a:t>
            </a: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:\data\tiananmen.jpg")</a:t>
            </a:r>
          </a:p>
          <a:p>
            <a:pPr marL="51197" indent="0">
              <a:spcBef>
                <a:spcPts val="525"/>
              </a:spcBef>
              <a:buClr>
                <a:schemeClr val="tx2"/>
              </a:buClr>
              <a:buSzPct val="95000"/>
              <a:buNone/>
            </a:pPr>
            <a:r>
              <a:rPr lang="en-US" altLang="zh-CN" sz="15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im.show</a:t>
            </a: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51197" indent="0">
              <a:spcBef>
                <a:spcPts val="525"/>
              </a:spcBef>
              <a:buClr>
                <a:schemeClr val="tx2"/>
              </a:buClr>
              <a:buSzPct val="95000"/>
              <a:buNone/>
            </a:pP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im1 = </a:t>
            </a:r>
            <a:r>
              <a:rPr lang="en-US" altLang="zh-CN" sz="15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im.filter</a:t>
            </a: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(IF.EMBOSS)     #</a:t>
            </a:r>
            <a:r>
              <a:rPr lang="zh-CN" altLang="en-US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浮雕效果</a:t>
            </a:r>
          </a:p>
          <a:p>
            <a:pPr marL="51197" indent="0">
              <a:spcBef>
                <a:spcPts val="525"/>
              </a:spcBef>
              <a:buClr>
                <a:schemeClr val="tx2"/>
              </a:buClr>
              <a:buSzPct val="95000"/>
              <a:buNone/>
            </a:pPr>
            <a:r>
              <a:rPr lang="en-US" altLang="zh-CN" sz="1500" kern="1200" dirty="0">
                <a:latin typeface="等线" panose="02010600030101010101" pitchFamily="2" charset="-122"/>
                <a:ea typeface="等线" panose="02010600030101010101" pitchFamily="2" charset="-122"/>
              </a:rPr>
              <a:t>im1.show()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066" y="4219067"/>
            <a:ext cx="1917651" cy="151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40780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A2E18500-DBD8-4CAC-A244-AFCDC2397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167" y="260648"/>
            <a:ext cx="7959634" cy="7703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七、</a:t>
            </a:r>
            <a:r>
              <a:rPr lang="zh-CN" altLang="zh-CN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图像的滤波和增强</a:t>
            </a:r>
            <a:endParaRPr lang="zh-CN" altLang="en-US" sz="2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087FEE16-74E2-45FC-8FFB-7EEA32510CFE}"/>
              </a:ext>
            </a:extLst>
          </p:cNvPr>
          <p:cNvSpPr/>
          <p:nvPr/>
        </p:nvSpPr>
        <p:spPr>
          <a:xfrm>
            <a:off x="323528" y="1484784"/>
            <a:ext cx="864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增强：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增强（或减弱）亮度、对比度、色度、锐</a:t>
            </a:r>
            <a:r>
              <a:rPr lang="zh-CN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</a:t>
            </a:r>
            <a:endParaRPr lang="en-US" altLang="zh-CN" sz="2400" dirty="0" smtClean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from PIL import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ImageEnhance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as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IE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亮度增加一倍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from PIL import Image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from PIL import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ImageEnhance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as IE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Image.open</a:t>
            </a:r>
            <a:r>
              <a:rPr lang="en-US" altLang="zh-CN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D:/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教学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课件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新课件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/data-ex/waitan.jpg")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IE.Brightness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		# Brightness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是一个派生类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im1=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en.enhance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			#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增强一倍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im1.show()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96875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A2E18500-DBD8-4CAC-A244-AFCDC2397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167" y="260648"/>
            <a:ext cx="7959634" cy="7703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七、</a:t>
            </a:r>
            <a:r>
              <a:rPr lang="zh-CN" altLang="zh-CN" sz="2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图像的滤波和增强</a:t>
            </a:r>
            <a:endParaRPr lang="zh-CN" altLang="en-US" sz="2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182666" y="1124744"/>
          <a:ext cx="8565797" cy="464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705">
                  <a:extLst>
                    <a:ext uri="{9D8B030D-6E8A-4147-A177-3AD203B41FA5}">
                      <a16:colId xmlns:a16="http://schemas.microsoft.com/office/drawing/2014/main" xmlns="" val="4167987035"/>
                    </a:ext>
                  </a:extLst>
                </a:gridCol>
                <a:gridCol w="3064826">
                  <a:extLst>
                    <a:ext uri="{9D8B030D-6E8A-4147-A177-3AD203B41FA5}">
                      <a16:colId xmlns:a16="http://schemas.microsoft.com/office/drawing/2014/main" xmlns="" val="1903207399"/>
                    </a:ext>
                  </a:extLst>
                </a:gridCol>
                <a:gridCol w="3929266">
                  <a:extLst>
                    <a:ext uri="{9D8B030D-6E8A-4147-A177-3AD203B41FA5}">
                      <a16:colId xmlns:a16="http://schemas.microsoft.com/office/drawing/2014/main" xmlns="" val="1404643626"/>
                    </a:ext>
                  </a:extLst>
                </a:gridCol>
              </a:tblGrid>
              <a:tr h="402557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使用类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例子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57929349"/>
                  </a:ext>
                </a:extLst>
              </a:tr>
              <a:tr h="99260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色彩增强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ImageEnhance.Color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en</a:t>
                      </a:r>
                      <a:r>
                        <a:rPr lang="en-US" altLang="zh-CN" dirty="0" smtClean="0"/>
                        <a:t>=</a:t>
                      </a:r>
                      <a:r>
                        <a:rPr lang="en-US" altLang="zh-CN" dirty="0" err="1" smtClean="0"/>
                        <a:t>ImageEnhance.Color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im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 smtClean="0"/>
                    </a:p>
                    <a:p>
                      <a:r>
                        <a:rPr lang="en-US" altLang="zh-CN" dirty="0" smtClean="0"/>
                        <a:t>im1=</a:t>
                      </a:r>
                      <a:r>
                        <a:rPr lang="en-US" altLang="zh-CN" dirty="0" err="1" smtClean="0"/>
                        <a:t>en.enhance</a:t>
                      </a:r>
                      <a:r>
                        <a:rPr lang="en-US" altLang="zh-CN" dirty="0" smtClean="0"/>
                        <a:t>(2)</a:t>
                      </a:r>
                      <a:endParaRPr lang="zh-CN" altLang="en-US" dirty="0" smtClean="0"/>
                    </a:p>
                    <a:p>
                      <a:r>
                        <a:rPr lang="en-US" altLang="zh-CN" dirty="0" smtClean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116258"/>
                  </a:ext>
                </a:extLst>
              </a:tr>
              <a:tr h="134113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亮度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ImageEnhance.Brightness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# Brightness</a:t>
                      </a:r>
                      <a:r>
                        <a:rPr lang="zh-CN" altLang="en-US" dirty="0" smtClean="0"/>
                        <a:t>是一个派生类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en</a:t>
                      </a:r>
                      <a:r>
                        <a:rPr lang="en-US" altLang="zh-CN" dirty="0" smtClean="0"/>
                        <a:t>=</a:t>
                      </a:r>
                      <a:r>
                        <a:rPr lang="en-US" altLang="zh-CN" dirty="0" err="1" smtClean="0"/>
                        <a:t>ImageEnhance.Brightness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im</a:t>
                      </a:r>
                      <a:r>
                        <a:rPr lang="en-US" altLang="zh-CN" dirty="0" smtClean="0"/>
                        <a:t>)</a:t>
                      </a:r>
                    </a:p>
                    <a:p>
                      <a:r>
                        <a:rPr lang="en-US" altLang="zh-CN" dirty="0" smtClean="0"/>
                        <a:t>im1=</a:t>
                      </a:r>
                      <a:r>
                        <a:rPr lang="en-US" altLang="zh-CN" dirty="0" err="1" smtClean="0"/>
                        <a:t>en.enhance</a:t>
                      </a:r>
                      <a:r>
                        <a:rPr lang="en-US" altLang="zh-CN" dirty="0" smtClean="0"/>
                        <a:t>(2)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# </a:t>
                      </a:r>
                      <a:r>
                        <a:rPr lang="zh-CN" altLang="en-US" dirty="0" smtClean="0"/>
                        <a:t>增强一倍</a:t>
                      </a:r>
                    </a:p>
                    <a:p>
                      <a:r>
                        <a:rPr lang="en-US" altLang="zh-CN" dirty="0" smtClean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9542672"/>
                  </a:ext>
                </a:extLst>
              </a:tr>
              <a:tr h="99260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对比度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ImageEnhance.Contrast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en</a:t>
                      </a:r>
                      <a:r>
                        <a:rPr lang="en-US" altLang="zh-CN" dirty="0" smtClean="0"/>
                        <a:t>=</a:t>
                      </a:r>
                      <a:r>
                        <a:rPr lang="en-US" altLang="zh-CN" dirty="0" err="1" smtClean="0"/>
                        <a:t>ImageEnhance.Contrast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im</a:t>
                      </a:r>
                      <a:r>
                        <a:rPr lang="en-US" altLang="zh-CN" dirty="0" smtClean="0"/>
                        <a:t>)</a:t>
                      </a:r>
                    </a:p>
                    <a:p>
                      <a:r>
                        <a:rPr lang="en-US" altLang="zh-CN" dirty="0" smtClean="0"/>
                        <a:t>im1=</a:t>
                      </a:r>
                      <a:r>
                        <a:rPr lang="en-US" altLang="zh-CN" dirty="0" err="1" smtClean="0"/>
                        <a:t>en.enhance</a:t>
                      </a:r>
                      <a:r>
                        <a:rPr lang="en-US" altLang="zh-CN" dirty="0" smtClean="0"/>
                        <a:t>(2)</a:t>
                      </a:r>
                    </a:p>
                    <a:p>
                      <a:r>
                        <a:rPr lang="en-US" altLang="zh-CN" dirty="0" smtClean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12555427"/>
                  </a:ext>
                </a:extLst>
              </a:tr>
              <a:tr h="69482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锐度增强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ImageEnhance.Sharpness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en</a:t>
                      </a:r>
                      <a:r>
                        <a:rPr lang="en-US" altLang="zh-CN" dirty="0" smtClean="0"/>
                        <a:t>=</a:t>
                      </a:r>
                      <a:r>
                        <a:rPr lang="en-US" altLang="zh-CN" dirty="0" err="1" smtClean="0"/>
                        <a:t>ImageEnhance.Sharpness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im</a:t>
                      </a:r>
                      <a:r>
                        <a:rPr lang="en-US" altLang="zh-CN" dirty="0" smtClean="0"/>
                        <a:t>)</a:t>
                      </a:r>
                    </a:p>
                    <a:p>
                      <a:r>
                        <a:rPr lang="en-US" altLang="zh-CN" dirty="0" smtClean="0"/>
                        <a:t>im1=</a:t>
                      </a:r>
                      <a:r>
                        <a:rPr lang="en-US" altLang="zh-CN" dirty="0" err="1" smtClean="0"/>
                        <a:t>en.enhance</a:t>
                      </a:r>
                      <a:r>
                        <a:rPr lang="en-US" altLang="zh-CN" dirty="0" smtClean="0"/>
                        <a:t>(2)</a:t>
                      </a:r>
                    </a:p>
                    <a:p>
                      <a:r>
                        <a:rPr lang="en-US" altLang="zh-CN" dirty="0" smtClean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3697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6418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综合应用 微球</a:t>
            </a:r>
            <a:r>
              <a:rPr lang="zh-CN" altLang="en-US" dirty="0"/>
              <a:t>金纳米颗粒覆盖度计算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313" y="1196753"/>
            <a:ext cx="8293100" cy="576063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11163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一个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SiO2,</a:t>
            </a: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上面覆盖了金颗粒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小白点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，覆盖度的估计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80" y="1954936"/>
            <a:ext cx="3933333" cy="3733333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62312" y="1945483"/>
            <a:ext cx="4181695" cy="16995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68263" indent="0" eaLnBrk="0" hangingPunc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 sz="2400"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39775" indent="-285750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>
                <a:latin typeface="+mn-lt"/>
                <a:ea typeface="+mn-ea"/>
              </a:defRPr>
            </a:lvl2pPr>
            <a:lvl3pPr marL="995363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"/>
              <a:defRPr sz="2400">
                <a:latin typeface="+mn-lt"/>
                <a:ea typeface="+mn-ea"/>
              </a:defRPr>
            </a:lvl3pPr>
            <a:lvl4pPr marL="1260475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200">
                <a:latin typeface="+mn-lt"/>
                <a:ea typeface="+mn-ea"/>
              </a:defRPr>
            </a:lvl4pPr>
            <a:lvl5pPr marL="1481138" indent="-20955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 sz="2000">
                <a:latin typeface="+mn-lt"/>
                <a:ea typeface="+mn-ea"/>
              </a:defRPr>
            </a:lvl5pPr>
            <a:lvl6pPr marL="1709928" indent="-210312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>
                <a:latin typeface="+mn-lt"/>
                <a:ea typeface="+mn-ea"/>
              </a:defRPr>
            </a:lvl6pPr>
            <a:lvl7pPr marL="1901952" indent="-182880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>
                <a:latin typeface="+mn-lt"/>
                <a:ea typeface="+mn-ea"/>
              </a:defRPr>
            </a:lvl7pPr>
            <a:lvl8pPr marL="2093976" indent="-182880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>
                <a:latin typeface="+mn-lt"/>
                <a:ea typeface="+mn-ea"/>
              </a:defRPr>
            </a:lvl8pPr>
            <a:lvl9pPr marL="2286000" indent="-182880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>
                <a:latin typeface="+mn-lt"/>
                <a:ea typeface="+mn-ea"/>
              </a:defRPr>
            </a:lvl9pPr>
          </a:lstStyle>
          <a:p>
            <a:pPr marL="411163" indent="-342900">
              <a:buFont typeface="Arial" panose="020B0604020202020204" pitchFamily="34" charset="0"/>
              <a:buChar char="•"/>
            </a:pPr>
            <a:r>
              <a:rPr lang="zh-CN" altLang="en-US" dirty="0"/>
              <a:t>特点：小白点周围有明显边界</a:t>
            </a:r>
            <a:endParaRPr lang="en-US" altLang="zh-CN" dirty="0"/>
          </a:p>
          <a:p>
            <a:pPr marL="411163" indent="-342900">
              <a:buFont typeface="Arial" panose="020B0604020202020204" pitchFamily="34" charset="0"/>
              <a:buChar char="•"/>
            </a:pPr>
            <a:r>
              <a:rPr lang="zh-CN" altLang="en-US" dirty="0"/>
              <a:t>球的边缘附近，白色背景，看不清金纳米颗粒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64137" y="3867884"/>
            <a:ext cx="4179870" cy="22974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68263" indent="0" eaLnBrk="0" hangingPunct="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 sz="2400"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39775" indent="-285750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>
                <a:latin typeface="+mn-lt"/>
                <a:ea typeface="+mn-ea"/>
              </a:defRPr>
            </a:lvl2pPr>
            <a:lvl3pPr marL="995363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"/>
              <a:defRPr sz="2400">
                <a:latin typeface="+mn-lt"/>
                <a:ea typeface="+mn-ea"/>
              </a:defRPr>
            </a:lvl3pPr>
            <a:lvl4pPr marL="1260475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200">
                <a:latin typeface="+mn-lt"/>
                <a:ea typeface="+mn-ea"/>
              </a:defRPr>
            </a:lvl4pPr>
            <a:lvl5pPr marL="1481138" indent="-20955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 sz="2000">
                <a:latin typeface="+mn-lt"/>
                <a:ea typeface="+mn-ea"/>
              </a:defRPr>
            </a:lvl5pPr>
            <a:lvl6pPr marL="1709928" indent="-210312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>
                <a:latin typeface="+mn-lt"/>
                <a:ea typeface="+mn-ea"/>
              </a:defRPr>
            </a:lvl6pPr>
            <a:lvl7pPr marL="1901952" indent="-182880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>
                <a:latin typeface="+mn-lt"/>
                <a:ea typeface="+mn-ea"/>
              </a:defRPr>
            </a:lvl7pPr>
            <a:lvl8pPr marL="2093976" indent="-182880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>
                <a:latin typeface="+mn-lt"/>
                <a:ea typeface="+mn-ea"/>
              </a:defRPr>
            </a:lvl8pPr>
            <a:lvl9pPr marL="2286000" indent="-182880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>
                <a:latin typeface="+mn-lt"/>
                <a:ea typeface="+mn-ea"/>
              </a:defRPr>
            </a:lvl9pPr>
          </a:lstStyle>
          <a:p>
            <a:pPr marL="411163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解决方案：二值化处理，找到合理阈值</a:t>
            </a:r>
            <a:endParaRPr lang="en-US" altLang="zh-CN" dirty="0"/>
          </a:p>
          <a:p>
            <a:pPr marL="411163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边界提取</a:t>
            </a:r>
            <a:endParaRPr lang="en-US" altLang="zh-CN" dirty="0"/>
          </a:p>
          <a:p>
            <a:pPr marL="411163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根据边界计算像素点加和</a:t>
            </a:r>
            <a:endParaRPr lang="en-US" altLang="zh-CN" dirty="0"/>
          </a:p>
          <a:p>
            <a:pPr marL="411163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除以圆的总像素点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229828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微球金纳米颗粒覆盖度计算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353" y="4419966"/>
            <a:ext cx="1157359" cy="504055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原图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68760"/>
            <a:ext cx="2807027" cy="26642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239014"/>
            <a:ext cx="2707648" cy="2694042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211960" y="4380310"/>
            <a:ext cx="1368152" cy="50405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Tx/>
              <a:buNone/>
            </a:pP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二值化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84" y="1213375"/>
            <a:ext cx="2860483" cy="2719682"/>
          </a:xfrm>
          <a:prstGeom prst="rect">
            <a:avLst/>
          </a:prstGeom>
        </p:spPr>
      </p:pic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6948264" y="4379738"/>
            <a:ext cx="1630098" cy="50405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68263" indent="0">
              <a:spcBef>
                <a:spcPts val="700"/>
              </a:spcBef>
              <a:buClr>
                <a:schemeClr val="tx2"/>
              </a:buClr>
              <a:buSzPct val="95000"/>
              <a:buFontTx/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边界提取</a:t>
            </a:r>
            <a:endParaRPr lang="zh-CN" altLang="en-US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765809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微球金纳米颗粒覆盖度计算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24744"/>
            <a:ext cx="7344816" cy="4608511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from PIL import Image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from PIL import </a:t>
            </a: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ImageFilter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 as IF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Image.open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r"E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:\teach\programTeach\pyteach\hfr.jpg")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im.convert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("L")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im.point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(lambda x: 255 if x &gt; 200 else 0)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im.show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  # 2</a:t>
            </a: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值化后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im1 = </a:t>
            </a: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im.filter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(IF.FIND_EDGES)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im1.show()  # </a:t>
            </a: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寻找边界</a:t>
            </a:r>
          </a:p>
        </p:txBody>
      </p:sp>
    </p:spTree>
    <p:extLst>
      <p:ext uri="{BB962C8B-B14F-4D97-AF65-F5344CB8AC3E}">
        <p14:creationId xmlns:p14="http://schemas.microsoft.com/office/powerpoint/2010/main" val="416691936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查找边界后的结果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1440160" cy="4094163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11163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中心可靠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196752"/>
            <a:ext cx="7236296" cy="489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6534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查找边界后的结果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7"/>
            <a:ext cx="2448272" cy="648071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11163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中心部分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1268760"/>
            <a:ext cx="4320480" cy="44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6138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图像遍历计算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96752"/>
            <a:ext cx="3960440" cy="4295775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11163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b="0" kern="1200" dirty="0">
                <a:latin typeface="等线" panose="02010600030101010101" pitchFamily="2" charset="-122"/>
                <a:ea typeface="等线" panose="02010600030101010101" pitchFamily="2" charset="-122"/>
              </a:rPr>
              <a:t>依靠球体图中心部位</a:t>
            </a:r>
            <a:endParaRPr lang="en-US" altLang="zh-CN" b="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11163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b="0" kern="1200" dirty="0">
                <a:latin typeface="等线" panose="02010600030101010101" pitchFamily="2" charset="-122"/>
                <a:ea typeface="等线" panose="02010600030101010101" pitchFamily="2" charset="-122"/>
              </a:rPr>
              <a:t>遍历图像，计算白色点数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196752"/>
            <a:ext cx="44005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8556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图像遍历计算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016095"/>
            <a:ext cx="8474968" cy="5221217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from PIL import Image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Image.open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r"E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:\teach\python</a:t>
            </a:r>
            <a:r>
              <a:rPr lang="zh-CN" altLang="en-US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语言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\</a:t>
            </a:r>
            <a:r>
              <a:rPr lang="zh-CN" altLang="en-US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例子数据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\edegeDetect2.jpg")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im.convert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("L")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im.point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(lambda x: 255 if x &gt; 200 else 0)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im.show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()  # 2</a:t>
            </a:r>
            <a:r>
              <a:rPr lang="zh-CN" altLang="en-US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值化后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count1=0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w,h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im.size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 # </a:t>
            </a:r>
            <a:r>
              <a:rPr lang="zh-CN" altLang="en-US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获得图像的宽度和高度，像素单位</a:t>
            </a:r>
            <a:endParaRPr lang="en-US" altLang="zh-CN" sz="200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for 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in range(w):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   for j in range(h):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       pixel=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im.getpixel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((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i,j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))  # </a:t>
            </a:r>
            <a:r>
              <a:rPr lang="en-US" altLang="zh-CN" sz="2000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i,j</a:t>
            </a: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位置的像素</a:t>
            </a:r>
            <a:endParaRPr lang="en-US" altLang="zh-CN" sz="200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       if pixel != 0: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            count1 +=1  #</a:t>
            </a:r>
          </a:p>
          <a:p>
            <a:pPr marL="68263" indent="0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print(count1/(w*h)*100)   # </a:t>
            </a:r>
            <a:r>
              <a:rPr lang="zh-CN" altLang="en-US" sz="2000" kern="1200" dirty="0">
                <a:latin typeface="等线" panose="02010600030101010101" pitchFamily="2" charset="-122"/>
                <a:ea typeface="等线" panose="02010600030101010101" pitchFamily="2" charset="-122"/>
              </a:rPr>
              <a:t>白点数百分比</a:t>
            </a:r>
            <a:endParaRPr lang="en-US" altLang="zh-CN" sz="200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853511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14577</TotalTime>
  <Words>2187</Words>
  <Application>Microsoft Office PowerPoint</Application>
  <PresentationFormat>全屏显示(4:3)</PresentationFormat>
  <Paragraphs>449</Paragraphs>
  <Slides>33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等线</vt:lpstr>
      <vt:lpstr>黑体</vt:lpstr>
      <vt:lpstr>华文新魏</vt:lpstr>
      <vt:lpstr>宋体</vt:lpstr>
      <vt:lpstr>Microsoft YaHei</vt:lpstr>
      <vt:lpstr>Microsoft YaHei</vt:lpstr>
      <vt:lpstr>Arial</vt:lpstr>
      <vt:lpstr>Bodoni MT Black</vt:lpstr>
      <vt:lpstr>Calibri</vt:lpstr>
      <vt:lpstr>Times New Roman</vt:lpstr>
      <vt:lpstr>Wingdings</vt:lpstr>
      <vt:lpstr>主题1</vt:lpstr>
      <vt:lpstr>图像处理PIL</vt:lpstr>
      <vt:lpstr>原则</vt:lpstr>
      <vt:lpstr>一、Python图像处理包PIL</vt:lpstr>
      <vt:lpstr>PowerPoint 演示文稿</vt:lpstr>
      <vt:lpstr>三、图像处理引例</vt:lpstr>
      <vt:lpstr>四  图像文件</vt:lpstr>
      <vt:lpstr>4.1 图像基本处理</vt:lpstr>
      <vt:lpstr>PowerPoint 演示文稿</vt:lpstr>
      <vt:lpstr>1．图像打开、显示、转换和保存</vt:lpstr>
      <vt:lpstr>（4）图像转换         图像对象.convert(格式) </vt:lpstr>
      <vt:lpstr>PIL支持9种图像模式:    1，L，P，RGB，RGBA，CMYK，YCbCr, I，F </vt:lpstr>
      <vt:lpstr>（5）像素点处理</vt:lpstr>
      <vt:lpstr>PowerPoint 演示文稿</vt:lpstr>
      <vt:lpstr>图像模式转换，去除背景灰度</vt:lpstr>
      <vt:lpstr>2. 图像的变换</vt:lpstr>
      <vt:lpstr>3. 色彩通道的分离和合并</vt:lpstr>
      <vt:lpstr>六、色彩通道的分离和合并</vt:lpstr>
      <vt:lpstr>改变图像大小</vt:lpstr>
      <vt:lpstr>图像复制—合成</vt:lpstr>
      <vt:lpstr>图像的裁切</vt:lpstr>
      <vt:lpstr>图像缩略图</vt:lpstr>
      <vt:lpstr>PowerPoint 演示文稿</vt:lpstr>
      <vt:lpstr>4.2  图像的滤波和增强</vt:lpstr>
      <vt:lpstr>图像过滤和增强</vt:lpstr>
      <vt:lpstr>七、图像的滤波和增强</vt:lpstr>
      <vt:lpstr>七、图像的滤波和增强</vt:lpstr>
      <vt:lpstr>综合应用 微球金纳米颗粒覆盖度计算</vt:lpstr>
      <vt:lpstr>微球金纳米颗粒覆盖度计算</vt:lpstr>
      <vt:lpstr>微球金纳米颗粒覆盖度计算</vt:lpstr>
      <vt:lpstr>查找边界后的结果</vt:lpstr>
      <vt:lpstr>查找边界后的结果</vt:lpstr>
      <vt:lpstr>图像遍历计算</vt:lpstr>
      <vt:lpstr>图像遍历计算</vt:lpstr>
    </vt:vector>
  </TitlesOfParts>
  <Company>Workgroup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439</cp:revision>
  <dcterms:created xsi:type="dcterms:W3CDTF">2010-02-28T17:17:53Z</dcterms:created>
  <dcterms:modified xsi:type="dcterms:W3CDTF">2025-04-16T08:31:44Z</dcterms:modified>
</cp:coreProperties>
</file>