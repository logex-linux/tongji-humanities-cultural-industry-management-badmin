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7"/>
  </p:notesMasterIdLst>
  <p:handoutMasterIdLst>
    <p:handoutMasterId r:id="rId98"/>
  </p:handoutMasterIdLst>
  <p:sldIdLst>
    <p:sldId id="848" r:id="rId2"/>
    <p:sldId id="1189" r:id="rId3"/>
    <p:sldId id="1039" r:id="rId4"/>
    <p:sldId id="1190" r:id="rId5"/>
    <p:sldId id="1041" r:id="rId6"/>
    <p:sldId id="865" r:id="rId7"/>
    <p:sldId id="1027" r:id="rId8"/>
    <p:sldId id="1012" r:id="rId9"/>
    <p:sldId id="975" r:id="rId10"/>
    <p:sldId id="1175" r:id="rId11"/>
    <p:sldId id="1176" r:id="rId12"/>
    <p:sldId id="1013" r:id="rId13"/>
    <p:sldId id="1028" r:id="rId14"/>
    <p:sldId id="1020" r:id="rId15"/>
    <p:sldId id="1021" r:id="rId16"/>
    <p:sldId id="1131" r:id="rId17"/>
    <p:sldId id="1023" r:id="rId18"/>
    <p:sldId id="1025" r:id="rId19"/>
    <p:sldId id="1052" r:id="rId20"/>
    <p:sldId id="1141" r:id="rId21"/>
    <p:sldId id="984" r:id="rId22"/>
    <p:sldId id="1053" r:id="rId23"/>
    <p:sldId id="1061" r:id="rId24"/>
    <p:sldId id="1150" r:id="rId25"/>
    <p:sldId id="1151" r:id="rId26"/>
    <p:sldId id="1134" r:id="rId27"/>
    <p:sldId id="1106" r:id="rId28"/>
    <p:sldId id="1152" r:id="rId29"/>
    <p:sldId id="1135" r:id="rId30"/>
    <p:sldId id="1177" r:id="rId31"/>
    <p:sldId id="1153" r:id="rId32"/>
    <p:sldId id="1185" r:id="rId33"/>
    <p:sldId id="1179" r:id="rId34"/>
    <p:sldId id="1062" r:id="rId35"/>
    <p:sldId id="1154" r:id="rId36"/>
    <p:sldId id="1126" r:id="rId37"/>
    <p:sldId id="1155" r:id="rId38"/>
    <p:sldId id="1133" r:id="rId39"/>
    <p:sldId id="1156" r:id="rId40"/>
    <p:sldId id="1098" r:id="rId41"/>
    <p:sldId id="1157" r:id="rId42"/>
    <p:sldId id="1070" r:id="rId43"/>
    <p:sldId id="1159" r:id="rId44"/>
    <p:sldId id="1072" r:id="rId45"/>
    <p:sldId id="1136" r:id="rId46"/>
    <p:sldId id="1137" r:id="rId47"/>
    <p:sldId id="1182" r:id="rId48"/>
    <p:sldId id="1073" r:id="rId49"/>
    <p:sldId id="1158" r:id="rId50"/>
    <p:sldId id="1180" r:id="rId51"/>
    <p:sldId id="1183" r:id="rId52"/>
    <p:sldId id="1168" r:id="rId53"/>
    <p:sldId id="1163" r:id="rId54"/>
    <p:sldId id="1077" r:id="rId55"/>
    <p:sldId id="1078" r:id="rId56"/>
    <p:sldId id="1166" r:id="rId57"/>
    <p:sldId id="1167" r:id="rId58"/>
    <p:sldId id="1178" r:id="rId59"/>
    <p:sldId id="417" r:id="rId60"/>
    <p:sldId id="1191" r:id="rId61"/>
    <p:sldId id="1081" r:id="rId62"/>
    <p:sldId id="1082" r:id="rId63"/>
    <p:sldId id="1184" r:id="rId64"/>
    <p:sldId id="1124" r:id="rId65"/>
    <p:sldId id="1186" r:id="rId66"/>
    <p:sldId id="1125" r:id="rId67"/>
    <p:sldId id="1109" r:id="rId68"/>
    <p:sldId id="1111" r:id="rId69"/>
    <p:sldId id="1113" r:id="rId70"/>
    <p:sldId id="1160" r:id="rId71"/>
    <p:sldId id="1083" r:id="rId72"/>
    <p:sldId id="403" r:id="rId73"/>
    <p:sldId id="404" r:id="rId74"/>
    <p:sldId id="406" r:id="rId75"/>
    <p:sldId id="1172" r:id="rId76"/>
    <p:sldId id="407" r:id="rId77"/>
    <p:sldId id="1188" r:id="rId78"/>
    <p:sldId id="1139" r:id="rId79"/>
    <p:sldId id="1187" r:id="rId80"/>
    <p:sldId id="1165" r:id="rId81"/>
    <p:sldId id="1117" r:id="rId82"/>
    <p:sldId id="1173" r:id="rId83"/>
    <p:sldId id="1118" r:id="rId84"/>
    <p:sldId id="1084" r:id="rId85"/>
    <p:sldId id="1085" r:id="rId86"/>
    <p:sldId id="1170" r:id="rId87"/>
    <p:sldId id="1122" r:id="rId88"/>
    <p:sldId id="1119" r:id="rId89"/>
    <p:sldId id="1120" r:id="rId90"/>
    <p:sldId id="1121" r:id="rId91"/>
    <p:sldId id="1138" r:id="rId92"/>
    <p:sldId id="1092" r:id="rId93"/>
    <p:sldId id="1093" r:id="rId94"/>
    <p:sldId id="1094" r:id="rId95"/>
    <p:sldId id="1128" r:id="rId96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b="1" kern="1200">
        <a:solidFill>
          <a:srgbClr val="A5002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b="1" kern="1200">
        <a:solidFill>
          <a:srgbClr val="A5002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b="1" kern="1200">
        <a:solidFill>
          <a:srgbClr val="A5002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b="1" kern="1200">
        <a:solidFill>
          <a:srgbClr val="A5002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b="1" kern="1200">
        <a:solidFill>
          <a:srgbClr val="A5002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rgbClr val="A5002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rgbClr val="A5002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rgbClr val="A5002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rgbClr val="A5002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66"/>
    <a:srgbClr val="666633"/>
    <a:srgbClr val="CCECFF"/>
    <a:srgbClr val="CC6600"/>
    <a:srgbClr val="E4F3F4"/>
    <a:srgbClr val="808000"/>
    <a:srgbClr val="CCCCFF"/>
    <a:srgbClr val="33660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03" autoAdjust="0"/>
    <p:restoredTop sz="94660" autoAdjust="0"/>
  </p:normalViewPr>
  <p:slideViewPr>
    <p:cSldViewPr>
      <p:cViewPr varScale="1">
        <p:scale>
          <a:sx n="143" d="100"/>
          <a:sy n="143" d="100"/>
        </p:scale>
        <p:origin x="80" y="8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2" d="100"/>
          <a:sy n="62" d="100"/>
        </p:scale>
        <p:origin x="-1824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handoutMaster" Target="handoutMasters/handoutMaster1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4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20000"/>
              </a:lnSpc>
              <a:spcBef>
                <a:spcPct val="0"/>
              </a:spcBef>
              <a:defRPr kumimoji="0" sz="12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024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20000"/>
              </a:lnSpc>
              <a:spcBef>
                <a:spcPct val="0"/>
              </a:spcBef>
              <a:defRPr kumimoji="0" sz="12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025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20000"/>
              </a:lnSpc>
              <a:spcBef>
                <a:spcPct val="0"/>
              </a:spcBef>
              <a:defRPr kumimoji="0" sz="12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025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20000"/>
              </a:lnSpc>
              <a:spcBef>
                <a:spcPct val="0"/>
              </a:spcBef>
              <a:defRPr kumimoji="0" sz="12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</a:lstStyle>
          <a:p>
            <a:pPr>
              <a:defRPr/>
            </a:pPr>
            <a:fld id="{39F44BC8-7262-4009-ACF8-214377EBD00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389125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defRPr kumimoji="0"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kumimoji="0"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22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125663" y="1371600"/>
            <a:ext cx="3521075" cy="1981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defRPr kumimoji="0"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kumimoji="0"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945868FA-1150-4E96-83C7-7DA5FEC71B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2964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450811CA-C573-40E5-8C31-CC42AFA3C944}" type="slidenum">
              <a:rPr kumimoji="0" lang="en-US" altLang="zh-CN" sz="1200" b="0" smtClean="0">
                <a:solidFill>
                  <a:schemeClr val="tx1"/>
                </a:solidFill>
              </a:rPr>
              <a:pPr eaLnBrk="1" hangingPunct="1"/>
              <a:t>1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5763" y="687388"/>
            <a:ext cx="6088062" cy="3425825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zh-CN"/>
              <a:t>上一讲介绍了对数据文件的访问</a:t>
            </a:r>
            <a:r>
              <a:rPr lang="en-US" altLang="zh-CN"/>
              <a:t>,</a:t>
            </a:r>
            <a:r>
              <a:rPr lang="zh-CN" altLang="zh-CN"/>
              <a:t>虽然数据文件可以长期保存数据</a:t>
            </a:r>
            <a:r>
              <a:rPr lang="en-US" altLang="zh-CN"/>
              <a:t>,</a:t>
            </a:r>
            <a:r>
              <a:rPr lang="zh-CN" altLang="zh-CN"/>
              <a:t>但利用数据文件有缺点</a:t>
            </a:r>
            <a:r>
              <a:rPr lang="en-US" altLang="zh-CN"/>
              <a:t>:</a:t>
            </a:r>
            <a:r>
              <a:rPr lang="zh-CN" altLang="zh-CN"/>
              <a:t>对于存放大量数据管理和使用不方便</a:t>
            </a:r>
            <a:r>
              <a:rPr lang="en-US" altLang="zh-CN"/>
              <a:t>,</a:t>
            </a:r>
            <a:r>
              <a:rPr lang="zh-CN" altLang="zh-CN"/>
              <a:t>都要通过编程者实现</a:t>
            </a:r>
            <a:r>
              <a:rPr lang="en-US" altLang="zh-CN"/>
              <a:t>,</a:t>
            </a:r>
            <a:r>
              <a:rPr lang="zh-CN" altLang="zh-CN"/>
              <a:t>而且共享性差</a:t>
            </a:r>
            <a:r>
              <a:rPr lang="en-US" altLang="zh-CN"/>
              <a:t>.</a:t>
            </a:r>
            <a:endParaRPr lang="zh-CN" altLang="zh-CN"/>
          </a:p>
          <a:p>
            <a:pPr eaLnBrk="1" hangingPunct="1"/>
            <a:r>
              <a:rPr lang="zh-CN" altLang="zh-CN"/>
              <a:t>利用数据库技术和</a:t>
            </a:r>
            <a:r>
              <a:rPr lang="en-US" altLang="zh-CN"/>
              <a:t>SQL</a:t>
            </a:r>
            <a:r>
              <a:rPr lang="zh-CN" altLang="zh-CN"/>
              <a:t>命令可方便</a:t>
            </a:r>
            <a:r>
              <a:rPr lang="en-US" altLang="zh-CN"/>
              <a:t>\</a:t>
            </a:r>
            <a:r>
              <a:rPr lang="zh-CN" altLang="zh-CN"/>
              <a:t>快速地管理和使用数据</a:t>
            </a:r>
            <a:r>
              <a:rPr lang="en-US" altLang="zh-CN"/>
              <a:t>.</a:t>
            </a:r>
            <a:endParaRPr lang="zh-CN" altLang="zh-CN"/>
          </a:p>
          <a:p>
            <a:pPr eaLnBrk="1" hangingPunct="1"/>
            <a:r>
              <a:rPr lang="zh-CN" altLang="zh-CN"/>
              <a:t>作为在</a:t>
            </a:r>
            <a:r>
              <a:rPr lang="en-US" altLang="zh-CN"/>
              <a:t>VB.NET</a:t>
            </a:r>
            <a:r>
              <a:rPr lang="zh-CN" altLang="zh-CN"/>
              <a:t>程序设计课程的一讲内容，我们试图从最简便的方法来介绍如何访问数据库</a:t>
            </a:r>
            <a:r>
              <a:rPr lang="en-US" altLang="zh-CN"/>
              <a:t>,</a:t>
            </a:r>
            <a:r>
              <a:rPr lang="zh-CN" altLang="zh-CN"/>
              <a:t>理解如何在</a:t>
            </a:r>
            <a:r>
              <a:rPr lang="en-US" altLang="zh-CN"/>
              <a:t>VB.NET</a:t>
            </a:r>
            <a:r>
              <a:rPr lang="zh-CN" altLang="zh-CN"/>
              <a:t>环境下简单数据库应用程序开发的过程</a:t>
            </a:r>
            <a:r>
              <a:rPr lang="en-US" altLang="zh-CN"/>
              <a:t>.</a:t>
            </a:r>
            <a:endParaRPr lang="zh-CN" altLang="zh-CN"/>
          </a:p>
          <a:p>
            <a:pPr eaLnBrk="1" hangingPunct="1"/>
            <a:r>
              <a:rPr lang="zh-CN" altLang="zh-CN"/>
              <a:t>本讲涉及一下</a:t>
            </a:r>
            <a:r>
              <a:rPr lang="en-US" altLang="zh-CN"/>
              <a:t>4</a:t>
            </a:r>
            <a:r>
              <a:rPr lang="zh-CN" altLang="zh-CN"/>
              <a:t>部分内容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4DA751-3BE1-463C-B264-A7CA5B0E60EC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  <p:sp>
        <p:nvSpPr>
          <p:cNvPr id="5" name="TextBox 1"/>
          <p:cNvSpPr txBox="1">
            <a:spLocks noGrp="1" noChangeArrowheads="1"/>
          </p:cNvSpPr>
          <p:nvPr>
            <p:ph type="body" idx="1"/>
          </p:nvPr>
        </p:nvSpPr>
        <p:spPr bwMode="auto"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20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在结构化程序设计中提供了三种基本控制结构：顺序、选择、循环。</a:t>
            </a:r>
            <a:endParaRPr lang="en-US" altLang="zh-CN" sz="2000" b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 eaLnBrk="1" hangingPunct="1"/>
            <a:r>
              <a:rPr lang="zh-CN" altLang="en-US" sz="20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顺序结构是按照语句出现的先后顺序依次执行。</a:t>
            </a:r>
          </a:p>
        </p:txBody>
      </p:sp>
    </p:spTree>
    <p:extLst>
      <p:ext uri="{BB962C8B-B14F-4D97-AF65-F5344CB8AC3E}">
        <p14:creationId xmlns:p14="http://schemas.microsoft.com/office/powerpoint/2010/main" val="41219395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EF0EBC8-A83B-4CC1-96D5-2FF8FD254A11}" type="slidenum">
              <a:rPr kumimoji="0" lang="en-US" altLang="zh-CN" sz="1200" b="0" smtClean="0">
                <a:solidFill>
                  <a:schemeClr val="tx1"/>
                </a:solidFill>
              </a:rPr>
              <a:pPr eaLnBrk="1" hangingPunct="1"/>
              <a:t>7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28838" y="1373188"/>
            <a:ext cx="3514725" cy="1978025"/>
          </a:xfrm>
          <a:solidFill>
            <a:srgbClr val="FFFFFF"/>
          </a:solidFill>
          <a:ln w="12700" cap="flat"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CF572EF0-0D33-434C-A17E-A72074C2545C}" type="slidenum">
              <a:rPr kumimoji="0" lang="en-US" altLang="zh-CN" sz="1200" b="0" smtClean="0">
                <a:solidFill>
                  <a:schemeClr val="tx1"/>
                </a:solidFill>
              </a:rPr>
              <a:pPr eaLnBrk="1" hangingPunct="1"/>
              <a:t>8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28838" y="1373188"/>
            <a:ext cx="3514725" cy="1978025"/>
          </a:xfrm>
          <a:solidFill>
            <a:srgbClr val="FFFFFF"/>
          </a:solidFill>
          <a:ln w="12700" cap="flat"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EF0EBC8-A83B-4CC1-96D5-2FF8FD254A11}" type="slidenum">
              <a:rPr kumimoji="0" lang="en-US" altLang="zh-CN" sz="1200" b="0" smtClean="0">
                <a:solidFill>
                  <a:schemeClr val="tx1"/>
                </a:solidFill>
              </a:rPr>
              <a:pPr eaLnBrk="1" hangingPunct="1"/>
              <a:t>9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28838" y="1373188"/>
            <a:ext cx="3514725" cy="1978025"/>
          </a:xfrm>
          <a:solidFill>
            <a:srgbClr val="FFFFFF"/>
          </a:solidFill>
          <a:ln w="12700" cap="flat"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CF572EF0-0D33-434C-A17E-A72074C2545C}" type="slidenum">
              <a:rPr kumimoji="0" lang="en-US" altLang="zh-CN" sz="1200" b="0" smtClean="0">
                <a:solidFill>
                  <a:schemeClr val="tx1"/>
                </a:solidFill>
              </a:rPr>
              <a:pPr eaLnBrk="1" hangingPunct="1"/>
              <a:t>10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28838" y="1373188"/>
            <a:ext cx="3514725" cy="1978025"/>
          </a:xfrm>
          <a:solidFill>
            <a:srgbClr val="FFFFFF"/>
          </a:solidFill>
          <a:ln w="12700" cap="flat"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4263705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CF572EF0-0D33-434C-A17E-A72074C2545C}" type="slidenum">
              <a:rPr kumimoji="0" lang="en-US" altLang="zh-CN" sz="1200" b="0" smtClean="0">
                <a:solidFill>
                  <a:schemeClr val="tx1"/>
                </a:solidFill>
              </a:rPr>
              <a:pPr eaLnBrk="1" hangingPunct="1"/>
              <a:t>11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28838" y="1373188"/>
            <a:ext cx="3514725" cy="1978025"/>
          </a:xfrm>
          <a:solidFill>
            <a:srgbClr val="FFFFFF"/>
          </a:solidFill>
          <a:ln w="12700" cap="flat"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9729056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4579A078-D1E8-4BD3-874A-C34AB88B8F5C}" type="slidenum">
              <a:rPr kumimoji="0" lang="en-US" altLang="zh-CN" sz="1200" b="0" smtClean="0">
                <a:solidFill>
                  <a:schemeClr val="tx1"/>
                </a:solidFill>
              </a:rPr>
              <a:pPr eaLnBrk="1" hangingPunct="1"/>
              <a:t>12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28838" y="1373188"/>
            <a:ext cx="3514725" cy="1978025"/>
          </a:xfrm>
          <a:solidFill>
            <a:srgbClr val="FFFFFF"/>
          </a:solidFill>
          <a:ln w="12700" cap="flat"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4579A078-D1E8-4BD3-874A-C34AB88B8F5C}" type="slidenum">
              <a:rPr kumimoji="0" lang="en-US" altLang="zh-CN" sz="1200" b="0" smtClean="0">
                <a:solidFill>
                  <a:schemeClr val="tx1"/>
                </a:solidFill>
              </a:rPr>
              <a:pPr eaLnBrk="1" hangingPunct="1"/>
              <a:t>13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28838" y="1373188"/>
            <a:ext cx="3514725" cy="1978025"/>
          </a:xfrm>
          <a:solidFill>
            <a:srgbClr val="FFFFFF"/>
          </a:solidFill>
          <a:ln w="12700" cap="flat"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97CEACF9-1BAD-4771-95B4-E94F5A9EBD5D}" type="slidenum">
              <a:rPr kumimoji="0" lang="en-US" altLang="zh-CN" sz="1200" b="0" smtClean="0">
                <a:solidFill>
                  <a:schemeClr val="tx1"/>
                </a:solidFill>
              </a:rPr>
              <a:pPr eaLnBrk="1" hangingPunct="1"/>
              <a:t>15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28838" y="1373188"/>
            <a:ext cx="3514725" cy="1978025"/>
          </a:xfrm>
          <a:solidFill>
            <a:srgbClr val="FFFFFF"/>
          </a:solidFill>
          <a:ln w="12700" cap="flat"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7E586D61-B546-48A3-8197-29CDE4DB5973}" type="slidenum">
              <a:rPr kumimoji="0" lang="en-US" altLang="zh-CN" sz="1200" b="0" smtClean="0">
                <a:solidFill>
                  <a:schemeClr val="tx1"/>
                </a:solidFill>
              </a:rPr>
              <a:pPr eaLnBrk="1" hangingPunct="1"/>
              <a:t>17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28838" y="1373188"/>
            <a:ext cx="3514725" cy="1978025"/>
          </a:xfrm>
          <a:solidFill>
            <a:srgbClr val="FFFFFF"/>
          </a:solidFill>
          <a:ln w="12700" cap="flat"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13BA2857-2233-40B9-A1AD-20104106FA04}" type="slidenum">
              <a:rPr kumimoji="0" lang="en-US" altLang="zh-CN" sz="1200" b="0" smtClean="0">
                <a:solidFill>
                  <a:schemeClr val="tx1"/>
                </a:solidFill>
              </a:rPr>
              <a:pPr eaLnBrk="1" hangingPunct="1"/>
              <a:t>18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28838" y="1373188"/>
            <a:ext cx="3514725" cy="1978025"/>
          </a:xfrm>
          <a:solidFill>
            <a:srgbClr val="FFFFFF"/>
          </a:solidFill>
          <a:ln w="12700" cap="flat"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13BA2857-2233-40B9-A1AD-20104106FA04}" type="slidenum">
              <a:rPr kumimoji="0" lang="en-US" altLang="zh-CN" sz="1200" b="0" smtClean="0">
                <a:solidFill>
                  <a:schemeClr val="tx1"/>
                </a:solidFill>
              </a:rPr>
              <a:pPr eaLnBrk="1" hangingPunct="1"/>
              <a:t>19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28838" y="1373188"/>
            <a:ext cx="3514725" cy="1978025"/>
          </a:xfrm>
          <a:solidFill>
            <a:srgbClr val="FFFFFF"/>
          </a:solidFill>
          <a:ln w="12700" cap="flat"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8AF173CB-04DE-40DF-803E-ADD10264420A}" type="slidenum">
              <a:rPr kumimoji="0" lang="en-US" altLang="zh-CN" sz="1200" b="0" smtClean="0">
                <a:solidFill>
                  <a:schemeClr val="tx1"/>
                </a:solidFill>
              </a:rPr>
              <a:pPr eaLnBrk="1" hangingPunct="1"/>
              <a:t>21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28838" y="1373188"/>
            <a:ext cx="3514725" cy="1978025"/>
          </a:xfrm>
          <a:ln w="12700" cap="flat"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 lIns="92075" tIns="46038" rIns="92075" bIns="46038"/>
          <a:lstStyle/>
          <a:p>
            <a:endParaRPr lang="zh-CN" altLang="zh-CN"/>
          </a:p>
        </p:txBody>
      </p:sp>
      <p:grpSp>
        <p:nvGrpSpPr>
          <p:cNvPr id="67589" name="Group 4"/>
          <p:cNvGrpSpPr>
            <a:grpSpLocks/>
          </p:cNvGrpSpPr>
          <p:nvPr/>
        </p:nvGrpSpPr>
        <p:grpSpPr bwMode="auto">
          <a:xfrm>
            <a:off x="1412875" y="4356100"/>
            <a:ext cx="4683125" cy="6192838"/>
            <a:chOff x="1156" y="28"/>
            <a:chExt cx="2950" cy="3901"/>
          </a:xfrm>
        </p:grpSpPr>
        <p:sp>
          <p:nvSpPr>
            <p:cNvPr id="67590" name="AutoShape 5"/>
            <p:cNvSpPr>
              <a:spLocks noChangeArrowheads="1"/>
            </p:cNvSpPr>
            <p:nvPr/>
          </p:nvSpPr>
          <p:spPr bwMode="auto">
            <a:xfrm>
              <a:off x="1184" y="28"/>
              <a:ext cx="1378" cy="616"/>
            </a:xfrm>
            <a:prstGeom prst="diamond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anchor="ctr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ct val="50000"/>
                </a:spcBef>
              </a:pPr>
              <a:r>
                <a:rPr lang="en-US" altLang="zh-CN">
                  <a:ea typeface="黑体" pitchFamily="49" charset="-122"/>
                </a:rPr>
                <a:t>x&lt;y?</a:t>
              </a:r>
            </a:p>
          </p:txBody>
        </p:sp>
        <p:sp>
          <p:nvSpPr>
            <p:cNvPr id="67591" name="Line 6"/>
            <p:cNvSpPr>
              <a:spLocks noChangeShapeType="1"/>
            </p:cNvSpPr>
            <p:nvPr/>
          </p:nvSpPr>
          <p:spPr bwMode="auto">
            <a:xfrm>
              <a:off x="1882" y="611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7592" name="Rectangle 7"/>
            <p:cNvSpPr>
              <a:spLocks noChangeArrowheads="1"/>
            </p:cNvSpPr>
            <p:nvPr/>
          </p:nvSpPr>
          <p:spPr bwMode="auto">
            <a:xfrm>
              <a:off x="1336" y="780"/>
              <a:ext cx="1047" cy="387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ct val="50000"/>
                </a:spcBef>
              </a:pPr>
              <a:r>
                <a:rPr lang="en-US" altLang="zh-CN" sz="2800">
                  <a:ea typeface="黑体" pitchFamily="49" charset="-122"/>
                </a:rPr>
                <a:t>x</a:t>
              </a:r>
              <a:r>
                <a:rPr lang="zh-CN" altLang="en-US" sz="2800">
                  <a:ea typeface="黑体" pitchFamily="49" charset="-122"/>
                </a:rPr>
                <a:t>与</a:t>
              </a:r>
              <a:r>
                <a:rPr lang="en-US" altLang="zh-CN" sz="2800">
                  <a:ea typeface="黑体" pitchFamily="49" charset="-122"/>
                </a:rPr>
                <a:t>y</a:t>
              </a:r>
              <a:r>
                <a:rPr lang="zh-CN" altLang="en-US" sz="2800">
                  <a:ea typeface="黑体" pitchFamily="49" charset="-122"/>
                </a:rPr>
                <a:t>交换</a:t>
              </a:r>
            </a:p>
          </p:txBody>
        </p:sp>
        <p:sp>
          <p:nvSpPr>
            <p:cNvPr id="67593" name="AutoShape 8"/>
            <p:cNvSpPr>
              <a:spLocks noChangeArrowheads="1"/>
            </p:cNvSpPr>
            <p:nvPr/>
          </p:nvSpPr>
          <p:spPr bwMode="auto">
            <a:xfrm>
              <a:off x="1156" y="1336"/>
              <a:ext cx="1378" cy="616"/>
            </a:xfrm>
            <a:prstGeom prst="diamond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anchor="ctr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ct val="50000"/>
                </a:spcBef>
              </a:pPr>
              <a:r>
                <a:rPr lang="en-US" altLang="zh-CN">
                  <a:ea typeface="黑体" pitchFamily="49" charset="-122"/>
                </a:rPr>
                <a:t>y&lt;z?</a:t>
              </a:r>
            </a:p>
          </p:txBody>
        </p:sp>
        <p:sp>
          <p:nvSpPr>
            <p:cNvPr id="67594" name="Line 9"/>
            <p:cNvSpPr>
              <a:spLocks noChangeShapeType="1"/>
            </p:cNvSpPr>
            <p:nvPr/>
          </p:nvSpPr>
          <p:spPr bwMode="auto">
            <a:xfrm>
              <a:off x="1882" y="1155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7595" name="Text Box 10"/>
            <p:cNvSpPr txBox="1">
              <a:spLocks noChangeArrowheads="1"/>
            </p:cNvSpPr>
            <p:nvPr/>
          </p:nvSpPr>
          <p:spPr bwMode="auto">
            <a:xfrm>
              <a:off x="2154" y="1137"/>
              <a:ext cx="1089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en-US" altLang="zh-CN" sz="2800">
                  <a:ea typeface="黑体" pitchFamily="49" charset="-122"/>
                </a:rPr>
                <a:t>x&gt;=y</a:t>
              </a:r>
            </a:p>
          </p:txBody>
        </p:sp>
        <p:sp>
          <p:nvSpPr>
            <p:cNvPr id="67596" name="Text Box 11"/>
            <p:cNvSpPr txBox="1">
              <a:spLocks noChangeArrowheads="1"/>
            </p:cNvSpPr>
            <p:nvPr/>
          </p:nvSpPr>
          <p:spPr bwMode="auto">
            <a:xfrm>
              <a:off x="2109" y="384"/>
              <a:ext cx="1089" cy="4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en-US" altLang="zh-CN">
                  <a:ea typeface="黑体" pitchFamily="49" charset="-122"/>
                </a:rPr>
                <a:t>T</a:t>
              </a:r>
            </a:p>
          </p:txBody>
        </p:sp>
        <p:sp>
          <p:nvSpPr>
            <p:cNvPr id="67597" name="Rectangle 12"/>
            <p:cNvSpPr>
              <a:spLocks noChangeArrowheads="1"/>
            </p:cNvSpPr>
            <p:nvPr/>
          </p:nvSpPr>
          <p:spPr bwMode="auto">
            <a:xfrm>
              <a:off x="1321" y="2107"/>
              <a:ext cx="1034" cy="387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ct val="50000"/>
                </a:spcBef>
              </a:pPr>
              <a:r>
                <a:rPr lang="en-US" altLang="zh-CN" sz="2800">
                  <a:ea typeface="黑体" pitchFamily="49" charset="-122"/>
                </a:rPr>
                <a:t>y</a:t>
              </a:r>
              <a:r>
                <a:rPr lang="zh-CN" altLang="en-US" sz="2800">
                  <a:ea typeface="黑体" pitchFamily="49" charset="-122"/>
                </a:rPr>
                <a:t>与</a:t>
              </a:r>
              <a:r>
                <a:rPr lang="en-US" altLang="zh-CN" sz="2800">
                  <a:ea typeface="黑体" pitchFamily="49" charset="-122"/>
                </a:rPr>
                <a:t>z</a:t>
              </a:r>
              <a:r>
                <a:rPr lang="zh-CN" altLang="en-US" sz="2800">
                  <a:ea typeface="黑体" pitchFamily="49" charset="-122"/>
                </a:rPr>
                <a:t>交换</a:t>
              </a:r>
            </a:p>
          </p:txBody>
        </p:sp>
        <p:sp>
          <p:nvSpPr>
            <p:cNvPr id="67598" name="Line 13"/>
            <p:cNvSpPr>
              <a:spLocks noChangeShapeType="1"/>
            </p:cNvSpPr>
            <p:nvPr/>
          </p:nvSpPr>
          <p:spPr bwMode="auto">
            <a:xfrm>
              <a:off x="1837" y="1926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7599" name="AutoShape 14"/>
            <p:cNvSpPr>
              <a:spLocks noChangeArrowheads="1"/>
            </p:cNvSpPr>
            <p:nvPr/>
          </p:nvSpPr>
          <p:spPr bwMode="auto">
            <a:xfrm>
              <a:off x="1156" y="2647"/>
              <a:ext cx="1378" cy="616"/>
            </a:xfrm>
            <a:prstGeom prst="diamond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anchor="ctr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ct val="50000"/>
                </a:spcBef>
              </a:pPr>
              <a:r>
                <a:rPr lang="en-US" altLang="zh-CN">
                  <a:ea typeface="黑体" pitchFamily="49" charset="-122"/>
                </a:rPr>
                <a:t>x&lt;y?</a:t>
              </a:r>
            </a:p>
          </p:txBody>
        </p:sp>
        <p:sp>
          <p:nvSpPr>
            <p:cNvPr id="67600" name="Line 15"/>
            <p:cNvSpPr>
              <a:spLocks noChangeShapeType="1"/>
            </p:cNvSpPr>
            <p:nvPr/>
          </p:nvSpPr>
          <p:spPr bwMode="auto">
            <a:xfrm>
              <a:off x="1854" y="3230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7601" name="Rectangle 16"/>
            <p:cNvSpPr>
              <a:spLocks noChangeArrowheads="1"/>
            </p:cNvSpPr>
            <p:nvPr/>
          </p:nvSpPr>
          <p:spPr bwMode="auto">
            <a:xfrm>
              <a:off x="1308" y="3399"/>
              <a:ext cx="1047" cy="387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ct val="50000"/>
                </a:spcBef>
              </a:pPr>
              <a:r>
                <a:rPr lang="en-US" altLang="zh-CN" sz="2800">
                  <a:ea typeface="黑体" pitchFamily="49" charset="-122"/>
                </a:rPr>
                <a:t>x</a:t>
              </a:r>
              <a:r>
                <a:rPr lang="zh-CN" altLang="en-US" sz="2800">
                  <a:ea typeface="黑体" pitchFamily="49" charset="-122"/>
                </a:rPr>
                <a:t>与</a:t>
              </a:r>
              <a:r>
                <a:rPr lang="en-US" altLang="zh-CN" sz="2800">
                  <a:ea typeface="黑体" pitchFamily="49" charset="-122"/>
                </a:rPr>
                <a:t>y</a:t>
              </a:r>
              <a:r>
                <a:rPr lang="zh-CN" altLang="en-US" sz="2800">
                  <a:ea typeface="黑体" pitchFamily="49" charset="-122"/>
                </a:rPr>
                <a:t>交换</a:t>
              </a:r>
            </a:p>
          </p:txBody>
        </p:sp>
        <p:sp>
          <p:nvSpPr>
            <p:cNvPr id="67602" name="Text Box 17"/>
            <p:cNvSpPr txBox="1">
              <a:spLocks noChangeArrowheads="1"/>
            </p:cNvSpPr>
            <p:nvPr/>
          </p:nvSpPr>
          <p:spPr bwMode="auto">
            <a:xfrm>
              <a:off x="2081" y="3003"/>
              <a:ext cx="1089" cy="4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en-US" altLang="zh-CN">
                  <a:ea typeface="黑体" pitchFamily="49" charset="-122"/>
                </a:rPr>
                <a:t>T</a:t>
              </a:r>
            </a:p>
          </p:txBody>
        </p:sp>
        <p:sp>
          <p:nvSpPr>
            <p:cNvPr id="67603" name="Line 18"/>
            <p:cNvSpPr>
              <a:spLocks noChangeShapeType="1"/>
            </p:cNvSpPr>
            <p:nvPr/>
          </p:nvSpPr>
          <p:spPr bwMode="auto">
            <a:xfrm>
              <a:off x="1837" y="2516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7604" name="Text Box 19"/>
            <p:cNvSpPr txBox="1">
              <a:spLocks noChangeArrowheads="1"/>
            </p:cNvSpPr>
            <p:nvPr/>
          </p:nvSpPr>
          <p:spPr bwMode="auto">
            <a:xfrm>
              <a:off x="1973" y="2380"/>
              <a:ext cx="1089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en-US" altLang="zh-CN" sz="2800">
                  <a:ea typeface="黑体" pitchFamily="49" charset="-122"/>
                </a:rPr>
                <a:t>z</a:t>
              </a:r>
              <a:r>
                <a:rPr lang="zh-CN" altLang="en-US" sz="2800">
                  <a:ea typeface="黑体" pitchFamily="49" charset="-122"/>
                </a:rPr>
                <a:t>最小</a:t>
              </a:r>
            </a:p>
          </p:txBody>
        </p:sp>
        <p:sp>
          <p:nvSpPr>
            <p:cNvPr id="67605" name="Line 20"/>
            <p:cNvSpPr>
              <a:spLocks noChangeShapeType="1"/>
            </p:cNvSpPr>
            <p:nvPr/>
          </p:nvSpPr>
          <p:spPr bwMode="auto">
            <a:xfrm>
              <a:off x="2562" y="1608"/>
              <a:ext cx="4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7606" name="Line 21"/>
            <p:cNvSpPr>
              <a:spLocks noChangeShapeType="1"/>
            </p:cNvSpPr>
            <p:nvPr/>
          </p:nvSpPr>
          <p:spPr bwMode="auto">
            <a:xfrm>
              <a:off x="2971" y="1608"/>
              <a:ext cx="0" cy="23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7607" name="Line 22"/>
            <p:cNvSpPr>
              <a:spLocks noChangeShapeType="1"/>
            </p:cNvSpPr>
            <p:nvPr/>
          </p:nvSpPr>
          <p:spPr bwMode="auto">
            <a:xfrm>
              <a:off x="2562" y="293"/>
              <a:ext cx="4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7608" name="Line 23"/>
            <p:cNvSpPr>
              <a:spLocks noChangeShapeType="1"/>
            </p:cNvSpPr>
            <p:nvPr/>
          </p:nvSpPr>
          <p:spPr bwMode="auto">
            <a:xfrm>
              <a:off x="2971" y="293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7609" name="Line 24"/>
            <p:cNvSpPr>
              <a:spLocks noChangeShapeType="1"/>
            </p:cNvSpPr>
            <p:nvPr/>
          </p:nvSpPr>
          <p:spPr bwMode="auto">
            <a:xfrm flipV="1">
              <a:off x="1882" y="1200"/>
              <a:ext cx="10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7610" name="Line 25"/>
            <p:cNvSpPr>
              <a:spLocks noChangeShapeType="1"/>
            </p:cNvSpPr>
            <p:nvPr/>
          </p:nvSpPr>
          <p:spPr bwMode="auto">
            <a:xfrm>
              <a:off x="2517" y="2969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7611" name="Line 26"/>
            <p:cNvSpPr>
              <a:spLocks noChangeShapeType="1"/>
            </p:cNvSpPr>
            <p:nvPr/>
          </p:nvSpPr>
          <p:spPr bwMode="auto">
            <a:xfrm>
              <a:off x="2835" y="2977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7612" name="Line 27"/>
            <p:cNvSpPr>
              <a:spLocks noChangeShapeType="1"/>
            </p:cNvSpPr>
            <p:nvPr/>
          </p:nvSpPr>
          <p:spPr bwMode="auto">
            <a:xfrm flipV="1">
              <a:off x="1746" y="3884"/>
              <a:ext cx="10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7613" name="Line 28"/>
            <p:cNvSpPr>
              <a:spLocks noChangeShapeType="1"/>
            </p:cNvSpPr>
            <p:nvPr/>
          </p:nvSpPr>
          <p:spPr bwMode="auto">
            <a:xfrm flipV="1">
              <a:off x="1791" y="3929"/>
              <a:ext cx="11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7614" name="Line 29"/>
            <p:cNvSpPr>
              <a:spLocks noChangeShapeType="1"/>
            </p:cNvSpPr>
            <p:nvPr/>
          </p:nvSpPr>
          <p:spPr bwMode="auto">
            <a:xfrm>
              <a:off x="1837" y="3748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7615" name="Text Box 30"/>
            <p:cNvSpPr txBox="1">
              <a:spLocks noChangeArrowheads="1"/>
            </p:cNvSpPr>
            <p:nvPr/>
          </p:nvSpPr>
          <p:spPr bwMode="auto">
            <a:xfrm>
              <a:off x="2154" y="1661"/>
              <a:ext cx="1089" cy="4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en-US" altLang="zh-CN">
                  <a:ea typeface="黑体" pitchFamily="49" charset="-122"/>
                </a:rPr>
                <a:t>T</a:t>
              </a:r>
            </a:p>
          </p:txBody>
        </p:sp>
        <p:sp>
          <p:nvSpPr>
            <p:cNvPr id="67616" name="Text Box 31"/>
            <p:cNvSpPr txBox="1">
              <a:spLocks noChangeArrowheads="1"/>
            </p:cNvSpPr>
            <p:nvPr/>
          </p:nvSpPr>
          <p:spPr bwMode="auto">
            <a:xfrm>
              <a:off x="3017" y="482"/>
              <a:ext cx="1089" cy="4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en-US" altLang="zh-CN">
                  <a:ea typeface="黑体" pitchFamily="49" charset="-122"/>
                </a:rPr>
                <a:t>F</a:t>
              </a:r>
            </a:p>
          </p:txBody>
        </p:sp>
        <p:sp>
          <p:nvSpPr>
            <p:cNvPr id="67617" name="Text Box 32"/>
            <p:cNvSpPr txBox="1">
              <a:spLocks noChangeArrowheads="1"/>
            </p:cNvSpPr>
            <p:nvPr/>
          </p:nvSpPr>
          <p:spPr bwMode="auto">
            <a:xfrm>
              <a:off x="2971" y="1888"/>
              <a:ext cx="1089" cy="10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A5002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en-US" altLang="zh-CN">
                  <a:ea typeface="黑体" pitchFamily="49" charset="-122"/>
                </a:rPr>
                <a:t>F</a:t>
              </a:r>
            </a:p>
            <a:p>
              <a:pPr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en-US" altLang="zh-CN">
                  <a:ea typeface="黑体" pitchFamily="49" charset="-122"/>
                </a:rPr>
                <a:t>x&gt;y&gt;z</a:t>
              </a:r>
            </a:p>
          </p:txBody>
        </p:sp>
      </p:grp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/>
            <a:fld id="{90CE146C-FECE-408C-B588-2AA9A603C727}" type="slidenum">
              <a:rPr kumimoji="0" lang="en-US" altLang="zh-CN" sz="1200" b="0" smtClean="0">
                <a:solidFill>
                  <a:schemeClr val="tx1"/>
                </a:solidFill>
                <a:ea typeface="宋体" pitchFamily="2" charset="-122"/>
              </a:rPr>
              <a:pPr eaLnBrk="1" hangingPunct="1"/>
              <a:t>22</a:t>
            </a:fld>
            <a:endParaRPr kumimoji="0" lang="en-US" altLang="zh-CN" sz="12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5763" y="687388"/>
            <a:ext cx="6088062" cy="3425825"/>
          </a:xfrm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zh-CN"/>
              <a:t>上一讲介绍了对数据文件的访问</a:t>
            </a:r>
            <a:r>
              <a:rPr lang="en-US" altLang="zh-CN"/>
              <a:t>,</a:t>
            </a:r>
            <a:r>
              <a:rPr lang="zh-CN" altLang="zh-CN"/>
              <a:t>虽然数据文件可以长期保存数据</a:t>
            </a:r>
            <a:r>
              <a:rPr lang="en-US" altLang="zh-CN"/>
              <a:t>,</a:t>
            </a:r>
            <a:r>
              <a:rPr lang="zh-CN" altLang="zh-CN"/>
              <a:t>但利用数据文件有缺点</a:t>
            </a:r>
            <a:r>
              <a:rPr lang="en-US" altLang="zh-CN"/>
              <a:t>:</a:t>
            </a:r>
            <a:r>
              <a:rPr lang="zh-CN" altLang="zh-CN"/>
              <a:t>对于存放大量数据管理和使用不方便</a:t>
            </a:r>
            <a:r>
              <a:rPr lang="en-US" altLang="zh-CN"/>
              <a:t>,</a:t>
            </a:r>
            <a:r>
              <a:rPr lang="zh-CN" altLang="zh-CN"/>
              <a:t>都要通过编程者实现</a:t>
            </a:r>
            <a:r>
              <a:rPr lang="en-US" altLang="zh-CN"/>
              <a:t>,</a:t>
            </a:r>
            <a:r>
              <a:rPr lang="zh-CN" altLang="zh-CN"/>
              <a:t>而且共享性差</a:t>
            </a:r>
            <a:r>
              <a:rPr lang="en-US" altLang="zh-CN"/>
              <a:t>.</a:t>
            </a:r>
            <a:endParaRPr lang="zh-CN" altLang="zh-CN"/>
          </a:p>
          <a:p>
            <a:pPr eaLnBrk="1" hangingPunct="1"/>
            <a:r>
              <a:rPr lang="zh-CN" altLang="zh-CN"/>
              <a:t>利用数据库技术和</a:t>
            </a:r>
            <a:r>
              <a:rPr lang="en-US" altLang="zh-CN"/>
              <a:t>SQL</a:t>
            </a:r>
            <a:r>
              <a:rPr lang="zh-CN" altLang="zh-CN"/>
              <a:t>命令可方便</a:t>
            </a:r>
            <a:r>
              <a:rPr lang="en-US" altLang="zh-CN"/>
              <a:t>\</a:t>
            </a:r>
            <a:r>
              <a:rPr lang="zh-CN" altLang="zh-CN"/>
              <a:t>快速地管理和使用数据</a:t>
            </a:r>
            <a:r>
              <a:rPr lang="en-US" altLang="zh-CN"/>
              <a:t>.</a:t>
            </a:r>
            <a:endParaRPr lang="zh-CN" altLang="zh-CN"/>
          </a:p>
          <a:p>
            <a:pPr eaLnBrk="1" hangingPunct="1"/>
            <a:r>
              <a:rPr lang="zh-CN" altLang="zh-CN"/>
              <a:t>作为在</a:t>
            </a:r>
            <a:r>
              <a:rPr lang="en-US" altLang="zh-CN"/>
              <a:t>VB.NET</a:t>
            </a:r>
            <a:r>
              <a:rPr lang="zh-CN" altLang="zh-CN"/>
              <a:t>程序设计课程的一讲内容，我们试图从最简便的方法来介绍如何访问数据库</a:t>
            </a:r>
            <a:r>
              <a:rPr lang="en-US" altLang="zh-CN"/>
              <a:t>,</a:t>
            </a:r>
            <a:r>
              <a:rPr lang="zh-CN" altLang="zh-CN"/>
              <a:t>理解如何在</a:t>
            </a:r>
            <a:r>
              <a:rPr lang="en-US" altLang="zh-CN"/>
              <a:t>VB.NET</a:t>
            </a:r>
            <a:r>
              <a:rPr lang="zh-CN" altLang="zh-CN"/>
              <a:t>环境下简单数据库应用程序开发的过程</a:t>
            </a:r>
            <a:r>
              <a:rPr lang="en-US" altLang="zh-CN"/>
              <a:t>.</a:t>
            </a:r>
            <a:endParaRPr lang="zh-CN" altLang="zh-CN"/>
          </a:p>
          <a:p>
            <a:pPr eaLnBrk="1" hangingPunct="1"/>
            <a:r>
              <a:rPr lang="zh-CN" altLang="zh-CN"/>
              <a:t>本讲涉及一下</a:t>
            </a:r>
            <a:r>
              <a:rPr lang="en-US" altLang="zh-CN"/>
              <a:t>4</a:t>
            </a:r>
            <a:r>
              <a:rPr lang="zh-CN" altLang="zh-CN"/>
              <a:t>部分内容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/>
            <a:fld id="{C8A1D222-44FB-4CB1-B41B-E696AA44A0E2}" type="slidenum">
              <a:rPr kumimoji="0" lang="en-US" altLang="zh-CN" sz="1200" b="0" smtClean="0">
                <a:solidFill>
                  <a:schemeClr val="tx1"/>
                </a:solidFill>
                <a:ea typeface="宋体" pitchFamily="2" charset="-122"/>
              </a:rPr>
              <a:pPr eaLnBrk="1" hangingPunct="1"/>
              <a:t>23</a:t>
            </a:fld>
            <a:endParaRPr kumimoji="0" lang="en-US" altLang="zh-CN" sz="12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28838" y="1373188"/>
            <a:ext cx="3514725" cy="1978025"/>
          </a:xfrm>
          <a:ln w="12700" cap="flat"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 lIns="92075" tIns="46038" rIns="92075" bIns="46038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/>
            <a:fld id="{44397B68-876F-4D5B-ADA6-292B34B73DC1}" type="slidenum">
              <a:rPr kumimoji="0" lang="en-US" altLang="zh-CN" sz="1200" b="0" smtClean="0">
                <a:solidFill>
                  <a:schemeClr val="tx1"/>
                </a:solidFill>
                <a:ea typeface="宋体" pitchFamily="2" charset="-122"/>
              </a:rPr>
              <a:pPr eaLnBrk="1" hangingPunct="1"/>
              <a:t>42</a:t>
            </a:fld>
            <a:endParaRPr kumimoji="0" lang="en-US" altLang="zh-CN" sz="12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28838" y="1373188"/>
            <a:ext cx="3514725" cy="1978025"/>
          </a:xfrm>
          <a:solidFill>
            <a:srgbClr val="FFFFFF"/>
          </a:solidFill>
          <a:ln w="12700" cap="flat"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/>
            <a:fld id="{44397B68-876F-4D5B-ADA6-292B34B73DC1}" type="slidenum">
              <a:rPr kumimoji="0" lang="en-US" altLang="zh-CN" sz="1200" b="0" smtClean="0">
                <a:solidFill>
                  <a:schemeClr val="tx1"/>
                </a:solidFill>
                <a:ea typeface="宋体" pitchFamily="2" charset="-122"/>
              </a:rPr>
              <a:pPr eaLnBrk="1" hangingPunct="1"/>
              <a:t>43</a:t>
            </a:fld>
            <a:endParaRPr kumimoji="0" lang="en-US" altLang="zh-CN" sz="12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28838" y="1373188"/>
            <a:ext cx="3514725" cy="1978025"/>
          </a:xfrm>
          <a:solidFill>
            <a:srgbClr val="FFFFFF"/>
          </a:solidFill>
          <a:ln w="12700" cap="flat"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0564215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/>
            <a:fld id="{766D759D-D648-4EAE-B323-53EE0E3A5ACA}" type="slidenum">
              <a:rPr kumimoji="0" lang="en-US" altLang="zh-CN" sz="1200" b="0" smtClean="0">
                <a:solidFill>
                  <a:schemeClr val="tx1"/>
                </a:solidFill>
                <a:ea typeface="宋体" pitchFamily="2" charset="-122"/>
              </a:rPr>
              <a:pPr eaLnBrk="1" hangingPunct="1"/>
              <a:t>48</a:t>
            </a:fld>
            <a:endParaRPr kumimoji="0" lang="en-US" altLang="zh-CN" sz="12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28838" y="1373188"/>
            <a:ext cx="3514725" cy="1978025"/>
          </a:xfrm>
          <a:solidFill>
            <a:srgbClr val="FFFFFF"/>
          </a:solidFill>
          <a:ln w="12700" cap="flat"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/>
            <a:fld id="{766D759D-D648-4EAE-B323-53EE0E3A5ACA}" type="slidenum">
              <a:rPr kumimoji="0" lang="en-US" altLang="zh-CN" sz="1200" b="0" smtClean="0">
                <a:solidFill>
                  <a:schemeClr val="tx1"/>
                </a:solidFill>
                <a:ea typeface="宋体" pitchFamily="2" charset="-122"/>
              </a:rPr>
              <a:pPr eaLnBrk="1" hangingPunct="1"/>
              <a:t>49</a:t>
            </a:fld>
            <a:endParaRPr kumimoji="0" lang="en-US" altLang="zh-CN" sz="12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28838" y="1373188"/>
            <a:ext cx="3514725" cy="1978025"/>
          </a:xfrm>
          <a:solidFill>
            <a:srgbClr val="FFFFFF"/>
          </a:solidFill>
          <a:ln w="12700" cap="flat"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1040387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/>
            <a:fld id="{A93D156B-94D5-486A-AC9C-06BC418C4473}" type="slidenum">
              <a:rPr kumimoji="0" lang="en-US" altLang="zh-CN" sz="1200" b="0" smtClean="0">
                <a:solidFill>
                  <a:schemeClr val="tx1"/>
                </a:solidFill>
                <a:ea typeface="宋体" pitchFamily="2" charset="-122"/>
              </a:rPr>
              <a:pPr eaLnBrk="1" hangingPunct="1"/>
              <a:t>53</a:t>
            </a:fld>
            <a:endParaRPr kumimoji="0" lang="en-US" altLang="zh-CN" sz="12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45059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28838" y="1373188"/>
            <a:ext cx="3514725" cy="1978025"/>
          </a:xfrm>
          <a:solidFill>
            <a:srgbClr val="FFFFFF"/>
          </a:solidFill>
          <a:ln w="12700" cap="flat"/>
        </p:spPr>
      </p:sp>
      <p:sp>
        <p:nvSpPr>
          <p:cNvPr id="45060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8902176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/>
            <a:fld id="{A93D156B-94D5-486A-AC9C-06BC418C4473}" type="slidenum">
              <a:rPr kumimoji="0" lang="en-US" altLang="zh-CN" sz="1200" b="0" smtClean="0">
                <a:solidFill>
                  <a:schemeClr val="tx1"/>
                </a:solidFill>
                <a:ea typeface="宋体" pitchFamily="2" charset="-122"/>
              </a:rPr>
              <a:pPr eaLnBrk="1" hangingPunct="1"/>
              <a:t>54</a:t>
            </a:fld>
            <a:endParaRPr kumimoji="0" lang="en-US" altLang="zh-CN" sz="12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45059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28838" y="1373188"/>
            <a:ext cx="3514725" cy="1978025"/>
          </a:xfrm>
          <a:solidFill>
            <a:srgbClr val="FFFFFF"/>
          </a:solidFill>
          <a:ln w="12700" cap="flat"/>
        </p:spPr>
      </p:sp>
      <p:sp>
        <p:nvSpPr>
          <p:cNvPr id="45060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/>
            <a:fld id="{A93D156B-94D5-486A-AC9C-06BC418C4473}" type="slidenum">
              <a:rPr kumimoji="0" lang="en-US" altLang="zh-CN" sz="1200" b="0" smtClean="0">
                <a:solidFill>
                  <a:schemeClr val="tx1"/>
                </a:solidFill>
                <a:ea typeface="宋体" pitchFamily="2" charset="-122"/>
              </a:rPr>
              <a:pPr eaLnBrk="1" hangingPunct="1"/>
              <a:t>55</a:t>
            </a:fld>
            <a:endParaRPr kumimoji="0" lang="en-US" altLang="zh-CN" sz="12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45059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28838" y="1373188"/>
            <a:ext cx="3514725" cy="1978025"/>
          </a:xfrm>
          <a:solidFill>
            <a:srgbClr val="FFFFFF"/>
          </a:solidFill>
          <a:ln w="12700" cap="flat"/>
        </p:spPr>
      </p:sp>
      <p:sp>
        <p:nvSpPr>
          <p:cNvPr id="45060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941A3E1-9B29-4EC3-8654-927667BFF2EC}" type="slidenum">
              <a:rPr lang="zh-CN" altLang="en-US" smtClean="0"/>
              <a:pPr>
                <a:defRPr/>
              </a:pPr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77215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941A3E1-9B29-4EC3-8654-927667BFF2EC}" type="slidenum">
              <a:rPr lang="zh-CN" altLang="en-US" smtClean="0"/>
              <a:pPr>
                <a:defRPr/>
              </a:pPr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772157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/>
            <a:fld id="{3E008D4E-CB81-449D-85C3-FD6F972A3CD3}" type="slidenum">
              <a:rPr kumimoji="0" lang="en-US" altLang="zh-CN" sz="1200" b="0" smtClean="0">
                <a:solidFill>
                  <a:schemeClr val="tx1"/>
                </a:solidFill>
                <a:ea typeface="宋体" pitchFamily="2" charset="-122"/>
              </a:rPr>
              <a:pPr eaLnBrk="1" hangingPunct="1"/>
              <a:t>61</a:t>
            </a:fld>
            <a:endParaRPr kumimoji="0" lang="en-US" altLang="zh-CN" sz="12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28838" y="1373188"/>
            <a:ext cx="3514725" cy="1978025"/>
          </a:xfrm>
          <a:solidFill>
            <a:srgbClr val="FFFFFF"/>
          </a:solidFill>
          <a:ln w="12700" cap="flat"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/>
            <a:fld id="{3E008D4E-CB81-449D-85C3-FD6F972A3CD3}" type="slidenum">
              <a:rPr kumimoji="0" lang="en-US" altLang="zh-CN" sz="1200" b="0" smtClean="0">
                <a:solidFill>
                  <a:schemeClr val="tx1"/>
                </a:solidFill>
                <a:ea typeface="宋体" pitchFamily="2" charset="-122"/>
              </a:rPr>
              <a:pPr eaLnBrk="1" hangingPunct="1"/>
              <a:t>62</a:t>
            </a:fld>
            <a:endParaRPr kumimoji="0" lang="en-US" altLang="zh-CN" sz="12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28838" y="1373188"/>
            <a:ext cx="3514725" cy="1978025"/>
          </a:xfrm>
          <a:solidFill>
            <a:srgbClr val="FFFFFF"/>
          </a:solidFill>
          <a:ln w="12700" cap="flat"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/>
            <a:fld id="{3E008D4E-CB81-449D-85C3-FD6F972A3CD3}" type="slidenum">
              <a:rPr kumimoji="0" lang="en-US" altLang="zh-CN" sz="1200" b="0" smtClean="0">
                <a:solidFill>
                  <a:schemeClr val="tx1"/>
                </a:solidFill>
                <a:ea typeface="宋体" pitchFamily="2" charset="-122"/>
              </a:rPr>
              <a:pPr eaLnBrk="1" hangingPunct="1"/>
              <a:t>67</a:t>
            </a:fld>
            <a:endParaRPr kumimoji="0" lang="en-US" altLang="zh-CN" sz="12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28838" y="1373188"/>
            <a:ext cx="3514725" cy="1978025"/>
          </a:xfrm>
          <a:solidFill>
            <a:srgbClr val="FFFFFF"/>
          </a:solidFill>
          <a:ln w="12700" cap="flat"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/>
            <a:fld id="{3E008D4E-CB81-449D-85C3-FD6F972A3CD3}" type="slidenum">
              <a:rPr kumimoji="0" lang="en-US" altLang="zh-CN" sz="1200" b="0" smtClean="0">
                <a:solidFill>
                  <a:schemeClr val="tx1"/>
                </a:solidFill>
                <a:ea typeface="宋体" pitchFamily="2" charset="-122"/>
              </a:rPr>
              <a:pPr eaLnBrk="1" hangingPunct="1"/>
              <a:t>68</a:t>
            </a:fld>
            <a:endParaRPr kumimoji="0" lang="en-US" altLang="zh-CN" sz="12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28838" y="1373188"/>
            <a:ext cx="3514725" cy="1978025"/>
          </a:xfrm>
          <a:solidFill>
            <a:srgbClr val="FFFFFF"/>
          </a:solidFill>
          <a:ln w="12700" cap="flat"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/>
            <a:fld id="{3E008D4E-CB81-449D-85C3-FD6F972A3CD3}" type="slidenum">
              <a:rPr kumimoji="0" lang="en-US" altLang="zh-CN" sz="1200" b="0" smtClean="0">
                <a:solidFill>
                  <a:schemeClr val="tx1"/>
                </a:solidFill>
                <a:ea typeface="宋体" pitchFamily="2" charset="-122"/>
              </a:rPr>
              <a:pPr eaLnBrk="1" hangingPunct="1"/>
              <a:t>69</a:t>
            </a:fld>
            <a:endParaRPr kumimoji="0" lang="en-US" altLang="zh-CN" sz="12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28838" y="1373188"/>
            <a:ext cx="3514725" cy="1978025"/>
          </a:xfrm>
          <a:solidFill>
            <a:srgbClr val="FFFFFF"/>
          </a:solidFill>
          <a:ln w="12700" cap="flat"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/>
            <a:fld id="{3E008D4E-CB81-449D-85C3-FD6F972A3CD3}" type="slidenum">
              <a:rPr kumimoji="0" lang="en-US" altLang="zh-CN" sz="1200" b="0" smtClean="0">
                <a:solidFill>
                  <a:schemeClr val="tx1"/>
                </a:solidFill>
                <a:ea typeface="宋体" pitchFamily="2" charset="-122"/>
              </a:rPr>
              <a:pPr eaLnBrk="1" hangingPunct="1"/>
              <a:t>70</a:t>
            </a:fld>
            <a:endParaRPr kumimoji="0" lang="en-US" altLang="zh-CN" sz="12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28838" y="1373188"/>
            <a:ext cx="3514725" cy="1978025"/>
          </a:xfrm>
          <a:solidFill>
            <a:srgbClr val="FFFFFF"/>
          </a:solidFill>
          <a:ln w="12700" cap="flat"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03438070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/>
            <a:fld id="{06842A8A-23BF-46AA-991A-208A0DCA2D74}" type="slidenum">
              <a:rPr kumimoji="0" lang="en-US" altLang="zh-CN" sz="1200" b="0" smtClean="0">
                <a:solidFill>
                  <a:schemeClr val="tx1"/>
                </a:solidFill>
                <a:ea typeface="宋体" pitchFamily="2" charset="-122"/>
              </a:rPr>
              <a:pPr eaLnBrk="1" hangingPunct="1"/>
              <a:t>84</a:t>
            </a:fld>
            <a:endParaRPr kumimoji="0" lang="en-US" altLang="zh-CN" sz="12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28838" y="1373188"/>
            <a:ext cx="3514725" cy="1978025"/>
          </a:xfrm>
          <a:solidFill>
            <a:srgbClr val="FFFFFF"/>
          </a:solidFill>
          <a:ln w="12700" cap="flat"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/>
            <a:fld id="{09BF6AAC-1E91-4C81-A1C6-A1D80F61F4CD}" type="slidenum">
              <a:rPr kumimoji="0" lang="en-US" altLang="zh-CN" sz="1200" b="0" smtClean="0">
                <a:solidFill>
                  <a:schemeClr val="tx1"/>
                </a:solidFill>
                <a:ea typeface="宋体" pitchFamily="2" charset="-122"/>
              </a:rPr>
              <a:pPr eaLnBrk="1" hangingPunct="1"/>
              <a:t>87</a:t>
            </a:fld>
            <a:endParaRPr kumimoji="0" lang="en-US" altLang="zh-CN" sz="12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28838" y="1373188"/>
            <a:ext cx="3514725" cy="1978025"/>
          </a:xfrm>
          <a:solidFill>
            <a:srgbClr val="FFFFFF"/>
          </a:solidFill>
          <a:ln w="12700" cap="flat"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/>
            <a:fld id="{059D6396-A773-44DA-97E3-5E2391CCF9F0}" type="slidenum">
              <a:rPr kumimoji="0" lang="en-US" altLang="zh-CN" sz="1200" b="0" smtClean="0">
                <a:solidFill>
                  <a:schemeClr val="tx1"/>
                </a:solidFill>
                <a:ea typeface="宋体" pitchFamily="2" charset="-122"/>
              </a:rPr>
              <a:pPr eaLnBrk="1" hangingPunct="1"/>
              <a:t>92</a:t>
            </a:fld>
            <a:endParaRPr kumimoji="0" lang="en-US" altLang="zh-CN" sz="12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28838" y="1373188"/>
            <a:ext cx="3514725" cy="1978025"/>
          </a:xfrm>
          <a:solidFill>
            <a:srgbClr val="FFFFFF"/>
          </a:solidFill>
          <a:ln w="12700" cap="flat"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/>
            <a:fld id="{059D6396-A773-44DA-97E3-5E2391CCF9F0}" type="slidenum">
              <a:rPr kumimoji="0" lang="en-US" altLang="zh-CN" sz="1200" b="0" smtClean="0">
                <a:solidFill>
                  <a:schemeClr val="tx1"/>
                </a:solidFill>
                <a:ea typeface="宋体" pitchFamily="2" charset="-122"/>
              </a:rPr>
              <a:pPr eaLnBrk="1" hangingPunct="1"/>
              <a:t>93</a:t>
            </a:fld>
            <a:endParaRPr kumimoji="0" lang="en-US" altLang="zh-CN" sz="12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28838" y="1373188"/>
            <a:ext cx="3514725" cy="1978025"/>
          </a:xfrm>
          <a:solidFill>
            <a:srgbClr val="FFFFFF"/>
          </a:solidFill>
          <a:ln w="12700" cap="flat"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2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410575" y="4371950"/>
            <a:ext cx="733425" cy="285750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spcBef>
                <a:spcPct val="50000"/>
              </a:spcBef>
              <a:defRPr>
                <a:latin typeface="Arial" charset="0"/>
                <a:ea typeface="黑体" pitchFamily="49" charset="-122"/>
              </a:defRPr>
            </a:lvl1pPr>
          </a:lstStyle>
          <a:p>
            <a:pPr>
              <a:defRPr/>
            </a:pPr>
            <a:fld id="{C818942F-298D-4033-8946-4A0D694858D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38753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203598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8410575" y="4857750"/>
            <a:ext cx="733425" cy="285750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spcBef>
                <a:spcPct val="50000"/>
              </a:spcBef>
              <a:defRPr>
                <a:latin typeface="Arial" charset="0"/>
                <a:ea typeface="黑体" pitchFamily="49" charset="-122"/>
              </a:defRPr>
            </a:lvl1pPr>
          </a:lstStyle>
          <a:p>
            <a:pPr>
              <a:defRPr/>
            </a:pPr>
            <a:fld id="{447C270E-26C8-4352-BE21-3DBF4A2EC01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354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19"/>
          <p:cNvCxnSpPr>
            <a:cxnSpLocks noChangeShapeType="1"/>
          </p:cNvCxnSpPr>
          <p:nvPr userDrawn="1"/>
        </p:nvCxnSpPr>
        <p:spPr bwMode="auto">
          <a:xfrm>
            <a:off x="15875" y="987425"/>
            <a:ext cx="9128125" cy="0"/>
          </a:xfrm>
          <a:prstGeom prst="line">
            <a:avLst/>
          </a:prstGeom>
          <a:noFill/>
          <a:ln w="41275" algn="ctr">
            <a:solidFill>
              <a:srgbClr val="0066CC">
                <a:alpha val="63921"/>
              </a:srgb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8410575" y="4857750"/>
            <a:ext cx="733425" cy="285750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spcBef>
                <a:spcPct val="50000"/>
              </a:spcBef>
              <a:defRPr>
                <a:latin typeface="Arial" charset="0"/>
                <a:ea typeface="黑体" pitchFamily="49" charset="-122"/>
              </a:defRPr>
            </a:lvl1pPr>
          </a:lstStyle>
          <a:p>
            <a:pPr>
              <a:defRPr/>
            </a:pPr>
            <a:fld id="{F3E3E659-6539-43CD-ABC4-1D57CE364A2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3080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410575" y="4857750"/>
            <a:ext cx="733425" cy="285750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spcBef>
                <a:spcPct val="50000"/>
              </a:spcBef>
              <a:defRPr>
                <a:latin typeface="Arial" charset="0"/>
                <a:ea typeface="黑体" pitchFamily="49" charset="-122"/>
              </a:defRPr>
            </a:lvl1pPr>
          </a:lstStyle>
          <a:p>
            <a:pPr>
              <a:defRPr/>
            </a:pPr>
            <a:fld id="{7C02C8CA-49AF-425B-8FF2-8DEB0A63BFC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66756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410575" y="4857750"/>
            <a:ext cx="733425" cy="285750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spcBef>
                <a:spcPct val="50000"/>
              </a:spcBef>
              <a:defRPr>
                <a:latin typeface="Arial" charset="0"/>
                <a:ea typeface="黑体" pitchFamily="49" charset="-122"/>
              </a:defRPr>
            </a:lvl1pPr>
          </a:lstStyle>
          <a:p>
            <a:pPr>
              <a:defRPr/>
            </a:pPr>
            <a:fld id="{73F76AA1-66F1-43B9-8730-210D649B6D5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0797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410575" y="4857750"/>
            <a:ext cx="733425" cy="285750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spcBef>
                <a:spcPct val="50000"/>
              </a:spcBef>
              <a:defRPr>
                <a:latin typeface="Arial" charset="0"/>
                <a:ea typeface="黑体" pitchFamily="49" charset="-122"/>
              </a:defRPr>
            </a:lvl1pPr>
          </a:lstStyle>
          <a:p>
            <a:pPr>
              <a:defRPr/>
            </a:pPr>
            <a:fld id="{FEAF7DD6-D0D6-4FED-8A7A-3A22149F093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672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410575" y="4857750"/>
            <a:ext cx="733425" cy="285750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spcBef>
                <a:spcPct val="50000"/>
              </a:spcBef>
              <a:defRPr>
                <a:latin typeface="Arial" charset="0"/>
                <a:ea typeface="黑体" pitchFamily="49" charset="-122"/>
              </a:defRPr>
            </a:lvl1pPr>
          </a:lstStyle>
          <a:p>
            <a:pPr>
              <a:defRPr/>
            </a:pPr>
            <a:fld id="{0ED98EDB-330F-4C41-A086-4A6179202AE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2579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410575" y="4857750"/>
            <a:ext cx="733425" cy="285750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spcBef>
                <a:spcPct val="50000"/>
              </a:spcBef>
              <a:defRPr>
                <a:latin typeface="Arial" charset="0"/>
                <a:ea typeface="黑体" pitchFamily="49" charset="-122"/>
              </a:defRPr>
            </a:lvl1pPr>
          </a:lstStyle>
          <a:p>
            <a:pPr>
              <a:defRPr/>
            </a:pPr>
            <a:fld id="{8126BC2F-23DE-4FA4-92CE-A7105BEFF88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70831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410575" y="4857750"/>
            <a:ext cx="733425" cy="285750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spcBef>
                <a:spcPct val="50000"/>
              </a:spcBef>
              <a:defRPr>
                <a:latin typeface="Arial" charset="0"/>
                <a:ea typeface="黑体" pitchFamily="49" charset="-122"/>
              </a:defRPr>
            </a:lvl1pPr>
          </a:lstStyle>
          <a:p>
            <a:pPr>
              <a:defRPr/>
            </a:pPr>
            <a:fld id="{D88CFF81-560E-4EE0-830B-9B8D21BFB26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0282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410575" y="4857750"/>
            <a:ext cx="733425" cy="285750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spcBef>
                <a:spcPct val="50000"/>
              </a:spcBef>
              <a:defRPr>
                <a:latin typeface="Arial" charset="0"/>
                <a:ea typeface="黑体" pitchFamily="49" charset="-122"/>
              </a:defRPr>
            </a:lvl1pPr>
          </a:lstStyle>
          <a:p>
            <a:pPr>
              <a:defRPr/>
            </a:pPr>
            <a:fld id="{FB4E9B08-6F99-4749-8432-C814F3E4ADC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1705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410575" y="4857750"/>
            <a:ext cx="733425" cy="285750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spcBef>
                <a:spcPct val="50000"/>
              </a:spcBef>
              <a:defRPr>
                <a:latin typeface="Arial" charset="0"/>
                <a:ea typeface="黑体" pitchFamily="49" charset="-122"/>
              </a:defRPr>
            </a:lvl1pPr>
          </a:lstStyle>
          <a:p>
            <a:pPr>
              <a:defRPr/>
            </a:pPr>
            <a:fld id="{8561DC08-BE6F-461F-8D96-2CB5C8B3DC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20794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745FD9-2A9F-4ADC-AC9B-CCE7FF1D7DA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3701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" Target="../slides/slid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15"/>
          <p:cNvSpPr>
            <a:spLocks noChangeShapeType="1"/>
          </p:cNvSpPr>
          <p:nvPr/>
        </p:nvSpPr>
        <p:spPr bwMode="auto">
          <a:xfrm>
            <a:off x="0" y="0"/>
            <a:ext cx="9144000" cy="0"/>
          </a:xfrm>
          <a:prstGeom prst="line">
            <a:avLst/>
          </a:prstGeom>
          <a:noFill/>
          <a:ln w="101600">
            <a:solidFill>
              <a:srgbClr val="7FB8D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029" name="Text Box 17"/>
          <p:cNvSpPr txBox="1">
            <a:spLocks noChangeArrowheads="1"/>
          </p:cNvSpPr>
          <p:nvPr/>
        </p:nvSpPr>
        <p:spPr bwMode="auto">
          <a:xfrm>
            <a:off x="-15875" y="0"/>
            <a:ext cx="92075" cy="6813550"/>
          </a:xfrm>
          <a:prstGeom prst="rect">
            <a:avLst/>
          </a:prstGeom>
          <a:gradFill rotWithShape="0">
            <a:gsLst>
              <a:gs pos="0">
                <a:srgbClr val="7FB8DA"/>
              </a:gs>
              <a:gs pos="100000">
                <a:srgbClr val="4E2E96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50000"/>
              </a:spcBef>
              <a:defRPr/>
            </a:pPr>
            <a:endParaRPr kumimoji="0" lang="en-US" altLang="zh-CN">
              <a:solidFill>
                <a:schemeClr val="tx1"/>
              </a:solidFill>
              <a:ea typeface="楷体_GB2312" pitchFamily="49" charset="-122"/>
            </a:endParaRPr>
          </a:p>
          <a:p>
            <a:pPr algn="ctr" eaLnBrk="1" hangingPunct="1">
              <a:lnSpc>
                <a:spcPct val="120000"/>
              </a:lnSpc>
              <a:spcBef>
                <a:spcPct val="50000"/>
              </a:spcBef>
              <a:defRPr/>
            </a:pPr>
            <a:endParaRPr kumimoji="0" lang="en-US" altLang="zh-CN">
              <a:solidFill>
                <a:schemeClr val="tx1"/>
              </a:solidFill>
              <a:ea typeface="楷体_GB2312" pitchFamily="49" charset="-122"/>
            </a:endParaRPr>
          </a:p>
          <a:p>
            <a:pPr algn="ctr" eaLnBrk="1" hangingPunct="1">
              <a:lnSpc>
                <a:spcPct val="120000"/>
              </a:lnSpc>
              <a:spcBef>
                <a:spcPct val="50000"/>
              </a:spcBef>
              <a:defRPr/>
            </a:pPr>
            <a:endParaRPr kumimoji="0" lang="en-US" altLang="zh-CN">
              <a:solidFill>
                <a:schemeClr val="tx1"/>
              </a:solidFill>
              <a:ea typeface="楷体_GB2312" pitchFamily="49" charset="-122"/>
            </a:endParaRPr>
          </a:p>
          <a:p>
            <a:pPr algn="ctr" eaLnBrk="1" hangingPunct="1">
              <a:lnSpc>
                <a:spcPct val="120000"/>
              </a:lnSpc>
              <a:spcBef>
                <a:spcPct val="50000"/>
              </a:spcBef>
              <a:defRPr/>
            </a:pPr>
            <a:endParaRPr kumimoji="0" lang="en-US" altLang="zh-CN">
              <a:solidFill>
                <a:schemeClr val="tx1"/>
              </a:solidFill>
              <a:ea typeface="楷体_GB2312" pitchFamily="49" charset="-122"/>
            </a:endParaRPr>
          </a:p>
          <a:p>
            <a:pPr algn="ctr" eaLnBrk="1" hangingPunct="1">
              <a:lnSpc>
                <a:spcPct val="120000"/>
              </a:lnSpc>
              <a:spcBef>
                <a:spcPct val="50000"/>
              </a:spcBef>
              <a:defRPr/>
            </a:pPr>
            <a:endParaRPr kumimoji="0" lang="en-US" altLang="zh-CN">
              <a:solidFill>
                <a:schemeClr val="tx1"/>
              </a:solidFill>
              <a:ea typeface="楷体_GB2312" pitchFamily="49" charset="-122"/>
            </a:endParaRPr>
          </a:p>
          <a:p>
            <a:pPr algn="ctr" eaLnBrk="1" hangingPunct="1">
              <a:lnSpc>
                <a:spcPct val="120000"/>
              </a:lnSpc>
              <a:spcBef>
                <a:spcPct val="50000"/>
              </a:spcBef>
              <a:defRPr/>
            </a:pPr>
            <a:endParaRPr kumimoji="0" lang="en-US" altLang="zh-CN">
              <a:solidFill>
                <a:schemeClr val="tx1"/>
              </a:solidFill>
              <a:ea typeface="楷体_GB2312" pitchFamily="49" charset="-122"/>
            </a:endParaRPr>
          </a:p>
          <a:p>
            <a:pPr algn="ctr" eaLnBrk="1" hangingPunct="1">
              <a:lnSpc>
                <a:spcPct val="120000"/>
              </a:lnSpc>
              <a:spcBef>
                <a:spcPct val="50000"/>
              </a:spcBef>
              <a:defRPr/>
            </a:pPr>
            <a:endParaRPr kumimoji="0" lang="en-US" altLang="zh-CN">
              <a:solidFill>
                <a:schemeClr val="tx1"/>
              </a:solidFill>
              <a:ea typeface="楷体_GB2312" pitchFamily="49" charset="-122"/>
            </a:endParaRPr>
          </a:p>
          <a:p>
            <a:pPr algn="ctr" eaLnBrk="1" hangingPunct="1">
              <a:lnSpc>
                <a:spcPct val="120000"/>
              </a:lnSpc>
              <a:spcBef>
                <a:spcPct val="50000"/>
              </a:spcBef>
              <a:defRPr/>
            </a:pPr>
            <a:endParaRPr kumimoji="0" lang="en-US" altLang="zh-CN">
              <a:solidFill>
                <a:schemeClr val="tx1"/>
              </a:solidFill>
              <a:ea typeface="楷体_GB2312" pitchFamily="49" charset="-122"/>
            </a:endParaRPr>
          </a:p>
          <a:p>
            <a:pPr algn="ctr" eaLnBrk="1" hangingPunct="1">
              <a:lnSpc>
                <a:spcPct val="120000"/>
              </a:lnSpc>
              <a:spcBef>
                <a:spcPct val="50000"/>
              </a:spcBef>
              <a:defRPr/>
            </a:pPr>
            <a:endParaRPr kumimoji="0" lang="en-US" altLang="zh-CN">
              <a:solidFill>
                <a:schemeClr val="tx1"/>
              </a:solidFill>
              <a:ea typeface="楷体_GB2312" pitchFamily="49" charset="-122"/>
            </a:endParaRPr>
          </a:p>
          <a:p>
            <a:pPr algn="ctr" eaLnBrk="1" hangingPunct="1">
              <a:lnSpc>
                <a:spcPct val="120000"/>
              </a:lnSpc>
              <a:spcBef>
                <a:spcPct val="50000"/>
              </a:spcBef>
              <a:defRPr/>
            </a:pPr>
            <a:endParaRPr kumimoji="0" lang="en-US" altLang="zh-CN">
              <a:solidFill>
                <a:schemeClr val="tx1"/>
              </a:solidFill>
              <a:ea typeface="楷体_GB2312" pitchFamily="49" charset="-122"/>
            </a:endParaRPr>
          </a:p>
          <a:p>
            <a:pPr algn="ctr" eaLnBrk="1" hangingPunct="1">
              <a:lnSpc>
                <a:spcPct val="120000"/>
              </a:lnSpc>
              <a:spcBef>
                <a:spcPct val="50000"/>
              </a:spcBef>
              <a:defRPr/>
            </a:pPr>
            <a:endParaRPr kumimoji="0" lang="en-US" altLang="zh-CN">
              <a:solidFill>
                <a:schemeClr val="tx1"/>
              </a:solidFill>
              <a:ea typeface="楷体_GB2312" pitchFamily="49" charset="-122"/>
            </a:endParaRPr>
          </a:p>
        </p:txBody>
      </p:sp>
      <p:sp>
        <p:nvSpPr>
          <p:cNvPr id="1030" name="Text Box 18"/>
          <p:cNvSpPr txBox="1">
            <a:spLocks noChangeArrowheads="1"/>
          </p:cNvSpPr>
          <p:nvPr/>
        </p:nvSpPr>
        <p:spPr bwMode="auto">
          <a:xfrm>
            <a:off x="9144000" y="0"/>
            <a:ext cx="76200" cy="6813550"/>
          </a:xfrm>
          <a:prstGeom prst="rect">
            <a:avLst/>
          </a:prstGeom>
          <a:gradFill rotWithShape="0">
            <a:gsLst>
              <a:gs pos="0">
                <a:srgbClr val="7FB8DA"/>
              </a:gs>
              <a:gs pos="100000">
                <a:srgbClr val="006EB2"/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50000"/>
              </a:spcBef>
              <a:defRPr/>
            </a:pPr>
            <a:endParaRPr kumimoji="0" lang="en-US" altLang="zh-CN">
              <a:solidFill>
                <a:schemeClr val="tx1"/>
              </a:solidFill>
              <a:ea typeface="楷体_GB2312" pitchFamily="49" charset="-122"/>
            </a:endParaRPr>
          </a:p>
          <a:p>
            <a:pPr algn="ctr" eaLnBrk="1" hangingPunct="1">
              <a:lnSpc>
                <a:spcPct val="120000"/>
              </a:lnSpc>
              <a:spcBef>
                <a:spcPct val="50000"/>
              </a:spcBef>
              <a:defRPr/>
            </a:pPr>
            <a:endParaRPr kumimoji="0" lang="en-US" altLang="zh-CN">
              <a:solidFill>
                <a:schemeClr val="tx1"/>
              </a:solidFill>
              <a:ea typeface="楷体_GB2312" pitchFamily="49" charset="-122"/>
            </a:endParaRPr>
          </a:p>
          <a:p>
            <a:pPr algn="ctr" eaLnBrk="1" hangingPunct="1">
              <a:lnSpc>
                <a:spcPct val="120000"/>
              </a:lnSpc>
              <a:spcBef>
                <a:spcPct val="50000"/>
              </a:spcBef>
              <a:defRPr/>
            </a:pPr>
            <a:endParaRPr kumimoji="0" lang="en-US" altLang="zh-CN">
              <a:solidFill>
                <a:schemeClr val="tx1"/>
              </a:solidFill>
              <a:ea typeface="楷体_GB2312" pitchFamily="49" charset="-122"/>
            </a:endParaRPr>
          </a:p>
          <a:p>
            <a:pPr algn="ctr" eaLnBrk="1" hangingPunct="1">
              <a:lnSpc>
                <a:spcPct val="120000"/>
              </a:lnSpc>
              <a:spcBef>
                <a:spcPct val="50000"/>
              </a:spcBef>
              <a:defRPr/>
            </a:pPr>
            <a:endParaRPr kumimoji="0" lang="en-US" altLang="zh-CN">
              <a:solidFill>
                <a:schemeClr val="tx1"/>
              </a:solidFill>
              <a:ea typeface="楷体_GB2312" pitchFamily="49" charset="-122"/>
            </a:endParaRPr>
          </a:p>
          <a:p>
            <a:pPr algn="ctr" eaLnBrk="1" hangingPunct="1">
              <a:lnSpc>
                <a:spcPct val="120000"/>
              </a:lnSpc>
              <a:spcBef>
                <a:spcPct val="50000"/>
              </a:spcBef>
              <a:defRPr/>
            </a:pPr>
            <a:endParaRPr kumimoji="0" lang="en-US" altLang="zh-CN">
              <a:solidFill>
                <a:schemeClr val="tx1"/>
              </a:solidFill>
              <a:ea typeface="楷体_GB2312" pitchFamily="49" charset="-122"/>
            </a:endParaRPr>
          </a:p>
          <a:p>
            <a:pPr algn="ctr" eaLnBrk="1" hangingPunct="1">
              <a:lnSpc>
                <a:spcPct val="120000"/>
              </a:lnSpc>
              <a:spcBef>
                <a:spcPct val="50000"/>
              </a:spcBef>
              <a:defRPr/>
            </a:pPr>
            <a:endParaRPr kumimoji="0" lang="en-US" altLang="zh-CN">
              <a:solidFill>
                <a:schemeClr val="tx1"/>
              </a:solidFill>
              <a:ea typeface="楷体_GB2312" pitchFamily="49" charset="-122"/>
            </a:endParaRPr>
          </a:p>
          <a:p>
            <a:pPr algn="ctr" eaLnBrk="1" hangingPunct="1">
              <a:lnSpc>
                <a:spcPct val="120000"/>
              </a:lnSpc>
              <a:spcBef>
                <a:spcPct val="50000"/>
              </a:spcBef>
              <a:defRPr/>
            </a:pPr>
            <a:endParaRPr kumimoji="0" lang="en-US" altLang="zh-CN">
              <a:solidFill>
                <a:schemeClr val="tx1"/>
              </a:solidFill>
              <a:ea typeface="楷体_GB2312" pitchFamily="49" charset="-122"/>
            </a:endParaRPr>
          </a:p>
          <a:p>
            <a:pPr algn="ctr" eaLnBrk="1" hangingPunct="1">
              <a:lnSpc>
                <a:spcPct val="120000"/>
              </a:lnSpc>
              <a:spcBef>
                <a:spcPct val="50000"/>
              </a:spcBef>
              <a:defRPr/>
            </a:pPr>
            <a:endParaRPr kumimoji="0" lang="en-US" altLang="zh-CN">
              <a:solidFill>
                <a:schemeClr val="tx1"/>
              </a:solidFill>
              <a:ea typeface="楷体_GB2312" pitchFamily="49" charset="-122"/>
            </a:endParaRPr>
          </a:p>
          <a:p>
            <a:pPr algn="ctr" eaLnBrk="1" hangingPunct="1">
              <a:lnSpc>
                <a:spcPct val="120000"/>
              </a:lnSpc>
              <a:spcBef>
                <a:spcPct val="50000"/>
              </a:spcBef>
              <a:defRPr/>
            </a:pPr>
            <a:endParaRPr kumimoji="0" lang="en-US" altLang="zh-CN">
              <a:solidFill>
                <a:schemeClr val="tx1"/>
              </a:solidFill>
              <a:ea typeface="楷体_GB2312" pitchFamily="49" charset="-122"/>
            </a:endParaRPr>
          </a:p>
          <a:p>
            <a:pPr algn="ctr" eaLnBrk="1" hangingPunct="1">
              <a:lnSpc>
                <a:spcPct val="120000"/>
              </a:lnSpc>
              <a:spcBef>
                <a:spcPct val="50000"/>
              </a:spcBef>
              <a:defRPr/>
            </a:pPr>
            <a:endParaRPr kumimoji="0" lang="en-US" altLang="zh-CN">
              <a:solidFill>
                <a:schemeClr val="tx1"/>
              </a:solidFill>
              <a:ea typeface="楷体_GB2312" pitchFamily="49" charset="-122"/>
            </a:endParaRPr>
          </a:p>
          <a:p>
            <a:pPr algn="ctr" eaLnBrk="1" hangingPunct="1">
              <a:lnSpc>
                <a:spcPct val="120000"/>
              </a:lnSpc>
              <a:spcBef>
                <a:spcPct val="50000"/>
              </a:spcBef>
              <a:defRPr/>
            </a:pPr>
            <a:endParaRPr kumimoji="0" lang="en-US" altLang="zh-CN">
              <a:solidFill>
                <a:schemeClr val="tx1"/>
              </a:solidFill>
              <a:ea typeface="楷体_GB2312" pitchFamily="49" charset="-122"/>
            </a:endParaRPr>
          </a:p>
        </p:txBody>
      </p:sp>
      <p:sp>
        <p:nvSpPr>
          <p:cNvPr id="2" name="Line 20"/>
          <p:cNvSpPr>
            <a:spLocks noChangeShapeType="1"/>
          </p:cNvSpPr>
          <p:nvPr/>
        </p:nvSpPr>
        <p:spPr bwMode="auto">
          <a:xfrm rot="180000">
            <a:off x="5562600" y="4857750"/>
            <a:ext cx="457200" cy="285750"/>
          </a:xfrm>
          <a:prstGeom prst="line">
            <a:avLst/>
          </a:prstGeom>
          <a:noFill/>
          <a:ln w="5715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" name="Line 33"/>
          <p:cNvSpPr>
            <a:spLocks noChangeShapeType="1"/>
          </p:cNvSpPr>
          <p:nvPr/>
        </p:nvSpPr>
        <p:spPr bwMode="auto">
          <a:xfrm rot="180000">
            <a:off x="6705600" y="4857750"/>
            <a:ext cx="457200" cy="285750"/>
          </a:xfrm>
          <a:prstGeom prst="line">
            <a:avLst/>
          </a:prstGeom>
          <a:noFill/>
          <a:ln w="5715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031" name="Line 34"/>
          <p:cNvSpPr>
            <a:spLocks noChangeShapeType="1"/>
          </p:cNvSpPr>
          <p:nvPr/>
        </p:nvSpPr>
        <p:spPr bwMode="auto">
          <a:xfrm rot="180000">
            <a:off x="7467600" y="4857750"/>
            <a:ext cx="457200" cy="285750"/>
          </a:xfrm>
          <a:prstGeom prst="line">
            <a:avLst/>
          </a:prstGeom>
          <a:noFill/>
          <a:ln w="5715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032" name="Line 35"/>
          <p:cNvSpPr>
            <a:spLocks noChangeShapeType="1"/>
          </p:cNvSpPr>
          <p:nvPr/>
        </p:nvSpPr>
        <p:spPr bwMode="auto">
          <a:xfrm rot="180000">
            <a:off x="8153400" y="4857750"/>
            <a:ext cx="457200" cy="285750"/>
          </a:xfrm>
          <a:prstGeom prst="line">
            <a:avLst/>
          </a:prstGeom>
          <a:noFill/>
          <a:ln w="5715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1033" name="Group 36"/>
          <p:cNvGrpSpPr>
            <a:grpSpLocks/>
          </p:cNvGrpSpPr>
          <p:nvPr/>
        </p:nvGrpSpPr>
        <p:grpSpPr bwMode="auto">
          <a:xfrm>
            <a:off x="12700" y="4611688"/>
            <a:ext cx="9167813" cy="614362"/>
            <a:chOff x="-78" y="3937"/>
            <a:chExt cx="5902" cy="518"/>
          </a:xfrm>
        </p:grpSpPr>
        <p:sp>
          <p:nvSpPr>
            <p:cNvPr id="1034" name="Line 14"/>
            <p:cNvSpPr>
              <a:spLocks noChangeShapeType="1"/>
            </p:cNvSpPr>
            <p:nvPr userDrawn="1"/>
          </p:nvSpPr>
          <p:spPr bwMode="auto">
            <a:xfrm>
              <a:off x="2784" y="4320"/>
              <a:ext cx="2976" cy="0"/>
            </a:xfrm>
            <a:prstGeom prst="line">
              <a:avLst/>
            </a:prstGeom>
            <a:noFill/>
            <a:ln w="203200">
              <a:solidFill>
                <a:srgbClr val="006EB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035" name="Line 13"/>
            <p:cNvSpPr>
              <a:spLocks noChangeShapeType="1"/>
            </p:cNvSpPr>
            <p:nvPr userDrawn="1"/>
          </p:nvSpPr>
          <p:spPr bwMode="auto">
            <a:xfrm>
              <a:off x="2704" y="4176"/>
              <a:ext cx="3120" cy="0"/>
            </a:xfrm>
            <a:prstGeom prst="line">
              <a:avLst/>
            </a:prstGeom>
            <a:noFill/>
            <a:ln w="254000">
              <a:solidFill>
                <a:srgbClr val="7FB8D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2" name="Text Box 12"/>
            <p:cNvSpPr txBox="1">
              <a:spLocks noChangeArrowheads="1"/>
            </p:cNvSpPr>
            <p:nvPr userDrawn="1"/>
          </p:nvSpPr>
          <p:spPr bwMode="auto">
            <a:xfrm>
              <a:off x="-78" y="3950"/>
              <a:ext cx="3538" cy="414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50000"/>
                </a:spcBef>
                <a:defRPr/>
              </a:pPr>
              <a:r>
                <a:rPr lang="en-US" altLang="zh-CN" dirty="0">
                  <a:solidFill>
                    <a:schemeClr val="bg1"/>
                  </a:solidFill>
                </a:rPr>
                <a:t>  Python</a:t>
              </a:r>
              <a:r>
                <a:rPr lang="zh-CN" altLang="en-US" dirty="0">
                  <a:solidFill>
                    <a:schemeClr val="bg1"/>
                  </a:solidFill>
                  <a:latin typeface="方正姚体" panose="02010601030101010101" pitchFamily="2" charset="-122"/>
                  <a:ea typeface="方正姚体" panose="02010601030101010101" pitchFamily="2" charset="-122"/>
                </a:rPr>
                <a:t>程序设计</a:t>
              </a:r>
            </a:p>
          </p:txBody>
        </p:sp>
        <p:pic>
          <p:nvPicPr>
            <p:cNvPr id="1037" name="Picture 28" descr="XXTongji-1907反色透明">
              <a:hlinkClick r:id="rId14" action="ppaction://hlinksldjump"/>
            </p:cNvPr>
            <p:cNvPicPr>
              <a:picLocks noChangeAspect="1" noChangeArrowheads="1"/>
            </p:cNvPicPr>
            <p:nvPr userDrawn="1"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83" y="3937"/>
              <a:ext cx="445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1" r:id="rId1"/>
    <p:sldLayoutId id="2147484092" r:id="rId2"/>
    <p:sldLayoutId id="2147484093" r:id="rId3"/>
    <p:sldLayoutId id="2147484094" r:id="rId4"/>
    <p:sldLayoutId id="2147484095" r:id="rId5"/>
    <p:sldLayoutId id="2147484096" r:id="rId6"/>
    <p:sldLayoutId id="2147484097" r:id="rId7"/>
    <p:sldLayoutId id="2147484098" r:id="rId8"/>
    <p:sldLayoutId id="2147484099" r:id="rId9"/>
    <p:sldLayoutId id="2147484100" r:id="rId10"/>
    <p:sldLayoutId id="2147484101" r:id="rId11"/>
    <p:sldLayoutId id="2147484102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2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9.w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9.w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9.w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5.wmf"/><Relationship Id="rId4" Type="http://schemas.openxmlformats.org/officeDocument/2006/relationships/oleObject" Target="../embeddings/oleObject5.bin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notesSlide" Target="../notesSlides/notesSlide32.xml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8.wmf"/><Relationship Id="rId11" Type="http://schemas.openxmlformats.org/officeDocument/2006/relationships/image" Target="../media/image30.wmf"/><Relationship Id="rId5" Type="http://schemas.openxmlformats.org/officeDocument/2006/relationships/oleObject" Target="../embeddings/oleObject6.bin"/><Relationship Id="rId10" Type="http://schemas.openxmlformats.org/officeDocument/2006/relationships/oleObject" Target="../embeddings/oleObject8.bin"/><Relationship Id="rId4" Type="http://schemas.openxmlformats.org/officeDocument/2006/relationships/image" Target="../media/image31.wmf"/><Relationship Id="rId9" Type="http://schemas.openxmlformats.org/officeDocument/2006/relationships/image" Target="../media/image32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.wmf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4915" name="Text Box 3"/>
          <p:cNvSpPr txBox="1">
            <a:spLocks noChangeArrowheads="1"/>
          </p:cNvSpPr>
          <p:nvPr/>
        </p:nvSpPr>
        <p:spPr bwMode="auto">
          <a:xfrm>
            <a:off x="20429" y="1563638"/>
            <a:ext cx="8424863" cy="29245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61" tIns="46031" rIns="92061" bIns="46031">
            <a:spAutoFit/>
          </a:bodyPr>
          <a:lstStyle>
            <a:lvl1pPr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defTabSz="6397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defTabSz="6397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defTabSz="6397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defTabSz="6397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sz="400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400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400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400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章结构化程序设计</a:t>
            </a:r>
            <a:endParaRPr lang="en-US" altLang="zh-CN" sz="4000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algn="ctr" eaLnBrk="1" hangingPunct="1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sz="400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400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顺序、选择、循环</a:t>
            </a:r>
            <a:endParaRPr lang="en-US" altLang="zh-CN" sz="4000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algn="ctr" eaLnBrk="1" hangingPunct="1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sz="400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400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学时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323528" y="627534"/>
            <a:ext cx="7807325" cy="7085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61" tIns="46031" rIns="92061" bIns="46031">
            <a:spAutoFit/>
          </a:bodyPr>
          <a:lstStyle>
            <a:lvl1pPr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defTabSz="6397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defTabSz="6397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defTabSz="6397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defTabSz="6397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400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3.1 </a:t>
            </a:r>
            <a:r>
              <a:rPr lang="zh-CN" altLang="en-US" sz="360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微软雅黑" pitchFamily="34" charset="-122"/>
                <a:cs typeface="Courier New" pitchFamily="49" charset="0"/>
              </a:rPr>
              <a:t>顺序结构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7545" y="1635646"/>
            <a:ext cx="597666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zh-CN" altLang="en-US" sz="20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按语句出现的次序依次执行。</a:t>
            </a:r>
            <a:endParaRPr lang="en-US" altLang="zh-CN" sz="2000" b="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1200"/>
              </a:spcBef>
            </a:pPr>
            <a:r>
              <a:rPr lang="en-US" altLang="zh-CN" sz="20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Python</a:t>
            </a:r>
            <a:r>
              <a:rPr lang="zh-CN" altLang="zh-CN" sz="20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的</a:t>
            </a:r>
            <a:r>
              <a:rPr lang="en-US" altLang="zh-CN" sz="20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IDLE</a:t>
            </a:r>
            <a:r>
              <a:rPr lang="zh-CN" altLang="zh-CN" sz="20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交互状态下执行的程序实质就是顺序结构</a:t>
            </a:r>
            <a:r>
              <a:rPr lang="zh-CN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。</a:t>
            </a:r>
            <a:endParaRPr lang="en-US" altLang="zh-CN" sz="1800" b="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228184" y="1491630"/>
          <a:ext cx="3156992" cy="23425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05" name="Picture" r:id="rId4" imgW="2080595" imgH="1083639" progId="Word.Picture.8">
                  <p:embed/>
                </p:oleObj>
              </mc:Choice>
              <mc:Fallback>
                <p:oleObj name="Picture" r:id="rId4" imgW="2080595" imgH="1083639" progId="Word.Picture.8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5382" r="15280"/>
                      <a:stretch>
                        <a:fillRect/>
                      </a:stretch>
                    </p:blipFill>
                    <p:spPr bwMode="auto">
                      <a:xfrm>
                        <a:off x="6228184" y="1491630"/>
                        <a:ext cx="3156992" cy="234259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49348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44" name="TextBox 1"/>
          <p:cNvSpPr txBox="1">
            <a:spLocks noChangeArrowheads="1"/>
          </p:cNvSpPr>
          <p:nvPr/>
        </p:nvSpPr>
        <p:spPr bwMode="auto">
          <a:xfrm>
            <a:off x="231861" y="169863"/>
            <a:ext cx="44275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dirty="0"/>
              <a:t>1.</a:t>
            </a:r>
            <a:r>
              <a:rPr lang="zh-CN" altLang="en-US" dirty="0"/>
              <a:t>引例</a:t>
            </a:r>
            <a:r>
              <a:rPr lang="en-US" altLang="zh-CN" dirty="0"/>
              <a:t>—</a:t>
            </a:r>
            <a:r>
              <a:rPr lang="zh-CN" altLang="zh-CN" dirty="0"/>
              <a:t>温度转换</a:t>
            </a:r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58362" y="3075806"/>
            <a:ext cx="8456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程序运行出现错误信息：</a:t>
            </a:r>
            <a:r>
              <a:rPr lang="en-US" altLang="zh-CN" sz="18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</a:t>
            </a:r>
            <a:endParaRPr lang="zh-CN" altLang="en-US" sz="1800" b="0" dirty="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9113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3" y="487554"/>
            <a:ext cx="1400175" cy="1057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" name="AutoShape 44"/>
          <p:cNvSpPr>
            <a:spLocks noChangeArrowheads="1"/>
          </p:cNvSpPr>
          <p:nvPr/>
        </p:nvSpPr>
        <p:spPr bwMode="gray">
          <a:xfrm>
            <a:off x="298292" y="1748538"/>
            <a:ext cx="8748713" cy="1050212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600"/>
              </a:spcBef>
            </a:pP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f=9/5*c+32					#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语句①</a:t>
            </a:r>
          </a:p>
          <a:p>
            <a:pPr>
              <a:spcBef>
                <a:spcPts val="600"/>
              </a:spcBef>
            </a:pP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c=</a:t>
            </a:r>
            <a:r>
              <a:rPr lang="en-US" altLang="zh-CN" sz="1600" dirty="0" err="1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(input("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输入摄氏温度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"))			#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语句②</a:t>
            </a:r>
          </a:p>
          <a:p>
            <a:pPr>
              <a:spcBef>
                <a:spcPts val="600"/>
              </a:spcBef>
            </a:pP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print("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摄氏温度：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%d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转换为华氏温度：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%.2f"%(</a:t>
            </a:r>
            <a:r>
              <a:rPr lang="en-US" altLang="zh-CN" sz="1600" dirty="0" err="1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c,f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))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80546" y="898498"/>
            <a:ext cx="8456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【例</a:t>
            </a: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3.1</a:t>
            </a: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】华氏温度与摄氏温度之间转换。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转换公式：</a:t>
            </a:r>
            <a:endParaRPr lang="en-US" altLang="zh-CN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</a:t>
            </a:r>
            <a:endParaRPr lang="zh-CN" altLang="en-US" sz="1800" b="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pic>
        <p:nvPicPr>
          <p:cNvPr id="9114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2933854"/>
            <a:ext cx="3810000" cy="151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05954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40" name="矩形 2"/>
          <p:cNvSpPr>
            <a:spLocks noChangeArrowheads="1"/>
          </p:cNvSpPr>
          <p:nvPr/>
        </p:nvSpPr>
        <p:spPr bwMode="auto">
          <a:xfrm>
            <a:off x="3059832" y="1871965"/>
            <a:ext cx="2051843" cy="2188800"/>
          </a:xfrm>
          <a:prstGeom prst="rect">
            <a:avLst/>
          </a:prstGeom>
          <a:noFill/>
          <a:ln w="9525" algn="ctr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>
            <a:spAutoFit/>
          </a:bodyPr>
          <a:lstStyle/>
          <a:p>
            <a:endParaRPr lang="zh-CN" altLang="en-US" sz="1600"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65541" name="TextBox 7"/>
          <p:cNvSpPr txBox="1">
            <a:spLocks noChangeArrowheads="1"/>
          </p:cNvSpPr>
          <p:nvPr/>
        </p:nvSpPr>
        <p:spPr bwMode="auto">
          <a:xfrm>
            <a:off x="3306858" y="2673431"/>
            <a:ext cx="1584325" cy="387798"/>
          </a:xfrm>
          <a:prstGeom prst="rect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algn="ctr" eaLnBrk="1" hangingPunct="1"/>
            <a:r>
              <a:rPr lang="zh-CN" altLang="en-US" sz="16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计算等处理</a:t>
            </a:r>
          </a:p>
        </p:txBody>
      </p:sp>
      <p:cxnSp>
        <p:nvCxnSpPr>
          <p:cNvPr id="65543" name="直接连接符 2"/>
          <p:cNvCxnSpPr>
            <a:cxnSpLocks noChangeShapeType="1"/>
          </p:cNvCxnSpPr>
          <p:nvPr/>
        </p:nvCxnSpPr>
        <p:spPr bwMode="auto">
          <a:xfrm flipH="1">
            <a:off x="4770011" y="2255788"/>
            <a:ext cx="489600" cy="0"/>
          </a:xfrm>
          <a:prstGeom prst="line">
            <a:avLst/>
          </a:prstGeom>
          <a:noFill/>
          <a:ln w="31750" algn="ctr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65544" name="矩形 6"/>
          <p:cNvSpPr>
            <a:spLocks noChangeArrowheads="1"/>
          </p:cNvSpPr>
          <p:nvPr/>
        </p:nvSpPr>
        <p:spPr bwMode="auto">
          <a:xfrm>
            <a:off x="4932040" y="2089180"/>
            <a:ext cx="230425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Input()</a:t>
            </a:r>
            <a:r>
              <a:rPr lang="zh-CN" altLang="en-US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函数</a:t>
            </a:r>
          </a:p>
        </p:txBody>
      </p:sp>
      <p:cxnSp>
        <p:nvCxnSpPr>
          <p:cNvPr id="65545" name="直接连接符 2"/>
          <p:cNvCxnSpPr>
            <a:cxnSpLocks noChangeShapeType="1"/>
          </p:cNvCxnSpPr>
          <p:nvPr/>
        </p:nvCxnSpPr>
        <p:spPr bwMode="auto">
          <a:xfrm flipH="1" flipV="1">
            <a:off x="4804938" y="3622062"/>
            <a:ext cx="489052" cy="0"/>
          </a:xfrm>
          <a:prstGeom prst="line">
            <a:avLst/>
          </a:prstGeom>
          <a:noFill/>
          <a:ln w="31750" algn="ctr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65546" name="矩形 14"/>
          <p:cNvSpPr>
            <a:spLocks noChangeArrowheads="1"/>
          </p:cNvSpPr>
          <p:nvPr/>
        </p:nvSpPr>
        <p:spPr bwMode="auto">
          <a:xfrm>
            <a:off x="5220072" y="2728145"/>
            <a:ext cx="10054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zh-CN" altLang="en-US" sz="16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赋值语句</a:t>
            </a:r>
          </a:p>
        </p:txBody>
      </p:sp>
      <p:cxnSp>
        <p:nvCxnSpPr>
          <p:cNvPr id="65547" name="直接连接符 2"/>
          <p:cNvCxnSpPr>
            <a:cxnSpLocks noChangeShapeType="1"/>
          </p:cNvCxnSpPr>
          <p:nvPr/>
        </p:nvCxnSpPr>
        <p:spPr bwMode="auto">
          <a:xfrm flipH="1">
            <a:off x="4804936" y="2877001"/>
            <a:ext cx="489600" cy="0"/>
          </a:xfrm>
          <a:prstGeom prst="line">
            <a:avLst/>
          </a:prstGeom>
          <a:noFill/>
          <a:ln w="31750" algn="ctr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65548" name="矩形 17"/>
          <p:cNvSpPr>
            <a:spLocks noChangeArrowheads="1"/>
          </p:cNvSpPr>
          <p:nvPr/>
        </p:nvSpPr>
        <p:spPr bwMode="auto">
          <a:xfrm>
            <a:off x="5273186" y="3457332"/>
            <a:ext cx="145905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Print()</a:t>
            </a:r>
            <a:r>
              <a:rPr lang="zh-CN" altLang="en-US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函数</a:t>
            </a:r>
          </a:p>
        </p:txBody>
      </p:sp>
      <p:sp>
        <p:nvSpPr>
          <p:cNvPr id="65549" name="矩形 18"/>
          <p:cNvSpPr>
            <a:spLocks noChangeArrowheads="1"/>
          </p:cNvSpPr>
          <p:nvPr/>
        </p:nvSpPr>
        <p:spPr bwMode="auto">
          <a:xfrm>
            <a:off x="3546049" y="1563638"/>
            <a:ext cx="10054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zh-CN" altLang="en-US" sz="16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简单程序</a:t>
            </a:r>
          </a:p>
        </p:txBody>
      </p:sp>
      <p:cxnSp>
        <p:nvCxnSpPr>
          <p:cNvPr id="65550" name="直接连接符 2"/>
          <p:cNvCxnSpPr>
            <a:cxnSpLocks noChangeShapeType="1"/>
          </p:cNvCxnSpPr>
          <p:nvPr/>
        </p:nvCxnSpPr>
        <p:spPr bwMode="auto">
          <a:xfrm flipV="1">
            <a:off x="4082624" y="2385399"/>
            <a:ext cx="0" cy="287337"/>
          </a:xfrm>
          <a:prstGeom prst="line">
            <a:avLst/>
          </a:prstGeom>
          <a:noFill/>
          <a:ln w="31750" algn="ctr">
            <a:solidFill>
              <a:srgbClr val="C00000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65551" name="直接连接符 2"/>
          <p:cNvCxnSpPr>
            <a:cxnSpLocks noChangeShapeType="1"/>
          </p:cNvCxnSpPr>
          <p:nvPr/>
        </p:nvCxnSpPr>
        <p:spPr bwMode="auto">
          <a:xfrm flipV="1">
            <a:off x="4095672" y="3080427"/>
            <a:ext cx="0" cy="288925"/>
          </a:xfrm>
          <a:prstGeom prst="line">
            <a:avLst/>
          </a:prstGeom>
          <a:noFill/>
          <a:ln w="31750" algn="ctr">
            <a:solidFill>
              <a:srgbClr val="C00000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73744" name="TextBox 1"/>
          <p:cNvSpPr txBox="1">
            <a:spLocks noChangeArrowheads="1"/>
          </p:cNvSpPr>
          <p:nvPr/>
        </p:nvSpPr>
        <p:spPr bwMode="auto">
          <a:xfrm>
            <a:off x="231861" y="169863"/>
            <a:ext cx="44275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b="0" dirty="0">
                <a:latin typeface="微软雅黑" pitchFamily="34" charset="-122"/>
                <a:ea typeface="微软雅黑" pitchFamily="34" charset="-122"/>
              </a:rPr>
              <a:t>2.</a:t>
            </a:r>
            <a:r>
              <a:rPr lang="zh-CN" altLang="en-US" b="0" dirty="0">
                <a:latin typeface="微软雅黑" pitchFamily="34" charset="-122"/>
                <a:ea typeface="微软雅黑" pitchFamily="34" charset="-122"/>
              </a:rPr>
              <a:t>简单程序的结构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337" y="713832"/>
            <a:ext cx="8456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一般程序中顺序结构的常用简单语句：</a:t>
            </a:r>
            <a:r>
              <a:rPr lang="zh-CN" altLang="en-US" sz="18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赋值语句和输入</a:t>
            </a:r>
            <a:r>
              <a:rPr lang="en-US" altLang="zh-CN" sz="18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/</a:t>
            </a:r>
            <a:r>
              <a:rPr lang="zh-CN" altLang="en-US" sz="18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输出语句（函数）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等。</a:t>
            </a:r>
          </a:p>
        </p:txBody>
      </p:sp>
      <p:sp>
        <p:nvSpPr>
          <p:cNvPr id="4" name="平行四边形 3"/>
          <p:cNvSpPr/>
          <p:nvPr/>
        </p:nvSpPr>
        <p:spPr bwMode="auto">
          <a:xfrm>
            <a:off x="3307007" y="1981842"/>
            <a:ext cx="1584176" cy="360000"/>
          </a:xfrm>
          <a:prstGeom prst="parallelogram">
            <a:avLst/>
          </a:prstGeom>
          <a:noFill/>
          <a:ln w="22225" cap="flat" cmpd="sng" algn="ctr">
            <a:solidFill>
              <a:srgbClr val="000066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0" tIns="0" rIns="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16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输入数据</a:t>
            </a:r>
          </a:p>
        </p:txBody>
      </p:sp>
      <p:sp>
        <p:nvSpPr>
          <p:cNvPr id="22" name="平行四边形 21"/>
          <p:cNvSpPr/>
          <p:nvPr/>
        </p:nvSpPr>
        <p:spPr bwMode="auto">
          <a:xfrm>
            <a:off x="3307007" y="3390025"/>
            <a:ext cx="1584176" cy="421191"/>
          </a:xfrm>
          <a:prstGeom prst="parallelogram">
            <a:avLst/>
          </a:prstGeom>
          <a:noFill/>
          <a:ln w="22225" cap="flat" cmpd="sng" algn="ctr">
            <a:solidFill>
              <a:srgbClr val="000066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0" tIns="0" rIns="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1" hangingPunct="1"/>
            <a:r>
              <a:rPr lang="zh-CN" altLang="en-US" sz="16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输出结果</a:t>
            </a:r>
          </a:p>
        </p:txBody>
      </p:sp>
    </p:spTree>
    <p:extLst>
      <p:ext uri="{BB962C8B-B14F-4D97-AF65-F5344CB8AC3E}">
        <p14:creationId xmlns:p14="http://schemas.microsoft.com/office/powerpoint/2010/main" val="3311808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5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65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65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65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5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5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5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5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5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5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0" grpId="0" animBg="1"/>
      <p:bldP spid="65541" grpId="0" animBg="1"/>
      <p:bldP spid="65544" grpId="0"/>
      <p:bldP spid="65546" grpId="0"/>
      <p:bldP spid="65548" grpId="0"/>
      <p:bldP spid="65549" grpId="0"/>
      <p:bldP spid="4" grpId="0" animBg="1"/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44"/>
          <p:cNvSpPr>
            <a:spLocks noChangeArrowheads="1"/>
          </p:cNvSpPr>
          <p:nvPr/>
        </p:nvSpPr>
        <p:spPr bwMode="gray">
          <a:xfrm>
            <a:off x="269651" y="339502"/>
            <a:ext cx="8748713" cy="2808311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600"/>
              </a:spcBef>
            </a:pPr>
            <a:r>
              <a:rPr lang="zh-CN" altLang="zh-CN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【例</a:t>
            </a:r>
            <a:r>
              <a:rPr lang="en-US" altLang="zh-CN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3.2</a:t>
            </a:r>
            <a:r>
              <a:rPr lang="zh-CN" altLang="zh-CN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】输入三角形三条边长，计算面积并显示结果。</a:t>
            </a:r>
          </a:p>
          <a:p>
            <a:pPr>
              <a:spcBef>
                <a:spcPts val="600"/>
              </a:spcBef>
            </a:pPr>
            <a:r>
              <a:rPr lang="zh-CN" altLang="zh-CN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分析：已知三条边边长，计算三角形面积利用海伦公式即可求得。</a:t>
            </a:r>
            <a:endParaRPr lang="en-US" altLang="zh-CN" sz="16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#   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输入三角形三条边边，求三角形面积</a:t>
            </a:r>
          </a:p>
          <a:p>
            <a:pPr>
              <a:spcBef>
                <a:spcPts val="600"/>
              </a:spcBef>
            </a:pP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import math                              #  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导入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math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模块</a:t>
            </a:r>
          </a:p>
          <a:p>
            <a:pPr>
              <a:spcBef>
                <a:spcPts val="600"/>
              </a:spcBef>
            </a:pPr>
            <a:r>
              <a:rPr lang="en-US" altLang="zh-CN" sz="1600" dirty="0" err="1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a,b,c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en-US" altLang="zh-CN" sz="1600" dirty="0" err="1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eval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(input("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输入</a:t>
            </a:r>
            <a:r>
              <a:rPr lang="en-US" altLang="zh-CN" sz="1600" dirty="0" err="1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a,b,c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: "))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t=(</a:t>
            </a:r>
            <a:r>
              <a:rPr lang="en-US" altLang="zh-CN" sz="1600" dirty="0" err="1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a+b+c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)/2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area=</a:t>
            </a:r>
            <a:r>
              <a:rPr lang="en-US" altLang="zh-CN" sz="1600" dirty="0" err="1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math.sqrt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(t*(t-a)*(t-b)*(t-c))       #  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调用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math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模块的</a:t>
            </a:r>
            <a:r>
              <a:rPr lang="en-US" altLang="zh-CN" sz="1600" dirty="0" err="1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sqrt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函数</a:t>
            </a:r>
          </a:p>
          <a:p>
            <a:pPr>
              <a:spcBef>
                <a:spcPts val="600"/>
              </a:spcBef>
            </a:pP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print("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三角形面积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=",area)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AutoShape 44"/>
          <p:cNvSpPr>
            <a:spLocks noChangeArrowheads="1"/>
          </p:cNvSpPr>
          <p:nvPr/>
        </p:nvSpPr>
        <p:spPr bwMode="gray">
          <a:xfrm>
            <a:off x="3383360" y="3646140"/>
            <a:ext cx="5005064" cy="612775"/>
          </a:xfrm>
          <a:prstGeom prst="roundRect">
            <a:avLst>
              <a:gd name="adj" fmla="val 8014"/>
            </a:avLst>
          </a:prstGeom>
          <a:solidFill>
            <a:srgbClr val="FFFFCC"/>
          </a:solidFill>
          <a:ln w="9525">
            <a:solidFill>
              <a:srgbClr val="808000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问题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：没有考虑不能构成三角形情况</a:t>
            </a:r>
            <a:endParaRPr lang="en-US" altLang="zh-CN" sz="1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AutoShape 44"/>
          <p:cNvSpPr>
            <a:spLocks noChangeArrowheads="1"/>
          </p:cNvSpPr>
          <p:nvPr/>
        </p:nvSpPr>
        <p:spPr bwMode="gray">
          <a:xfrm>
            <a:off x="269651" y="3502710"/>
            <a:ext cx="2790181" cy="1085264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zh-CN" altLang="zh-CN" sz="1600" dirty="0">
                <a:latin typeface="微软雅黑" pitchFamily="34" charset="-122"/>
                <a:ea typeface="微软雅黑" pitchFamily="34" charset="-122"/>
              </a:rPr>
              <a:t>程序运行：</a:t>
            </a:r>
          </a:p>
          <a:p>
            <a:pPr>
              <a:spcBef>
                <a:spcPts val="300"/>
              </a:spcBef>
            </a:pP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输入</a:t>
            </a:r>
            <a:r>
              <a:rPr lang="en-US" altLang="zh-CN" sz="1600" dirty="0" err="1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a,b,c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: 3,4,5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300"/>
              </a:spcBef>
            </a:pP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三角形面积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= 6.0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300"/>
              </a:spcBef>
            </a:pP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输入</a:t>
            </a:r>
            <a:r>
              <a:rPr lang="en-US" altLang="zh-CN" sz="1600" dirty="0" err="1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a,b,c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: 1,2,3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300"/>
              </a:spcBef>
            </a:pP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三角形面积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= 0.0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651739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-108520" y="1131888"/>
            <a:ext cx="9145016" cy="2789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61" tIns="46031" rIns="92061" bIns="46031">
            <a:spAutoFit/>
          </a:bodyPr>
          <a:lstStyle>
            <a:lvl1pPr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defTabSz="6397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defTabSz="6397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defTabSz="6397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defTabSz="6397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50000"/>
              </a:spcBef>
              <a:defRPr/>
            </a:pPr>
            <a:r>
              <a:rPr lang="zh-CN" altLang="en-US" sz="440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选择结构</a:t>
            </a:r>
            <a:endParaRPr lang="en-US" altLang="zh-CN" sz="4400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itchFamily="2" charset="-122"/>
              <a:ea typeface="黑体" pitchFamily="2" charset="-122"/>
            </a:endParaRPr>
          </a:p>
          <a:p>
            <a:pPr algn="ctr" eaLnBrk="1" hangingPunct="1">
              <a:lnSpc>
                <a:spcPct val="120000"/>
              </a:lnSpc>
              <a:spcBef>
                <a:spcPct val="50000"/>
              </a:spcBef>
              <a:defRPr/>
            </a:pPr>
            <a:r>
              <a:rPr lang="zh-CN" altLang="en-US" sz="360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　</a:t>
            </a:r>
            <a:endParaRPr lang="zh-CN" altLang="zh-CN" sz="3600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itchFamily="2" charset="-122"/>
              <a:ea typeface="黑体" pitchFamily="2" charset="-122"/>
            </a:endParaRPr>
          </a:p>
          <a:p>
            <a:pPr algn="ctr" eaLnBrk="1" hangingPunct="1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sz="360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 </a:t>
            </a:r>
            <a:endParaRPr lang="zh-CN" altLang="en-US" sz="3600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032"/>
          <p:cNvSpPr>
            <a:spLocks noGrp="1" noChangeArrowheads="1"/>
          </p:cNvSpPr>
          <p:nvPr>
            <p:ph type="title"/>
          </p:nvPr>
        </p:nvSpPr>
        <p:spPr bwMode="auto">
          <a:xfrm>
            <a:off x="285776" y="297657"/>
            <a:ext cx="5616575" cy="530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algn="l"/>
            <a:r>
              <a:rPr lang="en-US" altLang="zh-CN" sz="2400" b="1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if </a:t>
            </a:r>
            <a:r>
              <a:rPr lang="zh-CN" altLang="en-US" sz="2400" b="1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</a:t>
            </a:r>
            <a:r>
              <a:rPr lang="en-US" altLang="zh-CN" sz="2400" b="1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(</a:t>
            </a:r>
            <a:r>
              <a:rPr lang="zh-CN" altLang="en-US" sz="2400" b="1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单分支结构）引例</a:t>
            </a:r>
          </a:p>
        </p:txBody>
      </p:sp>
      <p:sp>
        <p:nvSpPr>
          <p:cNvPr id="17411" name="TextBox 1"/>
          <p:cNvSpPr txBox="1">
            <a:spLocks noChangeArrowheads="1"/>
          </p:cNvSpPr>
          <p:nvPr/>
        </p:nvSpPr>
        <p:spPr bwMode="auto">
          <a:xfrm>
            <a:off x="123825" y="827882"/>
            <a:ext cx="86407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000">
                <a:latin typeface="Courier New" pitchFamily="49" charset="0"/>
                <a:ea typeface="微软雅黑" pitchFamily="34" charset="-122"/>
                <a:cs typeface="Courier New" pitchFamily="49" charset="0"/>
              </a:rPr>
              <a:t>问题</a:t>
            </a:r>
            <a:r>
              <a:rPr lang="en-US" altLang="zh-CN" sz="2000">
                <a:latin typeface="Courier New" pitchFamily="49" charset="0"/>
                <a:ea typeface="微软雅黑" pitchFamily="34" charset="-122"/>
                <a:cs typeface="Courier New" pitchFamily="49" charset="0"/>
              </a:rPr>
              <a:t>1</a:t>
            </a:r>
            <a:r>
              <a:rPr lang="zh-CN" altLang="en-US" sz="2000"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：</a:t>
            </a:r>
            <a:r>
              <a:rPr lang="zh-CN" altLang="en-US" sz="20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输入三角形三条边长</a:t>
            </a:r>
            <a:r>
              <a:rPr lang="en-US" altLang="zh-CN" sz="20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x</a:t>
            </a:r>
            <a:r>
              <a:rPr lang="zh-CN" altLang="en-US" sz="20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、</a:t>
            </a:r>
            <a:r>
              <a:rPr lang="en-US" altLang="zh-CN" sz="20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y</a:t>
            </a:r>
            <a:r>
              <a:rPr lang="zh-CN" altLang="en-US" sz="20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、</a:t>
            </a:r>
            <a:r>
              <a:rPr lang="en-US" altLang="zh-CN" sz="20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z</a:t>
            </a:r>
            <a:r>
              <a:rPr lang="zh-CN" altLang="en-US" sz="20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，对能构成三角形的求其面积。</a:t>
            </a:r>
          </a:p>
        </p:txBody>
      </p:sp>
      <p:sp>
        <p:nvSpPr>
          <p:cNvPr id="9224" name="TextBox 8"/>
          <p:cNvSpPr txBox="1">
            <a:spLocks noChangeArrowheads="1"/>
          </p:cNvSpPr>
          <p:nvPr/>
        </p:nvSpPr>
        <p:spPr bwMode="auto">
          <a:xfrm>
            <a:off x="139105" y="1402082"/>
            <a:ext cx="8825383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ts val="600"/>
              </a:spcBef>
            </a:pP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分析：  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构成三角形的前提条件是两边之和大于第三边。</a:t>
            </a:r>
            <a:endParaRPr lang="en-US" altLang="zh-CN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spcBef>
                <a:spcPts val="600"/>
              </a:spcBef>
            </a:pPr>
            <a:r>
              <a:rPr lang="zh-CN" altLang="en-US" sz="1800" b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           合理边长的条件表达式如何表示？</a:t>
            </a:r>
            <a:endParaRPr lang="en-US" altLang="zh-CN" sz="1800" b="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zh-CN" sz="1800" b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            </a:t>
            </a:r>
            <a:r>
              <a:rPr lang="en-US" altLang="zh-CN" sz="1600" dirty="0" err="1">
                <a:solidFill>
                  <a:srgbClr val="000066"/>
                </a:solidFill>
                <a:latin typeface="Courier New" pitchFamily="49" charset="0"/>
                <a:ea typeface="黑体" pitchFamily="49" charset="-122"/>
                <a:cs typeface="Courier New" pitchFamily="49" charset="0"/>
              </a:rPr>
              <a:t>x+y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黑体" pitchFamily="49" charset="-122"/>
                <a:cs typeface="Courier New" pitchFamily="49" charset="0"/>
              </a:rPr>
              <a:t>&gt;z and </a:t>
            </a:r>
            <a:r>
              <a:rPr lang="en-US" altLang="zh-CN" sz="1600" dirty="0" err="1">
                <a:solidFill>
                  <a:srgbClr val="000066"/>
                </a:solidFill>
                <a:latin typeface="Courier New" pitchFamily="49" charset="0"/>
                <a:ea typeface="黑体" pitchFamily="49" charset="-122"/>
                <a:cs typeface="Courier New" pitchFamily="49" charset="0"/>
              </a:rPr>
              <a:t>y+z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黑体" pitchFamily="49" charset="-122"/>
                <a:cs typeface="Courier New" pitchFamily="49" charset="0"/>
              </a:rPr>
              <a:t>&gt;x and </a:t>
            </a:r>
            <a:r>
              <a:rPr lang="en-US" altLang="zh-CN" sz="1600" dirty="0" err="1">
                <a:solidFill>
                  <a:srgbClr val="000066"/>
                </a:solidFill>
                <a:latin typeface="Courier New" pitchFamily="49" charset="0"/>
                <a:ea typeface="黑体" pitchFamily="49" charset="-122"/>
                <a:cs typeface="Courier New" pitchFamily="49" charset="0"/>
              </a:rPr>
              <a:t>x+z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黑体" pitchFamily="49" charset="-122"/>
                <a:cs typeface="Courier New" pitchFamily="49" charset="0"/>
              </a:rPr>
              <a:t>&gt;y</a:t>
            </a:r>
          </a:p>
        </p:txBody>
      </p:sp>
      <p:cxnSp>
        <p:nvCxnSpPr>
          <p:cNvPr id="17413" name="直接箭头连接符 3"/>
          <p:cNvCxnSpPr>
            <a:cxnSpLocks noChangeShapeType="1"/>
          </p:cNvCxnSpPr>
          <p:nvPr/>
        </p:nvCxnSpPr>
        <p:spPr bwMode="auto">
          <a:xfrm>
            <a:off x="5792465" y="2685856"/>
            <a:ext cx="0" cy="215900"/>
          </a:xfrm>
          <a:prstGeom prst="straightConnector1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9226" name="菱形 4"/>
          <p:cNvSpPr>
            <a:spLocks noChangeArrowheads="1"/>
          </p:cNvSpPr>
          <p:nvPr/>
        </p:nvSpPr>
        <p:spPr bwMode="auto">
          <a:xfrm>
            <a:off x="4932040" y="2779519"/>
            <a:ext cx="1847850" cy="536575"/>
          </a:xfrm>
          <a:prstGeom prst="diamond">
            <a:avLst/>
          </a:prstGeom>
          <a:noFill/>
          <a:ln w="25400" algn="ctr">
            <a:solidFill>
              <a:srgbClr val="8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lang="zh-CN" altLang="en-US" sz="16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边长合理？</a:t>
            </a:r>
          </a:p>
        </p:txBody>
      </p:sp>
      <p:sp>
        <p:nvSpPr>
          <p:cNvPr id="9227" name="矩形 5"/>
          <p:cNvSpPr>
            <a:spLocks noChangeArrowheads="1"/>
          </p:cNvSpPr>
          <p:nvPr/>
        </p:nvSpPr>
        <p:spPr bwMode="auto">
          <a:xfrm>
            <a:off x="4932040" y="3627244"/>
            <a:ext cx="1633538" cy="387350"/>
          </a:xfrm>
          <a:prstGeom prst="rect">
            <a:avLst/>
          </a:prstGeom>
          <a:noFill/>
          <a:ln w="25400" algn="ctr">
            <a:solidFill>
              <a:srgbClr val="8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lang="zh-CN" altLang="en-US" sz="16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计算面积并显示</a:t>
            </a:r>
          </a:p>
        </p:txBody>
      </p:sp>
      <p:cxnSp>
        <p:nvCxnSpPr>
          <p:cNvPr id="9228" name="直接连接符 7"/>
          <p:cNvCxnSpPr>
            <a:cxnSpLocks noChangeShapeType="1"/>
            <a:stCxn id="9226" idx="3"/>
          </p:cNvCxnSpPr>
          <p:nvPr/>
        </p:nvCxnSpPr>
        <p:spPr bwMode="auto">
          <a:xfrm flipV="1">
            <a:off x="6779890" y="3046219"/>
            <a:ext cx="236538" cy="1587"/>
          </a:xfrm>
          <a:prstGeom prst="line">
            <a:avLst/>
          </a:prstGeom>
          <a:noFill/>
          <a:ln w="25400" algn="ctr">
            <a:solidFill>
              <a:srgbClr val="8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9229" name="直接连接符 15"/>
          <p:cNvCxnSpPr>
            <a:cxnSpLocks noChangeShapeType="1"/>
          </p:cNvCxnSpPr>
          <p:nvPr/>
        </p:nvCxnSpPr>
        <p:spPr bwMode="auto">
          <a:xfrm flipV="1">
            <a:off x="7016428" y="3046219"/>
            <a:ext cx="0" cy="1081087"/>
          </a:xfrm>
          <a:prstGeom prst="line">
            <a:avLst/>
          </a:prstGeom>
          <a:noFill/>
          <a:ln w="25400" algn="ctr">
            <a:solidFill>
              <a:srgbClr val="8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9230" name="直接连接符 19"/>
          <p:cNvCxnSpPr>
            <a:cxnSpLocks noChangeShapeType="1"/>
          </p:cNvCxnSpPr>
          <p:nvPr/>
        </p:nvCxnSpPr>
        <p:spPr bwMode="auto">
          <a:xfrm>
            <a:off x="5860728" y="4108256"/>
            <a:ext cx="1176337" cy="0"/>
          </a:xfrm>
          <a:prstGeom prst="line">
            <a:avLst/>
          </a:prstGeom>
          <a:noFill/>
          <a:ln w="25400" algn="ctr">
            <a:solidFill>
              <a:srgbClr val="808000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22" name="直接连接符 21"/>
          <p:cNvCxnSpPr>
            <a:cxnSpLocks noChangeShapeType="1"/>
            <a:endCxn id="17" idx="4"/>
          </p:cNvCxnSpPr>
          <p:nvPr/>
        </p:nvCxnSpPr>
        <p:spPr bwMode="auto">
          <a:xfrm flipV="1">
            <a:off x="5844853" y="2535250"/>
            <a:ext cx="0" cy="252722"/>
          </a:xfrm>
          <a:prstGeom prst="line">
            <a:avLst/>
          </a:prstGeom>
          <a:noFill/>
          <a:ln w="25400" algn="ctr">
            <a:solidFill>
              <a:srgbClr val="808000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17" name="平行四边形 16"/>
          <p:cNvSpPr>
            <a:spLocks noChangeArrowheads="1"/>
          </p:cNvSpPr>
          <p:nvPr/>
        </p:nvSpPr>
        <p:spPr bwMode="auto">
          <a:xfrm>
            <a:off x="5044753" y="2211710"/>
            <a:ext cx="1611312" cy="323540"/>
          </a:xfrm>
          <a:prstGeom prst="parallelogram">
            <a:avLst>
              <a:gd name="adj" fmla="val 24916"/>
            </a:avLst>
          </a:prstGeom>
          <a:noFill/>
          <a:ln w="25400" algn="ctr">
            <a:solidFill>
              <a:srgbClr val="8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14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输入三条边长</a:t>
            </a:r>
          </a:p>
        </p:txBody>
      </p:sp>
      <p:cxnSp>
        <p:nvCxnSpPr>
          <p:cNvPr id="9233" name="直接连接符 26"/>
          <p:cNvCxnSpPr>
            <a:cxnSpLocks noChangeShapeType="1"/>
          </p:cNvCxnSpPr>
          <p:nvPr/>
        </p:nvCxnSpPr>
        <p:spPr bwMode="auto">
          <a:xfrm flipH="1" flipV="1">
            <a:off x="5855965" y="3331969"/>
            <a:ext cx="4763" cy="295275"/>
          </a:xfrm>
          <a:prstGeom prst="line">
            <a:avLst/>
          </a:prstGeom>
          <a:noFill/>
          <a:ln w="25400" algn="ctr">
            <a:solidFill>
              <a:srgbClr val="808000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9234" name="直接连接符 27"/>
          <p:cNvCxnSpPr>
            <a:cxnSpLocks noChangeShapeType="1"/>
          </p:cNvCxnSpPr>
          <p:nvPr/>
        </p:nvCxnSpPr>
        <p:spPr bwMode="auto">
          <a:xfrm flipH="1" flipV="1">
            <a:off x="5844853" y="3973954"/>
            <a:ext cx="4762" cy="330200"/>
          </a:xfrm>
          <a:prstGeom prst="line">
            <a:avLst/>
          </a:prstGeom>
          <a:noFill/>
          <a:ln w="25400" algn="ctr">
            <a:solidFill>
              <a:srgbClr val="808000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17423" name="直角三角形 2"/>
          <p:cNvSpPr>
            <a:spLocks noChangeArrowheads="1"/>
          </p:cNvSpPr>
          <p:nvPr/>
        </p:nvSpPr>
        <p:spPr bwMode="auto">
          <a:xfrm>
            <a:off x="1396831" y="2834287"/>
            <a:ext cx="1501349" cy="871538"/>
          </a:xfrm>
          <a:prstGeom prst="rtTriangle">
            <a:avLst/>
          </a:prstGeom>
          <a:solidFill>
            <a:srgbClr val="FFFF99"/>
          </a:solidFill>
          <a:ln w="15875" algn="ctr">
            <a:solidFill>
              <a:srgbClr val="000066"/>
            </a:solidFill>
            <a:round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endParaRPr lang="zh-CN" altLang="en-US">
              <a:latin typeface="Courier New" pitchFamily="49" charset="0"/>
              <a:ea typeface="黑体" pitchFamily="49" charset="-122"/>
              <a:cs typeface="Courier New" pitchFamily="49" charset="0"/>
            </a:endParaRPr>
          </a:p>
        </p:txBody>
      </p:sp>
      <p:sp>
        <p:nvSpPr>
          <p:cNvPr id="17424" name="TextBox 3"/>
          <p:cNvSpPr txBox="1">
            <a:spLocks noChangeArrowheads="1"/>
          </p:cNvSpPr>
          <p:nvPr/>
        </p:nvSpPr>
        <p:spPr bwMode="auto">
          <a:xfrm>
            <a:off x="1040796" y="3089875"/>
            <a:ext cx="568334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1800">
                <a:latin typeface="Courier New" pitchFamily="49" charset="0"/>
                <a:ea typeface="黑体" pitchFamily="49" charset="-122"/>
                <a:cs typeface="Courier New" pitchFamily="49" charset="0"/>
              </a:rPr>
              <a:t>x</a:t>
            </a:r>
            <a:endParaRPr lang="zh-CN" altLang="en-US" sz="1800">
              <a:latin typeface="Courier New" pitchFamily="49" charset="0"/>
              <a:ea typeface="黑体" pitchFamily="49" charset="-122"/>
              <a:cs typeface="Courier New" pitchFamily="49" charset="0"/>
            </a:endParaRPr>
          </a:p>
        </p:txBody>
      </p:sp>
      <p:sp>
        <p:nvSpPr>
          <p:cNvPr id="17425" name="TextBox 22"/>
          <p:cNvSpPr txBox="1">
            <a:spLocks noChangeArrowheads="1"/>
          </p:cNvSpPr>
          <p:nvPr/>
        </p:nvSpPr>
        <p:spPr bwMode="auto">
          <a:xfrm>
            <a:off x="2052041" y="2873975"/>
            <a:ext cx="569913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1800">
                <a:latin typeface="Courier New" pitchFamily="49" charset="0"/>
                <a:ea typeface="黑体" pitchFamily="49" charset="-122"/>
                <a:cs typeface="Courier New" pitchFamily="49" charset="0"/>
              </a:rPr>
              <a:t>y</a:t>
            </a:r>
            <a:endParaRPr lang="zh-CN" altLang="en-US" sz="1800">
              <a:latin typeface="Courier New" pitchFamily="49" charset="0"/>
              <a:ea typeface="黑体" pitchFamily="49" charset="-122"/>
              <a:cs typeface="Courier New" pitchFamily="49" charset="0"/>
            </a:endParaRPr>
          </a:p>
        </p:txBody>
      </p:sp>
      <p:sp>
        <p:nvSpPr>
          <p:cNvPr id="17426" name="TextBox 23"/>
          <p:cNvSpPr txBox="1">
            <a:spLocks noChangeArrowheads="1"/>
          </p:cNvSpPr>
          <p:nvPr/>
        </p:nvSpPr>
        <p:spPr bwMode="auto">
          <a:xfrm>
            <a:off x="1904405" y="3601050"/>
            <a:ext cx="569912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1800">
                <a:latin typeface="Courier New" pitchFamily="49" charset="0"/>
                <a:ea typeface="黑体" pitchFamily="49" charset="-122"/>
                <a:cs typeface="Courier New" pitchFamily="49" charset="0"/>
              </a:rPr>
              <a:t>z</a:t>
            </a:r>
            <a:endParaRPr lang="zh-CN" altLang="en-US" sz="1800">
              <a:latin typeface="Courier New" pitchFamily="49" charset="0"/>
              <a:ea typeface="黑体" pitchFamily="49" charset="-122"/>
              <a:cs typeface="Courier New" pitchFamily="49" charset="0"/>
            </a:endParaRPr>
          </a:p>
        </p:txBody>
      </p:sp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5854378" y="3239894"/>
            <a:ext cx="936625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16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True</a:t>
            </a:r>
            <a:endParaRPr lang="zh-CN" altLang="en-US" sz="160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6480115" y="2708081"/>
            <a:ext cx="936625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16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False</a:t>
            </a:r>
            <a:endParaRPr lang="zh-CN" altLang="en-US" sz="160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17429" name="TextBox 26"/>
          <p:cNvSpPr txBox="1">
            <a:spLocks noChangeArrowheads="1"/>
          </p:cNvSpPr>
          <p:nvPr/>
        </p:nvSpPr>
        <p:spPr bwMode="auto">
          <a:xfrm>
            <a:off x="1691680" y="3161312"/>
            <a:ext cx="569912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1800">
                <a:latin typeface="Courier New" pitchFamily="49" charset="0"/>
                <a:ea typeface="黑体" pitchFamily="49" charset="-122"/>
                <a:cs typeface="Courier New" pitchFamily="49" charset="0"/>
              </a:rPr>
              <a:t>S</a:t>
            </a:r>
            <a:endParaRPr lang="zh-CN" altLang="en-US" sz="1800">
              <a:latin typeface="Courier New" pitchFamily="49" charset="0"/>
              <a:ea typeface="黑体" pitchFamily="49" charset="-122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5354148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2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2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9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9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9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6" grpId="0" animBg="1"/>
      <p:bldP spid="9227" grpId="0" animBg="1"/>
      <p:bldP spid="17" grpId="0" animBg="1"/>
      <p:bldP spid="25" grpId="0"/>
      <p:bldP spid="2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9"/>
          <p:cNvSpPr>
            <a:spLocks noChangeArrowheads="1"/>
          </p:cNvSpPr>
          <p:nvPr/>
        </p:nvSpPr>
        <p:spPr bwMode="auto">
          <a:xfrm>
            <a:off x="381000" y="857250"/>
            <a:ext cx="8763000" cy="284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165100" rIns="92075" bIns="165100"/>
          <a:lstStyle/>
          <a:p>
            <a:pPr algn="just"/>
            <a:r>
              <a:rPr lang="en-US" altLang="zh-CN" sz="320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</a:t>
            </a:r>
          </a:p>
        </p:txBody>
      </p:sp>
      <p:sp>
        <p:nvSpPr>
          <p:cNvPr id="18435" name="Rectangle 1032"/>
          <p:cNvSpPr txBox="1">
            <a:spLocks noChangeArrowheads="1"/>
          </p:cNvSpPr>
          <p:nvPr/>
        </p:nvSpPr>
        <p:spPr bwMode="auto">
          <a:xfrm>
            <a:off x="393701" y="242293"/>
            <a:ext cx="6767512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 anchor="b"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if</a:t>
            </a:r>
            <a:r>
              <a:rPr lang="zh-CN" altLang="en-US" sz="2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语句格式和控制逻辑</a:t>
            </a:r>
          </a:p>
        </p:txBody>
      </p:sp>
      <p:sp>
        <p:nvSpPr>
          <p:cNvPr id="18437" name="灯片编号占位符 3"/>
          <p:cNvSpPr txBox="1">
            <a:spLocks/>
          </p:cNvSpPr>
          <p:nvPr/>
        </p:nvSpPr>
        <p:spPr bwMode="auto">
          <a:xfrm>
            <a:off x="4302125" y="4589463"/>
            <a:ext cx="733425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</a:pPr>
            <a:fld id="{BDB8A244-3C1C-4C33-A129-EFD4EC68F98A}" type="slidenum">
              <a:rPr kumimoji="0" lang="en-US" altLang="zh-CN" sz="1800">
                <a:solidFill>
                  <a:schemeClr val="bg1"/>
                </a:solidFill>
                <a:latin typeface="Arial Black" pitchFamily="34" charset="0"/>
                <a:ea typeface="楷体_GB2312" pitchFamily="49" charset="-122"/>
              </a:rPr>
              <a:pPr algn="ctr" eaLnBrk="1" hangingPunct="1">
                <a:lnSpc>
                  <a:spcPct val="120000"/>
                </a:lnSpc>
              </a:pPr>
              <a:t>8</a:t>
            </a:fld>
            <a:endParaRPr kumimoji="0" lang="en-US" altLang="zh-CN" sz="1800">
              <a:solidFill>
                <a:schemeClr val="bg1"/>
              </a:solidFill>
              <a:latin typeface="Arial Black" pitchFamily="34" charset="0"/>
              <a:ea typeface="楷体_GB2312" pitchFamily="49" charset="-122"/>
            </a:endParaRPr>
          </a:p>
        </p:txBody>
      </p:sp>
      <p:sp>
        <p:nvSpPr>
          <p:cNvPr id="34" name="AutoShape 44"/>
          <p:cNvSpPr>
            <a:spLocks noChangeArrowheads="1"/>
          </p:cNvSpPr>
          <p:nvPr/>
        </p:nvSpPr>
        <p:spPr bwMode="gray">
          <a:xfrm>
            <a:off x="373936" y="825749"/>
            <a:ext cx="3456384" cy="1695398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if </a:t>
            </a:r>
            <a:r>
              <a:rPr lang="zh-CN" altLang="en-US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条件表达式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: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	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</a:t>
            </a:r>
            <a:r>
              <a:rPr lang="zh-CN" altLang="en-US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语句组</a:t>
            </a:r>
            <a:endParaRPr lang="en-US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805984" y="1669246"/>
            <a:ext cx="1296144" cy="608583"/>
          </a:xfrm>
          <a:prstGeom prst="rect">
            <a:avLst/>
          </a:prstGeom>
          <a:solidFill>
            <a:srgbClr val="00B050">
              <a:alpha val="33000"/>
            </a:srgb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27" name="AutoShape 44"/>
          <p:cNvSpPr>
            <a:spLocks noChangeArrowheads="1"/>
          </p:cNvSpPr>
          <p:nvPr/>
        </p:nvSpPr>
        <p:spPr bwMode="gray">
          <a:xfrm>
            <a:off x="4139952" y="839793"/>
            <a:ext cx="4536504" cy="1587941"/>
          </a:xfrm>
          <a:prstGeom prst="roundRect">
            <a:avLst>
              <a:gd name="adj" fmla="val 8014"/>
            </a:avLst>
          </a:prstGeom>
          <a:solidFill>
            <a:srgbClr val="FFFFCC"/>
          </a:solidFill>
          <a:ln w="9525">
            <a:solidFill>
              <a:srgbClr val="808000"/>
            </a:solidFill>
            <a:round/>
            <a:headEnd/>
            <a:tailEnd/>
          </a:ln>
        </p:spPr>
        <p:txBody>
          <a:bodyPr wrap="none" anchor="ctr"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记住冒号</a:t>
            </a:r>
            <a:endParaRPr lang="en-US" altLang="zh-CN" sz="1800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条件表达式取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True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时，执行语句组</a:t>
            </a:r>
            <a:endParaRPr lang="en-US" altLang="zh-CN" sz="1800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语句组，是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if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后，向右缩进的部分</a:t>
            </a:r>
            <a:endParaRPr lang="en-US" altLang="zh-CN" sz="1800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遇到非缩进的语句，则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if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逻辑块结束</a:t>
            </a:r>
            <a:endParaRPr lang="en-US" altLang="zh-CN" sz="1800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箭头连接符 3"/>
          <p:cNvCxnSpPr/>
          <p:nvPr/>
        </p:nvCxnSpPr>
        <p:spPr bwMode="auto">
          <a:xfrm flipH="1">
            <a:off x="1979712" y="1203598"/>
            <a:ext cx="2322413" cy="360040"/>
          </a:xfrm>
          <a:prstGeom prst="straightConnector1">
            <a:avLst/>
          </a:prstGeom>
          <a:noFill/>
          <a:ln w="12700" algn="ctr">
            <a:solidFill>
              <a:srgbClr val="000066"/>
            </a:solidFill>
            <a:round/>
            <a:headEnd type="stealth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TextBox 1"/>
          <p:cNvSpPr txBox="1">
            <a:spLocks noChangeArrowheads="1"/>
          </p:cNvSpPr>
          <p:nvPr/>
        </p:nvSpPr>
        <p:spPr bwMode="auto">
          <a:xfrm>
            <a:off x="611560" y="365920"/>
            <a:ext cx="86407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000" b="0" dirty="0"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代码例子</a:t>
            </a:r>
            <a:endParaRPr lang="zh-CN" altLang="en-US" sz="2000" b="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17431" name="AutoShape 44"/>
          <p:cNvSpPr>
            <a:spLocks noChangeArrowheads="1"/>
          </p:cNvSpPr>
          <p:nvPr/>
        </p:nvSpPr>
        <p:spPr bwMode="gray">
          <a:xfrm>
            <a:off x="359531" y="1037775"/>
            <a:ext cx="6192688" cy="2606526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600"/>
              </a:spcBef>
            </a:pP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import math                #  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导入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math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模块</a:t>
            </a:r>
          </a:p>
          <a:p>
            <a:pPr>
              <a:spcBef>
                <a:spcPts val="600"/>
              </a:spcBef>
            </a:pPr>
            <a:r>
              <a:rPr lang="en-US" altLang="zh-CN" sz="1600" dirty="0" err="1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a,b,c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en-US" altLang="zh-CN" sz="1600" dirty="0" err="1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eval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(input("</a:t>
            </a:r>
            <a:r>
              <a:rPr lang="zh-CN" altLang="en-US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逗号间隔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输入</a:t>
            </a:r>
            <a:r>
              <a:rPr lang="en-US" altLang="zh-CN" sz="1600" dirty="0" err="1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a,b,c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: "))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600" dirty="0">
                <a:solidFill>
                  <a:srgbClr val="FF0000"/>
                </a:solidFill>
                <a:latin typeface="Courier New" pitchFamily="49" charset="0"/>
                <a:ea typeface="黑体" pitchFamily="49" charset="-122"/>
                <a:cs typeface="Courier New" pitchFamily="49" charset="0"/>
              </a:rPr>
              <a:t>if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黑体" pitchFamily="49" charset="-122"/>
                <a:cs typeface="Courier New" pitchFamily="49" charset="0"/>
              </a:rPr>
              <a:t>  </a:t>
            </a:r>
            <a:r>
              <a:rPr lang="en-US" altLang="zh-CN" sz="1600" dirty="0" err="1">
                <a:solidFill>
                  <a:srgbClr val="000066"/>
                </a:solidFill>
                <a:latin typeface="Courier New" pitchFamily="49" charset="0"/>
                <a:ea typeface="黑体" pitchFamily="49" charset="-122"/>
                <a:cs typeface="Courier New" pitchFamily="49" charset="0"/>
              </a:rPr>
              <a:t>x+y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黑体" pitchFamily="49" charset="-122"/>
                <a:cs typeface="Courier New" pitchFamily="49" charset="0"/>
              </a:rPr>
              <a:t>&gt;z and </a:t>
            </a:r>
            <a:r>
              <a:rPr lang="en-US" altLang="zh-CN" sz="1600" dirty="0" err="1">
                <a:solidFill>
                  <a:srgbClr val="000066"/>
                </a:solidFill>
                <a:latin typeface="Courier New" pitchFamily="49" charset="0"/>
                <a:ea typeface="黑体" pitchFamily="49" charset="-122"/>
                <a:cs typeface="Courier New" pitchFamily="49" charset="0"/>
              </a:rPr>
              <a:t>y+z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黑体" pitchFamily="49" charset="-122"/>
                <a:cs typeface="Courier New" pitchFamily="49" charset="0"/>
              </a:rPr>
              <a:t>&gt;x and </a:t>
            </a:r>
            <a:r>
              <a:rPr lang="en-US" altLang="zh-CN" sz="1600" dirty="0" err="1">
                <a:solidFill>
                  <a:srgbClr val="000066"/>
                </a:solidFill>
                <a:latin typeface="Courier New" pitchFamily="49" charset="0"/>
                <a:ea typeface="黑体" pitchFamily="49" charset="-122"/>
                <a:cs typeface="Courier New" pitchFamily="49" charset="0"/>
              </a:rPr>
              <a:t>x+z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黑体" pitchFamily="49" charset="-122"/>
                <a:cs typeface="Courier New" pitchFamily="49" charset="0"/>
              </a:rPr>
              <a:t>&gt;y </a:t>
            </a:r>
            <a:r>
              <a:rPr lang="en-US" altLang="zh-CN" sz="1600" dirty="0">
                <a:solidFill>
                  <a:srgbClr val="FF0000"/>
                </a:solidFill>
                <a:latin typeface="Courier New" pitchFamily="49" charset="0"/>
                <a:ea typeface="黑体" pitchFamily="49" charset="-122"/>
                <a:cs typeface="Courier New" pitchFamily="49" charset="0"/>
              </a:rPr>
              <a:t>:</a:t>
            </a:r>
          </a:p>
          <a:p>
            <a:pPr>
              <a:spcBef>
                <a:spcPts val="600"/>
              </a:spcBef>
            </a:pP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黑体" pitchFamily="49" charset="-122"/>
                <a:cs typeface="Courier New" pitchFamily="49" charset="0"/>
              </a:rPr>
              <a:t>    c = (x + y + z) / 2</a:t>
            </a:r>
          </a:p>
          <a:p>
            <a:pPr>
              <a:spcBef>
                <a:spcPts val="600"/>
              </a:spcBef>
            </a:pP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黑体" pitchFamily="49" charset="-122"/>
                <a:cs typeface="Courier New" pitchFamily="49" charset="0"/>
              </a:rPr>
              <a:t>    s =</a:t>
            </a:r>
            <a:r>
              <a:rPr lang="en-US" altLang="zh-CN" sz="1600" dirty="0" err="1">
                <a:solidFill>
                  <a:srgbClr val="000066"/>
                </a:solidFill>
                <a:latin typeface="Courier New" pitchFamily="49" charset="0"/>
                <a:ea typeface="黑体" pitchFamily="49" charset="-122"/>
                <a:cs typeface="Courier New" pitchFamily="49" charset="0"/>
              </a:rPr>
              <a:t>math.sqrt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黑体" pitchFamily="49" charset="-122"/>
                <a:cs typeface="Courier New" pitchFamily="49" charset="0"/>
              </a:rPr>
              <a:t>(c * (c - x) * (c - y) * (c - z))</a:t>
            </a:r>
          </a:p>
          <a:p>
            <a:pPr>
              <a:spcBef>
                <a:spcPts val="600"/>
              </a:spcBef>
            </a:pP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黑体" pitchFamily="49" charset="-122"/>
                <a:cs typeface="Courier New" pitchFamily="49" charset="0"/>
              </a:rPr>
              <a:t>    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print("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三角形面积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=",area)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3" name="直接连接符 2"/>
          <p:cNvCxnSpPr/>
          <p:nvPr/>
        </p:nvCxnSpPr>
        <p:spPr bwMode="auto">
          <a:xfrm>
            <a:off x="971600" y="2322188"/>
            <a:ext cx="3240360" cy="0"/>
          </a:xfrm>
          <a:prstGeom prst="line">
            <a:avLst/>
          </a:prstGeom>
          <a:noFill/>
          <a:ln w="25400" algn="ctr">
            <a:solidFill>
              <a:srgbClr val="C00000"/>
            </a:solidFill>
            <a:round/>
            <a:headEnd type="non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9" name="AutoShape 44"/>
          <p:cNvSpPr>
            <a:spLocks noChangeArrowheads="1"/>
          </p:cNvSpPr>
          <p:nvPr/>
        </p:nvSpPr>
        <p:spPr bwMode="gray">
          <a:xfrm>
            <a:off x="323528" y="3816494"/>
            <a:ext cx="4392488" cy="612775"/>
          </a:xfrm>
          <a:prstGeom prst="roundRect">
            <a:avLst>
              <a:gd name="adj" fmla="val 8014"/>
            </a:avLst>
          </a:prstGeom>
          <a:solidFill>
            <a:srgbClr val="FFFFCC"/>
          </a:solidFill>
          <a:ln w="9525">
            <a:solidFill>
              <a:srgbClr val="808000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问题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：不能构成三角形的信息没有显示</a:t>
            </a:r>
            <a:endParaRPr lang="en-US" altLang="zh-CN" sz="1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971600" y="2312767"/>
            <a:ext cx="5688632" cy="1185666"/>
          </a:xfrm>
          <a:prstGeom prst="rect">
            <a:avLst/>
          </a:prstGeom>
          <a:solidFill>
            <a:srgbClr val="00B050">
              <a:alpha val="33000"/>
            </a:srgb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8" name="AutoShape 44"/>
          <p:cNvSpPr>
            <a:spLocks noChangeArrowheads="1"/>
          </p:cNvSpPr>
          <p:nvPr/>
        </p:nvSpPr>
        <p:spPr bwMode="gray">
          <a:xfrm>
            <a:off x="6300192" y="1573873"/>
            <a:ext cx="2591941" cy="612775"/>
          </a:xfrm>
          <a:prstGeom prst="roundRect">
            <a:avLst>
              <a:gd name="adj" fmla="val 8014"/>
            </a:avLst>
          </a:prstGeom>
          <a:solidFill>
            <a:srgbClr val="FFFFCC"/>
          </a:solidFill>
          <a:ln w="9525">
            <a:solidFill>
              <a:srgbClr val="808000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绿块属于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if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，全部右缩</a:t>
            </a:r>
            <a:endParaRPr lang="en-US" altLang="zh-CN" sz="1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下箭头 3"/>
          <p:cNvSpPr/>
          <p:nvPr/>
        </p:nvSpPr>
        <p:spPr bwMode="auto">
          <a:xfrm rot="2428609">
            <a:off x="5653851" y="1800879"/>
            <a:ext cx="792088" cy="619482"/>
          </a:xfrm>
          <a:prstGeom prst="downArrow">
            <a:avLst>
              <a:gd name="adj1" fmla="val 50000"/>
              <a:gd name="adj2" fmla="val 50725"/>
            </a:avLst>
          </a:prstGeom>
          <a:solidFill>
            <a:srgbClr val="00B050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  <a:ea typeface="黑体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7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74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74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74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74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74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74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/>
      <p:bldP spid="17431" grpId="0" animBg="1"/>
      <p:bldP spid="9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9"/>
          <p:cNvSpPr>
            <a:spLocks noChangeArrowheads="1"/>
          </p:cNvSpPr>
          <p:nvPr/>
        </p:nvSpPr>
        <p:spPr bwMode="auto">
          <a:xfrm>
            <a:off x="381000" y="857250"/>
            <a:ext cx="8763000" cy="284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165100" rIns="92075" bIns="165100"/>
          <a:lstStyle/>
          <a:p>
            <a:pPr algn="just"/>
            <a:r>
              <a:rPr lang="en-US" altLang="zh-CN" sz="320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</a:t>
            </a:r>
          </a:p>
        </p:txBody>
      </p:sp>
      <p:sp>
        <p:nvSpPr>
          <p:cNvPr id="18435" name="Rectangle 1032"/>
          <p:cNvSpPr txBox="1">
            <a:spLocks noChangeArrowheads="1"/>
          </p:cNvSpPr>
          <p:nvPr/>
        </p:nvSpPr>
        <p:spPr bwMode="auto">
          <a:xfrm>
            <a:off x="468313" y="268288"/>
            <a:ext cx="6767512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 anchor="b"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if…else</a:t>
            </a:r>
            <a:r>
              <a:rPr lang="zh-CN" altLang="en-US" sz="2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语句</a:t>
            </a:r>
            <a:r>
              <a:rPr lang="en-US" altLang="zh-CN" sz="2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(</a:t>
            </a:r>
            <a:r>
              <a:rPr lang="zh-CN" altLang="en-US" sz="2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双分支结构）引例</a:t>
            </a:r>
          </a:p>
        </p:txBody>
      </p:sp>
      <p:sp>
        <p:nvSpPr>
          <p:cNvPr id="18436" name="TextBox 1"/>
          <p:cNvSpPr txBox="1">
            <a:spLocks noChangeArrowheads="1"/>
          </p:cNvSpPr>
          <p:nvPr/>
        </p:nvSpPr>
        <p:spPr bwMode="auto">
          <a:xfrm>
            <a:off x="107950" y="928212"/>
            <a:ext cx="9036050" cy="846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ts val="600"/>
              </a:spcBef>
            </a:pPr>
            <a:r>
              <a:rPr lang="zh-CN" altLang="en-US" sz="2000">
                <a:latin typeface="Courier New" pitchFamily="49" charset="0"/>
                <a:ea typeface="微软雅黑" pitchFamily="34" charset="-122"/>
                <a:cs typeface="Courier New" pitchFamily="49" charset="0"/>
              </a:rPr>
              <a:t>问题</a:t>
            </a:r>
            <a:r>
              <a:rPr lang="en-US" altLang="zh-CN" sz="2000">
                <a:latin typeface="Courier New" pitchFamily="49" charset="0"/>
                <a:ea typeface="微软雅黑" pitchFamily="34" charset="-122"/>
                <a:cs typeface="Courier New" pitchFamily="49" charset="0"/>
              </a:rPr>
              <a:t>2</a:t>
            </a:r>
            <a:r>
              <a:rPr lang="zh-CN" altLang="en-US" sz="2000"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： </a:t>
            </a:r>
            <a:r>
              <a:rPr lang="zh-CN" altLang="en-US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</a:t>
            </a:r>
            <a:r>
              <a:rPr lang="zh-CN" altLang="en-US" sz="20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输入三角形三边长</a:t>
            </a:r>
            <a:r>
              <a:rPr lang="en-US" altLang="zh-CN" sz="20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x</a:t>
            </a:r>
            <a:r>
              <a:rPr lang="zh-CN" altLang="en-US" sz="20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、</a:t>
            </a:r>
            <a:r>
              <a:rPr lang="en-US" altLang="zh-CN" sz="20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y</a:t>
            </a:r>
            <a:r>
              <a:rPr lang="zh-CN" altLang="en-US" sz="20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、</a:t>
            </a:r>
            <a:r>
              <a:rPr lang="en-US" altLang="zh-CN" sz="20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z</a:t>
            </a:r>
            <a:r>
              <a:rPr lang="zh-CN" altLang="en-US" sz="20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，能否在输入边长不合理的情况下，</a:t>
            </a:r>
            <a:endParaRPr lang="en-US" altLang="zh-CN" sz="2000" b="0">
              <a:solidFill>
                <a:srgbClr val="000066"/>
              </a:solidFill>
              <a:latin typeface="微软雅黑" pitchFamily="34" charset="-122"/>
              <a:ea typeface="微软雅黑" pitchFamily="34" charset="-122"/>
              <a:cs typeface="Courier New" pitchFamily="49" charset="0"/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zh-CN" sz="20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              </a:t>
            </a:r>
            <a:r>
              <a:rPr lang="zh-CN" altLang="en-US" sz="20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给出相应的友好提示？</a:t>
            </a:r>
          </a:p>
        </p:txBody>
      </p:sp>
      <p:sp>
        <p:nvSpPr>
          <p:cNvPr id="18437" name="灯片编号占位符 3"/>
          <p:cNvSpPr txBox="1">
            <a:spLocks/>
          </p:cNvSpPr>
          <p:nvPr/>
        </p:nvSpPr>
        <p:spPr bwMode="auto">
          <a:xfrm>
            <a:off x="4302125" y="4589463"/>
            <a:ext cx="733425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</a:pPr>
            <a:fld id="{BDB8A244-3C1C-4C33-A129-EFD4EC68F98A}" type="slidenum">
              <a:rPr kumimoji="0" lang="en-US" altLang="zh-CN" sz="1800">
                <a:solidFill>
                  <a:schemeClr val="bg1"/>
                </a:solidFill>
                <a:latin typeface="Arial Black" pitchFamily="34" charset="0"/>
                <a:ea typeface="楷体_GB2312" pitchFamily="49" charset="-122"/>
              </a:rPr>
              <a:pPr algn="ctr" eaLnBrk="1" hangingPunct="1">
                <a:lnSpc>
                  <a:spcPct val="120000"/>
                </a:lnSpc>
              </a:pPr>
              <a:t>10</a:t>
            </a:fld>
            <a:endParaRPr kumimoji="0" lang="en-US" altLang="zh-CN" sz="1800">
              <a:solidFill>
                <a:schemeClr val="bg1"/>
              </a:solidFill>
              <a:latin typeface="Arial Black" pitchFamily="34" charset="0"/>
              <a:ea typeface="楷体_GB2312" pitchFamily="49" charset="-122"/>
            </a:endParaRPr>
          </a:p>
        </p:txBody>
      </p:sp>
      <p:sp>
        <p:nvSpPr>
          <p:cNvPr id="18438" name="Text Box 1037"/>
          <p:cNvSpPr txBox="1">
            <a:spLocks noChangeArrowheads="1"/>
          </p:cNvSpPr>
          <p:nvPr/>
        </p:nvSpPr>
        <p:spPr bwMode="auto">
          <a:xfrm>
            <a:off x="5791200" y="3912592"/>
            <a:ext cx="1066800" cy="38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本章目录</a:t>
            </a:r>
          </a:p>
        </p:txBody>
      </p:sp>
      <p:sp>
        <p:nvSpPr>
          <p:cNvPr id="20" name="平行四边形 19"/>
          <p:cNvSpPr>
            <a:spLocks noChangeArrowheads="1"/>
          </p:cNvSpPr>
          <p:nvPr/>
        </p:nvSpPr>
        <p:spPr bwMode="auto">
          <a:xfrm>
            <a:off x="6523038" y="1510705"/>
            <a:ext cx="1611312" cy="376237"/>
          </a:xfrm>
          <a:prstGeom prst="parallelogram">
            <a:avLst>
              <a:gd name="adj" fmla="val 24943"/>
            </a:avLst>
          </a:prstGeom>
          <a:noFill/>
          <a:ln w="25400" algn="ctr">
            <a:solidFill>
              <a:srgbClr val="8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160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输入三条边长</a:t>
            </a:r>
          </a:p>
        </p:txBody>
      </p:sp>
      <p:cxnSp>
        <p:nvCxnSpPr>
          <p:cNvPr id="18440" name="直接箭头连接符 3"/>
          <p:cNvCxnSpPr>
            <a:cxnSpLocks noChangeShapeType="1"/>
          </p:cNvCxnSpPr>
          <p:nvPr/>
        </p:nvCxnSpPr>
        <p:spPr bwMode="auto">
          <a:xfrm>
            <a:off x="7161213" y="2086967"/>
            <a:ext cx="0" cy="215900"/>
          </a:xfrm>
          <a:prstGeom prst="straightConnector1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26" name="菱形 4"/>
          <p:cNvSpPr>
            <a:spLocks noChangeArrowheads="1"/>
          </p:cNvSpPr>
          <p:nvPr/>
        </p:nvSpPr>
        <p:spPr bwMode="auto">
          <a:xfrm>
            <a:off x="6300788" y="2180630"/>
            <a:ext cx="1847850" cy="587375"/>
          </a:xfrm>
          <a:prstGeom prst="diamond">
            <a:avLst/>
          </a:prstGeom>
          <a:noFill/>
          <a:ln w="25400" algn="ctr">
            <a:solidFill>
              <a:srgbClr val="8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lang="zh-CN" altLang="en-US" sz="160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边长合理？</a:t>
            </a:r>
          </a:p>
        </p:txBody>
      </p:sp>
      <p:cxnSp>
        <p:nvCxnSpPr>
          <p:cNvPr id="28" name="直接连接符 7"/>
          <p:cNvCxnSpPr>
            <a:cxnSpLocks noChangeShapeType="1"/>
            <a:stCxn id="26" idx="3"/>
          </p:cNvCxnSpPr>
          <p:nvPr/>
        </p:nvCxnSpPr>
        <p:spPr bwMode="auto">
          <a:xfrm>
            <a:off x="8148638" y="2474317"/>
            <a:ext cx="236537" cy="0"/>
          </a:xfrm>
          <a:prstGeom prst="line">
            <a:avLst/>
          </a:prstGeom>
          <a:noFill/>
          <a:ln w="28575" algn="ctr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29" name="直接连接符 15"/>
          <p:cNvCxnSpPr>
            <a:cxnSpLocks noChangeShapeType="1"/>
          </p:cNvCxnSpPr>
          <p:nvPr/>
        </p:nvCxnSpPr>
        <p:spPr bwMode="auto">
          <a:xfrm flipH="1" flipV="1">
            <a:off x="8385175" y="2474317"/>
            <a:ext cx="0" cy="371475"/>
          </a:xfrm>
          <a:prstGeom prst="line">
            <a:avLst/>
          </a:prstGeom>
          <a:noFill/>
          <a:ln w="28575" algn="ctr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30" name="直接连接符 19"/>
          <p:cNvCxnSpPr>
            <a:cxnSpLocks noChangeShapeType="1"/>
          </p:cNvCxnSpPr>
          <p:nvPr/>
        </p:nvCxnSpPr>
        <p:spPr bwMode="auto">
          <a:xfrm>
            <a:off x="7208838" y="3601442"/>
            <a:ext cx="1176337" cy="0"/>
          </a:xfrm>
          <a:prstGeom prst="line">
            <a:avLst/>
          </a:prstGeom>
          <a:noFill/>
          <a:ln w="28575" algn="ctr">
            <a:solidFill>
              <a:srgbClr val="000066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31" name="直接连接符 30"/>
          <p:cNvCxnSpPr>
            <a:cxnSpLocks noChangeShapeType="1"/>
          </p:cNvCxnSpPr>
          <p:nvPr/>
        </p:nvCxnSpPr>
        <p:spPr bwMode="auto">
          <a:xfrm flipH="1" flipV="1">
            <a:off x="7218363" y="1886942"/>
            <a:ext cx="6350" cy="293688"/>
          </a:xfrm>
          <a:prstGeom prst="line">
            <a:avLst/>
          </a:prstGeom>
          <a:noFill/>
          <a:ln w="28575" algn="ctr">
            <a:solidFill>
              <a:srgbClr val="808000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32" name="TextBox 31"/>
          <p:cNvSpPr txBox="1">
            <a:spLocks noChangeArrowheads="1"/>
          </p:cNvSpPr>
          <p:nvPr/>
        </p:nvSpPr>
        <p:spPr bwMode="auto">
          <a:xfrm>
            <a:off x="5797550" y="2021880"/>
            <a:ext cx="1077913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1800">
                <a:solidFill>
                  <a:srgbClr val="808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True</a:t>
            </a:r>
            <a:endParaRPr lang="zh-CN" altLang="en-US" sz="1800">
              <a:solidFill>
                <a:srgbClr val="808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33" name="TextBox 32"/>
          <p:cNvSpPr txBox="1">
            <a:spLocks noChangeArrowheads="1"/>
          </p:cNvSpPr>
          <p:nvPr/>
        </p:nvSpPr>
        <p:spPr bwMode="auto">
          <a:xfrm>
            <a:off x="7680325" y="1983780"/>
            <a:ext cx="935038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18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False</a:t>
            </a:r>
            <a:endParaRPr lang="zh-CN" altLang="en-US" sz="180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cxnSp>
        <p:nvCxnSpPr>
          <p:cNvPr id="35" name="直接连接符 34"/>
          <p:cNvCxnSpPr>
            <a:cxnSpLocks noChangeShapeType="1"/>
          </p:cNvCxnSpPr>
          <p:nvPr/>
        </p:nvCxnSpPr>
        <p:spPr bwMode="auto">
          <a:xfrm flipV="1">
            <a:off x="7250113" y="3647480"/>
            <a:ext cx="0" cy="481012"/>
          </a:xfrm>
          <a:prstGeom prst="line">
            <a:avLst/>
          </a:prstGeom>
          <a:noFill/>
          <a:ln w="28575" algn="ctr">
            <a:solidFill>
              <a:srgbClr val="000066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38" name="直接连接符 7"/>
          <p:cNvCxnSpPr>
            <a:cxnSpLocks noChangeShapeType="1"/>
          </p:cNvCxnSpPr>
          <p:nvPr/>
        </p:nvCxnSpPr>
        <p:spPr bwMode="auto">
          <a:xfrm>
            <a:off x="6045200" y="2475905"/>
            <a:ext cx="236538" cy="0"/>
          </a:xfrm>
          <a:prstGeom prst="line">
            <a:avLst/>
          </a:prstGeom>
          <a:noFill/>
          <a:ln w="28575" algn="ctr">
            <a:solidFill>
              <a:srgbClr val="8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39" name="直接连接符 15"/>
          <p:cNvCxnSpPr>
            <a:cxnSpLocks noChangeShapeType="1"/>
            <a:stCxn id="41" idx="0"/>
          </p:cNvCxnSpPr>
          <p:nvPr/>
        </p:nvCxnSpPr>
        <p:spPr bwMode="auto">
          <a:xfrm flipH="1" flipV="1">
            <a:off x="6042640" y="2473047"/>
            <a:ext cx="7405" cy="393978"/>
          </a:xfrm>
          <a:prstGeom prst="line">
            <a:avLst/>
          </a:prstGeom>
          <a:noFill/>
          <a:ln w="28575" algn="ctr">
            <a:solidFill>
              <a:srgbClr val="8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40" name="直接连接符 19"/>
          <p:cNvCxnSpPr>
            <a:cxnSpLocks noChangeShapeType="1"/>
          </p:cNvCxnSpPr>
          <p:nvPr/>
        </p:nvCxnSpPr>
        <p:spPr bwMode="auto">
          <a:xfrm>
            <a:off x="6054725" y="3622080"/>
            <a:ext cx="1176338" cy="0"/>
          </a:xfrm>
          <a:prstGeom prst="line">
            <a:avLst/>
          </a:prstGeom>
          <a:noFill/>
          <a:ln w="28575" algn="ctr">
            <a:solidFill>
              <a:srgbClr val="808000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41" name="矩形 5"/>
          <p:cNvSpPr>
            <a:spLocks noChangeArrowheads="1"/>
          </p:cNvSpPr>
          <p:nvPr/>
        </p:nvSpPr>
        <p:spPr bwMode="auto">
          <a:xfrm>
            <a:off x="5186045" y="2867025"/>
            <a:ext cx="1728000" cy="360000"/>
          </a:xfrm>
          <a:prstGeom prst="rect">
            <a:avLst/>
          </a:prstGeom>
          <a:noFill/>
          <a:ln w="28575" algn="ctr">
            <a:solidFill>
              <a:srgbClr val="8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lang="zh-CN" altLang="en-US" sz="1600">
                <a:solidFill>
                  <a:srgbClr val="808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计算面积并显示</a:t>
            </a:r>
          </a:p>
        </p:txBody>
      </p:sp>
      <p:sp>
        <p:nvSpPr>
          <p:cNvPr id="42" name="矩形 5"/>
          <p:cNvSpPr>
            <a:spLocks noChangeArrowheads="1"/>
          </p:cNvSpPr>
          <p:nvPr/>
        </p:nvSpPr>
        <p:spPr bwMode="auto">
          <a:xfrm>
            <a:off x="7700352" y="2867025"/>
            <a:ext cx="1296000" cy="360000"/>
          </a:xfrm>
          <a:prstGeom prst="rect">
            <a:avLst/>
          </a:prstGeom>
          <a:noFill/>
          <a:ln w="28575" algn="ctr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lang="zh-CN" altLang="en-US" sz="160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提示</a:t>
            </a:r>
          </a:p>
        </p:txBody>
      </p:sp>
      <p:cxnSp>
        <p:nvCxnSpPr>
          <p:cNvPr id="44" name="直接连接符 15"/>
          <p:cNvCxnSpPr>
            <a:cxnSpLocks noChangeShapeType="1"/>
          </p:cNvCxnSpPr>
          <p:nvPr/>
        </p:nvCxnSpPr>
        <p:spPr bwMode="auto">
          <a:xfrm flipH="1" flipV="1">
            <a:off x="6070600" y="3231555"/>
            <a:ext cx="0" cy="387350"/>
          </a:xfrm>
          <a:prstGeom prst="line">
            <a:avLst/>
          </a:prstGeom>
          <a:noFill/>
          <a:ln w="28575" algn="ctr">
            <a:solidFill>
              <a:srgbClr val="8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46" name="直接连接符 15"/>
          <p:cNvCxnSpPr>
            <a:cxnSpLocks noChangeShapeType="1"/>
          </p:cNvCxnSpPr>
          <p:nvPr/>
        </p:nvCxnSpPr>
        <p:spPr bwMode="auto">
          <a:xfrm flipV="1">
            <a:off x="8385175" y="3236317"/>
            <a:ext cx="3175" cy="365125"/>
          </a:xfrm>
          <a:prstGeom prst="line">
            <a:avLst/>
          </a:prstGeom>
          <a:noFill/>
          <a:ln w="28575" algn="ctr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34" name="AutoShape 44"/>
          <p:cNvSpPr>
            <a:spLocks noChangeArrowheads="1"/>
          </p:cNvSpPr>
          <p:nvPr/>
        </p:nvSpPr>
        <p:spPr bwMode="gray">
          <a:xfrm>
            <a:off x="187324" y="1871432"/>
            <a:ext cx="4848225" cy="2351185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import math                         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6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a,b,c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=</a:t>
            </a:r>
            <a:r>
              <a:rPr lang="en-US" altLang="zh-CN" sz="16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eval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(input("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输入</a:t>
            </a:r>
            <a:r>
              <a:rPr lang="en-US" altLang="zh-CN" sz="16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a,b,c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: "))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if </a:t>
            </a:r>
            <a:r>
              <a:rPr lang="en-US" altLang="zh-CN" sz="1600" dirty="0" err="1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a+b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&gt; c and </a:t>
            </a:r>
            <a:r>
              <a:rPr lang="en-US" altLang="zh-CN" sz="1600" dirty="0" err="1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b+c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&gt; a and </a:t>
            </a:r>
            <a:r>
              <a:rPr lang="en-US" altLang="zh-CN" sz="1600" dirty="0" err="1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c+a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&gt; b :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	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t=(</a:t>
            </a:r>
            <a:r>
              <a:rPr lang="en-US" altLang="zh-CN" sz="16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a+b+c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)/2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area=</a:t>
            </a:r>
            <a:r>
              <a:rPr lang="en-US" altLang="zh-CN" sz="16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math.sqrt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(t*(t-a)*(t-b)*(t-c))    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print("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三角形面积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=",area)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else: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				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print("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不能构成三角形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")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478675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3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8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2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6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6" grpId="0" animBg="1"/>
      <p:bldP spid="32" grpId="0"/>
      <p:bldP spid="33" grpId="0"/>
      <p:bldP spid="41" grpId="0" animBg="1"/>
      <p:bldP spid="4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9"/>
          <p:cNvSpPr>
            <a:spLocks noChangeArrowheads="1"/>
          </p:cNvSpPr>
          <p:nvPr/>
        </p:nvSpPr>
        <p:spPr bwMode="auto">
          <a:xfrm>
            <a:off x="381000" y="857250"/>
            <a:ext cx="8763000" cy="284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165100" rIns="92075" bIns="165100"/>
          <a:lstStyle/>
          <a:p>
            <a:pPr algn="just"/>
            <a:r>
              <a:rPr lang="en-US" altLang="zh-CN" sz="320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</a:t>
            </a:r>
          </a:p>
        </p:txBody>
      </p:sp>
      <p:sp>
        <p:nvSpPr>
          <p:cNvPr id="18435" name="Rectangle 1032"/>
          <p:cNvSpPr txBox="1">
            <a:spLocks noChangeArrowheads="1"/>
          </p:cNvSpPr>
          <p:nvPr/>
        </p:nvSpPr>
        <p:spPr bwMode="auto">
          <a:xfrm>
            <a:off x="393701" y="242293"/>
            <a:ext cx="6767512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 anchor="b"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if…else</a:t>
            </a:r>
            <a:r>
              <a:rPr lang="zh-CN" altLang="en-US" sz="2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语句格式和控制逻辑</a:t>
            </a:r>
          </a:p>
        </p:txBody>
      </p:sp>
      <p:sp>
        <p:nvSpPr>
          <p:cNvPr id="18437" name="灯片编号占位符 3"/>
          <p:cNvSpPr txBox="1">
            <a:spLocks/>
          </p:cNvSpPr>
          <p:nvPr/>
        </p:nvSpPr>
        <p:spPr bwMode="auto">
          <a:xfrm>
            <a:off x="4302125" y="4589463"/>
            <a:ext cx="733425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</a:pPr>
            <a:fld id="{BDB8A244-3C1C-4C33-A129-EFD4EC68F98A}" type="slidenum">
              <a:rPr kumimoji="0" lang="en-US" altLang="zh-CN" sz="1800">
                <a:solidFill>
                  <a:schemeClr val="bg1"/>
                </a:solidFill>
                <a:latin typeface="Arial Black" pitchFamily="34" charset="0"/>
                <a:ea typeface="楷体_GB2312" pitchFamily="49" charset="-122"/>
              </a:rPr>
              <a:pPr algn="ctr" eaLnBrk="1" hangingPunct="1">
                <a:lnSpc>
                  <a:spcPct val="120000"/>
                </a:lnSpc>
              </a:pPr>
              <a:t>11</a:t>
            </a:fld>
            <a:endParaRPr kumimoji="0" lang="en-US" altLang="zh-CN" sz="1800">
              <a:solidFill>
                <a:schemeClr val="bg1"/>
              </a:solidFill>
              <a:latin typeface="Arial Black" pitchFamily="34" charset="0"/>
              <a:ea typeface="楷体_GB2312" pitchFamily="49" charset="-122"/>
            </a:endParaRPr>
          </a:p>
        </p:txBody>
      </p:sp>
      <p:sp>
        <p:nvSpPr>
          <p:cNvPr id="34" name="AutoShape 44"/>
          <p:cNvSpPr>
            <a:spLocks noChangeArrowheads="1"/>
          </p:cNvSpPr>
          <p:nvPr/>
        </p:nvSpPr>
        <p:spPr bwMode="gray">
          <a:xfrm>
            <a:off x="373936" y="825749"/>
            <a:ext cx="3456384" cy="2881064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if </a:t>
            </a:r>
            <a:r>
              <a:rPr lang="zh-CN" altLang="en-US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条件表达式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: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	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</a:t>
            </a:r>
            <a:r>
              <a:rPr lang="zh-CN" altLang="en-US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语句组</a:t>
            </a:r>
            <a:endParaRPr lang="en-US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endParaRPr lang="en-US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endParaRPr lang="en-US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else:</a:t>
            </a:r>
          </a:p>
          <a:p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</a:t>
            </a:r>
            <a:r>
              <a:rPr lang="zh-CN" altLang="en-US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语句组</a:t>
            </a:r>
            <a:endParaRPr lang="en-US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endParaRPr lang="en-US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805984" y="1669246"/>
            <a:ext cx="1296144" cy="608583"/>
          </a:xfrm>
          <a:prstGeom prst="rect">
            <a:avLst/>
          </a:prstGeom>
          <a:solidFill>
            <a:srgbClr val="00B050">
              <a:alpha val="33000"/>
            </a:srgb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27" name="AutoShape 44"/>
          <p:cNvSpPr>
            <a:spLocks noChangeArrowheads="1"/>
          </p:cNvSpPr>
          <p:nvPr/>
        </p:nvSpPr>
        <p:spPr bwMode="gray">
          <a:xfrm>
            <a:off x="4139952" y="839793"/>
            <a:ext cx="4536504" cy="1587941"/>
          </a:xfrm>
          <a:prstGeom prst="roundRect">
            <a:avLst>
              <a:gd name="adj" fmla="val 8014"/>
            </a:avLst>
          </a:prstGeom>
          <a:solidFill>
            <a:srgbClr val="FFFFCC"/>
          </a:solidFill>
          <a:ln w="9525">
            <a:solidFill>
              <a:srgbClr val="808000"/>
            </a:solidFill>
            <a:round/>
            <a:headEnd/>
            <a:tailEnd/>
          </a:ln>
        </p:spPr>
        <p:txBody>
          <a:bodyPr wrap="none" anchor="ctr"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记住冒号</a:t>
            </a:r>
            <a:endParaRPr lang="en-US" altLang="zh-CN" sz="1800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条件表达式取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True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时，执行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if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语句组</a:t>
            </a:r>
            <a:endParaRPr lang="en-US" altLang="zh-CN" sz="1800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否则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else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语句组</a:t>
            </a:r>
            <a:endParaRPr lang="en-US" altLang="zh-CN" sz="1800" dirty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800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箭头连接符 3"/>
          <p:cNvCxnSpPr/>
          <p:nvPr/>
        </p:nvCxnSpPr>
        <p:spPr bwMode="auto">
          <a:xfrm flipH="1">
            <a:off x="1979712" y="1203598"/>
            <a:ext cx="2322413" cy="360040"/>
          </a:xfrm>
          <a:prstGeom prst="straightConnector1">
            <a:avLst/>
          </a:prstGeom>
          <a:noFill/>
          <a:ln w="12700" algn="ctr">
            <a:solidFill>
              <a:srgbClr val="000066"/>
            </a:solidFill>
            <a:round/>
            <a:headEnd type="stealth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9" name="矩形 8"/>
          <p:cNvSpPr/>
          <p:nvPr/>
        </p:nvSpPr>
        <p:spPr bwMode="auto">
          <a:xfrm>
            <a:off x="805984" y="2615653"/>
            <a:ext cx="1296144" cy="608583"/>
          </a:xfrm>
          <a:prstGeom prst="rect">
            <a:avLst/>
          </a:prstGeom>
          <a:solidFill>
            <a:srgbClr val="00B050">
              <a:alpha val="33000"/>
            </a:srgb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77881157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312738"/>
            <a:ext cx="7342187" cy="530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algn="l"/>
            <a:r>
              <a:rPr kumimoji="1" lang="en-US" altLang="zh-CN" sz="2800" b="1" kern="12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if…</a:t>
            </a:r>
            <a:r>
              <a:rPr kumimoji="1" lang="en-US" altLang="zh-CN" sz="2800" b="1" kern="1200" dirty="0" err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elif</a:t>
            </a:r>
            <a:r>
              <a:rPr kumimoji="1" lang="en-US" altLang="zh-CN" sz="2800" b="1" kern="12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…else</a:t>
            </a:r>
            <a:r>
              <a:rPr lang="en-US" altLang="zh-CN" sz="2800" b="1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</a:t>
            </a:r>
            <a:r>
              <a:rPr lang="zh-CN" altLang="en-US" sz="2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语句（多分支结构）引例 </a:t>
            </a:r>
          </a:p>
        </p:txBody>
      </p:sp>
      <p:sp>
        <p:nvSpPr>
          <p:cNvPr id="19459" name="TextBox 1"/>
          <p:cNvSpPr txBox="1">
            <a:spLocks noChangeArrowheads="1"/>
          </p:cNvSpPr>
          <p:nvPr/>
        </p:nvSpPr>
        <p:spPr bwMode="auto">
          <a:xfrm>
            <a:off x="107950" y="1058863"/>
            <a:ext cx="8640763" cy="72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ts val="600"/>
              </a:spcBef>
            </a:pPr>
            <a:r>
              <a:rPr lang="zh-CN" altLang="zh-CN" sz="1800" dirty="0">
                <a:latin typeface="微软雅黑" pitchFamily="34" charset="-122"/>
                <a:ea typeface="微软雅黑" pitchFamily="34" charset="-122"/>
              </a:rPr>
              <a:t>进一步思考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：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输入三角形三边长</a:t>
            </a:r>
            <a:r>
              <a:rPr lang="en-US" altLang="zh-CN" sz="1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x</a:t>
            </a:r>
            <a:r>
              <a:rPr lang="zh-CN" altLang="en-US" sz="1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、</a:t>
            </a:r>
            <a:r>
              <a:rPr lang="en-US" altLang="zh-CN" sz="1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y</a:t>
            </a:r>
            <a:r>
              <a:rPr lang="zh-CN" altLang="en-US" sz="1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、</a:t>
            </a:r>
            <a:r>
              <a:rPr lang="en-US" altLang="zh-CN" sz="1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z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，判断是何种类型三角形？</a:t>
            </a:r>
            <a:endParaRPr lang="en-US" altLang="zh-CN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  <a:cs typeface="Courier New" pitchFamily="49" charset="0"/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	       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不合理边长、等边、等腰、任意</a:t>
            </a:r>
          </a:p>
        </p:txBody>
      </p:sp>
      <p:sp>
        <p:nvSpPr>
          <p:cNvPr id="12" name="平行四边形 11"/>
          <p:cNvSpPr>
            <a:spLocks noChangeArrowheads="1"/>
          </p:cNvSpPr>
          <p:nvPr/>
        </p:nvSpPr>
        <p:spPr bwMode="auto">
          <a:xfrm>
            <a:off x="1153985" y="2094961"/>
            <a:ext cx="1608137" cy="275177"/>
          </a:xfrm>
          <a:prstGeom prst="parallelogram">
            <a:avLst>
              <a:gd name="adj" fmla="val 24897"/>
            </a:avLst>
          </a:prstGeom>
          <a:noFill/>
          <a:ln w="19050" algn="ctr">
            <a:solidFill>
              <a:srgbClr val="6666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12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输入三条边长</a:t>
            </a:r>
          </a:p>
        </p:txBody>
      </p:sp>
      <p:sp>
        <p:nvSpPr>
          <p:cNvPr id="14" name="菱形 4"/>
          <p:cNvSpPr>
            <a:spLocks noChangeArrowheads="1"/>
          </p:cNvSpPr>
          <p:nvPr/>
        </p:nvSpPr>
        <p:spPr bwMode="auto">
          <a:xfrm>
            <a:off x="1115616" y="2640447"/>
            <a:ext cx="1656000" cy="354732"/>
          </a:xfrm>
          <a:prstGeom prst="diamond">
            <a:avLst/>
          </a:prstGeom>
          <a:noFill/>
          <a:ln w="12700" algn="ctr">
            <a:solidFill>
              <a:srgbClr val="6666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1300"/>
              </a:lnSpc>
            </a:pPr>
            <a:r>
              <a:rPr lang="zh-CN" altLang="en-US" sz="12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边长不合理</a:t>
            </a:r>
            <a:r>
              <a:rPr lang="zh-CN" altLang="en-US" sz="14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？</a:t>
            </a:r>
          </a:p>
        </p:txBody>
      </p:sp>
      <p:cxnSp>
        <p:nvCxnSpPr>
          <p:cNvPr id="18" name="直接连接符 17"/>
          <p:cNvCxnSpPr>
            <a:cxnSpLocks noChangeShapeType="1"/>
          </p:cNvCxnSpPr>
          <p:nvPr/>
        </p:nvCxnSpPr>
        <p:spPr bwMode="auto">
          <a:xfrm flipV="1">
            <a:off x="1942359" y="2370138"/>
            <a:ext cx="0" cy="252412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2641472" y="2466975"/>
            <a:ext cx="935038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False</a:t>
            </a:r>
            <a:endParaRPr lang="zh-CN" altLang="en-US" sz="140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26" name="矩形 5"/>
          <p:cNvSpPr>
            <a:spLocks noChangeArrowheads="1"/>
          </p:cNvSpPr>
          <p:nvPr/>
        </p:nvSpPr>
        <p:spPr bwMode="auto">
          <a:xfrm>
            <a:off x="1570247" y="3851592"/>
            <a:ext cx="828000" cy="221599"/>
          </a:xfrm>
          <a:prstGeom prst="rect">
            <a:avLst/>
          </a:prstGeom>
          <a:noFill/>
          <a:ln w="19050" algn="ctr">
            <a:solidFill>
              <a:srgbClr val="6666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lang="zh-CN" altLang="en-US" sz="12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提示信息</a:t>
            </a:r>
          </a:p>
        </p:txBody>
      </p:sp>
      <p:cxnSp>
        <p:nvCxnSpPr>
          <p:cNvPr id="38" name="直接连接符 37"/>
          <p:cNvCxnSpPr>
            <a:cxnSpLocks noChangeShapeType="1"/>
            <a:stCxn id="14" idx="2"/>
          </p:cNvCxnSpPr>
          <p:nvPr/>
        </p:nvCxnSpPr>
        <p:spPr bwMode="auto">
          <a:xfrm>
            <a:off x="1943616" y="2995179"/>
            <a:ext cx="0" cy="856413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48" name="菱形 4"/>
          <p:cNvSpPr>
            <a:spLocks noChangeArrowheads="1"/>
          </p:cNvSpPr>
          <p:nvPr/>
        </p:nvSpPr>
        <p:spPr bwMode="auto">
          <a:xfrm>
            <a:off x="2498597" y="2959100"/>
            <a:ext cx="1916113" cy="330200"/>
          </a:xfrm>
          <a:prstGeom prst="diamond">
            <a:avLst/>
          </a:prstGeom>
          <a:noFill/>
          <a:ln w="12700" algn="ctr">
            <a:solidFill>
              <a:srgbClr val="6666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1300"/>
              </a:lnSpc>
            </a:pPr>
            <a:r>
              <a:rPr lang="zh-CN" altLang="en-US" sz="12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等边三角形</a:t>
            </a:r>
          </a:p>
        </p:txBody>
      </p:sp>
      <p:sp>
        <p:nvSpPr>
          <p:cNvPr id="49" name="菱形 4"/>
          <p:cNvSpPr>
            <a:spLocks noChangeArrowheads="1"/>
          </p:cNvSpPr>
          <p:nvPr/>
        </p:nvSpPr>
        <p:spPr bwMode="auto">
          <a:xfrm>
            <a:off x="4103560" y="3289300"/>
            <a:ext cx="1836000" cy="331788"/>
          </a:xfrm>
          <a:prstGeom prst="diamond">
            <a:avLst/>
          </a:prstGeom>
          <a:noFill/>
          <a:ln w="12700" algn="ctr">
            <a:solidFill>
              <a:srgbClr val="6666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1300"/>
              </a:lnSpc>
            </a:pPr>
            <a:r>
              <a:rPr lang="zh-CN" altLang="en-US" sz="12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等腰三角形</a:t>
            </a:r>
          </a:p>
        </p:txBody>
      </p:sp>
      <p:cxnSp>
        <p:nvCxnSpPr>
          <p:cNvPr id="53" name="直接连接符 52"/>
          <p:cNvCxnSpPr>
            <a:cxnSpLocks noChangeShapeType="1"/>
          </p:cNvCxnSpPr>
          <p:nvPr/>
        </p:nvCxnSpPr>
        <p:spPr bwMode="auto">
          <a:xfrm flipH="1">
            <a:off x="2762122" y="2819709"/>
            <a:ext cx="666750" cy="0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57" name="直接连接符 56"/>
          <p:cNvCxnSpPr>
            <a:cxnSpLocks noChangeShapeType="1"/>
          </p:cNvCxnSpPr>
          <p:nvPr/>
        </p:nvCxnSpPr>
        <p:spPr bwMode="auto">
          <a:xfrm flipV="1">
            <a:off x="3428872" y="2793867"/>
            <a:ext cx="0" cy="165600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63" name="直接连接符 62"/>
          <p:cNvCxnSpPr>
            <a:cxnSpLocks noChangeShapeType="1"/>
          </p:cNvCxnSpPr>
          <p:nvPr/>
        </p:nvCxnSpPr>
        <p:spPr bwMode="auto">
          <a:xfrm flipH="1">
            <a:off x="4417886" y="3114675"/>
            <a:ext cx="576000" cy="0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64" name="直接连接符 63"/>
          <p:cNvCxnSpPr>
            <a:cxnSpLocks noChangeShapeType="1"/>
          </p:cNvCxnSpPr>
          <p:nvPr/>
        </p:nvCxnSpPr>
        <p:spPr bwMode="auto">
          <a:xfrm flipV="1">
            <a:off x="4998641" y="3114675"/>
            <a:ext cx="0" cy="165100"/>
          </a:xfrm>
          <a:prstGeom prst="line">
            <a:avLst/>
          </a:prstGeom>
          <a:noFill/>
          <a:ln w="12700" algn="ctr">
            <a:solidFill>
              <a:srgbClr val="000066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65" name="直接连接符 64"/>
          <p:cNvCxnSpPr>
            <a:cxnSpLocks noChangeShapeType="1"/>
          </p:cNvCxnSpPr>
          <p:nvPr/>
        </p:nvCxnSpPr>
        <p:spPr bwMode="auto">
          <a:xfrm flipH="1">
            <a:off x="5906961" y="3452813"/>
            <a:ext cx="499986" cy="1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66" name="直接连接符 65"/>
          <p:cNvCxnSpPr>
            <a:cxnSpLocks noChangeShapeType="1"/>
            <a:stCxn id="73" idx="0"/>
          </p:cNvCxnSpPr>
          <p:nvPr/>
        </p:nvCxnSpPr>
        <p:spPr bwMode="auto">
          <a:xfrm flipV="1">
            <a:off x="6406947" y="3455989"/>
            <a:ext cx="1" cy="368619"/>
          </a:xfrm>
          <a:prstGeom prst="line">
            <a:avLst/>
          </a:prstGeom>
          <a:noFill/>
          <a:ln w="12700" algn="ctr">
            <a:solidFill>
              <a:srgbClr val="000066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69" name="直接连接符 68"/>
          <p:cNvCxnSpPr>
            <a:cxnSpLocks noChangeShapeType="1"/>
          </p:cNvCxnSpPr>
          <p:nvPr/>
        </p:nvCxnSpPr>
        <p:spPr bwMode="auto">
          <a:xfrm flipH="1">
            <a:off x="3458191" y="3289300"/>
            <a:ext cx="0" cy="535308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71" name="矩形 5"/>
          <p:cNvSpPr>
            <a:spLocks noChangeArrowheads="1"/>
          </p:cNvSpPr>
          <p:nvPr/>
        </p:nvSpPr>
        <p:spPr bwMode="auto">
          <a:xfrm>
            <a:off x="3060116" y="3824608"/>
            <a:ext cx="828000" cy="223200"/>
          </a:xfrm>
          <a:prstGeom prst="rect">
            <a:avLst/>
          </a:prstGeom>
          <a:noFill/>
          <a:ln w="19050" algn="ctr">
            <a:solidFill>
              <a:srgbClr val="6666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lang="zh-CN" altLang="en-US" sz="12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提示信息</a:t>
            </a:r>
          </a:p>
        </p:txBody>
      </p:sp>
      <p:sp>
        <p:nvSpPr>
          <p:cNvPr id="72" name="矩形 5"/>
          <p:cNvSpPr>
            <a:spLocks noChangeArrowheads="1"/>
          </p:cNvSpPr>
          <p:nvPr/>
        </p:nvSpPr>
        <p:spPr bwMode="auto">
          <a:xfrm>
            <a:off x="4629360" y="3851592"/>
            <a:ext cx="828000" cy="223200"/>
          </a:xfrm>
          <a:prstGeom prst="rect">
            <a:avLst/>
          </a:prstGeom>
          <a:noFill/>
          <a:ln w="19050" algn="ctr">
            <a:solidFill>
              <a:srgbClr val="6666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lang="zh-CN" altLang="en-US" sz="12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提示信息</a:t>
            </a:r>
          </a:p>
        </p:txBody>
      </p:sp>
      <p:sp>
        <p:nvSpPr>
          <p:cNvPr id="73" name="矩形 5"/>
          <p:cNvSpPr>
            <a:spLocks noChangeArrowheads="1"/>
          </p:cNvSpPr>
          <p:nvPr/>
        </p:nvSpPr>
        <p:spPr bwMode="auto">
          <a:xfrm>
            <a:off x="5992947" y="3824608"/>
            <a:ext cx="828000" cy="223200"/>
          </a:xfrm>
          <a:prstGeom prst="rect">
            <a:avLst/>
          </a:prstGeom>
          <a:noFill/>
          <a:ln w="19050" algn="ctr">
            <a:solidFill>
              <a:srgbClr val="6666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lang="zh-CN" altLang="en-US" sz="12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提示信息</a:t>
            </a:r>
          </a:p>
        </p:txBody>
      </p:sp>
      <p:cxnSp>
        <p:nvCxnSpPr>
          <p:cNvPr id="76" name="直接连接符 75"/>
          <p:cNvCxnSpPr>
            <a:cxnSpLocks noChangeShapeType="1"/>
            <a:stCxn id="49" idx="2"/>
          </p:cNvCxnSpPr>
          <p:nvPr/>
        </p:nvCxnSpPr>
        <p:spPr bwMode="auto">
          <a:xfrm>
            <a:off x="5021560" y="3621088"/>
            <a:ext cx="1162" cy="247650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81" name="直接连接符 80"/>
          <p:cNvCxnSpPr>
            <a:cxnSpLocks noChangeShapeType="1"/>
            <a:stCxn id="26" idx="2"/>
          </p:cNvCxnSpPr>
          <p:nvPr/>
        </p:nvCxnSpPr>
        <p:spPr bwMode="auto">
          <a:xfrm>
            <a:off x="1984247" y="4073191"/>
            <a:ext cx="0" cy="201600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82" name="直接连接符 81"/>
          <p:cNvCxnSpPr>
            <a:cxnSpLocks noChangeShapeType="1"/>
          </p:cNvCxnSpPr>
          <p:nvPr/>
        </p:nvCxnSpPr>
        <p:spPr bwMode="auto">
          <a:xfrm>
            <a:off x="3459035" y="4044950"/>
            <a:ext cx="0" cy="219075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83" name="直接连接符 82"/>
          <p:cNvCxnSpPr>
            <a:cxnSpLocks noChangeShapeType="1"/>
          </p:cNvCxnSpPr>
          <p:nvPr/>
        </p:nvCxnSpPr>
        <p:spPr bwMode="auto">
          <a:xfrm>
            <a:off x="5043360" y="4071938"/>
            <a:ext cx="0" cy="201600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84" name="直接连接符 83"/>
          <p:cNvCxnSpPr>
            <a:cxnSpLocks noChangeShapeType="1"/>
          </p:cNvCxnSpPr>
          <p:nvPr/>
        </p:nvCxnSpPr>
        <p:spPr bwMode="auto">
          <a:xfrm>
            <a:off x="6406948" y="4071772"/>
            <a:ext cx="0" cy="201600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86" name="直接连接符 85"/>
          <p:cNvCxnSpPr>
            <a:cxnSpLocks noChangeShapeType="1"/>
          </p:cNvCxnSpPr>
          <p:nvPr/>
        </p:nvCxnSpPr>
        <p:spPr bwMode="auto">
          <a:xfrm flipH="1">
            <a:off x="1958053" y="4264025"/>
            <a:ext cx="4448894" cy="0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90" name="直接连接符 89"/>
          <p:cNvCxnSpPr>
            <a:cxnSpLocks noChangeShapeType="1"/>
          </p:cNvCxnSpPr>
          <p:nvPr/>
        </p:nvCxnSpPr>
        <p:spPr bwMode="auto">
          <a:xfrm>
            <a:off x="4251197" y="4297363"/>
            <a:ext cx="0" cy="219075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91" name="TextBox 90"/>
          <p:cNvSpPr txBox="1">
            <a:spLocks noChangeArrowheads="1"/>
          </p:cNvSpPr>
          <p:nvPr/>
        </p:nvSpPr>
        <p:spPr bwMode="auto">
          <a:xfrm>
            <a:off x="1403648" y="2959100"/>
            <a:ext cx="1077913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True</a:t>
            </a:r>
            <a:endParaRPr lang="zh-CN" altLang="en-US" sz="140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92" name="TextBox 91"/>
          <p:cNvSpPr txBox="1">
            <a:spLocks noChangeArrowheads="1"/>
          </p:cNvSpPr>
          <p:nvPr/>
        </p:nvSpPr>
        <p:spPr bwMode="auto">
          <a:xfrm>
            <a:off x="4139952" y="2724969"/>
            <a:ext cx="935038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False</a:t>
            </a:r>
            <a:endParaRPr lang="zh-CN" altLang="en-US" sz="140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93" name="TextBox 92"/>
          <p:cNvSpPr txBox="1">
            <a:spLocks noChangeArrowheads="1"/>
          </p:cNvSpPr>
          <p:nvPr/>
        </p:nvSpPr>
        <p:spPr bwMode="auto">
          <a:xfrm>
            <a:off x="5689435" y="3157017"/>
            <a:ext cx="935037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False</a:t>
            </a:r>
            <a:endParaRPr lang="zh-CN" altLang="en-US" sz="140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auto">
          <a:xfrm>
            <a:off x="2935160" y="3214688"/>
            <a:ext cx="1077912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True</a:t>
            </a:r>
            <a:endParaRPr lang="zh-CN" altLang="en-US" sz="140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auto">
          <a:xfrm>
            <a:off x="4414710" y="3519910"/>
            <a:ext cx="1077912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True</a:t>
            </a:r>
            <a:endParaRPr lang="zh-CN" altLang="en-US" sz="140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20" grpId="0"/>
      <p:bldP spid="26" grpId="0" animBg="1"/>
      <p:bldP spid="48" grpId="0" animBg="1"/>
      <p:bldP spid="49" grpId="0" animBg="1"/>
      <p:bldP spid="71" grpId="0" animBg="1"/>
      <p:bldP spid="72" grpId="0" animBg="1"/>
      <p:bldP spid="73" grpId="0" animBg="1"/>
      <p:bldP spid="91" grpId="0"/>
      <p:bldP spid="92" grpId="0"/>
      <p:bldP spid="93" grpId="0"/>
      <p:bldP spid="100" grpId="0"/>
      <p:bldP spid="10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AutoShape 44"/>
          <p:cNvSpPr>
            <a:spLocks noChangeArrowheads="1"/>
          </p:cNvSpPr>
          <p:nvPr/>
        </p:nvSpPr>
        <p:spPr bwMode="gray">
          <a:xfrm>
            <a:off x="467544" y="1059582"/>
            <a:ext cx="5328592" cy="3156859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600"/>
              </a:spcBef>
            </a:pPr>
            <a:r>
              <a:rPr lang="en-US" altLang="zh-CN" sz="16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a,b,c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=</a:t>
            </a:r>
            <a:r>
              <a:rPr lang="en-US" altLang="zh-CN" sz="16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eval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(input("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输入</a:t>
            </a:r>
            <a:r>
              <a:rPr lang="en-US" altLang="zh-CN" sz="16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a,b,c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: "))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if not(</a:t>
            </a:r>
            <a:r>
              <a:rPr lang="en-US" altLang="zh-CN" sz="16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a+b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&gt; c and </a:t>
            </a:r>
            <a:r>
              <a:rPr lang="en-US" altLang="zh-CN" sz="16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b+c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&gt; a and </a:t>
            </a:r>
            <a:r>
              <a:rPr lang="en-US" altLang="zh-CN" sz="16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c+a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&gt; b) :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print("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不能构成三角形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")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6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elif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a==b and b==c: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print("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等边三角形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")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6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elif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a==b or b==c or a==c: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print(“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等</a:t>
            </a:r>
            <a:r>
              <a:rPr lang="zh-CN" altLang="en-US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腰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三角形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")     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else:							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print("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任意三角形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")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2" name="圆角矩形 1"/>
          <p:cNvSpPr/>
          <p:nvPr/>
        </p:nvSpPr>
        <p:spPr bwMode="auto">
          <a:xfrm>
            <a:off x="1403648" y="1563638"/>
            <a:ext cx="4032448" cy="288032"/>
          </a:xfrm>
          <a:prstGeom prst="roundRect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940152" y="1101973"/>
            <a:ext cx="2952328" cy="289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285750" indent="-285750" eaLnBrk="1" hangingPunct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关键字  </a:t>
            </a:r>
            <a:r>
              <a:rPr lang="en-US" altLang="zh-CN" sz="1800" dirty="0" err="1">
                <a:latin typeface="微软雅黑" pitchFamily="34" charset="-122"/>
                <a:ea typeface="微软雅黑" pitchFamily="34" charset="-122"/>
              </a:rPr>
              <a:t>elif</a:t>
            </a:r>
            <a:endParaRPr lang="en-US" altLang="zh-CN" sz="1800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 eaLnBrk="1" hangingPunct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if 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或</a:t>
            </a:r>
            <a:r>
              <a:rPr lang="en-US" altLang="zh-CN" sz="1800" dirty="0" err="1">
                <a:latin typeface="微软雅黑" pitchFamily="34" charset="-122"/>
                <a:ea typeface="微软雅黑" pitchFamily="34" charset="-122"/>
              </a:rPr>
              <a:t>elif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后的每个条件，成立则执行其对应的分支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分支右缩</a:t>
            </a:r>
            <a:endParaRPr lang="en-US" altLang="zh-CN" sz="1800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 eaLnBrk="1" hangingPunct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执行后跳过其后的所有分支</a:t>
            </a:r>
            <a:endParaRPr lang="en-US" altLang="zh-CN" sz="1800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 eaLnBrk="1" hangingPunct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所有的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if, </a:t>
            </a:r>
            <a:r>
              <a:rPr lang="en-US" altLang="zh-CN" sz="1800" dirty="0" err="1">
                <a:latin typeface="微软雅黑" pitchFamily="34" charset="-122"/>
                <a:ea typeface="微软雅黑" pitchFamily="34" charset="-122"/>
              </a:rPr>
              <a:t>elif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条件都不满足，则执行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else</a:t>
            </a:r>
          </a:p>
          <a:p>
            <a:pPr marL="285750" indent="-285750" eaLnBrk="1" hangingPunct="1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zh-CN" altLang="en-US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5" name="圆角矩形 4"/>
          <p:cNvSpPr/>
          <p:nvPr/>
        </p:nvSpPr>
        <p:spPr bwMode="auto">
          <a:xfrm>
            <a:off x="1187624" y="2139702"/>
            <a:ext cx="4032448" cy="288032"/>
          </a:xfrm>
          <a:prstGeom prst="roundRect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6" name="圆角矩形 5"/>
          <p:cNvSpPr/>
          <p:nvPr/>
        </p:nvSpPr>
        <p:spPr bwMode="auto">
          <a:xfrm>
            <a:off x="1187624" y="2787774"/>
            <a:ext cx="4032448" cy="288032"/>
          </a:xfrm>
          <a:prstGeom prst="roundRect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07185017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内容占位符 2"/>
          <p:cNvSpPr>
            <a:spLocks noGrp="1"/>
          </p:cNvSpPr>
          <p:nvPr>
            <p:ph idx="1"/>
          </p:nvPr>
        </p:nvSpPr>
        <p:spPr bwMode="auto">
          <a:xfrm>
            <a:off x="395536" y="483519"/>
            <a:ext cx="8229600" cy="194421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spcBef>
                <a:spcPts val="1200"/>
              </a:spcBef>
              <a:buFontTx/>
              <a:buNone/>
            </a:pPr>
            <a:r>
              <a:rPr lang="zh-CN" altLang="en-US" sz="24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根据三角形的三个问题，用到了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400" b="1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</a:t>
            </a:r>
            <a:r>
              <a:rPr lang="en-US" altLang="zh-CN" sz="24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4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语句三种形式：</a:t>
            </a:r>
            <a:endParaRPr lang="en-US" altLang="zh-CN" sz="240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spcBef>
                <a:spcPts val="1200"/>
              </a:spcBef>
              <a:buFontTx/>
              <a:buNone/>
            </a:pPr>
            <a:r>
              <a:rPr lang="en-US" altLang="zh-CN" sz="24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4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　</a:t>
            </a:r>
            <a:r>
              <a:rPr lang="en-US" altLang="zh-CN" sz="24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20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单分支语句　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000" b="1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</a:t>
            </a:r>
            <a:endParaRPr lang="en-US" altLang="zh-CN" sz="2000" b="1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spcBef>
                <a:spcPts val="1200"/>
              </a:spcBef>
              <a:buFontTx/>
              <a:buNone/>
            </a:pPr>
            <a:r>
              <a:rPr lang="en-US" altLang="zh-CN" sz="20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　　双分支语句　</a:t>
            </a:r>
            <a:r>
              <a:rPr lang="en-US" altLang="zh-CN" sz="2000" b="1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if…else</a:t>
            </a:r>
            <a:endParaRPr lang="en-US" altLang="zh-CN" sz="2000" b="1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 marL="0" indent="0">
              <a:spcBef>
                <a:spcPts val="1200"/>
              </a:spcBef>
              <a:buFontTx/>
              <a:buNone/>
            </a:pPr>
            <a:r>
              <a:rPr lang="en-US" altLang="zh-CN" sz="20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　　多分支语句　</a:t>
            </a:r>
            <a:r>
              <a:rPr lang="en-US" altLang="zh-CN" sz="2000" b="1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if…</a:t>
            </a:r>
            <a:r>
              <a:rPr lang="en-US" altLang="zh-CN" sz="2000" b="1" dirty="0" err="1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elif</a:t>
            </a:r>
            <a:r>
              <a:rPr lang="en-US" altLang="zh-CN" sz="2000" b="1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…else</a:t>
            </a:r>
            <a:endParaRPr lang="zh-CN" altLang="en-US" sz="2000" b="1" dirty="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2" name="椭圆 1"/>
          <p:cNvSpPr/>
          <p:nvPr/>
        </p:nvSpPr>
        <p:spPr bwMode="auto">
          <a:xfrm>
            <a:off x="8316416" y="4083918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748903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032"/>
          <p:cNvSpPr>
            <a:spLocks noGrp="1" noChangeArrowheads="1"/>
          </p:cNvSpPr>
          <p:nvPr>
            <p:ph type="title"/>
          </p:nvPr>
        </p:nvSpPr>
        <p:spPr bwMode="auto">
          <a:xfrm>
            <a:off x="186284" y="313442"/>
            <a:ext cx="5616576" cy="530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algn="l"/>
            <a:r>
              <a:rPr lang="en-US" altLang="zh-CN" sz="2800" b="1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if </a:t>
            </a:r>
            <a:r>
              <a:rPr lang="zh-CN" altLang="en-US" sz="2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语句中的  表达式</a:t>
            </a:r>
          </a:p>
        </p:txBody>
      </p:sp>
      <p:sp>
        <p:nvSpPr>
          <p:cNvPr id="21507" name="Rectangle 1033"/>
          <p:cNvSpPr>
            <a:spLocks noChangeArrowheads="1"/>
          </p:cNvSpPr>
          <p:nvPr/>
        </p:nvSpPr>
        <p:spPr bwMode="auto">
          <a:xfrm>
            <a:off x="209056" y="994162"/>
            <a:ext cx="2346720" cy="2031968"/>
          </a:xfrm>
          <a:prstGeom prst="rect">
            <a:avLst/>
          </a:prstGeom>
          <a:solidFill>
            <a:srgbClr val="E4F4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/>
          <a:p>
            <a:pPr algn="just">
              <a:spcBef>
                <a:spcPct val="20000"/>
              </a:spcBef>
            </a:pPr>
            <a:r>
              <a:rPr lang="zh-CN" altLang="en-US" sz="18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格式：</a:t>
            </a:r>
            <a:r>
              <a:rPr lang="en-US" altLang="zh-CN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if 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表达式</a:t>
            </a:r>
            <a:r>
              <a:rPr lang="en-US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</a:t>
            </a:r>
            <a:r>
              <a:rPr lang="en-US" altLang="zh-CN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:</a:t>
            </a:r>
          </a:p>
          <a:p>
            <a:pPr>
              <a:spcBef>
                <a:spcPct val="20000"/>
              </a:spcBef>
            </a:pP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   语句块</a:t>
            </a:r>
            <a:endParaRPr lang="en-US" altLang="zh-CN" sz="1800" b="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ct val="2000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</a:t>
            </a:r>
            <a:r>
              <a:rPr lang="en-US" altLang="zh-CN" sz="1800" b="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elif</a:t>
            </a:r>
            <a:r>
              <a:rPr lang="en-US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表达式</a:t>
            </a:r>
            <a:r>
              <a:rPr lang="en-US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:</a:t>
            </a:r>
          </a:p>
          <a:p>
            <a:pPr>
              <a:spcBef>
                <a:spcPct val="2000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   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语句块</a:t>
            </a:r>
            <a:endParaRPr lang="en-US" altLang="zh-CN" sz="1800" b="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ct val="2000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else:</a:t>
            </a:r>
          </a:p>
          <a:p>
            <a:pPr>
              <a:spcBef>
                <a:spcPct val="2000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   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语句块</a:t>
            </a:r>
          </a:p>
        </p:txBody>
      </p:sp>
      <p:sp>
        <p:nvSpPr>
          <p:cNvPr id="10260" name="矩形 2"/>
          <p:cNvSpPr>
            <a:spLocks noChangeArrowheads="1"/>
          </p:cNvSpPr>
          <p:nvPr/>
        </p:nvSpPr>
        <p:spPr bwMode="auto">
          <a:xfrm>
            <a:off x="3131840" y="994162"/>
            <a:ext cx="5640387" cy="13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16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表达式： </a:t>
            </a:r>
            <a:r>
              <a:rPr lang="zh-CN" altLang="en-US" sz="1600" b="0" dirty="0">
                <a:solidFill>
                  <a:schemeClr val="tx2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可以是 </a:t>
            </a:r>
            <a:r>
              <a:rPr lang="zh-CN" altLang="en-US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算术、字符串、关系逻辑等表达式。</a:t>
            </a:r>
          </a:p>
          <a:p>
            <a:pPr>
              <a:spcBef>
                <a:spcPts val="600"/>
              </a:spcBef>
            </a:pPr>
            <a:r>
              <a:rPr lang="zh-CN" altLang="en-US" sz="16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表达式值：数值</a:t>
            </a:r>
            <a:r>
              <a:rPr lang="zh-CN" altLang="en-US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按非零为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True</a:t>
            </a:r>
            <a:r>
              <a:rPr lang="zh-CN" altLang="en-US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。</a:t>
            </a:r>
            <a:endParaRPr lang="en-US" altLang="zh-CN" sz="1600" b="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   </a:t>
            </a:r>
            <a:r>
              <a:rPr lang="zh-CN" altLang="en-US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字符串按非空即</a:t>
            </a:r>
            <a:r>
              <a:rPr lang="en-US" altLang="zh-CN" sz="1600" dirty="0">
                <a:solidFill>
                  <a:srgbClr val="FF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True</a:t>
            </a:r>
          </a:p>
          <a:p>
            <a:pPr>
              <a:spcBef>
                <a:spcPts val="600"/>
              </a:spcBef>
            </a:pPr>
            <a:r>
              <a:rPr lang="zh-CN" altLang="en-US" sz="16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语句块： </a:t>
            </a:r>
            <a:r>
              <a:rPr lang="zh-CN" altLang="en-US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可以是一句或多句语句，用对齐方式判断</a:t>
            </a:r>
          </a:p>
        </p:txBody>
      </p:sp>
    </p:spTree>
    <p:extLst>
      <p:ext uri="{BB962C8B-B14F-4D97-AF65-F5344CB8AC3E}">
        <p14:creationId xmlns:p14="http://schemas.microsoft.com/office/powerpoint/2010/main" val="1231354466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2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2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2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D719B1-78EC-4EAB-A1FC-AAB65CCB8D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7C270E-26C8-4352-BE21-3DBF4A2EC019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FF70E9F-CFFD-4BDA-97C6-EA2AE03B9FDB}"/>
              </a:ext>
            </a:extLst>
          </p:cNvPr>
          <p:cNvSpPr txBox="1"/>
          <p:nvPr/>
        </p:nvSpPr>
        <p:spPr>
          <a:xfrm>
            <a:off x="323528" y="1275606"/>
            <a:ext cx="252028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变量或算术表达式</a:t>
            </a:r>
            <a:endParaRPr lang="en-US" altLang="zh-CN" sz="1600" dirty="0"/>
          </a:p>
          <a:p>
            <a:r>
              <a:rPr lang="en-US" altLang="zh-CN" sz="1600" dirty="0">
                <a:solidFill>
                  <a:schemeClr val="tx1"/>
                </a:solidFill>
              </a:rPr>
              <a:t>t=1</a:t>
            </a:r>
          </a:p>
          <a:p>
            <a:r>
              <a:rPr lang="en-US" altLang="zh-CN" sz="1600" dirty="0">
                <a:solidFill>
                  <a:schemeClr val="tx1"/>
                </a:solidFill>
              </a:rPr>
              <a:t>if  t:</a:t>
            </a:r>
          </a:p>
          <a:p>
            <a:r>
              <a:rPr lang="en-US" altLang="zh-CN" sz="1600" dirty="0">
                <a:solidFill>
                  <a:schemeClr val="tx1"/>
                </a:solidFill>
              </a:rPr>
              <a:t>   print("</a:t>
            </a:r>
            <a:r>
              <a:rPr lang="zh-CN" altLang="en-US" sz="1600" dirty="0">
                <a:solidFill>
                  <a:schemeClr val="tx1"/>
                </a:solidFill>
              </a:rPr>
              <a:t>变量</a:t>
            </a:r>
            <a:r>
              <a:rPr lang="en-US" altLang="zh-CN" sz="1600" dirty="0">
                <a:solidFill>
                  <a:schemeClr val="tx1"/>
                </a:solidFill>
              </a:rPr>
              <a:t>")</a:t>
            </a:r>
          </a:p>
          <a:p>
            <a:r>
              <a:rPr lang="en-US" altLang="zh-CN" sz="1600" dirty="0">
                <a:solidFill>
                  <a:schemeClr val="tx1"/>
                </a:solidFill>
              </a:rPr>
              <a:t>if  t-1:</a:t>
            </a:r>
          </a:p>
          <a:p>
            <a:r>
              <a:rPr lang="en-US" altLang="zh-CN" sz="1600" dirty="0">
                <a:solidFill>
                  <a:schemeClr val="tx1"/>
                </a:solidFill>
              </a:rPr>
              <a:t>   print("</a:t>
            </a:r>
            <a:r>
              <a:rPr lang="zh-CN" altLang="en-US" sz="1600" dirty="0">
                <a:solidFill>
                  <a:schemeClr val="tx1"/>
                </a:solidFill>
              </a:rPr>
              <a:t>表达式</a:t>
            </a:r>
            <a:r>
              <a:rPr lang="en-US" altLang="zh-CN" sz="1600" dirty="0">
                <a:solidFill>
                  <a:schemeClr val="tx1"/>
                </a:solidFill>
              </a:rPr>
              <a:t>1")</a:t>
            </a:r>
          </a:p>
          <a:p>
            <a:r>
              <a:rPr lang="en-US" altLang="zh-CN" sz="1600" dirty="0">
                <a:solidFill>
                  <a:schemeClr val="tx1"/>
                </a:solidFill>
              </a:rPr>
              <a:t>else:</a:t>
            </a:r>
          </a:p>
          <a:p>
            <a:r>
              <a:rPr lang="en-US" altLang="zh-CN" sz="1600" dirty="0">
                <a:solidFill>
                  <a:schemeClr val="tx1"/>
                </a:solidFill>
              </a:rPr>
              <a:t>    print("</a:t>
            </a:r>
            <a:r>
              <a:rPr lang="zh-CN" altLang="en-US" sz="1600" dirty="0">
                <a:solidFill>
                  <a:schemeClr val="tx1"/>
                </a:solidFill>
              </a:rPr>
              <a:t>表达式</a:t>
            </a:r>
            <a:r>
              <a:rPr lang="en-US" altLang="zh-CN" sz="1600" dirty="0">
                <a:solidFill>
                  <a:schemeClr val="tx1"/>
                </a:solidFill>
              </a:rPr>
              <a:t>2")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8A259E6-A507-474F-9F1A-22E2A6CB20E3}"/>
              </a:ext>
            </a:extLst>
          </p:cNvPr>
          <p:cNvSpPr txBox="1"/>
          <p:nvPr/>
        </p:nvSpPr>
        <p:spPr>
          <a:xfrm>
            <a:off x="3311860" y="1059582"/>
            <a:ext cx="252028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字符或字符串：</a:t>
            </a:r>
            <a:endParaRPr lang="en-US" altLang="zh-CN" sz="1600" dirty="0"/>
          </a:p>
          <a:p>
            <a:r>
              <a:rPr lang="en-US" altLang="zh-CN" sz="1600" dirty="0">
                <a:solidFill>
                  <a:schemeClr val="tx1"/>
                </a:solidFill>
              </a:rPr>
              <a:t>s="a"</a:t>
            </a:r>
          </a:p>
          <a:p>
            <a:r>
              <a:rPr lang="en-US" altLang="zh-CN" sz="1600" dirty="0">
                <a:solidFill>
                  <a:schemeClr val="tx1"/>
                </a:solidFill>
              </a:rPr>
              <a:t>if  s:</a:t>
            </a:r>
          </a:p>
          <a:p>
            <a:r>
              <a:rPr lang="en-US" altLang="zh-CN" sz="1600" dirty="0">
                <a:solidFill>
                  <a:schemeClr val="tx1"/>
                </a:solidFill>
              </a:rPr>
              <a:t> print("</a:t>
            </a:r>
            <a:r>
              <a:rPr lang="zh-CN" altLang="en-US" sz="1600" dirty="0">
                <a:solidFill>
                  <a:schemeClr val="tx1"/>
                </a:solidFill>
              </a:rPr>
              <a:t>字符</a:t>
            </a:r>
            <a:r>
              <a:rPr lang="en-US" altLang="zh-CN" sz="1600" dirty="0">
                <a:solidFill>
                  <a:schemeClr val="tx1"/>
                </a:solidFill>
              </a:rPr>
              <a:t>")</a:t>
            </a:r>
          </a:p>
          <a:p>
            <a:r>
              <a:rPr lang="en-US" altLang="zh-CN" sz="1600" dirty="0">
                <a:solidFill>
                  <a:schemeClr val="tx1"/>
                </a:solidFill>
              </a:rPr>
              <a:t>s1= "</a:t>
            </a:r>
            <a:r>
              <a:rPr lang="en-US" altLang="zh-CN" sz="1600" dirty="0" err="1">
                <a:solidFill>
                  <a:schemeClr val="tx1"/>
                </a:solidFill>
              </a:rPr>
              <a:t>abc</a:t>
            </a:r>
            <a:r>
              <a:rPr lang="en-US" altLang="zh-CN" sz="1600" dirty="0">
                <a:solidFill>
                  <a:schemeClr val="tx1"/>
                </a:solidFill>
              </a:rPr>
              <a:t>"</a:t>
            </a:r>
          </a:p>
          <a:p>
            <a:r>
              <a:rPr lang="en-US" altLang="zh-CN" sz="1600" dirty="0">
                <a:solidFill>
                  <a:schemeClr val="tx1"/>
                </a:solidFill>
              </a:rPr>
              <a:t>if  s1 :</a:t>
            </a:r>
          </a:p>
          <a:p>
            <a:r>
              <a:rPr lang="en-US" altLang="zh-CN" sz="1600" dirty="0">
                <a:solidFill>
                  <a:schemeClr val="tx1"/>
                </a:solidFill>
              </a:rPr>
              <a:t> print("</a:t>
            </a:r>
            <a:r>
              <a:rPr lang="zh-CN" altLang="en-US" sz="1600" dirty="0">
                <a:solidFill>
                  <a:schemeClr val="tx1"/>
                </a:solidFill>
              </a:rPr>
              <a:t>字符串</a:t>
            </a:r>
            <a:r>
              <a:rPr lang="en-US" altLang="zh-CN" sz="1600" dirty="0">
                <a:solidFill>
                  <a:schemeClr val="tx1"/>
                </a:solidFill>
              </a:rPr>
              <a:t>1")</a:t>
            </a:r>
          </a:p>
          <a:p>
            <a:r>
              <a:rPr lang="en-US" altLang="zh-CN" sz="1600" dirty="0">
                <a:solidFill>
                  <a:schemeClr val="tx1"/>
                </a:solidFill>
              </a:rPr>
              <a:t>if  "":</a:t>
            </a:r>
          </a:p>
          <a:p>
            <a:r>
              <a:rPr lang="en-US" altLang="zh-CN" sz="1600" dirty="0">
                <a:solidFill>
                  <a:schemeClr val="tx1"/>
                </a:solidFill>
              </a:rPr>
              <a:t> print("</a:t>
            </a:r>
            <a:r>
              <a:rPr lang="zh-CN" altLang="en-US" sz="1600" dirty="0">
                <a:solidFill>
                  <a:schemeClr val="tx1"/>
                </a:solidFill>
              </a:rPr>
              <a:t>字符串</a:t>
            </a:r>
            <a:r>
              <a:rPr lang="en-US" altLang="zh-CN" sz="1600" dirty="0">
                <a:solidFill>
                  <a:schemeClr val="tx1"/>
                </a:solidFill>
              </a:rPr>
              <a:t>2")</a:t>
            </a:r>
          </a:p>
          <a:p>
            <a:r>
              <a:rPr lang="en-US" altLang="zh-CN" sz="1600" dirty="0">
                <a:solidFill>
                  <a:schemeClr val="tx1"/>
                </a:solidFill>
              </a:rPr>
              <a:t>else:</a:t>
            </a:r>
          </a:p>
          <a:p>
            <a:r>
              <a:rPr lang="en-US" altLang="zh-CN" sz="1600" dirty="0">
                <a:solidFill>
                  <a:schemeClr val="tx1"/>
                </a:solidFill>
              </a:rPr>
              <a:t> print("</a:t>
            </a:r>
            <a:r>
              <a:rPr lang="zh-CN" altLang="en-US" sz="1600" dirty="0">
                <a:solidFill>
                  <a:schemeClr val="tx1"/>
                </a:solidFill>
              </a:rPr>
              <a:t>空串</a:t>
            </a:r>
            <a:r>
              <a:rPr lang="en-US" altLang="zh-CN" sz="1600" dirty="0">
                <a:solidFill>
                  <a:schemeClr val="tx1"/>
                </a:solidFill>
              </a:rPr>
              <a:t>")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5A2E3ED-2972-4994-92D4-523037A7C8E2}"/>
              </a:ext>
            </a:extLst>
          </p:cNvPr>
          <p:cNvSpPr txBox="1"/>
          <p:nvPr/>
        </p:nvSpPr>
        <p:spPr>
          <a:xfrm>
            <a:off x="6300192" y="1428913"/>
            <a:ext cx="223224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关系</a:t>
            </a:r>
            <a:r>
              <a:rPr lang="en-US" altLang="zh-CN" sz="1600" dirty="0"/>
              <a:t>/</a:t>
            </a:r>
            <a:r>
              <a:rPr lang="zh-CN" altLang="en-US" sz="1600" dirty="0"/>
              <a:t>逻辑表达式</a:t>
            </a:r>
            <a:endParaRPr lang="en-US" altLang="zh-CN" sz="1600" dirty="0"/>
          </a:p>
          <a:p>
            <a:r>
              <a:rPr lang="en-US" altLang="zh-CN" sz="1600" dirty="0">
                <a:solidFill>
                  <a:schemeClr val="tx1"/>
                </a:solidFill>
              </a:rPr>
              <a:t> x=0 </a:t>
            </a:r>
          </a:p>
          <a:p>
            <a:r>
              <a:rPr lang="en-US" altLang="zh-CN" sz="1600" dirty="0">
                <a:solidFill>
                  <a:schemeClr val="tx1"/>
                </a:solidFill>
              </a:rPr>
              <a:t> y=1</a:t>
            </a:r>
          </a:p>
          <a:p>
            <a:r>
              <a:rPr lang="en-US" altLang="zh-CN" sz="1600" dirty="0">
                <a:solidFill>
                  <a:schemeClr val="tx1"/>
                </a:solidFill>
              </a:rPr>
              <a:t> if not x:</a:t>
            </a:r>
          </a:p>
          <a:p>
            <a:r>
              <a:rPr lang="en-US" altLang="zh-CN" sz="1600" dirty="0">
                <a:solidFill>
                  <a:schemeClr val="tx1"/>
                </a:solidFill>
              </a:rPr>
              <a:t>     print("</a:t>
            </a:r>
            <a:r>
              <a:rPr lang="zh-CN" altLang="en-US" sz="1600" dirty="0">
                <a:solidFill>
                  <a:schemeClr val="tx1"/>
                </a:solidFill>
              </a:rPr>
              <a:t>逻辑表达式</a:t>
            </a:r>
            <a:r>
              <a:rPr lang="en-US" altLang="zh-CN" sz="1600" dirty="0">
                <a:solidFill>
                  <a:schemeClr val="tx1"/>
                </a:solidFill>
              </a:rPr>
              <a:t>")</a:t>
            </a:r>
          </a:p>
          <a:p>
            <a:r>
              <a:rPr lang="en-US" altLang="zh-CN" sz="1600" dirty="0">
                <a:solidFill>
                  <a:schemeClr val="tx1"/>
                </a:solidFill>
              </a:rPr>
              <a:t>if x==0  and y==1:</a:t>
            </a:r>
          </a:p>
          <a:p>
            <a:r>
              <a:rPr lang="en-US" altLang="zh-CN" sz="1600" dirty="0">
                <a:solidFill>
                  <a:schemeClr val="tx1"/>
                </a:solidFill>
              </a:rPr>
              <a:t>    print("</a:t>
            </a:r>
            <a:r>
              <a:rPr lang="zh-CN" altLang="en-US" sz="1600" dirty="0">
                <a:solidFill>
                  <a:schemeClr val="tx1"/>
                </a:solidFill>
              </a:rPr>
              <a:t>关系</a:t>
            </a:r>
            <a:r>
              <a:rPr lang="en-US" altLang="zh-CN" sz="1600" dirty="0">
                <a:solidFill>
                  <a:schemeClr val="tx1"/>
                </a:solidFill>
              </a:rPr>
              <a:t>/</a:t>
            </a:r>
            <a:r>
              <a:rPr lang="zh-CN" altLang="en-US" sz="1600" dirty="0">
                <a:solidFill>
                  <a:schemeClr val="tx1"/>
                </a:solidFill>
              </a:rPr>
              <a:t>逻辑表达式</a:t>
            </a:r>
            <a:r>
              <a:rPr lang="en-US" altLang="zh-CN" sz="1600" dirty="0">
                <a:solidFill>
                  <a:schemeClr val="tx1"/>
                </a:solidFill>
              </a:rPr>
              <a:t>")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BCF23E-A83D-4CFB-A567-8CBE82F74670}"/>
              </a:ext>
            </a:extLst>
          </p:cNvPr>
          <p:cNvSpPr txBox="1"/>
          <p:nvPr/>
        </p:nvSpPr>
        <p:spPr>
          <a:xfrm>
            <a:off x="323528" y="483518"/>
            <a:ext cx="4104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说明：表达式类型</a:t>
            </a:r>
          </a:p>
        </p:txBody>
      </p:sp>
    </p:spTree>
    <p:extLst>
      <p:ext uri="{BB962C8B-B14F-4D97-AF65-F5344CB8AC3E}">
        <p14:creationId xmlns:p14="http://schemas.microsoft.com/office/powerpoint/2010/main" val="26532751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3838" y="195263"/>
            <a:ext cx="5867400" cy="530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algn="l"/>
            <a:r>
              <a:rPr lang="zh-CN" altLang="en-US" sz="2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例子</a:t>
            </a:r>
          </a:p>
        </p:txBody>
      </p:sp>
      <p:sp>
        <p:nvSpPr>
          <p:cNvPr id="23555" name="Rectangle 9"/>
          <p:cNvSpPr>
            <a:spLocks noChangeArrowheads="1"/>
          </p:cNvSpPr>
          <p:nvPr/>
        </p:nvSpPr>
        <p:spPr bwMode="auto">
          <a:xfrm>
            <a:off x="250825" y="824115"/>
            <a:ext cx="3429000" cy="512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165100" rIns="92075" bIns="165100"/>
          <a:lstStyle/>
          <a:p>
            <a:pPr eaLnBrk="0" hangingPunct="0"/>
            <a:r>
              <a:rPr lang="zh-CN" altLang="en-US" sz="2000" b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计算分段函数</a:t>
            </a:r>
          </a:p>
        </p:txBody>
      </p:sp>
      <p:graphicFrame>
        <p:nvGraphicFramePr>
          <p:cNvPr id="23556" name="Object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2829916"/>
              </p:ext>
            </p:extLst>
          </p:nvPr>
        </p:nvGraphicFramePr>
        <p:xfrm>
          <a:off x="2267744" y="824115"/>
          <a:ext cx="3516312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431" name="公式" r:id="rId4" imgW="3516313" imgH="1062038" progId="Equation.3">
                  <p:embed/>
                </p:oleObj>
              </mc:Choice>
              <mc:Fallback>
                <p:oleObj name="公式" r:id="rId4" imgW="3516313" imgH="1062038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744" y="824115"/>
                        <a:ext cx="3516312" cy="79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9" name="TextBox 12"/>
          <p:cNvSpPr txBox="1">
            <a:spLocks noChangeArrowheads="1"/>
          </p:cNvSpPr>
          <p:nvPr/>
        </p:nvSpPr>
        <p:spPr bwMode="auto">
          <a:xfrm>
            <a:off x="395536" y="1712576"/>
            <a:ext cx="25781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800" b="0" dirty="0"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双分支结构实现</a:t>
            </a:r>
          </a:p>
        </p:txBody>
      </p:sp>
      <p:sp>
        <p:nvSpPr>
          <p:cNvPr id="13320" name="TextBox 13"/>
          <p:cNvSpPr txBox="1">
            <a:spLocks noChangeArrowheads="1"/>
          </p:cNvSpPr>
          <p:nvPr/>
        </p:nvSpPr>
        <p:spPr bwMode="auto">
          <a:xfrm>
            <a:off x="3366657" y="1715749"/>
            <a:ext cx="25781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800" b="0" dirty="0"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单分支结构实现</a:t>
            </a:r>
          </a:p>
        </p:txBody>
      </p:sp>
      <p:sp>
        <p:nvSpPr>
          <p:cNvPr id="17" name="圆角矩形 16"/>
          <p:cNvSpPr>
            <a:spLocks noChangeArrowheads="1"/>
          </p:cNvSpPr>
          <p:nvPr/>
        </p:nvSpPr>
        <p:spPr bwMode="auto">
          <a:xfrm>
            <a:off x="127412" y="2116838"/>
            <a:ext cx="2632291" cy="1389317"/>
          </a:xfrm>
          <a:prstGeom prst="roundRect">
            <a:avLst>
              <a:gd name="adj" fmla="val 16667"/>
            </a:avLst>
          </a:prstGeom>
          <a:solidFill>
            <a:srgbClr val="E4F4F4"/>
          </a:solidFill>
          <a:ln w="15875" algn="ctr">
            <a:solidFill>
              <a:srgbClr val="C00000"/>
            </a:solidFill>
            <a:round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spcBef>
                <a:spcPct val="10000"/>
              </a:spcBef>
            </a:pP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if x!=0 : </a:t>
            </a:r>
          </a:p>
          <a:p>
            <a:pPr>
              <a:spcBef>
                <a:spcPct val="10000"/>
              </a:spcBef>
            </a:pP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</a:t>
            </a:r>
            <a:r>
              <a:rPr lang="en-US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y=sin(x)+</a:t>
            </a:r>
            <a:r>
              <a:rPr lang="en-US" altLang="zh-CN" sz="1600" spc="-6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sqrt</a:t>
            </a:r>
            <a:r>
              <a:rPr lang="en-US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(x*x+1)</a:t>
            </a:r>
          </a:p>
          <a:p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else</a:t>
            </a:r>
          </a:p>
          <a:p>
            <a:pPr eaLnBrk="0" hangingPunct="0"/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y=</a:t>
            </a:r>
            <a:r>
              <a:rPr lang="en-US" altLang="zh-CN" sz="16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cos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(x)-x</a:t>
            </a:r>
            <a:r>
              <a:rPr lang="zh-CN" altLang="en-US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**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3+3*x</a:t>
            </a:r>
          </a:p>
          <a:p>
            <a:endParaRPr lang="zh-CN" altLang="en-US" sz="1600" b="0" dirty="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18" name="圆角矩形 17"/>
          <p:cNvSpPr>
            <a:spLocks noChangeArrowheads="1"/>
          </p:cNvSpPr>
          <p:nvPr/>
        </p:nvSpPr>
        <p:spPr bwMode="auto">
          <a:xfrm>
            <a:off x="2833347" y="2085758"/>
            <a:ext cx="3671887" cy="762762"/>
          </a:xfrm>
          <a:prstGeom prst="roundRect">
            <a:avLst>
              <a:gd name="adj" fmla="val 16667"/>
            </a:avLst>
          </a:prstGeom>
          <a:solidFill>
            <a:srgbClr val="E4F4F4"/>
          </a:solidFill>
          <a:ln w="15875" algn="ctr">
            <a:solidFill>
              <a:srgbClr val="C00000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10000"/>
              </a:spcBef>
            </a:pP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y=</a:t>
            </a:r>
            <a:r>
              <a:rPr lang="en-US" altLang="zh-CN" sz="14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cos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(x)</a:t>
            </a:r>
            <a:r>
              <a:rPr lang="zh-CN" altLang="en-US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－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x</a:t>
            </a:r>
            <a:r>
              <a:rPr lang="zh-CN" altLang="en-US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**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3+3*x  </a:t>
            </a:r>
          </a:p>
          <a:p>
            <a:pPr>
              <a:spcBef>
                <a:spcPct val="10000"/>
              </a:spcBef>
            </a:pP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if x!=0:</a:t>
            </a:r>
          </a:p>
          <a:p>
            <a:pPr>
              <a:spcBef>
                <a:spcPct val="10000"/>
              </a:spcBef>
            </a:pP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y=sin(x)+</a:t>
            </a:r>
            <a:r>
              <a:rPr lang="en-US" altLang="zh-CN" sz="14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sqrt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(x*x+1)</a:t>
            </a:r>
            <a:endParaRPr lang="zh-CN" altLang="en-US" sz="1400" dirty="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19" name="圆角矩形 18"/>
          <p:cNvSpPr>
            <a:spLocks noChangeArrowheads="1"/>
          </p:cNvSpPr>
          <p:nvPr/>
        </p:nvSpPr>
        <p:spPr bwMode="auto">
          <a:xfrm>
            <a:off x="2749514" y="3720901"/>
            <a:ext cx="3930689" cy="796814"/>
          </a:xfrm>
          <a:prstGeom prst="roundRect">
            <a:avLst>
              <a:gd name="adj" fmla="val 16667"/>
            </a:avLst>
          </a:prstGeom>
          <a:solidFill>
            <a:srgbClr val="E4F4F4"/>
          </a:solidFill>
          <a:ln w="15875" algn="ctr">
            <a:solidFill>
              <a:srgbClr val="C00000"/>
            </a:solidFill>
            <a:round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spcBef>
                <a:spcPct val="10000"/>
              </a:spcBef>
            </a:pPr>
            <a:r>
              <a:rPr lang="en-US" altLang="zh-CN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if x!=0 :</a:t>
            </a:r>
          </a:p>
          <a:p>
            <a:pPr>
              <a:spcBef>
                <a:spcPct val="10000"/>
              </a:spcBef>
            </a:pP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y=sin(x)+</a:t>
            </a:r>
            <a:r>
              <a:rPr lang="en-US" altLang="zh-CN" sz="14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sqrt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(x*x+1) </a:t>
            </a:r>
          </a:p>
          <a:p>
            <a:pPr>
              <a:spcBef>
                <a:spcPct val="10000"/>
              </a:spcBef>
            </a:pP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y=</a:t>
            </a:r>
            <a:r>
              <a:rPr lang="en-US" altLang="zh-CN" sz="14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cos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(x)-x</a:t>
            </a:r>
            <a:r>
              <a:rPr lang="zh-CN" altLang="en-US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**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3+3*x)</a:t>
            </a:r>
            <a:endParaRPr lang="zh-CN" altLang="en-US" sz="1400" dirty="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cxnSp>
        <p:nvCxnSpPr>
          <p:cNvPr id="23562" name="直接箭头连接符 3"/>
          <p:cNvCxnSpPr>
            <a:cxnSpLocks noChangeShapeType="1"/>
          </p:cNvCxnSpPr>
          <p:nvPr/>
        </p:nvCxnSpPr>
        <p:spPr bwMode="auto">
          <a:xfrm>
            <a:off x="7738016" y="2873410"/>
            <a:ext cx="0" cy="215900"/>
          </a:xfrm>
          <a:prstGeom prst="straightConnector1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14" name="菱形 4"/>
          <p:cNvSpPr>
            <a:spLocks noChangeArrowheads="1"/>
          </p:cNvSpPr>
          <p:nvPr/>
        </p:nvSpPr>
        <p:spPr bwMode="auto">
          <a:xfrm>
            <a:off x="6877591" y="2967072"/>
            <a:ext cx="1847850" cy="514800"/>
          </a:xfrm>
          <a:prstGeom prst="diamond">
            <a:avLst/>
          </a:prstGeom>
          <a:noFill/>
          <a:ln w="25400" algn="ctr">
            <a:solidFill>
              <a:srgbClr val="8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X&lt;&gt;0</a:t>
            </a:r>
            <a:endParaRPr lang="zh-CN" altLang="en-US" sz="160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15" name="矩形 5"/>
          <p:cNvSpPr>
            <a:spLocks noChangeArrowheads="1"/>
          </p:cNvSpPr>
          <p:nvPr/>
        </p:nvSpPr>
        <p:spPr bwMode="auto">
          <a:xfrm>
            <a:off x="6678445" y="3723878"/>
            <a:ext cx="2179712" cy="258532"/>
          </a:xfrm>
          <a:prstGeom prst="rect">
            <a:avLst/>
          </a:prstGeom>
          <a:noFill/>
          <a:ln w="25400" algn="ctr">
            <a:solidFill>
              <a:srgbClr val="8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y=sin(x)+sqr(x*x+1) </a:t>
            </a:r>
            <a:endParaRPr lang="zh-CN" altLang="en-US" sz="140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cxnSp>
        <p:nvCxnSpPr>
          <p:cNvPr id="16" name="直接连接符 7"/>
          <p:cNvCxnSpPr>
            <a:cxnSpLocks noChangeShapeType="1"/>
          </p:cNvCxnSpPr>
          <p:nvPr/>
        </p:nvCxnSpPr>
        <p:spPr bwMode="auto">
          <a:xfrm flipV="1">
            <a:off x="8725441" y="3264252"/>
            <a:ext cx="236538" cy="0"/>
          </a:xfrm>
          <a:prstGeom prst="line">
            <a:avLst/>
          </a:prstGeom>
          <a:noFill/>
          <a:ln w="25400" algn="ctr">
            <a:solidFill>
              <a:srgbClr val="8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20" name="直接连接符 15"/>
          <p:cNvCxnSpPr>
            <a:cxnSpLocks noChangeShapeType="1"/>
          </p:cNvCxnSpPr>
          <p:nvPr/>
        </p:nvCxnSpPr>
        <p:spPr bwMode="auto">
          <a:xfrm flipV="1">
            <a:off x="8946739" y="3259827"/>
            <a:ext cx="20637" cy="892800"/>
          </a:xfrm>
          <a:prstGeom prst="line">
            <a:avLst/>
          </a:prstGeom>
          <a:noFill/>
          <a:ln w="25400" algn="ctr">
            <a:solidFill>
              <a:srgbClr val="8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21" name="直接连接符 19"/>
          <p:cNvCxnSpPr>
            <a:cxnSpLocks noChangeShapeType="1"/>
          </p:cNvCxnSpPr>
          <p:nvPr/>
        </p:nvCxnSpPr>
        <p:spPr bwMode="auto">
          <a:xfrm>
            <a:off x="7775799" y="4160523"/>
            <a:ext cx="1176337" cy="0"/>
          </a:xfrm>
          <a:prstGeom prst="line">
            <a:avLst/>
          </a:prstGeom>
          <a:noFill/>
          <a:ln w="25400" algn="ctr">
            <a:solidFill>
              <a:srgbClr val="808000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22" name="直接连接符 26"/>
          <p:cNvCxnSpPr>
            <a:cxnSpLocks noChangeShapeType="1"/>
          </p:cNvCxnSpPr>
          <p:nvPr/>
        </p:nvCxnSpPr>
        <p:spPr bwMode="auto">
          <a:xfrm flipH="1" flipV="1">
            <a:off x="7801516" y="3506155"/>
            <a:ext cx="0" cy="219075"/>
          </a:xfrm>
          <a:prstGeom prst="line">
            <a:avLst/>
          </a:prstGeom>
          <a:noFill/>
          <a:ln w="25400" algn="ctr">
            <a:solidFill>
              <a:srgbClr val="808000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23" name="直接连接符 27"/>
          <p:cNvCxnSpPr>
            <a:cxnSpLocks noChangeShapeType="1"/>
          </p:cNvCxnSpPr>
          <p:nvPr/>
        </p:nvCxnSpPr>
        <p:spPr bwMode="auto">
          <a:xfrm flipV="1">
            <a:off x="7798247" y="4010980"/>
            <a:ext cx="0" cy="345286"/>
          </a:xfrm>
          <a:prstGeom prst="line">
            <a:avLst/>
          </a:prstGeom>
          <a:noFill/>
          <a:ln w="25400" algn="ctr">
            <a:solidFill>
              <a:srgbClr val="808000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7242731" y="3430131"/>
            <a:ext cx="936625" cy="35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True</a:t>
            </a:r>
            <a:endParaRPr lang="zh-CN" altLang="en-US" sz="140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25" name="矩形 5"/>
          <p:cNvSpPr>
            <a:spLocks noChangeArrowheads="1"/>
          </p:cNvSpPr>
          <p:nvPr/>
        </p:nvSpPr>
        <p:spPr bwMode="auto">
          <a:xfrm>
            <a:off x="6720493" y="4356266"/>
            <a:ext cx="2185988" cy="307777"/>
          </a:xfrm>
          <a:prstGeom prst="rect">
            <a:avLst/>
          </a:prstGeom>
          <a:noFill/>
          <a:ln w="25400" algn="ctr">
            <a:solidFill>
              <a:srgbClr val="8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10000"/>
              </a:spcBef>
            </a:pP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y=</a:t>
            </a:r>
            <a:r>
              <a:rPr lang="en-US" altLang="zh-CN" sz="14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cos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(x)</a:t>
            </a:r>
            <a:r>
              <a:rPr lang="zh-CN" altLang="en-US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－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x</a:t>
            </a:r>
            <a:r>
              <a:rPr lang="zh-CN" altLang="en-US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**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3+3*x)</a:t>
            </a:r>
            <a:endParaRPr lang="zh-CN" altLang="en-US" sz="1400" dirty="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cxnSp>
        <p:nvCxnSpPr>
          <p:cNvPr id="26" name="直接连接符 27"/>
          <p:cNvCxnSpPr>
            <a:cxnSpLocks noChangeShapeType="1"/>
          </p:cNvCxnSpPr>
          <p:nvPr/>
        </p:nvCxnSpPr>
        <p:spPr bwMode="auto">
          <a:xfrm flipH="1" flipV="1">
            <a:off x="7811661" y="4655500"/>
            <a:ext cx="4762" cy="330200"/>
          </a:xfrm>
          <a:prstGeom prst="line">
            <a:avLst/>
          </a:prstGeom>
          <a:noFill/>
          <a:ln w="25400" algn="ctr">
            <a:solidFill>
              <a:srgbClr val="808000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8336403" y="2908962"/>
            <a:ext cx="936625" cy="35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False</a:t>
            </a:r>
            <a:endParaRPr lang="zh-CN" altLang="en-US" sz="140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28" name="AutoShape 44"/>
          <p:cNvSpPr>
            <a:spLocks noChangeArrowheads="1"/>
          </p:cNvSpPr>
          <p:nvPr/>
        </p:nvSpPr>
        <p:spPr bwMode="gray">
          <a:xfrm>
            <a:off x="2819763" y="2959132"/>
            <a:ext cx="3671887" cy="612775"/>
          </a:xfrm>
          <a:prstGeom prst="roundRect">
            <a:avLst>
              <a:gd name="adj" fmla="val 8014"/>
            </a:avLst>
          </a:prstGeom>
          <a:solidFill>
            <a:srgbClr val="FFFFCC"/>
          </a:solidFill>
          <a:ln w="9525">
            <a:solidFill>
              <a:srgbClr val="808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10000"/>
              </a:spcBef>
            </a:pPr>
            <a:r>
              <a:rPr lang="zh-CN" altLang="en-US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思考：</a:t>
            </a:r>
            <a:endParaRPr lang="en-US" altLang="zh-CN" sz="1600" b="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ct val="10000"/>
              </a:spcBef>
            </a:pPr>
            <a:r>
              <a:rPr lang="zh-CN" altLang="en-US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如下单分支结构能实现？为什么？</a:t>
            </a:r>
          </a:p>
        </p:txBody>
      </p:sp>
      <p:cxnSp>
        <p:nvCxnSpPr>
          <p:cNvPr id="29" name="直接连接符 27"/>
          <p:cNvCxnSpPr>
            <a:cxnSpLocks noChangeShapeType="1"/>
          </p:cNvCxnSpPr>
          <p:nvPr/>
        </p:nvCxnSpPr>
        <p:spPr bwMode="auto">
          <a:xfrm flipV="1">
            <a:off x="7811661" y="2634739"/>
            <a:ext cx="0" cy="345286"/>
          </a:xfrm>
          <a:prstGeom prst="line">
            <a:avLst/>
          </a:prstGeom>
          <a:noFill/>
          <a:ln w="25400" algn="ctr">
            <a:solidFill>
              <a:srgbClr val="808000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30" name="AutoShape 44"/>
          <p:cNvSpPr>
            <a:spLocks noChangeArrowheads="1"/>
          </p:cNvSpPr>
          <p:nvPr/>
        </p:nvSpPr>
        <p:spPr bwMode="gray">
          <a:xfrm>
            <a:off x="115465" y="3834490"/>
            <a:ext cx="2551710" cy="612775"/>
          </a:xfrm>
          <a:prstGeom prst="roundRect">
            <a:avLst>
              <a:gd name="adj" fmla="val 8014"/>
            </a:avLst>
          </a:prstGeom>
          <a:solidFill>
            <a:srgbClr val="FFFFCC"/>
          </a:solidFill>
          <a:ln w="9525">
            <a:solidFill>
              <a:srgbClr val="808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10000"/>
              </a:spcBef>
            </a:pPr>
            <a:r>
              <a:rPr lang="en-US" altLang="zh-CN" sz="16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from  math  import *</a:t>
            </a:r>
            <a:endParaRPr lang="zh-CN" altLang="en-US" sz="1600" dirty="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2054486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withGroup">
                            <p:stCondLst>
                              <p:cond delay="2500"/>
                            </p:stCondLst>
                            <p:childTnLst>
                              <p:par>
                                <p:cTn id="9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3000"/>
                            </p:stCondLst>
                            <p:childTnLst>
                              <p:par>
                                <p:cTn id="10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9" grpId="0"/>
      <p:bldP spid="13320" grpId="0"/>
      <p:bldP spid="17" grpId="0" animBg="1"/>
      <p:bldP spid="18" grpId="0" animBg="1"/>
      <p:bldP spid="19" grpId="0" animBg="1"/>
      <p:bldP spid="14" grpId="0" animBg="1"/>
      <p:bldP spid="15" grpId="0" animBg="1"/>
      <p:bldP spid="24" grpId="0"/>
      <p:bldP spid="25" grpId="0" animBg="1"/>
      <p:bldP spid="27" grpId="0"/>
      <p:bldP spid="28" grpId="0" animBg="1"/>
      <p:bldP spid="3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8"/>
          <p:cNvSpPr>
            <a:spLocks noChangeArrowheads="1"/>
          </p:cNvSpPr>
          <p:nvPr/>
        </p:nvSpPr>
        <p:spPr bwMode="auto">
          <a:xfrm>
            <a:off x="198438" y="843558"/>
            <a:ext cx="8686800" cy="4110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lnSpc>
                <a:spcPct val="120000"/>
              </a:lnSpc>
              <a:spcBef>
                <a:spcPct val="10000"/>
              </a:spcBef>
            </a:pP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已知变量 </a:t>
            </a:r>
            <a:r>
              <a:rPr lang="en-US" altLang="zh-CN" sz="1800" dirty="0" err="1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ch</a:t>
            </a:r>
            <a:r>
              <a:rPr lang="en-US" altLang="zh-CN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中存放了一个字符，判断该字符是字母字符、数字字符还是其他字符。 </a:t>
            </a:r>
          </a:p>
        </p:txBody>
      </p:sp>
      <p:sp>
        <p:nvSpPr>
          <p:cNvPr id="25603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34925" y="268288"/>
            <a:ext cx="4465067" cy="530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algn="l"/>
            <a:r>
              <a:rPr lang="zh-CN" altLang="en-US" sz="2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多分支结构例子</a:t>
            </a:r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82551" y="1419622"/>
            <a:ext cx="9088437" cy="72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ts val="600"/>
              </a:spcBef>
            </a:pPr>
            <a:r>
              <a:rPr lang="zh-CN" altLang="en-US" sz="1800" dirty="0"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分析：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字母要考虑大小写，可利用</a:t>
            </a:r>
            <a:r>
              <a:rPr lang="en-US" altLang="zh-CN" sz="1800" dirty="0"/>
              <a:t>upper()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或者</a:t>
            </a:r>
            <a:r>
              <a:rPr lang="en-US" altLang="zh-CN" sz="1800" dirty="0"/>
              <a:t>lower()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方法转换成大写或小写字母，</a:t>
            </a:r>
            <a:endParaRPr lang="en-US" altLang="zh-CN" sz="1800" b="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 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简化条件表达式书写。字符串的 </a:t>
            </a:r>
            <a:r>
              <a:rPr lang="en-US" altLang="zh-CN" sz="1800" b="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isalpha</a:t>
            </a:r>
            <a:r>
              <a:rPr lang="en-US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()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，</a:t>
            </a:r>
            <a:r>
              <a:rPr lang="en-US" altLang="zh-CN" sz="1800" b="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isdigit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（）函数</a:t>
            </a:r>
          </a:p>
        </p:txBody>
      </p:sp>
      <p:sp>
        <p:nvSpPr>
          <p:cNvPr id="6" name="AutoShape 44"/>
          <p:cNvSpPr>
            <a:spLocks noChangeArrowheads="1"/>
          </p:cNvSpPr>
          <p:nvPr/>
        </p:nvSpPr>
        <p:spPr bwMode="gray">
          <a:xfrm>
            <a:off x="539552" y="2404686"/>
            <a:ext cx="7200800" cy="1982788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1600" spc="-6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ch</a:t>
            </a:r>
            <a:r>
              <a:rPr lang="en-US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= input("</a:t>
            </a:r>
            <a:r>
              <a:rPr lang="zh-CN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输入一个字符</a:t>
            </a:r>
            <a:r>
              <a:rPr lang="en-US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:")</a:t>
            </a:r>
            <a:endParaRPr lang="zh-CN" altLang="zh-CN" sz="1600" spc="-6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if 'a'&lt;=</a:t>
            </a:r>
            <a:r>
              <a:rPr lang="en-US" altLang="zh-CN" sz="1600" spc="-6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ch.lower</a:t>
            </a:r>
            <a:r>
              <a:rPr lang="en-US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() &lt;= 'z'</a:t>
            </a:r>
            <a:r>
              <a:rPr lang="zh-CN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：</a:t>
            </a:r>
            <a:r>
              <a:rPr lang="en-US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         #  </a:t>
            </a:r>
            <a:r>
              <a:rPr lang="zh-CN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大小写字母均考虑</a:t>
            </a:r>
          </a:p>
          <a:p>
            <a:r>
              <a:rPr lang="en-US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print(</a:t>
            </a:r>
            <a:r>
              <a:rPr lang="en-US" altLang="zh-CN" sz="1600" spc="-6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ch</a:t>
            </a:r>
            <a:r>
              <a:rPr lang="en-US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+ "</a:t>
            </a:r>
            <a:r>
              <a:rPr lang="zh-CN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是字母字符</a:t>
            </a:r>
            <a:r>
              <a:rPr lang="en-US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")</a:t>
            </a:r>
            <a:endParaRPr lang="zh-CN" altLang="zh-CN" sz="1600" spc="-6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600" spc="-6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elif</a:t>
            </a:r>
            <a:r>
              <a:rPr lang="en-US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'0'&lt;= </a:t>
            </a:r>
            <a:r>
              <a:rPr lang="en-US" altLang="zh-CN" sz="1600" spc="-6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ch</a:t>
            </a:r>
            <a:r>
              <a:rPr lang="en-US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&lt;= '9' </a:t>
            </a:r>
            <a:r>
              <a:rPr lang="zh-CN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：</a:t>
            </a:r>
            <a:r>
              <a:rPr lang="en-US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             # </a:t>
            </a:r>
            <a:r>
              <a:rPr lang="zh-CN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表示是数字字符</a:t>
            </a:r>
          </a:p>
          <a:p>
            <a:r>
              <a:rPr lang="en-US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print(</a:t>
            </a:r>
            <a:r>
              <a:rPr lang="en-US" altLang="zh-CN" sz="1600" spc="-6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ch</a:t>
            </a:r>
            <a:r>
              <a:rPr lang="en-US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+ "</a:t>
            </a:r>
            <a:r>
              <a:rPr lang="zh-CN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是数字字符</a:t>
            </a:r>
            <a:r>
              <a:rPr lang="en-US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")</a:t>
            </a:r>
            <a:endParaRPr lang="zh-CN" altLang="zh-CN" sz="1600" spc="-6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else</a:t>
            </a:r>
            <a:r>
              <a:rPr lang="zh-CN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：</a:t>
            </a:r>
          </a:p>
          <a:p>
            <a:r>
              <a:rPr lang="en-US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print(</a:t>
            </a:r>
            <a:r>
              <a:rPr lang="en-US" altLang="zh-CN" sz="1600" spc="-6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ch</a:t>
            </a:r>
            <a:r>
              <a:rPr lang="en-US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+"</a:t>
            </a:r>
            <a:r>
              <a:rPr lang="zh-CN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是其他字符</a:t>
            </a:r>
            <a:r>
              <a:rPr lang="en-US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")              # </a:t>
            </a:r>
            <a:r>
              <a:rPr lang="zh-CN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除上述字符以外的字符</a:t>
            </a:r>
          </a:p>
        </p:txBody>
      </p:sp>
    </p:spTree>
    <p:extLst>
      <p:ext uri="{BB962C8B-B14F-4D97-AF65-F5344CB8AC3E}">
        <p14:creationId xmlns:p14="http://schemas.microsoft.com/office/powerpoint/2010/main" val="2546461924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8"/>
          <p:cNvSpPr>
            <a:spLocks noChangeArrowheads="1"/>
          </p:cNvSpPr>
          <p:nvPr/>
        </p:nvSpPr>
        <p:spPr bwMode="auto">
          <a:xfrm>
            <a:off x="198438" y="771550"/>
            <a:ext cx="8945562" cy="646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r>
              <a:rPr lang="zh-CN" altLang="zh-CN" sz="1800" dirty="0"/>
              <a:t>【例</a:t>
            </a:r>
            <a:r>
              <a:rPr lang="en-US" altLang="zh-CN" sz="1800" dirty="0"/>
              <a:t>3.7</a:t>
            </a:r>
            <a:r>
              <a:rPr lang="zh-CN" altLang="zh-CN" sz="1800" dirty="0"/>
              <a:t>】</a:t>
            </a:r>
            <a:r>
              <a:rPr lang="zh-CN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已知某课程的百分制成绩</a:t>
            </a:r>
            <a:r>
              <a:rPr lang="en-US" altLang="zh-CN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mark</a:t>
            </a:r>
            <a:r>
              <a:rPr lang="zh-CN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，要求转换成对应五级制的评定</a:t>
            </a:r>
            <a:r>
              <a:rPr lang="en-US" altLang="zh-CN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grade</a:t>
            </a:r>
            <a:r>
              <a:rPr lang="zh-CN" altLang="en-US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。</a:t>
            </a:r>
            <a:endParaRPr lang="en-US" altLang="zh-CN" sz="1800" dirty="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8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如下三种表示方式，</a:t>
            </a:r>
            <a:r>
              <a:rPr lang="zh-CN" altLang="en-US" sz="1800" b="0" dirty="0">
                <a:solidFill>
                  <a:srgbClr val="FF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哪个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不能实现？  </a:t>
            </a:r>
            <a:endParaRPr lang="zh-CN" altLang="zh-CN" sz="1800" b="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25603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34925" y="268288"/>
            <a:ext cx="6553299" cy="530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algn="l"/>
            <a:r>
              <a:rPr lang="zh-CN" altLang="en-US" sz="2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多分支结构的正确书写 </a:t>
            </a:r>
          </a:p>
        </p:txBody>
      </p:sp>
      <p:sp>
        <p:nvSpPr>
          <p:cNvPr id="8" name="Text Box 84"/>
          <p:cNvSpPr txBox="1">
            <a:spLocks noChangeArrowheads="1"/>
          </p:cNvSpPr>
          <p:nvPr/>
        </p:nvSpPr>
        <p:spPr bwMode="auto">
          <a:xfrm>
            <a:off x="3563888" y="1363109"/>
            <a:ext cx="2880320" cy="326089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方法二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if mark&gt;=60</a:t>
            </a:r>
            <a:r>
              <a:rPr 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：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grade="</a:t>
            </a:r>
            <a:r>
              <a:rPr 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及格</a:t>
            </a:r>
            <a:r>
              <a:rPr lang="en-US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</a:t>
            </a:r>
            <a:endParaRPr lang="zh-CN" sz="1600" spc="-6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1600" spc="-6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elif</a:t>
            </a:r>
            <a:r>
              <a:rPr lang="en-US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mark&gt;=70</a:t>
            </a:r>
            <a:r>
              <a:rPr 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：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grade="</a:t>
            </a:r>
            <a:r>
              <a:rPr 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中</a:t>
            </a:r>
            <a:r>
              <a:rPr lang="en-US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</a:t>
            </a:r>
            <a:endParaRPr lang="zh-CN" sz="1600" spc="-6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1600" spc="-6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elif</a:t>
            </a:r>
            <a:r>
              <a:rPr lang="en-US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mark&gt;=80</a:t>
            </a:r>
            <a:r>
              <a:rPr 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：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grade="</a:t>
            </a:r>
            <a:r>
              <a:rPr 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良</a:t>
            </a:r>
            <a:r>
              <a:rPr lang="en-US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</a:t>
            </a:r>
            <a:endParaRPr lang="zh-CN" sz="1600" spc="-6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1600" spc="-6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elif</a:t>
            </a:r>
            <a:r>
              <a:rPr lang="en-US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mark&gt;=90</a:t>
            </a:r>
            <a:r>
              <a:rPr 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：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grade="</a:t>
            </a:r>
            <a:r>
              <a:rPr 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优</a:t>
            </a:r>
            <a:r>
              <a:rPr lang="en-US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</a:t>
            </a:r>
            <a:endParaRPr lang="zh-CN" sz="1600" spc="-6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else</a:t>
            </a:r>
            <a:r>
              <a:rPr 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：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grade="</a:t>
            </a:r>
            <a:r>
              <a:rPr 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不及格</a:t>
            </a:r>
            <a:r>
              <a:rPr lang="en-US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</a:t>
            </a:r>
            <a:endParaRPr lang="zh-CN" sz="1600" spc="-6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9" name="Text Box 85"/>
          <p:cNvSpPr txBox="1">
            <a:spLocks noChangeArrowheads="1"/>
          </p:cNvSpPr>
          <p:nvPr/>
        </p:nvSpPr>
        <p:spPr bwMode="auto">
          <a:xfrm>
            <a:off x="6444208" y="1347614"/>
            <a:ext cx="2556304" cy="327638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zh-CN" sz="1600" b="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方法三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if mark&gt;=90</a:t>
            </a:r>
            <a:r>
              <a:rPr 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：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grade="</a:t>
            </a:r>
            <a:r>
              <a:rPr 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优</a:t>
            </a:r>
            <a:r>
              <a:rPr lang="en-US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</a:t>
            </a:r>
            <a:endParaRPr lang="zh-CN" sz="1600" spc="-6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1600" spc="-6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elif</a:t>
            </a:r>
            <a:r>
              <a:rPr lang="en-US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80&lt;=mark&lt;=89</a:t>
            </a:r>
            <a:r>
              <a:rPr 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：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grade="</a:t>
            </a:r>
            <a:r>
              <a:rPr 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良</a:t>
            </a:r>
            <a:r>
              <a:rPr lang="en-US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</a:t>
            </a:r>
            <a:endParaRPr lang="zh-CN" sz="1600" spc="-6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1600" spc="-6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elif</a:t>
            </a:r>
            <a:r>
              <a:rPr lang="en-US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70&lt;=mark&lt;=79</a:t>
            </a:r>
            <a:r>
              <a:rPr 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：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grade="</a:t>
            </a:r>
            <a:r>
              <a:rPr 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中</a:t>
            </a:r>
            <a:r>
              <a:rPr lang="en-US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</a:t>
            </a:r>
            <a:endParaRPr lang="zh-CN" sz="1600" spc="-6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1600" spc="-6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elif</a:t>
            </a:r>
            <a:r>
              <a:rPr lang="en-US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60&lt;=mark&lt;=69</a:t>
            </a:r>
            <a:r>
              <a:rPr 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：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grade="</a:t>
            </a:r>
            <a:r>
              <a:rPr 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及格</a:t>
            </a:r>
            <a:r>
              <a:rPr lang="en-US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</a:t>
            </a:r>
            <a:endParaRPr lang="zh-CN" sz="1600" spc="-6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else</a:t>
            </a:r>
            <a:r>
              <a:rPr 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：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grade="</a:t>
            </a:r>
            <a:r>
              <a:rPr 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不及</a:t>
            </a:r>
            <a:r>
              <a:rPr lang="zh-CN" sz="1600" kern="100" dirty="0">
                <a:effectLst/>
                <a:latin typeface="Calibri"/>
                <a:ea typeface="宋体"/>
                <a:cs typeface="Times New Roman"/>
              </a:rPr>
              <a:t>格</a:t>
            </a:r>
            <a:r>
              <a:rPr lang="en-US" sz="1600" kern="100" dirty="0">
                <a:effectLst/>
                <a:latin typeface="Calibri"/>
                <a:ea typeface="宋体"/>
                <a:cs typeface="Times New Roman"/>
              </a:rPr>
              <a:t>"</a:t>
            </a:r>
            <a:r>
              <a:rPr lang="en-US" sz="900" kern="100" dirty="0">
                <a:effectLst/>
                <a:latin typeface="Calibri"/>
                <a:ea typeface="宋体"/>
                <a:cs typeface="Times New Roman"/>
              </a:rPr>
              <a:t>    </a:t>
            </a:r>
            <a:endParaRPr lang="zh-CN" sz="1050" kern="100" dirty="0">
              <a:effectLst/>
              <a:latin typeface="Calibri"/>
              <a:ea typeface="宋体"/>
              <a:cs typeface="Times New Roman"/>
            </a:endParaRPr>
          </a:p>
        </p:txBody>
      </p:sp>
      <p:sp>
        <p:nvSpPr>
          <p:cNvPr id="10" name="Text Box 86"/>
          <p:cNvSpPr txBox="1">
            <a:spLocks noChangeArrowheads="1"/>
          </p:cNvSpPr>
          <p:nvPr/>
        </p:nvSpPr>
        <p:spPr bwMode="auto">
          <a:xfrm>
            <a:off x="1070109" y="1394094"/>
            <a:ext cx="2448272" cy="322990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方法一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if mark&gt;=90</a:t>
            </a:r>
            <a:r>
              <a:rPr 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：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grade="</a:t>
            </a:r>
            <a:r>
              <a:rPr 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优</a:t>
            </a:r>
            <a:r>
              <a:rPr lang="en-US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</a:t>
            </a:r>
            <a:endParaRPr lang="zh-CN" sz="1600" spc="-6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1600" spc="-6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elif</a:t>
            </a:r>
            <a:r>
              <a:rPr lang="en-US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mark&gt;=80</a:t>
            </a:r>
            <a:r>
              <a:rPr 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：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grade="</a:t>
            </a:r>
            <a:r>
              <a:rPr 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良</a:t>
            </a:r>
            <a:r>
              <a:rPr lang="en-US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</a:t>
            </a:r>
            <a:endParaRPr lang="zh-CN" sz="1600" spc="-6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1600" spc="-6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elif</a:t>
            </a:r>
            <a:r>
              <a:rPr lang="en-US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mark&gt;=70</a:t>
            </a:r>
            <a:r>
              <a:rPr 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：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grade="</a:t>
            </a:r>
            <a:r>
              <a:rPr 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中</a:t>
            </a:r>
            <a:r>
              <a:rPr lang="en-US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</a:t>
            </a:r>
            <a:endParaRPr lang="zh-CN" sz="1600" spc="-6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1600" spc="-6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elif</a:t>
            </a:r>
            <a:r>
              <a:rPr lang="en-US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mark&gt;=60</a:t>
            </a:r>
            <a:r>
              <a:rPr 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：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grade="</a:t>
            </a:r>
            <a:r>
              <a:rPr 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及格</a:t>
            </a:r>
            <a:r>
              <a:rPr lang="en-US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</a:t>
            </a:r>
            <a:endParaRPr lang="zh-CN" sz="1600" spc="-6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else</a:t>
            </a:r>
            <a:r>
              <a:rPr 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：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grade="</a:t>
            </a:r>
            <a:r>
              <a:rPr 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不及格</a:t>
            </a:r>
            <a:r>
              <a:rPr lang="en-US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</a:t>
            </a:r>
            <a:endParaRPr lang="zh-CN" sz="1600" spc="-6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8"/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9128987"/>
      </p:ext>
    </p:extLst>
  </p:cSld>
  <p:clrMapOvr>
    <a:masterClrMapping/>
  </p:clrMapOvr>
  <p:transition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Text Box 126"/>
          <p:cNvSpPr txBox="1">
            <a:spLocks noChangeArrowheads="1"/>
          </p:cNvSpPr>
          <p:nvPr/>
        </p:nvSpPr>
        <p:spPr bwMode="auto">
          <a:xfrm>
            <a:off x="323528" y="252128"/>
            <a:ext cx="7265009" cy="463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b" anchorCtr="0" compatLnSpc="1">
            <a:prstTxWarp prst="textNoShape">
              <a:avLst/>
            </a:prstTxWarp>
          </a:bodyPr>
          <a:lstStyle>
            <a:lvl1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2pPr>
            <a:lvl3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3pPr>
            <a:lvl4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4pPr>
            <a:lvl5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5pPr>
            <a:lvl6pPr marL="4572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6pPr>
            <a:lvl7pPr marL="9144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7pPr>
            <a:lvl8pPr marL="13716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8pPr>
            <a:lvl9pPr marL="18288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9pPr>
          </a:lstStyle>
          <a:p>
            <a:r>
              <a:rPr lang="en-US" altLang="zh-CN" sz="2700" dirty="0">
                <a:solidFill>
                  <a:schemeClr val="tx1"/>
                </a:solidFill>
              </a:rPr>
              <a:t>   if </a:t>
            </a:r>
            <a:r>
              <a:rPr lang="zh-CN" altLang="en-US" sz="2700" dirty="0">
                <a:solidFill>
                  <a:schemeClr val="tx1"/>
                </a:solidFill>
              </a:rPr>
              <a:t>课后练习</a:t>
            </a:r>
            <a:r>
              <a:rPr lang="en-US" altLang="zh-CN" sz="2700" dirty="0">
                <a:solidFill>
                  <a:schemeClr val="tx1"/>
                </a:solidFill>
              </a:rPr>
              <a:t>— PM2.5 </a:t>
            </a:r>
            <a:r>
              <a:rPr lang="zh-CN" altLang="en-US" sz="2700" dirty="0">
                <a:solidFill>
                  <a:schemeClr val="tx1"/>
                </a:solidFill>
              </a:rPr>
              <a:t>空气质量</a:t>
            </a:r>
            <a:r>
              <a:rPr lang="en-US" altLang="zh-CN" sz="2700" dirty="0">
                <a:solidFill>
                  <a:schemeClr val="tx1"/>
                </a:solidFill>
              </a:rPr>
              <a:t>—</a:t>
            </a:r>
            <a:r>
              <a:rPr lang="zh-CN" altLang="en-US" sz="2700" dirty="0">
                <a:solidFill>
                  <a:schemeClr val="tx1"/>
                </a:solidFill>
              </a:rPr>
              <a:t>自己读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395537" y="897564"/>
            <a:ext cx="7193000" cy="378042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1197" indent="0" eaLnBrk="1" hangingPunct="1">
              <a:lnSpc>
                <a:spcPct val="90000"/>
              </a:lnSpc>
              <a:buNone/>
            </a:pPr>
            <a:r>
              <a:rPr lang="en-US" altLang="zh-CN" sz="1500" dirty="0"/>
              <a:t>PM2.5</a:t>
            </a:r>
            <a:r>
              <a:rPr lang="zh-CN" altLang="en-US" sz="1500" dirty="0"/>
              <a:t>与空气质量的关系</a:t>
            </a:r>
            <a:endParaRPr lang="en-US" altLang="zh-CN" sz="1500" dirty="0"/>
          </a:p>
          <a:p>
            <a:pPr marL="51197" indent="0" eaLnBrk="1" hangingPunct="1">
              <a:lnSpc>
                <a:spcPct val="90000"/>
              </a:lnSpc>
              <a:buNone/>
            </a:pPr>
            <a:r>
              <a:rPr lang="en-US" altLang="zh-CN" sz="1500" dirty="0"/>
              <a:t>0-35</a:t>
            </a:r>
            <a:r>
              <a:rPr lang="zh-CN" altLang="en-US" sz="1500" dirty="0"/>
              <a:t>：优；</a:t>
            </a:r>
            <a:r>
              <a:rPr lang="en-US" altLang="zh-CN" sz="1500" dirty="0"/>
              <a:t>35-75</a:t>
            </a:r>
            <a:r>
              <a:rPr lang="zh-CN" altLang="en-US" sz="1500" dirty="0"/>
              <a:t>：良；</a:t>
            </a:r>
            <a:r>
              <a:rPr lang="en-US" altLang="zh-CN" sz="1500" dirty="0"/>
              <a:t>75-115</a:t>
            </a:r>
            <a:r>
              <a:rPr lang="zh-CN" altLang="en-US" sz="1500" dirty="0"/>
              <a:t>：轻度污染；</a:t>
            </a:r>
            <a:r>
              <a:rPr lang="en-US" altLang="zh-CN" sz="1500" dirty="0"/>
              <a:t>115-150</a:t>
            </a:r>
            <a:r>
              <a:rPr lang="zh-CN" altLang="en-US" sz="1500" dirty="0"/>
              <a:t>：中度污染</a:t>
            </a:r>
            <a:endParaRPr lang="en-US" altLang="zh-CN" sz="1500" dirty="0"/>
          </a:p>
          <a:p>
            <a:pPr marL="51197" indent="0" eaLnBrk="1" hangingPunct="1">
              <a:lnSpc>
                <a:spcPct val="90000"/>
              </a:lnSpc>
              <a:buNone/>
            </a:pPr>
            <a:r>
              <a:rPr lang="en-US" altLang="zh-CN" sz="1500" dirty="0"/>
              <a:t>150-250</a:t>
            </a:r>
            <a:r>
              <a:rPr lang="zh-CN" altLang="en-US" sz="1500" dirty="0"/>
              <a:t>：重度污染；</a:t>
            </a:r>
            <a:r>
              <a:rPr lang="en-US" altLang="zh-CN" sz="1500" dirty="0"/>
              <a:t>250-500</a:t>
            </a:r>
            <a:r>
              <a:rPr lang="zh-CN" altLang="en-US" sz="1500" dirty="0"/>
              <a:t>：严重污染</a:t>
            </a:r>
            <a:endParaRPr lang="en-US" altLang="zh-CN" sz="1500" dirty="0"/>
          </a:p>
          <a:p>
            <a:pPr marL="51197" indent="0" eaLnBrk="1" hangingPunct="1">
              <a:lnSpc>
                <a:spcPct val="90000"/>
              </a:lnSpc>
              <a:buNone/>
            </a:pPr>
            <a:r>
              <a:rPr lang="zh-CN" altLang="en-US" sz="1500" dirty="0"/>
              <a:t>输入</a:t>
            </a:r>
            <a:r>
              <a:rPr lang="en-US" altLang="zh-CN" sz="1500" dirty="0"/>
              <a:t>PM2.5</a:t>
            </a:r>
            <a:r>
              <a:rPr lang="zh-CN" altLang="en-US" sz="1500" dirty="0"/>
              <a:t>的值，输出空气质量</a:t>
            </a:r>
            <a:endParaRPr lang="en-US" altLang="zh-CN" sz="1500" dirty="0"/>
          </a:p>
        </p:txBody>
      </p:sp>
    </p:spTree>
    <p:extLst>
      <p:ext uri="{BB962C8B-B14F-4D97-AF65-F5344CB8AC3E}">
        <p14:creationId xmlns:p14="http://schemas.microsoft.com/office/powerpoint/2010/main" val="31399785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152400" y="843558"/>
            <a:ext cx="8883650" cy="369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just">
              <a:spcBef>
                <a:spcPct val="10000"/>
              </a:spcBef>
            </a:pP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嵌套：指</a:t>
            </a:r>
            <a:r>
              <a:rPr lang="en-US" altLang="zh-CN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if</a:t>
            </a:r>
            <a:r>
              <a:rPr lang="zh-CN" altLang="en-US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、</a:t>
            </a:r>
            <a:r>
              <a:rPr lang="en-US" altLang="zh-CN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else</a:t>
            </a:r>
            <a:r>
              <a:rPr lang="zh-CN" altLang="en-US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、</a:t>
            </a:r>
            <a:r>
              <a:rPr lang="en-US" altLang="zh-CN" sz="18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elif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后面的语句块中又</a:t>
            </a:r>
            <a:r>
              <a:rPr lang="zh-CN" altLang="en-US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完整地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包含了</a:t>
            </a:r>
            <a:r>
              <a:rPr lang="en-US" altLang="zh-CN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if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语句块</a:t>
            </a:r>
            <a:r>
              <a:rPr lang="en-US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,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常见如下：</a:t>
            </a:r>
          </a:p>
        </p:txBody>
      </p:sp>
      <p:sp>
        <p:nvSpPr>
          <p:cNvPr id="36867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268288"/>
            <a:ext cx="5867400" cy="530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algn="l"/>
            <a:r>
              <a:rPr lang="zh-CN" altLang="en-US" sz="2800" b="1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选择结构的嵌套 </a:t>
            </a:r>
          </a:p>
        </p:txBody>
      </p:sp>
      <p:sp>
        <p:nvSpPr>
          <p:cNvPr id="36868" name="TextBox 2"/>
          <p:cNvSpPr txBox="1">
            <a:spLocks noChangeArrowheads="1"/>
          </p:cNvSpPr>
          <p:nvPr/>
        </p:nvSpPr>
        <p:spPr bwMode="auto">
          <a:xfrm>
            <a:off x="107504" y="2069034"/>
            <a:ext cx="2880320" cy="1954381"/>
          </a:xfrm>
          <a:prstGeom prst="rect">
            <a:avLst/>
          </a:prstGeom>
          <a:solidFill>
            <a:srgbClr val="E4F3F4"/>
          </a:solidFill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ts val="600"/>
              </a:spcBef>
            </a:pP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if  &lt;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表达式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1&gt; 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：</a:t>
            </a:r>
          </a:p>
          <a:p>
            <a:pPr>
              <a:spcBef>
                <a:spcPts val="600"/>
              </a:spcBef>
            </a:pPr>
            <a:r>
              <a:rPr lang="en-US" altLang="zh-CN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if  &lt;</a:t>
            </a:r>
            <a:r>
              <a:rPr lang="zh-CN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表达式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11&gt; </a:t>
            </a:r>
            <a:r>
              <a:rPr lang="zh-CN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：</a:t>
            </a:r>
          </a:p>
          <a:p>
            <a:pPr>
              <a:spcBef>
                <a:spcPts val="600"/>
              </a:spcBef>
            </a:pP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   &lt;</a:t>
            </a:r>
            <a:r>
              <a:rPr lang="zh-CN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语句块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11&gt;</a:t>
            </a:r>
          </a:p>
          <a:p>
            <a:pPr>
              <a:spcBef>
                <a:spcPts val="600"/>
              </a:spcBef>
            </a:pP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else 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：</a:t>
            </a:r>
          </a:p>
          <a:p>
            <a:pPr>
              <a:spcBef>
                <a:spcPts val="600"/>
              </a:spcBef>
            </a:pPr>
            <a:r>
              <a:rPr lang="en-US" altLang="zh-CN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if  &lt;</a:t>
            </a:r>
            <a:r>
              <a:rPr lang="zh-CN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表达式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21&gt; </a:t>
            </a:r>
            <a:r>
              <a:rPr lang="zh-CN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：</a:t>
            </a:r>
          </a:p>
          <a:p>
            <a:pPr>
              <a:spcBef>
                <a:spcPts val="600"/>
              </a:spcBef>
            </a:pP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    &lt;</a:t>
            </a:r>
            <a:r>
              <a:rPr lang="zh-CN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语句块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21&gt;</a:t>
            </a:r>
            <a:endParaRPr lang="zh-CN" altLang="zh-CN" sz="1600" dirty="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36869" name="TextBox 3"/>
          <p:cNvSpPr txBox="1">
            <a:spLocks noChangeArrowheads="1"/>
          </p:cNvSpPr>
          <p:nvPr/>
        </p:nvSpPr>
        <p:spPr bwMode="auto">
          <a:xfrm>
            <a:off x="539651" y="1534095"/>
            <a:ext cx="230415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ts val="300"/>
              </a:spcBef>
            </a:pPr>
            <a:r>
              <a:rPr lang="zh-CN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双分支均内嵌单分支</a:t>
            </a:r>
          </a:p>
        </p:txBody>
      </p:sp>
      <p:sp>
        <p:nvSpPr>
          <p:cNvPr id="36870" name="TextBox 45"/>
          <p:cNvSpPr txBox="1">
            <a:spLocks noChangeArrowheads="1"/>
          </p:cNvSpPr>
          <p:nvPr/>
        </p:nvSpPr>
        <p:spPr bwMode="auto">
          <a:xfrm>
            <a:off x="3131692" y="2069034"/>
            <a:ext cx="2808460" cy="1815882"/>
          </a:xfrm>
          <a:prstGeom prst="rect">
            <a:avLst/>
          </a:prstGeom>
          <a:solidFill>
            <a:srgbClr val="E4F3F4"/>
          </a:solidFill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if  &lt;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表达式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1&gt;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：</a:t>
            </a:r>
          </a:p>
          <a:p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if  &lt;</a:t>
            </a:r>
            <a:r>
              <a:rPr lang="zh-CN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表达式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11&gt; </a:t>
            </a:r>
            <a:r>
              <a:rPr lang="zh-CN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：</a:t>
            </a:r>
          </a:p>
          <a:p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   &lt;</a:t>
            </a:r>
            <a:r>
              <a:rPr lang="zh-CN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语句块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11&gt;</a:t>
            </a:r>
            <a:endParaRPr lang="zh-CN" altLang="zh-CN" sz="1600" dirty="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else </a:t>
            </a:r>
            <a:r>
              <a:rPr lang="zh-CN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：</a:t>
            </a:r>
          </a:p>
          <a:p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   &lt;</a:t>
            </a:r>
            <a:r>
              <a:rPr lang="zh-CN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语句块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12&gt;</a:t>
            </a:r>
            <a:endParaRPr lang="zh-CN" altLang="zh-CN" sz="1600" dirty="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else 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：</a:t>
            </a:r>
          </a:p>
          <a:p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&lt;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语句块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2&gt; 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36871" name="TextBox 46"/>
          <p:cNvSpPr txBox="1">
            <a:spLocks noChangeArrowheads="1"/>
          </p:cNvSpPr>
          <p:nvPr/>
        </p:nvSpPr>
        <p:spPr bwMode="auto">
          <a:xfrm>
            <a:off x="3131692" y="1593641"/>
            <a:ext cx="28804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双分支的</a:t>
            </a:r>
            <a:r>
              <a:rPr lang="en-US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if</a:t>
            </a:r>
            <a:r>
              <a:rPr lang="zh-CN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块内嵌双分支</a:t>
            </a:r>
          </a:p>
        </p:txBody>
      </p:sp>
      <p:sp>
        <p:nvSpPr>
          <p:cNvPr id="36872" name="矩形 1"/>
          <p:cNvSpPr>
            <a:spLocks noChangeArrowheads="1"/>
          </p:cNvSpPr>
          <p:nvPr/>
        </p:nvSpPr>
        <p:spPr bwMode="auto">
          <a:xfrm>
            <a:off x="394842" y="2427809"/>
            <a:ext cx="2160587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endParaRPr lang="zh-CN" altLang="en-US"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14" name="AutoShape 44"/>
          <p:cNvSpPr>
            <a:spLocks noChangeArrowheads="1"/>
          </p:cNvSpPr>
          <p:nvPr/>
        </p:nvSpPr>
        <p:spPr bwMode="gray">
          <a:xfrm>
            <a:off x="6099372" y="2078965"/>
            <a:ext cx="2700362" cy="1698610"/>
          </a:xfrm>
          <a:prstGeom prst="roundRect">
            <a:avLst>
              <a:gd name="adj" fmla="val 8014"/>
            </a:avLst>
          </a:prstGeom>
          <a:solidFill>
            <a:srgbClr val="FFFFCC"/>
          </a:solidFill>
          <a:ln w="9525">
            <a:solidFill>
              <a:srgbClr val="808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lnSpc>
                <a:spcPct val="120000"/>
              </a:lnSpc>
            </a:pPr>
            <a:r>
              <a:rPr lang="zh-CN" altLang="en-US" sz="16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注意：</a:t>
            </a:r>
            <a:endParaRPr lang="en-US" altLang="zh-CN" sz="1600" b="0" dirty="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lnSpc>
                <a:spcPct val="120000"/>
              </a:lnSpc>
            </a:pPr>
            <a:r>
              <a:rPr lang="zh-CN" altLang="zh-CN" sz="1600" dirty="0">
                <a:solidFill>
                  <a:schemeClr val="tx1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使用嵌套的</a:t>
            </a:r>
            <a:r>
              <a:rPr lang="en-US" altLang="zh-CN" sz="1600" dirty="0">
                <a:solidFill>
                  <a:schemeClr val="tx1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if</a:t>
            </a:r>
            <a:r>
              <a:rPr lang="zh-CN" altLang="zh-CN" sz="1600" dirty="0">
                <a:solidFill>
                  <a:schemeClr val="tx1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结构时，</a:t>
            </a:r>
            <a:endParaRPr lang="en-US" altLang="zh-CN" sz="1600" dirty="0">
              <a:solidFill>
                <a:schemeClr val="tx1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lnSpc>
                <a:spcPct val="120000"/>
              </a:lnSpc>
            </a:pPr>
            <a:r>
              <a:rPr lang="zh-CN" altLang="zh-CN" sz="1600" dirty="0">
                <a:solidFill>
                  <a:schemeClr val="tx1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一定要严格控制好不同</a:t>
            </a:r>
            <a:endParaRPr lang="en-US" altLang="zh-CN" sz="1600" dirty="0">
              <a:solidFill>
                <a:schemeClr val="tx1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lnSpc>
                <a:spcPct val="120000"/>
              </a:lnSpc>
            </a:pPr>
            <a:r>
              <a:rPr lang="zh-CN" altLang="zh-CN" sz="1600" dirty="0">
                <a:solidFill>
                  <a:schemeClr val="tx1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层次语句块的</a:t>
            </a:r>
            <a:r>
              <a:rPr lang="zh-CN" altLang="zh-CN" sz="1800" dirty="0">
                <a:solidFill>
                  <a:srgbClr val="FF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缩进量</a:t>
            </a:r>
            <a:r>
              <a:rPr lang="zh-CN" altLang="en-US" sz="1600" dirty="0">
                <a:solidFill>
                  <a:schemeClr val="tx1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，</a:t>
            </a:r>
            <a:endParaRPr lang="en-US" altLang="zh-CN" sz="1600" dirty="0">
              <a:solidFill>
                <a:schemeClr val="tx1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决定了语句块的从属关系</a:t>
            </a:r>
            <a:r>
              <a:rPr lang="zh-CN" altLang="en-US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6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8" grpId="0" animBg="1"/>
      <p:bldP spid="36869" grpId="0"/>
      <p:bldP spid="36870" grpId="0" animBg="1"/>
      <p:bldP spid="36871" grpId="0"/>
      <p:bldP spid="36872" grpId="0"/>
      <p:bldP spid="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4915" name="Text Box 3"/>
          <p:cNvSpPr txBox="1">
            <a:spLocks noChangeArrowheads="1"/>
          </p:cNvSpPr>
          <p:nvPr/>
        </p:nvSpPr>
        <p:spPr bwMode="auto">
          <a:xfrm>
            <a:off x="282878" y="1203598"/>
            <a:ext cx="8424863" cy="829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61" tIns="46031" rIns="92061" bIns="46031">
            <a:spAutoFit/>
          </a:bodyPr>
          <a:lstStyle>
            <a:lvl1pPr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defTabSz="6397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defTabSz="6397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defTabSz="6397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defTabSz="6397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460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 3.3</a:t>
            </a:r>
            <a:r>
              <a:rPr lang="zh-CN" altLang="en-US" sz="460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循环结构</a:t>
            </a:r>
          </a:p>
        </p:txBody>
      </p:sp>
      <p:sp>
        <p:nvSpPr>
          <p:cNvPr id="4099" name="Rectangle 3"/>
          <p:cNvSpPr txBox="1">
            <a:spLocks noChangeArrowheads="1"/>
          </p:cNvSpPr>
          <p:nvPr/>
        </p:nvSpPr>
        <p:spPr bwMode="auto">
          <a:xfrm>
            <a:off x="1691680" y="1433994"/>
            <a:ext cx="6618288" cy="3509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9pPr>
          </a:lstStyle>
          <a:p>
            <a:endParaRPr lang="zh-CN" altLang="zh-CN" sz="280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2500853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9512" y="123478"/>
            <a:ext cx="6400800" cy="530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algn="l"/>
            <a:r>
              <a:rPr lang="en-US" altLang="zh-CN" sz="2800" b="1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for</a:t>
            </a:r>
            <a:r>
              <a:rPr lang="zh-CN" altLang="en-US" sz="2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循环语句 </a:t>
            </a:r>
          </a:p>
        </p:txBody>
      </p:sp>
      <p:sp>
        <p:nvSpPr>
          <p:cNvPr id="2207747" name="Rectangle 3"/>
          <p:cNvSpPr>
            <a:spLocks noChangeArrowheads="1"/>
          </p:cNvSpPr>
          <p:nvPr/>
        </p:nvSpPr>
        <p:spPr bwMode="auto">
          <a:xfrm>
            <a:off x="1013545" y="1445474"/>
            <a:ext cx="4747998" cy="623890"/>
          </a:xfrm>
          <a:prstGeom prst="rect">
            <a:avLst/>
          </a:prstGeom>
          <a:solidFill>
            <a:srgbClr val="E4F3F3"/>
          </a:solidFill>
          <a:ln>
            <a:noFill/>
          </a:ln>
          <a:effectLst/>
        </p:spPr>
        <p:txBody>
          <a:bodyPr wrap="square" lIns="92075" tIns="46038" rIns="92075" bIns="46038">
            <a:spAutoFit/>
          </a:bodyPr>
          <a:lstStyle/>
          <a:p>
            <a:pPr algn="just">
              <a:lnSpc>
                <a:spcPct val="100000"/>
              </a:lnSpc>
              <a:spcBef>
                <a:spcPts val="300"/>
              </a:spcBef>
            </a:pP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for</a:t>
            </a:r>
            <a:r>
              <a:rPr lang="en-US" altLang="zh-CN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</a:t>
            </a:r>
            <a:r>
              <a:rPr lang="zh-CN" altLang="en-US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循环变量 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in</a:t>
            </a:r>
            <a:r>
              <a:rPr lang="en-US" altLang="zh-CN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</a:t>
            </a:r>
            <a:r>
              <a:rPr lang="zh-CN" altLang="zh-CN" sz="1600" dirty="0">
                <a:latin typeface="微软雅黑" pitchFamily="34" charset="-122"/>
                <a:ea typeface="微软雅黑" pitchFamily="34" charset="-122"/>
              </a:rPr>
              <a:t>序列</a:t>
            </a:r>
            <a:r>
              <a:rPr lang="zh-CN" altLang="en-US" sz="1600" dirty="0"/>
              <a:t>：</a:t>
            </a:r>
            <a:endParaRPr lang="en-US" altLang="zh-CN" sz="1600" b="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 algn="just">
              <a:lnSpc>
                <a:spcPct val="100000"/>
              </a:lnSpc>
              <a:spcBef>
                <a:spcPts val="300"/>
              </a:spcBef>
            </a:pPr>
            <a:r>
              <a:rPr lang="en-US" altLang="zh-CN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</a:t>
            </a:r>
            <a:r>
              <a:rPr lang="zh-CN" altLang="en-US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语句块</a:t>
            </a:r>
          </a:p>
        </p:txBody>
      </p:sp>
      <p:sp>
        <p:nvSpPr>
          <p:cNvPr id="2207756" name="Text Box 12"/>
          <p:cNvSpPr txBox="1">
            <a:spLocks noChangeArrowheads="1"/>
          </p:cNvSpPr>
          <p:nvPr/>
        </p:nvSpPr>
        <p:spPr bwMode="auto">
          <a:xfrm>
            <a:off x="247465" y="2162519"/>
            <a:ext cx="573769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9pPr>
          </a:lstStyle>
          <a:p>
            <a:pPr algn="just"/>
            <a:r>
              <a:rPr lang="zh-CN" altLang="en-US" sz="18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作用：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将</a:t>
            </a:r>
            <a:r>
              <a:rPr lang="zh-CN" altLang="zh-CN" sz="1800" b="0" dirty="0">
                <a:solidFill>
                  <a:srgbClr val="FF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序列中的成员逐一赋值给</a:t>
            </a:r>
            <a:r>
              <a:rPr lang="en-US" altLang="zh-CN" sz="1800" b="0" dirty="0">
                <a:solidFill>
                  <a:srgbClr val="FF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</a:t>
            </a:r>
            <a:r>
              <a:rPr lang="zh-CN" altLang="en-US" sz="1800" b="0" dirty="0">
                <a:solidFill>
                  <a:srgbClr val="FF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“</a:t>
            </a:r>
            <a:r>
              <a:rPr lang="zh-CN" altLang="zh-CN" sz="1800" b="0" dirty="0">
                <a:solidFill>
                  <a:srgbClr val="FF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循环变量</a:t>
            </a:r>
            <a:r>
              <a:rPr lang="zh-CN" altLang="en-US" sz="1800" b="0" dirty="0">
                <a:solidFill>
                  <a:srgbClr val="FF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”</a:t>
            </a:r>
            <a:r>
              <a:rPr lang="zh-CN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，</a:t>
            </a:r>
            <a:endParaRPr lang="en-US" altLang="zh-CN" sz="1800" b="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 algn="just"/>
            <a:r>
              <a:rPr lang="en-US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</a:t>
            </a:r>
            <a:r>
              <a:rPr lang="zh-CN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一次赋值执行一遍循环体。</a:t>
            </a:r>
            <a:endParaRPr lang="zh-CN" altLang="en-US" sz="1800" b="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51520" y="701283"/>
            <a:ext cx="8713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用于</a:t>
            </a:r>
            <a:r>
              <a:rPr lang="zh-CN" altLang="en-US" sz="1800" b="0" dirty="0">
                <a:solidFill>
                  <a:srgbClr val="FF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循环次数已知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的循环结构</a:t>
            </a:r>
            <a:r>
              <a:rPr lang="en-US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,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又称为</a:t>
            </a:r>
            <a:r>
              <a:rPr lang="zh-CN" altLang="en-US" sz="1800" b="0" dirty="0">
                <a:solidFill>
                  <a:srgbClr val="FF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计数型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循环。</a:t>
            </a:r>
            <a:endParaRPr lang="en-US" altLang="zh-CN" sz="1800" b="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for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语句逐个</a:t>
            </a:r>
            <a:r>
              <a:rPr lang="zh-CN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遍历序列中的成员。</a:t>
            </a:r>
            <a:r>
              <a:rPr lang="zh-CN" altLang="en-US" sz="1800" b="0" dirty="0">
                <a:solidFill>
                  <a:srgbClr val="FF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成员个数决定循环次数</a:t>
            </a:r>
            <a:endParaRPr lang="en-US" altLang="zh-CN" sz="1800" b="0" dirty="0">
              <a:solidFill>
                <a:srgbClr val="FF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51520" y="1415850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格式：</a:t>
            </a:r>
            <a:endParaRPr lang="zh-CN" altLang="en-US" sz="1800" dirty="0">
              <a:solidFill>
                <a:srgbClr val="C00000"/>
              </a:solidFill>
            </a:endParaRPr>
          </a:p>
        </p:txBody>
      </p:sp>
      <p:sp>
        <p:nvSpPr>
          <p:cNvPr id="55" name="菱形 4"/>
          <p:cNvSpPr>
            <a:spLocks noChangeArrowheads="1"/>
          </p:cNvSpPr>
          <p:nvPr/>
        </p:nvSpPr>
        <p:spPr bwMode="auto">
          <a:xfrm>
            <a:off x="6237422" y="2186795"/>
            <a:ext cx="2078995" cy="482400"/>
          </a:xfrm>
          <a:prstGeom prst="diamond">
            <a:avLst/>
          </a:prstGeom>
          <a:noFill/>
          <a:ln w="19050" algn="ctr">
            <a:solidFill>
              <a:srgbClr val="6666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ts val="1300"/>
              </a:lnSpc>
              <a:spcBef>
                <a:spcPct val="0"/>
              </a:spcBef>
            </a:pPr>
            <a:r>
              <a:rPr lang="zh-CN" altLang="en-US" sz="12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循环变量在</a:t>
            </a:r>
            <a:endParaRPr lang="en-US" altLang="zh-CN" sz="1200" b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ts val="1300"/>
              </a:lnSpc>
              <a:spcBef>
                <a:spcPct val="0"/>
              </a:spcBef>
            </a:pPr>
            <a:r>
              <a:rPr lang="zh-CN" altLang="en-US" sz="12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终值内</a:t>
            </a:r>
          </a:p>
        </p:txBody>
      </p:sp>
      <p:sp>
        <p:nvSpPr>
          <p:cNvPr id="56" name="矩形 5"/>
          <p:cNvSpPr>
            <a:spLocks noChangeArrowheads="1"/>
          </p:cNvSpPr>
          <p:nvPr/>
        </p:nvSpPr>
        <p:spPr bwMode="auto">
          <a:xfrm>
            <a:off x="6237421" y="1681477"/>
            <a:ext cx="2439110" cy="215444"/>
          </a:xfrm>
          <a:prstGeom prst="rect">
            <a:avLst/>
          </a:prstGeom>
          <a:noFill/>
          <a:ln w="19050" algn="ctr">
            <a:solidFill>
              <a:srgbClr val="6666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bIns="0" anchor="ctr">
            <a:spAutoFit/>
          </a:bodyPr>
          <a:lstStyle/>
          <a:p>
            <a:pPr algn="ctr"/>
            <a:r>
              <a:rPr lang="zh-CN" altLang="en-US" sz="14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循环变量</a:t>
            </a:r>
            <a:r>
              <a:rPr lang="en-US" altLang="zh-CN" sz="14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=</a:t>
            </a:r>
            <a:r>
              <a:rPr lang="zh-CN" altLang="en-US" sz="14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序列中的下一个值</a:t>
            </a:r>
          </a:p>
        </p:txBody>
      </p:sp>
      <p:cxnSp>
        <p:nvCxnSpPr>
          <p:cNvPr id="57" name="直接连接符 8"/>
          <p:cNvCxnSpPr>
            <a:cxnSpLocks noChangeShapeType="1"/>
          </p:cNvCxnSpPr>
          <p:nvPr/>
        </p:nvCxnSpPr>
        <p:spPr bwMode="auto">
          <a:xfrm flipH="1">
            <a:off x="6102424" y="3609628"/>
            <a:ext cx="1178884" cy="0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" name="直接连接符 9"/>
          <p:cNvCxnSpPr>
            <a:cxnSpLocks noChangeShapeType="1"/>
          </p:cNvCxnSpPr>
          <p:nvPr/>
        </p:nvCxnSpPr>
        <p:spPr bwMode="auto">
          <a:xfrm>
            <a:off x="7263052" y="1419622"/>
            <a:ext cx="0" cy="215900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" name="直接连接符 12"/>
          <p:cNvCxnSpPr>
            <a:cxnSpLocks noChangeShapeType="1"/>
          </p:cNvCxnSpPr>
          <p:nvPr/>
        </p:nvCxnSpPr>
        <p:spPr bwMode="auto">
          <a:xfrm>
            <a:off x="7291293" y="3234424"/>
            <a:ext cx="2738" cy="375204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0" name="TextBox 14"/>
          <p:cNvSpPr txBox="1">
            <a:spLocks noChangeArrowheads="1"/>
          </p:cNvSpPr>
          <p:nvPr/>
        </p:nvSpPr>
        <p:spPr bwMode="auto">
          <a:xfrm>
            <a:off x="8172401" y="2127139"/>
            <a:ext cx="792162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1400">
                <a:latin typeface="Courier New" pitchFamily="49" charset="0"/>
                <a:cs typeface="Courier New" pitchFamily="49" charset="0"/>
              </a:rPr>
              <a:t>False</a:t>
            </a:r>
            <a:endParaRPr lang="zh-CN" altLang="en-US" sz="1800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61" name="直接连接符 30"/>
          <p:cNvCxnSpPr>
            <a:cxnSpLocks noChangeShapeType="1"/>
          </p:cNvCxnSpPr>
          <p:nvPr/>
        </p:nvCxnSpPr>
        <p:spPr bwMode="auto">
          <a:xfrm flipH="1">
            <a:off x="6084168" y="1530730"/>
            <a:ext cx="1" cy="2078898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2" name="直接连接符 31"/>
          <p:cNvCxnSpPr>
            <a:cxnSpLocks noChangeShapeType="1"/>
          </p:cNvCxnSpPr>
          <p:nvPr/>
        </p:nvCxnSpPr>
        <p:spPr bwMode="auto">
          <a:xfrm flipH="1">
            <a:off x="6084168" y="1526532"/>
            <a:ext cx="1178884" cy="4198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" name="直接连接符 35"/>
          <p:cNvCxnSpPr>
            <a:cxnSpLocks noChangeShapeType="1"/>
          </p:cNvCxnSpPr>
          <p:nvPr/>
        </p:nvCxnSpPr>
        <p:spPr bwMode="auto">
          <a:xfrm>
            <a:off x="7263052" y="2690105"/>
            <a:ext cx="0" cy="252000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5" name="矩形 5"/>
          <p:cNvSpPr>
            <a:spLocks noChangeArrowheads="1"/>
          </p:cNvSpPr>
          <p:nvPr/>
        </p:nvSpPr>
        <p:spPr bwMode="auto">
          <a:xfrm>
            <a:off x="6686913" y="2956920"/>
            <a:ext cx="1197456" cy="258532"/>
          </a:xfrm>
          <a:prstGeom prst="rect">
            <a:avLst/>
          </a:prstGeom>
          <a:solidFill>
            <a:srgbClr val="66CCFF"/>
          </a:solidFill>
          <a:ln w="19050" algn="ctr">
            <a:solidFill>
              <a:srgbClr val="666633"/>
            </a:solidFill>
            <a:round/>
            <a:headEnd/>
            <a:tailEnd/>
          </a:ln>
        </p:spPr>
        <p:txBody>
          <a:bodyPr wrap="square" lIns="0" tIns="0" bIns="0" anchor="ctr">
            <a:spAutoFit/>
          </a:bodyPr>
          <a:lstStyle/>
          <a:p>
            <a:pPr algn="ctr"/>
            <a:r>
              <a:rPr lang="zh-CN" altLang="en-US" sz="14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语句块</a:t>
            </a:r>
          </a:p>
        </p:txBody>
      </p:sp>
      <p:cxnSp>
        <p:nvCxnSpPr>
          <p:cNvPr id="68" name="直接连接符 61"/>
          <p:cNvCxnSpPr>
            <a:cxnSpLocks noChangeShapeType="1"/>
          </p:cNvCxnSpPr>
          <p:nvPr/>
        </p:nvCxnSpPr>
        <p:spPr bwMode="auto">
          <a:xfrm flipH="1" flipV="1">
            <a:off x="8284336" y="2424893"/>
            <a:ext cx="261283" cy="0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9" name="直接连接符 63"/>
          <p:cNvCxnSpPr>
            <a:cxnSpLocks noChangeShapeType="1"/>
          </p:cNvCxnSpPr>
          <p:nvPr/>
        </p:nvCxnSpPr>
        <p:spPr bwMode="auto">
          <a:xfrm>
            <a:off x="8532367" y="2427995"/>
            <a:ext cx="0" cy="1181633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0" name="直接连接符 68"/>
          <p:cNvCxnSpPr>
            <a:cxnSpLocks noChangeShapeType="1"/>
          </p:cNvCxnSpPr>
          <p:nvPr/>
        </p:nvCxnSpPr>
        <p:spPr bwMode="auto">
          <a:xfrm flipH="1">
            <a:off x="7551978" y="3623885"/>
            <a:ext cx="980389" cy="8856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" name="直接连接符 73"/>
          <p:cNvCxnSpPr>
            <a:cxnSpLocks noChangeShapeType="1"/>
          </p:cNvCxnSpPr>
          <p:nvPr/>
        </p:nvCxnSpPr>
        <p:spPr bwMode="auto">
          <a:xfrm>
            <a:off x="7569492" y="3632741"/>
            <a:ext cx="0" cy="215900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2" name="矩形 5"/>
          <p:cNvSpPr>
            <a:spLocks noChangeArrowheads="1"/>
          </p:cNvSpPr>
          <p:nvPr/>
        </p:nvSpPr>
        <p:spPr bwMode="auto">
          <a:xfrm>
            <a:off x="6803709" y="3901220"/>
            <a:ext cx="1619250" cy="215444"/>
          </a:xfrm>
          <a:prstGeom prst="rect">
            <a:avLst/>
          </a:prstGeom>
          <a:noFill/>
          <a:ln w="19050" algn="ctr">
            <a:solidFill>
              <a:srgbClr val="6666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bIns="0" anchor="ctr">
            <a:spAutoFit/>
          </a:bodyPr>
          <a:lstStyle/>
          <a:p>
            <a:pPr algn="ctr"/>
            <a:r>
              <a:rPr lang="en-US" altLang="zh-CN" sz="14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for</a:t>
            </a:r>
            <a:r>
              <a:rPr lang="zh-CN" altLang="en-US" sz="14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语句的下一语句</a:t>
            </a:r>
          </a:p>
        </p:txBody>
      </p:sp>
      <p:sp>
        <p:nvSpPr>
          <p:cNvPr id="73" name="TextBox 79"/>
          <p:cNvSpPr txBox="1">
            <a:spLocks noChangeArrowheads="1"/>
          </p:cNvSpPr>
          <p:nvPr/>
        </p:nvSpPr>
        <p:spPr bwMode="auto">
          <a:xfrm>
            <a:off x="7344743" y="2617080"/>
            <a:ext cx="755650" cy="35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True</a:t>
            </a:r>
            <a:endParaRPr lang="zh-CN" altLang="en-US" sz="140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cxnSp>
        <p:nvCxnSpPr>
          <p:cNvPr id="43" name="直接连接符 9"/>
          <p:cNvCxnSpPr>
            <a:cxnSpLocks noChangeShapeType="1"/>
          </p:cNvCxnSpPr>
          <p:nvPr/>
        </p:nvCxnSpPr>
        <p:spPr bwMode="auto">
          <a:xfrm>
            <a:off x="7263052" y="1896921"/>
            <a:ext cx="1" cy="283226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" name="TextBox 33"/>
          <p:cNvSpPr txBox="1"/>
          <p:nvPr/>
        </p:nvSpPr>
        <p:spPr>
          <a:xfrm>
            <a:off x="6061032" y="4415190"/>
            <a:ext cx="22553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zh-CN" altLang="en-US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语句执行流程图</a:t>
            </a:r>
          </a:p>
        </p:txBody>
      </p:sp>
      <p:sp>
        <p:nvSpPr>
          <p:cNvPr id="45" name="AutoShape 44"/>
          <p:cNvSpPr>
            <a:spLocks noChangeArrowheads="1"/>
          </p:cNvSpPr>
          <p:nvPr/>
        </p:nvSpPr>
        <p:spPr bwMode="gray">
          <a:xfrm>
            <a:off x="247465" y="2884269"/>
            <a:ext cx="5408311" cy="1508660"/>
          </a:xfrm>
          <a:prstGeom prst="roundRect">
            <a:avLst>
              <a:gd name="adj" fmla="val 8014"/>
            </a:avLst>
          </a:prstGeom>
          <a:solidFill>
            <a:srgbClr val="FFFFCC"/>
          </a:solidFill>
          <a:ln w="9525">
            <a:solidFill>
              <a:srgbClr val="808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lnSpc>
                <a:spcPct val="120000"/>
              </a:lnSpc>
            </a:pPr>
            <a:r>
              <a:rPr lang="zh-CN" altLang="en-US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注意：</a:t>
            </a:r>
            <a:endParaRPr lang="en-US" altLang="zh-CN" sz="1600" b="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zh-CN" altLang="zh-CN" sz="1600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zh-CN" sz="1600" dirty="0">
                <a:latin typeface="微软雅黑" pitchFamily="34" charset="-122"/>
                <a:ea typeface="微软雅黑" pitchFamily="34" charset="-122"/>
              </a:rPr>
              <a:t>）序列可以是字符串、</a:t>
            </a:r>
            <a:r>
              <a:rPr lang="zh-CN" altLang="zh-CN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列表、元组、集合</a:t>
            </a:r>
            <a:r>
              <a:rPr lang="zh-CN" altLang="zh-CN" sz="1600" dirty="0">
                <a:latin typeface="微软雅黑" pitchFamily="34" charset="-122"/>
                <a:ea typeface="微软雅黑" pitchFamily="34" charset="-122"/>
              </a:rPr>
              <a:t>等，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          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也</a:t>
            </a:r>
            <a:r>
              <a:rPr lang="zh-CN" altLang="zh-CN" sz="1600" dirty="0">
                <a:latin typeface="微软雅黑" pitchFamily="34" charset="-122"/>
                <a:ea typeface="微软雅黑" pitchFamily="34" charset="-122"/>
              </a:rPr>
              <a:t>可以用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range()</a:t>
            </a:r>
            <a:r>
              <a:rPr lang="zh-CN" altLang="zh-CN" sz="1600" dirty="0">
                <a:latin typeface="微软雅黑" pitchFamily="34" charset="-122"/>
                <a:ea typeface="微软雅黑" pitchFamily="34" charset="-122"/>
              </a:rPr>
              <a:t>函数。 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zh-CN" altLang="zh-CN" sz="1600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zh-CN" sz="1600" dirty="0">
                <a:latin typeface="微软雅黑" pitchFamily="34" charset="-122"/>
                <a:ea typeface="微软雅黑" pitchFamily="34" charset="-122"/>
              </a:rPr>
              <a:t>）书写规则序列后要有冒号、循环体要右缩排。</a:t>
            </a:r>
          </a:p>
        </p:txBody>
      </p:sp>
    </p:spTree>
    <p:extLst>
      <p:ext uri="{BB962C8B-B14F-4D97-AF65-F5344CB8AC3E}">
        <p14:creationId xmlns:p14="http://schemas.microsoft.com/office/powerpoint/2010/main" val="1667395188"/>
      </p:ext>
    </p:extLst>
  </p:cSld>
  <p:clrMapOvr>
    <a:masterClrMapping/>
  </p:clrMapOvr>
  <p:transition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972663-EF9E-4DF1-BCE4-89EFEBAFC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123478"/>
            <a:ext cx="8229600" cy="857250"/>
          </a:xfrm>
        </p:spPr>
        <p:txBody>
          <a:bodyPr/>
          <a:lstStyle/>
          <a:p>
            <a:r>
              <a:rPr lang="en-US" altLang="zh-CN" dirty="0"/>
              <a:t>for </a:t>
            </a:r>
            <a:r>
              <a:rPr lang="zh-CN" altLang="en-US" dirty="0"/>
              <a:t>循环使用的序列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191730-BDBE-44CE-82BE-B3A636979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563638"/>
            <a:ext cx="4032448" cy="1436513"/>
          </a:xfrm>
          <a:ln>
            <a:solidFill>
              <a:srgbClr val="C00000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nn-NO" altLang="zh-CN" sz="2400" dirty="0"/>
              <a:t>L=[10.2,4.1,-3,5.4]   # </a:t>
            </a:r>
            <a:r>
              <a:rPr lang="zh-CN" altLang="en-US" sz="2400" dirty="0"/>
              <a:t>列表</a:t>
            </a:r>
            <a:endParaRPr lang="nn-NO" altLang="zh-CN" sz="2400" dirty="0"/>
          </a:p>
          <a:p>
            <a:pPr marL="0" indent="0">
              <a:buNone/>
            </a:pPr>
            <a:r>
              <a:rPr lang="nn-NO" altLang="zh-CN" sz="2400" dirty="0"/>
              <a:t>for item in L</a:t>
            </a:r>
            <a:r>
              <a:rPr lang="nn-NO" altLang="zh-CN" sz="2400" dirty="0">
                <a:solidFill>
                  <a:srgbClr val="FF0000"/>
                </a:solidFill>
              </a:rPr>
              <a:t>:</a:t>
            </a:r>
          </a:p>
          <a:p>
            <a:pPr marL="0" indent="0">
              <a:buNone/>
            </a:pPr>
            <a:r>
              <a:rPr lang="nn-NO" altLang="zh-CN" sz="2400" dirty="0"/>
              <a:t>    print</a:t>
            </a:r>
            <a:r>
              <a:rPr lang="en-US" altLang="zh-CN" sz="2400" dirty="0"/>
              <a:t>(item)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BA0763-B1D2-4D56-B3D7-3BC79B434E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7C270E-26C8-4352-BE21-3DBF4A2EC019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1F191730-BDBE-44CE-82BE-B3A636979475}"/>
              </a:ext>
            </a:extLst>
          </p:cNvPr>
          <p:cNvSpPr txBox="1">
            <a:spLocks/>
          </p:cNvSpPr>
          <p:nvPr/>
        </p:nvSpPr>
        <p:spPr>
          <a:xfrm>
            <a:off x="4516712" y="1554577"/>
            <a:ext cx="4032448" cy="1436513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Tx/>
              <a:buNone/>
            </a:pPr>
            <a:r>
              <a:rPr kumimoji="0" lang="nn-NO" altLang="zh-CN" sz="2400" b="0" kern="0" dirty="0"/>
              <a:t>L=(10.2,4.1,-3,5.4</a:t>
            </a:r>
            <a:r>
              <a:rPr kumimoji="0" lang="en-US" altLang="zh-CN" sz="2400" b="0" kern="0" dirty="0"/>
              <a:t>)</a:t>
            </a:r>
            <a:r>
              <a:rPr kumimoji="0" lang="nn-NO" altLang="zh-CN" sz="2400" b="0" kern="0" dirty="0"/>
              <a:t>   # </a:t>
            </a:r>
            <a:r>
              <a:rPr kumimoji="0" lang="zh-CN" altLang="en-US" sz="2400" b="0" kern="0" dirty="0"/>
              <a:t>元组</a:t>
            </a:r>
            <a:endParaRPr kumimoji="0" lang="nn-NO" altLang="zh-CN" sz="2400" b="0" kern="0" dirty="0"/>
          </a:p>
          <a:p>
            <a:pPr marL="0" indent="0">
              <a:buFontTx/>
              <a:buNone/>
            </a:pPr>
            <a:r>
              <a:rPr kumimoji="0" lang="nn-NO" altLang="zh-CN" sz="2400" b="0" kern="0" dirty="0"/>
              <a:t>for item in L</a:t>
            </a:r>
            <a:r>
              <a:rPr kumimoji="0" lang="nn-NO" altLang="zh-CN" sz="2400" b="0" kern="0" dirty="0">
                <a:solidFill>
                  <a:srgbClr val="FF0000"/>
                </a:solidFill>
              </a:rPr>
              <a:t>:</a:t>
            </a:r>
          </a:p>
          <a:p>
            <a:pPr marL="0" indent="0">
              <a:buFontTx/>
              <a:buNone/>
            </a:pPr>
            <a:r>
              <a:rPr kumimoji="0" lang="nn-NO" altLang="zh-CN" sz="2400" b="0" kern="0" dirty="0"/>
              <a:t>    print</a:t>
            </a:r>
            <a:r>
              <a:rPr kumimoji="0" lang="en-US" altLang="zh-CN" sz="2400" b="0" kern="0" dirty="0"/>
              <a:t>(item)</a:t>
            </a:r>
          </a:p>
        </p:txBody>
      </p:sp>
    </p:spTree>
    <p:extLst>
      <p:ext uri="{BB962C8B-B14F-4D97-AF65-F5344CB8AC3E}">
        <p14:creationId xmlns:p14="http://schemas.microsoft.com/office/powerpoint/2010/main" val="23611251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972663-EF9E-4DF1-BCE4-89EFEBAFC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123478"/>
            <a:ext cx="8229600" cy="857250"/>
          </a:xfrm>
        </p:spPr>
        <p:txBody>
          <a:bodyPr/>
          <a:lstStyle/>
          <a:p>
            <a:r>
              <a:rPr lang="en-US" altLang="zh-CN" dirty="0"/>
              <a:t>for </a:t>
            </a:r>
            <a:r>
              <a:rPr lang="zh-CN" altLang="en-US" dirty="0"/>
              <a:t>循环使用的序列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191730-BDBE-44CE-82BE-B3A636979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414" y="1131590"/>
            <a:ext cx="8116008" cy="2592288"/>
          </a:xfrm>
          <a:ln>
            <a:solidFill>
              <a:srgbClr val="C00000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altLang="zh-CN" sz="2400" dirty="0"/>
              <a:t>sentence</a:t>
            </a:r>
            <a:r>
              <a:rPr lang="nn-NO" altLang="zh-CN" sz="2400" dirty="0"/>
              <a:t>="</a:t>
            </a:r>
            <a:r>
              <a:rPr lang="zh-CN" altLang="en-US" sz="2400" dirty="0"/>
              <a:t>我爱同济，</a:t>
            </a:r>
            <a:r>
              <a:rPr lang="en-US" altLang="zh-CN" sz="2400" dirty="0"/>
              <a:t>I love TJU"</a:t>
            </a:r>
            <a:r>
              <a:rPr lang="nn-NO" altLang="zh-CN" sz="2400" dirty="0"/>
              <a:t>   # </a:t>
            </a:r>
            <a:r>
              <a:rPr lang="zh-CN" altLang="en-US" sz="2400" dirty="0"/>
              <a:t>字符串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请写</a:t>
            </a:r>
            <a:r>
              <a:rPr lang="en-US" altLang="zh-CN" sz="2400" dirty="0"/>
              <a:t>for</a:t>
            </a:r>
            <a:r>
              <a:rPr lang="zh-CN" altLang="en-US" sz="2400" dirty="0"/>
              <a:t>循环，把每个字符都输出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for </a:t>
            </a:r>
            <a:r>
              <a:rPr lang="en-US" altLang="zh-CN" sz="2400" dirty="0" err="1"/>
              <a:t>ch</a:t>
            </a:r>
            <a:r>
              <a:rPr lang="en-US" altLang="zh-CN" sz="2400" dirty="0"/>
              <a:t> in sentence:</a:t>
            </a:r>
          </a:p>
          <a:p>
            <a:pPr marL="0" indent="0">
              <a:buNone/>
            </a:pPr>
            <a:r>
              <a:rPr lang="en-US" altLang="zh-CN" sz="2400" dirty="0"/>
              <a:t>    print(</a:t>
            </a:r>
            <a:r>
              <a:rPr lang="en-US" altLang="zh-CN" sz="2400" dirty="0" err="1"/>
              <a:t>ch</a:t>
            </a:r>
            <a:r>
              <a:rPr lang="en-US" altLang="zh-CN" sz="2400" dirty="0"/>
              <a:t>)</a:t>
            </a:r>
          </a:p>
          <a:p>
            <a:pPr marL="0" indent="0">
              <a:buNone/>
            </a:pPr>
            <a:endParaRPr lang="nn-NO" altLang="zh-CN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BA0763-B1D2-4D56-B3D7-3BC79B434E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7C270E-26C8-4352-BE21-3DBF4A2EC019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62046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972663-EF9E-4DF1-BCE4-89EFEBAFC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</a:t>
            </a:r>
            <a:r>
              <a:rPr lang="en-US" altLang="zh-CN" dirty="0"/>
              <a:t>1+2+3+……+100</a:t>
            </a:r>
            <a:r>
              <a:rPr lang="zh-CN" altLang="en-US" dirty="0"/>
              <a:t>的和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191730-BDBE-44CE-82BE-B3A636979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203598"/>
            <a:ext cx="8229600" cy="2520280"/>
          </a:xfrm>
          <a:ln>
            <a:solidFill>
              <a:srgbClr val="C00000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按</a:t>
            </a:r>
            <a:r>
              <a:rPr lang="en-US" altLang="zh-CN" dirty="0"/>
              <a:t>for</a:t>
            </a:r>
            <a:r>
              <a:rPr lang="zh-CN" altLang="en-US" dirty="0"/>
              <a:t>循环的格式，</a:t>
            </a:r>
            <a:r>
              <a:rPr lang="en-US" altLang="zh-CN" dirty="0"/>
              <a:t>for </a:t>
            </a:r>
            <a:r>
              <a:rPr lang="en-US" altLang="zh-CN" dirty="0" err="1"/>
              <a:t>i</a:t>
            </a:r>
            <a:r>
              <a:rPr lang="en-US" altLang="zh-CN" dirty="0"/>
              <a:t> in </a:t>
            </a:r>
            <a:r>
              <a:rPr lang="zh-CN" altLang="en-US" dirty="0">
                <a:solidFill>
                  <a:srgbClr val="FF0000"/>
                </a:solidFill>
              </a:rPr>
              <a:t>序列</a:t>
            </a:r>
            <a:r>
              <a:rPr lang="en-US" altLang="zh-CN" dirty="0"/>
              <a:t>:</a:t>
            </a:r>
          </a:p>
          <a:p>
            <a:pPr marL="0" indent="0">
              <a:buNone/>
            </a:pPr>
            <a:r>
              <a:rPr lang="zh-CN" altLang="en-US" dirty="0"/>
              <a:t>需要序列：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[1,2,…,100]</a:t>
            </a:r>
          </a:p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怎么生成？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BA0763-B1D2-4D56-B3D7-3BC79B434E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7C270E-26C8-4352-BE21-3DBF4A2EC019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455720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8410575" y="4857750"/>
            <a:ext cx="733425" cy="285750"/>
          </a:xfrm>
          <a:prstGeom prst="rect">
            <a:avLst/>
          </a:prstGeom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/>
            <a:fld id="{2AE54F71-5FC5-435E-A74A-4566365110DC}" type="slidenum">
              <a:rPr kumimoji="0" lang="en-US" altLang="zh-CN" sz="1800" smtClean="0">
                <a:solidFill>
                  <a:schemeClr val="bg1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pPr eaLnBrk="1" hangingPunct="1"/>
              <a:t>27</a:t>
            </a:fld>
            <a:endParaRPr kumimoji="0" lang="en-US" altLang="zh-CN" sz="1800">
              <a:solidFill>
                <a:schemeClr val="bg1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37119" y="411510"/>
            <a:ext cx="8821328" cy="18004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创建一个</a:t>
            </a: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zh-CN" sz="18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整数</a:t>
            </a:r>
            <a:r>
              <a:rPr lang="en-US" altLang="zh-CN" sz="18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8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等差 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序列，</a:t>
            </a: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range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创建</a:t>
            </a: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range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对象，用</a:t>
            </a: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list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函数转换成可见</a:t>
            </a:r>
            <a:endParaRPr lang="en-US" altLang="zh-CN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     </a:t>
            </a:r>
            <a:r>
              <a:rPr lang="zh-CN" altLang="en-US" sz="1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形式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0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range([start,]end[,step])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</a:t>
            </a:r>
            <a:r>
              <a:rPr lang="zh-CN" altLang="en-US" sz="1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其中：</a:t>
            </a: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缺省</a:t>
            </a: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start</a:t>
            </a: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为</a:t>
            </a: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，缺省</a:t>
            </a: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step</a:t>
            </a: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为</a:t>
            </a: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；函数返回的结果是一个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以</a:t>
            </a:r>
            <a:r>
              <a:rPr lang="en-US" altLang="zh-CN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step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为步长，</a:t>
            </a: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	 	</a:t>
            </a:r>
            <a:r>
              <a:rPr lang="en-US" altLang="zh-CN" sz="1800" b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[</a:t>
            </a:r>
            <a:r>
              <a:rPr lang="en-US" altLang="zh-CN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start</a:t>
            </a:r>
            <a:r>
              <a:rPr lang="zh-CN" altLang="en-US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，</a:t>
            </a:r>
            <a:r>
              <a:rPr lang="en-US" altLang="zh-CN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end</a:t>
            </a:r>
            <a:r>
              <a:rPr lang="zh-CN" altLang="en-US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）</a:t>
            </a: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整数序列的对象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。左闭区间，右开区间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11" name="AutoShape 44"/>
          <p:cNvSpPr>
            <a:spLocks noChangeArrowheads="1"/>
          </p:cNvSpPr>
          <p:nvPr/>
        </p:nvSpPr>
        <p:spPr bwMode="gray">
          <a:xfrm>
            <a:off x="268815" y="2211710"/>
            <a:ext cx="8141760" cy="2171097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600"/>
              </a:spcBef>
            </a:pPr>
            <a:r>
              <a:rPr lang="zh-CN" altLang="zh-CN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【例</a:t>
            </a:r>
            <a:r>
              <a:rPr lang="en-US" altLang="zh-CN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3.13</a:t>
            </a:r>
            <a:r>
              <a:rPr lang="zh-CN" altLang="zh-CN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】</a:t>
            </a:r>
            <a:r>
              <a:rPr lang="en-US" altLang="zh-CN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range</a:t>
            </a:r>
            <a:r>
              <a:rPr lang="zh-CN" altLang="zh-CN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函数的使用</a:t>
            </a:r>
          </a:p>
          <a:p>
            <a:pPr>
              <a:spcBef>
                <a:spcPts val="600"/>
              </a:spcBef>
            </a:pP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A=range(10)          # 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产生从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0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开始到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9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的数字序列</a:t>
            </a:r>
            <a:r>
              <a:rPr lang="zh-CN" altLang="en-US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，显示为 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range(10)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[0,1,2,3,4,5,6</a:t>
            </a:r>
            <a:r>
              <a:rPr lang="zh-CN" altLang="en-US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，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7</a:t>
            </a:r>
            <a:r>
              <a:rPr lang="zh-CN" altLang="en-US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，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8</a:t>
            </a:r>
            <a:r>
              <a:rPr lang="zh-CN" altLang="en-US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，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9]  # </a:t>
            </a:r>
            <a:r>
              <a:rPr lang="zh-CN" altLang="en-US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实际结果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A=range(1,10,3)       # 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产生从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1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开始、以步长为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3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、不到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10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的数字序列。</a:t>
            </a:r>
          </a:p>
          <a:p>
            <a:pPr>
              <a:spcBef>
                <a:spcPts val="600"/>
              </a:spcBef>
            </a:pP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[1,4,7]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A=range(-1,-10,-3)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[-1, -4, -7]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203848" y="-101546"/>
            <a:ext cx="169148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range</a:t>
            </a:r>
            <a:r>
              <a:rPr lang="zh-CN" altLang="en-US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函数</a:t>
            </a:r>
            <a:endParaRPr lang="en-US" altLang="zh-CN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1403648" y="915566"/>
            <a:ext cx="3960440" cy="43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1403648" y="915566"/>
            <a:ext cx="3960440" cy="43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1403648" y="843558"/>
            <a:ext cx="4032448" cy="504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1331640" y="963166"/>
            <a:ext cx="4104456" cy="360040"/>
          </a:xfrm>
          <a:prstGeom prst="rect">
            <a:avLst/>
          </a:prstGeom>
          <a:solidFill>
            <a:srgbClr val="FF0000">
              <a:alpha val="23000"/>
            </a:srgb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3770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972663-EF9E-4DF1-BCE4-89EFEBAFC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例：计算</a:t>
            </a:r>
            <a:r>
              <a:rPr lang="en-US" altLang="zh-CN" dirty="0"/>
              <a:t>1+2+3+……+100</a:t>
            </a:r>
            <a:r>
              <a:rPr lang="zh-CN" altLang="en-US" dirty="0"/>
              <a:t>的和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191730-BDBE-44CE-82BE-B3A636979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275" y="1048620"/>
            <a:ext cx="4236775" cy="1944216"/>
          </a:xfrm>
          <a:ln>
            <a:solidFill>
              <a:srgbClr val="C00000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nn-NO" altLang="zh-CN" sz="2400" dirty="0"/>
              <a:t>sum=0</a:t>
            </a:r>
          </a:p>
          <a:p>
            <a:pPr marL="0" indent="0">
              <a:buNone/>
            </a:pPr>
            <a:r>
              <a:rPr lang="nn-NO" altLang="zh-CN" sz="2400" dirty="0"/>
              <a:t>for i in </a:t>
            </a:r>
            <a:r>
              <a:rPr lang="nn-NO" altLang="zh-CN" sz="2400" dirty="0">
                <a:solidFill>
                  <a:srgbClr val="FF0000"/>
                </a:solidFill>
              </a:rPr>
              <a:t>range(1,101):</a:t>
            </a:r>
          </a:p>
          <a:p>
            <a:pPr marL="0" indent="0">
              <a:buNone/>
            </a:pPr>
            <a:r>
              <a:rPr lang="nn-NO" altLang="zh-CN" sz="2400" dirty="0"/>
              <a:t>    sum += i</a:t>
            </a:r>
          </a:p>
          <a:p>
            <a:pPr marL="0" indent="0">
              <a:buNone/>
            </a:pPr>
            <a:r>
              <a:rPr lang="nn-NO" altLang="zh-CN" sz="2400" dirty="0"/>
              <a:t>print("1+2+3+...+100=:",sum)</a:t>
            </a:r>
            <a:endParaRPr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BA0763-B1D2-4D56-B3D7-3BC79B434E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7C270E-26C8-4352-BE21-3DBF4A2EC019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1F191730-BDBE-44CE-82BE-B3A636979475}"/>
              </a:ext>
            </a:extLst>
          </p:cNvPr>
          <p:cNvSpPr txBox="1">
            <a:spLocks/>
          </p:cNvSpPr>
          <p:nvPr/>
        </p:nvSpPr>
        <p:spPr>
          <a:xfrm>
            <a:off x="407233" y="3713787"/>
            <a:ext cx="8547340" cy="689099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Tx/>
              <a:buNone/>
            </a:pPr>
            <a:r>
              <a:rPr kumimoji="0" lang="zh-CN" altLang="en-US" b="0" kern="0" dirty="0"/>
              <a:t>使用</a:t>
            </a:r>
            <a:r>
              <a:rPr kumimoji="0" lang="en-US" altLang="zh-CN" b="0" kern="0" dirty="0">
                <a:solidFill>
                  <a:srgbClr val="FF0000"/>
                </a:solidFill>
              </a:rPr>
              <a:t>s</a:t>
            </a:r>
            <a:r>
              <a:rPr kumimoji="0" lang="nn-NO" altLang="zh-CN" b="0" kern="0" dirty="0">
                <a:solidFill>
                  <a:srgbClr val="FF0000"/>
                </a:solidFill>
              </a:rPr>
              <a:t>um</a:t>
            </a:r>
            <a:r>
              <a:rPr kumimoji="0" lang="zh-CN" altLang="en-US" b="0" kern="0" dirty="0"/>
              <a:t>作变量名字好不好？</a:t>
            </a:r>
            <a:endParaRPr kumimoji="0" lang="nn-NO" altLang="zh-CN" b="0" kern="0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1F191730-BDBE-44CE-82BE-B3A636979475}"/>
              </a:ext>
            </a:extLst>
          </p:cNvPr>
          <p:cNvSpPr txBox="1">
            <a:spLocks/>
          </p:cNvSpPr>
          <p:nvPr/>
        </p:nvSpPr>
        <p:spPr>
          <a:xfrm>
            <a:off x="4860032" y="987574"/>
            <a:ext cx="4236775" cy="2612795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Tx/>
              <a:buNone/>
            </a:pPr>
            <a:r>
              <a:rPr kumimoji="0" lang="zh-CN" altLang="en-US" sz="2400" b="0" kern="0" dirty="0"/>
              <a:t>计算过程</a:t>
            </a:r>
            <a:endParaRPr kumimoji="0" lang="nn-NO" altLang="zh-CN" sz="2400" b="0" kern="0" dirty="0"/>
          </a:p>
          <a:p>
            <a:pPr marL="0" indent="0">
              <a:buFontTx/>
              <a:buNone/>
            </a:pPr>
            <a:r>
              <a:rPr kumimoji="0" lang="en-US" altLang="zh-CN" sz="2400" b="0" kern="0" dirty="0" err="1"/>
              <a:t>i</a:t>
            </a:r>
            <a:r>
              <a:rPr kumimoji="0" lang="en-US" altLang="zh-CN" sz="2400" b="0" kern="0" dirty="0"/>
              <a:t>        s</a:t>
            </a:r>
            <a:r>
              <a:rPr kumimoji="0" lang="nn-NO" altLang="zh-CN" sz="2400" b="0" kern="0" dirty="0"/>
              <a:t>um </a:t>
            </a:r>
          </a:p>
          <a:p>
            <a:pPr marL="0" indent="0">
              <a:buFontTx/>
              <a:buNone/>
            </a:pPr>
            <a:r>
              <a:rPr kumimoji="0" lang="nn-NO" altLang="zh-CN" sz="2400" b="0" kern="0" dirty="0"/>
              <a:t>1       </a:t>
            </a:r>
            <a:r>
              <a:rPr kumimoji="0" lang="en-US" altLang="zh-CN" sz="2400" b="0" kern="0" dirty="0"/>
              <a:t>0+</a:t>
            </a:r>
            <a:r>
              <a:rPr kumimoji="0" lang="en-US" altLang="zh-CN" sz="2400" b="0" kern="0" dirty="0">
                <a:solidFill>
                  <a:srgbClr val="FF0000"/>
                </a:solidFill>
              </a:rPr>
              <a:t>1</a:t>
            </a:r>
            <a:r>
              <a:rPr kumimoji="0" lang="en-US" altLang="zh-CN" sz="2400" b="0" kern="0" dirty="0"/>
              <a:t>=1</a:t>
            </a:r>
          </a:p>
          <a:p>
            <a:pPr marL="0" indent="0">
              <a:buFontTx/>
              <a:buNone/>
            </a:pPr>
            <a:r>
              <a:rPr kumimoji="0" lang="nn-NO" altLang="zh-CN" sz="2400" b="0" kern="0" dirty="0"/>
              <a:t>2      1+</a:t>
            </a:r>
            <a:r>
              <a:rPr kumimoji="0" lang="nn-NO" altLang="zh-CN" sz="2400" b="0" kern="0" dirty="0">
                <a:solidFill>
                  <a:srgbClr val="FF0000"/>
                </a:solidFill>
              </a:rPr>
              <a:t>2</a:t>
            </a:r>
            <a:r>
              <a:rPr kumimoji="0" lang="nn-NO" altLang="zh-CN" sz="2400" b="0" kern="0" dirty="0"/>
              <a:t>=3</a:t>
            </a:r>
          </a:p>
          <a:p>
            <a:pPr marL="0" indent="0">
              <a:buFontTx/>
              <a:buNone/>
            </a:pPr>
            <a:r>
              <a:rPr kumimoji="0" lang="nn-NO" altLang="zh-CN" sz="2400" b="0" kern="0" dirty="0"/>
              <a:t>3       3+</a:t>
            </a:r>
            <a:r>
              <a:rPr kumimoji="0" lang="nn-NO" altLang="zh-CN" sz="2400" b="0" kern="0" dirty="0">
                <a:solidFill>
                  <a:srgbClr val="FF0000"/>
                </a:solidFill>
              </a:rPr>
              <a:t>3</a:t>
            </a:r>
            <a:r>
              <a:rPr kumimoji="0" lang="nn-NO" altLang="zh-CN" sz="2400" b="0" kern="0" dirty="0"/>
              <a:t>=6</a:t>
            </a:r>
          </a:p>
          <a:p>
            <a:pPr marL="0" indent="0">
              <a:buFontTx/>
              <a:buNone/>
            </a:pPr>
            <a:r>
              <a:rPr kumimoji="0" lang="nn-NO" altLang="zh-CN" sz="2400" b="0" kern="0" dirty="0"/>
              <a:t>4       6+</a:t>
            </a:r>
            <a:r>
              <a:rPr kumimoji="0" lang="nn-NO" altLang="zh-CN" sz="2400" b="0" kern="0" dirty="0">
                <a:solidFill>
                  <a:srgbClr val="FF0000"/>
                </a:solidFill>
              </a:rPr>
              <a:t>4</a:t>
            </a:r>
            <a:r>
              <a:rPr kumimoji="0" lang="nn-NO" altLang="zh-CN" sz="2400" b="0" kern="0" dirty="0"/>
              <a:t>=10</a:t>
            </a:r>
          </a:p>
        </p:txBody>
      </p:sp>
    </p:spTree>
    <p:extLst>
      <p:ext uri="{BB962C8B-B14F-4D97-AF65-F5344CB8AC3E}">
        <p14:creationId xmlns:p14="http://schemas.microsoft.com/office/powerpoint/2010/main" val="3982062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A62686-8ECA-4F45-9827-8097C46DF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</a:t>
            </a:r>
            <a:r>
              <a:rPr lang="en-US" altLang="zh-CN" dirty="0"/>
              <a:t>100</a:t>
            </a:r>
            <a:r>
              <a:rPr lang="zh-CN" altLang="en-US" dirty="0"/>
              <a:t>以内偶数的和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0B2484-53A1-4DA1-BFD4-5264E1DEB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sum1=0</a:t>
            </a:r>
          </a:p>
          <a:p>
            <a:pPr marL="0" indent="0">
              <a:buNone/>
            </a:pPr>
            <a:r>
              <a:rPr lang="en-US" altLang="zh-CN" dirty="0"/>
              <a:t>for </a:t>
            </a:r>
            <a:r>
              <a:rPr lang="en-US" altLang="zh-CN" dirty="0" err="1"/>
              <a:t>i</a:t>
            </a:r>
            <a:r>
              <a:rPr lang="en-US" altLang="zh-CN" dirty="0"/>
              <a:t> in range(0,101,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en-US" altLang="zh-CN" dirty="0"/>
              <a:t>):</a:t>
            </a:r>
          </a:p>
          <a:p>
            <a:pPr marL="0" indent="0">
              <a:buNone/>
            </a:pPr>
            <a:r>
              <a:rPr lang="en-US" altLang="zh-CN" dirty="0"/>
              <a:t>    sum1 += </a:t>
            </a:r>
            <a:r>
              <a:rPr lang="en-US" altLang="zh-CN" dirty="0" err="1"/>
              <a:t>i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print("sum=",sum1)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BD4711-B5AE-432E-BF8F-298AE28C7D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7C270E-26C8-4352-BE21-3DBF4A2EC019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3450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A62686-8ECA-4F45-9827-8097C46DF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例子  验证投硬币的正反面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0B2484-53A1-4DA1-BFD4-5264E1DEB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915566"/>
            <a:ext cx="8229600" cy="3394472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800" dirty="0"/>
              <a:t>概率问题，当投掷无限多次时，正反面</a:t>
            </a:r>
            <a:r>
              <a:rPr lang="en-US" altLang="zh-CN" sz="2800" dirty="0"/>
              <a:t>50%</a:t>
            </a:r>
          </a:p>
          <a:p>
            <a:pPr marL="0" indent="0">
              <a:buNone/>
            </a:pPr>
            <a:r>
              <a:rPr lang="zh-CN" altLang="en-US" sz="2800" dirty="0"/>
              <a:t>用</a:t>
            </a:r>
            <a:r>
              <a:rPr lang="en-US" altLang="zh-CN" sz="2800" dirty="0"/>
              <a:t>1</a:t>
            </a:r>
            <a:r>
              <a:rPr lang="zh-CN" altLang="en-US" sz="2800" dirty="0"/>
              <a:t>代表正面，用</a:t>
            </a:r>
            <a:r>
              <a:rPr lang="en-US" altLang="zh-CN" sz="2800" dirty="0"/>
              <a:t>2</a:t>
            </a:r>
            <a:r>
              <a:rPr lang="zh-CN" altLang="en-US" sz="2800" dirty="0"/>
              <a:t>代表反面，用随机数随机抽取 </a:t>
            </a:r>
            <a:r>
              <a:rPr lang="en-US" altLang="zh-CN" sz="2800" dirty="0"/>
              <a:t>[1,2] </a:t>
            </a:r>
            <a:r>
              <a:rPr lang="zh-CN" altLang="en-US" sz="2800" dirty="0"/>
              <a:t>中的一个数，用 </a:t>
            </a:r>
            <a:r>
              <a:rPr lang="en-US" altLang="zh-CN" sz="2800" dirty="0"/>
              <a:t>a=</a:t>
            </a:r>
            <a:r>
              <a:rPr lang="en-US" altLang="zh-CN" sz="2800" dirty="0" err="1"/>
              <a:t>random.randint</a:t>
            </a:r>
            <a:r>
              <a:rPr lang="en-US" altLang="zh-CN" sz="2800" dirty="0"/>
              <a:t>(1,2)</a:t>
            </a:r>
          </a:p>
          <a:p>
            <a:pPr marL="0" indent="0">
              <a:buNone/>
            </a:pPr>
            <a:r>
              <a:rPr lang="zh-CN" altLang="en-US" sz="2800" dirty="0"/>
              <a:t>抽到</a:t>
            </a:r>
            <a:r>
              <a:rPr lang="en-US" altLang="zh-CN" sz="2800" dirty="0"/>
              <a:t>1  </a:t>
            </a:r>
            <a:r>
              <a:rPr lang="zh-CN" altLang="en-US" sz="2800" dirty="0"/>
              <a:t>正面次数 </a:t>
            </a:r>
            <a:r>
              <a:rPr lang="en-US" altLang="zh-CN" sz="2800" dirty="0"/>
              <a:t>+1</a:t>
            </a:r>
            <a:r>
              <a:rPr lang="zh-CN" altLang="en-US" sz="2800" dirty="0"/>
              <a:t>次  </a:t>
            </a:r>
            <a:r>
              <a:rPr lang="en-US" altLang="zh-CN" sz="2800" dirty="0"/>
              <a:t>if a==1:  </a:t>
            </a:r>
            <a:r>
              <a:rPr lang="en-US" altLang="zh-CN" sz="2800" dirty="0" err="1"/>
              <a:t>zm</a:t>
            </a:r>
            <a:r>
              <a:rPr lang="en-US" altLang="zh-CN" sz="2800" dirty="0"/>
              <a:t> +=1</a:t>
            </a:r>
          </a:p>
          <a:p>
            <a:pPr marL="0" indent="0">
              <a:buNone/>
            </a:pPr>
            <a:r>
              <a:rPr lang="zh-CN" altLang="en-US" sz="2800" dirty="0"/>
              <a:t>抽到</a:t>
            </a:r>
            <a:r>
              <a:rPr lang="en-US" altLang="zh-CN" sz="2800" dirty="0"/>
              <a:t>2  </a:t>
            </a:r>
            <a:r>
              <a:rPr lang="zh-CN" altLang="en-US" sz="2800" dirty="0"/>
              <a:t>反面次数 </a:t>
            </a:r>
            <a:r>
              <a:rPr lang="en-US" altLang="zh-CN" sz="2800" dirty="0"/>
              <a:t>+1</a:t>
            </a:r>
            <a:r>
              <a:rPr lang="zh-CN" altLang="en-US" sz="2800" dirty="0"/>
              <a:t>次  </a:t>
            </a:r>
            <a:r>
              <a:rPr lang="en-US" altLang="zh-CN" sz="2800" dirty="0" err="1"/>
              <a:t>elif</a:t>
            </a:r>
            <a:r>
              <a:rPr lang="en-US" altLang="zh-CN" sz="2800" dirty="0"/>
              <a:t> a==2:  </a:t>
            </a:r>
            <a:r>
              <a:rPr lang="en-US" altLang="zh-CN" sz="2800" dirty="0" err="1"/>
              <a:t>fm</a:t>
            </a:r>
            <a:r>
              <a:rPr lang="en-US" altLang="zh-CN" sz="2800" dirty="0"/>
              <a:t> +=1</a:t>
            </a:r>
          </a:p>
          <a:p>
            <a:pPr marL="0" indent="0">
              <a:buNone/>
            </a:pPr>
            <a:r>
              <a:rPr lang="zh-CN" altLang="en-US" sz="2800" dirty="0"/>
              <a:t> 最后，算正反面的概率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BD4711-B5AE-432E-BF8F-298AE28C7D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7C270E-26C8-4352-BE21-3DBF4A2EC019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3044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972663-EF9E-4DF1-BCE4-89EFEBAFC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160" y="130324"/>
            <a:ext cx="8229600" cy="857250"/>
          </a:xfrm>
        </p:spPr>
        <p:txBody>
          <a:bodyPr/>
          <a:lstStyle/>
          <a:p>
            <a:r>
              <a:rPr lang="zh-CN" altLang="en-US" dirty="0"/>
              <a:t>背单词，学排错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191730-BDBE-44CE-82BE-B3A636979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975988"/>
            <a:ext cx="3640679" cy="3528392"/>
          </a:xfrm>
          <a:ln>
            <a:solidFill>
              <a:srgbClr val="C00000"/>
            </a:solidFill>
          </a:ln>
        </p:spPr>
        <p:txBody>
          <a:bodyPr/>
          <a:lstStyle/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Sequence :</a:t>
            </a:r>
            <a:r>
              <a:rPr lang="zh-CN" altLang="en-US" sz="2400" dirty="0"/>
              <a:t>序列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multiply  by: </a:t>
            </a:r>
            <a:r>
              <a:rPr lang="zh-CN" altLang="en-US" sz="2400" dirty="0"/>
              <a:t>被乘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list</a:t>
            </a:r>
            <a:r>
              <a:rPr lang="zh-CN" altLang="en-US" sz="2400" dirty="0"/>
              <a:t>： 列表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tuple: </a:t>
            </a:r>
            <a:r>
              <a:rPr lang="zh-CN" altLang="en-US" sz="2400" dirty="0"/>
              <a:t>元组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type: </a:t>
            </a:r>
            <a:r>
              <a:rPr lang="zh-CN" altLang="en-US" sz="2400" dirty="0"/>
              <a:t>类型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object: </a:t>
            </a:r>
            <a:r>
              <a:rPr lang="zh-CN" altLang="en-US" sz="2400" dirty="0"/>
              <a:t>对象</a:t>
            </a:r>
            <a:r>
              <a:rPr lang="en-US" altLang="zh-CN" sz="2400" dirty="0"/>
              <a:t> 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BA0763-B1D2-4D56-B3D7-3BC79B434E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7C270E-26C8-4352-BE21-3DBF4A2EC019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0864" y="1059582"/>
            <a:ext cx="4724400" cy="9525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0864" y="2355726"/>
            <a:ext cx="4896544" cy="1224136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211960" y="3795886"/>
            <a:ext cx="44644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不能用一个非</a:t>
            </a:r>
            <a:r>
              <a:rPr lang="en-US" altLang="zh-CN" dirty="0" err="1"/>
              <a:t>int</a:t>
            </a:r>
            <a:r>
              <a:rPr lang="zh-CN" altLang="en-US" dirty="0"/>
              <a:t>型的</a:t>
            </a:r>
            <a:r>
              <a:rPr lang="en-US" altLang="zh-CN" dirty="0"/>
              <a:t>float</a:t>
            </a:r>
            <a:r>
              <a:rPr lang="zh-CN" altLang="en-US" dirty="0"/>
              <a:t>去乘一个序列</a:t>
            </a:r>
          </a:p>
        </p:txBody>
      </p:sp>
    </p:spTree>
    <p:extLst>
      <p:ext uri="{BB962C8B-B14F-4D97-AF65-F5344CB8AC3E}">
        <p14:creationId xmlns:p14="http://schemas.microsoft.com/office/powerpoint/2010/main" val="19325915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972663-EF9E-4DF1-BCE4-89EFEBAFC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160" y="130324"/>
            <a:ext cx="8229600" cy="857250"/>
          </a:xfrm>
        </p:spPr>
        <p:txBody>
          <a:bodyPr/>
          <a:lstStyle/>
          <a:p>
            <a:r>
              <a:rPr lang="zh-CN" altLang="en-US" dirty="0"/>
              <a:t>背诵 </a:t>
            </a:r>
            <a:r>
              <a:rPr lang="en-US" altLang="zh-CN" dirty="0"/>
              <a:t>for</a:t>
            </a:r>
            <a:r>
              <a:rPr lang="zh-CN" altLang="en-US" dirty="0"/>
              <a:t>循环的格式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191730-BDBE-44CE-82BE-B3A636979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249" y="843558"/>
            <a:ext cx="8509363" cy="3528392"/>
          </a:xfrm>
          <a:ln>
            <a:solidFill>
              <a:srgbClr val="C00000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for</a:t>
            </a:r>
            <a:r>
              <a:rPr lang="en-US" altLang="zh-CN" sz="2400" dirty="0"/>
              <a:t>  </a:t>
            </a:r>
            <a:r>
              <a:rPr lang="zh-CN" altLang="en-US" sz="2400" dirty="0"/>
              <a:t>标识符   </a:t>
            </a:r>
            <a:r>
              <a:rPr lang="en-US" altLang="zh-CN" sz="2400" dirty="0">
                <a:solidFill>
                  <a:srgbClr val="FF0000"/>
                </a:solidFill>
              </a:rPr>
              <a:t>in</a:t>
            </a:r>
            <a:r>
              <a:rPr lang="en-US" altLang="zh-CN" sz="2400" dirty="0"/>
              <a:t>   </a:t>
            </a:r>
            <a:r>
              <a:rPr lang="zh-CN" altLang="en-US" sz="2400" dirty="0"/>
              <a:t>序列：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语义：序列中的每个元素，逐一放进  标识符中  </a:t>
            </a:r>
            <a:r>
              <a:rPr lang="en-US" altLang="zh-CN" sz="2400" dirty="0"/>
              <a:t> 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BA0763-B1D2-4D56-B3D7-3BC79B434E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7C270E-26C8-4352-BE21-3DBF4A2EC019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1F191730-BDBE-44CE-82BE-B3A636979475}"/>
              </a:ext>
            </a:extLst>
          </p:cNvPr>
          <p:cNvSpPr txBox="1">
            <a:spLocks/>
          </p:cNvSpPr>
          <p:nvPr/>
        </p:nvSpPr>
        <p:spPr>
          <a:xfrm>
            <a:off x="505482" y="2715766"/>
            <a:ext cx="4032448" cy="1436513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Tx/>
              <a:buNone/>
            </a:pPr>
            <a:r>
              <a:rPr kumimoji="0" lang="nn-NO" altLang="zh-CN" sz="2400" b="0" kern="0"/>
              <a:t>L=[10.2,4.1,-3,5.4]   # </a:t>
            </a:r>
            <a:r>
              <a:rPr kumimoji="0" lang="zh-CN" altLang="en-US" sz="2400" b="0" kern="0"/>
              <a:t>列表</a:t>
            </a:r>
            <a:endParaRPr kumimoji="0" lang="nn-NO" altLang="zh-CN" sz="2400" b="0" kern="0"/>
          </a:p>
          <a:p>
            <a:pPr marL="0" indent="0">
              <a:buFontTx/>
              <a:buNone/>
            </a:pPr>
            <a:r>
              <a:rPr kumimoji="0" lang="nn-NO" altLang="zh-CN" sz="2400" b="0" kern="0"/>
              <a:t>for item in L</a:t>
            </a:r>
            <a:r>
              <a:rPr kumimoji="0" lang="nn-NO" altLang="zh-CN" sz="2400" b="0" kern="0">
                <a:solidFill>
                  <a:srgbClr val="FF0000"/>
                </a:solidFill>
              </a:rPr>
              <a:t>:</a:t>
            </a:r>
          </a:p>
          <a:p>
            <a:pPr marL="0" indent="0">
              <a:buFontTx/>
              <a:buNone/>
            </a:pPr>
            <a:r>
              <a:rPr kumimoji="0" lang="nn-NO" altLang="zh-CN" sz="2400" b="0" kern="0"/>
              <a:t>    print</a:t>
            </a:r>
            <a:r>
              <a:rPr kumimoji="0" lang="en-US" altLang="zh-CN" sz="2400" b="0" kern="0"/>
              <a:t>(item)</a:t>
            </a:r>
            <a:endParaRPr kumimoji="0" lang="en-US" altLang="zh-CN" sz="2400" b="0" kern="0" dirty="0"/>
          </a:p>
        </p:txBody>
      </p:sp>
    </p:spTree>
    <p:extLst>
      <p:ext uri="{BB962C8B-B14F-4D97-AF65-F5344CB8AC3E}">
        <p14:creationId xmlns:p14="http://schemas.microsoft.com/office/powerpoint/2010/main" val="42476211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972663-EF9E-4DF1-BCE4-89EFEBAFC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160" y="130324"/>
            <a:ext cx="8229600" cy="857250"/>
          </a:xfrm>
        </p:spPr>
        <p:txBody>
          <a:bodyPr/>
          <a:lstStyle/>
          <a:p>
            <a:r>
              <a:rPr lang="zh-CN" altLang="en-US" dirty="0"/>
              <a:t>采用索引法遍历序列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191730-BDBE-44CE-82BE-B3A636979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249" y="843558"/>
            <a:ext cx="8509363" cy="3528392"/>
          </a:xfrm>
          <a:ln>
            <a:solidFill>
              <a:srgbClr val="C00000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zh-CN" altLang="en-US" sz="2400" dirty="0"/>
              <a:t>序列是复杂数据类型，</a:t>
            </a:r>
            <a:r>
              <a:rPr lang="zh-CN" altLang="en-US" sz="2400" dirty="0">
                <a:solidFill>
                  <a:srgbClr val="FF0000"/>
                </a:solidFill>
              </a:rPr>
              <a:t>有分量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sz="2400" dirty="0"/>
              <a:t>用下标索引方式，如列表</a:t>
            </a:r>
            <a:r>
              <a:rPr lang="en-US" altLang="zh-CN" sz="2400" dirty="0"/>
              <a:t>L</a:t>
            </a:r>
            <a:r>
              <a:rPr lang="zh-CN" altLang="en-US" sz="2400" dirty="0"/>
              <a:t>的第</a:t>
            </a:r>
            <a:r>
              <a:rPr lang="en-US" altLang="zh-CN" sz="2400" dirty="0"/>
              <a:t>3</a:t>
            </a:r>
            <a:r>
              <a:rPr lang="zh-CN" altLang="en-US" sz="2400" dirty="0"/>
              <a:t>个元素，用  </a:t>
            </a:r>
            <a:r>
              <a:rPr lang="en-US" altLang="zh-CN" sz="2400" dirty="0"/>
              <a:t>L[2]</a:t>
            </a:r>
          </a:p>
          <a:p>
            <a:pPr marL="0" indent="0">
              <a:buNone/>
            </a:pPr>
            <a:r>
              <a:rPr lang="zh-CN" altLang="en-US" sz="2400" dirty="0"/>
              <a:t>索引的序号从</a:t>
            </a:r>
            <a:r>
              <a:rPr lang="en-US" altLang="zh-CN" sz="2400" dirty="0"/>
              <a:t>0</a:t>
            </a:r>
            <a:r>
              <a:rPr lang="zh-CN" altLang="en-US" sz="2400" dirty="0"/>
              <a:t>开始</a:t>
            </a:r>
            <a:r>
              <a:rPr lang="en-US" altLang="zh-CN" sz="2400" dirty="0"/>
              <a:t>(</a:t>
            </a:r>
            <a:r>
              <a:rPr lang="zh-CN" altLang="en-US" sz="2400" dirty="0"/>
              <a:t>或</a:t>
            </a:r>
            <a:r>
              <a:rPr lang="en-US" altLang="zh-CN" sz="2400" dirty="0"/>
              <a:t>-1</a:t>
            </a:r>
            <a:r>
              <a:rPr lang="zh-CN" altLang="en-US" sz="2400" dirty="0"/>
              <a:t>，从右开始</a:t>
            </a:r>
            <a:r>
              <a:rPr lang="en-US" altLang="zh-CN" sz="2400" dirty="0"/>
              <a:t>)</a:t>
            </a:r>
            <a:r>
              <a:rPr lang="zh-CN" altLang="en-US" sz="2400" dirty="0"/>
              <a:t>，需要序列</a:t>
            </a:r>
            <a:r>
              <a:rPr lang="en-US" altLang="zh-CN" sz="2400" dirty="0"/>
              <a:t>[0,1,…, n-1]</a:t>
            </a:r>
          </a:p>
          <a:p>
            <a:pPr marL="0" indent="0">
              <a:buNone/>
            </a:pPr>
            <a:r>
              <a:rPr lang="en-US" altLang="zh-CN" sz="2400" dirty="0" err="1"/>
              <a:t>len</a:t>
            </a:r>
            <a:r>
              <a:rPr lang="zh-CN" altLang="en-US" sz="2400" dirty="0"/>
              <a:t>函数，可以返回序列的元素个数，如</a:t>
            </a:r>
            <a:r>
              <a:rPr lang="en-US" altLang="zh-CN" sz="2400" dirty="0" err="1"/>
              <a:t>len</a:t>
            </a:r>
            <a:r>
              <a:rPr lang="en-US" altLang="zh-CN" sz="2400" dirty="0"/>
              <a:t>(L)</a:t>
            </a:r>
          </a:p>
          <a:p>
            <a:pPr marL="0" indent="0">
              <a:buNone/>
            </a:pPr>
            <a:r>
              <a:rPr lang="zh-CN" altLang="en-US" sz="2400" dirty="0"/>
              <a:t>配合</a:t>
            </a:r>
            <a:r>
              <a:rPr lang="en-US" altLang="zh-CN" sz="2400" dirty="0" err="1"/>
              <a:t>len</a:t>
            </a:r>
            <a:r>
              <a:rPr lang="zh-CN" altLang="en-US" sz="2400" dirty="0"/>
              <a:t>和</a:t>
            </a:r>
            <a:r>
              <a:rPr lang="en-US" altLang="zh-CN" sz="2400" dirty="0"/>
              <a:t>range</a:t>
            </a:r>
            <a:r>
              <a:rPr lang="zh-CN" altLang="en-US" sz="2400" dirty="0"/>
              <a:t>，可</a:t>
            </a:r>
            <a:r>
              <a:rPr lang="zh-CN" altLang="en-US" sz="2400" dirty="0">
                <a:solidFill>
                  <a:srgbClr val="FF0000"/>
                </a:solidFill>
              </a:rPr>
              <a:t>形成索引号的序列</a:t>
            </a:r>
            <a:r>
              <a:rPr lang="zh-CN" altLang="en-US" sz="2400" dirty="0"/>
              <a:t>，</a:t>
            </a:r>
            <a:r>
              <a:rPr lang="en-US" altLang="zh-CN" sz="2400" dirty="0"/>
              <a:t> range(</a:t>
            </a:r>
            <a:r>
              <a:rPr lang="en-US" altLang="zh-CN" sz="2400" dirty="0" err="1"/>
              <a:t>len</a:t>
            </a:r>
            <a:r>
              <a:rPr lang="en-US" altLang="zh-CN" sz="2400" dirty="0"/>
              <a:t>(</a:t>
            </a:r>
            <a:r>
              <a:rPr lang="zh-CN" altLang="en-US" sz="2400" dirty="0"/>
              <a:t>列表</a:t>
            </a:r>
            <a:r>
              <a:rPr lang="en-US" altLang="zh-CN" sz="2400" dirty="0"/>
              <a:t>))</a:t>
            </a:r>
            <a:endParaRPr lang="nn-NO" altLang="zh-CN" sz="2400" dirty="0"/>
          </a:p>
          <a:p>
            <a:pPr marL="0" indent="0">
              <a:buNone/>
            </a:pPr>
            <a:r>
              <a:rPr lang="nn-NO" altLang="zh-CN" sz="2400" dirty="0"/>
              <a:t>L=[10.2,4.1,-3,5.4]   # </a:t>
            </a:r>
            <a:r>
              <a:rPr lang="zh-CN" altLang="en-US" sz="2400" dirty="0"/>
              <a:t>列表</a:t>
            </a:r>
            <a:endParaRPr lang="nn-NO" altLang="zh-CN" sz="2400" dirty="0"/>
          </a:p>
          <a:p>
            <a:pPr marL="0" indent="0">
              <a:buNone/>
            </a:pPr>
            <a:r>
              <a:rPr lang="nn-NO" altLang="zh-CN" sz="2400" dirty="0"/>
              <a:t>for i in </a:t>
            </a:r>
            <a:r>
              <a:rPr lang="en-US" altLang="zh-CN" sz="2400" dirty="0"/>
              <a:t>range(</a:t>
            </a:r>
            <a:r>
              <a:rPr lang="en-US" altLang="zh-CN" sz="2400" dirty="0" err="1"/>
              <a:t>len</a:t>
            </a:r>
            <a:r>
              <a:rPr lang="en-US" altLang="zh-CN" sz="2400" dirty="0"/>
              <a:t>(</a:t>
            </a:r>
            <a:r>
              <a:rPr lang="nn-NO" altLang="zh-CN" sz="2400" dirty="0"/>
              <a:t>L))</a:t>
            </a:r>
            <a:r>
              <a:rPr lang="nn-NO" altLang="zh-CN" sz="2400" dirty="0">
                <a:solidFill>
                  <a:srgbClr val="FF0000"/>
                </a:solidFill>
              </a:rPr>
              <a:t>:</a:t>
            </a:r>
          </a:p>
          <a:p>
            <a:pPr marL="0" indent="0">
              <a:buNone/>
            </a:pPr>
            <a:r>
              <a:rPr lang="nn-NO" altLang="zh-CN" sz="2400" dirty="0"/>
              <a:t>    print</a:t>
            </a:r>
            <a:r>
              <a:rPr lang="en-US" altLang="zh-CN" sz="2400" dirty="0"/>
              <a:t>(L[</a:t>
            </a:r>
            <a:r>
              <a:rPr lang="en-US" altLang="zh-CN" sz="2400" dirty="0" err="1"/>
              <a:t>i</a:t>
            </a:r>
            <a:r>
              <a:rPr lang="en-US" altLang="zh-CN" sz="2400" dirty="0"/>
              <a:t>])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BA0763-B1D2-4D56-B3D7-3BC79B434E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7C270E-26C8-4352-BE21-3DBF4A2EC019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74259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8410575" y="4857750"/>
            <a:ext cx="733425" cy="285750"/>
          </a:xfrm>
          <a:prstGeom prst="rect">
            <a:avLst/>
          </a:prstGeom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/>
            <a:fld id="{2AE54F71-5FC5-435E-A74A-4566365110DC}" type="slidenum">
              <a:rPr kumimoji="0" lang="en-US" altLang="zh-CN" sz="1800" smtClean="0">
                <a:solidFill>
                  <a:schemeClr val="bg1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pPr eaLnBrk="1" hangingPunct="1"/>
              <a:t>34</a:t>
            </a:fld>
            <a:endParaRPr kumimoji="0" lang="en-US" altLang="zh-CN" sz="1800">
              <a:solidFill>
                <a:schemeClr val="bg1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29931" y="242133"/>
            <a:ext cx="828161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0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【例</a:t>
            </a:r>
            <a:r>
              <a:rPr lang="en-US" altLang="zh-CN" sz="20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3.11</a:t>
            </a:r>
            <a:r>
              <a:rPr lang="zh-CN" altLang="zh-CN" sz="20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】 输入一字符串，检验其输入的是否全部是数字字符。</a:t>
            </a:r>
            <a:endParaRPr lang="zh-CN" altLang="zh-CN" sz="2000" b="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zh-CN" altLang="en-US" b="0" dirty="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11264" name="TextBox 11263"/>
          <p:cNvSpPr txBox="1"/>
          <p:nvPr/>
        </p:nvSpPr>
        <p:spPr>
          <a:xfrm>
            <a:off x="611560" y="1023310"/>
            <a:ext cx="8280920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zh-CN" sz="1800" b="0" dirty="0">
                <a:latin typeface="微软雅黑" pitchFamily="34" charset="-122"/>
                <a:ea typeface="微软雅黑" pitchFamily="34" charset="-122"/>
              </a:rPr>
              <a:t>分析：</a:t>
            </a:r>
            <a:r>
              <a:rPr lang="zh-CN" altLang="en-US" sz="1800" b="0" dirty="0">
                <a:latin typeface="微软雅黑" pitchFamily="34" charset="-122"/>
                <a:ea typeface="微软雅黑" pitchFamily="34" charset="-122"/>
              </a:rPr>
              <a:t>串中有一个字符不是数字，则串是非数字的</a:t>
            </a:r>
            <a:endParaRPr lang="en-US" altLang="zh-CN" sz="1800" b="0" dirty="0"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可以先假定输入的字符串是数字组成的： </a:t>
            </a:r>
            <a:r>
              <a:rPr lang="en-US" altLang="zh-CN" sz="18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isNumeric</a:t>
            </a: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=True</a:t>
            </a:r>
          </a:p>
          <a:p>
            <a:pPr>
              <a:spcBef>
                <a:spcPts val="600"/>
              </a:spcBef>
            </a:pP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从键盘输入字符串</a:t>
            </a:r>
            <a:endParaRPr lang="en-US" altLang="zh-CN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从字符串中逐一取出字符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r>
              <a:rPr lang="zh-CN" altLang="en-US" sz="18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知识点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18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如何用</a:t>
            </a:r>
            <a:r>
              <a:rPr lang="en-US" altLang="zh-CN" sz="18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for </a:t>
            </a:r>
            <a:r>
              <a:rPr lang="zh-CN" altLang="en-US" sz="18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从句子</a:t>
            </a:r>
            <a:r>
              <a:rPr lang="en-US" altLang="zh-CN" sz="18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</a:t>
            </a:r>
            <a:r>
              <a:rPr lang="zh-CN" altLang="en-US" sz="18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中逐个取字符？</a:t>
            </a:r>
            <a:endParaRPr lang="en-US" altLang="zh-CN" sz="1800" b="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判断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取出的字符是否是数字</a:t>
            </a:r>
            <a:endParaRPr lang="en-US" altLang="zh-CN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若是非数字字符则该字符串是非数字字符串</a:t>
            </a: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令</a:t>
            </a:r>
            <a:r>
              <a:rPr lang="en-US" altLang="zh-CN" sz="18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isNumeric</a:t>
            </a: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=False</a:t>
            </a:r>
          </a:p>
          <a:p>
            <a:pPr>
              <a:spcBef>
                <a:spcPts val="600"/>
              </a:spcBef>
            </a:pP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循环结束后，输出</a:t>
            </a:r>
            <a:r>
              <a:rPr lang="en-US" altLang="zh-CN" sz="18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isNumeric</a:t>
            </a:r>
            <a:endParaRPr lang="en-US" altLang="zh-CN" sz="18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endParaRPr lang="en-US" altLang="zh-CN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取字符有两种方法：遍历法或索引法。</a:t>
            </a:r>
            <a:endParaRPr lang="en-US" altLang="zh-CN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600"/>
              </a:spcBef>
            </a:pPr>
            <a:endParaRPr lang="zh-CN" altLang="en-US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458163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8410575" y="4857750"/>
            <a:ext cx="733425" cy="285750"/>
          </a:xfrm>
          <a:prstGeom prst="rect">
            <a:avLst/>
          </a:prstGeom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/>
            <a:fld id="{2AE54F71-5FC5-435E-A74A-4566365110DC}" type="slidenum">
              <a:rPr kumimoji="0" lang="en-US" altLang="zh-CN" sz="1800" smtClean="0">
                <a:solidFill>
                  <a:schemeClr val="bg1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pPr eaLnBrk="1" hangingPunct="1"/>
              <a:t>35</a:t>
            </a:fld>
            <a:endParaRPr kumimoji="0" lang="en-US" altLang="zh-CN" sz="1800">
              <a:solidFill>
                <a:schemeClr val="bg1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29931" y="242133"/>
            <a:ext cx="828161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0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【例</a:t>
            </a:r>
            <a:r>
              <a:rPr lang="en-US" altLang="zh-CN" sz="20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3.11</a:t>
            </a:r>
            <a:r>
              <a:rPr lang="zh-CN" altLang="zh-CN" sz="20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】 输入一字符串，检验其输入的是否全部是数字字符。</a:t>
            </a:r>
            <a:endParaRPr lang="zh-CN" altLang="zh-CN" sz="2000" b="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zh-CN" altLang="en-US" b="0" dirty="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11" name="AutoShape 44"/>
          <p:cNvSpPr>
            <a:spLocks noChangeArrowheads="1"/>
          </p:cNvSpPr>
          <p:nvPr/>
        </p:nvSpPr>
        <p:spPr bwMode="gray">
          <a:xfrm>
            <a:off x="395536" y="1432436"/>
            <a:ext cx="3600400" cy="3155538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600"/>
              </a:spcBef>
            </a:pPr>
            <a:r>
              <a:rPr lang="zh-CN" altLang="zh-CN" sz="1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方法一、遍历法</a:t>
            </a:r>
          </a:p>
          <a:p>
            <a:pPr>
              <a:spcBef>
                <a:spcPts val="600"/>
              </a:spcBef>
            </a:pP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str1=input("</a:t>
            </a:r>
            <a:r>
              <a:rPr lang="zh-CN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输入字符串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:")</a:t>
            </a:r>
            <a:endParaRPr lang="zh-CN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4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isNumeric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=True</a:t>
            </a:r>
            <a:endParaRPr lang="zh-CN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4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for c in str1:</a:t>
            </a:r>
            <a:endParaRPr lang="zh-CN" altLang="zh-CN" sz="1400" dirty="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zh-CN" altLang="en-US" sz="14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</a:t>
            </a:r>
            <a:r>
              <a:rPr lang="en-US" altLang="zh-CN" sz="14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if not  '0' &lt;= c &lt;='9':</a:t>
            </a:r>
            <a:endParaRPr lang="zh-CN" altLang="zh-CN" sz="1400" dirty="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4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   </a:t>
            </a:r>
            <a:r>
              <a:rPr lang="en-US" altLang="zh-CN" sz="1400" dirty="0" err="1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isNumeric</a:t>
            </a:r>
            <a:r>
              <a:rPr lang="en-US" altLang="zh-CN" sz="14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=False</a:t>
            </a:r>
            <a:endParaRPr lang="zh-CN" altLang="zh-CN" sz="1400" dirty="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if </a:t>
            </a:r>
            <a:r>
              <a:rPr lang="en-US" altLang="zh-CN" sz="14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isNumeric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:</a:t>
            </a:r>
            <a:endParaRPr lang="zh-CN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print(str1,"</a:t>
            </a:r>
            <a:r>
              <a:rPr lang="zh-CN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是数字字符串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")</a:t>
            </a:r>
            <a:endParaRPr lang="zh-CN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else:</a:t>
            </a:r>
            <a:endParaRPr lang="zh-CN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print(str1,"</a:t>
            </a:r>
            <a:r>
              <a:rPr lang="zh-CN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含有非数字字符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")</a:t>
            </a:r>
          </a:p>
        </p:txBody>
      </p:sp>
      <p:sp>
        <p:nvSpPr>
          <p:cNvPr id="11264" name="TextBox 11263"/>
          <p:cNvSpPr txBox="1"/>
          <p:nvPr/>
        </p:nvSpPr>
        <p:spPr>
          <a:xfrm>
            <a:off x="354945" y="709161"/>
            <a:ext cx="8748463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zh-CN" sz="1800" b="0" dirty="0">
                <a:latin typeface="微软雅黑" pitchFamily="34" charset="-122"/>
                <a:ea typeface="微软雅黑" pitchFamily="34" charset="-122"/>
              </a:rPr>
              <a:t>分析：</a:t>
            </a: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从字符串中逐一取出字符，判断</a:t>
            </a: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若是非数字字符则该字符串是非数字字符串。</a:t>
            </a:r>
            <a:endParaRPr lang="en-US" altLang="zh-CN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1800" dirty="0"/>
              <a:t>           </a:t>
            </a: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取字符有两种方法：遍历法或索引法。</a:t>
            </a:r>
            <a:endParaRPr lang="zh-CN" altLang="en-US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AutoShape 44"/>
          <p:cNvSpPr>
            <a:spLocks noChangeArrowheads="1"/>
          </p:cNvSpPr>
          <p:nvPr/>
        </p:nvSpPr>
        <p:spPr bwMode="gray">
          <a:xfrm>
            <a:off x="4283968" y="1432436"/>
            <a:ext cx="4464496" cy="3155538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600"/>
              </a:spcBef>
            </a:pPr>
            <a:r>
              <a:rPr lang="zh-CN" altLang="zh-CN" sz="1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方法</a:t>
            </a:r>
            <a:r>
              <a:rPr lang="zh-CN" altLang="en-US" sz="1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二</a:t>
            </a:r>
            <a:r>
              <a:rPr lang="zh-CN" altLang="zh-CN" sz="1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、索引法</a:t>
            </a:r>
          </a:p>
          <a:p>
            <a:pPr>
              <a:spcBef>
                <a:spcPts val="600"/>
              </a:spcBef>
            </a:pP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str1=input("</a:t>
            </a:r>
            <a:r>
              <a:rPr lang="zh-CN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输入字符串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:")</a:t>
            </a:r>
            <a:endParaRPr lang="zh-CN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4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isNumeric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=True</a:t>
            </a:r>
            <a:endParaRPr lang="zh-CN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4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for i in range(</a:t>
            </a:r>
            <a:r>
              <a:rPr lang="en-US" altLang="zh-CN" sz="1400" dirty="0" err="1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len</a:t>
            </a:r>
            <a:r>
              <a:rPr lang="en-US" altLang="zh-CN" sz="14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(str1)): </a:t>
            </a:r>
          </a:p>
          <a:p>
            <a:pPr>
              <a:spcBef>
                <a:spcPts val="600"/>
              </a:spcBef>
            </a:pPr>
            <a:r>
              <a:rPr lang="en-US" altLang="zh-CN" sz="14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  if '0' &lt;= </a:t>
            </a:r>
            <a:r>
              <a:rPr lang="en-US" altLang="zh-CN" sz="1400" dirty="0" err="1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str</a:t>
            </a:r>
            <a:r>
              <a:rPr lang="en-US" altLang="zh-CN" sz="14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[</a:t>
            </a:r>
            <a:r>
              <a:rPr lang="en-US" altLang="zh-CN" sz="1400" dirty="0" err="1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</a:t>
            </a:r>
            <a:r>
              <a:rPr lang="en-US" altLang="zh-CN" sz="14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] &lt;='9': : </a:t>
            </a:r>
          </a:p>
          <a:p>
            <a:pPr>
              <a:spcBef>
                <a:spcPts val="600"/>
              </a:spcBef>
            </a:pPr>
            <a:r>
              <a:rPr lang="en-US" altLang="zh-CN" sz="14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	   </a:t>
            </a:r>
            <a:r>
              <a:rPr lang="en-US" altLang="zh-CN" sz="1400" dirty="0" err="1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isNumeric</a:t>
            </a:r>
            <a:r>
              <a:rPr lang="en-US" altLang="zh-CN" sz="14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=False</a:t>
            </a:r>
          </a:p>
          <a:p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if </a:t>
            </a:r>
            <a:r>
              <a:rPr lang="en-US" altLang="zh-CN" sz="14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isNumeric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:</a:t>
            </a:r>
            <a:endParaRPr lang="zh-CN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print(str1,"</a:t>
            </a:r>
            <a:r>
              <a:rPr lang="zh-CN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是数字字符串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")</a:t>
            </a:r>
            <a:endParaRPr lang="zh-CN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else:</a:t>
            </a:r>
            <a:endParaRPr lang="zh-CN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print(str1,"</a:t>
            </a:r>
            <a:r>
              <a:rPr lang="zh-CN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含有非数字字符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1905278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3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810985-8CE6-4017-BBB9-072F0EAB5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 </a:t>
            </a:r>
            <a:r>
              <a:rPr lang="zh-CN" altLang="en-US" dirty="0"/>
              <a:t>循环的练习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FCE6E7-CA5E-4754-AD8E-272629439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87574"/>
            <a:ext cx="8229600" cy="504056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dirty="0"/>
              <a:t>将输入的任意字符串</a:t>
            </a:r>
            <a:r>
              <a:rPr lang="en-US" altLang="zh-CN" sz="2400" dirty="0"/>
              <a:t>S</a:t>
            </a:r>
            <a:r>
              <a:rPr lang="zh-CN" altLang="en-US" sz="2400" dirty="0"/>
              <a:t>，逆序后存到字符串</a:t>
            </a:r>
            <a:r>
              <a:rPr lang="en-US" altLang="zh-CN" sz="2400" dirty="0"/>
              <a:t>S1</a:t>
            </a:r>
            <a:r>
              <a:rPr lang="zh-CN" altLang="en-US" sz="2400" dirty="0"/>
              <a:t>中，输出</a:t>
            </a:r>
            <a:r>
              <a:rPr lang="en-US" altLang="zh-CN" sz="2400" dirty="0"/>
              <a:t>S1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F52A3D-5FDF-430C-8559-D015A19CFE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7C270E-26C8-4352-BE21-3DBF4A2EC019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A3FCE6E7-CA5E-4754-AD8E-2726294397B4}"/>
              </a:ext>
            </a:extLst>
          </p:cNvPr>
          <p:cNvSpPr txBox="1">
            <a:spLocks/>
          </p:cNvSpPr>
          <p:nvPr/>
        </p:nvSpPr>
        <p:spPr>
          <a:xfrm>
            <a:off x="354360" y="1508933"/>
            <a:ext cx="8610128" cy="235896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Tx/>
              <a:buNone/>
            </a:pPr>
            <a:r>
              <a:rPr kumimoji="0" lang="zh-CN" altLang="en-US" sz="2000" b="1" kern="0" dirty="0">
                <a:solidFill>
                  <a:srgbClr val="C00000"/>
                </a:solidFill>
              </a:rPr>
              <a:t>分析</a:t>
            </a:r>
            <a:r>
              <a:rPr kumimoji="0" lang="zh-CN" altLang="en-US" sz="2000" b="0" kern="0" dirty="0"/>
              <a:t>：</a:t>
            </a:r>
            <a:endParaRPr kumimoji="0" lang="en-US" altLang="zh-CN" sz="2000" b="0" kern="0" dirty="0"/>
          </a:p>
          <a:p>
            <a:r>
              <a:rPr kumimoji="0" lang="zh-CN" altLang="en-US" sz="2000" b="0" kern="0" dirty="0"/>
              <a:t>采用索引逆序遍历字符串，索引范围</a:t>
            </a:r>
            <a:r>
              <a:rPr kumimoji="0" lang="en-US" altLang="zh-CN" sz="2000" b="0" kern="0" dirty="0"/>
              <a:t>[-1</a:t>
            </a:r>
            <a:r>
              <a:rPr kumimoji="0" lang="zh-CN" altLang="en-US" sz="2000" b="0" kern="0" dirty="0"/>
              <a:t>，</a:t>
            </a:r>
            <a:r>
              <a:rPr kumimoji="0" lang="en-US" altLang="zh-CN" sz="2000" b="0" kern="0" dirty="0"/>
              <a:t>-</a:t>
            </a:r>
            <a:r>
              <a:rPr kumimoji="0" lang="en-US" altLang="zh-CN" sz="2000" b="0" kern="0" dirty="0" err="1"/>
              <a:t>len</a:t>
            </a:r>
            <a:r>
              <a:rPr kumimoji="0" lang="en-US" altLang="zh-CN" sz="2000" b="0" kern="0" dirty="0"/>
              <a:t>(s))</a:t>
            </a:r>
            <a:r>
              <a:rPr kumimoji="0" lang="zh-CN" altLang="en-US" sz="2000" b="0" kern="0" dirty="0"/>
              <a:t>，步长</a:t>
            </a:r>
            <a:r>
              <a:rPr kumimoji="0" lang="en-US" altLang="zh-CN" sz="2000" b="0" kern="0" dirty="0"/>
              <a:t>-1</a:t>
            </a:r>
            <a:r>
              <a:rPr kumimoji="0" lang="zh-CN" altLang="en-US" sz="2000" b="0" kern="0" dirty="0"/>
              <a:t>，可表达为：</a:t>
            </a:r>
            <a:r>
              <a:rPr kumimoji="0" lang="en-US" altLang="zh-CN" sz="2000" b="0" kern="0" dirty="0"/>
              <a:t> </a:t>
            </a:r>
            <a:r>
              <a:rPr lang="en-US" altLang="zh-CN" sz="2000" dirty="0"/>
              <a:t>range(-1,-length-1,-1)</a:t>
            </a:r>
          </a:p>
          <a:p>
            <a:r>
              <a:rPr kumimoji="0" lang="zh-CN" altLang="en-US" sz="2000" b="0" kern="0" dirty="0"/>
              <a:t>字符串的 </a:t>
            </a:r>
            <a:r>
              <a:rPr kumimoji="0" lang="en-US" altLang="zh-CN" sz="2000" b="0" kern="0" dirty="0"/>
              <a:t>+ </a:t>
            </a:r>
            <a:r>
              <a:rPr kumimoji="0" lang="zh-CN" altLang="en-US" sz="2000" b="0" kern="0" dirty="0"/>
              <a:t>运算，实现</a:t>
            </a:r>
            <a:r>
              <a:rPr kumimoji="0" lang="en-US" altLang="zh-CN" sz="2000" b="0" kern="0" dirty="0"/>
              <a:t>2</a:t>
            </a:r>
            <a:r>
              <a:rPr kumimoji="0" lang="zh-CN" altLang="en-US" sz="2000" b="0" kern="0" dirty="0"/>
              <a:t>字符串的尾巴</a:t>
            </a:r>
            <a:r>
              <a:rPr kumimoji="0" lang="en-US" altLang="zh-CN" sz="2000" b="0" kern="0" dirty="0"/>
              <a:t>+</a:t>
            </a:r>
            <a:r>
              <a:rPr kumimoji="0" lang="zh-CN" altLang="en-US" sz="2000" b="0" kern="0" dirty="0"/>
              <a:t>头 连接，所以可以用 </a:t>
            </a:r>
            <a:endParaRPr kumimoji="0" lang="en-US" altLang="zh-CN" sz="2000" b="0" kern="0" dirty="0"/>
          </a:p>
          <a:p>
            <a:pPr marL="0" indent="0">
              <a:buNone/>
            </a:pPr>
            <a:r>
              <a:rPr kumimoji="0" lang="en-US" altLang="zh-CN" sz="2000" b="0" kern="0" dirty="0"/>
              <a:t>      S1=S1+</a:t>
            </a:r>
            <a:r>
              <a:rPr kumimoji="0" lang="zh-CN" altLang="en-US" sz="2000" b="0" kern="0" dirty="0"/>
              <a:t>新取字符    </a:t>
            </a:r>
            <a:endParaRPr kumimoji="0" lang="en-US" altLang="zh-CN" sz="2000" b="0" kern="0" dirty="0"/>
          </a:p>
          <a:p>
            <a:r>
              <a:rPr kumimoji="0" lang="en-US" altLang="zh-CN" sz="2000" b="0" kern="0" dirty="0"/>
              <a:t>+</a:t>
            </a:r>
            <a:r>
              <a:rPr kumimoji="0" lang="zh-CN" altLang="en-US" sz="2000" b="0" kern="0" dirty="0"/>
              <a:t>运算都要给变量赋初值，</a:t>
            </a:r>
            <a:r>
              <a:rPr kumimoji="0" lang="en-US" altLang="zh-CN" sz="2000" b="0" kern="0" dirty="0"/>
              <a:t>S1</a:t>
            </a:r>
            <a:r>
              <a:rPr kumimoji="0" lang="zh-CN" altLang="en-US" sz="2000" b="0" kern="0" dirty="0"/>
              <a:t>的初值是什么？</a:t>
            </a:r>
            <a:endParaRPr kumimoji="0" lang="en-US" altLang="zh-CN" sz="2000" b="0" kern="0" dirty="0"/>
          </a:p>
          <a:p>
            <a:pPr marL="0" indent="0">
              <a:buFontTx/>
              <a:buNone/>
            </a:pPr>
            <a:endParaRPr kumimoji="0" lang="zh-CN" altLang="en-US" b="0" kern="0" dirty="0"/>
          </a:p>
        </p:txBody>
      </p:sp>
    </p:spTree>
    <p:extLst>
      <p:ext uri="{BB962C8B-B14F-4D97-AF65-F5344CB8AC3E}">
        <p14:creationId xmlns:p14="http://schemas.microsoft.com/office/powerpoint/2010/main" val="14517062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810985-8CE6-4017-BBB9-072F0EAB5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 </a:t>
            </a:r>
            <a:r>
              <a:rPr lang="zh-CN" altLang="en-US" dirty="0"/>
              <a:t>循环的练习</a:t>
            </a:r>
            <a:r>
              <a:rPr lang="en-US" altLang="zh-CN" dirty="0"/>
              <a:t>—</a:t>
            </a:r>
            <a:r>
              <a:rPr lang="zh-CN" altLang="en-US" dirty="0">
                <a:solidFill>
                  <a:srgbClr val="FF0000"/>
                </a:solidFill>
              </a:rPr>
              <a:t>自读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FCE6E7-CA5E-4754-AD8E-272629439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795" y="966820"/>
            <a:ext cx="8229600" cy="576064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dirty="0"/>
              <a:t>将输入的任意字符串</a:t>
            </a:r>
            <a:r>
              <a:rPr lang="en-US" altLang="zh-CN" sz="2400" dirty="0"/>
              <a:t>S</a:t>
            </a:r>
            <a:r>
              <a:rPr lang="zh-CN" altLang="en-US" sz="2400" dirty="0"/>
              <a:t>逆序后存到字符串</a:t>
            </a:r>
            <a:r>
              <a:rPr lang="en-US" altLang="zh-CN" sz="2400" dirty="0"/>
              <a:t>S1</a:t>
            </a:r>
            <a:r>
              <a:rPr lang="zh-CN" altLang="en-US" sz="2400" dirty="0"/>
              <a:t>中，输出</a:t>
            </a:r>
            <a:r>
              <a:rPr lang="en-US" altLang="zh-CN" sz="2400" dirty="0"/>
              <a:t>S1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F52A3D-5FDF-430C-8559-D015A19CFE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7C270E-26C8-4352-BE21-3DBF4A2EC019}" type="slidenum">
              <a:rPr lang="en-US" altLang="zh-CN" smtClean="0"/>
              <a:pPr>
                <a:defRPr/>
              </a:pPr>
              <a:t>37</a:t>
            </a:fld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3D89B49-9024-49F8-B099-C38AF565C3B3}"/>
              </a:ext>
            </a:extLst>
          </p:cNvPr>
          <p:cNvSpPr txBox="1"/>
          <p:nvPr/>
        </p:nvSpPr>
        <p:spPr>
          <a:xfrm>
            <a:off x="511448" y="1694586"/>
            <a:ext cx="6076776" cy="267765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tx1"/>
                </a:solidFill>
              </a:rPr>
              <a:t>s=input("please input a string:")</a:t>
            </a:r>
          </a:p>
          <a:p>
            <a:r>
              <a:rPr lang="en-US" altLang="zh-CN" sz="2800" dirty="0">
                <a:solidFill>
                  <a:schemeClr val="tx1"/>
                </a:solidFill>
              </a:rPr>
              <a:t>s1=“”    # </a:t>
            </a:r>
            <a:r>
              <a:rPr lang="zh-CN" altLang="en-US" sz="2800" dirty="0">
                <a:solidFill>
                  <a:schemeClr val="tx1"/>
                </a:solidFill>
              </a:rPr>
              <a:t>空串作为初值</a:t>
            </a:r>
            <a:endParaRPr lang="en-US" altLang="zh-CN" sz="2800" dirty="0">
              <a:solidFill>
                <a:schemeClr val="tx1"/>
              </a:solidFill>
            </a:endParaRPr>
          </a:p>
          <a:p>
            <a:r>
              <a:rPr lang="en-US" altLang="zh-CN" sz="2800" dirty="0">
                <a:solidFill>
                  <a:schemeClr val="tx1"/>
                </a:solidFill>
              </a:rPr>
              <a:t>length=</a:t>
            </a:r>
            <a:r>
              <a:rPr lang="en-US" altLang="zh-CN" sz="2800" dirty="0" err="1">
                <a:solidFill>
                  <a:schemeClr val="tx1"/>
                </a:solidFill>
              </a:rPr>
              <a:t>len</a:t>
            </a:r>
            <a:r>
              <a:rPr lang="en-US" altLang="zh-CN" sz="2800" dirty="0">
                <a:solidFill>
                  <a:schemeClr val="tx1"/>
                </a:solidFill>
              </a:rPr>
              <a:t>(s)</a:t>
            </a:r>
          </a:p>
          <a:p>
            <a:r>
              <a:rPr lang="en-US" altLang="zh-CN" sz="2800" dirty="0">
                <a:solidFill>
                  <a:schemeClr val="tx1"/>
                </a:solidFill>
              </a:rPr>
              <a:t>for </a:t>
            </a:r>
            <a:r>
              <a:rPr lang="en-US" altLang="zh-CN" sz="2800" dirty="0" err="1">
                <a:solidFill>
                  <a:schemeClr val="tx1"/>
                </a:solidFill>
              </a:rPr>
              <a:t>i</a:t>
            </a:r>
            <a:r>
              <a:rPr lang="en-US" altLang="zh-CN" sz="2800" dirty="0">
                <a:solidFill>
                  <a:schemeClr val="tx1"/>
                </a:solidFill>
              </a:rPr>
              <a:t> in range(-1,-length-1,-1):</a:t>
            </a:r>
          </a:p>
          <a:p>
            <a:r>
              <a:rPr lang="en-US" altLang="zh-CN" sz="2800" dirty="0">
                <a:solidFill>
                  <a:schemeClr val="tx1"/>
                </a:solidFill>
              </a:rPr>
              <a:t>   s1 += s[</a:t>
            </a:r>
            <a:r>
              <a:rPr lang="en-US" altLang="zh-CN" sz="2800" dirty="0" err="1">
                <a:solidFill>
                  <a:schemeClr val="tx1"/>
                </a:solidFill>
              </a:rPr>
              <a:t>i</a:t>
            </a:r>
            <a:r>
              <a:rPr lang="en-US" altLang="zh-CN" sz="2800" dirty="0">
                <a:solidFill>
                  <a:schemeClr val="tx1"/>
                </a:solidFill>
              </a:rPr>
              <a:t>]   # s[</a:t>
            </a:r>
            <a:r>
              <a:rPr lang="en-US" altLang="zh-CN" sz="2800" dirty="0" err="1">
                <a:solidFill>
                  <a:schemeClr val="tx1"/>
                </a:solidFill>
              </a:rPr>
              <a:t>i</a:t>
            </a:r>
            <a:r>
              <a:rPr lang="en-US" altLang="zh-CN" sz="2800" dirty="0">
                <a:solidFill>
                  <a:schemeClr val="tx1"/>
                </a:solidFill>
              </a:rPr>
              <a:t>] </a:t>
            </a:r>
            <a:r>
              <a:rPr lang="zh-CN" altLang="en-US" sz="2800" dirty="0">
                <a:solidFill>
                  <a:schemeClr val="tx1"/>
                </a:solidFill>
              </a:rPr>
              <a:t>是</a:t>
            </a:r>
            <a:r>
              <a:rPr lang="en-US" altLang="zh-CN" sz="2800" dirty="0">
                <a:solidFill>
                  <a:schemeClr val="tx1"/>
                </a:solidFill>
              </a:rPr>
              <a:t>s</a:t>
            </a:r>
            <a:r>
              <a:rPr lang="zh-CN" altLang="en-US" sz="2800" dirty="0">
                <a:solidFill>
                  <a:schemeClr val="tx1"/>
                </a:solidFill>
              </a:rPr>
              <a:t>的第</a:t>
            </a:r>
            <a:r>
              <a:rPr lang="en-US" altLang="zh-CN" sz="2800" dirty="0" err="1">
                <a:solidFill>
                  <a:schemeClr val="tx1"/>
                </a:solidFill>
              </a:rPr>
              <a:t>i</a:t>
            </a:r>
            <a:r>
              <a:rPr lang="zh-CN" altLang="en-US" sz="2800" dirty="0">
                <a:solidFill>
                  <a:schemeClr val="tx1"/>
                </a:solidFill>
              </a:rPr>
              <a:t>个字符</a:t>
            </a:r>
            <a:endParaRPr lang="en-US" altLang="zh-CN" sz="2800" dirty="0">
              <a:solidFill>
                <a:schemeClr val="tx1"/>
              </a:solidFill>
            </a:endParaRPr>
          </a:p>
          <a:p>
            <a:r>
              <a:rPr lang="en-US" altLang="zh-CN" sz="2800" dirty="0">
                <a:solidFill>
                  <a:schemeClr val="tx1"/>
                </a:solidFill>
              </a:rPr>
              <a:t>print(s1)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3070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4D8F4C-2C60-4294-85EB-AFABAC707A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7C270E-26C8-4352-BE21-3DBF4A2EC019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90CFF4BA-DC8C-4446-830C-E66D354E156F}"/>
              </a:ext>
            </a:extLst>
          </p:cNvPr>
          <p:cNvSpPr txBox="1">
            <a:spLocks noGrp="1"/>
          </p:cNvSpPr>
          <p:nvPr>
            <p:ph idx="1"/>
          </p:nvPr>
        </p:nvSpPr>
        <p:spPr bwMode="auto">
          <a:xfrm>
            <a:off x="457200" y="411163"/>
            <a:ext cx="8229600" cy="43239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 eaLnBrk="1" hangingPunct="1">
              <a:buFontTx/>
              <a:buNone/>
            </a:pPr>
            <a:r>
              <a:rPr lang="zh-CN" altLang="en-US" sz="2400" b="1" dirty="0"/>
              <a:t>例：将一个英语句子中</a:t>
            </a:r>
            <a:r>
              <a:rPr lang="en-US" altLang="zh-CN" sz="2400" b="1" dirty="0"/>
              <a:t>m</a:t>
            </a:r>
            <a:r>
              <a:rPr lang="zh-CN" altLang="en-US" sz="2400" b="1" dirty="0"/>
              <a:t>开头的单词转换为大写输出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90CFF4BA-DC8C-4446-830C-E66D354E156F}"/>
              </a:ext>
            </a:extLst>
          </p:cNvPr>
          <p:cNvSpPr txBox="1">
            <a:spLocks/>
          </p:cNvSpPr>
          <p:nvPr/>
        </p:nvSpPr>
        <p:spPr bwMode="auto">
          <a:xfrm>
            <a:off x="180975" y="1275606"/>
            <a:ext cx="8229600" cy="237626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eaLnBrk="1" hangingPunct="1">
              <a:buClr>
                <a:srgbClr val="C00000"/>
              </a:buClr>
              <a:buFont typeface="Arial" pitchFamily="34" charset="0"/>
              <a:buChar char="•"/>
            </a:pPr>
            <a:r>
              <a:rPr kumimoji="0" lang="zh-CN" altLang="en-US" sz="2000" b="1" dirty="0"/>
              <a:t>从句子</a:t>
            </a:r>
            <a:r>
              <a:rPr kumimoji="0" lang="en-US" altLang="zh-CN" sz="2000" b="1" dirty="0"/>
              <a:t>s</a:t>
            </a:r>
            <a:r>
              <a:rPr kumimoji="0" lang="zh-CN" altLang="en-US" sz="2000" b="1" dirty="0"/>
              <a:t>到单词，怎么分开？  </a:t>
            </a:r>
            <a:endParaRPr kumimoji="0" lang="en-US" altLang="zh-CN" sz="2000" b="1" dirty="0"/>
          </a:p>
          <a:p>
            <a:pPr algn="just" eaLnBrk="1" hangingPunct="1">
              <a:buClr>
                <a:srgbClr val="C00000"/>
              </a:buClr>
              <a:buFont typeface="Arial" pitchFamily="34" charset="0"/>
              <a:buChar char="•"/>
            </a:pPr>
            <a:r>
              <a:rPr kumimoji="0" lang="zh-CN" altLang="en-US" sz="2000" dirty="0">
                <a:solidFill>
                  <a:srgbClr val="FF0000"/>
                </a:solidFill>
              </a:rPr>
              <a:t>知识点：</a:t>
            </a:r>
            <a:r>
              <a:rPr kumimoji="0" lang="zh-CN" altLang="en-US" sz="2000" b="1" dirty="0">
                <a:solidFill>
                  <a:srgbClr val="FF0000"/>
                </a:solidFill>
              </a:rPr>
              <a:t>英语句子，单词间有空格</a:t>
            </a:r>
            <a:r>
              <a:rPr kumimoji="0" lang="zh-CN" altLang="en-US" sz="2000" b="1" dirty="0"/>
              <a:t>，</a:t>
            </a:r>
            <a:r>
              <a:rPr kumimoji="0" lang="zh-CN" altLang="en-US" sz="2000" b="1" dirty="0">
                <a:solidFill>
                  <a:srgbClr val="FF0000"/>
                </a:solidFill>
              </a:rPr>
              <a:t>用</a:t>
            </a:r>
            <a:r>
              <a:rPr kumimoji="0" lang="en-US" altLang="zh-CN" sz="2000" b="1" dirty="0" err="1">
                <a:solidFill>
                  <a:srgbClr val="FF0000"/>
                </a:solidFill>
              </a:rPr>
              <a:t>s</a:t>
            </a:r>
            <a:r>
              <a:rPr kumimoji="0" lang="en-US" altLang="zh-CN" sz="2000" dirty="0" err="1">
                <a:solidFill>
                  <a:srgbClr val="FF0000"/>
                </a:solidFill>
              </a:rPr>
              <a:t>.split</a:t>
            </a:r>
            <a:r>
              <a:rPr kumimoji="0" lang="en-US" altLang="zh-CN" sz="2000" dirty="0">
                <a:solidFill>
                  <a:srgbClr val="FF0000"/>
                </a:solidFill>
              </a:rPr>
              <a:t>(),</a:t>
            </a:r>
            <a:r>
              <a:rPr kumimoji="0" lang="zh-CN" altLang="en-US" sz="2000" dirty="0"/>
              <a:t>分割后得到列表</a:t>
            </a:r>
            <a:r>
              <a:rPr kumimoji="0" lang="en-US" altLang="zh-CN" sz="2000" dirty="0"/>
              <a:t>,</a:t>
            </a:r>
            <a:r>
              <a:rPr kumimoji="0" lang="zh-CN" altLang="en-US" sz="2000" dirty="0"/>
              <a:t>如  </a:t>
            </a:r>
            <a:r>
              <a:rPr kumimoji="0" lang="en-US" altLang="zh-CN" sz="2000" dirty="0"/>
              <a:t>words=</a:t>
            </a:r>
            <a:r>
              <a:rPr kumimoji="0" lang="en-US" altLang="zh-CN" sz="2000" dirty="0" err="1"/>
              <a:t>s.split</a:t>
            </a:r>
            <a:r>
              <a:rPr kumimoji="0" lang="en-US" altLang="zh-CN" sz="2000" dirty="0"/>
              <a:t>()</a:t>
            </a:r>
            <a:r>
              <a:rPr kumimoji="0" lang="zh-CN" altLang="en-US" sz="2000" dirty="0"/>
              <a:t>，</a:t>
            </a:r>
            <a:r>
              <a:rPr kumimoji="0" lang="en-US" altLang="zh-CN" sz="2000" dirty="0"/>
              <a:t>words</a:t>
            </a:r>
            <a:r>
              <a:rPr kumimoji="0" lang="zh-CN" altLang="en-US" sz="2000" dirty="0"/>
              <a:t>中就是每个单词</a:t>
            </a:r>
            <a:endParaRPr kumimoji="0" lang="en-US" altLang="zh-CN" sz="2000" b="1" dirty="0"/>
          </a:p>
          <a:p>
            <a:pPr algn="just" eaLnBrk="1" hangingPunct="1">
              <a:buClr>
                <a:srgbClr val="C00000"/>
              </a:buClr>
              <a:buFont typeface="Arial" pitchFamily="34" charset="0"/>
              <a:buChar char="•"/>
            </a:pPr>
            <a:r>
              <a:rPr kumimoji="0" lang="zh-CN" altLang="en-US" sz="2000" b="1" dirty="0"/>
              <a:t>怎么逐一判断单词？</a:t>
            </a:r>
            <a:r>
              <a:rPr kumimoji="0" lang="zh-CN" altLang="en-US" sz="2000" b="1" dirty="0">
                <a:solidFill>
                  <a:srgbClr val="FF0000"/>
                </a:solidFill>
              </a:rPr>
              <a:t>知识点：遍历列表</a:t>
            </a:r>
            <a:r>
              <a:rPr kumimoji="0" lang="zh-CN" altLang="en-US" sz="2000" b="1" dirty="0"/>
              <a:t> </a:t>
            </a:r>
            <a:r>
              <a:rPr kumimoji="0" lang="en-US" altLang="zh-CN" sz="2000" b="1" dirty="0"/>
              <a:t>,for word in words:</a:t>
            </a:r>
            <a:r>
              <a:rPr kumimoji="0" lang="zh-CN" altLang="en-US" sz="2000" b="1" dirty="0"/>
              <a:t> </a:t>
            </a:r>
            <a:endParaRPr kumimoji="0" lang="en-US" altLang="zh-CN" sz="2000" b="1" dirty="0"/>
          </a:p>
          <a:p>
            <a:pPr algn="just" eaLnBrk="1" hangingPunct="1">
              <a:buClr>
                <a:srgbClr val="C00000"/>
              </a:buClr>
              <a:buFont typeface="Arial" pitchFamily="34" charset="0"/>
              <a:buChar char="•"/>
            </a:pPr>
            <a:r>
              <a:rPr kumimoji="0" lang="zh-CN" altLang="en-US" sz="2000" b="1" dirty="0"/>
              <a:t>单词以</a:t>
            </a:r>
            <a:r>
              <a:rPr kumimoji="0" lang="en-US" altLang="zh-CN" sz="2000" b="1" dirty="0"/>
              <a:t>m</a:t>
            </a:r>
            <a:r>
              <a:rPr kumimoji="0" lang="zh-CN" altLang="en-US" sz="2000" b="1" dirty="0"/>
              <a:t>开头怎么判断？</a:t>
            </a:r>
            <a:r>
              <a:rPr kumimoji="0" lang="en-US" altLang="zh-CN" sz="2000" dirty="0" err="1"/>
              <a:t>word.startswith</a:t>
            </a:r>
            <a:r>
              <a:rPr kumimoji="0" lang="en-US" altLang="zh-CN" sz="2000" dirty="0"/>
              <a:t>("m")</a:t>
            </a:r>
          </a:p>
          <a:p>
            <a:pPr algn="just" eaLnBrk="1" hangingPunct="1">
              <a:buClr>
                <a:srgbClr val="C00000"/>
              </a:buClr>
              <a:buFont typeface="Arial" pitchFamily="34" charset="0"/>
              <a:buChar char="•"/>
            </a:pPr>
            <a:r>
              <a:rPr kumimoji="0" lang="zh-CN" altLang="en-US" sz="2000" b="1" dirty="0"/>
              <a:t>是</a:t>
            </a:r>
            <a:r>
              <a:rPr kumimoji="0" lang="en-US" altLang="zh-CN" sz="2000" b="1" dirty="0"/>
              <a:t>m</a:t>
            </a:r>
            <a:r>
              <a:rPr kumimoji="0" lang="zh-CN" altLang="en-US" sz="2000" dirty="0"/>
              <a:t>开头？字符串的</a:t>
            </a:r>
            <a:r>
              <a:rPr kumimoji="0" lang="en-US" altLang="zh-CN" sz="2000" dirty="0"/>
              <a:t>upper</a:t>
            </a:r>
            <a:r>
              <a:rPr kumimoji="0" lang="zh-CN" altLang="en-US" sz="2000" dirty="0"/>
              <a:t>函数。</a:t>
            </a:r>
            <a:endParaRPr kumimoji="0" lang="en-US" altLang="zh-CN" sz="2000" b="1" dirty="0"/>
          </a:p>
        </p:txBody>
      </p:sp>
    </p:spTree>
    <p:extLst>
      <p:ext uri="{BB962C8B-B14F-4D97-AF65-F5344CB8AC3E}">
        <p14:creationId xmlns:p14="http://schemas.microsoft.com/office/powerpoint/2010/main" val="33849506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4D8F4C-2C60-4294-85EB-AFABAC707A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7C270E-26C8-4352-BE21-3DBF4A2EC019}" type="slidenum">
              <a:rPr lang="en-US" altLang="zh-CN" smtClean="0"/>
              <a:pPr>
                <a:defRPr/>
              </a:pPr>
              <a:t>39</a:t>
            </a:fld>
            <a:endParaRPr lang="en-US" altLang="zh-CN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90CFF4BA-DC8C-4446-830C-E66D354E156F}"/>
              </a:ext>
            </a:extLst>
          </p:cNvPr>
          <p:cNvSpPr txBox="1">
            <a:spLocks noGrp="1"/>
          </p:cNvSpPr>
          <p:nvPr>
            <p:ph idx="1"/>
          </p:nvPr>
        </p:nvSpPr>
        <p:spPr bwMode="auto">
          <a:xfrm>
            <a:off x="457200" y="411163"/>
            <a:ext cx="8229600" cy="50440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 eaLnBrk="1" hangingPunct="1">
              <a:buFontTx/>
              <a:buNone/>
            </a:pPr>
            <a:r>
              <a:rPr lang="zh-CN" altLang="en-US" sz="2400" b="1" dirty="0"/>
              <a:t>例：将下面句子中</a:t>
            </a:r>
            <a:r>
              <a:rPr lang="en-US" altLang="zh-CN" sz="2400" b="1" dirty="0"/>
              <a:t>m</a:t>
            </a:r>
            <a:r>
              <a:rPr lang="zh-CN" altLang="en-US" sz="2400" b="1" dirty="0"/>
              <a:t>开头的单词转换为大写输出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11560" y="1203598"/>
            <a:ext cx="7272808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dirty="0"/>
              <a:t> </a:t>
            </a:r>
            <a:r>
              <a:rPr lang="en-US" altLang="zh-CN" sz="2000" dirty="0">
                <a:solidFill>
                  <a:schemeClr val="tx1"/>
                </a:solidFill>
              </a:rPr>
              <a:t>s='Who</a:t>
            </a:r>
            <a:r>
              <a:rPr lang="zh-CN" altLang="en-US" sz="2000" dirty="0">
                <a:solidFill>
                  <a:schemeClr val="tx1"/>
                </a:solidFill>
              </a:rPr>
              <a:t> </a:t>
            </a:r>
            <a:r>
              <a:rPr lang="en-US" altLang="zh-CN" sz="2000" dirty="0">
                <a:solidFill>
                  <a:schemeClr val="tx1"/>
                </a:solidFill>
              </a:rPr>
              <a:t>is that man? Why does he get into that car. '</a:t>
            </a:r>
          </a:p>
          <a:p>
            <a:pPr algn="just" eaLnBrk="1" hangingPunct="1"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words=</a:t>
            </a:r>
            <a:r>
              <a:rPr lang="en-US" altLang="zh-CN" sz="2000" dirty="0" err="1">
                <a:solidFill>
                  <a:schemeClr val="tx1"/>
                </a:solidFill>
              </a:rPr>
              <a:t>s.split</a:t>
            </a:r>
            <a:r>
              <a:rPr lang="en-US" altLang="zh-CN" sz="2000" dirty="0">
                <a:solidFill>
                  <a:schemeClr val="tx1"/>
                </a:solidFill>
              </a:rPr>
              <a:t>()    # </a:t>
            </a:r>
            <a:r>
              <a:rPr lang="zh-CN" altLang="en-US" sz="2000" dirty="0">
                <a:solidFill>
                  <a:schemeClr val="tx1"/>
                </a:solidFill>
              </a:rPr>
              <a:t>默认  以空格  </a:t>
            </a:r>
            <a:r>
              <a:rPr lang="en-US" altLang="zh-CN" sz="2000" dirty="0">
                <a:solidFill>
                  <a:schemeClr val="tx1"/>
                </a:solidFill>
              </a:rPr>
              <a:t>tab</a:t>
            </a:r>
            <a:r>
              <a:rPr lang="zh-CN" altLang="en-US" sz="2000" dirty="0">
                <a:solidFill>
                  <a:schemeClr val="tx1"/>
                </a:solidFill>
              </a:rPr>
              <a:t>键 为单词间分隔符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algn="just" eaLnBrk="1" hangingPunct="1"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# words</a:t>
            </a:r>
            <a:r>
              <a:rPr lang="zh-CN" altLang="en-US" sz="2000" dirty="0">
                <a:solidFill>
                  <a:schemeClr val="tx1"/>
                </a:solidFill>
              </a:rPr>
              <a:t>的结果</a:t>
            </a:r>
            <a:r>
              <a:rPr lang="en-US" altLang="zh-CN" sz="2000" dirty="0">
                <a:solidFill>
                  <a:schemeClr val="tx1"/>
                </a:solidFill>
              </a:rPr>
              <a:t>['Who', 'is',……. ]</a:t>
            </a:r>
          </a:p>
          <a:p>
            <a:pPr algn="just" eaLnBrk="1" hangingPunct="1"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for word in words:</a:t>
            </a:r>
          </a:p>
          <a:p>
            <a:pPr algn="just" eaLnBrk="1" hangingPunct="1"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      if </a:t>
            </a:r>
            <a:r>
              <a:rPr lang="en-US" altLang="zh-CN" sz="2000" dirty="0" err="1">
                <a:solidFill>
                  <a:schemeClr val="tx1"/>
                </a:solidFill>
              </a:rPr>
              <a:t>word.startswith</a:t>
            </a:r>
            <a:r>
              <a:rPr lang="en-US" altLang="zh-CN" sz="2000" dirty="0">
                <a:solidFill>
                  <a:schemeClr val="tx1"/>
                </a:solidFill>
              </a:rPr>
              <a:t>(' m '):  # </a:t>
            </a:r>
            <a:r>
              <a:rPr lang="zh-CN" altLang="en-US" sz="2000" dirty="0">
                <a:solidFill>
                  <a:schemeClr val="tx1"/>
                </a:solidFill>
              </a:rPr>
              <a:t>判断以某个字母开头的单词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algn="just" eaLnBrk="1" hangingPunct="1"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           word=</a:t>
            </a:r>
            <a:r>
              <a:rPr lang="en-US" altLang="zh-CN" sz="2000" dirty="0" err="1">
                <a:solidFill>
                  <a:schemeClr val="tx1"/>
                </a:solidFill>
              </a:rPr>
              <a:t>word.upper</a:t>
            </a:r>
            <a:r>
              <a:rPr lang="en-US" altLang="zh-CN" sz="2000" dirty="0">
                <a:solidFill>
                  <a:schemeClr val="tx1"/>
                </a:solidFill>
              </a:rPr>
              <a:t>()</a:t>
            </a:r>
          </a:p>
          <a:p>
            <a:pPr algn="just" eaLnBrk="1" hangingPunct="1"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           print(</a:t>
            </a:r>
            <a:r>
              <a:rPr lang="en-US" altLang="zh-CN" sz="2000" dirty="0" err="1">
                <a:solidFill>
                  <a:schemeClr val="tx1"/>
                </a:solidFill>
              </a:rPr>
              <a:t>word,end</a:t>
            </a:r>
            <a:r>
              <a:rPr lang="en-US" altLang="zh-CN" sz="2000" dirty="0">
                <a:solidFill>
                  <a:schemeClr val="tx1"/>
                </a:solidFill>
              </a:rPr>
              <a:t>="")   #  end=""  </a:t>
            </a:r>
            <a:r>
              <a:rPr lang="zh-CN" altLang="en-US" sz="2000" dirty="0">
                <a:solidFill>
                  <a:schemeClr val="tx1"/>
                </a:solidFill>
              </a:rPr>
              <a:t>代表不换行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algn="just" eaLnBrk="1" hangingPunct="1">
              <a:buFontTx/>
              <a:buNone/>
            </a:pPr>
            <a:endParaRPr lang="zh-CN" alt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9937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8410575" y="4857750"/>
            <a:ext cx="733425" cy="285750"/>
          </a:xfrm>
          <a:prstGeom prst="rect">
            <a:avLst/>
          </a:prstGeom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/>
            <a:fld id="{2AE54F71-5FC5-435E-A74A-4566365110DC}" type="slidenum">
              <a:rPr kumimoji="0" lang="en-US" altLang="zh-CN" sz="1800" smtClean="0">
                <a:solidFill>
                  <a:schemeClr val="bg1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pPr eaLnBrk="1" hangingPunct="1"/>
              <a:t>40</a:t>
            </a:fld>
            <a:endParaRPr kumimoji="0" lang="en-US" altLang="zh-CN" sz="1800">
              <a:solidFill>
                <a:schemeClr val="bg1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52417" y="237986"/>
            <a:ext cx="8821328" cy="1046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zh-CN" sz="2000" dirty="0"/>
              <a:t>【</a:t>
            </a: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3.12</a:t>
            </a: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】将可打印的</a:t>
            </a: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ASCII</a:t>
            </a: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码制成表格输出，使每个字符与它的编码值对应起来，</a:t>
            </a:r>
            <a:endParaRPr lang="en-US" altLang="zh-CN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                 </a:t>
            </a: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每行打印</a:t>
            </a: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7</a:t>
            </a: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个字符项。</a:t>
            </a:r>
            <a:endParaRPr lang="zh-CN" altLang="zh-CN" sz="20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264" name="TextBox 11263"/>
          <p:cNvSpPr txBox="1"/>
          <p:nvPr/>
        </p:nvSpPr>
        <p:spPr>
          <a:xfrm>
            <a:off x="179592" y="1213650"/>
            <a:ext cx="8964408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zh-CN" altLang="zh-CN" sz="1800" dirty="0">
                <a:latin typeface="微软雅黑" pitchFamily="34" charset="-122"/>
                <a:ea typeface="微软雅黑" pitchFamily="34" charset="-122"/>
              </a:rPr>
              <a:t>分析</a:t>
            </a:r>
            <a:r>
              <a:rPr lang="zh-CN" altLang="zh-CN" sz="1800" b="0" dirty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800" b="0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50000"/>
              </a:lnSpc>
              <a:spcBef>
                <a:spcPts val="300"/>
              </a:spcBef>
              <a:buFont typeface="Wingdings" panose="05000000000000000000" pitchFamily="2" charset="2"/>
              <a:buChar char="n"/>
            </a:pP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ASCII</a:t>
            </a: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码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表</a:t>
            </a: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是英文字符表，每个字符有一个序号，从</a:t>
            </a: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0~255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，共</a:t>
            </a: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256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个字符</a:t>
            </a:r>
            <a:endParaRPr lang="en-US" altLang="zh-CN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50000"/>
              </a:lnSpc>
              <a:spcBef>
                <a:spcPts val="300"/>
              </a:spcBef>
              <a:buFont typeface="Wingdings" panose="05000000000000000000" pitchFamily="2" charset="2"/>
              <a:buChar char="n"/>
            </a:pP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可显示字符，是</a:t>
            </a: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空格到</a:t>
            </a: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“~”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，对应</a:t>
            </a: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编码值为</a:t>
            </a: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32~126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，编码就是序号值</a:t>
            </a:r>
            <a:endParaRPr lang="en-US" altLang="zh-CN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50000"/>
              </a:lnSpc>
              <a:spcBef>
                <a:spcPts val="300"/>
              </a:spcBef>
              <a:buFont typeface="Wingdings" panose="05000000000000000000" pitchFamily="2" charset="2"/>
              <a:buChar char="n"/>
            </a:pP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知道序号</a:t>
            </a:r>
            <a:r>
              <a:rPr lang="en-US" altLang="zh-CN" sz="1800" b="0" dirty="0" err="1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i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利用</a:t>
            </a: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800" b="0" dirty="0" err="1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chr</a:t>
            </a: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1800" b="0" dirty="0" err="1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) 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可获得</a:t>
            </a: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对应的字符</a:t>
            </a: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zh-CN" altLang="en-US" sz="18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知识点：字符和其序号间的转换</a:t>
            </a:r>
            <a:endParaRPr lang="zh-CN" altLang="zh-CN" sz="1800" b="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50000"/>
              </a:lnSpc>
              <a:spcBef>
                <a:spcPts val="300"/>
              </a:spcBef>
              <a:buFont typeface="Wingdings" panose="05000000000000000000" pitchFamily="2" charset="2"/>
              <a:buChar char="n"/>
            </a:pP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每行显示</a:t>
            </a: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7</a:t>
            </a: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个字符项，设置一个计数器变量</a:t>
            </a: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每打印一项加</a:t>
            </a: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；</a:t>
            </a:r>
            <a:endParaRPr lang="en-US" altLang="zh-CN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zh-CN" altLang="en-US" sz="18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知识点：换行用</a:t>
            </a:r>
            <a:r>
              <a:rPr lang="en-US" altLang="zh-CN" sz="18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%</a:t>
            </a:r>
            <a:r>
              <a:rPr lang="zh-CN" altLang="en-US" sz="18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zh-CN" sz="18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当满了</a:t>
            </a:r>
            <a:r>
              <a:rPr lang="en-US" altLang="zh-CN" sz="18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7</a:t>
            </a:r>
            <a:r>
              <a:rPr lang="zh-CN" altLang="zh-CN" sz="18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项换行</a:t>
            </a:r>
            <a:r>
              <a:rPr lang="zh-CN" altLang="en-US" sz="18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，用</a:t>
            </a:r>
            <a:r>
              <a:rPr lang="en-US" altLang="zh-CN" sz="18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%</a:t>
            </a:r>
            <a:r>
              <a:rPr lang="zh-CN" altLang="en-US" sz="18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运算符</a:t>
            </a:r>
            <a:r>
              <a:rPr lang="zh-CN" altLang="zh-CN" sz="18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702441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8410575" y="4857750"/>
            <a:ext cx="733425" cy="285750"/>
          </a:xfrm>
          <a:prstGeom prst="rect">
            <a:avLst/>
          </a:prstGeom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/>
            <a:fld id="{2AE54F71-5FC5-435E-A74A-4566365110DC}" type="slidenum">
              <a:rPr kumimoji="0" lang="en-US" altLang="zh-CN" sz="1800" smtClean="0">
                <a:solidFill>
                  <a:schemeClr val="bg1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pPr eaLnBrk="1" hangingPunct="1"/>
              <a:t>41</a:t>
            </a:fld>
            <a:endParaRPr kumimoji="0" lang="en-US" altLang="zh-CN" sz="1800">
              <a:solidFill>
                <a:schemeClr val="bg1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61336" y="154347"/>
            <a:ext cx="8821328" cy="1046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zh-CN" sz="2000" dirty="0"/>
              <a:t>【</a:t>
            </a: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3.12</a:t>
            </a: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】将可打印的</a:t>
            </a: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ASCII</a:t>
            </a: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码制成表格输出，使每个字符与它的编码值对应起来，</a:t>
            </a:r>
            <a:endParaRPr lang="en-US" altLang="zh-CN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                 </a:t>
            </a: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每行打印</a:t>
            </a: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7</a:t>
            </a: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个字符项。</a:t>
            </a:r>
            <a:endParaRPr lang="zh-CN" altLang="zh-CN" sz="20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AutoShape 44"/>
          <p:cNvSpPr>
            <a:spLocks noChangeArrowheads="1"/>
          </p:cNvSpPr>
          <p:nvPr/>
        </p:nvSpPr>
        <p:spPr bwMode="gray">
          <a:xfrm>
            <a:off x="323528" y="1347614"/>
            <a:ext cx="4680520" cy="2304256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n=0</a:t>
            </a:r>
            <a:endParaRPr lang="zh-CN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for </a:t>
            </a:r>
            <a:r>
              <a:rPr lang="en-US" altLang="zh-CN" sz="14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asc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in range(32,127):</a:t>
            </a:r>
            <a:endParaRPr lang="zh-CN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print('%s=%d'%(</a:t>
            </a:r>
            <a:r>
              <a:rPr lang="en-US" altLang="zh-CN" sz="14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chr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(</a:t>
            </a:r>
            <a:r>
              <a:rPr lang="en-US" altLang="zh-CN" sz="14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asc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),</a:t>
            </a:r>
            <a:r>
              <a:rPr lang="en-US" altLang="zh-CN" sz="14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asc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),end='\t')</a:t>
            </a:r>
          </a:p>
          <a:p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# print</a:t>
            </a:r>
            <a:r>
              <a:rPr lang="zh-CN" altLang="en-US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语句格式，以 格式符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%</a:t>
            </a:r>
            <a:r>
              <a:rPr lang="zh-CN" altLang="en-US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元组方式输出，</a:t>
            </a:r>
            <a:endParaRPr lang="en-US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# </a:t>
            </a:r>
            <a:r>
              <a:rPr lang="zh-CN" altLang="en-US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元组的每个元素对应一个格式</a:t>
            </a:r>
            <a:endParaRPr lang="en-US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# %s</a:t>
            </a:r>
            <a:r>
              <a:rPr lang="zh-CN" altLang="en-US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代表对应的变量以字符串输出</a:t>
            </a:r>
            <a:endParaRPr lang="en-US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# %d</a:t>
            </a:r>
            <a:r>
              <a:rPr lang="zh-CN" altLang="en-US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以整数输出</a:t>
            </a:r>
            <a:endParaRPr lang="zh-CN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n=n+1</a:t>
            </a:r>
            <a:endParaRPr lang="zh-CN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if n %7==0:</a:t>
            </a:r>
          </a:p>
          <a:p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 print(‘\n’)</a:t>
            </a:r>
          </a:p>
          <a:p>
            <a:r>
              <a:rPr lang="zh-CN" altLang="en-US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</a:t>
            </a:r>
            <a:endParaRPr lang="zh-CN" altLang="zh-CN" sz="1400" dirty="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pic>
        <p:nvPicPr>
          <p:cNvPr id="7" name="图片 6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6" t="20430" r="2719" b="5107"/>
          <a:stretch>
            <a:fillRect/>
          </a:stretch>
        </p:blipFill>
        <p:spPr bwMode="auto">
          <a:xfrm>
            <a:off x="5364088" y="1563638"/>
            <a:ext cx="3528392" cy="1934201"/>
          </a:xfrm>
          <a:prstGeom prst="rect">
            <a:avLst/>
          </a:prstGeom>
          <a:noFill/>
          <a:ln w="3175" cmpd="sng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63886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8410575" y="4857750"/>
            <a:ext cx="733425" cy="285750"/>
          </a:xfrm>
          <a:prstGeom prst="rect">
            <a:avLst/>
          </a:prstGeom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/>
            <a:fld id="{37959683-0D1B-45B6-B132-B9570A1D2F26}" type="slidenum">
              <a:rPr kumimoji="0" lang="en-US" altLang="zh-CN" sz="1800" smtClean="0">
                <a:solidFill>
                  <a:schemeClr val="bg1"/>
                </a:solidFill>
                <a:latin typeface="Arial Black" pitchFamily="34" charset="0"/>
                <a:ea typeface="楷体_GB2312" pitchFamily="49" charset="-122"/>
              </a:rPr>
              <a:pPr eaLnBrk="1" hangingPunct="1"/>
              <a:t>42</a:t>
            </a:fld>
            <a:endParaRPr kumimoji="0" lang="en-US" altLang="zh-CN" sz="1800">
              <a:solidFill>
                <a:schemeClr val="bg1"/>
              </a:solidFill>
              <a:latin typeface="Arial Black" pitchFamily="34" charset="0"/>
              <a:ea typeface="楷体_GB2312" pitchFamily="49" charset="-122"/>
            </a:endParaRPr>
          </a:p>
        </p:txBody>
      </p:sp>
      <p:sp>
        <p:nvSpPr>
          <p:cNvPr id="14339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285172" y="123478"/>
            <a:ext cx="8305800" cy="530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algn="l"/>
            <a:r>
              <a:rPr lang="en-US" altLang="zh-CN" sz="2800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while</a:t>
            </a:r>
            <a:r>
              <a:rPr lang="zh-CN" altLang="en-US" sz="2800" b="1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循环语句 </a:t>
            </a:r>
          </a:p>
        </p:txBody>
      </p:sp>
      <p:sp>
        <p:nvSpPr>
          <p:cNvPr id="14340" name="Rectangle 9"/>
          <p:cNvSpPr>
            <a:spLocks noChangeArrowheads="1"/>
          </p:cNvSpPr>
          <p:nvPr/>
        </p:nvSpPr>
        <p:spPr bwMode="auto">
          <a:xfrm>
            <a:off x="408828" y="1153870"/>
            <a:ext cx="2815362" cy="1170193"/>
          </a:xfrm>
          <a:prstGeom prst="rect">
            <a:avLst/>
          </a:prstGeom>
          <a:solidFill>
            <a:srgbClr val="E4F3F3"/>
          </a:solidFill>
          <a:ln>
            <a:noFill/>
          </a:ln>
          <a:effectLst/>
        </p:spPr>
        <p:txBody>
          <a:bodyPr wrap="square" lIns="92075" tIns="46038" rIns="92075" bIns="46038">
            <a:spAutoFit/>
          </a:bodyPr>
          <a:lstStyle/>
          <a:p>
            <a:pPr eaLnBrk="0" hangingPunct="0">
              <a:lnSpc>
                <a:spcPct val="1000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格式：                                           </a:t>
            </a:r>
          </a:p>
          <a:p>
            <a:pPr eaLnBrk="0" hangingPunct="0"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while </a:t>
            </a:r>
            <a:r>
              <a:rPr lang="zh-CN" altLang="en-US" sz="2000" b="0" dirty="0">
                <a:solidFill>
                  <a:srgbClr val="FF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表达式</a:t>
            </a:r>
            <a:r>
              <a:rPr lang="zh-CN" altLang="en-US" sz="20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：</a:t>
            </a:r>
            <a:r>
              <a:rPr lang="en-US" altLang="zh-CN" sz="20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</a:t>
            </a:r>
          </a:p>
          <a:p>
            <a:pPr eaLnBrk="0" hangingPunct="0"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</a:t>
            </a:r>
            <a:r>
              <a:rPr lang="zh-CN" altLang="en-US" sz="20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4754" y="684184"/>
            <a:ext cx="6462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  一般用于未知循环次数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31" y="2421804"/>
            <a:ext cx="50714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表达式</a:t>
            </a:r>
            <a:r>
              <a:rPr lang="zh-CN" altLang="zh-CN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为</a:t>
            </a:r>
            <a:r>
              <a:rPr lang="en-US" altLang="zh-CN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True</a:t>
            </a:r>
            <a:r>
              <a:rPr lang="zh-CN" altLang="zh-CN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，则执行循环体；</a:t>
            </a:r>
            <a:endParaRPr lang="en-US" altLang="zh-CN" sz="16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否则退出循环，执行</a:t>
            </a:r>
            <a:r>
              <a:rPr lang="en-US" altLang="zh-CN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while</a:t>
            </a:r>
            <a:r>
              <a:rPr lang="zh-CN" altLang="en-US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循环</a:t>
            </a:r>
            <a:r>
              <a:rPr lang="zh-CN" altLang="zh-CN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后续</a:t>
            </a:r>
            <a:r>
              <a:rPr lang="zh-CN" altLang="zh-CN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语句。</a:t>
            </a:r>
            <a:endParaRPr lang="zh-CN" altLang="en-US" sz="16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AutoShape 44"/>
          <p:cNvSpPr>
            <a:spLocks noChangeArrowheads="1"/>
          </p:cNvSpPr>
          <p:nvPr/>
        </p:nvSpPr>
        <p:spPr bwMode="gray">
          <a:xfrm>
            <a:off x="397198" y="3795886"/>
            <a:ext cx="6174316" cy="642160"/>
          </a:xfrm>
          <a:prstGeom prst="roundRect">
            <a:avLst>
              <a:gd name="adj" fmla="val 8014"/>
            </a:avLst>
          </a:prstGeom>
          <a:solidFill>
            <a:srgbClr val="FFFFCC"/>
          </a:solidFill>
          <a:ln w="9525">
            <a:solidFill>
              <a:srgbClr val="808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0"/>
              </a:spcBef>
            </a:pPr>
            <a:r>
              <a:rPr lang="zh-CN" altLang="en-US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为了防止死循环，在循环体内一般有向循环条件</a:t>
            </a:r>
            <a:r>
              <a:rPr lang="zh-CN" altLang="en-US" sz="16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终止方向发展的语句</a:t>
            </a:r>
          </a:p>
        </p:txBody>
      </p:sp>
      <p:sp>
        <p:nvSpPr>
          <p:cNvPr id="14" name="TextBox 7"/>
          <p:cNvSpPr txBox="1">
            <a:spLocks noChangeArrowheads="1"/>
          </p:cNvSpPr>
          <p:nvPr/>
        </p:nvSpPr>
        <p:spPr bwMode="auto">
          <a:xfrm>
            <a:off x="7668269" y="1213799"/>
            <a:ext cx="792163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1400"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False</a:t>
            </a:r>
            <a:endParaRPr lang="zh-CN" altLang="en-US" sz="1800"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cxnSp>
        <p:nvCxnSpPr>
          <p:cNvPr id="18" name="直接连接符 13"/>
          <p:cNvCxnSpPr>
            <a:cxnSpLocks noChangeShapeType="1"/>
          </p:cNvCxnSpPr>
          <p:nvPr/>
        </p:nvCxnSpPr>
        <p:spPr bwMode="auto">
          <a:xfrm>
            <a:off x="6882402" y="2396481"/>
            <a:ext cx="0" cy="215900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直接连接符 15"/>
          <p:cNvCxnSpPr>
            <a:cxnSpLocks noChangeShapeType="1"/>
          </p:cNvCxnSpPr>
          <p:nvPr/>
        </p:nvCxnSpPr>
        <p:spPr bwMode="auto">
          <a:xfrm flipH="1" flipV="1">
            <a:off x="5854008" y="2618253"/>
            <a:ext cx="1045230" cy="6003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" name="直接连接符 16"/>
          <p:cNvCxnSpPr>
            <a:cxnSpLocks noChangeShapeType="1"/>
            <a:endCxn id="22" idx="3"/>
          </p:cNvCxnSpPr>
          <p:nvPr/>
        </p:nvCxnSpPr>
        <p:spPr bwMode="auto">
          <a:xfrm flipH="1">
            <a:off x="7883971" y="1508158"/>
            <a:ext cx="252000" cy="0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TextBox 17"/>
          <p:cNvSpPr txBox="1">
            <a:spLocks noChangeArrowheads="1"/>
          </p:cNvSpPr>
          <p:nvPr/>
        </p:nvSpPr>
        <p:spPr bwMode="auto">
          <a:xfrm>
            <a:off x="6911806" y="1600262"/>
            <a:ext cx="792088" cy="35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True</a:t>
            </a:r>
            <a:endParaRPr lang="zh-CN" altLang="en-US" sz="140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22" name="菱形 4"/>
          <p:cNvSpPr>
            <a:spLocks noChangeArrowheads="1"/>
          </p:cNvSpPr>
          <p:nvPr/>
        </p:nvSpPr>
        <p:spPr bwMode="auto">
          <a:xfrm>
            <a:off x="6012308" y="1342574"/>
            <a:ext cx="1871663" cy="331167"/>
          </a:xfrm>
          <a:prstGeom prst="diamond">
            <a:avLst/>
          </a:prstGeom>
          <a:noFill/>
          <a:ln w="19050" algn="ctr">
            <a:solidFill>
              <a:srgbClr val="6666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ts val="1300"/>
              </a:lnSpc>
              <a:spcBef>
                <a:spcPct val="0"/>
              </a:spcBef>
            </a:pPr>
            <a:r>
              <a:rPr lang="zh-CN" altLang="en-US" sz="1400" b="0" spc="-1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条件？</a:t>
            </a:r>
          </a:p>
        </p:txBody>
      </p:sp>
      <p:cxnSp>
        <p:nvCxnSpPr>
          <p:cNvPr id="23" name="直接连接符 19"/>
          <p:cNvCxnSpPr>
            <a:cxnSpLocks noChangeShapeType="1"/>
          </p:cNvCxnSpPr>
          <p:nvPr/>
        </p:nvCxnSpPr>
        <p:spPr bwMode="auto">
          <a:xfrm>
            <a:off x="6937246" y="1035354"/>
            <a:ext cx="0" cy="288925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直接连接符 20"/>
          <p:cNvCxnSpPr>
            <a:cxnSpLocks noChangeShapeType="1"/>
            <a:endCxn id="25" idx="0"/>
          </p:cNvCxnSpPr>
          <p:nvPr/>
        </p:nvCxnSpPr>
        <p:spPr bwMode="auto">
          <a:xfrm>
            <a:off x="6868677" y="1684829"/>
            <a:ext cx="0" cy="359991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" name="矩形 5"/>
          <p:cNvSpPr>
            <a:spLocks noChangeArrowheads="1"/>
          </p:cNvSpPr>
          <p:nvPr/>
        </p:nvSpPr>
        <p:spPr bwMode="auto">
          <a:xfrm>
            <a:off x="6304720" y="2044820"/>
            <a:ext cx="1189037" cy="320400"/>
          </a:xfrm>
          <a:prstGeom prst="rect">
            <a:avLst/>
          </a:prstGeom>
          <a:noFill/>
          <a:ln w="19050" algn="ctr">
            <a:solidFill>
              <a:srgbClr val="6666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bIns="0" anchor="ctr">
            <a:spAutoFit/>
          </a:bodyPr>
          <a:lstStyle/>
          <a:p>
            <a:pPr algn="ctr"/>
            <a:r>
              <a:rPr lang="zh-CN" altLang="en-US" sz="14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语句块</a:t>
            </a:r>
          </a:p>
        </p:txBody>
      </p:sp>
      <p:cxnSp>
        <p:nvCxnSpPr>
          <p:cNvPr id="26" name="直接连接符 27"/>
          <p:cNvCxnSpPr>
            <a:cxnSpLocks noChangeShapeType="1"/>
          </p:cNvCxnSpPr>
          <p:nvPr/>
        </p:nvCxnSpPr>
        <p:spPr bwMode="auto">
          <a:xfrm flipH="1">
            <a:off x="8104747" y="1510281"/>
            <a:ext cx="0" cy="1278492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直接连接符 33"/>
          <p:cNvCxnSpPr>
            <a:cxnSpLocks noChangeShapeType="1"/>
          </p:cNvCxnSpPr>
          <p:nvPr/>
        </p:nvCxnSpPr>
        <p:spPr bwMode="auto">
          <a:xfrm flipH="1">
            <a:off x="5854008" y="1532435"/>
            <a:ext cx="158301" cy="0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直接连接符 35"/>
          <p:cNvCxnSpPr>
            <a:cxnSpLocks noChangeShapeType="1"/>
          </p:cNvCxnSpPr>
          <p:nvPr/>
        </p:nvCxnSpPr>
        <p:spPr bwMode="auto">
          <a:xfrm>
            <a:off x="5854008" y="1547064"/>
            <a:ext cx="0" cy="1077192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39"/>
          <p:cNvCxnSpPr>
            <a:cxnSpLocks noChangeShapeType="1"/>
          </p:cNvCxnSpPr>
          <p:nvPr/>
        </p:nvCxnSpPr>
        <p:spPr bwMode="auto">
          <a:xfrm flipH="1">
            <a:off x="6952980" y="2788773"/>
            <a:ext cx="1151767" cy="0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直接连接符 41"/>
          <p:cNvCxnSpPr>
            <a:cxnSpLocks noChangeShapeType="1"/>
          </p:cNvCxnSpPr>
          <p:nvPr/>
        </p:nvCxnSpPr>
        <p:spPr bwMode="auto">
          <a:xfrm flipH="1">
            <a:off x="6948849" y="2783706"/>
            <a:ext cx="0" cy="292100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442057580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0" animBg="1"/>
      <p:bldP spid="8" grpId="0"/>
      <p:bldP spid="17" grpId="0" animBg="1"/>
      <p:bldP spid="14" grpId="0"/>
      <p:bldP spid="21" grpId="0"/>
      <p:bldP spid="22" grpId="0" animBg="1"/>
      <p:bldP spid="2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8410575" y="4857750"/>
            <a:ext cx="733425" cy="285750"/>
          </a:xfrm>
          <a:prstGeom prst="rect">
            <a:avLst/>
          </a:prstGeom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/>
            <a:fld id="{37959683-0D1B-45B6-B132-B9570A1D2F26}" type="slidenum">
              <a:rPr kumimoji="0" lang="en-US" altLang="zh-CN" sz="1800" smtClean="0">
                <a:solidFill>
                  <a:schemeClr val="bg1"/>
                </a:solidFill>
                <a:latin typeface="Arial Black" pitchFamily="34" charset="0"/>
                <a:ea typeface="楷体_GB2312" pitchFamily="49" charset="-122"/>
              </a:rPr>
              <a:pPr eaLnBrk="1" hangingPunct="1"/>
              <a:t>43</a:t>
            </a:fld>
            <a:endParaRPr kumimoji="0" lang="en-US" altLang="zh-CN" sz="1800">
              <a:solidFill>
                <a:schemeClr val="bg1"/>
              </a:solidFill>
              <a:latin typeface="Arial Black" pitchFamily="34" charset="0"/>
              <a:ea typeface="楷体_GB2312" pitchFamily="49" charset="-122"/>
            </a:endParaRPr>
          </a:p>
        </p:txBody>
      </p:sp>
      <p:sp>
        <p:nvSpPr>
          <p:cNvPr id="14339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285172" y="123478"/>
            <a:ext cx="8305800" cy="530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algn="l"/>
            <a:r>
              <a:rPr lang="en-US" altLang="zh-CN" sz="2800" b="1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while</a:t>
            </a:r>
            <a:r>
              <a:rPr lang="zh-CN" altLang="en-US" sz="2800" b="1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循环语句 </a:t>
            </a:r>
          </a:p>
        </p:txBody>
      </p:sp>
      <p:sp>
        <p:nvSpPr>
          <p:cNvPr id="14340" name="Rectangle 9"/>
          <p:cNvSpPr>
            <a:spLocks noChangeArrowheads="1"/>
          </p:cNvSpPr>
          <p:nvPr/>
        </p:nvSpPr>
        <p:spPr bwMode="auto">
          <a:xfrm>
            <a:off x="408828" y="1153870"/>
            <a:ext cx="2815362" cy="1170193"/>
          </a:xfrm>
          <a:prstGeom prst="rect">
            <a:avLst/>
          </a:prstGeom>
          <a:solidFill>
            <a:srgbClr val="E4F3F3"/>
          </a:solidFill>
          <a:ln>
            <a:noFill/>
          </a:ln>
          <a:effectLst/>
        </p:spPr>
        <p:txBody>
          <a:bodyPr wrap="square" lIns="92075" tIns="46038" rIns="92075" bIns="46038">
            <a:spAutoFit/>
          </a:bodyPr>
          <a:lstStyle/>
          <a:p>
            <a:pPr eaLnBrk="0" hangingPunct="0">
              <a:lnSpc>
                <a:spcPct val="1000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格式：                                           </a:t>
            </a:r>
          </a:p>
          <a:p>
            <a:pPr eaLnBrk="0" hangingPunct="0"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while </a:t>
            </a:r>
            <a:r>
              <a:rPr lang="zh-CN" altLang="en-US" sz="20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表达式</a:t>
            </a:r>
            <a:r>
              <a:rPr lang="zh-CN" altLang="en-US" sz="20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：</a:t>
            </a:r>
            <a:r>
              <a:rPr lang="en-US" altLang="zh-CN" sz="20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</a:t>
            </a:r>
          </a:p>
          <a:p>
            <a:pPr eaLnBrk="0" hangingPunct="0"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</a:t>
            </a:r>
            <a:r>
              <a:rPr lang="zh-CN" altLang="en-US" sz="20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4754" y="684184"/>
            <a:ext cx="3371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  一般用于未知循环次数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3964" y="2582855"/>
            <a:ext cx="50714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表达式</a:t>
            </a:r>
            <a:r>
              <a:rPr lang="zh-CN" altLang="zh-CN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为</a:t>
            </a:r>
            <a:r>
              <a:rPr lang="en-US" altLang="zh-CN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True</a:t>
            </a:r>
            <a:r>
              <a:rPr lang="zh-CN" altLang="zh-CN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，则执行循环体；</a:t>
            </a:r>
            <a:endParaRPr lang="en-US" altLang="zh-CN" sz="16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否则退出循环，执行</a:t>
            </a:r>
            <a:r>
              <a:rPr lang="en-US" altLang="zh-CN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while</a:t>
            </a:r>
            <a:r>
              <a:rPr lang="zh-CN" altLang="en-US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循环</a:t>
            </a:r>
            <a:r>
              <a:rPr lang="zh-CN" altLang="zh-CN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后续</a:t>
            </a:r>
            <a:r>
              <a:rPr lang="zh-CN" altLang="zh-CN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语句。</a:t>
            </a:r>
            <a:endParaRPr lang="zh-CN" altLang="en-US" sz="16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TextBox 7"/>
          <p:cNvSpPr txBox="1"/>
          <p:nvPr/>
        </p:nvSpPr>
        <p:spPr>
          <a:xfrm>
            <a:off x="4438072" y="262595"/>
            <a:ext cx="43070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理解表达式的取值为  </a:t>
            </a:r>
            <a:r>
              <a:rPr lang="en-US" altLang="zh-CN" sz="16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True</a:t>
            </a:r>
            <a:endParaRPr lang="zh-CN" altLang="en-US" sz="16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TextBox 7"/>
          <p:cNvSpPr txBox="1"/>
          <p:nvPr/>
        </p:nvSpPr>
        <p:spPr>
          <a:xfrm>
            <a:off x="4441814" y="863110"/>
            <a:ext cx="4350189" cy="787523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常数</a:t>
            </a:r>
            <a:endParaRPr lang="en-US" altLang="zh-CN" sz="1600" b="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16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while 1:      </a:t>
            </a:r>
            <a:r>
              <a:rPr lang="zh-CN" altLang="en-US" sz="16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或    </a:t>
            </a:r>
            <a:r>
              <a:rPr lang="en-US" altLang="zh-CN" sz="16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while  True :    # </a:t>
            </a:r>
            <a:r>
              <a:rPr lang="zh-CN" altLang="en-US" sz="16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常数</a:t>
            </a:r>
            <a:r>
              <a:rPr lang="en-US" altLang="zh-CN" sz="16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</a:p>
        </p:txBody>
      </p:sp>
      <p:sp>
        <p:nvSpPr>
          <p:cNvPr id="33" name="TextBox 7"/>
          <p:cNvSpPr txBox="1"/>
          <p:nvPr/>
        </p:nvSpPr>
        <p:spPr>
          <a:xfrm>
            <a:off x="4438072" y="1729581"/>
            <a:ext cx="4350189" cy="156966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变量</a:t>
            </a:r>
            <a:endParaRPr lang="en-US" altLang="zh-CN" sz="1600" b="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字符串非空即真             数值非</a:t>
            </a:r>
            <a:r>
              <a:rPr lang="en-US" altLang="zh-CN" sz="16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16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即真</a:t>
            </a:r>
            <a:endParaRPr lang="en-US" altLang="zh-CN" sz="1600" b="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a=“</a:t>
            </a:r>
            <a:r>
              <a:rPr lang="en-US" altLang="zh-CN" sz="1600" b="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abc</a:t>
            </a:r>
            <a:r>
              <a:rPr lang="en-US" altLang="zh-CN" sz="16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“                     b=3.4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16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while  a:                    while b:</a:t>
            </a:r>
          </a:p>
        </p:txBody>
      </p:sp>
      <p:sp>
        <p:nvSpPr>
          <p:cNvPr id="34" name="TextBox 7"/>
          <p:cNvSpPr txBox="1"/>
          <p:nvPr/>
        </p:nvSpPr>
        <p:spPr>
          <a:xfrm>
            <a:off x="4438072" y="3387645"/>
            <a:ext cx="4350189" cy="120032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各种表达式</a:t>
            </a:r>
            <a:endParaRPr lang="en-US" altLang="zh-CN" sz="1600" b="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A=“</a:t>
            </a:r>
            <a:r>
              <a:rPr lang="en-US" altLang="zh-CN" sz="1600" b="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abc</a:t>
            </a:r>
            <a:r>
              <a:rPr lang="en-US" altLang="zh-CN" sz="16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”                    b=3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16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while  a !="</a:t>
            </a:r>
            <a:r>
              <a:rPr lang="en-US" altLang="zh-CN" sz="1600" b="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asc</a:t>
            </a:r>
            <a:r>
              <a:rPr lang="en-US" altLang="zh-CN" sz="16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"      and  b % 3 ==1:</a:t>
            </a:r>
          </a:p>
        </p:txBody>
      </p:sp>
    </p:spTree>
    <p:extLst>
      <p:ext uri="{BB962C8B-B14F-4D97-AF65-F5344CB8AC3E}">
        <p14:creationId xmlns:p14="http://schemas.microsoft.com/office/powerpoint/2010/main" val="1100134221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0" animBg="1"/>
      <p:bldP spid="8" grpId="0"/>
      <p:bldP spid="31" grpId="0"/>
      <p:bldP spid="32" grpId="0" animBg="1"/>
      <p:bldP spid="33" grpId="0" animBg="1"/>
      <p:bldP spid="3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3440" y="339501"/>
            <a:ext cx="8676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用</a:t>
            </a:r>
            <a:r>
              <a:rPr lang="en-US" altLang="zh-CN" dirty="0">
                <a:latin typeface="Courier New" pitchFamily="49" charset="0"/>
                <a:ea typeface="微软雅黑" pitchFamily="34" charset="-122"/>
                <a:cs typeface="Courier New" pitchFamily="49" charset="0"/>
              </a:rPr>
              <a:t>while</a:t>
            </a:r>
            <a:r>
              <a:rPr lang="zh-CN" altLang="en-US" b="0" dirty="0"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实现 </a:t>
            </a:r>
            <a:r>
              <a:rPr lang="en-US" altLang="zh-CN" b="0" dirty="0">
                <a:latin typeface="Courier New" pitchFamily="49" charset="0"/>
                <a:ea typeface="微软雅黑" pitchFamily="34" charset="-122"/>
                <a:cs typeface="Courier New" pitchFamily="49" charset="0"/>
              </a:rPr>
              <a:t>s=1+2+3+…+100</a:t>
            </a:r>
            <a:endParaRPr lang="zh-CN" altLang="en-US" b="0" dirty="0"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5" name="AutoShape 44"/>
          <p:cNvSpPr>
            <a:spLocks noChangeArrowheads="1"/>
          </p:cNvSpPr>
          <p:nvPr/>
        </p:nvSpPr>
        <p:spPr bwMode="gray">
          <a:xfrm>
            <a:off x="6136507" y="995112"/>
            <a:ext cx="2880320" cy="1789721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ct val="5000"/>
              </a:spcBef>
            </a:pPr>
            <a:r>
              <a:rPr lang="en-US" altLang="zh-CN" sz="1400" dirty="0"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s = 0</a:t>
            </a:r>
          </a:p>
          <a:p>
            <a:pPr>
              <a:spcBef>
                <a:spcPct val="5000"/>
              </a:spcBef>
            </a:pP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term = 1</a:t>
            </a:r>
          </a:p>
          <a:p>
            <a:pPr>
              <a:spcBef>
                <a:spcPct val="5000"/>
              </a:spcBef>
            </a:pP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while 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term &lt;= 100:</a:t>
            </a:r>
          </a:p>
          <a:p>
            <a:pPr>
              <a:spcBef>
                <a:spcPct val="5000"/>
              </a:spcBef>
            </a:pP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s +=  term</a:t>
            </a:r>
          </a:p>
          <a:p>
            <a:pPr>
              <a:spcBef>
                <a:spcPct val="5000"/>
              </a:spcBef>
            </a:pP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term +=  1</a:t>
            </a:r>
          </a:p>
          <a:p>
            <a:pPr>
              <a:spcBef>
                <a:spcPct val="5000"/>
              </a:spcBef>
            </a:pP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</a:t>
            </a:r>
          </a:p>
        </p:txBody>
      </p:sp>
      <p:cxnSp>
        <p:nvCxnSpPr>
          <p:cNvPr id="9" name="直接连接符 8"/>
          <p:cNvCxnSpPr/>
          <p:nvPr/>
        </p:nvCxnSpPr>
        <p:spPr bwMode="auto">
          <a:xfrm>
            <a:off x="7181353" y="1851670"/>
            <a:ext cx="465402" cy="0"/>
          </a:xfrm>
          <a:prstGeom prst="line">
            <a:avLst/>
          </a:prstGeom>
          <a:noFill/>
          <a:ln w="28575" algn="ctr">
            <a:solidFill>
              <a:srgbClr val="C00000"/>
            </a:solidFill>
            <a:round/>
            <a:headEnd type="non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11" name="直接连接符 10"/>
          <p:cNvCxnSpPr/>
          <p:nvPr/>
        </p:nvCxnSpPr>
        <p:spPr bwMode="auto">
          <a:xfrm>
            <a:off x="7020272" y="2139702"/>
            <a:ext cx="1368152" cy="0"/>
          </a:xfrm>
          <a:prstGeom prst="line">
            <a:avLst/>
          </a:prstGeom>
          <a:noFill/>
          <a:ln w="28575" algn="ctr">
            <a:solidFill>
              <a:srgbClr val="C00000"/>
            </a:solidFill>
            <a:round/>
            <a:headEnd type="non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12" name="直接连接符 11"/>
          <p:cNvCxnSpPr/>
          <p:nvPr/>
        </p:nvCxnSpPr>
        <p:spPr bwMode="auto">
          <a:xfrm>
            <a:off x="7020272" y="2499742"/>
            <a:ext cx="1112791" cy="0"/>
          </a:xfrm>
          <a:prstGeom prst="line">
            <a:avLst/>
          </a:prstGeom>
          <a:noFill/>
          <a:ln w="28575" algn="ctr">
            <a:solidFill>
              <a:srgbClr val="C00000"/>
            </a:solidFill>
            <a:round/>
            <a:headEnd type="non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10" name="AutoShape 44"/>
          <p:cNvSpPr>
            <a:spLocks noChangeArrowheads="1"/>
          </p:cNvSpPr>
          <p:nvPr/>
        </p:nvSpPr>
        <p:spPr bwMode="gray">
          <a:xfrm>
            <a:off x="268585" y="3422721"/>
            <a:ext cx="7183735" cy="951875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ct val="5000"/>
              </a:spcBef>
            </a:pPr>
            <a:r>
              <a:rPr lang="zh-CN" altLang="en-US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程序的边界跟踪，就是最后一个数字的加入：</a:t>
            </a:r>
            <a:endParaRPr lang="en-US" altLang="zh-CN" sz="18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ct val="5000"/>
              </a:spcBef>
            </a:pPr>
            <a:r>
              <a:rPr lang="en-US" altLang="zh-CN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term=100</a:t>
            </a:r>
            <a:r>
              <a:rPr lang="zh-CN" altLang="en-US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时，</a:t>
            </a:r>
            <a:r>
              <a:rPr lang="en-US" altLang="zh-CN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term&lt;=100</a:t>
            </a:r>
            <a:r>
              <a:rPr lang="zh-CN" altLang="en-US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，循环还要执行，可以加到</a:t>
            </a:r>
            <a:r>
              <a:rPr lang="en-US" altLang="zh-CN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s</a:t>
            </a:r>
            <a:r>
              <a:rPr lang="zh-CN" altLang="en-US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中</a:t>
            </a:r>
            <a:endParaRPr lang="en-US" altLang="zh-CN" sz="18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ct val="5000"/>
              </a:spcBef>
            </a:pPr>
            <a:r>
              <a:rPr lang="zh-CN" altLang="en-US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之后再循环，</a:t>
            </a:r>
            <a:r>
              <a:rPr lang="en-US" altLang="zh-CN" sz="18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</a:t>
            </a:r>
            <a:r>
              <a:rPr lang="en-US" altLang="zh-CN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=101,while</a:t>
            </a:r>
            <a:r>
              <a:rPr lang="zh-CN" altLang="en-US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条件不符合</a:t>
            </a:r>
            <a:r>
              <a:rPr lang="en-US" altLang="zh-CN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</a:t>
            </a:r>
          </a:p>
        </p:txBody>
      </p:sp>
      <p:sp>
        <p:nvSpPr>
          <p:cNvPr id="3" name="矩形 2"/>
          <p:cNvSpPr/>
          <p:nvPr/>
        </p:nvSpPr>
        <p:spPr>
          <a:xfrm>
            <a:off x="467544" y="995112"/>
            <a:ext cx="25811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0" dirty="0">
                <a:latin typeface="Courier New" pitchFamily="49" charset="0"/>
                <a:ea typeface="微软雅黑" pitchFamily="34" charset="-122"/>
                <a:cs typeface="Courier New" pitchFamily="49" charset="0"/>
              </a:rPr>
              <a:t>s=1+2+3+…+100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899592" y="1600982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第</a:t>
            </a:r>
            <a:r>
              <a:rPr lang="en-US" altLang="zh-CN" sz="2000" dirty="0" err="1"/>
              <a:t>i</a:t>
            </a:r>
            <a:r>
              <a:rPr lang="zh-CN" altLang="en-US" sz="2000" dirty="0"/>
              <a:t>项</a:t>
            </a:r>
            <a:r>
              <a:rPr lang="en-US" altLang="zh-CN" sz="2000" dirty="0"/>
              <a:t>term</a:t>
            </a:r>
            <a:endParaRPr lang="zh-CN" altLang="en-US" sz="2000" dirty="0"/>
          </a:p>
        </p:txBody>
      </p:sp>
      <p:cxnSp>
        <p:nvCxnSpPr>
          <p:cNvPr id="13" name="直接箭头连接符 12"/>
          <p:cNvCxnSpPr>
            <a:stCxn id="6" idx="0"/>
          </p:cNvCxnSpPr>
          <p:nvPr/>
        </p:nvCxnSpPr>
        <p:spPr bwMode="auto">
          <a:xfrm flipV="1">
            <a:off x="1727684" y="1347614"/>
            <a:ext cx="36004" cy="253368"/>
          </a:xfrm>
          <a:prstGeom prst="straightConnector1">
            <a:avLst/>
          </a:prstGeom>
          <a:noFill/>
          <a:ln w="12700" algn="ctr">
            <a:solidFill>
              <a:srgbClr val="000066"/>
            </a:solidFill>
            <a:round/>
            <a:headEnd type="stealth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18" name="AutoShape 44"/>
          <p:cNvSpPr>
            <a:spLocks noChangeArrowheads="1"/>
          </p:cNvSpPr>
          <p:nvPr/>
        </p:nvSpPr>
        <p:spPr bwMode="gray">
          <a:xfrm>
            <a:off x="268585" y="2180838"/>
            <a:ext cx="5815583" cy="1110992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ct val="5000"/>
              </a:spcBef>
            </a:pPr>
            <a:r>
              <a:rPr lang="zh-CN" altLang="en-US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条件：</a:t>
            </a:r>
            <a:r>
              <a:rPr lang="en-US" altLang="zh-CN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term</a:t>
            </a:r>
            <a:r>
              <a:rPr lang="zh-CN" altLang="en-US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没有到</a:t>
            </a:r>
            <a:r>
              <a:rPr lang="en-US" altLang="zh-CN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100</a:t>
            </a:r>
            <a:r>
              <a:rPr lang="zh-CN" altLang="en-US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就要继续</a:t>
            </a:r>
            <a:endParaRPr lang="en-US" altLang="zh-CN" sz="18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ct val="5000"/>
              </a:spcBef>
            </a:pPr>
            <a:r>
              <a:rPr lang="zh-CN" altLang="en-US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初值：累加和  </a:t>
            </a:r>
            <a:r>
              <a:rPr lang="en-US" altLang="zh-CN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s=0,term=1</a:t>
            </a:r>
          </a:p>
          <a:p>
            <a:pPr>
              <a:spcBef>
                <a:spcPct val="5000"/>
              </a:spcBef>
            </a:pPr>
            <a:r>
              <a:rPr lang="zh-CN" altLang="en-US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后项与前项关系：增加</a:t>
            </a:r>
            <a:r>
              <a:rPr lang="en-US" altLang="zh-CN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58496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075248-278D-4549-BE70-D02AF00A9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While</a:t>
            </a:r>
            <a:r>
              <a:rPr lang="zh-CN" altLang="en-US" dirty="0"/>
              <a:t>循环的练习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041799-9077-4BBD-8573-B9B8DB6ED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8" y="987574"/>
            <a:ext cx="8229600" cy="3394472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dirty="0"/>
              <a:t>输入一组学生成绩，以</a:t>
            </a:r>
            <a:r>
              <a:rPr lang="en-US" altLang="zh-CN" sz="2400" dirty="0"/>
              <a:t>-1</a:t>
            </a:r>
            <a:r>
              <a:rPr lang="zh-CN" altLang="en-US" sz="2400" dirty="0"/>
              <a:t>为结束，计算所有人的平均分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1800" dirty="0" err="1">
                <a:solidFill>
                  <a:srgbClr val="C00000"/>
                </a:solidFill>
              </a:rPr>
              <a:t>cj</a:t>
            </a:r>
            <a:r>
              <a:rPr lang="en-US" altLang="zh-CN" sz="1800" dirty="0">
                <a:solidFill>
                  <a:srgbClr val="C00000"/>
                </a:solidFill>
              </a:rPr>
              <a:t>=float(input(“</a:t>
            </a:r>
            <a:r>
              <a:rPr lang="zh-CN" altLang="en-US" sz="1800" dirty="0">
                <a:solidFill>
                  <a:srgbClr val="C00000"/>
                </a:solidFill>
              </a:rPr>
              <a:t>请输入一个学生成绩</a:t>
            </a:r>
            <a:r>
              <a:rPr lang="en-US" altLang="zh-CN" sz="1800" dirty="0">
                <a:solidFill>
                  <a:srgbClr val="C00000"/>
                </a:solidFill>
              </a:rPr>
              <a:t>:”))  # </a:t>
            </a:r>
            <a:r>
              <a:rPr lang="zh-CN" altLang="en-US" sz="1800" dirty="0">
                <a:solidFill>
                  <a:srgbClr val="C00000"/>
                </a:solidFill>
              </a:rPr>
              <a:t>先输入第一个人的成绩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altLang="zh-CN" sz="1800" dirty="0"/>
              <a:t>n=0</a:t>
            </a:r>
          </a:p>
          <a:p>
            <a:pPr marL="0" indent="0">
              <a:buNone/>
            </a:pPr>
            <a:r>
              <a:rPr lang="en-US" altLang="zh-CN" sz="1800" dirty="0"/>
              <a:t>sum1=0</a:t>
            </a:r>
          </a:p>
          <a:p>
            <a:pPr marL="0" indent="0">
              <a:buNone/>
            </a:pPr>
            <a:r>
              <a:rPr lang="en-US" altLang="zh-CN" sz="1800" dirty="0"/>
              <a:t>while </a:t>
            </a:r>
            <a:r>
              <a:rPr lang="en-US" altLang="zh-CN" sz="1800" dirty="0" err="1">
                <a:solidFill>
                  <a:srgbClr val="C00000"/>
                </a:solidFill>
              </a:rPr>
              <a:t>cj</a:t>
            </a:r>
            <a:r>
              <a:rPr lang="en-US" altLang="zh-CN" sz="1800" dirty="0">
                <a:solidFill>
                  <a:srgbClr val="C00000"/>
                </a:solidFill>
              </a:rPr>
              <a:t> &gt;= 0:</a:t>
            </a:r>
          </a:p>
          <a:p>
            <a:pPr marL="0" indent="0">
              <a:buNone/>
            </a:pPr>
            <a:r>
              <a:rPr lang="en-US" altLang="zh-CN" sz="1800" dirty="0"/>
              <a:t>    sum1+=</a:t>
            </a:r>
            <a:r>
              <a:rPr lang="en-US" altLang="zh-CN" sz="1800" dirty="0" err="1"/>
              <a:t>cj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    n+=1         # </a:t>
            </a:r>
            <a:r>
              <a:rPr lang="zh-CN" altLang="en-US" sz="1800" dirty="0"/>
              <a:t>成绩加到总和上后，人数加</a:t>
            </a:r>
            <a:r>
              <a:rPr lang="en-US" altLang="zh-CN" sz="1800" dirty="0"/>
              <a:t>1</a:t>
            </a:r>
          </a:p>
          <a:p>
            <a:pPr marL="0" indent="0">
              <a:buNone/>
            </a:pPr>
            <a:r>
              <a:rPr lang="en-US" altLang="zh-CN" sz="1800" dirty="0"/>
              <a:t>    </a:t>
            </a:r>
            <a:r>
              <a:rPr lang="en-US" altLang="zh-CN" sz="1800" dirty="0" err="1">
                <a:solidFill>
                  <a:srgbClr val="C00000"/>
                </a:solidFill>
              </a:rPr>
              <a:t>cj</a:t>
            </a:r>
            <a:r>
              <a:rPr lang="en-US" altLang="zh-CN" sz="1800" dirty="0">
                <a:solidFill>
                  <a:srgbClr val="C00000"/>
                </a:solidFill>
              </a:rPr>
              <a:t>=float(input("</a:t>
            </a:r>
            <a:r>
              <a:rPr lang="zh-CN" altLang="en-US" sz="1800" dirty="0">
                <a:solidFill>
                  <a:srgbClr val="C00000"/>
                </a:solidFill>
              </a:rPr>
              <a:t>请输入一个学生成绩</a:t>
            </a:r>
            <a:r>
              <a:rPr lang="en-US" altLang="zh-CN" sz="1800" dirty="0">
                <a:solidFill>
                  <a:srgbClr val="C00000"/>
                </a:solidFill>
              </a:rPr>
              <a:t>:"))</a:t>
            </a:r>
          </a:p>
          <a:p>
            <a:pPr marL="0" indent="0">
              <a:buNone/>
            </a:pPr>
            <a:r>
              <a:rPr lang="en-US" altLang="zh-CN" sz="1800" dirty="0" err="1"/>
              <a:t>avg</a:t>
            </a:r>
            <a:r>
              <a:rPr lang="en-US" altLang="zh-CN" sz="1800" dirty="0"/>
              <a:t>=sum1/n</a:t>
            </a:r>
          </a:p>
          <a:p>
            <a:pPr marL="0" indent="0">
              <a:buNone/>
            </a:pPr>
            <a:r>
              <a:rPr lang="en-US" altLang="zh-CN" sz="1800" dirty="0"/>
              <a:t>print("</a:t>
            </a:r>
            <a:r>
              <a:rPr lang="zh-CN" altLang="en-US" sz="1800" dirty="0"/>
              <a:t>平均成绩：</a:t>
            </a:r>
            <a:r>
              <a:rPr lang="en-US" altLang="zh-CN" sz="1800" dirty="0"/>
              <a:t>%5.2f"%avg)</a:t>
            </a:r>
            <a:endParaRPr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9D7464-2542-4008-B655-4D6A533615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7C270E-26C8-4352-BE21-3DBF4A2EC019}" type="slidenum">
              <a:rPr lang="en-US" altLang="zh-CN" smtClean="0"/>
              <a:pPr>
                <a:defRPr/>
              </a:pPr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5924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3D2E68-3D01-4F38-80D6-FE95F676F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37579"/>
          </a:xfrm>
        </p:spPr>
        <p:txBody>
          <a:bodyPr/>
          <a:lstStyle/>
          <a:p>
            <a:r>
              <a:rPr lang="zh-CN" altLang="en-US" sz="2400" dirty="0"/>
              <a:t>求全班的最高分、最低分  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D39780-D881-4E22-8AE7-1BD57DB2AA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843558"/>
            <a:ext cx="8229600" cy="3312368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800" dirty="0"/>
              <a:t>先输入第一个同学的成绩，同时将其作为最高分和最低分，分别记录</a:t>
            </a:r>
            <a:endParaRPr lang="en-US" altLang="zh-CN" sz="1800" dirty="0"/>
          </a:p>
          <a:p>
            <a:pPr marL="0" indent="0">
              <a:buNone/>
            </a:pPr>
            <a:r>
              <a:rPr lang="zh-CN" altLang="en-US" sz="1800" dirty="0"/>
              <a:t>循环输入其他同学成绩</a:t>
            </a:r>
            <a:endParaRPr lang="en-US" altLang="zh-CN" sz="1800" dirty="0"/>
          </a:p>
          <a:p>
            <a:pPr marL="0" indent="0">
              <a:buNone/>
            </a:pPr>
            <a:r>
              <a:rPr lang="zh-CN" altLang="en-US" sz="1800" dirty="0"/>
              <a:t>当前值大于最高分，则将其赋给最高分变量</a:t>
            </a:r>
            <a:endParaRPr lang="en-US" altLang="zh-CN" sz="1800" dirty="0"/>
          </a:p>
          <a:p>
            <a:pPr marL="0" indent="0">
              <a:buNone/>
            </a:pPr>
            <a:r>
              <a:rPr lang="zh-CN" altLang="en-US" sz="1800" dirty="0"/>
              <a:t>当前值小于最低分，则将其赋给最低分变量</a:t>
            </a:r>
            <a:endParaRPr lang="en-US" altLang="zh-CN" sz="1800" dirty="0"/>
          </a:p>
          <a:p>
            <a:pPr marL="0" indent="0">
              <a:buNone/>
            </a:pPr>
            <a:r>
              <a:rPr lang="zh-CN" altLang="en-US" sz="1800" dirty="0"/>
              <a:t>直到循环结束</a:t>
            </a:r>
            <a:endParaRPr lang="en-US" altLang="zh-CN" sz="1800" dirty="0"/>
          </a:p>
          <a:p>
            <a:pPr marL="0" indent="0">
              <a:buNone/>
            </a:pPr>
            <a:endParaRPr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E6F75F-FFE8-40D6-8BD4-83C5282C91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7C270E-26C8-4352-BE21-3DBF4A2EC019}" type="slidenum">
              <a:rPr lang="en-US" altLang="zh-CN" smtClean="0"/>
              <a:pPr>
                <a:defRPr/>
              </a:pPr>
              <a:t>46</a:t>
            </a:fld>
            <a:endParaRPr lang="en-US" altLang="zh-CN"/>
          </a:p>
        </p:txBody>
      </p:sp>
      <p:sp>
        <p:nvSpPr>
          <p:cNvPr id="5" name="标注: 弯曲线形 4">
            <a:extLst>
              <a:ext uri="{FF2B5EF4-FFF2-40B4-BE49-F238E27FC236}">
                <a16:creationId xmlns:a16="http://schemas.microsoft.com/office/drawing/2014/main" id="{6D74D5F1-3915-4FB3-B4E7-5A850D7FC071}"/>
              </a:ext>
            </a:extLst>
          </p:cNvPr>
          <p:cNvSpPr/>
          <p:nvPr/>
        </p:nvSpPr>
        <p:spPr bwMode="auto">
          <a:xfrm>
            <a:off x="4355976" y="1491630"/>
            <a:ext cx="2304256" cy="864096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4898"/>
              <a:gd name="adj6" fmla="val -124492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6" name="对话气泡: 椭圆形 5">
            <a:extLst>
              <a:ext uri="{FF2B5EF4-FFF2-40B4-BE49-F238E27FC236}">
                <a16:creationId xmlns:a16="http://schemas.microsoft.com/office/drawing/2014/main" id="{7D917BAF-B03F-4BC4-A38B-F4E1094F2E2B}"/>
              </a:ext>
            </a:extLst>
          </p:cNvPr>
          <p:cNvSpPr/>
          <p:nvPr/>
        </p:nvSpPr>
        <p:spPr bwMode="auto">
          <a:xfrm>
            <a:off x="4211960" y="1481137"/>
            <a:ext cx="2304256" cy="874589"/>
          </a:xfrm>
          <a:prstGeom prst="wedgeEllipseCallou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07729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3D2E68-3D01-4F38-80D6-FE95F676F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37579"/>
          </a:xfrm>
        </p:spPr>
        <p:txBody>
          <a:bodyPr/>
          <a:lstStyle/>
          <a:p>
            <a:r>
              <a:rPr lang="zh-CN" altLang="en-US" sz="2400" dirty="0"/>
              <a:t>求全班的最高分、最低分  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D39780-D881-4E22-8AE7-1BD57DB2AA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843558"/>
            <a:ext cx="8229600" cy="3384376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800" dirty="0" err="1"/>
              <a:t>cj</a:t>
            </a:r>
            <a:r>
              <a:rPr lang="en-US" altLang="zh-CN" sz="1800" dirty="0"/>
              <a:t>=float(input(“</a:t>
            </a:r>
            <a:r>
              <a:rPr lang="zh-CN" altLang="en-US" sz="1800" dirty="0"/>
              <a:t>请输入一个学生成绩，</a:t>
            </a:r>
            <a:r>
              <a:rPr lang="en-US" altLang="zh-CN" sz="1800" dirty="0"/>
              <a:t>-1</a:t>
            </a:r>
            <a:r>
              <a:rPr lang="zh-CN" altLang="en-US" sz="1800" dirty="0"/>
              <a:t>结束</a:t>
            </a:r>
            <a:r>
              <a:rPr lang="en-US" altLang="zh-CN" sz="1800" dirty="0"/>
              <a:t>:"))</a:t>
            </a:r>
          </a:p>
          <a:p>
            <a:pPr marL="0" indent="0" eaLnBrk="1" hangingPunct="1">
              <a:lnSpc>
                <a:spcPct val="120000"/>
              </a:lnSpc>
              <a:spcBef>
                <a:spcPct val="50000"/>
              </a:spcBef>
              <a:buNone/>
            </a:pPr>
            <a:r>
              <a:rPr kumimoji="1" lang="en-US" altLang="zh-CN" sz="1800" b="1" dirty="0">
                <a:solidFill>
                  <a:srgbClr val="A50021"/>
                </a:solidFill>
                <a:latin typeface="Arial" charset="0"/>
                <a:ea typeface="黑体" pitchFamily="2" charset="-122"/>
              </a:rPr>
              <a:t>max1=min1=</a:t>
            </a:r>
            <a:r>
              <a:rPr kumimoji="1" lang="en-US" altLang="zh-CN" sz="1800" b="1" dirty="0" err="1">
                <a:solidFill>
                  <a:srgbClr val="A50021"/>
                </a:solidFill>
                <a:latin typeface="Arial" charset="0"/>
                <a:ea typeface="黑体" pitchFamily="2" charset="-122"/>
              </a:rPr>
              <a:t>cj</a:t>
            </a:r>
            <a:endParaRPr kumimoji="1" lang="zh-CN" altLang="en-US" sz="1800" b="1" dirty="0">
              <a:solidFill>
                <a:srgbClr val="A50021"/>
              </a:solidFill>
              <a:latin typeface="Arial" charset="0"/>
              <a:ea typeface="黑体" pitchFamily="2" charset="-122"/>
            </a:endParaRPr>
          </a:p>
          <a:p>
            <a:pPr marL="0" indent="0">
              <a:buNone/>
            </a:pPr>
            <a:r>
              <a:rPr lang="en-US" altLang="zh-CN" sz="1800" dirty="0"/>
              <a:t>while </a:t>
            </a:r>
            <a:r>
              <a:rPr lang="en-US" altLang="zh-CN" sz="1800" dirty="0" err="1"/>
              <a:t>cj</a:t>
            </a:r>
            <a:r>
              <a:rPr lang="en-US" altLang="zh-CN" sz="1800" dirty="0"/>
              <a:t> &gt;= 0:</a:t>
            </a:r>
          </a:p>
          <a:p>
            <a:pPr marL="0" indent="0">
              <a:buNone/>
            </a:pPr>
            <a:r>
              <a:rPr lang="en-US" altLang="zh-CN" sz="1800" dirty="0"/>
              <a:t>    </a:t>
            </a:r>
            <a:r>
              <a:rPr lang="en-US" altLang="zh-CN" sz="1800" dirty="0">
                <a:solidFill>
                  <a:srgbClr val="C00000"/>
                </a:solidFill>
              </a:rPr>
              <a:t>if </a:t>
            </a:r>
            <a:r>
              <a:rPr lang="en-US" altLang="zh-CN" sz="1800" dirty="0" err="1">
                <a:solidFill>
                  <a:srgbClr val="C00000"/>
                </a:solidFill>
              </a:rPr>
              <a:t>cj</a:t>
            </a:r>
            <a:r>
              <a:rPr lang="en-US" altLang="zh-CN" sz="1800" dirty="0">
                <a:solidFill>
                  <a:srgbClr val="C00000"/>
                </a:solidFill>
              </a:rPr>
              <a:t>&gt;max1: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C00000"/>
                </a:solidFill>
              </a:rPr>
              <a:t>        max1=</a:t>
            </a:r>
            <a:r>
              <a:rPr lang="en-US" altLang="zh-CN" sz="1800" dirty="0" err="1">
                <a:solidFill>
                  <a:srgbClr val="C00000"/>
                </a:solidFill>
              </a:rPr>
              <a:t>cj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altLang="zh-CN" sz="1800" dirty="0">
                <a:solidFill>
                  <a:srgbClr val="C00000"/>
                </a:solidFill>
              </a:rPr>
              <a:t>    if </a:t>
            </a:r>
            <a:r>
              <a:rPr lang="en-US" altLang="zh-CN" sz="1800" dirty="0" err="1">
                <a:solidFill>
                  <a:srgbClr val="C00000"/>
                </a:solidFill>
              </a:rPr>
              <a:t>cj</a:t>
            </a:r>
            <a:r>
              <a:rPr lang="en-US" altLang="zh-CN" sz="1800" dirty="0">
                <a:solidFill>
                  <a:srgbClr val="C00000"/>
                </a:solidFill>
              </a:rPr>
              <a:t>&lt;min1: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C00000"/>
                </a:solidFill>
              </a:rPr>
              <a:t>        min1=</a:t>
            </a:r>
            <a:r>
              <a:rPr lang="en-US" altLang="zh-CN" sz="1800" dirty="0" err="1">
                <a:solidFill>
                  <a:srgbClr val="C00000"/>
                </a:solidFill>
              </a:rPr>
              <a:t>cj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altLang="zh-CN" sz="1800" dirty="0"/>
              <a:t>    </a:t>
            </a:r>
            <a:r>
              <a:rPr lang="en-US" altLang="zh-CN" sz="1800" dirty="0" err="1"/>
              <a:t>cj</a:t>
            </a:r>
            <a:r>
              <a:rPr lang="en-US" altLang="zh-CN" sz="1800" dirty="0"/>
              <a:t>=float(input(“</a:t>
            </a:r>
            <a:r>
              <a:rPr lang="zh-CN" altLang="en-US" sz="1800" dirty="0"/>
              <a:t>请输入一个学生成绩，</a:t>
            </a:r>
            <a:r>
              <a:rPr lang="en-US" altLang="zh-CN" sz="1800" dirty="0"/>
              <a:t>-1</a:t>
            </a:r>
            <a:r>
              <a:rPr lang="zh-CN" altLang="en-US" sz="1800" dirty="0"/>
              <a:t>结束</a:t>
            </a:r>
            <a:r>
              <a:rPr lang="en-US" altLang="zh-CN" sz="1800" dirty="0"/>
              <a:t>:"))</a:t>
            </a:r>
          </a:p>
          <a:p>
            <a:pPr marL="0" indent="0">
              <a:buNone/>
            </a:pPr>
            <a:r>
              <a:rPr lang="en-US" altLang="zh-CN" sz="1800" dirty="0"/>
              <a:t>print("</a:t>
            </a:r>
            <a:r>
              <a:rPr lang="zh-CN" altLang="en-US" sz="1800" dirty="0"/>
              <a:t>最高分：</a:t>
            </a:r>
            <a:r>
              <a:rPr lang="en-US" altLang="zh-CN" sz="1800" dirty="0"/>
              <a:t>%5.2f</a:t>
            </a:r>
            <a:r>
              <a:rPr lang="zh-CN" altLang="en-US" sz="1800" dirty="0"/>
              <a:t>，最低分：：</a:t>
            </a:r>
            <a:r>
              <a:rPr lang="en-US" altLang="zh-CN" sz="1800" dirty="0"/>
              <a:t>%5.2f"%(</a:t>
            </a:r>
            <a:r>
              <a:rPr lang="en-US" altLang="zh-CN" sz="1800" dirty="0" err="1"/>
              <a:t>max,min</a:t>
            </a:r>
            <a:r>
              <a:rPr lang="en-US" altLang="zh-CN" sz="1800" dirty="0"/>
              <a:t>))</a:t>
            </a:r>
            <a:endParaRPr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E6F75F-FFE8-40D6-8BD4-83C5282C91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7C270E-26C8-4352-BE21-3DBF4A2EC019}" type="slidenum">
              <a:rPr lang="en-US" altLang="zh-CN" smtClean="0"/>
              <a:pPr>
                <a:defRPr/>
              </a:pPr>
              <a:t>47</a:t>
            </a:fld>
            <a:endParaRPr lang="en-US" altLang="zh-CN"/>
          </a:p>
        </p:txBody>
      </p:sp>
      <p:sp>
        <p:nvSpPr>
          <p:cNvPr id="5" name="标注: 弯曲线形 4">
            <a:extLst>
              <a:ext uri="{FF2B5EF4-FFF2-40B4-BE49-F238E27FC236}">
                <a16:creationId xmlns:a16="http://schemas.microsoft.com/office/drawing/2014/main" id="{6D74D5F1-3915-4FB3-B4E7-5A850D7FC071}"/>
              </a:ext>
            </a:extLst>
          </p:cNvPr>
          <p:cNvSpPr/>
          <p:nvPr/>
        </p:nvSpPr>
        <p:spPr bwMode="auto">
          <a:xfrm>
            <a:off x="4355976" y="1491630"/>
            <a:ext cx="2304256" cy="864096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4898"/>
              <a:gd name="adj6" fmla="val -124492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6" name="对话气泡: 椭圆形 5">
            <a:extLst>
              <a:ext uri="{FF2B5EF4-FFF2-40B4-BE49-F238E27FC236}">
                <a16:creationId xmlns:a16="http://schemas.microsoft.com/office/drawing/2014/main" id="{7D917BAF-B03F-4BC4-A38B-F4E1094F2E2B}"/>
              </a:ext>
            </a:extLst>
          </p:cNvPr>
          <p:cNvSpPr/>
          <p:nvPr/>
        </p:nvSpPr>
        <p:spPr bwMode="auto">
          <a:xfrm>
            <a:off x="4211960" y="1481137"/>
            <a:ext cx="2304256" cy="874589"/>
          </a:xfrm>
          <a:prstGeom prst="wedgeEllipseCallou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165643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9"/>
          <p:cNvSpPr>
            <a:spLocks noChangeArrowheads="1"/>
          </p:cNvSpPr>
          <p:nvPr/>
        </p:nvSpPr>
        <p:spPr bwMode="auto">
          <a:xfrm>
            <a:off x="92075" y="268288"/>
            <a:ext cx="8915400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b="0"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例 用辗转相除法求两自然数的最大公约数</a:t>
            </a:r>
            <a:r>
              <a:rPr lang="zh-CN" altLang="en-US" sz="1800">
                <a:latin typeface="Courier New" pitchFamily="49" charset="0"/>
                <a:ea typeface="微软雅黑" pitchFamily="34" charset="-122"/>
                <a:cs typeface="Courier New" pitchFamily="49" charset="0"/>
              </a:rPr>
              <a:t>。</a:t>
            </a:r>
          </a:p>
        </p:txBody>
      </p:sp>
      <p:sp>
        <p:nvSpPr>
          <p:cNvPr id="17416" name="Rectangle 18"/>
          <p:cNvSpPr>
            <a:spLocks noChangeArrowheads="1"/>
          </p:cNvSpPr>
          <p:nvPr/>
        </p:nvSpPr>
        <p:spPr bwMode="auto">
          <a:xfrm>
            <a:off x="0" y="-268288"/>
            <a:ext cx="184150" cy="536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184150" y="987574"/>
            <a:ext cx="4243834" cy="105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求最大公约数的算法思想：</a:t>
            </a:r>
          </a:p>
          <a:p>
            <a:endParaRPr lang="zh-CN" altLang="en-US"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28" y="1513872"/>
            <a:ext cx="3384376" cy="1732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  <a:spcBef>
                <a:spcPct val="5000"/>
              </a:spcBef>
            </a:pPr>
            <a:r>
              <a:rPr lang="en-US" altLang="zh-CN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(1)</a:t>
            </a:r>
            <a:r>
              <a:rPr lang="zh-CN" altLang="en-US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对比两数 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m</a:t>
            </a:r>
            <a:r>
              <a:rPr lang="zh-CN" altLang="en-US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、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n</a:t>
            </a:r>
            <a:r>
              <a:rPr lang="zh-CN" altLang="en-US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，调整，使得</a:t>
            </a:r>
            <a:r>
              <a:rPr lang="en-US" altLang="zh-CN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m&gt;n</a:t>
            </a:r>
          </a:p>
          <a:p>
            <a:pPr>
              <a:lnSpc>
                <a:spcPct val="110000"/>
              </a:lnSpc>
              <a:spcBef>
                <a:spcPct val="5000"/>
              </a:spcBef>
            </a:pPr>
            <a:r>
              <a:rPr lang="en-US" altLang="zh-CN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(2)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m </a:t>
            </a:r>
            <a:r>
              <a:rPr lang="zh-CN" altLang="en-US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除</a:t>
            </a:r>
            <a:r>
              <a:rPr lang="zh-CN" altLang="en-US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以 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n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</a:t>
            </a:r>
            <a:r>
              <a:rPr lang="zh-CN" altLang="en-US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得余数 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r</a:t>
            </a:r>
          </a:p>
          <a:p>
            <a:pPr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(3)</a:t>
            </a:r>
            <a:r>
              <a:rPr lang="zh-CN" altLang="en-US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若除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r&lt;&gt;0</a:t>
            </a:r>
            <a:r>
              <a:rPr lang="zh-CN" altLang="en-US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，则：</a:t>
            </a:r>
          </a:p>
          <a:p>
            <a:pPr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</a:t>
            </a:r>
            <a:r>
              <a:rPr lang="en-US" altLang="zh-CN" sz="1600" dirty="0" err="1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m</a:t>
            </a:r>
            <a:r>
              <a:rPr lang="en-US" altLang="zh-CN" sz="1600" b="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  <a:sym typeface="Wingdings"/>
              </a:rPr>
              <a:t></a:t>
            </a:r>
            <a:r>
              <a:rPr lang="en-US" altLang="zh-CN" sz="1600" dirty="0" err="1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n</a:t>
            </a:r>
            <a:r>
              <a:rPr lang="zh-CN" altLang="en-US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，</a:t>
            </a:r>
            <a:r>
              <a:rPr lang="en-US" altLang="zh-CN" sz="1600" dirty="0" err="1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n</a:t>
            </a:r>
            <a:r>
              <a:rPr lang="en-US" altLang="zh-CN" sz="1600" b="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  <a:sym typeface="Wingdings"/>
              </a:rPr>
              <a:t></a:t>
            </a:r>
            <a:r>
              <a:rPr lang="en-US" altLang="zh-CN" sz="1600" dirty="0" err="1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r</a:t>
            </a:r>
            <a:r>
              <a:rPr lang="zh-CN" altLang="en-US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，再重复执行</a:t>
            </a:r>
            <a:r>
              <a:rPr lang="en-US" altLang="zh-CN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(2)</a:t>
            </a:r>
          </a:p>
          <a:p>
            <a:pPr ea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</a:t>
            </a:r>
            <a:r>
              <a:rPr lang="zh-CN" altLang="en-US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否则 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n</a:t>
            </a:r>
            <a:r>
              <a:rPr lang="zh-CN" altLang="en-US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为最大公约数，结束</a:t>
            </a:r>
          </a:p>
        </p:txBody>
      </p:sp>
      <p:sp>
        <p:nvSpPr>
          <p:cNvPr id="12" name="菱形 4"/>
          <p:cNvSpPr>
            <a:spLocks noChangeArrowheads="1"/>
          </p:cNvSpPr>
          <p:nvPr/>
        </p:nvSpPr>
        <p:spPr bwMode="auto">
          <a:xfrm>
            <a:off x="3976835" y="2315612"/>
            <a:ext cx="1943893" cy="355368"/>
          </a:xfrm>
          <a:prstGeom prst="diamond">
            <a:avLst/>
          </a:prstGeom>
          <a:noFill/>
          <a:ln w="19050" algn="ctr">
            <a:solidFill>
              <a:srgbClr val="6666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ts val="1300"/>
              </a:lnSpc>
              <a:spcBef>
                <a:spcPct val="0"/>
              </a:spcBef>
            </a:pP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r&lt;&gt;0</a:t>
            </a:r>
            <a:endParaRPr lang="zh-CN" altLang="en-US" sz="140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13" name="矩形 5"/>
          <p:cNvSpPr>
            <a:spLocks noChangeArrowheads="1"/>
          </p:cNvSpPr>
          <p:nvPr/>
        </p:nvSpPr>
        <p:spPr bwMode="auto">
          <a:xfrm>
            <a:off x="4355445" y="1170477"/>
            <a:ext cx="1229072" cy="473976"/>
          </a:xfrm>
          <a:prstGeom prst="rect">
            <a:avLst/>
          </a:prstGeom>
          <a:noFill/>
          <a:ln w="19050" algn="ctr">
            <a:solidFill>
              <a:srgbClr val="6666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bIns="0" anchor="ctr">
            <a:spAutoFit/>
          </a:bodyPr>
          <a:lstStyle/>
          <a:p>
            <a:pPr algn="ctr"/>
            <a:r>
              <a:rPr lang="zh-CN" altLang="en-US" sz="14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输入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m</a:t>
            </a:r>
            <a:r>
              <a:rPr lang="zh-CN" altLang="en-US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、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zh-CN" altLang="en-US" sz="14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使得 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m&gt;n</a:t>
            </a:r>
          </a:p>
        </p:txBody>
      </p:sp>
      <p:cxnSp>
        <p:nvCxnSpPr>
          <p:cNvPr id="14" name="直接连接符 8"/>
          <p:cNvCxnSpPr>
            <a:cxnSpLocks noChangeShapeType="1"/>
          </p:cNvCxnSpPr>
          <p:nvPr/>
        </p:nvCxnSpPr>
        <p:spPr bwMode="auto">
          <a:xfrm flipH="1">
            <a:off x="3859323" y="3728935"/>
            <a:ext cx="1080000" cy="0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直接连接符 12"/>
          <p:cNvCxnSpPr>
            <a:cxnSpLocks noChangeShapeType="1"/>
          </p:cNvCxnSpPr>
          <p:nvPr/>
        </p:nvCxnSpPr>
        <p:spPr bwMode="auto">
          <a:xfrm>
            <a:off x="4939096" y="3586060"/>
            <a:ext cx="0" cy="142875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TextBox 14"/>
          <p:cNvSpPr txBox="1">
            <a:spLocks noChangeArrowheads="1"/>
          </p:cNvSpPr>
          <p:nvPr/>
        </p:nvSpPr>
        <p:spPr bwMode="auto">
          <a:xfrm>
            <a:off x="5547759" y="2178405"/>
            <a:ext cx="792162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1400"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False</a:t>
            </a:r>
            <a:endParaRPr lang="zh-CN" altLang="en-US" sz="1800"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cxnSp>
        <p:nvCxnSpPr>
          <p:cNvPr id="17" name="直接连接符 30"/>
          <p:cNvCxnSpPr>
            <a:cxnSpLocks noChangeShapeType="1"/>
          </p:cNvCxnSpPr>
          <p:nvPr/>
        </p:nvCxnSpPr>
        <p:spPr bwMode="auto">
          <a:xfrm>
            <a:off x="3851920" y="2198674"/>
            <a:ext cx="1" cy="1530261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直接连接符 31"/>
          <p:cNvCxnSpPr>
            <a:cxnSpLocks noChangeShapeType="1"/>
          </p:cNvCxnSpPr>
          <p:nvPr/>
        </p:nvCxnSpPr>
        <p:spPr bwMode="auto">
          <a:xfrm flipH="1">
            <a:off x="3851921" y="2198674"/>
            <a:ext cx="1081239" cy="5189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直接连接符 34"/>
          <p:cNvCxnSpPr>
            <a:cxnSpLocks noChangeShapeType="1"/>
          </p:cNvCxnSpPr>
          <p:nvPr/>
        </p:nvCxnSpPr>
        <p:spPr bwMode="auto">
          <a:xfrm>
            <a:off x="4948781" y="2067274"/>
            <a:ext cx="1" cy="262800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" name="直接连接符 35"/>
          <p:cNvCxnSpPr>
            <a:cxnSpLocks noChangeShapeType="1"/>
          </p:cNvCxnSpPr>
          <p:nvPr/>
        </p:nvCxnSpPr>
        <p:spPr bwMode="auto">
          <a:xfrm>
            <a:off x="4939096" y="2658879"/>
            <a:ext cx="0" cy="288925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矩形 5"/>
          <p:cNvSpPr>
            <a:spLocks noChangeArrowheads="1"/>
          </p:cNvSpPr>
          <p:nvPr/>
        </p:nvSpPr>
        <p:spPr bwMode="auto">
          <a:xfrm>
            <a:off x="4120429" y="2926033"/>
            <a:ext cx="1620838" cy="646331"/>
          </a:xfrm>
          <a:prstGeom prst="rect">
            <a:avLst/>
          </a:prstGeom>
          <a:noFill/>
          <a:ln w="19050" algn="ctr">
            <a:solidFill>
              <a:srgbClr val="666633"/>
            </a:solidFill>
            <a:round/>
            <a:headEnd/>
            <a:tailEnd/>
          </a:ln>
        </p:spPr>
        <p:txBody>
          <a:bodyPr l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m=n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n=r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r=m % n</a:t>
            </a:r>
          </a:p>
        </p:txBody>
      </p:sp>
      <p:cxnSp>
        <p:nvCxnSpPr>
          <p:cNvPr id="23" name="直接连接符 45"/>
          <p:cNvCxnSpPr>
            <a:cxnSpLocks noChangeShapeType="1"/>
          </p:cNvCxnSpPr>
          <p:nvPr/>
        </p:nvCxnSpPr>
        <p:spPr bwMode="auto">
          <a:xfrm>
            <a:off x="5095606" y="3788388"/>
            <a:ext cx="0" cy="215900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直接连接符 61"/>
          <p:cNvCxnSpPr>
            <a:cxnSpLocks noChangeShapeType="1"/>
          </p:cNvCxnSpPr>
          <p:nvPr/>
        </p:nvCxnSpPr>
        <p:spPr bwMode="auto">
          <a:xfrm flipH="1" flipV="1">
            <a:off x="5921051" y="2494444"/>
            <a:ext cx="144000" cy="0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直接连接符 63"/>
          <p:cNvCxnSpPr>
            <a:cxnSpLocks noChangeShapeType="1"/>
          </p:cNvCxnSpPr>
          <p:nvPr/>
        </p:nvCxnSpPr>
        <p:spPr bwMode="auto">
          <a:xfrm flipH="1">
            <a:off x="6059072" y="2493416"/>
            <a:ext cx="0" cy="1288013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直接连接符 73"/>
          <p:cNvCxnSpPr>
            <a:cxnSpLocks noChangeShapeType="1"/>
          </p:cNvCxnSpPr>
          <p:nvPr/>
        </p:nvCxnSpPr>
        <p:spPr bwMode="auto">
          <a:xfrm flipH="1">
            <a:off x="5083609" y="3781429"/>
            <a:ext cx="990000" cy="0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" name="矩形 5"/>
          <p:cNvSpPr>
            <a:spLocks noChangeArrowheads="1"/>
          </p:cNvSpPr>
          <p:nvPr/>
        </p:nvSpPr>
        <p:spPr bwMode="auto">
          <a:xfrm>
            <a:off x="4035591" y="3969402"/>
            <a:ext cx="2135686" cy="258532"/>
          </a:xfrm>
          <a:prstGeom prst="rect">
            <a:avLst/>
          </a:prstGeom>
          <a:noFill/>
          <a:ln w="19050" algn="ctr">
            <a:solidFill>
              <a:srgbClr val="6666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bIns="0" anchor="ctr">
            <a:spAutoFit/>
          </a:bodyPr>
          <a:lstStyle/>
          <a:p>
            <a:pPr algn="ctr"/>
            <a:r>
              <a:rPr lang="zh-CN" altLang="en-US" sz="14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显示结果 </a:t>
            </a:r>
            <a:r>
              <a:rPr lang="en-US" altLang="zh-CN" sz="14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n</a:t>
            </a:r>
            <a:r>
              <a:rPr lang="zh-CN" altLang="en-US" sz="14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为最大公约数</a:t>
            </a:r>
          </a:p>
        </p:txBody>
      </p:sp>
      <p:sp>
        <p:nvSpPr>
          <p:cNvPr id="28" name="TextBox 79"/>
          <p:cNvSpPr txBox="1">
            <a:spLocks noChangeArrowheads="1"/>
          </p:cNvSpPr>
          <p:nvPr/>
        </p:nvSpPr>
        <p:spPr bwMode="auto">
          <a:xfrm>
            <a:off x="4899687" y="2627908"/>
            <a:ext cx="764609" cy="35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True</a:t>
            </a:r>
            <a:endParaRPr lang="zh-CN" altLang="en-US" sz="140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30" name="矩形 5"/>
          <p:cNvSpPr>
            <a:spLocks noChangeArrowheads="1"/>
          </p:cNvSpPr>
          <p:nvPr/>
        </p:nvSpPr>
        <p:spPr bwMode="auto">
          <a:xfrm>
            <a:off x="4413429" y="1850966"/>
            <a:ext cx="1171088" cy="215444"/>
          </a:xfrm>
          <a:prstGeom prst="rect">
            <a:avLst/>
          </a:prstGeom>
          <a:noFill/>
          <a:ln w="19050" algn="ctr">
            <a:solidFill>
              <a:srgbClr val="6666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bIns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r=m </a:t>
            </a:r>
            <a:r>
              <a:rPr lang="en-US" altLang="zh-CN" sz="14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%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n</a:t>
            </a:r>
          </a:p>
        </p:txBody>
      </p:sp>
      <p:cxnSp>
        <p:nvCxnSpPr>
          <p:cNvPr id="31" name="直接连接符 34"/>
          <p:cNvCxnSpPr>
            <a:cxnSpLocks noChangeShapeType="1"/>
          </p:cNvCxnSpPr>
          <p:nvPr/>
        </p:nvCxnSpPr>
        <p:spPr bwMode="auto">
          <a:xfrm>
            <a:off x="4965947" y="1653380"/>
            <a:ext cx="1" cy="190800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" name="AutoShape 44"/>
          <p:cNvSpPr>
            <a:spLocks noChangeArrowheads="1"/>
          </p:cNvSpPr>
          <p:nvPr/>
        </p:nvSpPr>
        <p:spPr bwMode="gray">
          <a:xfrm>
            <a:off x="1115616" y="3147690"/>
            <a:ext cx="1573559" cy="1152252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</a:pP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m    n    r</a:t>
            </a:r>
          </a:p>
          <a:p>
            <a:pPr eaLnBrk="0" hangingPunct="0">
              <a:lnSpc>
                <a:spcPct val="100000"/>
              </a:lnSpc>
              <a:spcBef>
                <a:spcPct val="0"/>
              </a:spcBef>
            </a:pP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24   10   4</a:t>
            </a:r>
          </a:p>
          <a:p>
            <a:pPr marL="342900" indent="-342900" eaLnBrk="0" hangingPunct="0">
              <a:lnSpc>
                <a:spcPct val="100000"/>
              </a:lnSpc>
              <a:spcBef>
                <a:spcPct val="0"/>
              </a:spcBef>
              <a:buAutoNum type="arabicPlain" startAt="10"/>
            </a:pP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  4    2</a:t>
            </a:r>
          </a:p>
          <a:p>
            <a:pPr eaLnBrk="0" hangingPunct="0">
              <a:lnSpc>
                <a:spcPct val="100000"/>
              </a:lnSpc>
              <a:spcBef>
                <a:spcPct val="0"/>
              </a:spcBef>
            </a:pP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4    2    0</a:t>
            </a:r>
            <a:endParaRPr lang="en-US" altLang="zh-CN" sz="140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cxnSp>
        <p:nvCxnSpPr>
          <p:cNvPr id="9" name="直接箭头连接符 8"/>
          <p:cNvCxnSpPr/>
          <p:nvPr/>
        </p:nvCxnSpPr>
        <p:spPr bwMode="auto">
          <a:xfrm flipH="1">
            <a:off x="1431031" y="3679921"/>
            <a:ext cx="365348" cy="114909"/>
          </a:xfrm>
          <a:prstGeom prst="straightConnector1">
            <a:avLst/>
          </a:prstGeom>
          <a:noFill/>
          <a:ln w="28575" algn="ctr">
            <a:solidFill>
              <a:srgbClr val="C00000"/>
            </a:solidFill>
            <a:round/>
            <a:headEnd type="none" w="med" len="med"/>
            <a:tailEnd type="stealth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40" name="直接箭头连接符 39"/>
          <p:cNvCxnSpPr/>
          <p:nvPr/>
        </p:nvCxnSpPr>
        <p:spPr bwMode="auto">
          <a:xfrm flipH="1">
            <a:off x="1980591" y="3679921"/>
            <a:ext cx="348544" cy="127596"/>
          </a:xfrm>
          <a:prstGeom prst="straightConnector1">
            <a:avLst/>
          </a:prstGeom>
          <a:noFill/>
          <a:ln w="28575" algn="ctr">
            <a:solidFill>
              <a:srgbClr val="C00000"/>
            </a:solidFill>
            <a:round/>
            <a:headEnd type="none" w="med" len="med"/>
            <a:tailEnd type="stealth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44" name="直接箭头连接符 43"/>
          <p:cNvCxnSpPr/>
          <p:nvPr/>
        </p:nvCxnSpPr>
        <p:spPr bwMode="auto">
          <a:xfrm flipH="1">
            <a:off x="1431031" y="3897892"/>
            <a:ext cx="348544" cy="127596"/>
          </a:xfrm>
          <a:prstGeom prst="straightConnector1">
            <a:avLst/>
          </a:prstGeom>
          <a:noFill/>
          <a:ln w="28575" algn="ctr">
            <a:solidFill>
              <a:srgbClr val="C00000"/>
            </a:solidFill>
            <a:round/>
            <a:headEnd type="none" w="med" len="med"/>
            <a:tailEnd type="stealth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45" name="直接箭头连接符 44"/>
          <p:cNvCxnSpPr/>
          <p:nvPr/>
        </p:nvCxnSpPr>
        <p:spPr bwMode="auto">
          <a:xfrm flipH="1">
            <a:off x="1955403" y="3908166"/>
            <a:ext cx="348544" cy="127596"/>
          </a:xfrm>
          <a:prstGeom prst="straightConnector1">
            <a:avLst/>
          </a:prstGeom>
          <a:noFill/>
          <a:ln w="28575" algn="ctr">
            <a:solidFill>
              <a:srgbClr val="C00000"/>
            </a:solidFill>
            <a:round/>
            <a:headEnd type="none" w="med" len="med"/>
            <a:tailEnd type="stealth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32" name="椭圆 31"/>
          <p:cNvSpPr/>
          <p:nvPr/>
        </p:nvSpPr>
        <p:spPr bwMode="auto">
          <a:xfrm>
            <a:off x="8946504" y="4659982"/>
            <a:ext cx="162000" cy="16141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33" name="TextBox 2"/>
          <p:cNvSpPr txBox="1"/>
          <p:nvPr/>
        </p:nvSpPr>
        <p:spPr>
          <a:xfrm>
            <a:off x="6232058" y="1210160"/>
            <a:ext cx="2653462" cy="63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  <a:spcBef>
                <a:spcPct val="5000"/>
              </a:spcBef>
            </a:pPr>
            <a:r>
              <a:rPr lang="zh-CN" altLang="en-US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请根据左侧的逻辑流程图编写程序代码并输出结果</a:t>
            </a:r>
          </a:p>
        </p:txBody>
      </p:sp>
    </p:spTree>
    <p:extLst>
      <p:ext uri="{BB962C8B-B14F-4D97-AF65-F5344CB8AC3E}">
        <p14:creationId xmlns:p14="http://schemas.microsoft.com/office/powerpoint/2010/main" val="1472180325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5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000"/>
                            </p:stCondLst>
                            <p:childTnLst>
                              <p:par>
                                <p:cTn id="9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2000"/>
                            </p:stCondLst>
                            <p:childTnLst>
                              <p:par>
                                <p:cTn id="10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2500"/>
                            </p:stCondLst>
                            <p:childTnLst>
                              <p:par>
                                <p:cTn id="10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2" grpId="0" animBg="1"/>
      <p:bldP spid="13" grpId="0" animBg="1"/>
      <p:bldP spid="16" grpId="0"/>
      <p:bldP spid="21" grpId="0" animBg="1"/>
      <p:bldP spid="27" grpId="0" animBg="1"/>
      <p:bldP spid="28" grpId="0"/>
      <p:bldP spid="30" grpId="0" animBg="1"/>
      <p:bldP spid="36" grpId="0" animBg="1"/>
      <p:bldP spid="33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9"/>
          <p:cNvSpPr>
            <a:spLocks noChangeArrowheads="1"/>
          </p:cNvSpPr>
          <p:nvPr/>
        </p:nvSpPr>
        <p:spPr bwMode="auto">
          <a:xfrm>
            <a:off x="92075" y="268288"/>
            <a:ext cx="8915400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b="0"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例 用辗转相除法求两自然数的最大公约数</a:t>
            </a:r>
            <a:r>
              <a:rPr lang="zh-CN" altLang="en-US" sz="1800">
                <a:latin typeface="Courier New" pitchFamily="49" charset="0"/>
                <a:ea typeface="微软雅黑" pitchFamily="34" charset="-122"/>
                <a:cs typeface="Courier New" pitchFamily="49" charset="0"/>
              </a:rPr>
              <a:t>。</a:t>
            </a:r>
          </a:p>
        </p:txBody>
      </p:sp>
      <p:sp>
        <p:nvSpPr>
          <p:cNvPr id="17416" name="Rectangle 18"/>
          <p:cNvSpPr>
            <a:spLocks noChangeArrowheads="1"/>
          </p:cNvSpPr>
          <p:nvPr/>
        </p:nvSpPr>
        <p:spPr bwMode="auto">
          <a:xfrm>
            <a:off x="0" y="-268288"/>
            <a:ext cx="184150" cy="536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" name="菱形 4"/>
          <p:cNvSpPr>
            <a:spLocks noChangeArrowheads="1"/>
          </p:cNvSpPr>
          <p:nvPr/>
        </p:nvSpPr>
        <p:spPr bwMode="auto">
          <a:xfrm>
            <a:off x="736475" y="2171596"/>
            <a:ext cx="1943893" cy="355368"/>
          </a:xfrm>
          <a:prstGeom prst="diamond">
            <a:avLst/>
          </a:prstGeom>
          <a:noFill/>
          <a:ln w="19050" algn="ctr">
            <a:solidFill>
              <a:srgbClr val="6666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ts val="1300"/>
              </a:lnSpc>
              <a:spcBef>
                <a:spcPct val="0"/>
              </a:spcBef>
            </a:pP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r&lt;&gt;0</a:t>
            </a:r>
            <a:endParaRPr lang="zh-CN" altLang="en-US" sz="140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13" name="矩形 5"/>
          <p:cNvSpPr>
            <a:spLocks noChangeArrowheads="1"/>
          </p:cNvSpPr>
          <p:nvPr/>
        </p:nvSpPr>
        <p:spPr bwMode="auto">
          <a:xfrm>
            <a:off x="1115085" y="1026461"/>
            <a:ext cx="1229072" cy="473976"/>
          </a:xfrm>
          <a:prstGeom prst="rect">
            <a:avLst/>
          </a:prstGeom>
          <a:noFill/>
          <a:ln w="19050" algn="ctr">
            <a:solidFill>
              <a:srgbClr val="6666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bIns="0" anchor="ctr">
            <a:spAutoFit/>
          </a:bodyPr>
          <a:lstStyle/>
          <a:p>
            <a:pPr algn="ctr"/>
            <a:r>
              <a:rPr lang="zh-CN" altLang="en-US" sz="14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输入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m</a:t>
            </a:r>
            <a:r>
              <a:rPr lang="zh-CN" altLang="en-US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、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zh-CN" altLang="en-US" sz="14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使得 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m&gt;n</a:t>
            </a:r>
          </a:p>
        </p:txBody>
      </p:sp>
      <p:cxnSp>
        <p:nvCxnSpPr>
          <p:cNvPr id="14" name="直接连接符 8"/>
          <p:cNvCxnSpPr>
            <a:cxnSpLocks noChangeShapeType="1"/>
          </p:cNvCxnSpPr>
          <p:nvPr/>
        </p:nvCxnSpPr>
        <p:spPr bwMode="auto">
          <a:xfrm flipH="1">
            <a:off x="618963" y="3584919"/>
            <a:ext cx="1080000" cy="0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直接连接符 12"/>
          <p:cNvCxnSpPr>
            <a:cxnSpLocks noChangeShapeType="1"/>
          </p:cNvCxnSpPr>
          <p:nvPr/>
        </p:nvCxnSpPr>
        <p:spPr bwMode="auto">
          <a:xfrm>
            <a:off x="1698736" y="3442044"/>
            <a:ext cx="0" cy="142875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TextBox 14"/>
          <p:cNvSpPr txBox="1">
            <a:spLocks noChangeArrowheads="1"/>
          </p:cNvSpPr>
          <p:nvPr/>
        </p:nvSpPr>
        <p:spPr bwMode="auto">
          <a:xfrm>
            <a:off x="2307399" y="2034389"/>
            <a:ext cx="792162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1400"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False</a:t>
            </a:r>
            <a:endParaRPr lang="zh-CN" altLang="en-US" sz="1800"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cxnSp>
        <p:nvCxnSpPr>
          <p:cNvPr id="17" name="直接连接符 30"/>
          <p:cNvCxnSpPr>
            <a:cxnSpLocks noChangeShapeType="1"/>
          </p:cNvCxnSpPr>
          <p:nvPr/>
        </p:nvCxnSpPr>
        <p:spPr bwMode="auto">
          <a:xfrm>
            <a:off x="611560" y="2054658"/>
            <a:ext cx="1" cy="1530261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直接连接符 31"/>
          <p:cNvCxnSpPr>
            <a:cxnSpLocks noChangeShapeType="1"/>
          </p:cNvCxnSpPr>
          <p:nvPr/>
        </p:nvCxnSpPr>
        <p:spPr bwMode="auto">
          <a:xfrm flipH="1">
            <a:off x="611561" y="2054658"/>
            <a:ext cx="1081239" cy="5189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直接连接符 34"/>
          <p:cNvCxnSpPr>
            <a:cxnSpLocks noChangeShapeType="1"/>
          </p:cNvCxnSpPr>
          <p:nvPr/>
        </p:nvCxnSpPr>
        <p:spPr bwMode="auto">
          <a:xfrm>
            <a:off x="1708421" y="1923258"/>
            <a:ext cx="1" cy="262800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" name="直接连接符 35"/>
          <p:cNvCxnSpPr>
            <a:cxnSpLocks noChangeShapeType="1"/>
          </p:cNvCxnSpPr>
          <p:nvPr/>
        </p:nvCxnSpPr>
        <p:spPr bwMode="auto">
          <a:xfrm>
            <a:off x="1698736" y="2514863"/>
            <a:ext cx="0" cy="288925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矩形 5"/>
          <p:cNvSpPr>
            <a:spLocks noChangeArrowheads="1"/>
          </p:cNvSpPr>
          <p:nvPr/>
        </p:nvSpPr>
        <p:spPr bwMode="auto">
          <a:xfrm>
            <a:off x="880069" y="2782017"/>
            <a:ext cx="1620838" cy="646331"/>
          </a:xfrm>
          <a:prstGeom prst="rect">
            <a:avLst/>
          </a:prstGeom>
          <a:noFill/>
          <a:ln w="19050" algn="ctr">
            <a:solidFill>
              <a:srgbClr val="666633"/>
            </a:solidFill>
            <a:round/>
            <a:headEnd/>
            <a:tailEnd/>
          </a:ln>
        </p:spPr>
        <p:txBody>
          <a:bodyPr l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m=n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n=r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r=m % n</a:t>
            </a:r>
          </a:p>
        </p:txBody>
      </p:sp>
      <p:cxnSp>
        <p:nvCxnSpPr>
          <p:cNvPr id="23" name="直接连接符 45"/>
          <p:cNvCxnSpPr>
            <a:cxnSpLocks noChangeShapeType="1"/>
          </p:cNvCxnSpPr>
          <p:nvPr/>
        </p:nvCxnSpPr>
        <p:spPr bwMode="auto">
          <a:xfrm>
            <a:off x="1855246" y="3644372"/>
            <a:ext cx="0" cy="215900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直接连接符 61"/>
          <p:cNvCxnSpPr>
            <a:cxnSpLocks noChangeShapeType="1"/>
          </p:cNvCxnSpPr>
          <p:nvPr/>
        </p:nvCxnSpPr>
        <p:spPr bwMode="auto">
          <a:xfrm flipH="1" flipV="1">
            <a:off x="2680691" y="2350428"/>
            <a:ext cx="144000" cy="0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直接连接符 63"/>
          <p:cNvCxnSpPr>
            <a:cxnSpLocks noChangeShapeType="1"/>
          </p:cNvCxnSpPr>
          <p:nvPr/>
        </p:nvCxnSpPr>
        <p:spPr bwMode="auto">
          <a:xfrm flipH="1">
            <a:off x="2818712" y="2349400"/>
            <a:ext cx="0" cy="1288013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直接连接符 73"/>
          <p:cNvCxnSpPr>
            <a:cxnSpLocks noChangeShapeType="1"/>
          </p:cNvCxnSpPr>
          <p:nvPr/>
        </p:nvCxnSpPr>
        <p:spPr bwMode="auto">
          <a:xfrm flipH="1">
            <a:off x="1843249" y="3637413"/>
            <a:ext cx="990000" cy="0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" name="矩形 5"/>
          <p:cNvSpPr>
            <a:spLocks noChangeArrowheads="1"/>
          </p:cNvSpPr>
          <p:nvPr/>
        </p:nvSpPr>
        <p:spPr bwMode="auto">
          <a:xfrm>
            <a:off x="795231" y="3825386"/>
            <a:ext cx="2135686" cy="258532"/>
          </a:xfrm>
          <a:prstGeom prst="rect">
            <a:avLst/>
          </a:prstGeom>
          <a:noFill/>
          <a:ln w="19050" algn="ctr">
            <a:solidFill>
              <a:srgbClr val="6666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bIns="0" anchor="ctr">
            <a:spAutoFit/>
          </a:bodyPr>
          <a:lstStyle/>
          <a:p>
            <a:pPr algn="ctr"/>
            <a:r>
              <a:rPr lang="zh-CN" altLang="en-US" sz="14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显示结果 </a:t>
            </a:r>
            <a:r>
              <a:rPr lang="en-US" altLang="zh-CN" sz="14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n</a:t>
            </a:r>
            <a:r>
              <a:rPr lang="zh-CN" altLang="en-US" sz="14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为最大公约数</a:t>
            </a:r>
          </a:p>
        </p:txBody>
      </p:sp>
      <p:sp>
        <p:nvSpPr>
          <p:cNvPr id="28" name="TextBox 79"/>
          <p:cNvSpPr txBox="1">
            <a:spLocks noChangeArrowheads="1"/>
          </p:cNvSpPr>
          <p:nvPr/>
        </p:nvSpPr>
        <p:spPr bwMode="auto">
          <a:xfrm>
            <a:off x="1659327" y="2483892"/>
            <a:ext cx="764609" cy="35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True</a:t>
            </a:r>
            <a:endParaRPr lang="zh-CN" altLang="en-US" sz="140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30" name="矩形 5"/>
          <p:cNvSpPr>
            <a:spLocks noChangeArrowheads="1"/>
          </p:cNvSpPr>
          <p:nvPr/>
        </p:nvSpPr>
        <p:spPr bwMode="auto">
          <a:xfrm>
            <a:off x="1173069" y="1706950"/>
            <a:ext cx="1171088" cy="215444"/>
          </a:xfrm>
          <a:prstGeom prst="rect">
            <a:avLst/>
          </a:prstGeom>
          <a:noFill/>
          <a:ln w="19050" algn="ctr">
            <a:solidFill>
              <a:srgbClr val="6666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bIns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r=m </a:t>
            </a:r>
            <a:r>
              <a:rPr lang="en-US" altLang="zh-CN" sz="14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%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n</a:t>
            </a:r>
          </a:p>
        </p:txBody>
      </p:sp>
      <p:cxnSp>
        <p:nvCxnSpPr>
          <p:cNvPr id="31" name="直接连接符 34"/>
          <p:cNvCxnSpPr>
            <a:cxnSpLocks noChangeShapeType="1"/>
          </p:cNvCxnSpPr>
          <p:nvPr/>
        </p:nvCxnSpPr>
        <p:spPr bwMode="auto">
          <a:xfrm>
            <a:off x="1725587" y="1509364"/>
            <a:ext cx="1" cy="190800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" name="AutoShape 44"/>
          <p:cNvSpPr>
            <a:spLocks noChangeArrowheads="1"/>
          </p:cNvSpPr>
          <p:nvPr/>
        </p:nvSpPr>
        <p:spPr bwMode="gray">
          <a:xfrm>
            <a:off x="5271895" y="1156827"/>
            <a:ext cx="2843808" cy="3076922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600"/>
              </a:spcBef>
            </a:pPr>
            <a:r>
              <a:rPr lang="en-US" altLang="zh-CN" sz="14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m,n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=</a:t>
            </a:r>
            <a:r>
              <a:rPr lang="en-US" altLang="zh-CN" sz="14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eval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(input("</a:t>
            </a:r>
            <a:r>
              <a:rPr lang="zh-CN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输入</a:t>
            </a:r>
            <a:r>
              <a:rPr lang="en-US" altLang="zh-CN" sz="14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m,n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"))</a:t>
            </a:r>
            <a:endParaRPr lang="zh-CN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if m&lt;n:   # </a:t>
            </a:r>
            <a:r>
              <a:rPr lang="zh-CN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若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m&lt;n</a:t>
            </a:r>
            <a:r>
              <a:rPr lang="zh-CN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，则交换</a:t>
            </a:r>
            <a:endParaRPr lang="en-US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</a:t>
            </a:r>
            <a:r>
              <a:rPr lang="en-US" altLang="zh-CN" sz="14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m,n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=</a:t>
            </a:r>
            <a:r>
              <a:rPr lang="en-US" altLang="zh-CN" sz="14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n,m</a:t>
            </a:r>
            <a:endParaRPr lang="zh-CN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r=m % n</a:t>
            </a:r>
            <a:endParaRPr lang="zh-CN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while r!=0:</a:t>
            </a:r>
            <a:endParaRPr lang="zh-CN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m,n=n,r</a:t>
            </a:r>
            <a:endParaRPr lang="zh-CN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r=m % n</a:t>
            </a:r>
            <a:endParaRPr lang="zh-CN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print("</a:t>
            </a:r>
            <a:r>
              <a:rPr lang="zh-CN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最大公约数是：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",n)</a:t>
            </a:r>
            <a:endParaRPr lang="zh-CN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32" name="椭圆 31"/>
          <p:cNvSpPr/>
          <p:nvPr/>
        </p:nvSpPr>
        <p:spPr bwMode="auto">
          <a:xfrm>
            <a:off x="8946504" y="4659982"/>
            <a:ext cx="162000" cy="16141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76919981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500"/>
                            </p:stCondLst>
                            <p:childTnLst>
                              <p:par>
                                <p:cTn id="6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0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500"/>
                            </p:stCondLst>
                            <p:childTnLst>
                              <p:par>
                                <p:cTn id="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6" grpId="0"/>
      <p:bldP spid="21" grpId="0" animBg="1"/>
      <p:bldP spid="27" grpId="0" animBg="1"/>
      <p:bldP spid="28" grpId="0"/>
      <p:bldP spid="30" grpId="0" animBg="1"/>
      <p:bldP spid="3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4"/>
          <p:cNvSpPr>
            <a:spLocks noChangeArrowheads="1"/>
          </p:cNvSpPr>
          <p:nvPr/>
        </p:nvSpPr>
        <p:spPr bwMode="gray">
          <a:xfrm>
            <a:off x="259152" y="416419"/>
            <a:ext cx="7085113" cy="558731"/>
          </a:xfrm>
          <a:prstGeom prst="roundRect">
            <a:avLst>
              <a:gd name="adj" fmla="val 8014"/>
            </a:avLst>
          </a:prstGeom>
          <a:solidFill>
            <a:srgbClr val="FFFFCC"/>
          </a:solidFill>
          <a:ln w="9525">
            <a:solidFill>
              <a:srgbClr val="808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0"/>
              </a:spcBef>
            </a:pPr>
            <a:r>
              <a:rPr lang="zh-CN" altLang="en-US" sz="1800" b="0" dirty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拓展：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验证祖冲之化了</a:t>
            </a:r>
            <a:r>
              <a:rPr lang="en-US" altLang="zh-CN" sz="1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15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年时间计算  </a:t>
            </a:r>
            <a:r>
              <a:rPr lang="el-GR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π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到小数点后</a:t>
            </a:r>
            <a:r>
              <a:rPr lang="en-US" altLang="zh-CN" sz="1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7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位</a:t>
            </a:r>
            <a:endParaRPr lang="zh-CN" altLang="en-US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ph idx="4294967295"/>
          </p:nvPr>
        </p:nvSpPr>
        <p:spPr>
          <a:xfrm>
            <a:off x="323528" y="1189587"/>
            <a:ext cx="2292598" cy="504056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1600" dirty="0">
                <a:solidFill>
                  <a:srgbClr val="003366"/>
                </a:solidFill>
                <a:latin typeface="微软雅黑" pitchFamily="34" charset="-122"/>
                <a:ea typeface="微软雅黑" pitchFamily="34" charset="-122"/>
              </a:rPr>
              <a:t>计算圆周率公式</a:t>
            </a:r>
            <a:endParaRPr lang="en-US" altLang="zh-CN" sz="1600" dirty="0">
              <a:solidFill>
                <a:srgbClr val="003366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1800" dirty="0"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endParaRPr lang="zh-CN" altLang="en-US" sz="1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Calibri" pitchFamily="34" charset="0"/>
            </a:endParaRPr>
          </a:p>
        </p:txBody>
      </p:sp>
      <p:graphicFrame>
        <p:nvGraphicFramePr>
          <p:cNvPr id="10" name="Object 1"/>
          <p:cNvGraphicFramePr>
            <a:graphicFrameLocks noChangeAspect="1"/>
          </p:cNvGraphicFramePr>
          <p:nvPr/>
        </p:nvGraphicFramePr>
        <p:xfrm>
          <a:off x="2123980" y="1074811"/>
          <a:ext cx="2779898" cy="5935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30" name="Equation" r:id="rId3" imgW="1841500" imgH="393700" progId="Equation.3">
                  <p:embed/>
                </p:oleObj>
              </mc:Choice>
              <mc:Fallback>
                <p:oleObj name="Equation" r:id="rId3" imgW="1841500" imgH="393700" progId="Equation.3">
                  <p:embed/>
                  <p:pic>
                    <p:nvPicPr>
                      <p:cNvPr id="1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980" y="1074811"/>
                        <a:ext cx="2779898" cy="5935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Calibri" pitchFamily="34" charset="0"/>
            </a:endParaRPr>
          </a:p>
        </p:txBody>
      </p:sp>
      <p:sp>
        <p:nvSpPr>
          <p:cNvPr id="12" name="TextBox 6"/>
          <p:cNvSpPr txBox="1">
            <a:spLocks noChangeArrowheads="1"/>
          </p:cNvSpPr>
          <p:nvPr/>
        </p:nvSpPr>
        <p:spPr bwMode="auto">
          <a:xfrm>
            <a:off x="107504" y="1926111"/>
            <a:ext cx="6195653" cy="318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charset="0"/>
              <a:buNone/>
            </a:pPr>
            <a:r>
              <a:rPr lang="zh-CN" altLang="en-US" sz="1600" b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分析</a:t>
            </a:r>
            <a:r>
              <a:rPr lang="en-US" altLang="zh-CN" sz="1600" b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:   </a:t>
            </a:r>
            <a:r>
              <a:rPr lang="zh-CN" altLang="en-US" sz="1600" b="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对通项式：</a:t>
            </a:r>
            <a:r>
              <a:rPr lang="en-US" altLang="zh-CN" sz="1600" i="1" dirty="0" err="1">
                <a:solidFill>
                  <a:srgbClr val="00206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t</a:t>
            </a:r>
            <a:r>
              <a:rPr lang="en-US" altLang="zh-CN" sz="1600" i="1" baseline="-25000" dirty="0" err="1">
                <a:solidFill>
                  <a:srgbClr val="00206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</a:t>
            </a:r>
            <a:r>
              <a:rPr lang="en-US" altLang="zh-CN" sz="1600" i="1" dirty="0">
                <a:solidFill>
                  <a:srgbClr val="00206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=           </a:t>
            </a:r>
            <a:r>
              <a:rPr lang="en-US" altLang="zh-CN" sz="1600" b="0" i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     </a:t>
            </a:r>
            <a:r>
              <a:rPr lang="zh-CN" altLang="en-US" sz="1600" dirty="0">
                <a:solidFill>
                  <a:srgbClr val="00206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</a:t>
            </a:r>
            <a:r>
              <a:rPr lang="en-US" altLang="zh-CN" sz="1600" dirty="0" err="1">
                <a:solidFill>
                  <a:srgbClr val="00206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</a:t>
            </a:r>
            <a:r>
              <a:rPr lang="en-US" altLang="zh-CN" sz="1600" dirty="0">
                <a:solidFill>
                  <a:srgbClr val="00206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=1</a:t>
            </a:r>
            <a:r>
              <a:rPr lang="zh-CN" altLang="en-US" sz="1600" dirty="0">
                <a:solidFill>
                  <a:srgbClr val="00206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，</a:t>
            </a:r>
            <a:r>
              <a:rPr lang="en-US" altLang="zh-CN" sz="1600" dirty="0">
                <a:solidFill>
                  <a:srgbClr val="00206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2</a:t>
            </a:r>
            <a:r>
              <a:rPr lang="zh-CN" altLang="en-US" sz="1600" dirty="0">
                <a:solidFill>
                  <a:srgbClr val="00206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，</a:t>
            </a:r>
            <a:r>
              <a:rPr lang="en-US" altLang="zh-CN" sz="1600" dirty="0">
                <a:solidFill>
                  <a:srgbClr val="00206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3… </a:t>
            </a:r>
          </a:p>
          <a:p>
            <a:pPr eaLnBrk="1" hangingPunct="1">
              <a:lnSpc>
                <a:spcPct val="150000"/>
              </a:lnSpc>
              <a:buFont typeface="Arial" charset="0"/>
              <a:buNone/>
            </a:pPr>
            <a:r>
              <a:rPr lang="zh-CN" altLang="en-US" sz="1800" b="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         </a:t>
            </a:r>
            <a:r>
              <a:rPr lang="zh-CN" altLang="en-US" sz="1600" b="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进行累加，直到某项</a:t>
            </a:r>
            <a:r>
              <a:rPr lang="en-US" altLang="zh-CN" sz="1800" dirty="0" err="1">
                <a:solidFill>
                  <a:srgbClr val="C00000"/>
                </a:solidFill>
                <a:latin typeface="Courier New" pitchFamily="49" charset="0"/>
                <a:ea typeface="黑体" pitchFamily="49" charset="-122"/>
                <a:cs typeface="Courier New" pitchFamily="49" charset="0"/>
              </a:rPr>
              <a:t>t</a:t>
            </a:r>
            <a:r>
              <a:rPr lang="en-US" altLang="zh-CN" sz="1800" baseline="-25000" dirty="0" err="1">
                <a:solidFill>
                  <a:srgbClr val="C00000"/>
                </a:solidFill>
                <a:latin typeface="Courier New" pitchFamily="49" charset="0"/>
                <a:ea typeface="黑体" pitchFamily="49" charset="-122"/>
                <a:cs typeface="Courier New" pitchFamily="49" charset="0"/>
              </a:rPr>
              <a:t>i</a:t>
            </a:r>
            <a:r>
              <a:rPr lang="en-US" altLang="zh-CN" sz="1800" dirty="0">
                <a:solidFill>
                  <a:srgbClr val="C00000"/>
                </a:solidFill>
                <a:latin typeface="Courier New" pitchFamily="49" charset="0"/>
                <a:ea typeface="黑体" pitchFamily="49" charset="-122"/>
                <a:cs typeface="Courier New" pitchFamily="49" charset="0"/>
              </a:rPr>
              <a:t> </a:t>
            </a:r>
            <a:r>
              <a:rPr lang="zh-CN" altLang="en-US" sz="1600" b="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绝对值小于精度即</a:t>
            </a:r>
            <a:r>
              <a:rPr lang="en-US" altLang="zh-CN" sz="1800" dirty="0">
                <a:solidFill>
                  <a:srgbClr val="C00000"/>
                </a:solidFill>
                <a:latin typeface="Courier New" pitchFamily="49" charset="0"/>
                <a:ea typeface="黑体" pitchFamily="49" charset="-122"/>
                <a:cs typeface="Courier New" pitchFamily="49" charset="0"/>
              </a:rPr>
              <a:t>|</a:t>
            </a:r>
            <a:r>
              <a:rPr lang="en-US" altLang="zh-CN" sz="1800" dirty="0" err="1">
                <a:solidFill>
                  <a:srgbClr val="C00000"/>
                </a:solidFill>
                <a:latin typeface="Courier New" pitchFamily="49" charset="0"/>
                <a:ea typeface="黑体" pitchFamily="49" charset="-122"/>
                <a:cs typeface="Courier New" pitchFamily="49" charset="0"/>
              </a:rPr>
              <a:t>t</a:t>
            </a:r>
            <a:r>
              <a:rPr lang="en-US" altLang="zh-CN" sz="1800" baseline="-25000" dirty="0" err="1">
                <a:solidFill>
                  <a:srgbClr val="C00000"/>
                </a:solidFill>
                <a:latin typeface="Courier New" pitchFamily="49" charset="0"/>
                <a:ea typeface="黑体" pitchFamily="49" charset="-122"/>
                <a:cs typeface="Courier New" pitchFamily="49" charset="0"/>
              </a:rPr>
              <a:t>i</a:t>
            </a:r>
            <a:r>
              <a:rPr lang="en-US" altLang="zh-CN" sz="1800" dirty="0">
                <a:solidFill>
                  <a:srgbClr val="C00000"/>
                </a:solidFill>
                <a:latin typeface="Courier New" pitchFamily="49" charset="0"/>
                <a:ea typeface="黑体" pitchFamily="49" charset="-122"/>
                <a:cs typeface="Courier New" pitchFamily="49" charset="0"/>
              </a:rPr>
              <a:t>|&lt;10</a:t>
            </a:r>
            <a:r>
              <a:rPr lang="en-US" altLang="zh-CN" sz="1800" baseline="30000" dirty="0">
                <a:solidFill>
                  <a:srgbClr val="C00000"/>
                </a:solidFill>
                <a:latin typeface="Courier New" pitchFamily="49" charset="0"/>
                <a:ea typeface="黑体" pitchFamily="49" charset="-122"/>
                <a:cs typeface="Courier New" pitchFamily="49" charset="0"/>
              </a:rPr>
              <a:t>-8</a:t>
            </a:r>
            <a:r>
              <a:rPr lang="zh-CN" altLang="en-US" sz="1600" b="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为止。</a:t>
            </a:r>
            <a:endParaRPr lang="en-US" altLang="zh-CN" sz="1600" b="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lnSpc>
                <a:spcPct val="150000"/>
              </a:lnSpc>
              <a:buFont typeface="Arial" charset="0"/>
              <a:buNone/>
            </a:pPr>
            <a:r>
              <a:rPr lang="zh-CN" altLang="en-US" sz="1800" b="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尝试一下！</a:t>
            </a:r>
            <a:endParaRPr lang="en-US" altLang="zh-CN" sz="1800" b="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lnSpc>
                <a:spcPct val="150000"/>
              </a:lnSpc>
              <a:buFont typeface="Arial" charset="0"/>
              <a:buNone/>
            </a:pPr>
            <a:r>
              <a:rPr lang="zh-CN" altLang="en-US" sz="1600" b="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知识点：</a:t>
            </a:r>
            <a:endParaRPr lang="en-US" altLang="zh-CN" sz="1600" b="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lnSpc>
                <a:spcPct val="150000"/>
              </a:lnSpc>
              <a:buFont typeface="Arial" charset="0"/>
              <a:buNone/>
            </a:pPr>
            <a:r>
              <a:rPr lang="en-US" altLang="zh-CN" sz="1600" b="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1 </a:t>
            </a:r>
            <a:r>
              <a:rPr lang="zh-CN" altLang="en-US" sz="1600" b="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累加和，用一个变量，要给初值</a:t>
            </a:r>
            <a:r>
              <a:rPr lang="en-US" altLang="zh-CN" sz="1600" b="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,</a:t>
            </a:r>
          </a:p>
          <a:p>
            <a:pPr eaLnBrk="1" hangingPunct="1">
              <a:lnSpc>
                <a:spcPct val="150000"/>
              </a:lnSpc>
              <a:buFont typeface="Arial" charset="0"/>
              <a:buNone/>
            </a:pPr>
            <a:r>
              <a:rPr lang="en-US" altLang="zh-CN" sz="1600" b="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2 </a:t>
            </a:r>
            <a:r>
              <a:rPr lang="zh-CN" altLang="en-US" sz="1600" b="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每一项的计算，要用一个变量单独记录，如</a:t>
            </a:r>
            <a:r>
              <a:rPr lang="en-US" altLang="zh-CN" sz="1600" b="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term</a:t>
            </a:r>
          </a:p>
          <a:p>
            <a:pPr eaLnBrk="1" hangingPunct="1">
              <a:lnSpc>
                <a:spcPct val="150000"/>
              </a:lnSpc>
              <a:buFont typeface="Arial" charset="0"/>
              <a:buNone/>
            </a:pPr>
            <a:r>
              <a:rPr lang="en-US" altLang="zh-CN" sz="1600" b="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3 </a:t>
            </a:r>
            <a:r>
              <a:rPr lang="zh-CN" altLang="en-US" sz="1600" b="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项间如有逻辑，则利用前项计算后项，也要有初值</a:t>
            </a:r>
            <a:endParaRPr lang="en-US" altLang="zh-CN" sz="1600" b="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lnSpc>
                <a:spcPct val="150000"/>
              </a:lnSpc>
              <a:buFont typeface="Arial" charset="0"/>
              <a:buNone/>
            </a:pPr>
            <a:endParaRPr lang="en-US" altLang="zh-CN" sz="1800" b="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3" name="Object 3"/>
          <p:cNvGraphicFramePr>
            <a:graphicFrameLocks noChangeAspect="1"/>
          </p:cNvGraphicFramePr>
          <p:nvPr/>
        </p:nvGraphicFramePr>
        <p:xfrm>
          <a:off x="2184045" y="1908080"/>
          <a:ext cx="1617663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31" name="公式" r:id="rId5" imgW="1041120" imgH="406080" progId="Equation.3">
                  <p:embed/>
                </p:oleObj>
              </mc:Choice>
              <mc:Fallback>
                <p:oleObj name="公式" r:id="rId5" imgW="1041120" imgH="406080" progId="Equation.3">
                  <p:embed/>
                  <p:pic>
                    <p:nvPicPr>
                      <p:cNvPr id="1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4045" y="1908080"/>
                        <a:ext cx="1617663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灯片编号占位符 7"/>
          <p:cNvSpPr txBox="1">
            <a:spLocks/>
          </p:cNvSpPr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eaLnBrk="1" hangingPunct="1"/>
            <a:fld id="{C44FF3E6-D9EB-4107-815D-99828890DCD2}" type="slidenum">
              <a:rPr lang="zh-CN" altLang="en-US" smtClean="0">
                <a:latin typeface="Arial Black" pitchFamily="34" charset="0"/>
              </a:rPr>
              <a:pPr eaLnBrk="1" hangingPunct="1"/>
              <a:t>50</a:t>
            </a:fld>
            <a:endParaRPr lang="en-US" altLang="zh-CN">
              <a:latin typeface="Arial Black" pitchFamily="34" charset="0"/>
            </a:endParaRPr>
          </a:p>
        </p:txBody>
      </p:sp>
      <p:sp>
        <p:nvSpPr>
          <p:cNvPr id="19" name="圆角矩形 18"/>
          <p:cNvSpPr/>
          <p:nvPr/>
        </p:nvSpPr>
        <p:spPr bwMode="auto">
          <a:xfrm>
            <a:off x="6646181" y="1459530"/>
            <a:ext cx="1342797" cy="433382"/>
          </a:xfrm>
          <a:prstGeom prst="roundRect">
            <a:avLst/>
          </a:prstGeom>
          <a:noFill/>
          <a:ln w="9525" cap="flat" cmpd="sng" algn="ctr">
            <a:solidFill>
              <a:srgbClr val="000066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b="0">
                <a:ea typeface="黑体" pitchFamily="2" charset="-122"/>
              </a:rPr>
              <a:t>变量置初值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ea typeface="黑体" pitchFamily="2" charset="-122"/>
            </a:endParaRPr>
          </a:p>
        </p:txBody>
      </p:sp>
      <p:sp>
        <p:nvSpPr>
          <p:cNvPr id="20" name="菱形 19"/>
          <p:cNvSpPr/>
          <p:nvPr/>
        </p:nvSpPr>
        <p:spPr bwMode="auto">
          <a:xfrm>
            <a:off x="6553200" y="1851670"/>
            <a:ext cx="2491758" cy="504056"/>
          </a:xfrm>
          <a:prstGeom prst="diamond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20983" y="1909799"/>
            <a:ext cx="28438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spc="-100" dirty="0">
                <a:solidFill>
                  <a:srgbClr val="000066"/>
                </a:solidFill>
              </a:rPr>
              <a:t>while    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|</a:t>
            </a:r>
            <a:r>
              <a:rPr lang="en-US" altLang="zh-CN" sz="1600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t</a:t>
            </a:r>
            <a:r>
              <a:rPr lang="en-US" altLang="zh-CN" sz="1600" baseline="-25000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|&gt;10</a:t>
            </a:r>
            <a:r>
              <a:rPr lang="en-US" altLang="zh-CN" sz="1600" baseline="30000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-8</a:t>
            </a:r>
            <a:endParaRPr lang="zh-CN" altLang="en-US" sz="1600" b="0" spc="-100" dirty="0">
              <a:solidFill>
                <a:srgbClr val="000066"/>
              </a:solidFill>
            </a:endParaRPr>
          </a:p>
          <a:p>
            <a:r>
              <a:rPr lang="en-US" altLang="zh-CN" sz="1600" spc="-100" dirty="0">
                <a:solidFill>
                  <a:srgbClr val="000066"/>
                </a:solidFill>
              </a:rPr>
              <a:t>   </a:t>
            </a:r>
            <a:endParaRPr lang="zh-CN" altLang="en-US" sz="1600" spc="-100" dirty="0">
              <a:solidFill>
                <a:srgbClr val="000066"/>
              </a:solidFill>
            </a:endParaRPr>
          </a:p>
        </p:txBody>
      </p:sp>
      <p:sp>
        <p:nvSpPr>
          <p:cNvPr id="25" name="圆角矩形 24"/>
          <p:cNvSpPr/>
          <p:nvPr/>
        </p:nvSpPr>
        <p:spPr bwMode="auto">
          <a:xfrm>
            <a:off x="6683030" y="2368789"/>
            <a:ext cx="1342797" cy="755952"/>
          </a:xfrm>
          <a:prstGeom prst="roundRect">
            <a:avLst/>
          </a:prstGeom>
          <a:noFill/>
          <a:ln w="9525" cap="flat" cmpd="sng" algn="ctr">
            <a:solidFill>
              <a:srgbClr val="000066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rgbClr val="A50021"/>
                </a:solidFill>
                <a:effectLst/>
                <a:ea typeface="黑体" pitchFamily="2" charset="-122"/>
              </a:rPr>
              <a:t>通项</a:t>
            </a:r>
            <a:endParaRPr kumimoji="1" lang="en-US" altLang="zh-CN" sz="1600" b="0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ea typeface="黑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rgbClr val="A50021"/>
                </a:solidFill>
                <a:effectLst/>
                <a:ea typeface="黑体" pitchFamily="2" charset="-122"/>
              </a:rPr>
              <a:t>累加</a:t>
            </a:r>
          </a:p>
        </p:txBody>
      </p:sp>
      <p:sp>
        <p:nvSpPr>
          <p:cNvPr id="17" name="圆角矩形 16"/>
          <p:cNvSpPr/>
          <p:nvPr/>
        </p:nvSpPr>
        <p:spPr bwMode="auto">
          <a:xfrm>
            <a:off x="6459445" y="1352468"/>
            <a:ext cx="2649059" cy="2340000"/>
          </a:xfrm>
          <a:prstGeom prst="roundRect">
            <a:avLst/>
          </a:prstGeom>
          <a:noFill/>
          <a:ln w="1270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77652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12" grpId="0"/>
      <p:bldP spid="19" grpId="0" animBg="1"/>
      <p:bldP spid="22" grpId="0"/>
      <p:bldP spid="25" grpId="0" animBg="1"/>
      <p:bldP spid="17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4"/>
          <p:cNvSpPr>
            <a:spLocks noChangeArrowheads="1"/>
          </p:cNvSpPr>
          <p:nvPr/>
        </p:nvSpPr>
        <p:spPr bwMode="gray">
          <a:xfrm>
            <a:off x="259152" y="416419"/>
            <a:ext cx="7085113" cy="558731"/>
          </a:xfrm>
          <a:prstGeom prst="roundRect">
            <a:avLst>
              <a:gd name="adj" fmla="val 8014"/>
            </a:avLst>
          </a:prstGeom>
          <a:solidFill>
            <a:srgbClr val="FFFFCC"/>
          </a:solidFill>
          <a:ln w="9525">
            <a:solidFill>
              <a:srgbClr val="808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0"/>
              </a:spcBef>
            </a:pPr>
            <a:r>
              <a:rPr lang="zh-CN" altLang="en-US" sz="1800" b="0" dirty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拓展：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验证祖冲之化了</a:t>
            </a:r>
            <a:r>
              <a:rPr lang="en-US" altLang="zh-CN" sz="1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15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年时间计算  </a:t>
            </a:r>
            <a:r>
              <a:rPr lang="el-GR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π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到小数点后</a:t>
            </a:r>
            <a:r>
              <a:rPr lang="en-US" altLang="zh-CN" sz="1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7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位</a:t>
            </a:r>
            <a:endParaRPr lang="zh-CN" altLang="en-US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ph idx="4294967295"/>
          </p:nvPr>
        </p:nvSpPr>
        <p:spPr>
          <a:xfrm>
            <a:off x="323528" y="1189587"/>
            <a:ext cx="2292598" cy="504056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1600" dirty="0">
                <a:solidFill>
                  <a:srgbClr val="003366"/>
                </a:solidFill>
                <a:latin typeface="微软雅黑" pitchFamily="34" charset="-122"/>
                <a:ea typeface="微软雅黑" pitchFamily="34" charset="-122"/>
              </a:rPr>
              <a:t>计算圆周率公式</a:t>
            </a:r>
            <a:endParaRPr lang="en-US" altLang="zh-CN" sz="1600" dirty="0">
              <a:solidFill>
                <a:srgbClr val="003366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1800" dirty="0"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endParaRPr lang="zh-CN" altLang="en-US" sz="1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Calibri" pitchFamily="34" charset="0"/>
            </a:endParaRPr>
          </a:p>
        </p:txBody>
      </p:sp>
      <p:graphicFrame>
        <p:nvGraphicFramePr>
          <p:cNvPr id="10" name="Object 1"/>
          <p:cNvGraphicFramePr>
            <a:graphicFrameLocks noChangeAspect="1"/>
          </p:cNvGraphicFramePr>
          <p:nvPr/>
        </p:nvGraphicFramePr>
        <p:xfrm>
          <a:off x="2123980" y="1074811"/>
          <a:ext cx="2779898" cy="5935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17" name="Equation" r:id="rId3" imgW="1841500" imgH="393700" progId="Equation.3">
                  <p:embed/>
                </p:oleObj>
              </mc:Choice>
              <mc:Fallback>
                <p:oleObj name="Equation" r:id="rId3" imgW="1841500" imgH="393700" progId="Equation.3">
                  <p:embed/>
                  <p:pic>
                    <p:nvPicPr>
                      <p:cNvPr id="1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980" y="1074811"/>
                        <a:ext cx="2779898" cy="5935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Calibri" pitchFamily="34" charset="0"/>
            </a:endParaRPr>
          </a:p>
        </p:txBody>
      </p:sp>
      <p:sp>
        <p:nvSpPr>
          <p:cNvPr id="12" name="TextBox 6"/>
          <p:cNvSpPr txBox="1">
            <a:spLocks noChangeArrowheads="1"/>
          </p:cNvSpPr>
          <p:nvPr/>
        </p:nvSpPr>
        <p:spPr bwMode="auto">
          <a:xfrm>
            <a:off x="259152" y="1995686"/>
            <a:ext cx="6195653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charset="0"/>
              <a:buNone/>
            </a:pPr>
            <a:r>
              <a:rPr lang="zh-CN" altLang="en-US" sz="18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记录和的变量  </a:t>
            </a:r>
            <a:r>
              <a:rPr lang="en-US" altLang="zh-CN" sz="18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pi=0</a:t>
            </a:r>
          </a:p>
          <a:p>
            <a:pPr eaLnBrk="1" hangingPunct="1">
              <a:lnSpc>
                <a:spcPct val="150000"/>
              </a:lnSpc>
              <a:buFont typeface="Arial" charset="0"/>
              <a:buNone/>
            </a:pPr>
            <a:r>
              <a:rPr lang="zh-CN" altLang="en-US" sz="18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记录项值变量  </a:t>
            </a:r>
            <a:r>
              <a:rPr lang="en-US" altLang="zh-CN" sz="18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t=1</a:t>
            </a:r>
          </a:p>
          <a:p>
            <a:pPr eaLnBrk="1" hangingPunct="1">
              <a:lnSpc>
                <a:spcPct val="150000"/>
              </a:lnSpc>
              <a:buFont typeface="Arial" charset="0"/>
              <a:buNone/>
            </a:pPr>
            <a:r>
              <a:rPr lang="zh-CN" altLang="en-US" sz="18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辅助计算项值的变量</a:t>
            </a:r>
            <a:r>
              <a:rPr lang="en-US" altLang="zh-CN" sz="1800" b="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18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=1</a:t>
            </a:r>
          </a:p>
          <a:p>
            <a:pPr eaLnBrk="1" hangingPunct="1">
              <a:lnSpc>
                <a:spcPct val="150000"/>
              </a:lnSpc>
              <a:buFont typeface="Arial" charset="0"/>
              <a:buNone/>
            </a:pPr>
            <a:r>
              <a:rPr lang="zh-CN" altLang="en-US" sz="18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对正负项交替问题，如何有效处理</a:t>
            </a:r>
            <a:r>
              <a:rPr lang="zh-CN" altLang="en-US" sz="1800" b="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？ </a:t>
            </a:r>
            <a:r>
              <a:rPr lang="en-US" altLang="zh-CN" sz="1800" b="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s=1  ;  s=-s</a:t>
            </a:r>
            <a:endParaRPr lang="zh-CN" altLang="en-US" sz="1800" b="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r>
              <a:rPr lang="zh-CN" altLang="en-US" sz="36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不要写 </a:t>
            </a:r>
            <a:r>
              <a:rPr lang="en-US" altLang="zh-CN" sz="36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(-1)**(i-1) </a:t>
            </a:r>
            <a:endParaRPr lang="zh-CN" altLang="en-US" sz="36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灯片编号占位符 7"/>
          <p:cNvSpPr txBox="1">
            <a:spLocks/>
          </p:cNvSpPr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eaLnBrk="1" hangingPunct="1"/>
            <a:fld id="{C44FF3E6-D9EB-4107-815D-99828890DCD2}" type="slidenum">
              <a:rPr lang="zh-CN" altLang="en-US" smtClean="0">
                <a:latin typeface="Arial Black" pitchFamily="34" charset="0"/>
              </a:rPr>
              <a:pPr eaLnBrk="1" hangingPunct="1"/>
              <a:t>51</a:t>
            </a:fld>
            <a:endParaRPr lang="en-US" altLang="zh-CN">
              <a:latin typeface="Arial Black" pitchFamily="34" charset="0"/>
            </a:endParaRPr>
          </a:p>
        </p:txBody>
      </p:sp>
      <p:sp>
        <p:nvSpPr>
          <p:cNvPr id="20" name="菱形 19"/>
          <p:cNvSpPr/>
          <p:nvPr/>
        </p:nvSpPr>
        <p:spPr bwMode="auto">
          <a:xfrm>
            <a:off x="6553200" y="1851670"/>
            <a:ext cx="2491758" cy="504056"/>
          </a:xfrm>
          <a:prstGeom prst="diamond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BD39A69E-53D0-4F39-92EE-A17903E473E2}"/>
              </a:ext>
            </a:extLst>
          </p:cNvPr>
          <p:cNvSpPr txBox="1">
            <a:spLocks/>
          </p:cNvSpPr>
          <p:nvPr/>
        </p:nvSpPr>
        <p:spPr>
          <a:xfrm>
            <a:off x="5868144" y="1074811"/>
            <a:ext cx="2736304" cy="3394472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Tx/>
              <a:buNone/>
            </a:pPr>
            <a:r>
              <a:rPr kumimoji="0" lang="en-US" altLang="zh-CN" sz="1800" b="0" kern="0"/>
              <a:t>pi=0</a:t>
            </a:r>
          </a:p>
          <a:p>
            <a:pPr marL="0" indent="0">
              <a:buFontTx/>
              <a:buNone/>
            </a:pPr>
            <a:r>
              <a:rPr kumimoji="0" lang="en-US" altLang="zh-CN" sz="1800" b="0" kern="0"/>
              <a:t>i=1    # </a:t>
            </a:r>
            <a:r>
              <a:rPr kumimoji="0" lang="zh-CN" altLang="en-US" sz="1800" b="0" kern="0"/>
              <a:t>项索引号</a:t>
            </a:r>
            <a:endParaRPr kumimoji="0" lang="en-US" altLang="zh-CN" sz="1800" b="0" kern="0"/>
          </a:p>
          <a:p>
            <a:pPr marL="0" indent="0">
              <a:buFontTx/>
              <a:buNone/>
            </a:pPr>
            <a:r>
              <a:rPr kumimoji="0" lang="en-US" altLang="zh-CN" sz="1800" b="0" kern="0"/>
              <a:t>t=1    # </a:t>
            </a:r>
            <a:r>
              <a:rPr kumimoji="0" lang="zh-CN" altLang="en-US" sz="1800" b="0" kern="0"/>
              <a:t>项的取值</a:t>
            </a:r>
            <a:endParaRPr kumimoji="0" lang="en-US" altLang="zh-CN" sz="1800" b="0" kern="0"/>
          </a:p>
          <a:p>
            <a:pPr marL="0" indent="0">
              <a:buFontTx/>
              <a:buNone/>
            </a:pPr>
            <a:r>
              <a:rPr kumimoji="0" lang="en-US" altLang="zh-CN" sz="1800" b="0" kern="0"/>
              <a:t>s=1  # </a:t>
            </a:r>
            <a:r>
              <a:rPr kumimoji="0" lang="zh-CN" altLang="en-US" sz="1800" b="0" kern="0"/>
              <a:t>决定项的符号</a:t>
            </a:r>
            <a:endParaRPr kumimoji="0" lang="en-US" altLang="zh-CN" sz="1800" b="0" kern="0"/>
          </a:p>
          <a:p>
            <a:pPr marL="0" indent="0">
              <a:buFontTx/>
              <a:buNone/>
            </a:pPr>
            <a:r>
              <a:rPr kumimoji="0" lang="en-US" altLang="zh-CN" sz="1800" b="0" kern="0"/>
              <a:t>while </a:t>
            </a:r>
            <a:r>
              <a:rPr kumimoji="0" lang="en-US" altLang="zh-CN" sz="1800" b="0" kern="0">
                <a:solidFill>
                  <a:srgbClr val="FF0000"/>
                </a:solidFill>
              </a:rPr>
              <a:t>abs(t)</a:t>
            </a:r>
            <a:r>
              <a:rPr kumimoji="0" lang="en-US" altLang="zh-CN" sz="1800" b="0" kern="0"/>
              <a:t>&gt;1e-8:</a:t>
            </a:r>
          </a:p>
          <a:p>
            <a:pPr marL="0" indent="0">
              <a:buFontTx/>
              <a:buNone/>
            </a:pPr>
            <a:r>
              <a:rPr kumimoji="0" lang="en-US" altLang="zh-CN" sz="1800" b="0" kern="0"/>
              <a:t>    pi+=t</a:t>
            </a:r>
          </a:p>
          <a:p>
            <a:pPr marL="0" indent="0">
              <a:buFontTx/>
              <a:buNone/>
            </a:pPr>
            <a:r>
              <a:rPr kumimoji="0" lang="en-US" altLang="zh-CN" sz="1800" b="0" kern="0"/>
              <a:t>    i=i+1</a:t>
            </a:r>
          </a:p>
          <a:p>
            <a:pPr marL="0" indent="0">
              <a:buFontTx/>
              <a:buNone/>
            </a:pPr>
            <a:r>
              <a:rPr kumimoji="0" lang="en-US" altLang="zh-CN" sz="1800" b="0" kern="0"/>
              <a:t>    s=-s</a:t>
            </a:r>
          </a:p>
          <a:p>
            <a:pPr marL="0" indent="0">
              <a:buFontTx/>
              <a:buNone/>
            </a:pPr>
            <a:r>
              <a:rPr kumimoji="0" lang="en-US" altLang="zh-CN" sz="1800" b="0" kern="0"/>
              <a:t>    t=s/(2*i-1)</a:t>
            </a:r>
          </a:p>
          <a:p>
            <a:pPr marL="0" indent="0">
              <a:buFontTx/>
              <a:buNone/>
            </a:pPr>
            <a:r>
              <a:rPr kumimoji="0" lang="en-US" altLang="zh-CN" sz="1800" b="0" kern="0"/>
              <a:t>print("%f"%(pi*4))</a:t>
            </a:r>
            <a:endParaRPr kumimoji="0" lang="zh-CN" altLang="en-US" sz="1800" b="0" kern="0" dirty="0"/>
          </a:p>
        </p:txBody>
      </p:sp>
    </p:spTree>
    <p:extLst>
      <p:ext uri="{BB962C8B-B14F-4D97-AF65-F5344CB8AC3E}">
        <p14:creationId xmlns:p14="http://schemas.microsoft.com/office/powerpoint/2010/main" val="1324086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12" grpId="0"/>
      <p:bldP spid="18" grpId="0" build="p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4"/>
          <p:cNvSpPr>
            <a:spLocks noChangeArrowheads="1"/>
          </p:cNvSpPr>
          <p:nvPr/>
        </p:nvSpPr>
        <p:spPr bwMode="gray">
          <a:xfrm>
            <a:off x="259152" y="416419"/>
            <a:ext cx="7085113" cy="558731"/>
          </a:xfrm>
          <a:prstGeom prst="roundRect">
            <a:avLst>
              <a:gd name="adj" fmla="val 8014"/>
            </a:avLst>
          </a:prstGeom>
          <a:solidFill>
            <a:srgbClr val="FFFFCC"/>
          </a:solidFill>
          <a:ln w="9525">
            <a:solidFill>
              <a:srgbClr val="808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0"/>
              </a:spcBef>
            </a:pPr>
            <a:r>
              <a:rPr lang="zh-CN" altLang="en-US" sz="1800" b="0" dirty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拓展：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验证祖冲之化了</a:t>
            </a:r>
            <a:r>
              <a:rPr lang="en-US" altLang="zh-CN" sz="1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15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年时间计算  </a:t>
            </a:r>
            <a:r>
              <a:rPr lang="el-GR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π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到小数点后</a:t>
            </a:r>
            <a:r>
              <a:rPr lang="en-US" altLang="zh-CN" sz="1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7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位</a:t>
            </a:r>
            <a:endParaRPr lang="zh-CN" altLang="en-US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ph idx="4294967295"/>
          </p:nvPr>
        </p:nvSpPr>
        <p:spPr>
          <a:xfrm>
            <a:off x="323528" y="1189587"/>
            <a:ext cx="2292598" cy="504056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1600" dirty="0">
                <a:solidFill>
                  <a:srgbClr val="003366"/>
                </a:solidFill>
                <a:latin typeface="微软雅黑" pitchFamily="34" charset="-122"/>
                <a:ea typeface="微软雅黑" pitchFamily="34" charset="-122"/>
              </a:rPr>
              <a:t>计算圆周率公式</a:t>
            </a:r>
            <a:endParaRPr lang="en-US" altLang="zh-CN" sz="1600" dirty="0">
              <a:solidFill>
                <a:srgbClr val="003366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1800" dirty="0"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endParaRPr lang="zh-CN" altLang="en-US" sz="1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Calibri" pitchFamily="34" charset="0"/>
            </a:endParaRPr>
          </a:p>
        </p:txBody>
      </p:sp>
      <p:graphicFrame>
        <p:nvGraphicFramePr>
          <p:cNvPr id="10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985244"/>
              </p:ext>
            </p:extLst>
          </p:nvPr>
        </p:nvGraphicFramePr>
        <p:xfrm>
          <a:off x="2123980" y="1074811"/>
          <a:ext cx="2779898" cy="5935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55" name="Equation" r:id="rId3" imgW="1841500" imgH="393700" progId="Equation.3">
                  <p:embed/>
                </p:oleObj>
              </mc:Choice>
              <mc:Fallback>
                <p:oleObj name="Equation" r:id="rId3" imgW="1841500" imgH="393700" progId="Equation.3">
                  <p:embed/>
                  <p:pic>
                    <p:nvPicPr>
                      <p:cNvPr id="1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980" y="1074811"/>
                        <a:ext cx="2779898" cy="5935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Calibri" pitchFamily="34" charset="0"/>
            </a:endParaRPr>
          </a:p>
        </p:txBody>
      </p:sp>
      <p:sp>
        <p:nvSpPr>
          <p:cNvPr id="12" name="TextBox 6"/>
          <p:cNvSpPr txBox="1">
            <a:spLocks noChangeArrowheads="1"/>
          </p:cNvSpPr>
          <p:nvPr/>
        </p:nvSpPr>
        <p:spPr bwMode="auto">
          <a:xfrm>
            <a:off x="107504" y="1926111"/>
            <a:ext cx="6195653" cy="22621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charset="0"/>
              <a:buNone/>
            </a:pPr>
            <a:r>
              <a:rPr lang="zh-CN" altLang="en-US" sz="1600" b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分析</a:t>
            </a:r>
            <a:r>
              <a:rPr lang="en-US" altLang="zh-CN" sz="1600" b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:  </a:t>
            </a:r>
            <a:r>
              <a:rPr lang="zh-CN" altLang="en-US" sz="1600" b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分母是等差序列，初值 </a:t>
            </a:r>
            <a:r>
              <a:rPr lang="en-US" altLang="zh-CN" sz="1600" b="0" dirty="0" err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1600" b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=1</a:t>
            </a:r>
            <a:r>
              <a:rPr lang="zh-CN" altLang="en-US" sz="1600" b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， </a:t>
            </a:r>
            <a:r>
              <a:rPr lang="en-US" altLang="zh-CN" sz="1600" b="0" dirty="0" err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1600" b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 +=2</a:t>
            </a:r>
            <a:endParaRPr lang="en-US" altLang="zh-CN" sz="1600" dirty="0">
              <a:solidFill>
                <a:srgbClr val="00206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 eaLnBrk="1" hangingPunct="1">
              <a:lnSpc>
                <a:spcPct val="150000"/>
              </a:lnSpc>
              <a:buFont typeface="Arial" charset="0"/>
              <a:buNone/>
            </a:pPr>
            <a:r>
              <a:rPr lang="zh-CN" altLang="en-US" sz="1800" b="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         </a:t>
            </a:r>
            <a:r>
              <a:rPr lang="zh-CN" altLang="en-US" sz="1600" b="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进行累加，直到某项</a:t>
            </a:r>
            <a:r>
              <a:rPr lang="en-US" altLang="zh-CN" sz="1800" dirty="0" err="1">
                <a:solidFill>
                  <a:srgbClr val="C00000"/>
                </a:solidFill>
                <a:latin typeface="Courier New" pitchFamily="49" charset="0"/>
                <a:ea typeface="黑体" pitchFamily="49" charset="-122"/>
                <a:cs typeface="Courier New" pitchFamily="49" charset="0"/>
              </a:rPr>
              <a:t>t</a:t>
            </a:r>
            <a:r>
              <a:rPr lang="en-US" altLang="zh-CN" sz="1800" baseline="-25000" dirty="0" err="1">
                <a:solidFill>
                  <a:srgbClr val="C00000"/>
                </a:solidFill>
                <a:latin typeface="Courier New" pitchFamily="49" charset="0"/>
                <a:ea typeface="黑体" pitchFamily="49" charset="-122"/>
                <a:cs typeface="Courier New" pitchFamily="49" charset="0"/>
              </a:rPr>
              <a:t>i</a:t>
            </a:r>
            <a:r>
              <a:rPr lang="en-US" altLang="zh-CN" sz="1800" dirty="0">
                <a:solidFill>
                  <a:srgbClr val="C00000"/>
                </a:solidFill>
                <a:latin typeface="Courier New" pitchFamily="49" charset="0"/>
                <a:ea typeface="黑体" pitchFamily="49" charset="-122"/>
                <a:cs typeface="Courier New" pitchFamily="49" charset="0"/>
              </a:rPr>
              <a:t> </a:t>
            </a:r>
            <a:r>
              <a:rPr lang="zh-CN" altLang="en-US" sz="1600" b="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绝对值小于精度即</a:t>
            </a:r>
            <a:r>
              <a:rPr lang="en-US" altLang="zh-CN" sz="1800" dirty="0">
                <a:solidFill>
                  <a:srgbClr val="C00000"/>
                </a:solidFill>
                <a:latin typeface="Courier New" pitchFamily="49" charset="0"/>
                <a:ea typeface="黑体" pitchFamily="49" charset="-122"/>
                <a:cs typeface="Courier New" pitchFamily="49" charset="0"/>
              </a:rPr>
              <a:t>|</a:t>
            </a:r>
            <a:r>
              <a:rPr lang="en-US" altLang="zh-CN" sz="1800" dirty="0" err="1">
                <a:solidFill>
                  <a:srgbClr val="C00000"/>
                </a:solidFill>
                <a:latin typeface="Courier New" pitchFamily="49" charset="0"/>
                <a:ea typeface="黑体" pitchFamily="49" charset="-122"/>
                <a:cs typeface="Courier New" pitchFamily="49" charset="0"/>
              </a:rPr>
              <a:t>t</a:t>
            </a:r>
            <a:r>
              <a:rPr lang="en-US" altLang="zh-CN" sz="1800" baseline="-25000" dirty="0" err="1">
                <a:solidFill>
                  <a:srgbClr val="C00000"/>
                </a:solidFill>
                <a:latin typeface="Courier New" pitchFamily="49" charset="0"/>
                <a:ea typeface="黑体" pitchFamily="49" charset="-122"/>
                <a:cs typeface="Courier New" pitchFamily="49" charset="0"/>
              </a:rPr>
              <a:t>i</a:t>
            </a:r>
            <a:r>
              <a:rPr lang="en-US" altLang="zh-CN" sz="1800" dirty="0">
                <a:solidFill>
                  <a:srgbClr val="C00000"/>
                </a:solidFill>
                <a:latin typeface="Courier New" pitchFamily="49" charset="0"/>
                <a:ea typeface="黑体" pitchFamily="49" charset="-122"/>
                <a:cs typeface="Courier New" pitchFamily="49" charset="0"/>
              </a:rPr>
              <a:t>|&lt;10</a:t>
            </a:r>
            <a:r>
              <a:rPr lang="en-US" altLang="zh-CN" sz="1800" baseline="30000" dirty="0">
                <a:solidFill>
                  <a:srgbClr val="C00000"/>
                </a:solidFill>
                <a:latin typeface="Courier New" pitchFamily="49" charset="0"/>
                <a:ea typeface="黑体" pitchFamily="49" charset="-122"/>
                <a:cs typeface="Courier New" pitchFamily="49" charset="0"/>
              </a:rPr>
              <a:t>-8</a:t>
            </a:r>
            <a:r>
              <a:rPr lang="zh-CN" altLang="en-US" sz="1600" b="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为止。</a:t>
            </a:r>
            <a:endParaRPr lang="en-US" altLang="zh-CN" sz="1600" b="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lnSpc>
                <a:spcPct val="150000"/>
              </a:lnSpc>
              <a:buFont typeface="Arial" charset="0"/>
              <a:buNone/>
            </a:pPr>
            <a:r>
              <a:rPr lang="zh-CN" altLang="en-US" sz="1800" b="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尝试一下！</a:t>
            </a:r>
            <a:endParaRPr lang="en-US" altLang="zh-CN" sz="1800" b="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lnSpc>
                <a:spcPct val="150000"/>
              </a:lnSpc>
              <a:buFont typeface="Arial" charset="0"/>
              <a:buNone/>
            </a:pPr>
            <a:r>
              <a:rPr lang="zh-CN" altLang="en-US" sz="18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对正负项交替问题，如何有效处理</a:t>
            </a:r>
            <a:r>
              <a:rPr lang="zh-CN" altLang="en-US" sz="1800" b="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？ </a:t>
            </a:r>
            <a:r>
              <a:rPr lang="en-US" altLang="zh-CN" sz="1800" b="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s=1  ;  s=-s</a:t>
            </a:r>
            <a:endParaRPr lang="zh-CN" altLang="en-US" sz="1800" b="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r>
              <a:rPr lang="zh-CN" altLang="en-US" sz="36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不要写 </a:t>
            </a:r>
            <a:r>
              <a:rPr lang="en-US" altLang="zh-CN" sz="36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(-1)**(i-1) </a:t>
            </a:r>
            <a:endParaRPr lang="zh-CN" altLang="en-US" sz="36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灯片编号占位符 7"/>
          <p:cNvSpPr txBox="1">
            <a:spLocks/>
          </p:cNvSpPr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 eaLnBrk="1" hangingPunct="1"/>
            <a:fld id="{C44FF3E6-D9EB-4107-815D-99828890DCD2}" type="slidenum">
              <a:rPr lang="zh-CN" altLang="en-US" smtClean="0">
                <a:latin typeface="Arial Black" pitchFamily="34" charset="0"/>
              </a:rPr>
              <a:pPr eaLnBrk="1" hangingPunct="1"/>
              <a:t>52</a:t>
            </a:fld>
            <a:endParaRPr lang="en-US" altLang="zh-CN">
              <a:latin typeface="Arial Black" pitchFamily="34" charset="0"/>
            </a:endParaRPr>
          </a:p>
        </p:txBody>
      </p:sp>
      <p:sp>
        <p:nvSpPr>
          <p:cNvPr id="19" name="圆角矩形 18"/>
          <p:cNvSpPr/>
          <p:nvPr/>
        </p:nvSpPr>
        <p:spPr bwMode="auto">
          <a:xfrm>
            <a:off x="6646181" y="1459530"/>
            <a:ext cx="1342797" cy="433382"/>
          </a:xfrm>
          <a:prstGeom prst="roundRect">
            <a:avLst/>
          </a:prstGeom>
          <a:noFill/>
          <a:ln w="9525" cap="flat" cmpd="sng" algn="ctr">
            <a:solidFill>
              <a:srgbClr val="000066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b="0">
                <a:ea typeface="黑体" pitchFamily="2" charset="-122"/>
              </a:rPr>
              <a:t>变量置初值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ea typeface="黑体" pitchFamily="2" charset="-122"/>
            </a:endParaRPr>
          </a:p>
        </p:txBody>
      </p:sp>
      <p:sp>
        <p:nvSpPr>
          <p:cNvPr id="20" name="菱形 19"/>
          <p:cNvSpPr/>
          <p:nvPr/>
        </p:nvSpPr>
        <p:spPr bwMode="auto">
          <a:xfrm>
            <a:off x="6553200" y="1851670"/>
            <a:ext cx="2491758" cy="504056"/>
          </a:xfrm>
          <a:prstGeom prst="diamond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20983" y="1909799"/>
            <a:ext cx="28438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spc="-100" dirty="0">
                <a:solidFill>
                  <a:srgbClr val="000066"/>
                </a:solidFill>
              </a:rPr>
              <a:t>while    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|</a:t>
            </a:r>
            <a:r>
              <a:rPr lang="en-US" altLang="zh-CN" sz="1600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t</a:t>
            </a:r>
            <a:r>
              <a:rPr lang="en-US" altLang="zh-CN" sz="1600" baseline="-25000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|&gt;10</a:t>
            </a:r>
            <a:r>
              <a:rPr lang="en-US" altLang="zh-CN" sz="1600" baseline="30000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-8</a:t>
            </a:r>
            <a:endParaRPr lang="zh-CN" altLang="en-US" sz="1600" b="0" spc="-100" dirty="0">
              <a:solidFill>
                <a:srgbClr val="000066"/>
              </a:solidFill>
            </a:endParaRPr>
          </a:p>
          <a:p>
            <a:r>
              <a:rPr lang="en-US" altLang="zh-CN" sz="1600" spc="-100" dirty="0">
                <a:solidFill>
                  <a:srgbClr val="000066"/>
                </a:solidFill>
              </a:rPr>
              <a:t>   </a:t>
            </a:r>
            <a:endParaRPr lang="zh-CN" altLang="en-US" sz="1600" spc="-100" dirty="0">
              <a:solidFill>
                <a:srgbClr val="000066"/>
              </a:solidFill>
            </a:endParaRPr>
          </a:p>
        </p:txBody>
      </p:sp>
      <p:sp>
        <p:nvSpPr>
          <p:cNvPr id="25" name="圆角矩形 24"/>
          <p:cNvSpPr/>
          <p:nvPr/>
        </p:nvSpPr>
        <p:spPr bwMode="auto">
          <a:xfrm>
            <a:off x="6683030" y="2368789"/>
            <a:ext cx="1342797" cy="755952"/>
          </a:xfrm>
          <a:prstGeom prst="roundRect">
            <a:avLst/>
          </a:prstGeom>
          <a:noFill/>
          <a:ln w="9525" cap="flat" cmpd="sng" algn="ctr">
            <a:solidFill>
              <a:srgbClr val="000066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rgbClr val="A50021"/>
                </a:solidFill>
                <a:effectLst/>
                <a:ea typeface="黑体" pitchFamily="2" charset="-122"/>
              </a:rPr>
              <a:t>通项</a:t>
            </a:r>
            <a:endParaRPr kumimoji="1" lang="en-US" altLang="zh-CN" sz="1600" b="0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ea typeface="黑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rgbClr val="A50021"/>
                </a:solidFill>
                <a:effectLst/>
                <a:ea typeface="黑体" pitchFamily="2" charset="-122"/>
              </a:rPr>
              <a:t>累加</a:t>
            </a:r>
          </a:p>
        </p:txBody>
      </p:sp>
      <p:sp>
        <p:nvSpPr>
          <p:cNvPr id="17" name="圆角矩形 16"/>
          <p:cNvSpPr/>
          <p:nvPr/>
        </p:nvSpPr>
        <p:spPr bwMode="auto">
          <a:xfrm>
            <a:off x="6459445" y="1352468"/>
            <a:ext cx="2649059" cy="2340000"/>
          </a:xfrm>
          <a:prstGeom prst="roundRect">
            <a:avLst/>
          </a:prstGeom>
          <a:noFill/>
          <a:ln w="1270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BD39A69E-53D0-4F39-92EE-A17903E473E2}"/>
              </a:ext>
            </a:extLst>
          </p:cNvPr>
          <p:cNvSpPr txBox="1">
            <a:spLocks/>
          </p:cNvSpPr>
          <p:nvPr/>
        </p:nvSpPr>
        <p:spPr>
          <a:xfrm>
            <a:off x="6374276" y="1077772"/>
            <a:ext cx="2736304" cy="3394472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Tx/>
              <a:buNone/>
            </a:pPr>
            <a:r>
              <a:rPr kumimoji="0" lang="en-US" altLang="zh-CN" sz="1800" b="0" kern="0"/>
              <a:t>pi=0</a:t>
            </a:r>
          </a:p>
          <a:p>
            <a:pPr marL="0" indent="0">
              <a:buFontTx/>
              <a:buNone/>
            </a:pPr>
            <a:r>
              <a:rPr kumimoji="0" lang="en-US" altLang="zh-CN" sz="1800" b="0" kern="0"/>
              <a:t>i=1    # </a:t>
            </a:r>
            <a:r>
              <a:rPr kumimoji="0" lang="zh-CN" altLang="en-US" sz="1800" b="0" kern="0"/>
              <a:t>项索引号</a:t>
            </a:r>
            <a:endParaRPr kumimoji="0" lang="en-US" altLang="zh-CN" sz="1800" b="0" kern="0"/>
          </a:p>
          <a:p>
            <a:pPr marL="0" indent="0">
              <a:buFontTx/>
              <a:buNone/>
            </a:pPr>
            <a:r>
              <a:rPr kumimoji="0" lang="en-US" altLang="zh-CN" sz="1800" b="0" kern="0"/>
              <a:t>t=1    # </a:t>
            </a:r>
            <a:r>
              <a:rPr kumimoji="0" lang="zh-CN" altLang="en-US" sz="1800" b="0" kern="0"/>
              <a:t>项的取值</a:t>
            </a:r>
            <a:endParaRPr kumimoji="0" lang="en-US" altLang="zh-CN" sz="1800" b="0" kern="0"/>
          </a:p>
          <a:p>
            <a:pPr marL="0" indent="0">
              <a:buFontTx/>
              <a:buNone/>
            </a:pPr>
            <a:r>
              <a:rPr kumimoji="0" lang="en-US" altLang="zh-CN" sz="1800" b="0" kern="0"/>
              <a:t>s=1  # </a:t>
            </a:r>
            <a:r>
              <a:rPr kumimoji="0" lang="zh-CN" altLang="en-US" sz="1800" b="0" kern="0"/>
              <a:t>决定项的符号</a:t>
            </a:r>
            <a:endParaRPr kumimoji="0" lang="en-US" altLang="zh-CN" sz="1800" b="0" kern="0"/>
          </a:p>
          <a:p>
            <a:pPr marL="0" indent="0">
              <a:buFontTx/>
              <a:buNone/>
            </a:pPr>
            <a:r>
              <a:rPr kumimoji="0" lang="en-US" altLang="zh-CN" sz="1800" b="0" kern="0"/>
              <a:t>while </a:t>
            </a:r>
            <a:r>
              <a:rPr kumimoji="0" lang="en-US" altLang="zh-CN" sz="1800" b="0" kern="0">
                <a:solidFill>
                  <a:srgbClr val="FF0000"/>
                </a:solidFill>
              </a:rPr>
              <a:t>abs(t)</a:t>
            </a:r>
            <a:r>
              <a:rPr kumimoji="0" lang="en-US" altLang="zh-CN" sz="1800" b="0" kern="0"/>
              <a:t>&gt;1e-8:</a:t>
            </a:r>
          </a:p>
          <a:p>
            <a:pPr marL="0" indent="0">
              <a:buFontTx/>
              <a:buNone/>
            </a:pPr>
            <a:r>
              <a:rPr kumimoji="0" lang="en-US" altLang="zh-CN" sz="1800" b="0" kern="0"/>
              <a:t>    pi+=t</a:t>
            </a:r>
          </a:p>
          <a:p>
            <a:pPr marL="0" indent="0">
              <a:buFontTx/>
              <a:buNone/>
            </a:pPr>
            <a:r>
              <a:rPr kumimoji="0" lang="en-US" altLang="zh-CN" sz="1800" b="0" kern="0"/>
              <a:t>    i +=2</a:t>
            </a:r>
          </a:p>
          <a:p>
            <a:pPr marL="0" indent="0">
              <a:buFontTx/>
              <a:buNone/>
            </a:pPr>
            <a:r>
              <a:rPr kumimoji="0" lang="en-US" altLang="zh-CN" sz="1800" b="0" kern="0"/>
              <a:t>    s=-s</a:t>
            </a:r>
          </a:p>
          <a:p>
            <a:pPr marL="0" indent="0">
              <a:buFontTx/>
              <a:buNone/>
            </a:pPr>
            <a:r>
              <a:rPr kumimoji="0" lang="en-US" altLang="zh-CN" sz="1800" b="0" kern="0"/>
              <a:t>    t=s/i</a:t>
            </a:r>
          </a:p>
          <a:p>
            <a:pPr marL="0" indent="0">
              <a:buFontTx/>
              <a:buNone/>
            </a:pPr>
            <a:r>
              <a:rPr kumimoji="0" lang="en-US" altLang="zh-CN" sz="1800" b="0" kern="0"/>
              <a:t>print("%f"%(pi*4))</a:t>
            </a:r>
            <a:endParaRPr kumimoji="0" lang="zh-CN" altLang="en-US" sz="1800" b="0" kern="0" dirty="0"/>
          </a:p>
        </p:txBody>
      </p:sp>
    </p:spTree>
    <p:extLst>
      <p:ext uri="{BB962C8B-B14F-4D97-AF65-F5344CB8AC3E}">
        <p14:creationId xmlns:p14="http://schemas.microsoft.com/office/powerpoint/2010/main" val="3730132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12" grpId="0"/>
      <p:bldP spid="19" grpId="0" animBg="1"/>
      <p:bldP spid="22" grpId="0"/>
      <p:bldP spid="25" grpId="0" animBg="1"/>
      <p:bldP spid="17" grpId="0" animBg="1"/>
      <p:bldP spid="18" grpId="0" build="p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103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206375"/>
            <a:ext cx="8151812" cy="593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algn="l"/>
            <a:r>
              <a:rPr lang="zh-CN" altLang="en-US" sz="28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循环的嵌套 </a:t>
            </a:r>
          </a:p>
        </p:txBody>
      </p:sp>
      <p:sp>
        <p:nvSpPr>
          <p:cNvPr id="580617" name="Rectangle 1033"/>
          <p:cNvSpPr>
            <a:spLocks noChangeArrowheads="1"/>
          </p:cNvSpPr>
          <p:nvPr/>
        </p:nvSpPr>
        <p:spPr bwMode="auto">
          <a:xfrm>
            <a:off x="250168" y="915566"/>
            <a:ext cx="8675688" cy="693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just">
              <a:lnSpc>
                <a:spcPct val="100000"/>
              </a:lnSpc>
              <a:spcBef>
                <a:spcPct val="15000"/>
              </a:spcBef>
            </a:pPr>
            <a:r>
              <a:rPr lang="en-US" altLang="zh-CN" sz="1800" b="0" dirty="0"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</a:t>
            </a:r>
            <a:r>
              <a:rPr lang="zh-CN" altLang="en-US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在一个循环体内又包含了一个完整的循环结构称为循环的嵌套。注意各循环内缩对齐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循环嵌套对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for</a:t>
            </a:r>
            <a:r>
              <a:rPr lang="zh-CN" altLang="en-US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语句和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while</a:t>
            </a:r>
            <a:r>
              <a:rPr lang="zh-CN" altLang="en-US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语句均适用。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3131" y="1792750"/>
            <a:ext cx="4098900" cy="387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例</a:t>
            </a:r>
            <a:r>
              <a:rPr lang="en-US" altLang="zh-CN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</a:t>
            </a:r>
            <a:r>
              <a:rPr lang="zh-CN" altLang="en-US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打印九九乘法表</a:t>
            </a:r>
            <a:endParaRPr lang="zh-CN" altLang="en-US" sz="1600" dirty="0">
              <a:solidFill>
                <a:srgbClr val="000066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3131" y="2323861"/>
            <a:ext cx="4758782" cy="120032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分析：</a:t>
            </a:r>
            <a:endParaRPr lang="en-US" altLang="zh-CN" sz="1800" b="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一共</a:t>
            </a:r>
            <a:r>
              <a:rPr lang="en-US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9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行，每次循环打一行，需要</a:t>
            </a:r>
            <a:r>
              <a:rPr lang="en-US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9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次循环</a:t>
            </a:r>
            <a:endParaRPr lang="en-US" altLang="zh-CN" sz="1800" b="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每行循环，要打</a:t>
            </a:r>
            <a:r>
              <a:rPr lang="en-US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9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个表达式，需要</a:t>
            </a:r>
            <a:r>
              <a:rPr lang="en-US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9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次循环</a:t>
            </a:r>
            <a:endParaRPr lang="en-US" altLang="zh-CN" sz="1800" b="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每个表达式，要输出</a:t>
            </a:r>
            <a:r>
              <a:rPr lang="en-US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3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个数，因此</a:t>
            </a:r>
            <a:r>
              <a:rPr lang="en-US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3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个槽</a:t>
            </a:r>
            <a:endParaRPr lang="zh-CN" altLang="en-US" sz="1800" dirty="0">
              <a:solidFill>
                <a:srgbClr val="000066"/>
              </a:solidFill>
            </a:endParaRPr>
          </a:p>
        </p:txBody>
      </p:sp>
      <p:pic>
        <p:nvPicPr>
          <p:cNvPr id="17" name="图片 16" descr="https://images2015.cnblogs.com/blog/946680/201606/946680-20160617161708495-2033057352.jpg"/>
          <p:cNvPicPr/>
          <p:nvPr/>
        </p:nvPicPr>
        <p:blipFill rotWithShape="1">
          <a:blip r:embed="rId3" cstate="print"/>
          <a:srcRect t="8462"/>
          <a:stretch/>
        </p:blipFill>
        <p:spPr bwMode="auto">
          <a:xfrm>
            <a:off x="5364088" y="1923678"/>
            <a:ext cx="3312368" cy="175712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767966558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103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206375"/>
            <a:ext cx="8151812" cy="593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algn="l"/>
            <a:r>
              <a:rPr lang="zh-CN" altLang="en-US" sz="28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循环的嵌套 </a:t>
            </a:r>
          </a:p>
        </p:txBody>
      </p:sp>
      <p:sp>
        <p:nvSpPr>
          <p:cNvPr id="580617" name="Rectangle 1033"/>
          <p:cNvSpPr>
            <a:spLocks noChangeArrowheads="1"/>
          </p:cNvSpPr>
          <p:nvPr/>
        </p:nvSpPr>
        <p:spPr bwMode="auto">
          <a:xfrm>
            <a:off x="250168" y="915566"/>
            <a:ext cx="8675688" cy="693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just">
              <a:lnSpc>
                <a:spcPct val="100000"/>
              </a:lnSpc>
              <a:spcBef>
                <a:spcPct val="15000"/>
              </a:spcBef>
            </a:pPr>
            <a:r>
              <a:rPr lang="en-US" altLang="zh-CN" sz="1800" b="0" dirty="0"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</a:t>
            </a:r>
            <a:r>
              <a:rPr lang="zh-CN" altLang="en-US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在</a:t>
            </a:r>
            <a:r>
              <a:rPr lang="zh-CN" altLang="en-US" sz="1600" b="0" dirty="0">
                <a:solidFill>
                  <a:srgbClr val="FF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一个循环体内又包含了一个循环</a:t>
            </a:r>
            <a:r>
              <a:rPr lang="zh-CN" altLang="en-US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称为循环的嵌套。注意</a:t>
            </a:r>
            <a:r>
              <a:rPr lang="zh-CN" altLang="en-US" sz="1600" b="0" dirty="0">
                <a:solidFill>
                  <a:srgbClr val="FF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各层循环内缩对齐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循环嵌套对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for</a:t>
            </a:r>
            <a:r>
              <a:rPr lang="zh-CN" altLang="en-US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语句和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while</a:t>
            </a:r>
            <a:r>
              <a:rPr lang="zh-CN" altLang="en-US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语句均适用。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382" y="1779662"/>
            <a:ext cx="4098900" cy="387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例</a:t>
            </a:r>
            <a:r>
              <a:rPr lang="en-US" altLang="zh-CN" sz="16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</a:t>
            </a:r>
            <a:r>
              <a:rPr lang="zh-CN" altLang="en-US" sz="16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打印九九乘法表</a:t>
            </a:r>
            <a:endParaRPr lang="zh-CN" altLang="en-US" sz="1600">
              <a:solidFill>
                <a:srgbClr val="000066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7382" y="2187254"/>
            <a:ext cx="3920684" cy="387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分析：打印第一行、打印格式控制</a:t>
            </a:r>
            <a:endParaRPr lang="zh-CN" altLang="en-US" sz="1600">
              <a:solidFill>
                <a:srgbClr val="000066"/>
              </a:solidFill>
            </a:endParaRPr>
          </a:p>
        </p:txBody>
      </p:sp>
      <p:sp>
        <p:nvSpPr>
          <p:cNvPr id="6" name="AutoShape 44"/>
          <p:cNvSpPr>
            <a:spLocks noChangeArrowheads="1"/>
          </p:cNvSpPr>
          <p:nvPr/>
        </p:nvSpPr>
        <p:spPr bwMode="gray">
          <a:xfrm>
            <a:off x="23700" y="2715766"/>
            <a:ext cx="5730541" cy="1584176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>
              <a:spcBef>
                <a:spcPts val="0"/>
              </a:spcBef>
            </a:pP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</a:t>
            </a:r>
            <a:r>
              <a:rPr lang="en-US" altLang="zh-CN" sz="1400" dirty="0">
                <a:latin typeface="Courier New" pitchFamily="49" charset="0"/>
                <a:cs typeface="Courier New" pitchFamily="49" charset="0"/>
              </a:rPr>
              <a:t>for </a:t>
            </a:r>
            <a:r>
              <a:rPr lang="en-US" altLang="zh-CN" sz="1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1400" dirty="0">
                <a:latin typeface="Courier New" pitchFamily="49" charset="0"/>
                <a:cs typeface="Courier New" pitchFamily="49" charset="0"/>
              </a:rPr>
              <a:t> in range(1,10):</a:t>
            </a:r>
            <a:endParaRPr lang="zh-CN" altLang="en-US" sz="1400" dirty="0"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lnSpc>
                <a:spcPct val="100000"/>
              </a:lnSpc>
              <a:spcBef>
                <a:spcPts val="0"/>
              </a:spcBef>
            </a:pP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for j in range(1,10):</a:t>
            </a:r>
          </a:p>
          <a:p>
            <a:pPr eaLnBrk="0" hangingPunct="0">
              <a:lnSpc>
                <a:spcPct val="100000"/>
              </a:lnSpc>
              <a:spcBef>
                <a:spcPts val="0"/>
              </a:spcBef>
            </a:pP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   print("{}*{}={:2d}".format(</a:t>
            </a:r>
            <a:r>
              <a:rPr lang="en-US" altLang="zh-CN" sz="14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i,j,i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*j),end=" ")</a:t>
            </a:r>
          </a:p>
          <a:p>
            <a:pPr eaLnBrk="0" hangingPunct="0">
              <a:lnSpc>
                <a:spcPct val="100000"/>
              </a:lnSpc>
              <a:spcBef>
                <a:spcPts val="0"/>
              </a:spcBef>
            </a:pP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print(“”)  # </a:t>
            </a:r>
            <a:r>
              <a:rPr lang="zh-CN" altLang="en-US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这个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print</a:t>
            </a:r>
            <a:r>
              <a:rPr lang="zh-CN" altLang="en-US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起回车作用</a:t>
            </a:r>
            <a:endParaRPr lang="en-US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 eaLnBrk="0" hangingPunct="0">
              <a:lnSpc>
                <a:spcPct val="100000"/>
              </a:lnSpc>
              <a:spcBef>
                <a:spcPts val="0"/>
              </a:spcBef>
            </a:pP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# </a:t>
            </a:r>
            <a:r>
              <a:rPr lang="zh-CN" altLang="en-US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第一个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print</a:t>
            </a:r>
            <a:r>
              <a:rPr lang="zh-CN" altLang="en-US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语句的解释  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format</a:t>
            </a:r>
            <a:r>
              <a:rPr lang="zh-CN" altLang="en-US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函数里面的每个表达式的值，</a:t>
            </a:r>
            <a:endParaRPr lang="en-US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 eaLnBrk="0" hangingPunct="0">
              <a:lnSpc>
                <a:spcPct val="100000"/>
              </a:lnSpc>
              <a:spcBef>
                <a:spcPts val="0"/>
              </a:spcBef>
            </a:pP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# </a:t>
            </a:r>
            <a:r>
              <a:rPr lang="zh-CN" altLang="en-US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填充 前面的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{}</a:t>
            </a:r>
            <a:r>
              <a:rPr lang="zh-CN" altLang="en-US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中 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end=‘’</a:t>
            </a:r>
            <a:r>
              <a:rPr lang="zh-CN" altLang="en-US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代表不回车，但空一格</a:t>
            </a:r>
            <a:endParaRPr lang="en-US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pic>
        <p:nvPicPr>
          <p:cNvPr id="17" name="图片 16" descr="https://images2015.cnblogs.com/blog/946680/201606/946680-20160617161708495-2033057352.jpg"/>
          <p:cNvPicPr/>
          <p:nvPr/>
        </p:nvPicPr>
        <p:blipFill rotWithShape="1">
          <a:blip r:embed="rId3" cstate="print"/>
          <a:srcRect t="8462"/>
          <a:stretch/>
        </p:blipFill>
        <p:spPr bwMode="auto">
          <a:xfrm>
            <a:off x="5838045" y="2939720"/>
            <a:ext cx="3312368" cy="175712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77238584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44"/>
          <p:cNvSpPr>
            <a:spLocks noChangeArrowheads="1"/>
          </p:cNvSpPr>
          <p:nvPr/>
        </p:nvSpPr>
        <p:spPr bwMode="gray">
          <a:xfrm>
            <a:off x="378428" y="698233"/>
            <a:ext cx="4409595" cy="624942"/>
          </a:xfrm>
          <a:prstGeom prst="roundRect">
            <a:avLst>
              <a:gd name="adj" fmla="val 8014"/>
            </a:avLst>
          </a:prstGeom>
          <a:solidFill>
            <a:srgbClr val="FFFFCC"/>
          </a:solidFill>
          <a:ln w="9525">
            <a:solidFill>
              <a:srgbClr val="808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0"/>
              </a:spcBef>
            </a:pPr>
            <a:r>
              <a:rPr lang="zh-CN" altLang="en-US" sz="1800" dirty="0">
                <a:latin typeface="Courier New" pitchFamily="49" charset="0"/>
                <a:cs typeface="Courier New" pitchFamily="49" charset="0"/>
              </a:rPr>
              <a:t>思考：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打印下三角？上三角？  </a:t>
            </a:r>
            <a:r>
              <a:rPr lang="zh-CN" altLang="en-US" sz="1800" b="0" dirty="0">
                <a:solidFill>
                  <a:srgbClr val="FF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自读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520" y="3435846"/>
            <a:ext cx="7488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分析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：行数不变，内循环改变循环的初值或终值、输出格式控制就可</a:t>
            </a:r>
            <a:endParaRPr lang="zh-CN" altLang="en-US" sz="1800" dirty="0">
              <a:solidFill>
                <a:srgbClr val="000066"/>
              </a:solidFill>
            </a:endParaRPr>
          </a:p>
        </p:txBody>
      </p:sp>
      <p:pic>
        <p:nvPicPr>
          <p:cNvPr id="7" name="图片 6" descr="https://images2015.cnblogs.com/blog/946680/201606/946680-20160617161818963-931612713.jpg"/>
          <p:cNvPicPr/>
          <p:nvPr/>
        </p:nvPicPr>
        <p:blipFill rotWithShape="1">
          <a:blip r:embed="rId3" cstate="print"/>
          <a:srcRect t="8541"/>
          <a:stretch/>
        </p:blipFill>
        <p:spPr bwMode="auto">
          <a:xfrm>
            <a:off x="539552" y="1707654"/>
            <a:ext cx="4606408" cy="146813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图片 8" descr="https://images2015.cnblogs.com/blog/946680/201606/946680-20160617161752260-74017417.jpg"/>
          <p:cNvPicPr/>
          <p:nvPr/>
        </p:nvPicPr>
        <p:blipFill rotWithShape="1">
          <a:blip r:embed="rId4" cstate="print"/>
          <a:srcRect t="9509"/>
          <a:stretch/>
        </p:blipFill>
        <p:spPr bwMode="auto">
          <a:xfrm>
            <a:off x="5121797" y="1625635"/>
            <a:ext cx="3600400" cy="181021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F0FF19E-6D3F-41CB-A4C5-979DF7E3FA17}"/>
              </a:ext>
            </a:extLst>
          </p:cNvPr>
          <p:cNvSpPr txBox="1"/>
          <p:nvPr/>
        </p:nvSpPr>
        <p:spPr>
          <a:xfrm>
            <a:off x="4764342" y="3143458"/>
            <a:ext cx="4841644" cy="1323439"/>
          </a:xfrm>
          <a:prstGeom prst="rect">
            <a:avLst/>
          </a:prstGeom>
          <a:solidFill>
            <a:schemeClr val="accent1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for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 in range(1,10):</a:t>
            </a:r>
          </a:p>
          <a:p>
            <a:r>
              <a:rPr lang="en-US" altLang="zh-CN" sz="1600" dirty="0"/>
              <a:t>  print(" "*7*(i-1),end="")</a:t>
            </a:r>
          </a:p>
          <a:p>
            <a:r>
              <a:rPr lang="en-US" altLang="zh-CN" sz="1600" dirty="0"/>
              <a:t>  for j in range(i,10):  # </a:t>
            </a:r>
            <a:r>
              <a:rPr lang="zh-CN" altLang="en-US" sz="1600" dirty="0"/>
              <a:t>三角的形成  ，从</a:t>
            </a:r>
            <a:r>
              <a:rPr lang="en-US" altLang="zh-CN" sz="1600" dirty="0" err="1"/>
              <a:t>i</a:t>
            </a:r>
            <a:r>
              <a:rPr lang="zh-CN" altLang="en-US" sz="1600" dirty="0"/>
              <a:t>开始</a:t>
            </a:r>
            <a:endParaRPr lang="en-US" altLang="zh-CN" sz="1600" dirty="0"/>
          </a:p>
          <a:p>
            <a:r>
              <a:rPr lang="en-US" altLang="zh-CN" sz="1600" dirty="0"/>
              <a:t>      print("%d*%d=%2d" % (</a:t>
            </a:r>
            <a:r>
              <a:rPr lang="en-US" altLang="zh-CN" sz="1600" dirty="0" err="1"/>
              <a:t>i,j,i</a:t>
            </a:r>
            <a:r>
              <a:rPr lang="en-US" altLang="zh-CN" sz="1600" dirty="0"/>
              <a:t>*j),end=" ")</a:t>
            </a:r>
          </a:p>
          <a:p>
            <a:r>
              <a:rPr lang="en-US" altLang="zh-CN" sz="1600" dirty="0"/>
              <a:t> print("")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220642570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FA6FED-B6E4-49A1-BA9A-0BF3ADC91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/>
              <a:t>例子：求</a:t>
            </a:r>
            <a:r>
              <a:rPr lang="en-US" altLang="zh-CN" sz="3200" dirty="0"/>
              <a:t>s=1</a:t>
            </a:r>
            <a:r>
              <a:rPr lang="zh-CN" altLang="en-US" sz="3200" dirty="0"/>
              <a:t>！</a:t>
            </a:r>
            <a:r>
              <a:rPr lang="en-US" altLang="zh-CN" sz="3200" dirty="0"/>
              <a:t>+2</a:t>
            </a:r>
            <a:r>
              <a:rPr lang="zh-CN" altLang="en-US" sz="3200" dirty="0"/>
              <a:t>！</a:t>
            </a:r>
            <a:r>
              <a:rPr lang="en-US" altLang="zh-CN" sz="3200" dirty="0"/>
              <a:t>+3</a:t>
            </a:r>
            <a:r>
              <a:rPr lang="zh-CN" altLang="en-US" sz="3200" dirty="0"/>
              <a:t>！</a:t>
            </a:r>
            <a:r>
              <a:rPr lang="en-US" altLang="zh-CN" sz="3200" dirty="0"/>
              <a:t>+4</a:t>
            </a:r>
            <a:r>
              <a:rPr lang="zh-CN" altLang="en-US" sz="3200" dirty="0"/>
              <a:t>！</a:t>
            </a:r>
            <a:r>
              <a:rPr lang="en-US" altLang="zh-CN" sz="3200" dirty="0"/>
              <a:t>+…+n!</a:t>
            </a:r>
            <a:endParaRPr lang="zh-CN" altLang="en-US" sz="32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5E4FF8-57A8-4B1F-B0EC-BC3019DAD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064192"/>
            <a:ext cx="7704856" cy="3394472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800" dirty="0"/>
              <a:t>给定</a:t>
            </a:r>
            <a:r>
              <a:rPr lang="en-US" altLang="zh-CN" sz="1800" dirty="0"/>
              <a:t>n</a:t>
            </a:r>
          </a:p>
          <a:p>
            <a:pPr marL="0" indent="0">
              <a:buNone/>
            </a:pPr>
            <a:r>
              <a:rPr lang="zh-CN" altLang="en-US" sz="1800" dirty="0"/>
              <a:t>和值</a:t>
            </a:r>
            <a:r>
              <a:rPr lang="en-US" altLang="zh-CN" sz="1800" dirty="0"/>
              <a:t>s</a:t>
            </a:r>
            <a:r>
              <a:rPr lang="zh-CN" altLang="en-US" sz="1800" dirty="0"/>
              <a:t>是累加和，给个初值 </a:t>
            </a:r>
            <a:r>
              <a:rPr lang="en-US" altLang="zh-CN" sz="1800" dirty="0"/>
              <a:t>0 </a:t>
            </a:r>
          </a:p>
          <a:p>
            <a:pPr marL="0" indent="0">
              <a:buNone/>
            </a:pPr>
            <a:r>
              <a:rPr lang="zh-CN" altLang="en-US" sz="1800" dirty="0"/>
              <a:t>从</a:t>
            </a:r>
            <a:r>
              <a:rPr lang="en-US" altLang="zh-CN" sz="1800" dirty="0"/>
              <a:t>1</a:t>
            </a:r>
            <a:r>
              <a:rPr lang="zh-CN" altLang="en-US" sz="1800" dirty="0"/>
              <a:t>开始循环 </a:t>
            </a:r>
            <a:r>
              <a:rPr lang="en-US" altLang="zh-CN" sz="1800" dirty="0"/>
              <a:t>n</a:t>
            </a:r>
            <a:r>
              <a:rPr lang="zh-CN" altLang="en-US" sz="1800" dirty="0"/>
              <a:t>次，第</a:t>
            </a:r>
            <a:r>
              <a:rPr lang="en-US" altLang="zh-CN" sz="1800" dirty="0" err="1"/>
              <a:t>i</a:t>
            </a:r>
            <a:r>
              <a:rPr lang="zh-CN" altLang="en-US" sz="1800" dirty="0"/>
              <a:t>次循环变量的值是</a:t>
            </a:r>
            <a:r>
              <a:rPr lang="en-US" altLang="zh-CN" sz="1800" dirty="0" err="1"/>
              <a:t>i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    </a:t>
            </a:r>
            <a:r>
              <a:rPr lang="zh-CN" altLang="en-US" sz="1800" dirty="0"/>
              <a:t>每次计算</a:t>
            </a:r>
            <a:r>
              <a:rPr lang="en-US" altLang="zh-CN" sz="1800" dirty="0" err="1"/>
              <a:t>i</a:t>
            </a:r>
            <a:r>
              <a:rPr lang="zh-CN" altLang="en-US" sz="1800" dirty="0"/>
              <a:t>的阶乘 </a:t>
            </a:r>
            <a:r>
              <a:rPr lang="en-US" altLang="zh-CN" sz="1800" dirty="0"/>
              <a:t>,  </a:t>
            </a:r>
            <a:r>
              <a:rPr lang="zh-CN" altLang="en-US" sz="1800" dirty="0"/>
              <a:t>是累积，也是一个循环，循环前，给变量初值 </a:t>
            </a:r>
            <a:r>
              <a:rPr lang="en-US" altLang="zh-CN" sz="1800" dirty="0"/>
              <a:t>f=1</a:t>
            </a:r>
          </a:p>
          <a:p>
            <a:pPr marL="0" indent="0">
              <a:buNone/>
            </a:pPr>
            <a:r>
              <a:rPr lang="en-US" altLang="zh-CN" sz="1800" dirty="0"/>
              <a:t>    </a:t>
            </a:r>
          </a:p>
          <a:p>
            <a:pPr marL="0" indent="0">
              <a:buNone/>
            </a:pPr>
            <a:r>
              <a:rPr lang="en-US" altLang="zh-CN" sz="1800" dirty="0"/>
              <a:t>    </a:t>
            </a:r>
            <a:r>
              <a:rPr lang="zh-CN" altLang="en-US" sz="1800" dirty="0"/>
              <a:t>加到</a:t>
            </a:r>
            <a:r>
              <a:rPr lang="en-US" altLang="zh-CN" sz="1800" dirty="0"/>
              <a:t>s</a:t>
            </a:r>
            <a:r>
              <a:rPr lang="zh-CN" altLang="en-US" sz="1800" dirty="0"/>
              <a:t>上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print("s=",s) </a:t>
            </a:r>
            <a:endParaRPr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16A66F-0CE9-473D-A74F-6D9A71B3C7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7C270E-26C8-4352-BE21-3DBF4A2EC019}" type="slidenum">
              <a:rPr lang="en-US" altLang="zh-CN" smtClean="0"/>
              <a:pPr>
                <a:defRPr/>
              </a:pPr>
              <a:t>56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0709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FA6FED-B6E4-49A1-BA9A-0BF3ADC91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/>
              <a:t>例子：求</a:t>
            </a:r>
            <a:r>
              <a:rPr lang="en-US" altLang="zh-CN" sz="3200" dirty="0"/>
              <a:t>s=1</a:t>
            </a:r>
            <a:r>
              <a:rPr lang="zh-CN" altLang="en-US" sz="3200" dirty="0"/>
              <a:t>！</a:t>
            </a:r>
            <a:r>
              <a:rPr lang="en-US" altLang="zh-CN" sz="3200" dirty="0"/>
              <a:t>+2</a:t>
            </a:r>
            <a:r>
              <a:rPr lang="zh-CN" altLang="en-US" sz="3200" dirty="0"/>
              <a:t>！</a:t>
            </a:r>
            <a:r>
              <a:rPr lang="en-US" altLang="zh-CN" sz="3200" dirty="0"/>
              <a:t>+3</a:t>
            </a:r>
            <a:r>
              <a:rPr lang="zh-CN" altLang="en-US" sz="3200" dirty="0"/>
              <a:t>！</a:t>
            </a:r>
            <a:r>
              <a:rPr lang="en-US" altLang="zh-CN" sz="3200" dirty="0"/>
              <a:t>+4</a:t>
            </a:r>
            <a:r>
              <a:rPr lang="zh-CN" altLang="en-US" sz="3200" dirty="0"/>
              <a:t>！</a:t>
            </a:r>
            <a:r>
              <a:rPr lang="en-US" altLang="zh-CN" sz="3200" dirty="0"/>
              <a:t>+…+n!</a:t>
            </a:r>
            <a:endParaRPr lang="zh-CN" altLang="en-US" sz="32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5E4FF8-57A8-4B1F-B0EC-BC3019DAD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064192"/>
            <a:ext cx="7704856" cy="3394472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800" dirty="0"/>
              <a:t>n=int(input("please </a:t>
            </a:r>
            <a:r>
              <a:rPr lang="en-US" altLang="zh-CN" sz="1800" dirty="0" err="1"/>
              <a:t>intput</a:t>
            </a:r>
            <a:r>
              <a:rPr lang="en-US" altLang="zh-CN" sz="1800" dirty="0"/>
              <a:t> n:"))</a:t>
            </a:r>
          </a:p>
          <a:p>
            <a:pPr marL="0" indent="0">
              <a:buNone/>
            </a:pPr>
            <a:r>
              <a:rPr lang="en-US" altLang="zh-CN" sz="1800" dirty="0"/>
              <a:t>s=0</a:t>
            </a:r>
          </a:p>
          <a:p>
            <a:pPr marL="0" indent="0">
              <a:buNone/>
            </a:pPr>
            <a:r>
              <a:rPr lang="en-US" altLang="zh-CN" sz="1800" dirty="0"/>
              <a:t>for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 in range(1,n+1):</a:t>
            </a:r>
          </a:p>
          <a:p>
            <a:pPr marL="0" indent="0">
              <a:buNone/>
            </a:pPr>
            <a:r>
              <a:rPr lang="en-US" altLang="zh-CN" sz="1800" dirty="0"/>
              <a:t>    f=1</a:t>
            </a:r>
          </a:p>
          <a:p>
            <a:pPr marL="0" indent="0">
              <a:buNone/>
            </a:pPr>
            <a:r>
              <a:rPr lang="en-US" altLang="zh-CN" sz="1800" dirty="0"/>
              <a:t>    for j in range(1,i+1):   # </a:t>
            </a:r>
            <a:r>
              <a:rPr lang="zh-CN" altLang="en-US" sz="1800" dirty="0"/>
              <a:t>计算阶乘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        f *= j</a:t>
            </a:r>
          </a:p>
          <a:p>
            <a:pPr marL="0" indent="0">
              <a:buNone/>
            </a:pPr>
            <a:r>
              <a:rPr lang="en-US" altLang="zh-CN" sz="1800" dirty="0"/>
              <a:t>    s+=f                            #  </a:t>
            </a:r>
            <a:r>
              <a:rPr lang="zh-CN" altLang="en-US" sz="1800" dirty="0"/>
              <a:t>阶乘加到和式中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print("s=",s) </a:t>
            </a:r>
            <a:endParaRPr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16A66F-0CE9-473D-A74F-6D9A71B3C7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7C270E-26C8-4352-BE21-3DBF4A2EC019}" type="slidenum">
              <a:rPr lang="en-US" altLang="zh-CN" smtClean="0"/>
              <a:pPr>
                <a:defRPr/>
              </a:pPr>
              <a:t>57</a:t>
            </a:fld>
            <a:endParaRPr lang="en-US" altLang="zh-CN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A65E4FF8-57A8-4B1F-B0EC-BC3019DAD5E1}"/>
              </a:ext>
            </a:extLst>
          </p:cNvPr>
          <p:cNvSpPr txBox="1">
            <a:spLocks/>
          </p:cNvSpPr>
          <p:nvPr/>
        </p:nvSpPr>
        <p:spPr>
          <a:xfrm>
            <a:off x="4283968" y="1347614"/>
            <a:ext cx="1872208" cy="42840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Tx/>
              <a:buNone/>
            </a:pPr>
            <a:r>
              <a:rPr kumimoji="0" lang="zh-CN" altLang="en-US" sz="1800" b="0" kern="0"/>
              <a:t>累加，赋初值</a:t>
            </a:r>
            <a:r>
              <a:rPr kumimoji="0" lang="en-US" altLang="zh-CN" sz="1800" b="0" kern="0"/>
              <a:t>0</a:t>
            </a:r>
            <a:endParaRPr kumimoji="0" lang="zh-CN" altLang="en-US" sz="1800" b="0" kern="0" dirty="0"/>
          </a:p>
        </p:txBody>
      </p:sp>
      <p:cxnSp>
        <p:nvCxnSpPr>
          <p:cNvPr id="9" name="直接箭头连接符 8"/>
          <p:cNvCxnSpPr>
            <a:stCxn id="5" idx="1"/>
          </p:cNvCxnSpPr>
          <p:nvPr/>
        </p:nvCxnSpPr>
        <p:spPr bwMode="auto">
          <a:xfrm flipH="1" flipV="1">
            <a:off x="1115616" y="1561814"/>
            <a:ext cx="3168352" cy="1"/>
          </a:xfrm>
          <a:prstGeom prst="straightConnector1">
            <a:avLst/>
          </a:prstGeom>
          <a:noFill/>
          <a:ln w="12700" algn="ctr">
            <a:solidFill>
              <a:srgbClr val="000066"/>
            </a:solidFill>
            <a:round/>
            <a:headEnd type="stealth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A65E4FF8-57A8-4B1F-B0EC-BC3019DAD5E1}"/>
              </a:ext>
            </a:extLst>
          </p:cNvPr>
          <p:cNvSpPr txBox="1">
            <a:spLocks/>
          </p:cNvSpPr>
          <p:nvPr/>
        </p:nvSpPr>
        <p:spPr>
          <a:xfrm>
            <a:off x="4283968" y="1990215"/>
            <a:ext cx="3528392" cy="42840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Tx/>
              <a:buNone/>
            </a:pPr>
            <a:r>
              <a:rPr kumimoji="0" lang="zh-CN" altLang="en-US" sz="1800" b="0" kern="0" dirty="0">
                <a:solidFill>
                  <a:srgbClr val="FF0000"/>
                </a:solidFill>
              </a:rPr>
              <a:t>准备算</a:t>
            </a:r>
            <a:r>
              <a:rPr kumimoji="0" lang="en-US" altLang="zh-CN" sz="1800" b="0" kern="0" dirty="0" err="1">
                <a:solidFill>
                  <a:srgbClr val="FF0000"/>
                </a:solidFill>
              </a:rPr>
              <a:t>i</a:t>
            </a:r>
            <a:r>
              <a:rPr kumimoji="0" lang="zh-CN" altLang="en-US" sz="1800" b="0" kern="0" dirty="0">
                <a:solidFill>
                  <a:srgbClr val="FF0000"/>
                </a:solidFill>
              </a:rPr>
              <a:t>的阶乘</a:t>
            </a:r>
            <a:r>
              <a:rPr kumimoji="0" lang="zh-CN" altLang="en-US" sz="1800" b="0" kern="0" dirty="0"/>
              <a:t>，累乘，赋初值</a:t>
            </a:r>
            <a:r>
              <a:rPr kumimoji="0" lang="en-US" altLang="zh-CN" sz="1800" b="0" kern="0" dirty="0"/>
              <a:t>1</a:t>
            </a:r>
            <a:endParaRPr kumimoji="0" lang="zh-CN" altLang="en-US" sz="1800" b="0" kern="0" dirty="0"/>
          </a:p>
        </p:txBody>
      </p:sp>
      <p:cxnSp>
        <p:nvCxnSpPr>
          <p:cNvPr id="11" name="直接箭头连接符 10"/>
          <p:cNvCxnSpPr/>
          <p:nvPr/>
        </p:nvCxnSpPr>
        <p:spPr bwMode="auto">
          <a:xfrm flipH="1" flipV="1">
            <a:off x="1187624" y="2271563"/>
            <a:ext cx="3168352" cy="1"/>
          </a:xfrm>
          <a:prstGeom prst="straightConnector1">
            <a:avLst/>
          </a:prstGeom>
          <a:noFill/>
          <a:ln w="12700" algn="ctr">
            <a:solidFill>
              <a:srgbClr val="000066"/>
            </a:solidFill>
            <a:round/>
            <a:headEnd type="stealth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</p:spTree>
    <p:extLst>
      <p:ext uri="{BB962C8B-B14F-4D97-AF65-F5344CB8AC3E}">
        <p14:creationId xmlns:p14="http://schemas.microsoft.com/office/powerpoint/2010/main" val="975169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FA6FED-B6E4-49A1-BA9A-0BF3ADC91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/>
              <a:t>例子：求</a:t>
            </a:r>
            <a:r>
              <a:rPr lang="en-US" altLang="zh-CN" sz="3200" dirty="0"/>
              <a:t>s=1</a:t>
            </a:r>
            <a:r>
              <a:rPr lang="zh-CN" altLang="en-US" sz="3200" dirty="0"/>
              <a:t>！</a:t>
            </a:r>
            <a:r>
              <a:rPr lang="en-US" altLang="zh-CN" sz="3200" dirty="0"/>
              <a:t>+2</a:t>
            </a:r>
            <a:r>
              <a:rPr lang="zh-CN" altLang="en-US" sz="3200" dirty="0"/>
              <a:t>！</a:t>
            </a:r>
            <a:r>
              <a:rPr lang="en-US" altLang="zh-CN" sz="3200" dirty="0"/>
              <a:t>+3</a:t>
            </a:r>
            <a:r>
              <a:rPr lang="zh-CN" altLang="en-US" sz="3200" dirty="0"/>
              <a:t>！</a:t>
            </a:r>
            <a:r>
              <a:rPr lang="en-US" altLang="zh-CN" sz="3200" dirty="0"/>
              <a:t>+4</a:t>
            </a:r>
            <a:r>
              <a:rPr lang="zh-CN" altLang="en-US" sz="3200" dirty="0"/>
              <a:t>！</a:t>
            </a:r>
            <a:r>
              <a:rPr lang="en-US" altLang="zh-CN" sz="3200" dirty="0"/>
              <a:t>+…+n!</a:t>
            </a:r>
            <a:endParaRPr lang="zh-CN" altLang="en-US" sz="32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16A66F-0CE9-473D-A74F-6D9A71B3C7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7C270E-26C8-4352-BE21-3DBF4A2EC019}" type="slidenum">
              <a:rPr lang="en-US" altLang="zh-CN" smtClean="0"/>
              <a:pPr>
                <a:defRPr/>
              </a:pPr>
              <a:t>58</a:t>
            </a:fld>
            <a:endParaRPr lang="en-US" altLang="zh-CN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323528" y="915566"/>
            <a:ext cx="8280920" cy="864096"/>
          </a:xfrm>
        </p:spPr>
        <p:txBody>
          <a:bodyPr/>
          <a:lstStyle/>
          <a:p>
            <a:r>
              <a:rPr lang="zh-CN" altLang="en-US" sz="2400" dirty="0">
                <a:solidFill>
                  <a:srgbClr val="FF0000"/>
                </a:solidFill>
              </a:rPr>
              <a:t>动脑子，想逻辑，提高计算效率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sz="2400" dirty="0"/>
              <a:t>推导项间关系：以第</a:t>
            </a:r>
            <a:r>
              <a:rPr lang="en-US" altLang="zh-CN" sz="2400" dirty="0" err="1"/>
              <a:t>i</a:t>
            </a:r>
            <a:r>
              <a:rPr lang="zh-CN" altLang="en-US" sz="2400" dirty="0"/>
              <a:t>项的数值为</a:t>
            </a:r>
            <a:r>
              <a:rPr lang="en-US" altLang="zh-CN" sz="2400" dirty="0" err="1"/>
              <a:t>ti</a:t>
            </a:r>
            <a:r>
              <a:rPr lang="zh-CN" altLang="en-US" sz="2400" dirty="0"/>
              <a:t>，则</a:t>
            </a:r>
            <a:r>
              <a:rPr lang="en-US" altLang="zh-CN" sz="2400" dirty="0"/>
              <a:t>ti+1=</a:t>
            </a:r>
            <a:r>
              <a:rPr lang="en-US" altLang="zh-CN" sz="2400" dirty="0" err="1"/>
              <a:t>ti</a:t>
            </a:r>
            <a:r>
              <a:rPr lang="en-US" altLang="zh-CN" sz="2400" dirty="0"/>
              <a:t>*(i+1)</a:t>
            </a:r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zh-CN" altLang="en-US" sz="2400" dirty="0"/>
          </a:p>
        </p:txBody>
      </p:sp>
      <p:sp>
        <p:nvSpPr>
          <p:cNvPr id="12" name="内容占位符 5"/>
          <p:cNvSpPr txBox="1">
            <a:spLocks/>
          </p:cNvSpPr>
          <p:nvPr/>
        </p:nvSpPr>
        <p:spPr>
          <a:xfrm>
            <a:off x="323528" y="1851670"/>
            <a:ext cx="5040560" cy="352839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Tx/>
              <a:buNone/>
            </a:pPr>
            <a:r>
              <a:rPr kumimoji="0" lang="en-US" altLang="zh-CN" sz="2000" b="0" kern="0" dirty="0"/>
              <a:t>n=</a:t>
            </a:r>
            <a:r>
              <a:rPr kumimoji="0" lang="en-US" altLang="zh-CN" sz="2000" b="0" kern="0" dirty="0" err="1"/>
              <a:t>int</a:t>
            </a:r>
            <a:r>
              <a:rPr kumimoji="0" lang="en-US" altLang="zh-CN" sz="2000" b="0" kern="0" dirty="0"/>
              <a:t>(input("please </a:t>
            </a:r>
            <a:r>
              <a:rPr kumimoji="0" lang="en-US" altLang="zh-CN" sz="2000" b="0" kern="0" dirty="0" err="1"/>
              <a:t>intput</a:t>
            </a:r>
            <a:r>
              <a:rPr kumimoji="0" lang="en-US" altLang="zh-CN" sz="2000" b="0" kern="0" dirty="0"/>
              <a:t> n:"))</a:t>
            </a:r>
          </a:p>
          <a:p>
            <a:pPr marL="0" indent="0">
              <a:buFontTx/>
              <a:buNone/>
            </a:pPr>
            <a:r>
              <a:rPr kumimoji="0" lang="en-US" altLang="zh-CN" sz="2000" b="0" kern="0" dirty="0"/>
              <a:t>s=0</a:t>
            </a:r>
          </a:p>
          <a:p>
            <a:pPr marL="0" indent="0">
              <a:buFontTx/>
              <a:buNone/>
            </a:pPr>
            <a:r>
              <a:rPr kumimoji="0" lang="en-US" altLang="zh-CN" sz="2000" b="0" kern="0" dirty="0"/>
              <a:t>t=1</a:t>
            </a:r>
          </a:p>
          <a:p>
            <a:pPr marL="0" indent="0">
              <a:buFontTx/>
              <a:buNone/>
            </a:pPr>
            <a:r>
              <a:rPr kumimoji="0" lang="en-US" altLang="zh-CN" sz="2000" b="0" kern="0" dirty="0"/>
              <a:t>for </a:t>
            </a:r>
            <a:r>
              <a:rPr kumimoji="0" lang="en-US" altLang="zh-CN" sz="2000" b="0" kern="0" dirty="0" err="1"/>
              <a:t>i</a:t>
            </a:r>
            <a:r>
              <a:rPr kumimoji="0" lang="en-US" altLang="zh-CN" sz="2000" b="0" kern="0" dirty="0"/>
              <a:t> in range(1,n+1):</a:t>
            </a:r>
          </a:p>
          <a:p>
            <a:pPr marL="0" indent="0">
              <a:buFontTx/>
              <a:buNone/>
            </a:pPr>
            <a:r>
              <a:rPr kumimoji="0" lang="en-US" altLang="zh-CN" sz="2000" b="0" kern="0" dirty="0"/>
              <a:t>    t *=</a:t>
            </a:r>
            <a:r>
              <a:rPr kumimoji="0" lang="en-US" altLang="zh-CN" sz="2000" b="0" kern="0" dirty="0" err="1"/>
              <a:t>i</a:t>
            </a:r>
            <a:r>
              <a:rPr kumimoji="0" lang="en-US" altLang="zh-CN" sz="2000" b="0" kern="0" dirty="0"/>
              <a:t>          # </a:t>
            </a:r>
            <a:r>
              <a:rPr kumimoji="0" lang="zh-CN" altLang="en-US" sz="2000" b="0" kern="0" dirty="0"/>
              <a:t>计算第</a:t>
            </a:r>
            <a:r>
              <a:rPr kumimoji="0" lang="en-US" altLang="zh-CN" sz="2000" b="0" kern="0" dirty="0" err="1"/>
              <a:t>i</a:t>
            </a:r>
            <a:r>
              <a:rPr kumimoji="0" lang="zh-CN" altLang="en-US" sz="2000" b="0" kern="0" dirty="0"/>
              <a:t>项的值</a:t>
            </a:r>
            <a:r>
              <a:rPr kumimoji="0" lang="en-US" altLang="zh-CN" sz="2000" b="0" kern="0" dirty="0"/>
              <a:t>      </a:t>
            </a:r>
          </a:p>
          <a:p>
            <a:pPr marL="0" indent="0">
              <a:buFontTx/>
              <a:buNone/>
            </a:pPr>
            <a:r>
              <a:rPr kumimoji="0" lang="en-US" altLang="zh-CN" sz="2000" b="0" kern="0" dirty="0"/>
              <a:t>    s += t</a:t>
            </a:r>
          </a:p>
          <a:p>
            <a:pPr marL="0" indent="0">
              <a:buFontTx/>
              <a:buNone/>
            </a:pPr>
            <a:r>
              <a:rPr kumimoji="0" lang="en-US" altLang="zh-CN" sz="2000" b="0" kern="0" dirty="0"/>
              <a:t>print(s)</a:t>
            </a:r>
          </a:p>
          <a:p>
            <a:pPr marL="0" indent="0">
              <a:buFontTx/>
              <a:buNone/>
            </a:pPr>
            <a:endParaRPr kumimoji="0" lang="en-US" altLang="zh-CN" sz="2000" b="0" kern="0" dirty="0"/>
          </a:p>
          <a:p>
            <a:pPr marL="0" indent="0">
              <a:buFontTx/>
              <a:buNone/>
            </a:pPr>
            <a:endParaRPr kumimoji="0" lang="en-US" altLang="zh-CN" sz="2000" b="0" kern="0" dirty="0"/>
          </a:p>
          <a:p>
            <a:pPr marL="0" indent="0">
              <a:buFontTx/>
              <a:buNone/>
            </a:pPr>
            <a:endParaRPr kumimoji="0" lang="zh-CN" altLang="en-US" sz="2000" b="0" kern="0" dirty="0"/>
          </a:p>
        </p:txBody>
      </p:sp>
    </p:spTree>
    <p:extLst>
      <p:ext uri="{BB962C8B-B14F-4D97-AF65-F5344CB8AC3E}">
        <p14:creationId xmlns:p14="http://schemas.microsoft.com/office/powerpoint/2010/main" val="247157209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395536" y="339755"/>
            <a:ext cx="5829300" cy="594066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b" anchorCtr="0" compatLnSpc="1">
            <a:prstTxWarp prst="textNoShape">
              <a:avLst/>
            </a:prstTxWarp>
          </a:bodyPr>
          <a:lstStyle/>
          <a:p>
            <a:pPr algn="l"/>
            <a:r>
              <a:rPr lang="zh-CN" altLang="en-US" sz="4000" dirty="0">
                <a:latin typeface="黑体" pitchFamily="49" charset="-122"/>
                <a:ea typeface="黑体" pitchFamily="49" charset="-122"/>
              </a:rPr>
              <a:t>例子</a:t>
            </a:r>
            <a:r>
              <a:rPr lang="en-US" altLang="zh-CN" sz="4000" dirty="0">
                <a:latin typeface="黑体" pitchFamily="49" charset="-122"/>
                <a:ea typeface="黑体" pitchFamily="49" charset="-122"/>
              </a:rPr>
              <a:t>:</a:t>
            </a:r>
            <a:r>
              <a:rPr lang="zh-CN" altLang="en-US" sz="4000" dirty="0">
                <a:latin typeface="黑体" pitchFamily="49" charset="-122"/>
                <a:ea typeface="黑体" pitchFamily="49" charset="-122"/>
              </a:rPr>
              <a:t>个位</a:t>
            </a:r>
            <a:r>
              <a:rPr lang="en-US" altLang="zh-CN" sz="4000" dirty="0">
                <a:latin typeface="黑体" pitchFamily="49" charset="-122"/>
                <a:ea typeface="黑体" pitchFamily="49" charset="-122"/>
              </a:rPr>
              <a:t>+</a:t>
            </a:r>
            <a:r>
              <a:rPr lang="zh-CN" altLang="en-US" sz="4000" dirty="0">
                <a:latin typeface="黑体" pitchFamily="49" charset="-122"/>
                <a:ea typeface="黑体" pitchFamily="49" charset="-122"/>
              </a:rPr>
              <a:t>十位</a:t>
            </a:r>
            <a:r>
              <a:rPr lang="en-US" altLang="zh-CN" sz="4000" dirty="0">
                <a:latin typeface="黑体" pitchFamily="49" charset="-122"/>
                <a:ea typeface="黑体" pitchFamily="49" charset="-122"/>
              </a:rPr>
              <a:t>+</a:t>
            </a:r>
            <a:r>
              <a:rPr lang="zh-CN" altLang="en-US" sz="4000" dirty="0">
                <a:latin typeface="黑体" pitchFamily="49" charset="-122"/>
                <a:ea typeface="黑体" pitchFamily="49" charset="-122"/>
              </a:rPr>
              <a:t>百位</a:t>
            </a:r>
            <a:r>
              <a:rPr lang="en-US" altLang="zh-CN" sz="4000" dirty="0">
                <a:latin typeface="黑体" pitchFamily="49" charset="-122"/>
                <a:ea typeface="黑体" pitchFamily="49" charset="-122"/>
              </a:rPr>
              <a:t>==5</a:t>
            </a:r>
            <a:endParaRPr lang="zh-CN" altLang="en-US" sz="4000" dirty="0"/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395536" y="938678"/>
            <a:ext cx="6480720" cy="55065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>
              <a:buFontTx/>
              <a:buNone/>
            </a:pPr>
            <a:r>
              <a:rPr lang="zh-CN" altLang="en-US" sz="1800" dirty="0">
                <a:latin typeface="楷体_GB2312" pitchFamily="49" charset="-122"/>
              </a:rPr>
              <a:t>寻找所有</a:t>
            </a:r>
            <a:r>
              <a:rPr lang="en-US" altLang="zh-CN" sz="1800" dirty="0">
                <a:latin typeface="楷体_GB2312" pitchFamily="49" charset="-122"/>
              </a:rPr>
              <a:t>3</a:t>
            </a:r>
            <a:r>
              <a:rPr lang="zh-CN" altLang="en-US" sz="1800" dirty="0">
                <a:latin typeface="楷体_GB2312" pitchFamily="49" charset="-122"/>
              </a:rPr>
              <a:t>位正整数，个位</a:t>
            </a:r>
            <a:r>
              <a:rPr lang="en-US" altLang="zh-CN" sz="1800" dirty="0">
                <a:latin typeface="楷体_GB2312" pitchFamily="49" charset="-122"/>
              </a:rPr>
              <a:t>+</a:t>
            </a:r>
            <a:r>
              <a:rPr lang="zh-CN" altLang="en-US" sz="1800" dirty="0">
                <a:latin typeface="楷体_GB2312" pitchFamily="49" charset="-122"/>
              </a:rPr>
              <a:t>十位</a:t>
            </a:r>
            <a:r>
              <a:rPr lang="en-US" altLang="zh-CN" sz="1800" dirty="0">
                <a:latin typeface="楷体_GB2312" pitchFamily="49" charset="-122"/>
              </a:rPr>
              <a:t>+</a:t>
            </a:r>
            <a:r>
              <a:rPr lang="zh-CN" altLang="en-US" sz="1800" dirty="0">
                <a:latin typeface="楷体_GB2312" pitchFamily="49" charset="-122"/>
              </a:rPr>
              <a:t>百位</a:t>
            </a:r>
            <a:r>
              <a:rPr lang="en-US" altLang="zh-CN" sz="1800" dirty="0">
                <a:latin typeface="楷体_GB2312" pitchFamily="49" charset="-122"/>
              </a:rPr>
              <a:t>=5</a:t>
            </a:r>
            <a:r>
              <a:rPr lang="zh-CN" altLang="en-US" sz="1800" dirty="0">
                <a:latin typeface="楷体_GB2312" pitchFamily="49" charset="-122"/>
              </a:rPr>
              <a:t>的数，每</a:t>
            </a:r>
            <a:r>
              <a:rPr lang="en-US" altLang="zh-CN" sz="1800" dirty="0">
                <a:latin typeface="楷体_GB2312" pitchFamily="49" charset="-122"/>
              </a:rPr>
              <a:t>4</a:t>
            </a:r>
            <a:r>
              <a:rPr lang="zh-CN" altLang="en-US" sz="1800" dirty="0">
                <a:latin typeface="楷体_GB2312" pitchFamily="49" charset="-122"/>
              </a:rPr>
              <a:t>个一行</a:t>
            </a:r>
            <a:endParaRPr lang="en-US" altLang="zh-CN" sz="1800" dirty="0">
              <a:latin typeface="楷体_GB2312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C9C07D5-23BB-49C8-9621-F2066503D31B}"/>
              </a:ext>
            </a:extLst>
          </p:cNvPr>
          <p:cNvSpPr txBox="1"/>
          <p:nvPr/>
        </p:nvSpPr>
        <p:spPr>
          <a:xfrm>
            <a:off x="395536" y="1707654"/>
            <a:ext cx="73448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遍历所有三位数，用一个循环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对每个三位数 </a:t>
            </a:r>
            <a:r>
              <a:rPr lang="en-US" altLang="zh-CN" dirty="0"/>
              <a:t>x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用</a:t>
            </a:r>
            <a:r>
              <a:rPr lang="en-US" altLang="zh-CN" dirty="0"/>
              <a:t>%</a:t>
            </a:r>
            <a:r>
              <a:rPr lang="zh-CN" altLang="en-US" dirty="0"/>
              <a:t>，</a:t>
            </a:r>
            <a:r>
              <a:rPr lang="en-US" altLang="zh-CN" dirty="0"/>
              <a:t>//</a:t>
            </a:r>
            <a:r>
              <a:rPr lang="zh-CN" altLang="en-US" dirty="0"/>
              <a:t>等运算，计算</a:t>
            </a:r>
            <a:r>
              <a:rPr lang="en-US" altLang="zh-CN" dirty="0"/>
              <a:t>x</a:t>
            </a:r>
            <a:r>
              <a:rPr lang="zh-CN" altLang="en-US" dirty="0"/>
              <a:t>的个位、十位、百位数，计算三者和 </a:t>
            </a:r>
            <a:r>
              <a:rPr lang="en-US" altLang="zh-CN" dirty="0"/>
              <a:t>n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dirty="0"/>
              <a:t>判断</a:t>
            </a:r>
            <a:r>
              <a:rPr lang="en-US" altLang="zh-CN" dirty="0"/>
              <a:t>n</a:t>
            </a:r>
            <a:r>
              <a:rPr lang="zh-CN" altLang="en-US" dirty="0"/>
              <a:t>是否等于</a:t>
            </a:r>
            <a:r>
              <a:rPr lang="en-US" altLang="zh-CN" dirty="0"/>
              <a:t>5</a:t>
            </a:r>
            <a:r>
              <a:rPr lang="zh-CN" altLang="en-US" dirty="0"/>
              <a:t>，决定是否输出</a:t>
            </a:r>
            <a:r>
              <a:rPr lang="en-US" altLang="zh-CN" dirty="0"/>
              <a:t>x</a:t>
            </a:r>
          </a:p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17150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395536" y="339755"/>
            <a:ext cx="5829300" cy="594066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b" anchorCtr="0" compatLnSpc="1">
            <a:prstTxWarp prst="textNoShape">
              <a:avLst/>
            </a:prstTxWarp>
          </a:bodyPr>
          <a:lstStyle/>
          <a:p>
            <a:pPr algn="l"/>
            <a:r>
              <a:rPr lang="zh-CN" altLang="en-US" sz="4000" dirty="0">
                <a:latin typeface="黑体" pitchFamily="49" charset="-122"/>
                <a:ea typeface="黑体" pitchFamily="49" charset="-122"/>
              </a:rPr>
              <a:t>实例</a:t>
            </a:r>
            <a:r>
              <a:rPr lang="en-US" altLang="zh-CN" sz="4000" dirty="0">
                <a:latin typeface="黑体" pitchFamily="49" charset="-122"/>
                <a:ea typeface="黑体" pitchFamily="49" charset="-122"/>
              </a:rPr>
              <a:t>:</a:t>
            </a:r>
            <a:r>
              <a:rPr lang="zh-CN" altLang="en-US" sz="4000" dirty="0">
                <a:latin typeface="黑体" pitchFamily="49" charset="-122"/>
                <a:ea typeface="黑体" pitchFamily="49" charset="-122"/>
              </a:rPr>
              <a:t>个位</a:t>
            </a:r>
            <a:r>
              <a:rPr lang="en-US" altLang="zh-CN" sz="4000" dirty="0">
                <a:latin typeface="黑体" pitchFamily="49" charset="-122"/>
                <a:ea typeface="黑体" pitchFamily="49" charset="-122"/>
              </a:rPr>
              <a:t>+</a:t>
            </a:r>
            <a:r>
              <a:rPr lang="zh-CN" altLang="en-US" sz="4000" dirty="0">
                <a:latin typeface="黑体" pitchFamily="49" charset="-122"/>
                <a:ea typeface="黑体" pitchFamily="49" charset="-122"/>
              </a:rPr>
              <a:t>十位</a:t>
            </a:r>
            <a:r>
              <a:rPr lang="en-US" altLang="zh-CN" sz="4000" dirty="0">
                <a:latin typeface="黑体" pitchFamily="49" charset="-122"/>
                <a:ea typeface="黑体" pitchFamily="49" charset="-122"/>
              </a:rPr>
              <a:t>+</a:t>
            </a:r>
            <a:r>
              <a:rPr lang="zh-CN" altLang="en-US" sz="4000" dirty="0">
                <a:latin typeface="黑体" pitchFamily="49" charset="-122"/>
                <a:ea typeface="黑体" pitchFamily="49" charset="-122"/>
              </a:rPr>
              <a:t>百位</a:t>
            </a:r>
            <a:r>
              <a:rPr lang="en-US" altLang="zh-CN" sz="4000" dirty="0">
                <a:latin typeface="黑体" pitchFamily="49" charset="-122"/>
                <a:ea typeface="黑体" pitchFamily="49" charset="-122"/>
              </a:rPr>
              <a:t>==5</a:t>
            </a:r>
            <a:endParaRPr lang="zh-CN" altLang="en-US" sz="4000" dirty="0"/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395536" y="933821"/>
            <a:ext cx="5990195" cy="55065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>
              <a:buFontTx/>
              <a:buNone/>
            </a:pPr>
            <a:r>
              <a:rPr lang="zh-CN" altLang="en-US" sz="1800" dirty="0">
                <a:latin typeface="楷体_GB2312" pitchFamily="49" charset="-122"/>
              </a:rPr>
              <a:t>寻找</a:t>
            </a:r>
            <a:r>
              <a:rPr lang="en-US" altLang="zh-CN" sz="1800" dirty="0">
                <a:latin typeface="楷体_GB2312" pitchFamily="49" charset="-122"/>
              </a:rPr>
              <a:t>1000</a:t>
            </a:r>
            <a:r>
              <a:rPr lang="zh-CN" altLang="en-US" sz="1800" dirty="0">
                <a:latin typeface="楷体_GB2312" pitchFamily="49" charset="-122"/>
              </a:rPr>
              <a:t>之内，个位</a:t>
            </a:r>
            <a:r>
              <a:rPr lang="en-US" altLang="zh-CN" sz="1800" dirty="0">
                <a:latin typeface="楷体_GB2312" pitchFamily="49" charset="-122"/>
              </a:rPr>
              <a:t>+</a:t>
            </a:r>
            <a:r>
              <a:rPr lang="zh-CN" altLang="en-US" sz="1800" dirty="0">
                <a:latin typeface="楷体_GB2312" pitchFamily="49" charset="-122"/>
              </a:rPr>
              <a:t>十位</a:t>
            </a:r>
            <a:r>
              <a:rPr lang="en-US" altLang="zh-CN" sz="1800" dirty="0">
                <a:latin typeface="楷体_GB2312" pitchFamily="49" charset="-122"/>
              </a:rPr>
              <a:t>+</a:t>
            </a:r>
            <a:r>
              <a:rPr lang="zh-CN" altLang="en-US" sz="1800" dirty="0">
                <a:latin typeface="楷体_GB2312" pitchFamily="49" charset="-122"/>
              </a:rPr>
              <a:t>百位</a:t>
            </a:r>
            <a:r>
              <a:rPr lang="en-US" altLang="zh-CN" sz="1800" dirty="0">
                <a:latin typeface="楷体_GB2312" pitchFamily="49" charset="-122"/>
              </a:rPr>
              <a:t>=5</a:t>
            </a:r>
            <a:r>
              <a:rPr lang="zh-CN" altLang="en-US" sz="1800" dirty="0">
                <a:latin typeface="楷体_GB2312" pitchFamily="49" charset="-122"/>
              </a:rPr>
              <a:t>的数</a:t>
            </a:r>
            <a:endParaRPr lang="en-US" altLang="zh-CN" sz="1800" dirty="0">
              <a:latin typeface="楷体_GB2312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C9C07D5-23BB-49C8-9621-F2066503D31B}"/>
              </a:ext>
            </a:extLst>
          </p:cNvPr>
          <p:cNvSpPr txBox="1"/>
          <p:nvPr/>
        </p:nvSpPr>
        <p:spPr>
          <a:xfrm>
            <a:off x="383821" y="1707654"/>
            <a:ext cx="78488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/>
              <a:t>for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 in range(1,1001):</a:t>
            </a:r>
          </a:p>
          <a:p>
            <a:r>
              <a:rPr lang="en-US" altLang="zh-CN" sz="1800" dirty="0"/>
              <a:t>    n=0</a:t>
            </a:r>
          </a:p>
          <a:p>
            <a:r>
              <a:rPr lang="en-US" altLang="zh-CN" sz="1800" dirty="0"/>
              <a:t>    x=</a:t>
            </a:r>
            <a:r>
              <a:rPr lang="en-US" altLang="zh-CN" sz="1800" dirty="0" err="1"/>
              <a:t>i</a:t>
            </a:r>
            <a:endParaRPr lang="en-US" altLang="zh-CN" sz="1800" dirty="0"/>
          </a:p>
          <a:p>
            <a:r>
              <a:rPr lang="en-US" altLang="zh-CN" sz="1800" dirty="0"/>
              <a:t>    while(x&gt;0):</a:t>
            </a:r>
          </a:p>
          <a:p>
            <a:r>
              <a:rPr lang="en-US" altLang="zh-CN" sz="1800" dirty="0"/>
              <a:t>        n+=x%10</a:t>
            </a:r>
          </a:p>
          <a:p>
            <a:r>
              <a:rPr lang="en-US" altLang="zh-CN" sz="1800" dirty="0"/>
              <a:t>        x//=10</a:t>
            </a:r>
          </a:p>
          <a:p>
            <a:r>
              <a:rPr lang="en-US" altLang="zh-CN" sz="1800" dirty="0"/>
              <a:t>    if(n==5):</a:t>
            </a:r>
          </a:p>
          <a:p>
            <a:r>
              <a:rPr lang="en-US" altLang="zh-CN" sz="1800" dirty="0"/>
              <a:t>        print(</a:t>
            </a:r>
            <a:r>
              <a:rPr lang="en-US" altLang="zh-CN" sz="1800" dirty="0" err="1"/>
              <a:t>i,end</a:t>
            </a:r>
            <a:r>
              <a:rPr lang="en-US" altLang="zh-CN" sz="1800" dirty="0"/>
              <a:t>=" ")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5036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98799"/>
            <a:ext cx="8534400" cy="530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algn="l"/>
            <a:r>
              <a:rPr lang="zh-CN" altLang="zh-CN" sz="2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循环结构的其他语句</a:t>
            </a:r>
            <a:endParaRPr lang="zh-CN" altLang="en-US" sz="2800" dirty="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584713" name="Rectangle 9"/>
          <p:cNvSpPr>
            <a:spLocks noChangeArrowheads="1"/>
          </p:cNvSpPr>
          <p:nvPr/>
        </p:nvSpPr>
        <p:spPr bwMode="auto">
          <a:xfrm>
            <a:off x="210142" y="752371"/>
            <a:ext cx="7818242" cy="3510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algn="just">
              <a:lnSpc>
                <a:spcPct val="110000"/>
              </a:lnSpc>
              <a:spcBef>
                <a:spcPts val="1200"/>
              </a:spcBef>
            </a:pPr>
            <a:r>
              <a:rPr lang="en-US" altLang="zh-CN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1.</a:t>
            </a:r>
            <a:r>
              <a:rPr lang="zh-CN" altLang="en-US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跳转类语句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lang="en-US" altLang="zh-CN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Python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提供的跳转类语句</a:t>
            </a:r>
            <a:r>
              <a:rPr lang="zh-CN" altLang="en-US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：</a:t>
            </a:r>
            <a:r>
              <a:rPr lang="en-US" altLang="zh-CN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</a:t>
            </a:r>
            <a:r>
              <a:rPr lang="en-US" altLang="zh-CN" sz="1800" dirty="0">
                <a:solidFill>
                  <a:srgbClr val="FF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break</a:t>
            </a:r>
            <a:r>
              <a:rPr lang="zh-CN" altLang="en-US" sz="1800" dirty="0">
                <a:solidFill>
                  <a:srgbClr val="FF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、</a:t>
            </a:r>
            <a:r>
              <a:rPr lang="en-US" altLang="zh-CN" sz="1800" dirty="0">
                <a:solidFill>
                  <a:srgbClr val="FF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continue</a:t>
            </a:r>
            <a:r>
              <a:rPr lang="zh-CN" altLang="en-US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、</a:t>
            </a:r>
            <a:r>
              <a:rPr lang="en-US" altLang="zh-CN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pass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。</a:t>
            </a:r>
            <a:endParaRPr lang="en-US" altLang="zh-CN" sz="1800" b="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（</a:t>
            </a:r>
            <a:r>
              <a:rPr lang="en-US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1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）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break</a:t>
            </a:r>
            <a:r>
              <a:rPr lang="zh-CN" altLang="en-US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</a:t>
            </a:r>
            <a:endParaRPr lang="en-US" altLang="zh-CN" sz="1600" dirty="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lang="en-US" altLang="zh-CN" sz="1600" dirty="0"/>
              <a:t>    </a:t>
            </a:r>
            <a:r>
              <a:rPr lang="zh-CN" altLang="zh-CN" sz="1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作用</a:t>
            </a:r>
            <a:r>
              <a:rPr lang="zh-CN" altLang="en-US" sz="1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：终止包含</a:t>
            </a:r>
            <a:r>
              <a:rPr lang="en-US" altLang="zh-CN" sz="1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break</a:t>
            </a:r>
            <a:r>
              <a:rPr lang="zh-CN" altLang="en-US" sz="1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的最内层循环</a:t>
            </a:r>
            <a:endParaRPr lang="en-US" altLang="zh-CN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               break</a:t>
            </a: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语句有时又称为循环的断路语句。</a:t>
            </a:r>
            <a:endParaRPr lang="en-US" altLang="zh-CN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（</a:t>
            </a:r>
            <a:r>
              <a:rPr lang="en-US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2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）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continue</a:t>
            </a:r>
            <a:r>
              <a:rPr lang="zh-CN" altLang="en-US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</a:t>
            </a:r>
            <a:endParaRPr lang="en-US" altLang="zh-CN" sz="1600" dirty="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lang="en-US" altLang="zh-CN" sz="1600" dirty="0"/>
              <a:t>     </a:t>
            </a:r>
            <a:r>
              <a:rPr lang="zh-CN" altLang="zh-CN" sz="1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作用</a:t>
            </a:r>
            <a:r>
              <a:rPr lang="zh-CN" altLang="en-US" sz="1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跳过本次循环体的余下语句，提前结束本次循环，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作</a:t>
            </a: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下一次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循环</a:t>
            </a: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              continue</a:t>
            </a: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语句有时又称为循环的短路语句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    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4168" y="2427734"/>
            <a:ext cx="2495550" cy="89535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 bwMode="auto">
          <a:xfrm>
            <a:off x="7125022" y="1256781"/>
            <a:ext cx="14546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000" b="1" i="0" u="none" strike="noStrike" cap="none" normalizeH="0" baseline="0" dirty="0">
                <a:ln>
                  <a:noFill/>
                </a:ln>
                <a:solidFill>
                  <a:srgbClr val="A50021"/>
                </a:solidFill>
                <a:effectLst/>
                <a:latin typeface="Arial" charset="0"/>
                <a:ea typeface="黑体" pitchFamily="2" charset="-122"/>
              </a:rPr>
              <a:t>打断</a:t>
            </a:r>
            <a:r>
              <a:rPr kumimoji="1" lang="en-US" altLang="zh-CN" sz="2000" b="1" i="0" u="none" strike="noStrike" cap="none" normalizeH="0" baseline="0" dirty="0">
                <a:ln>
                  <a:noFill/>
                </a:ln>
                <a:solidFill>
                  <a:srgbClr val="A50021"/>
                </a:solidFill>
                <a:effectLst/>
                <a:latin typeface="Arial" charset="0"/>
                <a:ea typeface="黑体" pitchFamily="2" charset="-122"/>
              </a:rPr>
              <a:t>j</a:t>
            </a:r>
            <a:r>
              <a:rPr kumimoji="1" lang="zh-CN" altLang="en-US" sz="2000" b="1" i="0" u="none" strike="noStrike" cap="none" normalizeH="0" baseline="0" dirty="0">
                <a:ln>
                  <a:noFill/>
                </a:ln>
                <a:solidFill>
                  <a:srgbClr val="A50021"/>
                </a:solidFill>
                <a:effectLst/>
                <a:latin typeface="Arial" charset="0"/>
                <a:ea typeface="黑体" pitchFamily="2" charset="-122"/>
              </a:rPr>
              <a:t>循环</a:t>
            </a:r>
          </a:p>
        </p:txBody>
      </p:sp>
      <p:sp>
        <p:nvSpPr>
          <p:cNvPr id="4" name="下箭头 3"/>
          <p:cNvSpPr/>
          <p:nvPr/>
        </p:nvSpPr>
        <p:spPr bwMode="auto">
          <a:xfrm>
            <a:off x="7708354" y="1710602"/>
            <a:ext cx="320030" cy="693786"/>
          </a:xfrm>
          <a:prstGeom prst="downArrow">
            <a:avLst/>
          </a:prstGeom>
          <a:solidFill>
            <a:srgbClr val="FF0000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0724848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4932040" y="356324"/>
            <a:ext cx="8534400" cy="530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algn="l"/>
            <a:r>
              <a:rPr lang="zh-CN" altLang="en-US" sz="1800" b="1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例</a:t>
            </a:r>
            <a:r>
              <a:rPr lang="en-US" altLang="zh-CN" sz="1800" b="1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3.17 </a:t>
            </a:r>
            <a:r>
              <a:rPr lang="en-US" altLang="zh-CN" sz="1800" b="1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break</a:t>
            </a:r>
            <a:r>
              <a:rPr lang="zh-CN" altLang="en-US" sz="1800" b="1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、</a:t>
            </a:r>
            <a:r>
              <a:rPr lang="en-US" altLang="zh-CN" sz="1800" b="1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continue</a:t>
            </a:r>
            <a:r>
              <a:rPr lang="zh-CN" altLang="en-US" sz="1800" b="1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语句区别</a:t>
            </a:r>
            <a:endParaRPr lang="zh-CN" altLang="en-US" sz="1800" b="1" dirty="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8946504" y="4659982"/>
            <a:ext cx="162000" cy="16141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5666429"/>
              </p:ext>
            </p:extLst>
          </p:nvPr>
        </p:nvGraphicFramePr>
        <p:xfrm>
          <a:off x="179511" y="1707654"/>
          <a:ext cx="5261453" cy="2880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566" name="Picture" r:id="rId4" imgW="3534937" imgH="1951463" progId="Word.Picture.8">
                  <p:embed/>
                </p:oleObj>
              </mc:Choice>
              <mc:Fallback>
                <p:oleObj name="Picture" r:id="rId4" imgW="3534937" imgH="1951463" progId="Word.Picture.8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1" y="1707654"/>
                        <a:ext cx="5261453" cy="288032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67544" y="621437"/>
            <a:ext cx="30963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break</a:t>
            </a:r>
            <a:r>
              <a:rPr lang="zh-CN" altLang="en-US" sz="20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、</a:t>
            </a:r>
            <a:r>
              <a:rPr lang="en-US" altLang="zh-CN" sz="20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continue</a:t>
            </a:r>
            <a:r>
              <a:rPr lang="zh-CN" altLang="en-US" sz="20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语句区别示意图</a:t>
            </a:r>
            <a:endParaRPr lang="zh-CN" altLang="en-US" sz="2000" dirty="0"/>
          </a:p>
        </p:txBody>
      </p:sp>
      <p:sp>
        <p:nvSpPr>
          <p:cNvPr id="8" name="AutoShape 44"/>
          <p:cNvSpPr>
            <a:spLocks noChangeArrowheads="1"/>
          </p:cNvSpPr>
          <p:nvPr/>
        </p:nvSpPr>
        <p:spPr bwMode="gray">
          <a:xfrm>
            <a:off x="5364088" y="1131590"/>
            <a:ext cx="3663416" cy="1368152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for i in range(20,0,-1):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if i % 6 == 0: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   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break</a:t>
            </a:r>
            <a:endParaRPr lang="zh-CN" altLang="zh-CN" sz="1600" dirty="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print(</a:t>
            </a:r>
            <a:r>
              <a:rPr lang="en-US" altLang="zh-CN" sz="16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i,end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=" ")</a:t>
            </a:r>
          </a:p>
          <a:p>
            <a:r>
              <a:rPr lang="zh-CN" altLang="en-US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运行结果显示？：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20 19</a:t>
            </a:r>
          </a:p>
        </p:txBody>
      </p:sp>
      <p:sp>
        <p:nvSpPr>
          <p:cNvPr id="9" name="AutoShape 44"/>
          <p:cNvSpPr>
            <a:spLocks noChangeArrowheads="1"/>
          </p:cNvSpPr>
          <p:nvPr/>
        </p:nvSpPr>
        <p:spPr bwMode="gray">
          <a:xfrm>
            <a:off x="5343940" y="2715766"/>
            <a:ext cx="3800059" cy="1512168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for i in range(20,0,-1):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if i % 6 == 0: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   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continue</a:t>
            </a:r>
          </a:p>
          <a:p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print(</a:t>
            </a:r>
            <a:r>
              <a:rPr lang="en-US" altLang="zh-CN" sz="16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i,end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=" ")</a:t>
            </a:r>
          </a:p>
          <a:p>
            <a:r>
              <a:rPr lang="zh-CN" altLang="en-US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运行结果显示：</a:t>
            </a:r>
            <a:r>
              <a:rPr lang="en-US" altLang="zh-CN" sz="1600" dirty="0"/>
              <a:t> 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20 </a:t>
            </a:r>
            <a:r>
              <a:rPr lang="en-US" altLang="zh-CN" sz="1600" dirty="0">
                <a:solidFill>
                  <a:srgbClr val="FF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19 17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16 15 14</a:t>
            </a:r>
          </a:p>
          <a:p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</a:t>
            </a:r>
            <a:r>
              <a:rPr lang="en-US" altLang="zh-CN" sz="1600" dirty="0">
                <a:solidFill>
                  <a:srgbClr val="FF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13 11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10 9 8 </a:t>
            </a:r>
            <a:r>
              <a:rPr lang="en-US" altLang="zh-CN" sz="2000" dirty="0">
                <a:solidFill>
                  <a:srgbClr val="FF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7 5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4 3 2 1</a:t>
            </a:r>
          </a:p>
        </p:txBody>
      </p:sp>
    </p:spTree>
    <p:extLst>
      <p:ext uri="{BB962C8B-B14F-4D97-AF65-F5344CB8AC3E}">
        <p14:creationId xmlns:p14="http://schemas.microsoft.com/office/powerpoint/2010/main" val="2141866891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/>
      <p:bldP spid="8" grpId="0" animBg="1"/>
      <p:bldP spid="9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8410575" y="4857750"/>
            <a:ext cx="733425" cy="285750"/>
          </a:xfrm>
          <a:prstGeom prst="rect">
            <a:avLst/>
          </a:prstGeom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/>
            <a:fld id="{2AE54F71-5FC5-435E-A74A-4566365110DC}" type="slidenum">
              <a:rPr kumimoji="0" lang="en-US" altLang="zh-CN" sz="1800" smtClean="0">
                <a:solidFill>
                  <a:schemeClr val="bg1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pPr eaLnBrk="1" hangingPunct="1"/>
              <a:t>63</a:t>
            </a:fld>
            <a:endParaRPr kumimoji="0" lang="en-US" altLang="zh-CN" sz="1800">
              <a:solidFill>
                <a:schemeClr val="bg1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29931" y="242133"/>
            <a:ext cx="828161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0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【例</a:t>
            </a:r>
            <a:r>
              <a:rPr lang="en-US" altLang="zh-CN" sz="20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3.11</a:t>
            </a:r>
            <a:r>
              <a:rPr lang="zh-CN" altLang="zh-CN" sz="20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】 输入一字符串，检验其输入的是否全部是数字字符。</a:t>
            </a:r>
            <a:endParaRPr lang="zh-CN" altLang="zh-CN" sz="2000" b="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zh-CN" altLang="en-US" b="0" dirty="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11" name="AutoShape 44"/>
          <p:cNvSpPr>
            <a:spLocks noChangeArrowheads="1"/>
          </p:cNvSpPr>
          <p:nvPr/>
        </p:nvSpPr>
        <p:spPr bwMode="gray">
          <a:xfrm>
            <a:off x="395536" y="1432436"/>
            <a:ext cx="3600400" cy="3155538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600"/>
              </a:spcBef>
            </a:pPr>
            <a:r>
              <a:rPr lang="zh-CN" altLang="zh-CN" sz="1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方法一、遍历法</a:t>
            </a:r>
          </a:p>
          <a:p>
            <a:pPr>
              <a:spcBef>
                <a:spcPts val="600"/>
              </a:spcBef>
            </a:pP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str1=input("</a:t>
            </a:r>
            <a:r>
              <a:rPr lang="zh-CN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输入字符串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:")</a:t>
            </a:r>
            <a:endParaRPr lang="zh-CN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4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isNumeric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=True</a:t>
            </a:r>
            <a:endParaRPr lang="zh-CN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4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for c in str1:</a:t>
            </a:r>
            <a:endParaRPr lang="zh-CN" altLang="zh-CN" sz="1400" dirty="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zh-CN" altLang="en-US" sz="14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</a:t>
            </a:r>
            <a:r>
              <a:rPr lang="en-US" altLang="zh-CN" sz="14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if not  '0' &lt;= c &lt;='9':</a:t>
            </a:r>
            <a:endParaRPr lang="zh-CN" altLang="zh-CN" sz="1400" dirty="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4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   </a:t>
            </a:r>
            <a:r>
              <a:rPr lang="en-US" altLang="zh-CN" sz="1400" dirty="0" err="1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isNumeric</a:t>
            </a:r>
            <a:r>
              <a:rPr lang="en-US" altLang="zh-CN" sz="14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=False</a:t>
            </a:r>
            <a:endParaRPr lang="zh-CN" altLang="zh-CN" sz="1400" dirty="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if </a:t>
            </a:r>
            <a:r>
              <a:rPr lang="en-US" altLang="zh-CN" sz="14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isNumeric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:</a:t>
            </a:r>
            <a:endParaRPr lang="zh-CN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print(str1,"</a:t>
            </a:r>
            <a:r>
              <a:rPr lang="zh-CN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是数字字符串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")</a:t>
            </a:r>
            <a:endParaRPr lang="zh-CN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else:</a:t>
            </a:r>
            <a:endParaRPr lang="zh-CN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print(str1,"</a:t>
            </a:r>
            <a:r>
              <a:rPr lang="zh-CN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含有非数字字符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")</a:t>
            </a:r>
          </a:p>
        </p:txBody>
      </p:sp>
      <p:sp>
        <p:nvSpPr>
          <p:cNvPr id="11264" name="TextBox 11263"/>
          <p:cNvSpPr txBox="1"/>
          <p:nvPr/>
        </p:nvSpPr>
        <p:spPr>
          <a:xfrm>
            <a:off x="354945" y="709161"/>
            <a:ext cx="8748463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zh-CN" sz="1800" b="0" dirty="0">
                <a:latin typeface="微软雅黑" pitchFamily="34" charset="-122"/>
                <a:ea typeface="微软雅黑" pitchFamily="34" charset="-122"/>
              </a:rPr>
              <a:t>分析：</a:t>
            </a: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从字符串中逐一取出字符，判断</a:t>
            </a: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若是非数字字符则该字符串是非数字字符串。</a:t>
            </a:r>
            <a:endParaRPr lang="en-US" altLang="zh-CN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1800" dirty="0"/>
              <a:t>           </a:t>
            </a: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取字符有两种方法：遍历法或索引法。</a:t>
            </a:r>
            <a:endParaRPr lang="zh-CN" altLang="en-US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AutoShape 44"/>
          <p:cNvSpPr>
            <a:spLocks noChangeArrowheads="1"/>
          </p:cNvSpPr>
          <p:nvPr/>
        </p:nvSpPr>
        <p:spPr bwMode="gray">
          <a:xfrm>
            <a:off x="4103948" y="1534565"/>
            <a:ext cx="4891448" cy="2867506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600"/>
              </a:spcBef>
            </a:pPr>
            <a:r>
              <a:rPr lang="zh-CN" altLang="en-US" sz="20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左边的程序，有什么不好的地方？ </a:t>
            </a:r>
            <a:endParaRPr lang="en-US" altLang="zh-CN" sz="20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zh-CN" altLang="en-US" sz="20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能否改进？</a:t>
            </a:r>
            <a:endParaRPr lang="en-US" altLang="zh-CN" sz="20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zh-CN" altLang="en-US" sz="20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如输入   </a:t>
            </a:r>
            <a:r>
              <a:rPr lang="en-US" altLang="zh-CN" sz="20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12axy45zta</a:t>
            </a:r>
          </a:p>
          <a:p>
            <a:pPr>
              <a:spcBef>
                <a:spcPts val="600"/>
              </a:spcBef>
            </a:pPr>
            <a:r>
              <a:rPr lang="en-US" altLang="zh-CN" sz="2000" dirty="0" err="1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isNumeric</a:t>
            </a:r>
            <a:r>
              <a:rPr lang="en-US" altLang="zh-CN" sz="20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=False  </a:t>
            </a:r>
            <a:r>
              <a:rPr lang="zh-CN" altLang="en-US" sz="20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执行了几遍？</a:t>
            </a:r>
            <a:endParaRPr lang="en-US" altLang="zh-CN" sz="2000" dirty="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zh-CN" altLang="en-US" sz="20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后面加一个</a:t>
            </a:r>
            <a:r>
              <a:rPr lang="en-US" altLang="zh-CN" sz="20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break </a:t>
            </a:r>
            <a:r>
              <a:rPr lang="zh-CN" altLang="en-US" sz="20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语句，提高效率</a:t>
            </a:r>
            <a:endParaRPr lang="zh-CN" altLang="zh-CN" sz="2000" dirty="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endParaRPr lang="en-US" altLang="zh-CN" sz="20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1211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30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Text Box 126"/>
          <p:cNvSpPr txBox="1">
            <a:spLocks noChangeArrowheads="1"/>
          </p:cNvSpPr>
          <p:nvPr/>
        </p:nvSpPr>
        <p:spPr bwMode="auto">
          <a:xfrm>
            <a:off x="459468" y="123478"/>
            <a:ext cx="7002778" cy="463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b" anchorCtr="0" compatLnSpc="1">
            <a:prstTxWarp prst="textNoShape">
              <a:avLst/>
            </a:prstTxWarp>
          </a:bodyPr>
          <a:lstStyle>
            <a:lvl1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2pPr>
            <a:lvl3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3pPr>
            <a:lvl4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4pPr>
            <a:lvl5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5pPr>
            <a:lvl6pPr marL="4572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6pPr>
            <a:lvl7pPr marL="9144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7pPr>
            <a:lvl8pPr marL="13716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8pPr>
            <a:lvl9pPr marL="18288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9pPr>
          </a:lstStyle>
          <a:p>
            <a:r>
              <a:rPr lang="zh-CN" altLang="en-US" sz="2700" dirty="0">
                <a:solidFill>
                  <a:schemeClr val="tx1"/>
                </a:solidFill>
              </a:rPr>
              <a:t>练习：计算斐波那契数列到项值</a:t>
            </a:r>
            <a:r>
              <a:rPr lang="en-US" altLang="zh-CN" sz="2700" dirty="0">
                <a:solidFill>
                  <a:schemeClr val="tx1"/>
                </a:solidFill>
              </a:rPr>
              <a:t>&lt;=800</a:t>
            </a:r>
            <a:endParaRPr lang="zh-CN" altLang="en-US" sz="2700" dirty="0">
              <a:solidFill>
                <a:schemeClr val="tx1"/>
              </a:solidFill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323528" y="617319"/>
            <a:ext cx="4248472" cy="3564396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1197" indent="0">
              <a:buNone/>
            </a:pPr>
            <a:r>
              <a:rPr lang="zh-CN" altLang="en-US" sz="1800" dirty="0"/>
              <a:t>斐波那契数列，给定第</a:t>
            </a:r>
            <a:r>
              <a:rPr lang="en-US" altLang="zh-CN" sz="1800" dirty="0"/>
              <a:t>1</a:t>
            </a:r>
            <a:r>
              <a:rPr lang="zh-CN" altLang="en-US" sz="1800" dirty="0"/>
              <a:t>、</a:t>
            </a:r>
            <a:r>
              <a:rPr lang="en-US" altLang="zh-CN" sz="1800" dirty="0"/>
              <a:t>2</a:t>
            </a:r>
            <a:r>
              <a:rPr lang="zh-CN" altLang="en-US" sz="1800" dirty="0"/>
              <a:t>项，为</a:t>
            </a:r>
            <a:r>
              <a:rPr lang="en-US" altLang="zh-CN" sz="1800" dirty="0"/>
              <a:t>0</a:t>
            </a:r>
            <a:r>
              <a:rPr lang="zh-CN" altLang="en-US" sz="1800" dirty="0"/>
              <a:t>、</a:t>
            </a:r>
            <a:r>
              <a:rPr lang="en-US" altLang="zh-CN" sz="1800" dirty="0"/>
              <a:t>1</a:t>
            </a:r>
            <a:r>
              <a:rPr lang="zh-CN" altLang="en-US" sz="1800" dirty="0"/>
              <a:t>，后续任一项，是其前</a:t>
            </a:r>
            <a:r>
              <a:rPr lang="en-US" altLang="zh-CN" sz="1800" dirty="0"/>
              <a:t>2</a:t>
            </a:r>
            <a:r>
              <a:rPr lang="zh-CN" altLang="en-US" sz="1800" dirty="0"/>
              <a:t>项的加和。</a:t>
            </a:r>
            <a:endParaRPr lang="en-US" altLang="zh-CN" sz="1800" dirty="0"/>
          </a:p>
          <a:p>
            <a:pPr marL="394097">
              <a:buFont typeface="+mj-lt"/>
              <a:buAutoNum type="arabicPeriod"/>
            </a:pPr>
            <a:r>
              <a:rPr lang="zh-CN" altLang="en-US" sz="1800" dirty="0"/>
              <a:t>设现有两项目记作</a:t>
            </a:r>
            <a:r>
              <a:rPr lang="en-US" altLang="zh-CN" sz="1800" dirty="0"/>
              <a:t>: </a:t>
            </a:r>
            <a:r>
              <a:rPr lang="en-US" altLang="zh-CN" sz="1800" dirty="0" err="1"/>
              <a:t>a,b</a:t>
            </a:r>
            <a:endParaRPr lang="en-US" altLang="zh-CN" sz="1800" dirty="0"/>
          </a:p>
          <a:p>
            <a:pPr marL="394097">
              <a:buFont typeface="+mj-lt"/>
              <a:buAutoNum type="arabicPeriod"/>
            </a:pPr>
            <a:r>
              <a:rPr lang="zh-CN" altLang="en-US" sz="1800" dirty="0"/>
              <a:t>则新项目是  </a:t>
            </a:r>
            <a:r>
              <a:rPr lang="en-US" altLang="zh-CN" sz="1800" dirty="0"/>
              <a:t>c=</a:t>
            </a:r>
            <a:r>
              <a:rPr lang="en-US" altLang="zh-CN" sz="1800" dirty="0" err="1"/>
              <a:t>a+b</a:t>
            </a:r>
            <a:endParaRPr lang="en-US" altLang="zh-CN" sz="1800" dirty="0"/>
          </a:p>
          <a:p>
            <a:pPr marL="394097">
              <a:buFont typeface="+mj-lt"/>
              <a:buAutoNum type="arabicPeriod"/>
            </a:pPr>
            <a:r>
              <a:rPr lang="zh-CN" altLang="en-US" sz="1800" dirty="0"/>
              <a:t>后续，把</a:t>
            </a:r>
            <a:r>
              <a:rPr lang="en-US" altLang="zh-CN" sz="1800" dirty="0" err="1"/>
              <a:t>c,b</a:t>
            </a:r>
            <a:r>
              <a:rPr lang="en-US" altLang="zh-CN" sz="1800" dirty="0"/>
              <a:t>,</a:t>
            </a:r>
            <a:r>
              <a:rPr lang="zh-CN" altLang="en-US" sz="1800" dirty="0"/>
              <a:t>看作</a:t>
            </a:r>
            <a:r>
              <a:rPr lang="en-US" altLang="zh-CN" sz="1800" dirty="0" err="1"/>
              <a:t>a,b</a:t>
            </a:r>
            <a:r>
              <a:rPr lang="en-US" altLang="zh-CN" sz="1800" dirty="0"/>
              <a:t>,</a:t>
            </a:r>
            <a:r>
              <a:rPr lang="zh-CN" altLang="en-US" sz="1800" dirty="0"/>
              <a:t>再去求新项，直到新项</a:t>
            </a:r>
            <a:r>
              <a:rPr lang="en-US" altLang="zh-CN" sz="1800" dirty="0"/>
              <a:t>&gt;800</a:t>
            </a:r>
          </a:p>
          <a:p>
            <a:pPr marL="51197" indent="0">
              <a:buNone/>
            </a:pPr>
            <a:r>
              <a:rPr lang="zh-CN" altLang="en-US" sz="1800" dirty="0"/>
              <a:t>每行</a:t>
            </a:r>
            <a:r>
              <a:rPr lang="en-US" altLang="zh-CN" sz="1800" dirty="0"/>
              <a:t>5</a:t>
            </a:r>
            <a:r>
              <a:rPr lang="zh-CN" altLang="en-US" sz="1800" dirty="0"/>
              <a:t>个输出</a:t>
            </a:r>
            <a:endParaRPr lang="en-US" altLang="zh-CN" sz="1800" dirty="0"/>
          </a:p>
          <a:p>
            <a:pPr marL="51197" indent="0">
              <a:buNone/>
            </a:pPr>
            <a:endParaRPr lang="en-US" altLang="zh-CN" sz="1800" dirty="0"/>
          </a:p>
          <a:p>
            <a:pPr marL="51197" indent="0">
              <a:buNone/>
            </a:pPr>
            <a:r>
              <a:rPr lang="en-US" altLang="zh-CN" sz="1800" dirty="0"/>
              <a:t>0   1  1  2  3  5  8  13  21  34  55  89  144  233  377  610 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8C49859-A1D9-406F-9311-04892E536E1B}"/>
              </a:ext>
            </a:extLst>
          </p:cNvPr>
          <p:cNvSpPr txBox="1"/>
          <p:nvPr/>
        </p:nvSpPr>
        <p:spPr>
          <a:xfrm>
            <a:off x="4788024" y="1059582"/>
            <a:ext cx="392494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197" indent="0">
              <a:buNone/>
            </a:pPr>
            <a:r>
              <a:rPr lang="en-US" altLang="zh-CN" sz="2000" dirty="0" err="1"/>
              <a:t>a,b</a:t>
            </a:r>
            <a:r>
              <a:rPr lang="en-US" altLang="zh-CN" sz="2000" dirty="0"/>
              <a:t>=0,1</a:t>
            </a:r>
          </a:p>
          <a:p>
            <a:pPr marL="51197" indent="0">
              <a:buNone/>
            </a:pPr>
            <a:r>
              <a:rPr lang="en-US" altLang="zh-CN" sz="2000" dirty="0"/>
              <a:t>print(a,' ',b,' ',end='')</a:t>
            </a:r>
          </a:p>
          <a:p>
            <a:pPr marL="51197" indent="0">
              <a:buNone/>
            </a:pPr>
            <a:r>
              <a:rPr lang="en-US" altLang="zh-CN" sz="2000" dirty="0"/>
              <a:t>while True:</a:t>
            </a:r>
          </a:p>
          <a:p>
            <a:pPr marL="51197" indent="0">
              <a:buNone/>
            </a:pPr>
            <a:r>
              <a:rPr lang="en-US" altLang="zh-CN" sz="2000" dirty="0"/>
              <a:t>    c=</a:t>
            </a:r>
            <a:r>
              <a:rPr lang="en-US" altLang="zh-CN" sz="2000" dirty="0" err="1"/>
              <a:t>a+b</a:t>
            </a:r>
            <a:endParaRPr lang="en-US" altLang="zh-CN" sz="2000" dirty="0"/>
          </a:p>
          <a:p>
            <a:pPr marL="51197" indent="0">
              <a:buNone/>
            </a:pPr>
            <a:r>
              <a:rPr lang="en-US" altLang="zh-CN" sz="2000" dirty="0"/>
              <a:t>    </a:t>
            </a:r>
            <a:r>
              <a:rPr lang="en-US" altLang="zh-CN" sz="2000" dirty="0" err="1"/>
              <a:t>a,b</a:t>
            </a:r>
            <a:r>
              <a:rPr lang="en-US" altLang="zh-CN" sz="2000" dirty="0"/>
              <a:t>=</a:t>
            </a:r>
            <a:r>
              <a:rPr lang="en-US" altLang="zh-CN" sz="2000" dirty="0" err="1"/>
              <a:t>b,c</a:t>
            </a:r>
            <a:endParaRPr lang="en-US" altLang="zh-CN" sz="2000" dirty="0"/>
          </a:p>
          <a:p>
            <a:pPr marL="51197" indent="0">
              <a:buNone/>
            </a:pPr>
            <a:r>
              <a:rPr lang="en-US" altLang="zh-CN" sz="2000" dirty="0"/>
              <a:t>    if b&gt;800:</a:t>
            </a:r>
          </a:p>
          <a:p>
            <a:pPr marL="51197" indent="0">
              <a:buNone/>
            </a:pPr>
            <a:r>
              <a:rPr lang="en-US" altLang="zh-CN" sz="2000" dirty="0"/>
              <a:t>        break</a:t>
            </a:r>
          </a:p>
          <a:p>
            <a:pPr marL="51197" indent="0">
              <a:buNone/>
            </a:pPr>
            <a:r>
              <a:rPr lang="en-US" altLang="zh-CN" sz="2000" dirty="0"/>
              <a:t>    print(b," ",end='')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20070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Text Box 126"/>
          <p:cNvSpPr txBox="1">
            <a:spLocks noChangeArrowheads="1"/>
          </p:cNvSpPr>
          <p:nvPr/>
        </p:nvSpPr>
        <p:spPr bwMode="auto">
          <a:xfrm>
            <a:off x="459468" y="123478"/>
            <a:ext cx="7002778" cy="463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b" anchorCtr="0" compatLnSpc="1">
            <a:prstTxWarp prst="textNoShape">
              <a:avLst/>
            </a:prstTxWarp>
          </a:bodyPr>
          <a:lstStyle>
            <a:lvl1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2pPr>
            <a:lvl3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3pPr>
            <a:lvl4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4pPr>
            <a:lvl5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5pPr>
            <a:lvl6pPr marL="4572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6pPr>
            <a:lvl7pPr marL="9144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7pPr>
            <a:lvl8pPr marL="13716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8pPr>
            <a:lvl9pPr marL="18288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9pPr>
          </a:lstStyle>
          <a:p>
            <a:r>
              <a:rPr lang="zh-CN" altLang="en-US" sz="2700" dirty="0">
                <a:solidFill>
                  <a:schemeClr val="tx1"/>
                </a:solidFill>
              </a:rPr>
              <a:t>练习：计算斐波那契数列到项值</a:t>
            </a:r>
            <a:r>
              <a:rPr lang="en-US" altLang="zh-CN" sz="2700" dirty="0">
                <a:solidFill>
                  <a:schemeClr val="tx1"/>
                </a:solidFill>
              </a:rPr>
              <a:t>&lt;=800</a:t>
            </a:r>
            <a:endParaRPr lang="zh-CN" altLang="en-US" sz="2700" dirty="0">
              <a:solidFill>
                <a:schemeClr val="tx1"/>
              </a:solidFill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323528" y="617319"/>
            <a:ext cx="5863552" cy="3564396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1197" indent="0">
              <a:buNone/>
            </a:pPr>
            <a:r>
              <a:rPr lang="zh-CN" altLang="en-US" sz="1800" dirty="0"/>
              <a:t>斐波那契数列，第</a:t>
            </a:r>
            <a:r>
              <a:rPr lang="en-US" altLang="zh-CN" sz="1800" dirty="0"/>
              <a:t>1</a:t>
            </a:r>
            <a:r>
              <a:rPr lang="zh-CN" altLang="en-US" sz="1800" dirty="0"/>
              <a:t>、</a:t>
            </a:r>
            <a:r>
              <a:rPr lang="en-US" altLang="zh-CN" sz="1800" dirty="0"/>
              <a:t>2</a:t>
            </a:r>
            <a:r>
              <a:rPr lang="zh-CN" altLang="en-US" sz="1800" dirty="0"/>
              <a:t>项为</a:t>
            </a:r>
            <a:r>
              <a:rPr lang="en-US" altLang="zh-CN" sz="1800" dirty="0"/>
              <a:t>0</a:t>
            </a:r>
            <a:r>
              <a:rPr lang="zh-CN" altLang="en-US" sz="1800" dirty="0"/>
              <a:t>、</a:t>
            </a:r>
            <a:r>
              <a:rPr lang="en-US" altLang="zh-CN" sz="1800" dirty="0"/>
              <a:t>1</a:t>
            </a:r>
            <a:r>
              <a:rPr lang="zh-CN" altLang="en-US" sz="1800" dirty="0"/>
              <a:t>，后续任一项，是其前</a:t>
            </a:r>
            <a:r>
              <a:rPr lang="en-US" altLang="zh-CN" sz="1800" dirty="0"/>
              <a:t>2</a:t>
            </a:r>
            <a:r>
              <a:rPr lang="zh-CN" altLang="en-US" sz="1800" dirty="0"/>
              <a:t>项的加和。</a:t>
            </a:r>
            <a:endParaRPr lang="en-US" altLang="zh-CN" sz="1800" dirty="0"/>
          </a:p>
          <a:p>
            <a:pPr marL="51197" indent="0">
              <a:buNone/>
            </a:pPr>
            <a:endParaRPr lang="en-US" altLang="zh-CN" sz="1800" dirty="0"/>
          </a:p>
          <a:p>
            <a:pPr marL="51197" indent="0">
              <a:buNone/>
            </a:pPr>
            <a:endParaRPr lang="en-US" altLang="zh-CN" sz="1800" dirty="0"/>
          </a:p>
          <a:p>
            <a:pPr marL="51197" indent="0">
              <a:buNone/>
            </a:pPr>
            <a:endParaRPr lang="en-US" altLang="zh-CN" sz="1800" dirty="0"/>
          </a:p>
          <a:p>
            <a:pPr marL="51197" indent="0">
              <a:buNone/>
            </a:pPr>
            <a:endParaRPr lang="en-US" altLang="zh-CN" sz="1800" dirty="0"/>
          </a:p>
          <a:p>
            <a:pPr marL="51197" indent="0">
              <a:buNone/>
            </a:pPr>
            <a:endParaRPr lang="en-US" altLang="zh-CN" sz="1800" dirty="0"/>
          </a:p>
          <a:p>
            <a:pPr marL="51197" indent="0">
              <a:buNone/>
            </a:pPr>
            <a:endParaRPr lang="en-US" altLang="zh-CN" sz="1800" dirty="0"/>
          </a:p>
          <a:p>
            <a:pPr marL="51197" indent="0">
              <a:buNone/>
            </a:pPr>
            <a:endParaRPr lang="en-US" altLang="zh-CN" sz="1800" dirty="0"/>
          </a:p>
          <a:p>
            <a:pPr marL="51197" indent="0">
              <a:buNone/>
            </a:pPr>
            <a:r>
              <a:rPr lang="en-US" altLang="zh-CN" sz="1800" dirty="0"/>
              <a:t>0   1  1 2  3  5  8  13  21  34  55  89  144  233  377  610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8C49859-A1D9-406F-9311-04892E536E1B}"/>
              </a:ext>
            </a:extLst>
          </p:cNvPr>
          <p:cNvSpPr txBox="1"/>
          <p:nvPr/>
        </p:nvSpPr>
        <p:spPr>
          <a:xfrm>
            <a:off x="683568" y="1245355"/>
            <a:ext cx="550351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197" indent="0">
              <a:buNone/>
            </a:pPr>
            <a:r>
              <a:rPr lang="en-US" altLang="zh-CN" sz="2000" dirty="0" err="1"/>
              <a:t>a,b</a:t>
            </a:r>
            <a:r>
              <a:rPr lang="en-US" altLang="zh-CN" sz="2000" dirty="0"/>
              <a:t>=0,1</a:t>
            </a:r>
          </a:p>
          <a:p>
            <a:pPr marL="51197" indent="0">
              <a:buNone/>
            </a:pPr>
            <a:r>
              <a:rPr lang="en-US" altLang="zh-CN" sz="2000" dirty="0"/>
              <a:t>print(a,' ',b,' ',end='')</a:t>
            </a:r>
          </a:p>
          <a:p>
            <a:pPr marL="51197" indent="0">
              <a:buNone/>
            </a:pPr>
            <a:r>
              <a:rPr lang="en-US" altLang="zh-CN" sz="2000" dirty="0"/>
              <a:t>while True:</a:t>
            </a:r>
          </a:p>
          <a:p>
            <a:pPr marL="51197" indent="0">
              <a:buNone/>
            </a:pPr>
            <a:r>
              <a:rPr lang="en-US" altLang="zh-CN" sz="2000" dirty="0"/>
              <a:t>    c=</a:t>
            </a:r>
            <a:r>
              <a:rPr lang="en-US" altLang="zh-CN" sz="2000" dirty="0" err="1"/>
              <a:t>a+b</a:t>
            </a:r>
            <a:r>
              <a:rPr lang="en-US" altLang="zh-CN" sz="2000" dirty="0"/>
              <a:t> </a:t>
            </a:r>
          </a:p>
          <a:p>
            <a:pPr marL="51197" indent="0">
              <a:buNone/>
            </a:pPr>
            <a:r>
              <a:rPr lang="en-US" altLang="zh-CN" sz="2000" dirty="0"/>
              <a:t>    </a:t>
            </a:r>
            <a:r>
              <a:rPr lang="en-US" altLang="zh-CN" sz="2000" dirty="0" err="1"/>
              <a:t>a,b</a:t>
            </a:r>
            <a:r>
              <a:rPr lang="en-US" altLang="zh-CN" sz="2000" dirty="0"/>
              <a:t>=</a:t>
            </a:r>
            <a:r>
              <a:rPr lang="en-US" altLang="zh-CN" sz="2000" dirty="0" err="1"/>
              <a:t>b,c</a:t>
            </a:r>
            <a:r>
              <a:rPr lang="en-US" altLang="zh-CN" sz="2000" dirty="0"/>
              <a:t>  # b</a:t>
            </a:r>
            <a:r>
              <a:rPr lang="zh-CN" altLang="en-US" sz="2000" dirty="0"/>
              <a:t>是新求取的项</a:t>
            </a:r>
            <a:endParaRPr lang="en-US" altLang="zh-CN" sz="2000" dirty="0"/>
          </a:p>
          <a:p>
            <a:pPr marL="51197" indent="0">
              <a:buNone/>
            </a:pPr>
            <a:r>
              <a:rPr lang="en-US" altLang="zh-CN" sz="2000" dirty="0"/>
              <a:t>    if(b&gt;800):</a:t>
            </a:r>
          </a:p>
          <a:p>
            <a:pPr marL="51197" indent="0">
              <a:buNone/>
            </a:pPr>
            <a:r>
              <a:rPr lang="en-US" altLang="zh-CN" sz="2000" dirty="0"/>
              <a:t>        break;</a:t>
            </a:r>
          </a:p>
          <a:p>
            <a:pPr marL="51197" indent="0">
              <a:buNone/>
            </a:pPr>
            <a:r>
              <a:rPr lang="en-US" altLang="zh-CN" sz="2000" dirty="0"/>
              <a:t>    print(b," ",end='')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6369498" y="1851670"/>
            <a:ext cx="20189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死循环配合</a:t>
            </a:r>
            <a:r>
              <a:rPr lang="en-US" altLang="zh-CN"/>
              <a:t>break</a:t>
            </a:r>
            <a:r>
              <a:rPr lang="zh-CN" altLang="en-US"/>
              <a:t>结构</a:t>
            </a:r>
          </a:p>
        </p:txBody>
      </p:sp>
      <p:cxnSp>
        <p:nvCxnSpPr>
          <p:cNvPr id="6" name="直接箭头连接符 5"/>
          <p:cNvCxnSpPr/>
          <p:nvPr/>
        </p:nvCxnSpPr>
        <p:spPr bwMode="auto">
          <a:xfrm flipH="1">
            <a:off x="2195736" y="2283718"/>
            <a:ext cx="4173762" cy="720080"/>
          </a:xfrm>
          <a:prstGeom prst="straightConnector1">
            <a:avLst/>
          </a:prstGeom>
          <a:noFill/>
          <a:ln w="12700" algn="ctr">
            <a:solidFill>
              <a:srgbClr val="000066"/>
            </a:solidFill>
            <a:round/>
            <a:headEnd type="stealth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8" name="直接箭头连接符 7"/>
          <p:cNvCxnSpPr>
            <a:stCxn id="3" idx="1"/>
          </p:cNvCxnSpPr>
          <p:nvPr/>
        </p:nvCxnSpPr>
        <p:spPr bwMode="auto">
          <a:xfrm flipH="1" flipV="1">
            <a:off x="1835696" y="2067694"/>
            <a:ext cx="4533802" cy="199475"/>
          </a:xfrm>
          <a:prstGeom prst="straightConnector1">
            <a:avLst/>
          </a:prstGeom>
          <a:noFill/>
          <a:ln w="12700" algn="ctr">
            <a:solidFill>
              <a:srgbClr val="000066"/>
            </a:solidFill>
            <a:round/>
            <a:headEnd type="stealth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5" name="文本框 4"/>
          <p:cNvSpPr txBox="1"/>
          <p:nvPr/>
        </p:nvSpPr>
        <p:spPr>
          <a:xfrm>
            <a:off x="6403260" y="745755"/>
            <a:ext cx="2520280" cy="473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0  1  1  2  3  5  8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6405311" y="1142906"/>
            <a:ext cx="833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/>
              <a:t>a    b </a:t>
            </a:r>
            <a:endParaRPr lang="zh-CN" altLang="en-US" sz="1800" dirty="0"/>
          </a:p>
        </p:txBody>
      </p:sp>
      <p:sp>
        <p:nvSpPr>
          <p:cNvPr id="10" name="文本框 9"/>
          <p:cNvSpPr txBox="1"/>
          <p:nvPr/>
        </p:nvSpPr>
        <p:spPr>
          <a:xfrm>
            <a:off x="6821829" y="1459370"/>
            <a:ext cx="833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/>
              <a:t>a    b </a:t>
            </a:r>
            <a:endParaRPr lang="zh-CN" altLang="en-US" sz="1800" dirty="0"/>
          </a:p>
        </p:txBody>
      </p:sp>
      <p:sp>
        <p:nvSpPr>
          <p:cNvPr id="9" name="矩形 8"/>
          <p:cNvSpPr/>
          <p:nvPr/>
        </p:nvSpPr>
        <p:spPr>
          <a:xfrm>
            <a:off x="6444208" y="2776457"/>
            <a:ext cx="259228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197" indent="0">
              <a:buNone/>
            </a:pPr>
            <a:r>
              <a:rPr lang="en-US" altLang="zh-CN" sz="2000" dirty="0" err="1"/>
              <a:t>a,b</a:t>
            </a:r>
            <a:r>
              <a:rPr lang="en-US" altLang="zh-CN" sz="2000" dirty="0"/>
              <a:t>=</a:t>
            </a:r>
            <a:r>
              <a:rPr lang="en-US" altLang="zh-CN" sz="2000" dirty="0" err="1"/>
              <a:t>b,a+b</a:t>
            </a:r>
            <a:endParaRPr lang="en-US" altLang="zh-CN" sz="2000" dirty="0"/>
          </a:p>
          <a:p>
            <a:pPr marL="51197" indent="0">
              <a:buNone/>
            </a:pPr>
            <a:r>
              <a:rPr lang="zh-CN" altLang="en-US" sz="2000" dirty="0"/>
              <a:t>实现逻辑：</a:t>
            </a:r>
            <a:endParaRPr lang="en-US" altLang="zh-CN" sz="2000" dirty="0"/>
          </a:p>
          <a:p>
            <a:pPr marL="51197" indent="0">
              <a:buNone/>
            </a:pPr>
            <a:r>
              <a:rPr lang="zh-CN" altLang="en-US" sz="2000" dirty="0"/>
              <a:t>根据现有结果，计算右端，</a:t>
            </a:r>
            <a:r>
              <a:rPr lang="en-US" altLang="zh-CN" sz="2000" dirty="0" err="1"/>
              <a:t>b,a+b</a:t>
            </a:r>
            <a:r>
              <a:rPr lang="zh-CN" altLang="en-US" sz="2000" dirty="0"/>
              <a:t>的值，再逐个赋值给</a:t>
            </a:r>
            <a:r>
              <a:rPr lang="en-US" altLang="zh-CN" sz="2000" dirty="0"/>
              <a:t>=</a:t>
            </a:r>
            <a:r>
              <a:rPr lang="zh-CN" altLang="en-US" sz="2000" dirty="0"/>
              <a:t>左侧的变量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3247806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4D8F4C-2C60-4294-85EB-AFABAC707A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7C270E-26C8-4352-BE21-3DBF4A2EC019}" type="slidenum">
              <a:rPr lang="en-US" altLang="zh-CN" smtClean="0"/>
              <a:pPr>
                <a:defRPr/>
              </a:pPr>
              <a:t>66</a:t>
            </a:fld>
            <a:endParaRPr lang="en-US" altLang="zh-CN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90CFF4BA-DC8C-4446-830C-E66D354E156F}"/>
              </a:ext>
            </a:extLst>
          </p:cNvPr>
          <p:cNvSpPr txBox="1">
            <a:spLocks noGrp="1"/>
          </p:cNvSpPr>
          <p:nvPr>
            <p:ph idx="1"/>
          </p:nvPr>
        </p:nvSpPr>
        <p:spPr bwMode="auto">
          <a:xfrm>
            <a:off x="457200" y="411163"/>
            <a:ext cx="8229600" cy="100845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 eaLnBrk="1" hangingPunct="1">
              <a:buFontTx/>
              <a:buNone/>
            </a:pPr>
            <a:r>
              <a:rPr lang="zh-CN" altLang="en-US" sz="2400" b="1" dirty="0"/>
              <a:t>例：将列表中除了王维外的其他人输出</a:t>
            </a:r>
            <a:endParaRPr lang="en-US" altLang="zh-CN" sz="2400" b="1" dirty="0"/>
          </a:p>
          <a:p>
            <a:pPr algn="just" eaLnBrk="1" hangingPunct="1"/>
            <a:r>
              <a:rPr lang="zh-CN" altLang="en-US" sz="2400" b="1" dirty="0"/>
              <a:t> </a:t>
            </a:r>
            <a:r>
              <a:rPr lang="zh-CN" altLang="en-US" sz="2000" b="1" dirty="0"/>
              <a:t>遍历列表，遇到“王维”，跳过</a:t>
            </a:r>
            <a:endParaRPr lang="en-US" altLang="zh-CN" sz="2000" b="1" dirty="0"/>
          </a:p>
          <a:p>
            <a:pPr algn="just" eaLnBrk="1" hangingPunct="1">
              <a:buFontTx/>
              <a:buNone/>
            </a:pPr>
            <a:r>
              <a:rPr lang="en-US" altLang="zh-CN" sz="2400" b="1" dirty="0"/>
              <a:t>    </a:t>
            </a:r>
          </a:p>
        </p:txBody>
      </p:sp>
      <p:sp>
        <p:nvSpPr>
          <p:cNvPr id="2" name="矩形 1"/>
          <p:cNvSpPr/>
          <p:nvPr/>
        </p:nvSpPr>
        <p:spPr>
          <a:xfrm>
            <a:off x="539552" y="1602254"/>
            <a:ext cx="691276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    x=["</a:t>
            </a:r>
            <a:r>
              <a:rPr lang="zh-CN" altLang="en-US" dirty="0">
                <a:solidFill>
                  <a:schemeClr val="tx1"/>
                </a:solidFill>
              </a:rPr>
              <a:t>李顺</a:t>
            </a:r>
            <a:r>
              <a:rPr lang="en-US" altLang="zh-CN" dirty="0">
                <a:solidFill>
                  <a:schemeClr val="tx1"/>
                </a:solidFill>
              </a:rPr>
              <a:t>","</a:t>
            </a:r>
            <a:r>
              <a:rPr lang="zh-CN" altLang="en-US" dirty="0">
                <a:solidFill>
                  <a:schemeClr val="tx1"/>
                </a:solidFill>
              </a:rPr>
              <a:t>张健</a:t>
            </a:r>
            <a:r>
              <a:rPr lang="en-US" altLang="zh-CN" dirty="0">
                <a:solidFill>
                  <a:schemeClr val="tx1"/>
                </a:solidFill>
              </a:rPr>
              <a:t>","</a:t>
            </a:r>
            <a:r>
              <a:rPr lang="zh-CN" altLang="en-US" dirty="0">
                <a:solidFill>
                  <a:schemeClr val="tx1"/>
                </a:solidFill>
              </a:rPr>
              <a:t>王维</a:t>
            </a:r>
            <a:r>
              <a:rPr lang="en-US" altLang="zh-CN" dirty="0">
                <a:solidFill>
                  <a:schemeClr val="tx1"/>
                </a:solidFill>
              </a:rPr>
              <a:t>","</a:t>
            </a:r>
            <a:r>
              <a:rPr lang="zh-CN" altLang="en-US" dirty="0">
                <a:solidFill>
                  <a:schemeClr val="tx1"/>
                </a:solidFill>
              </a:rPr>
              <a:t>赵</a:t>
            </a:r>
            <a:r>
              <a:rPr lang="en-US" altLang="zh-CN" dirty="0">
                <a:solidFill>
                  <a:schemeClr val="tx1"/>
                </a:solidFill>
              </a:rPr>
              <a:t>C","</a:t>
            </a:r>
            <a:r>
              <a:rPr lang="zh-CN" altLang="en-US" dirty="0">
                <a:solidFill>
                  <a:schemeClr val="tx1"/>
                </a:solidFill>
              </a:rPr>
              <a:t>吴亮</a:t>
            </a:r>
            <a:r>
              <a:rPr lang="en-US" altLang="zh-CN" dirty="0">
                <a:solidFill>
                  <a:schemeClr val="tx1"/>
                </a:solidFill>
              </a:rPr>
              <a:t>"]</a:t>
            </a:r>
          </a:p>
          <a:p>
            <a:pPr algn="just" eaLnBrk="1" hangingPunct="1"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    for names in x:</a:t>
            </a:r>
          </a:p>
          <a:p>
            <a:pPr algn="just" eaLnBrk="1" hangingPunct="1"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	if names=="</a:t>
            </a:r>
            <a:r>
              <a:rPr lang="zh-CN" altLang="en-US" dirty="0">
                <a:solidFill>
                  <a:schemeClr val="tx1"/>
                </a:solidFill>
              </a:rPr>
              <a:t>王维</a:t>
            </a:r>
            <a:r>
              <a:rPr lang="en-US" altLang="zh-CN" dirty="0">
                <a:solidFill>
                  <a:schemeClr val="tx1"/>
                </a:solidFill>
              </a:rPr>
              <a:t>":</a:t>
            </a:r>
          </a:p>
          <a:p>
            <a:pPr algn="just" eaLnBrk="1" hangingPunct="1"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		</a:t>
            </a:r>
            <a:r>
              <a:rPr lang="en-US" altLang="zh-CN" dirty="0">
                <a:solidFill>
                  <a:srgbClr val="C00000"/>
                </a:solidFill>
              </a:rPr>
              <a:t>continue</a:t>
            </a:r>
          </a:p>
          <a:p>
            <a:pPr algn="just" eaLnBrk="1" hangingPunct="1"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	print(names)</a:t>
            </a:r>
          </a:p>
        </p:txBody>
      </p:sp>
    </p:spTree>
    <p:extLst>
      <p:ext uri="{BB962C8B-B14F-4D97-AF65-F5344CB8AC3E}">
        <p14:creationId xmlns:p14="http://schemas.microsoft.com/office/powerpoint/2010/main" val="2236818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07504" y="483518"/>
            <a:ext cx="8856984" cy="2690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algn="just">
              <a:lnSpc>
                <a:spcPct val="110000"/>
              </a:lnSpc>
              <a:spcBef>
                <a:spcPts val="1200"/>
              </a:spcBef>
            </a:pPr>
            <a:r>
              <a:rPr lang="zh-CN" altLang="en-US" sz="1800" dirty="0"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（</a:t>
            </a:r>
            <a:r>
              <a:rPr lang="en-US" altLang="zh-CN" sz="1800" dirty="0">
                <a:latin typeface="Courier New" pitchFamily="49" charset="0"/>
                <a:ea typeface="微软雅黑" pitchFamily="34" charset="-122"/>
                <a:cs typeface="Courier New" pitchFamily="49" charset="0"/>
              </a:rPr>
              <a:t>3</a:t>
            </a:r>
            <a:r>
              <a:rPr lang="zh-CN" altLang="en-US" sz="1800" dirty="0"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）</a:t>
            </a:r>
            <a:r>
              <a:rPr lang="en-US" altLang="zh-CN" sz="1800" dirty="0">
                <a:latin typeface="Courier New" pitchFamily="49" charset="0"/>
                <a:ea typeface="微软雅黑" pitchFamily="34" charset="-122"/>
                <a:cs typeface="Courier New" pitchFamily="49" charset="0"/>
              </a:rPr>
              <a:t>pass</a:t>
            </a:r>
            <a:r>
              <a:rPr lang="zh-CN" altLang="en-US" sz="1800" dirty="0"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</a:t>
            </a:r>
            <a:endParaRPr lang="en-US" altLang="zh-CN" sz="1800" dirty="0"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 algn="just">
              <a:lnSpc>
                <a:spcPct val="110000"/>
              </a:lnSpc>
              <a:spcBef>
                <a:spcPts val="1200"/>
              </a:spcBef>
            </a:pP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</a:t>
            </a:r>
            <a:r>
              <a:rPr lang="zh-CN" altLang="en-US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作用：</a:t>
            </a:r>
            <a:r>
              <a:rPr lang="zh-CN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不执行任何操作，实质是空语句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，</a:t>
            </a:r>
            <a:r>
              <a:rPr lang="zh-CN" altLang="en-US" sz="1800" b="0" dirty="0">
                <a:solidFill>
                  <a:srgbClr val="FF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磨洋工耗时语句</a:t>
            </a:r>
            <a:endParaRPr lang="en-US" altLang="zh-CN" sz="1800" b="0" dirty="0">
              <a:solidFill>
                <a:srgbClr val="FF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 algn="just">
              <a:lnSpc>
                <a:spcPct val="110000"/>
              </a:lnSpc>
              <a:spcBef>
                <a:spcPts val="120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 </a:t>
            </a:r>
            <a:r>
              <a:rPr lang="zh-CN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但又不产生任何操作时可使用</a:t>
            </a:r>
            <a:r>
              <a:rPr lang="en-US" altLang="zh-CN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pass</a:t>
            </a:r>
            <a:r>
              <a:rPr lang="zh-CN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语句。</a:t>
            </a:r>
          </a:p>
          <a:p>
            <a:pPr algn="just">
              <a:lnSpc>
                <a:spcPct val="110000"/>
              </a:lnSpc>
              <a:spcBef>
                <a:spcPts val="1200"/>
              </a:spcBef>
            </a:pP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</a:t>
            </a:r>
            <a:r>
              <a:rPr lang="zh-CN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【例</a:t>
            </a:r>
            <a:r>
              <a:rPr lang="en-US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3.18</a:t>
            </a:r>
            <a:r>
              <a:rPr lang="zh-CN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】 模拟打字机效果。</a:t>
            </a:r>
            <a:endParaRPr lang="en-US" altLang="zh-CN" sz="1800" b="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 algn="just">
              <a:lnSpc>
                <a:spcPct val="110000"/>
              </a:lnSpc>
              <a:spcBef>
                <a:spcPts val="1200"/>
              </a:spcBef>
            </a:pP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       </a:t>
            </a:r>
            <a:r>
              <a:rPr lang="zh-CN" altLang="zh-CN" sz="1800" dirty="0">
                <a:latin typeface="微软雅黑" pitchFamily="34" charset="-122"/>
                <a:ea typeface="微软雅黑" pitchFamily="34" charset="-122"/>
              </a:rPr>
              <a:t>分析：</a:t>
            </a:r>
            <a:r>
              <a:rPr lang="zh-CN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可利用空循环起到延迟作用，实现模拟打字机效果</a:t>
            </a:r>
          </a:p>
          <a:p>
            <a:pPr algn="just">
              <a:lnSpc>
                <a:spcPct val="110000"/>
              </a:lnSpc>
              <a:spcBef>
                <a:spcPts val="1200"/>
              </a:spcBef>
            </a:pPr>
            <a:endParaRPr lang="en-US" altLang="zh-CN" sz="1800" dirty="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8946504" y="4659982"/>
            <a:ext cx="162000" cy="16141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6" name="AutoShape 44"/>
          <p:cNvSpPr>
            <a:spLocks noChangeArrowheads="1"/>
          </p:cNvSpPr>
          <p:nvPr/>
        </p:nvSpPr>
        <p:spPr bwMode="gray">
          <a:xfrm>
            <a:off x="611560" y="2787774"/>
            <a:ext cx="7076423" cy="1512168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for c in "welcome":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print(</a:t>
            </a:r>
            <a:r>
              <a:rPr lang="en-US" altLang="zh-CN" sz="16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c,end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=" ")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for j in range(1,10000000):   # 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延迟作用，起到打字机效果</a:t>
            </a:r>
          </a:p>
          <a:p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   pass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5207332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07504" y="483518"/>
            <a:ext cx="8856984" cy="4078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algn="just">
              <a:lnSpc>
                <a:spcPct val="110000"/>
              </a:lnSpc>
              <a:spcBef>
                <a:spcPts val="1200"/>
              </a:spcBef>
            </a:pPr>
            <a:r>
              <a:rPr lang="en-US" altLang="zh-CN" sz="1800" dirty="0">
                <a:latin typeface="Courier New" pitchFamily="49" charset="0"/>
                <a:ea typeface="微软雅黑" pitchFamily="34" charset="-122"/>
                <a:cs typeface="Courier New" pitchFamily="49" charset="0"/>
              </a:rPr>
              <a:t>2. </a:t>
            </a:r>
            <a:r>
              <a:rPr lang="zh-CN" altLang="en-US" sz="1800" dirty="0"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循环的</a:t>
            </a:r>
            <a:r>
              <a:rPr lang="en-US" altLang="zh-CN" sz="1800" dirty="0"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else</a:t>
            </a:r>
            <a:r>
              <a:rPr lang="zh-CN" altLang="en-US" sz="1800" dirty="0"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子语句</a:t>
            </a:r>
            <a:endParaRPr lang="en-US" altLang="zh-CN" sz="1800" dirty="0"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1200"/>
              </a:spcBef>
            </a:pPr>
            <a:r>
              <a:rPr lang="zh-CN" altLang="en-US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作用：</a:t>
            </a: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循环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不是应为</a:t>
            </a: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break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中断，而是自然结束时，执行配对的</a:t>
            </a: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else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语句</a:t>
            </a:r>
            <a:endParaRPr lang="en-US" altLang="zh-CN" sz="1800" dirty="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1200"/>
              </a:spcBef>
            </a:pPr>
            <a:endParaRPr lang="en-US" altLang="zh-CN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200"/>
              </a:spcBef>
            </a:pPr>
            <a:endParaRPr lang="zh-CN" altLang="zh-CN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 algn="just">
              <a:lnSpc>
                <a:spcPct val="110000"/>
              </a:lnSpc>
              <a:spcBef>
                <a:spcPts val="1200"/>
              </a:spcBef>
            </a:pP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</a:t>
            </a:r>
            <a:r>
              <a:rPr lang="zh-CN" altLang="en-US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形式</a:t>
            </a:r>
            <a:r>
              <a:rPr lang="en-US" altLang="zh-CN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:</a:t>
            </a:r>
            <a:endParaRPr lang="en-US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endParaRPr lang="zh-CN" altLang="zh-CN" sz="1800" dirty="0"/>
          </a:p>
          <a:p>
            <a:r>
              <a:rPr lang="en-US" altLang="zh-CN" sz="1800" dirty="0"/>
              <a:t> </a:t>
            </a:r>
            <a:endParaRPr lang="zh-CN" altLang="zh-CN" sz="1800" b="0" dirty="0"/>
          </a:p>
          <a:p>
            <a:pPr algn="just">
              <a:lnSpc>
                <a:spcPct val="110000"/>
              </a:lnSpc>
              <a:spcBef>
                <a:spcPts val="1200"/>
              </a:spcBef>
            </a:pPr>
            <a:endParaRPr lang="en-US" altLang="zh-CN" sz="1800" b="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 algn="just">
              <a:lnSpc>
                <a:spcPct val="110000"/>
              </a:lnSpc>
              <a:spcBef>
                <a:spcPts val="1200"/>
              </a:spcBef>
            </a:pPr>
            <a:endParaRPr lang="en-US" altLang="zh-CN" sz="1800" b="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 algn="just">
              <a:lnSpc>
                <a:spcPct val="110000"/>
              </a:lnSpc>
              <a:spcBef>
                <a:spcPts val="1200"/>
              </a:spcBef>
            </a:pP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</a:t>
            </a:r>
            <a:endParaRPr lang="en-US" altLang="zh-CN" sz="1800" dirty="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8946504" y="4659982"/>
            <a:ext cx="162000" cy="16141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6" name="AutoShape 44"/>
          <p:cNvSpPr>
            <a:spLocks noChangeArrowheads="1"/>
          </p:cNvSpPr>
          <p:nvPr/>
        </p:nvSpPr>
        <p:spPr bwMode="gray">
          <a:xfrm>
            <a:off x="1331640" y="1851670"/>
            <a:ext cx="3024336" cy="1512168"/>
          </a:xfrm>
          <a:prstGeom prst="roundRect">
            <a:avLst>
              <a:gd name="adj" fmla="val 8014"/>
            </a:avLst>
          </a:prstGeom>
          <a:noFill/>
          <a:ln w="9525">
            <a:solidFill>
              <a:srgbClr val="8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for  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循环变量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in  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序列： </a:t>
            </a:r>
            <a:endParaRPr lang="en-US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循环体</a:t>
            </a:r>
          </a:p>
          <a:p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else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：</a:t>
            </a:r>
          </a:p>
          <a:p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语句块</a:t>
            </a:r>
          </a:p>
          <a:p>
            <a:pPr algn="just">
              <a:lnSpc>
                <a:spcPct val="110000"/>
              </a:lnSpc>
              <a:spcBef>
                <a:spcPts val="1200"/>
              </a:spcBef>
            </a:pPr>
            <a:endParaRPr lang="en-US" altLang="zh-CN" sz="1600" b="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7" name="AutoShape 44"/>
          <p:cNvSpPr>
            <a:spLocks noChangeArrowheads="1"/>
          </p:cNvSpPr>
          <p:nvPr/>
        </p:nvSpPr>
        <p:spPr bwMode="gray">
          <a:xfrm>
            <a:off x="4897865" y="1835988"/>
            <a:ext cx="2471055" cy="1512168"/>
          </a:xfrm>
          <a:prstGeom prst="roundRect">
            <a:avLst>
              <a:gd name="adj" fmla="val 15198"/>
            </a:avLst>
          </a:prstGeom>
          <a:noFill/>
          <a:ln w="9525">
            <a:solidFill>
              <a:srgbClr val="8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while  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表达式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：</a:t>
            </a:r>
          </a:p>
          <a:p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循环体</a:t>
            </a:r>
          </a:p>
          <a:p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else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：</a:t>
            </a:r>
          </a:p>
          <a:p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语句块</a:t>
            </a:r>
            <a:endParaRPr lang="en-US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2" name="右箭头 1"/>
          <p:cNvSpPr/>
          <p:nvPr/>
        </p:nvSpPr>
        <p:spPr bwMode="auto">
          <a:xfrm rot="5400000">
            <a:off x="1415496" y="2235407"/>
            <a:ext cx="264335" cy="144016"/>
          </a:xfrm>
          <a:prstGeom prst="rightArrow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87959631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2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89520" y="109852"/>
            <a:ext cx="8856984" cy="397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algn="just">
              <a:lnSpc>
                <a:spcPct val="110000"/>
              </a:lnSpc>
              <a:spcBef>
                <a:spcPts val="1200"/>
              </a:spcBef>
            </a:pP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【例】求</a:t>
            </a: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～</a:t>
            </a: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100</a:t>
            </a: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之间的素数，并且每行显示</a:t>
            </a: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8</a:t>
            </a: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个素数。</a:t>
            </a:r>
            <a:endParaRPr lang="en-US" altLang="zh-CN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8946504" y="4659982"/>
            <a:ext cx="162000" cy="16141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288415" y="771550"/>
            <a:ext cx="8640960" cy="2847575"/>
          </a:xfrm>
          <a:prstGeom prst="rect">
            <a:avLst/>
          </a:prstGeom>
          <a:noFill/>
          <a:ln w="9525">
            <a:solidFill>
              <a:srgbClr val="00B05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zh-CN" sz="16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分析</a:t>
            </a:r>
            <a:r>
              <a:rPr lang="zh-CN" altLang="zh-CN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素数就是除</a:t>
            </a: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和本身以外，不能被其他任何正整数整除的数。</a:t>
            </a:r>
          </a:p>
          <a:p>
            <a:pPr>
              <a:spcBef>
                <a:spcPts val="600"/>
              </a:spcBef>
            </a:pPr>
            <a:endParaRPr lang="en-US" altLang="zh-CN" sz="16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zh-CN" sz="20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zh-CN" sz="20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sz="20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对</a:t>
            </a:r>
            <a:r>
              <a:rPr lang="en-US" altLang="zh-CN" sz="20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2~100</a:t>
            </a:r>
            <a:r>
              <a:rPr lang="zh-CN" altLang="en-US" sz="20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的整数进行循环，用</a:t>
            </a:r>
            <a:r>
              <a:rPr lang="en-US" altLang="zh-CN" sz="20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m</a:t>
            </a:r>
            <a:r>
              <a:rPr lang="zh-CN" altLang="en-US" sz="20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作循环变量，外层循环</a:t>
            </a:r>
            <a:endParaRPr lang="en-US" altLang="zh-CN" sz="20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20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0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zh-CN" sz="20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判别数</a:t>
            </a:r>
            <a:r>
              <a:rPr lang="en-US" altLang="zh-CN" sz="20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m</a:t>
            </a:r>
            <a:r>
              <a:rPr lang="zh-CN" altLang="zh-CN" sz="20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是否为素数</a:t>
            </a:r>
            <a:r>
              <a:rPr lang="zh-CN" altLang="en-US" sz="20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20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理论：</a:t>
            </a:r>
            <a:r>
              <a:rPr lang="zh-CN" altLang="zh-CN" sz="20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依次用</a:t>
            </a:r>
            <a:r>
              <a:rPr lang="en-US" altLang="zh-CN" sz="20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j=2~ m-1</a:t>
            </a:r>
            <a:r>
              <a:rPr lang="zh-CN" altLang="zh-CN" sz="20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去除</a:t>
            </a:r>
            <a:r>
              <a:rPr lang="zh-CN" altLang="en-US" sz="20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取余数</a:t>
            </a:r>
            <a:r>
              <a:rPr lang="zh-CN" altLang="zh-CN" sz="20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，只要有一个能整除，</a:t>
            </a:r>
            <a:r>
              <a:rPr lang="en-US" altLang="zh-CN" sz="20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m % j==0</a:t>
            </a:r>
            <a:r>
              <a:rPr lang="zh-CN" altLang="en-US" sz="20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0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m</a:t>
            </a:r>
            <a:r>
              <a:rPr lang="zh-CN" altLang="zh-CN" sz="20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不是素数，退出</a:t>
            </a:r>
            <a:r>
              <a:rPr lang="en-US" altLang="zh-CN" sz="20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j</a:t>
            </a:r>
            <a:r>
              <a:rPr lang="zh-CN" altLang="zh-CN" sz="20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循环</a:t>
            </a:r>
            <a:r>
              <a:rPr lang="zh-CN" altLang="en-US" sz="20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break</a:t>
            </a:r>
            <a:r>
              <a:rPr lang="zh-CN" altLang="en-US" sz="20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zh-CN" sz="20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；若都不能整除，则</a:t>
            </a:r>
            <a:r>
              <a:rPr lang="en-US" altLang="zh-CN" sz="20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m</a:t>
            </a:r>
            <a:r>
              <a:rPr lang="zh-CN" altLang="zh-CN" sz="20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是素数</a:t>
            </a:r>
            <a:r>
              <a:rPr lang="zh-CN" altLang="en-US" sz="20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。这里是内层循环</a:t>
            </a:r>
            <a:endParaRPr lang="en-US" altLang="zh-CN" sz="20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20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  (3) </a:t>
            </a:r>
            <a:r>
              <a:rPr lang="zh-CN" altLang="en-US" sz="20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如果内循环能正常结束，则</a:t>
            </a:r>
            <a:r>
              <a:rPr lang="en-US" altLang="zh-CN" sz="20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m</a:t>
            </a:r>
            <a:r>
              <a:rPr lang="zh-CN" altLang="en-US" sz="20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一定是素数，就输出</a:t>
            </a:r>
            <a:endParaRPr lang="zh-CN" altLang="zh-CN" sz="20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600"/>
              </a:spcBef>
            </a:pPr>
            <a:endParaRPr lang="zh-CN" altLang="zh-CN" sz="20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24946873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89520" y="109852"/>
            <a:ext cx="8856984" cy="720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algn="just">
              <a:lnSpc>
                <a:spcPct val="110000"/>
              </a:lnSpc>
              <a:spcBef>
                <a:spcPts val="1200"/>
              </a:spcBef>
            </a:pP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【例</a:t>
            </a: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3.20</a:t>
            </a: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】求</a:t>
            </a: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～</a:t>
            </a: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100</a:t>
            </a: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之间的素数，并且</a:t>
            </a:r>
            <a:r>
              <a:rPr lang="zh-CN" altLang="zh-CN" sz="18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每行显示</a:t>
            </a:r>
            <a:r>
              <a:rPr lang="en-US" altLang="zh-CN" sz="18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8</a:t>
            </a:r>
            <a:r>
              <a:rPr lang="zh-CN" altLang="zh-CN" sz="18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个</a:t>
            </a: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素数。</a:t>
            </a:r>
            <a:endParaRPr lang="en-US" altLang="zh-CN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zh-CN" sz="16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分析</a:t>
            </a:r>
            <a:r>
              <a:rPr lang="zh-CN" altLang="zh-CN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外层循环，</a:t>
            </a:r>
            <a:r>
              <a:rPr lang="en-US" altLang="zh-CN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2-100</a:t>
            </a:r>
            <a:r>
              <a:rPr lang="zh-CN" altLang="en-US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，内层循环，对每个数</a:t>
            </a:r>
            <a:r>
              <a:rPr lang="en-US" altLang="zh-CN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m</a:t>
            </a:r>
            <a:r>
              <a:rPr lang="zh-CN" altLang="en-US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 ，比较</a:t>
            </a:r>
            <a:r>
              <a:rPr lang="en-US" altLang="zh-CN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2~m-1,</a:t>
            </a:r>
            <a:r>
              <a:rPr lang="zh-CN" altLang="en-US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每个数取余</a:t>
            </a:r>
            <a:endParaRPr lang="en-US" altLang="zh-CN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8946504" y="4659982"/>
            <a:ext cx="162000" cy="16141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8" name="AutoShape 44"/>
          <p:cNvSpPr>
            <a:spLocks noChangeArrowheads="1"/>
          </p:cNvSpPr>
          <p:nvPr/>
        </p:nvSpPr>
        <p:spPr bwMode="gray">
          <a:xfrm>
            <a:off x="267936" y="1239602"/>
            <a:ext cx="3456384" cy="2808312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zh-CN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方法一、用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else</a:t>
            </a:r>
            <a:r>
              <a:rPr lang="zh-CN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子句</a:t>
            </a:r>
          </a:p>
          <a:p>
            <a:r>
              <a:rPr lang="en-US" altLang="zh-CN" sz="14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countm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=0</a:t>
            </a:r>
            <a:endParaRPr lang="zh-CN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for m in range(2,100):</a:t>
            </a:r>
            <a:endParaRPr lang="zh-CN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for j in range(2,m):  </a:t>
            </a:r>
            <a:endParaRPr lang="zh-CN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  if m % j ==0:</a:t>
            </a:r>
            <a:endParaRPr lang="zh-CN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       break</a:t>
            </a:r>
            <a:endParaRPr lang="zh-CN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else:</a:t>
            </a:r>
            <a:endParaRPr lang="zh-CN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   print(</a:t>
            </a:r>
            <a:r>
              <a:rPr lang="en-US" altLang="zh-CN" sz="14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m,end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="\t")</a:t>
            </a:r>
            <a:endParaRPr lang="zh-CN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   </a:t>
            </a:r>
            <a:r>
              <a:rPr lang="en-US" altLang="zh-CN" sz="14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countm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+= 1</a:t>
            </a:r>
            <a:endParaRPr lang="zh-CN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400" dirty="0">
                <a:solidFill>
                  <a:srgbClr val="7030A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   if </a:t>
            </a:r>
            <a:r>
              <a:rPr lang="en-US" altLang="zh-CN" sz="1400" dirty="0" err="1">
                <a:solidFill>
                  <a:srgbClr val="7030A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countm</a:t>
            </a:r>
            <a:r>
              <a:rPr lang="en-US" altLang="zh-CN" sz="1400" dirty="0">
                <a:solidFill>
                  <a:srgbClr val="7030A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% 8 ==0:</a:t>
            </a:r>
            <a:endParaRPr lang="zh-CN" altLang="zh-CN" sz="1400" dirty="0">
              <a:solidFill>
                <a:srgbClr val="7030A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400" dirty="0">
                <a:solidFill>
                  <a:srgbClr val="7030A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       print()</a:t>
            </a:r>
            <a:endParaRPr lang="zh-CN" altLang="zh-CN" sz="1400" dirty="0">
              <a:solidFill>
                <a:srgbClr val="7030A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7" name="AutoShape 44"/>
          <p:cNvSpPr>
            <a:spLocks noChangeArrowheads="1"/>
          </p:cNvSpPr>
          <p:nvPr/>
        </p:nvSpPr>
        <p:spPr bwMode="gray">
          <a:xfrm>
            <a:off x="3854556" y="1095586"/>
            <a:ext cx="5253948" cy="2952328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zh-CN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方法二、一般语言处理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</a:t>
            </a:r>
            <a:r>
              <a:rPr lang="zh-CN" altLang="en-US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自己读</a:t>
            </a:r>
            <a:endParaRPr lang="zh-CN" altLang="zh-CN" sz="1600" dirty="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4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countm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=0</a:t>
            </a:r>
            <a:endParaRPr lang="zh-CN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tag=True</a:t>
            </a:r>
          </a:p>
          <a:p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for m in range(2,100):</a:t>
            </a:r>
            <a:endParaRPr lang="zh-CN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# </a:t>
            </a:r>
            <a:r>
              <a:rPr lang="zh-CN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假定</a:t>
            </a:r>
            <a:r>
              <a:rPr lang="zh-CN" altLang="en-US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当前的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m</a:t>
            </a:r>
            <a:r>
              <a:rPr lang="zh-CN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为素数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      </a:t>
            </a:r>
            <a:endParaRPr lang="zh-CN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for j in range(2,m):   </a:t>
            </a:r>
            <a:endParaRPr lang="zh-CN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  if m % j ==0:</a:t>
            </a:r>
            <a:endParaRPr lang="zh-CN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      tag=False  # </a:t>
            </a:r>
            <a:r>
              <a:rPr lang="en-US" altLang="zh-CN" sz="12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m</a:t>
            </a:r>
            <a:r>
              <a:rPr lang="zh-CN" altLang="zh-CN" sz="12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能被</a:t>
            </a:r>
            <a:r>
              <a:rPr lang="en-US" altLang="zh-CN" sz="12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j</a:t>
            </a:r>
            <a:r>
              <a:rPr lang="zh-CN" altLang="zh-CN" sz="12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整除，</a:t>
            </a:r>
            <a:r>
              <a:rPr lang="en-US" altLang="zh-CN" sz="12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m</a:t>
            </a:r>
            <a:r>
              <a:rPr lang="zh-CN" altLang="zh-CN" sz="12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不是素数</a:t>
            </a:r>
          </a:p>
          <a:p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      break    </a:t>
            </a:r>
            <a:r>
              <a:rPr lang="en-US" altLang="zh-CN" sz="12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# </a:t>
            </a:r>
            <a:r>
              <a:rPr lang="zh-CN" altLang="zh-CN" sz="12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退出本次循环，下一个</a:t>
            </a:r>
            <a:r>
              <a:rPr lang="en-US" altLang="zh-CN" sz="12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m</a:t>
            </a:r>
            <a:r>
              <a:rPr lang="zh-CN" altLang="zh-CN" sz="12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处理</a:t>
            </a:r>
          </a:p>
          <a:p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if tag:         </a:t>
            </a:r>
            <a:r>
              <a:rPr lang="en-US" altLang="zh-CN" sz="12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# </a:t>
            </a:r>
            <a:r>
              <a:rPr lang="zh-CN" altLang="zh-CN" sz="12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若</a:t>
            </a:r>
            <a:r>
              <a:rPr lang="en-US" altLang="zh-CN" sz="12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tag</a:t>
            </a:r>
            <a:r>
              <a:rPr lang="zh-CN" altLang="zh-CN" sz="12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为</a:t>
            </a:r>
            <a:r>
              <a:rPr lang="en-US" altLang="zh-CN" sz="12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True</a:t>
            </a:r>
            <a:r>
              <a:rPr lang="zh-CN" altLang="zh-CN" sz="12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则</a:t>
            </a:r>
            <a:r>
              <a:rPr lang="en-US" altLang="zh-CN" sz="12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m</a:t>
            </a:r>
            <a:r>
              <a:rPr lang="zh-CN" altLang="zh-CN" sz="12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是素数显示</a:t>
            </a:r>
          </a:p>
          <a:p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   print(</a:t>
            </a:r>
            <a:r>
              <a:rPr lang="en-US" altLang="zh-CN" sz="14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m,end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="\t")</a:t>
            </a:r>
            <a:endParaRPr lang="zh-CN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   </a:t>
            </a:r>
            <a:r>
              <a:rPr lang="en-US" altLang="zh-CN" sz="14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countm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+=1</a:t>
            </a:r>
            <a:endParaRPr lang="zh-CN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   if </a:t>
            </a:r>
            <a:r>
              <a:rPr lang="en-US" altLang="zh-CN" sz="14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countm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% 8 ==0:</a:t>
            </a:r>
            <a:endParaRPr lang="zh-CN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400" dirty="0"/>
              <a:t>                           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print()</a:t>
            </a:r>
            <a:endParaRPr lang="zh-CN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6" name="AutoShape 44"/>
          <p:cNvSpPr>
            <a:spLocks noChangeArrowheads="1"/>
          </p:cNvSpPr>
          <p:nvPr/>
        </p:nvSpPr>
        <p:spPr bwMode="gray">
          <a:xfrm>
            <a:off x="171108" y="4659982"/>
            <a:ext cx="8280920" cy="425940"/>
          </a:xfrm>
          <a:prstGeom prst="roundRect">
            <a:avLst>
              <a:gd name="adj" fmla="val 8014"/>
            </a:avLst>
          </a:prstGeom>
          <a:solidFill>
            <a:srgbClr val="FFFFCC"/>
          </a:solidFill>
          <a:ln w="9525">
            <a:solidFill>
              <a:srgbClr val="808000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zh-CN" altLang="en-US" sz="16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说明：</a:t>
            </a:r>
            <a:r>
              <a:rPr lang="zh-CN" altLang="zh-CN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当在循环体中</a:t>
            </a:r>
            <a:r>
              <a:rPr lang="en-US" altLang="zh-CN" sz="16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else</a:t>
            </a:r>
            <a:r>
              <a:rPr lang="zh-CN" altLang="zh-CN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子句在循环的嵌套的场合使得代码更精炼。</a:t>
            </a:r>
          </a:p>
        </p:txBody>
      </p:sp>
    </p:spTree>
    <p:extLst>
      <p:ext uri="{BB962C8B-B14F-4D97-AF65-F5344CB8AC3E}">
        <p14:creationId xmlns:p14="http://schemas.microsoft.com/office/powerpoint/2010/main" val="1481375011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  <p:bldP spid="6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444218" y="1347614"/>
            <a:ext cx="7807325" cy="1878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61" tIns="46031" rIns="92061" bIns="46031">
            <a:spAutoFit/>
          </a:bodyPr>
          <a:lstStyle>
            <a:lvl1pPr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defTabSz="6397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defTabSz="6397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defTabSz="6397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defTabSz="6397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440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综合应用</a:t>
            </a:r>
            <a:endParaRPr lang="en-US" altLang="zh-CN" sz="4400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itchFamily="2" charset="-122"/>
              <a:ea typeface="黑体" pitchFamily="2" charset="-122"/>
            </a:endParaRPr>
          </a:p>
          <a:p>
            <a:pPr algn="ctr" eaLnBrk="1" hangingPunct="1">
              <a:defRPr/>
            </a:pPr>
            <a:r>
              <a:rPr lang="zh-CN" altLang="en-US" sz="280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字符图、部分级数和、枚举法、递推法</a:t>
            </a:r>
            <a:endParaRPr lang="en-US" altLang="zh-CN" sz="2800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itchFamily="2" charset="-122"/>
              <a:ea typeface="黑体" pitchFamily="2" charset="-122"/>
            </a:endParaRPr>
          </a:p>
          <a:p>
            <a:pPr algn="ctr" eaLnBrk="1" hangingPunct="1">
              <a:defRPr/>
            </a:pPr>
            <a:endParaRPr lang="zh-CN" altLang="en-US" sz="4400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195659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Text Box 126"/>
          <p:cNvSpPr txBox="1">
            <a:spLocks noChangeArrowheads="1"/>
          </p:cNvSpPr>
          <p:nvPr/>
        </p:nvSpPr>
        <p:spPr bwMode="auto">
          <a:xfrm>
            <a:off x="395536" y="141481"/>
            <a:ext cx="5148573" cy="463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b" anchorCtr="0" compatLnSpc="1">
            <a:prstTxWarp prst="textNoShape">
              <a:avLst/>
            </a:prstTxWarp>
          </a:bodyPr>
          <a:lstStyle>
            <a:lvl1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2pPr>
            <a:lvl3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3pPr>
            <a:lvl4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4pPr>
            <a:lvl5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5pPr>
            <a:lvl6pPr marL="4572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6pPr>
            <a:lvl7pPr marL="9144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7pPr>
            <a:lvl8pPr marL="13716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8pPr>
            <a:lvl9pPr marL="18288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9pPr>
          </a:lstStyle>
          <a:p>
            <a:r>
              <a:rPr lang="zh-CN" altLang="en-US" sz="2700" dirty="0">
                <a:solidFill>
                  <a:schemeClr val="tx1"/>
                </a:solidFill>
              </a:rPr>
              <a:t>打印图形</a:t>
            </a:r>
            <a:r>
              <a:rPr lang="en-US" altLang="zh-CN" sz="2700" dirty="0">
                <a:solidFill>
                  <a:schemeClr val="tx1"/>
                </a:solidFill>
              </a:rPr>
              <a:t>—</a:t>
            </a:r>
            <a:r>
              <a:rPr lang="zh-CN" altLang="en-US" sz="2700" dirty="0">
                <a:solidFill>
                  <a:schemeClr val="tx1"/>
                </a:solidFill>
              </a:rPr>
              <a:t>行</a:t>
            </a:r>
            <a:r>
              <a:rPr lang="zh-CN" altLang="en-US" sz="2700">
                <a:solidFill>
                  <a:schemeClr val="tx1"/>
                </a:solidFill>
              </a:rPr>
              <a:t>数输入</a:t>
            </a:r>
            <a:endParaRPr lang="zh-CN" altLang="en-US" sz="2700" dirty="0">
              <a:solidFill>
                <a:schemeClr val="tx1"/>
              </a:solidFill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539552" y="699542"/>
            <a:ext cx="8064895" cy="387043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1197" indent="0">
              <a:buNone/>
            </a:pPr>
            <a:endParaRPr lang="en-US" altLang="zh-CN" sz="18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197" indent="0">
              <a:buNone/>
            </a:pP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打印右侧图形</a:t>
            </a:r>
            <a:endParaRPr lang="en-US" altLang="zh-CN" sz="18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197" indent="0">
              <a:buNone/>
            </a:pPr>
            <a:endParaRPr lang="en-US" altLang="zh-CN" sz="18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197" indent="0">
              <a:buNone/>
            </a:pP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分析：共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n</a:t>
            </a: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行</a:t>
            </a:r>
            <a:endParaRPr lang="en-US" altLang="zh-CN" sz="18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n</a:t>
            </a: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输入，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&gt;1</a:t>
            </a: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，行索引变量 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i </a:t>
            </a: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初值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=1</a:t>
            </a:r>
          </a:p>
          <a:p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以最长行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(n)</a:t>
            </a: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为基准，算定格（左边无空格）输出</a:t>
            </a:r>
            <a:endParaRPr lang="en-US" altLang="zh-CN" sz="18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第</a:t>
            </a:r>
            <a:r>
              <a:rPr lang="en-US" altLang="zh-CN" sz="1800" dirty="0" err="1">
                <a:latin typeface="等线" panose="02010600030101010101" pitchFamily="2" charset="-122"/>
                <a:ea typeface="等线" panose="02010600030101010101" pitchFamily="2" charset="-122"/>
              </a:rPr>
              <a:t>i</a:t>
            </a: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行（</a:t>
            </a:r>
            <a:r>
              <a:rPr lang="en-US" altLang="zh-CN" sz="1800" dirty="0" err="1">
                <a:latin typeface="等线" panose="02010600030101010101" pitchFamily="2" charset="-122"/>
                <a:ea typeface="等线" panose="02010600030101010101" pitchFamily="2" charset="-122"/>
              </a:rPr>
              <a:t>i</a:t>
            </a: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从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开始）前有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(n-</a:t>
            </a:r>
            <a:r>
              <a:rPr lang="en-US" altLang="zh-CN" sz="1800" dirty="0" err="1">
                <a:latin typeface="等线" panose="02010600030101010101" pitchFamily="2" charset="-122"/>
                <a:ea typeface="等线" panose="02010600030101010101" pitchFamily="2" charset="-122"/>
              </a:rPr>
              <a:t>i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空格</a:t>
            </a:r>
            <a:endParaRPr lang="en-US" altLang="zh-CN" sz="18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第</a:t>
            </a:r>
            <a:r>
              <a:rPr lang="en-US" altLang="zh-CN" sz="1800" dirty="0" err="1">
                <a:latin typeface="等线" panose="02010600030101010101" pitchFamily="2" charset="-122"/>
                <a:ea typeface="等线" panose="02010600030101010101" pitchFamily="2" charset="-122"/>
              </a:rPr>
              <a:t>i</a:t>
            </a: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行，左侧有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(i-1)</a:t>
            </a: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个*，右侧也有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(i-1)</a:t>
            </a: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个*</a:t>
            </a:r>
            <a:endParaRPr lang="en-US" altLang="zh-CN" sz="18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zh-CN" altLang="en-US" sz="18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结论：第</a:t>
            </a:r>
            <a:r>
              <a:rPr lang="en-US" altLang="zh-CN" sz="1800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i</a:t>
            </a:r>
            <a:r>
              <a:rPr lang="zh-CN" altLang="en-US" sz="18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行的组成：</a:t>
            </a:r>
            <a:r>
              <a:rPr lang="en-US" altLang="zh-CN" sz="18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(n-</a:t>
            </a:r>
            <a:r>
              <a:rPr lang="en-US" altLang="zh-CN" sz="1800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i</a:t>
            </a:r>
            <a:r>
              <a:rPr lang="en-US" altLang="zh-CN" sz="18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zh-CN" altLang="en-US" sz="18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空格，（</a:t>
            </a:r>
            <a:r>
              <a:rPr lang="en-US" altLang="zh-CN" sz="18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i-1</a:t>
            </a:r>
            <a:r>
              <a:rPr lang="zh-CN" altLang="en-US" sz="18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）个*，</a:t>
            </a:r>
            <a:r>
              <a:rPr lang="en-US" altLang="zh-CN" sz="18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|</a:t>
            </a:r>
            <a:r>
              <a:rPr lang="zh-CN" altLang="en-US" sz="18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，再</a:t>
            </a:r>
            <a:r>
              <a:rPr lang="en-US" altLang="zh-CN" sz="18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i-1</a:t>
            </a:r>
            <a:r>
              <a:rPr lang="zh-CN" altLang="en-US" sz="18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个*</a:t>
            </a:r>
            <a:endParaRPr lang="en-US" altLang="zh-CN" sz="1800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可用格式化串，包含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4</a:t>
            </a: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个 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{ }</a:t>
            </a: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实现</a:t>
            </a:r>
            <a:endParaRPr lang="en-US" altLang="zh-CN" sz="18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200" y="771550"/>
            <a:ext cx="1674186" cy="171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47660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79237" y="681541"/>
            <a:ext cx="5863552" cy="3942438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1197" indent="0">
              <a:buNone/>
            </a:pPr>
            <a:r>
              <a:rPr lang="en-US" altLang="zh-CN" sz="1800" dirty="0"/>
              <a:t>n=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(input('</a:t>
            </a:r>
            <a:r>
              <a:rPr lang="zh-CN" altLang="en-US" sz="1800" dirty="0"/>
              <a:t>请输入行数：</a:t>
            </a:r>
            <a:r>
              <a:rPr lang="en-US" altLang="zh-CN" sz="1800" dirty="0"/>
              <a:t>'))</a:t>
            </a:r>
          </a:p>
          <a:p>
            <a:pPr marL="51197" indent="0">
              <a:buNone/>
            </a:pPr>
            <a:r>
              <a:rPr lang="en-US" altLang="zh-CN" sz="1800" dirty="0" err="1"/>
              <a:t>i</a:t>
            </a:r>
            <a:r>
              <a:rPr lang="en-US" altLang="zh-CN" sz="1800" dirty="0"/>
              <a:t>=1</a:t>
            </a:r>
          </a:p>
          <a:p>
            <a:pPr marL="51197" indent="0">
              <a:buNone/>
            </a:pPr>
            <a:r>
              <a:rPr lang="en-US" altLang="zh-CN" sz="1800" dirty="0"/>
              <a:t>while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&lt;=n:</a:t>
            </a:r>
          </a:p>
          <a:p>
            <a:pPr marL="51197" indent="0">
              <a:buNone/>
            </a:pPr>
            <a:r>
              <a:rPr lang="en-US" altLang="zh-CN" sz="1800" dirty="0"/>
              <a:t>    print("{}{}{}{}".format(' '*(n-</a:t>
            </a:r>
            <a:r>
              <a:rPr lang="en-US" altLang="zh-CN" sz="1800" dirty="0" err="1"/>
              <a:t>i</a:t>
            </a:r>
            <a:r>
              <a:rPr lang="en-US" altLang="zh-CN" sz="1800" dirty="0"/>
              <a:t>),'*'*(i-1),'|','*'*(i-1)))</a:t>
            </a:r>
          </a:p>
          <a:p>
            <a:pPr marL="51197" indent="0">
              <a:buNone/>
            </a:pPr>
            <a:r>
              <a:rPr lang="en-US" altLang="zh-CN" sz="1800" dirty="0"/>
              <a:t>   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 += 1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24" y="2247715"/>
            <a:ext cx="1945221" cy="1987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56083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Text Box 126"/>
          <p:cNvSpPr txBox="1">
            <a:spLocks noChangeArrowheads="1"/>
          </p:cNvSpPr>
          <p:nvPr/>
        </p:nvSpPr>
        <p:spPr bwMode="auto">
          <a:xfrm>
            <a:off x="1601670" y="141481"/>
            <a:ext cx="4482498" cy="463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b" anchorCtr="0" compatLnSpc="1">
            <a:prstTxWarp prst="textNoShape">
              <a:avLst/>
            </a:prstTxWarp>
          </a:bodyPr>
          <a:lstStyle>
            <a:lvl1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2pPr>
            <a:lvl3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3pPr>
            <a:lvl4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4pPr>
            <a:lvl5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5pPr>
            <a:lvl6pPr marL="4572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6pPr>
            <a:lvl7pPr marL="9144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7pPr>
            <a:lvl8pPr marL="13716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8pPr>
            <a:lvl9pPr marL="18288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9pPr>
          </a:lstStyle>
          <a:p>
            <a:r>
              <a:rPr lang="zh-CN" altLang="en-US" sz="2700" dirty="0">
                <a:solidFill>
                  <a:schemeClr val="tx1"/>
                </a:solidFill>
              </a:rPr>
              <a:t>打印图形</a:t>
            </a:r>
            <a:r>
              <a:rPr lang="en-US" altLang="zh-CN" sz="2700" dirty="0">
                <a:solidFill>
                  <a:schemeClr val="tx1"/>
                </a:solidFill>
              </a:rPr>
              <a:t>—</a:t>
            </a:r>
            <a:r>
              <a:rPr lang="zh-CN" altLang="en-US" sz="2700">
                <a:solidFill>
                  <a:schemeClr val="tx1"/>
                </a:solidFill>
              </a:rPr>
              <a:t>行数</a:t>
            </a:r>
            <a:r>
              <a:rPr lang="en-US" altLang="zh-CN" sz="2700">
                <a:solidFill>
                  <a:schemeClr val="tx1"/>
                </a:solidFill>
              </a:rPr>
              <a:t>n</a:t>
            </a:r>
            <a:r>
              <a:rPr lang="zh-CN" altLang="en-US" sz="2700">
                <a:solidFill>
                  <a:schemeClr val="tx1"/>
                </a:solidFill>
              </a:rPr>
              <a:t>输入</a:t>
            </a:r>
            <a:endParaRPr lang="zh-CN" altLang="en-US" sz="2700" dirty="0">
              <a:solidFill>
                <a:schemeClr val="tx1"/>
              </a:solidFill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74867" y="871638"/>
            <a:ext cx="6125111" cy="3672408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1197" indent="0">
              <a:buNone/>
            </a:pPr>
            <a:endParaRPr lang="en-US" altLang="zh-CN" sz="18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197" indent="0">
              <a:buNone/>
            </a:pP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打印右侧图形</a:t>
            </a:r>
            <a:endParaRPr lang="en-US" altLang="zh-CN" sz="18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197" indent="0">
              <a:buNone/>
            </a:pPr>
            <a:endParaRPr lang="en-US" altLang="zh-CN" sz="18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197" indent="0">
              <a:buNone/>
            </a:pPr>
            <a:endParaRPr lang="en-US" altLang="zh-CN" sz="18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197" indent="0">
              <a:buNone/>
            </a:pP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分析：输入奇数 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n </a:t>
            </a:r>
          </a:p>
          <a:p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输入奇数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n</a:t>
            </a: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，  则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k=n//2 +1 , </a:t>
            </a: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这是最长的一行</a:t>
            </a:r>
            <a:endParaRPr lang="en-US" altLang="zh-CN" sz="18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用前面例子，从</a:t>
            </a:r>
            <a:r>
              <a:rPr lang="en-US" altLang="zh-CN" sz="1800" dirty="0" err="1">
                <a:latin typeface="等线" panose="02010600030101010101" pitchFamily="2" charset="-122"/>
                <a:ea typeface="等线" panose="02010600030101010101" pitchFamily="2" charset="-122"/>
              </a:rPr>
              <a:t>i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=1</a:t>
            </a: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开始输出，完毕后，最长行已经打印，所以下半部分的行数为 ： 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k-1</a:t>
            </a:r>
          </a:p>
          <a:p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下半部分，</a:t>
            </a:r>
            <a:r>
              <a:rPr lang="en-US" altLang="zh-CN" sz="1800" dirty="0" err="1">
                <a:latin typeface="等线" panose="02010600030101010101" pitchFamily="2" charset="-122"/>
                <a:ea typeface="等线" panose="02010600030101010101" pitchFamily="2" charset="-122"/>
              </a:rPr>
              <a:t>i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=k-1</a:t>
            </a: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，行号递减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  <a:r>
              <a:rPr lang="en-US" altLang="zh-CN" sz="1800" dirty="0" err="1">
                <a:latin typeface="等线" panose="02010600030101010101" pitchFamily="2" charset="-122"/>
                <a:ea typeface="等线" panose="02010600030101010101" pitchFamily="2" charset="-122"/>
              </a:rPr>
              <a:t>i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 -= 1  </a:t>
            </a: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完成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, </a:t>
            </a: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循环到</a:t>
            </a:r>
            <a:r>
              <a:rPr lang="en-US" altLang="zh-CN" sz="1800" dirty="0" err="1">
                <a:latin typeface="等线" panose="02010600030101010101" pitchFamily="2" charset="-122"/>
                <a:ea typeface="等线" panose="02010600030101010101" pitchFamily="2" charset="-122"/>
              </a:rPr>
              <a:t>i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=0, 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192" y="618689"/>
            <a:ext cx="1080120" cy="216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68064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Text Box 126"/>
          <p:cNvSpPr txBox="1">
            <a:spLocks noChangeArrowheads="1"/>
          </p:cNvSpPr>
          <p:nvPr/>
        </p:nvSpPr>
        <p:spPr bwMode="auto">
          <a:xfrm>
            <a:off x="1601670" y="141481"/>
            <a:ext cx="4428493" cy="463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b" anchorCtr="0" compatLnSpc="1">
            <a:prstTxWarp prst="textNoShape">
              <a:avLst/>
            </a:prstTxWarp>
          </a:bodyPr>
          <a:lstStyle>
            <a:lvl1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2pPr>
            <a:lvl3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3pPr>
            <a:lvl4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4pPr>
            <a:lvl5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5pPr>
            <a:lvl6pPr marL="4572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6pPr>
            <a:lvl7pPr marL="9144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7pPr>
            <a:lvl8pPr marL="13716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8pPr>
            <a:lvl9pPr marL="18288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9pPr>
          </a:lstStyle>
          <a:p>
            <a:r>
              <a:rPr lang="zh-CN" altLang="en-US" sz="2700" dirty="0">
                <a:solidFill>
                  <a:schemeClr val="tx1"/>
                </a:solidFill>
              </a:rPr>
              <a:t>打印图形</a:t>
            </a:r>
            <a:r>
              <a:rPr lang="en-US" altLang="zh-CN" sz="2700" dirty="0">
                <a:solidFill>
                  <a:schemeClr val="tx1"/>
                </a:solidFill>
              </a:rPr>
              <a:t>—</a:t>
            </a:r>
            <a:r>
              <a:rPr lang="zh-CN" altLang="en-US" sz="2700" dirty="0">
                <a:solidFill>
                  <a:schemeClr val="tx1"/>
                </a:solidFill>
              </a:rPr>
              <a:t>行数</a:t>
            </a:r>
            <a:r>
              <a:rPr lang="en-US" altLang="zh-CN" sz="2700" dirty="0">
                <a:solidFill>
                  <a:schemeClr val="tx1"/>
                </a:solidFill>
              </a:rPr>
              <a:t>n</a:t>
            </a:r>
            <a:r>
              <a:rPr lang="zh-CN" altLang="en-US" sz="2700" dirty="0">
                <a:solidFill>
                  <a:schemeClr val="tx1"/>
                </a:solidFill>
              </a:rPr>
              <a:t>输入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331640" y="699542"/>
            <a:ext cx="6125111" cy="3672408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1197" indent="0">
              <a:buNone/>
            </a:pP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n=</a:t>
            </a:r>
            <a:r>
              <a:rPr lang="en-US" altLang="zh-CN" sz="1800" dirty="0" err="1">
                <a:latin typeface="等线" panose="02010600030101010101" pitchFamily="2" charset="-122"/>
                <a:ea typeface="等线" panose="02010600030101010101" pitchFamily="2" charset="-122"/>
              </a:rPr>
              <a:t>int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(input('</a:t>
            </a: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请输入奇数行数：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'))</a:t>
            </a:r>
          </a:p>
          <a:p>
            <a:pPr marL="51197" indent="0">
              <a:buNone/>
            </a:pP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k=n//2+1  # </a:t>
            </a: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最长行的位置</a:t>
            </a:r>
          </a:p>
          <a:p>
            <a:pPr marL="51197" indent="0">
              <a:buNone/>
            </a:pPr>
            <a:r>
              <a:rPr lang="en-US" altLang="zh-CN" sz="1800" dirty="0" err="1">
                <a:latin typeface="等线" panose="02010600030101010101" pitchFamily="2" charset="-122"/>
                <a:ea typeface="等线" panose="02010600030101010101" pitchFamily="2" charset="-122"/>
              </a:rPr>
              <a:t>i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=1</a:t>
            </a:r>
          </a:p>
          <a:p>
            <a:pPr marL="51197" indent="0">
              <a:buNone/>
            </a:pP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while </a:t>
            </a:r>
            <a:r>
              <a:rPr lang="en-US" altLang="zh-CN" sz="1800" dirty="0" err="1">
                <a:latin typeface="等线" panose="02010600030101010101" pitchFamily="2" charset="-122"/>
                <a:ea typeface="等线" panose="02010600030101010101" pitchFamily="2" charset="-122"/>
              </a:rPr>
              <a:t>i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&lt;=k:</a:t>
            </a:r>
          </a:p>
          <a:p>
            <a:pPr marL="51197" indent="0">
              <a:buNone/>
            </a:pP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    print("{}{}{}{}".format(' '*(n-</a:t>
            </a:r>
            <a:r>
              <a:rPr lang="en-US" altLang="zh-CN" sz="1800" dirty="0" err="1">
                <a:latin typeface="等线" panose="02010600030101010101" pitchFamily="2" charset="-122"/>
                <a:ea typeface="等线" panose="02010600030101010101" pitchFamily="2" charset="-122"/>
              </a:rPr>
              <a:t>i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),'*'*(i-1),'|','*'*(i-1)))</a:t>
            </a:r>
          </a:p>
          <a:p>
            <a:pPr marL="51197" indent="0">
              <a:buNone/>
            </a:pP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    </a:t>
            </a:r>
            <a:r>
              <a:rPr lang="en-US" altLang="zh-CN" sz="1800" dirty="0" err="1">
                <a:latin typeface="等线" panose="02010600030101010101" pitchFamily="2" charset="-122"/>
                <a:ea typeface="等线" panose="02010600030101010101" pitchFamily="2" charset="-122"/>
              </a:rPr>
              <a:t>i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 += 1</a:t>
            </a:r>
          </a:p>
          <a:p>
            <a:pPr marL="51197" indent="0">
              <a:buNone/>
            </a:pPr>
            <a:r>
              <a:rPr lang="en-US" altLang="zh-CN" sz="1800" dirty="0" err="1">
                <a:latin typeface="等线" panose="02010600030101010101" pitchFamily="2" charset="-122"/>
                <a:ea typeface="等线" panose="02010600030101010101" pitchFamily="2" charset="-122"/>
              </a:rPr>
              <a:t>i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 = k-1</a:t>
            </a:r>
          </a:p>
          <a:p>
            <a:pPr marL="51197" indent="0">
              <a:buNone/>
            </a:pP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while </a:t>
            </a:r>
            <a:r>
              <a:rPr lang="en-US" altLang="zh-CN" sz="1800" dirty="0" err="1">
                <a:latin typeface="等线" panose="02010600030101010101" pitchFamily="2" charset="-122"/>
                <a:ea typeface="等线" panose="02010600030101010101" pitchFamily="2" charset="-122"/>
              </a:rPr>
              <a:t>i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&gt;=1:</a:t>
            </a:r>
          </a:p>
          <a:p>
            <a:pPr marL="51197" indent="0">
              <a:buNone/>
            </a:pP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    print("{}{}{}{}".format(' '*(n-</a:t>
            </a:r>
            <a:r>
              <a:rPr lang="en-US" altLang="zh-CN" sz="1800" dirty="0" err="1">
                <a:latin typeface="等线" panose="02010600030101010101" pitchFamily="2" charset="-122"/>
                <a:ea typeface="等线" panose="02010600030101010101" pitchFamily="2" charset="-122"/>
              </a:rPr>
              <a:t>i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),'*'*(i-1),'|','*'*(i-1)))</a:t>
            </a:r>
          </a:p>
          <a:p>
            <a:pPr marL="51197" indent="0">
              <a:buNone/>
            </a:pP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    </a:t>
            </a:r>
            <a:r>
              <a:rPr lang="en-US" altLang="zh-CN" sz="1800" dirty="0" err="1">
                <a:latin typeface="等线" panose="02010600030101010101" pitchFamily="2" charset="-122"/>
                <a:ea typeface="等线" panose="02010600030101010101" pitchFamily="2" charset="-122"/>
              </a:rPr>
              <a:t>i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 -= 1</a:t>
            </a:r>
          </a:p>
        </p:txBody>
      </p:sp>
    </p:spTree>
    <p:extLst>
      <p:ext uri="{BB962C8B-B14F-4D97-AF65-F5344CB8AC3E}">
        <p14:creationId xmlns:p14="http://schemas.microsoft.com/office/powerpoint/2010/main" val="96308768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Text Box 126"/>
          <p:cNvSpPr txBox="1">
            <a:spLocks noChangeArrowheads="1"/>
          </p:cNvSpPr>
          <p:nvPr/>
        </p:nvSpPr>
        <p:spPr bwMode="auto">
          <a:xfrm>
            <a:off x="1601670" y="141481"/>
            <a:ext cx="4428493" cy="463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b" anchorCtr="0" compatLnSpc="1">
            <a:prstTxWarp prst="textNoShape">
              <a:avLst/>
            </a:prstTxWarp>
          </a:bodyPr>
          <a:lstStyle>
            <a:lvl1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2pPr>
            <a:lvl3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3pPr>
            <a:lvl4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4pPr>
            <a:lvl5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5pPr>
            <a:lvl6pPr marL="4572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6pPr>
            <a:lvl7pPr marL="9144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7pPr>
            <a:lvl8pPr marL="13716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8pPr>
            <a:lvl9pPr marL="18288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9pPr>
          </a:lstStyle>
          <a:p>
            <a:r>
              <a:rPr lang="zh-CN" altLang="en-US" sz="2700" dirty="0">
                <a:solidFill>
                  <a:schemeClr val="tx1"/>
                </a:solidFill>
              </a:rPr>
              <a:t>打印图形</a:t>
            </a:r>
            <a:r>
              <a:rPr lang="en-US" altLang="zh-CN" sz="2700" dirty="0">
                <a:solidFill>
                  <a:schemeClr val="tx1"/>
                </a:solidFill>
              </a:rPr>
              <a:t>—</a:t>
            </a:r>
            <a:r>
              <a:rPr lang="zh-CN" altLang="en-US" sz="2700" dirty="0">
                <a:solidFill>
                  <a:schemeClr val="tx1"/>
                </a:solidFill>
              </a:rPr>
              <a:t>总结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755576" y="699542"/>
            <a:ext cx="7848872" cy="1872208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94097"/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定义行索引变量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394097"/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r>
              <a:rPr lang="zh-CN" altLang="en-US" sz="24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行索引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与行表现的关系（字符个数、前导空格数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,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字符变化等）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394097"/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用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print()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语句，带输出槽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{}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的格式，把每部分输出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394097"/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394097"/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774349" y="2643758"/>
            <a:ext cx="7830099" cy="181820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1197" indent="0">
              <a:buNone/>
            </a:pPr>
            <a:r>
              <a:rPr lang="en-US" altLang="zh-CN" sz="1800" dirty="0"/>
              <a:t>n=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(input('</a:t>
            </a:r>
            <a:r>
              <a:rPr lang="zh-CN" altLang="en-US" sz="1800" dirty="0"/>
              <a:t>请输入行数：</a:t>
            </a:r>
            <a:r>
              <a:rPr lang="en-US" altLang="zh-CN" sz="1800" dirty="0"/>
              <a:t>'))</a:t>
            </a:r>
          </a:p>
          <a:p>
            <a:pPr marL="51197" indent="0">
              <a:buNone/>
            </a:pPr>
            <a:r>
              <a:rPr lang="en-US" altLang="zh-CN" sz="1800" dirty="0" err="1"/>
              <a:t>i</a:t>
            </a:r>
            <a:r>
              <a:rPr lang="en-US" altLang="zh-CN" sz="1800" dirty="0"/>
              <a:t>=1</a:t>
            </a:r>
          </a:p>
          <a:p>
            <a:pPr marL="51197" indent="0">
              <a:buNone/>
            </a:pPr>
            <a:r>
              <a:rPr lang="en-US" altLang="zh-CN" sz="1800" dirty="0"/>
              <a:t>while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&lt;=n:</a:t>
            </a:r>
          </a:p>
          <a:p>
            <a:pPr marL="51197" indent="0">
              <a:buNone/>
            </a:pPr>
            <a:r>
              <a:rPr lang="en-US" altLang="zh-CN" sz="1800" dirty="0"/>
              <a:t>    print("{}{}|{}".format(' '*(n-</a:t>
            </a:r>
            <a:r>
              <a:rPr lang="en-US" altLang="zh-CN" sz="1800" dirty="0" err="1"/>
              <a:t>i</a:t>
            </a:r>
            <a:r>
              <a:rPr lang="en-US" altLang="zh-CN" sz="1800" dirty="0"/>
              <a:t>),'*'*(i-1),'*'*(i-1)))</a:t>
            </a:r>
          </a:p>
          <a:p>
            <a:pPr marL="51197" indent="0">
              <a:buNone/>
            </a:pPr>
            <a:r>
              <a:rPr lang="en-US" altLang="zh-CN" sz="1800" dirty="0"/>
              <a:t>   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 += 1</a:t>
            </a:r>
          </a:p>
        </p:txBody>
      </p:sp>
    </p:spTree>
    <p:extLst>
      <p:ext uri="{BB962C8B-B14F-4D97-AF65-F5344CB8AC3E}">
        <p14:creationId xmlns:p14="http://schemas.microsoft.com/office/powerpoint/2010/main" val="120652043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DAA59C3-3258-43DC-AC2D-E8564722C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练习：打印字符图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FB7D937-AE50-4D34-825A-6991AFD926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196" y="930694"/>
            <a:ext cx="2493249" cy="2304256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774BF90-C125-45AE-BF89-4BDE2B9F76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D98EDB-330F-4C41-A086-4A6179202AEA}" type="slidenum">
              <a:rPr lang="en-US" altLang="zh-CN" smtClean="0"/>
              <a:pPr>
                <a:defRPr/>
              </a:pPr>
              <a:t>77</a:t>
            </a:fld>
            <a:endParaRPr lang="en-US" altLang="zh-CN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14EC62-254C-4776-8CE6-1F619C4DDAB6}"/>
              </a:ext>
            </a:extLst>
          </p:cNvPr>
          <p:cNvSpPr txBox="1"/>
          <p:nvPr/>
        </p:nvSpPr>
        <p:spPr>
          <a:xfrm>
            <a:off x="5940152" y="1131590"/>
            <a:ext cx="3101224" cy="255454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行数</a:t>
            </a:r>
            <a:r>
              <a:rPr lang="en-US" altLang="zh-CN" sz="2000" dirty="0" err="1"/>
              <a:t>i</a:t>
            </a:r>
            <a:r>
              <a:rPr lang="zh-CN" altLang="en-US" sz="2000" dirty="0"/>
              <a:t>，从</a:t>
            </a:r>
            <a:r>
              <a:rPr lang="en-US" altLang="zh-CN" sz="2000" dirty="0"/>
              <a:t>1</a:t>
            </a:r>
            <a:r>
              <a:rPr lang="zh-CN" altLang="en-US" sz="2000" dirty="0"/>
              <a:t>开始计数</a:t>
            </a:r>
            <a:endParaRPr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总行数</a:t>
            </a:r>
            <a:r>
              <a:rPr lang="en-US" altLang="zh-CN" sz="2000" dirty="0"/>
              <a:t>n(</a:t>
            </a:r>
            <a:r>
              <a:rPr lang="zh-CN" altLang="en-US" sz="2000" dirty="0"/>
              <a:t>需要</a:t>
            </a:r>
            <a:r>
              <a:rPr lang="en-US" altLang="zh-CN" sz="2000" dirty="0"/>
              <a:t>n</a:t>
            </a:r>
            <a:r>
              <a:rPr lang="zh-CN" altLang="en-US" sz="2000" dirty="0"/>
              <a:t>次循环</a:t>
            </a:r>
            <a:r>
              <a:rPr lang="en-US" altLang="zh-CN" sz="20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第一行字符</a:t>
            </a:r>
            <a:r>
              <a:rPr lang="en-US" altLang="zh-CN" sz="2000" dirty="0" err="1"/>
              <a:t>ch</a:t>
            </a:r>
            <a:r>
              <a:rPr lang="en-US" altLang="zh-CN" sz="2000" dirty="0"/>
              <a:t>=‘A’</a:t>
            </a:r>
            <a:r>
              <a:rPr lang="zh-CN" altLang="en-US" sz="2000" dirty="0"/>
              <a:t>， 后面的字符增</a:t>
            </a:r>
            <a:r>
              <a:rPr lang="en-US" altLang="zh-CN" sz="2000" dirty="0"/>
              <a:t>1</a:t>
            </a:r>
            <a:r>
              <a:rPr lang="zh-CN" altLang="en-US" sz="2000" dirty="0"/>
              <a:t>，可用</a:t>
            </a:r>
            <a:r>
              <a:rPr lang="en-US" altLang="zh-CN" sz="2000" dirty="0" err="1"/>
              <a:t>chr</a:t>
            </a:r>
            <a:r>
              <a:rPr lang="en-US" altLang="zh-CN" sz="2000" dirty="0"/>
              <a:t>(</a:t>
            </a:r>
            <a:r>
              <a:rPr lang="en-US" altLang="zh-CN" sz="2000" dirty="0" err="1"/>
              <a:t>ord</a:t>
            </a:r>
            <a:r>
              <a:rPr lang="en-US" altLang="zh-CN" sz="2000" dirty="0"/>
              <a:t>(</a:t>
            </a:r>
            <a:r>
              <a:rPr lang="en-US" altLang="zh-CN" sz="2000" dirty="0" err="1"/>
              <a:t>ch</a:t>
            </a:r>
            <a:r>
              <a:rPr lang="en-US" altLang="zh-CN" sz="2000" dirty="0"/>
              <a:t>)+1)</a:t>
            </a:r>
            <a:r>
              <a:rPr lang="zh-CN" altLang="en-US" sz="2000" dirty="0"/>
              <a:t> 获得</a:t>
            </a:r>
            <a:endParaRPr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第</a:t>
            </a:r>
            <a:r>
              <a:rPr lang="en-US" altLang="zh-CN" sz="2000" dirty="0" err="1"/>
              <a:t>i</a:t>
            </a:r>
            <a:r>
              <a:rPr lang="zh-CN" altLang="en-US" sz="2000" dirty="0"/>
              <a:t>行前面有</a:t>
            </a:r>
            <a:r>
              <a:rPr lang="en-US" altLang="zh-CN" sz="2000" dirty="0"/>
              <a:t>n-</a:t>
            </a:r>
            <a:r>
              <a:rPr lang="en-US" altLang="zh-CN" sz="2000" dirty="0" err="1"/>
              <a:t>i</a:t>
            </a:r>
            <a:r>
              <a:rPr lang="zh-CN" altLang="en-US" sz="2000" dirty="0"/>
              <a:t>个空格，字符个数 </a:t>
            </a:r>
            <a:r>
              <a:rPr lang="en-US" altLang="zh-CN" sz="2000" dirty="0"/>
              <a:t>2</a:t>
            </a:r>
            <a:r>
              <a:rPr lang="zh-CN" altLang="en-US" sz="2000" dirty="0"/>
              <a:t>*</a:t>
            </a:r>
            <a:r>
              <a:rPr lang="en-US" altLang="zh-CN" sz="2000" dirty="0"/>
              <a:t>i-1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A14EC62-254C-4776-8CE6-1F619C4DDAB6}"/>
              </a:ext>
            </a:extLst>
          </p:cNvPr>
          <p:cNvSpPr txBox="1"/>
          <p:nvPr/>
        </p:nvSpPr>
        <p:spPr>
          <a:xfrm>
            <a:off x="2555776" y="1131590"/>
            <a:ext cx="3101224" cy="286232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行数</a:t>
            </a:r>
            <a:r>
              <a:rPr lang="en-US" altLang="zh-CN" sz="2000" dirty="0" err="1"/>
              <a:t>i</a:t>
            </a:r>
            <a:r>
              <a:rPr lang="zh-CN" altLang="en-US" sz="2000" dirty="0"/>
              <a:t>，从</a:t>
            </a:r>
            <a:r>
              <a:rPr lang="en-US" altLang="zh-CN" sz="2000" dirty="0"/>
              <a:t>1</a:t>
            </a:r>
            <a:r>
              <a:rPr lang="zh-CN" altLang="en-US" sz="2000" dirty="0"/>
              <a:t>开始计数，总行数</a:t>
            </a:r>
            <a:r>
              <a:rPr lang="en-US" altLang="zh-CN" sz="2000" dirty="0"/>
              <a:t>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请你分析：</a:t>
            </a:r>
            <a:endParaRPr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第</a:t>
            </a:r>
            <a:r>
              <a:rPr lang="en-US" altLang="zh-CN" sz="2000" dirty="0" err="1"/>
              <a:t>i</a:t>
            </a:r>
            <a:r>
              <a:rPr lang="zh-CN" altLang="en-US" sz="2000" dirty="0"/>
              <a:t>行几个字符？几个前导空格</a:t>
            </a:r>
            <a:endParaRPr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每行的字符如何确定</a:t>
            </a:r>
            <a:endParaRPr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循环几次，如何控制循环变量的取值</a:t>
            </a:r>
            <a:endParaRPr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984413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DAA59C3-3258-43DC-AC2D-E8564722C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练习：打印字符图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FB7D937-AE50-4D34-825A-6991AFD926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196" y="930694"/>
            <a:ext cx="2493249" cy="2304256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774BF90-C125-45AE-BF89-4BDE2B9F76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D98EDB-330F-4C41-A086-4A6179202AEA}" type="slidenum">
              <a:rPr lang="en-US" altLang="zh-CN" smtClean="0"/>
              <a:pPr>
                <a:defRPr/>
              </a:pPr>
              <a:t>78</a:t>
            </a:fld>
            <a:endParaRPr lang="en-US" altLang="zh-CN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A14EC62-254C-4776-8CE6-1F619C4DDAB6}"/>
              </a:ext>
            </a:extLst>
          </p:cNvPr>
          <p:cNvSpPr txBox="1"/>
          <p:nvPr/>
        </p:nvSpPr>
        <p:spPr>
          <a:xfrm>
            <a:off x="2987824" y="1563638"/>
            <a:ext cx="563483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</a:rPr>
              <a:t>n=int(input("</a:t>
            </a:r>
            <a:r>
              <a:rPr lang="zh-CN" altLang="en-US" dirty="0">
                <a:solidFill>
                  <a:schemeClr val="tx1"/>
                </a:solidFill>
              </a:rPr>
              <a:t>请输入行数：</a:t>
            </a:r>
            <a:r>
              <a:rPr lang="en-US" altLang="zh-CN" dirty="0">
                <a:solidFill>
                  <a:schemeClr val="tx1"/>
                </a:solidFill>
              </a:rPr>
              <a:t>"))</a:t>
            </a:r>
          </a:p>
          <a:p>
            <a:r>
              <a:rPr lang="en-US" altLang="zh-CN" dirty="0" err="1">
                <a:solidFill>
                  <a:schemeClr val="tx1"/>
                </a:solidFill>
              </a:rPr>
              <a:t>ch</a:t>
            </a:r>
            <a:r>
              <a:rPr lang="en-US" altLang="zh-CN" dirty="0">
                <a:solidFill>
                  <a:schemeClr val="tx1"/>
                </a:solidFill>
              </a:rPr>
              <a:t>='A'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for </a:t>
            </a:r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 in range(1,n+1):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    print('{}{}'.format(' '*(n-</a:t>
            </a:r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),</a:t>
            </a:r>
            <a:r>
              <a:rPr lang="en-US" altLang="zh-CN" dirty="0" err="1">
                <a:solidFill>
                  <a:schemeClr val="tx1"/>
                </a:solidFill>
              </a:rPr>
              <a:t>ch</a:t>
            </a:r>
            <a:r>
              <a:rPr lang="en-US" altLang="zh-CN" dirty="0">
                <a:solidFill>
                  <a:schemeClr val="tx1"/>
                </a:solidFill>
              </a:rPr>
              <a:t>*(2*i-1)))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    </a:t>
            </a:r>
            <a:r>
              <a:rPr lang="en-US" altLang="zh-CN" dirty="0" err="1">
                <a:solidFill>
                  <a:srgbClr val="FF0000"/>
                </a:solidFill>
              </a:rPr>
              <a:t>ch</a:t>
            </a:r>
            <a:r>
              <a:rPr lang="en-US" altLang="zh-CN" dirty="0">
                <a:solidFill>
                  <a:srgbClr val="FF0000"/>
                </a:solidFill>
              </a:rPr>
              <a:t>=</a:t>
            </a:r>
            <a:r>
              <a:rPr lang="en-US" altLang="zh-CN" dirty="0" err="1">
                <a:solidFill>
                  <a:srgbClr val="FF0000"/>
                </a:solidFill>
              </a:rPr>
              <a:t>chr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dirty="0" err="1">
                <a:solidFill>
                  <a:srgbClr val="FF0000"/>
                </a:solidFill>
              </a:rPr>
              <a:t>ord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dirty="0" err="1">
                <a:solidFill>
                  <a:srgbClr val="FF0000"/>
                </a:solidFill>
              </a:rPr>
              <a:t>ch</a:t>
            </a:r>
            <a:r>
              <a:rPr lang="en-US" altLang="zh-CN" dirty="0">
                <a:solidFill>
                  <a:srgbClr val="FF0000"/>
                </a:solidFill>
              </a:rPr>
              <a:t>)+1)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7713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DAA59C3-3258-43DC-AC2D-E8564722C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复杂的：输入行数</a:t>
            </a:r>
            <a:r>
              <a:rPr lang="en-US" altLang="zh-CN" dirty="0"/>
              <a:t>n </a:t>
            </a:r>
            <a:r>
              <a:rPr lang="zh-CN" altLang="en-US" dirty="0"/>
              <a:t>打印字符图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774BF90-C125-45AE-BF89-4BDE2B9F76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D98EDB-330F-4C41-A086-4A6179202AEA}" type="slidenum">
              <a:rPr lang="en-US" altLang="zh-CN" smtClean="0"/>
              <a:pPr>
                <a:defRPr/>
              </a:pPr>
              <a:t>79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025419F-4E53-4AC7-A191-D287B3460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275606"/>
            <a:ext cx="2218874" cy="193458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627784" y="961771"/>
            <a:ext cx="3744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思考：怎么打印？</a:t>
            </a:r>
          </a:p>
        </p:txBody>
      </p:sp>
      <p:sp>
        <p:nvSpPr>
          <p:cNvPr id="6" name="TextBox 3"/>
          <p:cNvSpPr txBox="1"/>
          <p:nvPr/>
        </p:nvSpPr>
        <p:spPr>
          <a:xfrm>
            <a:off x="2627784" y="1534164"/>
            <a:ext cx="6264696" cy="3416320"/>
          </a:xfrm>
          <a:prstGeom prst="rect">
            <a:avLst/>
          </a:prstGeom>
          <a:noFill/>
          <a:ln w="2222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</a:rPr>
              <a:t>共</a:t>
            </a:r>
            <a:r>
              <a:rPr lang="en-US" altLang="zh-CN" dirty="0">
                <a:solidFill>
                  <a:schemeClr val="tx1"/>
                </a:solidFill>
              </a:rPr>
              <a:t>n</a:t>
            </a:r>
            <a:r>
              <a:rPr lang="zh-CN" altLang="en-US" dirty="0">
                <a:solidFill>
                  <a:schemeClr val="tx1"/>
                </a:solidFill>
              </a:rPr>
              <a:t>行，需要一个循环</a:t>
            </a:r>
            <a:endParaRPr lang="en-US" altLang="zh-CN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</a:rPr>
              <a:t>第</a:t>
            </a:r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zh-CN" altLang="en-US" dirty="0">
                <a:solidFill>
                  <a:schemeClr val="tx1"/>
                </a:solidFill>
              </a:rPr>
              <a:t>行有 </a:t>
            </a:r>
            <a:r>
              <a:rPr lang="en-US" altLang="zh-CN" dirty="0">
                <a:solidFill>
                  <a:schemeClr val="tx1"/>
                </a:solidFill>
              </a:rPr>
              <a:t>2*i-1</a:t>
            </a:r>
            <a:r>
              <a:rPr lang="zh-CN" altLang="en-US" dirty="0">
                <a:solidFill>
                  <a:schemeClr val="tx1"/>
                </a:solidFill>
              </a:rPr>
              <a:t>个字符</a:t>
            </a:r>
            <a:endParaRPr lang="en-US" altLang="zh-CN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</a:rPr>
              <a:t>第</a:t>
            </a:r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zh-CN" altLang="en-US" dirty="0">
                <a:solidFill>
                  <a:schemeClr val="tx1"/>
                </a:solidFill>
              </a:rPr>
              <a:t>行，前面</a:t>
            </a:r>
            <a:r>
              <a:rPr lang="en-US" altLang="zh-CN" dirty="0">
                <a:solidFill>
                  <a:schemeClr val="tx1"/>
                </a:solidFill>
              </a:rPr>
              <a:t>n-</a:t>
            </a:r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zh-CN" altLang="en-US" dirty="0">
                <a:solidFill>
                  <a:schemeClr val="tx1"/>
                </a:solidFill>
              </a:rPr>
              <a:t>个空格，从</a:t>
            </a:r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zh-CN" altLang="en-US" dirty="0">
                <a:solidFill>
                  <a:schemeClr val="tx1"/>
                </a:solidFill>
              </a:rPr>
              <a:t>字符开始，循环</a:t>
            </a:r>
            <a:r>
              <a:rPr lang="en-US" altLang="zh-CN" dirty="0">
                <a:solidFill>
                  <a:schemeClr val="tx1"/>
                </a:solidFill>
              </a:rPr>
              <a:t>(2*i-1)</a:t>
            </a:r>
            <a:r>
              <a:rPr lang="en-US" altLang="zh-CN" dirty="0">
                <a:solidFill>
                  <a:srgbClr val="FF0000"/>
                </a:solidFill>
              </a:rPr>
              <a:t>//</a:t>
            </a:r>
            <a:r>
              <a:rPr lang="en-US" altLang="zh-CN" dirty="0">
                <a:solidFill>
                  <a:schemeClr val="tx1"/>
                </a:solidFill>
              </a:rPr>
              <a:t>2+1</a:t>
            </a:r>
            <a:r>
              <a:rPr lang="zh-CN" altLang="en-US" dirty="0">
                <a:solidFill>
                  <a:schemeClr val="tx1"/>
                </a:solidFill>
              </a:rPr>
              <a:t>次，每次字符增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，打印字符，</a:t>
            </a:r>
            <a:r>
              <a:rPr lang="zh-CN" altLang="en-US" dirty="0">
                <a:solidFill>
                  <a:srgbClr val="FF0000"/>
                </a:solidFill>
              </a:rPr>
              <a:t>不换行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endParaRPr lang="en-US" altLang="zh-CN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</a:rPr>
              <a:t>第</a:t>
            </a:r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zh-CN" altLang="en-US" dirty="0">
                <a:solidFill>
                  <a:schemeClr val="tx1"/>
                </a:solidFill>
              </a:rPr>
              <a:t>行，走到中间最大字符后，在递减输出字符，循环</a:t>
            </a:r>
            <a:r>
              <a:rPr lang="en-US" altLang="zh-CN" dirty="0">
                <a:solidFill>
                  <a:schemeClr val="tx1"/>
                </a:solidFill>
              </a:rPr>
              <a:t>(2*i-1)//2</a:t>
            </a:r>
            <a:r>
              <a:rPr lang="zh-CN" altLang="en-US" dirty="0">
                <a:solidFill>
                  <a:schemeClr val="tx1"/>
                </a:solidFill>
              </a:rPr>
              <a:t>次，打印字符</a:t>
            </a:r>
            <a:endParaRPr lang="en-US" altLang="zh-CN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</a:rPr>
              <a:t>第</a:t>
            </a:r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zh-CN" altLang="en-US" dirty="0">
                <a:solidFill>
                  <a:schemeClr val="tx1"/>
                </a:solidFill>
              </a:rPr>
              <a:t>行输出结束后，换行</a:t>
            </a:r>
            <a:endParaRPr lang="en-US" altLang="zh-CN" dirty="0">
              <a:solidFill>
                <a:schemeClr val="tx1"/>
              </a:solidFill>
            </a:endParaRPr>
          </a:p>
          <a:p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360371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DAA59C3-3258-43DC-AC2D-E8564722C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练习：输入行数</a:t>
            </a:r>
            <a:r>
              <a:rPr lang="en-US" altLang="zh-CN"/>
              <a:t>n </a:t>
            </a:r>
            <a:r>
              <a:rPr lang="zh-CN" altLang="en-US"/>
              <a:t>打印</a:t>
            </a:r>
            <a:r>
              <a:rPr lang="zh-CN" altLang="en-US" dirty="0"/>
              <a:t>字符图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774BF90-C125-45AE-BF89-4BDE2B9F76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D98EDB-330F-4C41-A086-4A6179202AEA}" type="slidenum">
              <a:rPr lang="en-US" altLang="zh-CN" smtClean="0"/>
              <a:pPr>
                <a:defRPr/>
              </a:pPr>
              <a:t>80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025419F-4E53-4AC7-A191-D287B3460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275606"/>
            <a:ext cx="2301464" cy="2006589"/>
          </a:xfrm>
          <a:prstGeom prst="rect">
            <a:avLst/>
          </a:prstGeom>
        </p:spPr>
      </p:pic>
      <p:sp>
        <p:nvSpPr>
          <p:cNvPr id="6" name="TextBox 3"/>
          <p:cNvSpPr txBox="1"/>
          <p:nvPr/>
        </p:nvSpPr>
        <p:spPr>
          <a:xfrm>
            <a:off x="3619715" y="843558"/>
            <a:ext cx="5416781" cy="369331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solidFill>
                  <a:schemeClr val="tx1"/>
                </a:solidFill>
              </a:rPr>
              <a:t>n=</a:t>
            </a:r>
            <a:r>
              <a:rPr lang="en-US" altLang="zh-CN" sz="1800" dirty="0" err="1">
                <a:solidFill>
                  <a:schemeClr val="tx1"/>
                </a:solidFill>
              </a:rPr>
              <a:t>int</a:t>
            </a:r>
            <a:r>
              <a:rPr lang="en-US" altLang="zh-CN" sz="1800" dirty="0">
                <a:solidFill>
                  <a:schemeClr val="tx1"/>
                </a:solidFill>
              </a:rPr>
              <a:t>(input("</a:t>
            </a:r>
            <a:r>
              <a:rPr lang="zh-CN" altLang="en-US" sz="1800" dirty="0">
                <a:solidFill>
                  <a:schemeClr val="tx1"/>
                </a:solidFill>
              </a:rPr>
              <a:t>请输入行数：</a:t>
            </a:r>
            <a:r>
              <a:rPr lang="en-US" altLang="zh-CN" sz="1800" dirty="0">
                <a:solidFill>
                  <a:schemeClr val="tx1"/>
                </a:solidFill>
              </a:rPr>
              <a:t>"))</a:t>
            </a:r>
          </a:p>
          <a:p>
            <a:r>
              <a:rPr lang="en-US" altLang="zh-CN" sz="1800" dirty="0">
                <a:solidFill>
                  <a:schemeClr val="tx1"/>
                </a:solidFill>
              </a:rPr>
              <a:t>for </a:t>
            </a:r>
            <a:r>
              <a:rPr lang="en-US" altLang="zh-CN" sz="1800" dirty="0" err="1">
                <a:solidFill>
                  <a:schemeClr val="tx1"/>
                </a:solidFill>
              </a:rPr>
              <a:t>i</a:t>
            </a:r>
            <a:r>
              <a:rPr lang="en-US" altLang="zh-CN" sz="1800" dirty="0">
                <a:solidFill>
                  <a:schemeClr val="tx1"/>
                </a:solidFill>
              </a:rPr>
              <a:t> in range(1,n+1):</a:t>
            </a:r>
          </a:p>
          <a:p>
            <a:r>
              <a:rPr lang="en-US" altLang="zh-CN" sz="1800" dirty="0">
                <a:solidFill>
                  <a:schemeClr val="tx1"/>
                </a:solidFill>
              </a:rPr>
              <a:t>    print(' '*(n-</a:t>
            </a:r>
            <a:r>
              <a:rPr lang="en-US" altLang="zh-CN" sz="1800" dirty="0" err="1">
                <a:solidFill>
                  <a:schemeClr val="tx1"/>
                </a:solidFill>
              </a:rPr>
              <a:t>i</a:t>
            </a:r>
            <a:r>
              <a:rPr lang="en-US" altLang="zh-CN" sz="1800" dirty="0">
                <a:solidFill>
                  <a:schemeClr val="tx1"/>
                </a:solidFill>
              </a:rPr>
              <a:t>),end='')  # </a:t>
            </a:r>
            <a:r>
              <a:rPr lang="zh-CN" altLang="en-US" sz="1800" dirty="0">
                <a:solidFill>
                  <a:schemeClr val="tx1"/>
                </a:solidFill>
              </a:rPr>
              <a:t>输出空格不回车 </a:t>
            </a:r>
            <a:endParaRPr lang="en-US" altLang="zh-CN" sz="1800" dirty="0">
              <a:solidFill>
                <a:schemeClr val="tx1"/>
              </a:solidFill>
            </a:endParaRPr>
          </a:p>
          <a:p>
            <a:r>
              <a:rPr lang="en-US" altLang="zh-CN" sz="1800" dirty="0">
                <a:solidFill>
                  <a:schemeClr val="tx1"/>
                </a:solidFill>
              </a:rPr>
              <a:t>    </a:t>
            </a:r>
            <a:r>
              <a:rPr lang="en-US" altLang="zh-CN" sz="1800" dirty="0" err="1">
                <a:solidFill>
                  <a:schemeClr val="tx1"/>
                </a:solidFill>
              </a:rPr>
              <a:t>ch</a:t>
            </a:r>
            <a:r>
              <a:rPr lang="en-US" altLang="zh-CN" sz="1800" dirty="0">
                <a:solidFill>
                  <a:schemeClr val="tx1"/>
                </a:solidFill>
              </a:rPr>
              <a:t>='A'</a:t>
            </a:r>
          </a:p>
          <a:p>
            <a:r>
              <a:rPr lang="en-US" altLang="zh-CN" sz="1800" dirty="0">
                <a:solidFill>
                  <a:schemeClr val="tx1"/>
                </a:solidFill>
              </a:rPr>
              <a:t>    k=(2*i-1)//2</a:t>
            </a:r>
          </a:p>
          <a:p>
            <a:r>
              <a:rPr lang="en-US" altLang="zh-CN" sz="1800" dirty="0">
                <a:solidFill>
                  <a:schemeClr val="tx1"/>
                </a:solidFill>
              </a:rPr>
              <a:t>    for j in range(0,k+1):</a:t>
            </a:r>
          </a:p>
          <a:p>
            <a:r>
              <a:rPr lang="en-US" altLang="zh-CN" sz="1800" dirty="0">
                <a:solidFill>
                  <a:schemeClr val="tx1"/>
                </a:solidFill>
              </a:rPr>
              <a:t>        print(</a:t>
            </a:r>
            <a:r>
              <a:rPr lang="en-US" altLang="zh-CN" sz="1800" dirty="0" err="1">
                <a:solidFill>
                  <a:schemeClr val="tx1"/>
                </a:solidFill>
              </a:rPr>
              <a:t>ch,end</a:t>
            </a:r>
            <a:r>
              <a:rPr lang="en-US" altLang="zh-CN" sz="1800" dirty="0">
                <a:solidFill>
                  <a:schemeClr val="tx1"/>
                </a:solidFill>
              </a:rPr>
              <a:t>='')</a:t>
            </a:r>
          </a:p>
          <a:p>
            <a:r>
              <a:rPr lang="en-US" altLang="zh-CN" sz="1800" dirty="0">
                <a:solidFill>
                  <a:schemeClr val="tx1"/>
                </a:solidFill>
              </a:rPr>
              <a:t>        </a:t>
            </a:r>
            <a:r>
              <a:rPr lang="en-US" altLang="zh-CN" sz="1800" dirty="0" err="1">
                <a:solidFill>
                  <a:schemeClr val="tx1"/>
                </a:solidFill>
              </a:rPr>
              <a:t>ch</a:t>
            </a:r>
            <a:r>
              <a:rPr lang="en-US" altLang="zh-CN" sz="1800" dirty="0">
                <a:solidFill>
                  <a:schemeClr val="tx1"/>
                </a:solidFill>
              </a:rPr>
              <a:t>=</a:t>
            </a:r>
            <a:r>
              <a:rPr lang="en-US" altLang="zh-CN" sz="1800" dirty="0" err="1">
                <a:solidFill>
                  <a:schemeClr val="tx1"/>
                </a:solidFill>
              </a:rPr>
              <a:t>chr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en-US" altLang="zh-CN" sz="1800" dirty="0" err="1">
                <a:solidFill>
                  <a:schemeClr val="tx1"/>
                </a:solidFill>
              </a:rPr>
              <a:t>ord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en-US" altLang="zh-CN" sz="1800" dirty="0" err="1">
                <a:solidFill>
                  <a:schemeClr val="tx1"/>
                </a:solidFill>
              </a:rPr>
              <a:t>ch</a:t>
            </a:r>
            <a:r>
              <a:rPr lang="en-US" altLang="zh-CN" sz="1800" dirty="0">
                <a:solidFill>
                  <a:schemeClr val="tx1"/>
                </a:solidFill>
              </a:rPr>
              <a:t>)+1)</a:t>
            </a:r>
          </a:p>
          <a:p>
            <a:r>
              <a:rPr lang="en-US" altLang="zh-CN" sz="1800" dirty="0">
                <a:solidFill>
                  <a:schemeClr val="tx1"/>
                </a:solidFill>
              </a:rPr>
              <a:t>    </a:t>
            </a:r>
            <a:r>
              <a:rPr lang="en-US" altLang="zh-CN" sz="1800" dirty="0" err="1">
                <a:solidFill>
                  <a:schemeClr val="tx1"/>
                </a:solidFill>
              </a:rPr>
              <a:t>ch</a:t>
            </a:r>
            <a:r>
              <a:rPr lang="en-US" altLang="zh-CN" sz="1800" dirty="0">
                <a:solidFill>
                  <a:schemeClr val="tx1"/>
                </a:solidFill>
              </a:rPr>
              <a:t>=</a:t>
            </a:r>
            <a:r>
              <a:rPr lang="en-US" altLang="zh-CN" sz="1800" dirty="0" err="1">
                <a:solidFill>
                  <a:schemeClr val="tx1"/>
                </a:solidFill>
              </a:rPr>
              <a:t>chr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en-US" altLang="zh-CN" sz="1800" dirty="0" err="1">
                <a:solidFill>
                  <a:schemeClr val="tx1"/>
                </a:solidFill>
              </a:rPr>
              <a:t>ord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en-US" altLang="zh-CN" sz="1800" dirty="0" err="1">
                <a:solidFill>
                  <a:schemeClr val="tx1"/>
                </a:solidFill>
              </a:rPr>
              <a:t>ch</a:t>
            </a:r>
            <a:r>
              <a:rPr lang="en-US" altLang="zh-CN" sz="1800" dirty="0">
                <a:solidFill>
                  <a:schemeClr val="tx1"/>
                </a:solidFill>
              </a:rPr>
              <a:t>)-1)  # </a:t>
            </a:r>
            <a:r>
              <a:rPr lang="zh-CN" altLang="en-US" sz="1800" dirty="0">
                <a:solidFill>
                  <a:schemeClr val="tx1"/>
                </a:solidFill>
              </a:rPr>
              <a:t>走到了行  最大字符</a:t>
            </a:r>
            <a:r>
              <a:rPr lang="en-US" altLang="zh-CN" sz="1800" dirty="0">
                <a:solidFill>
                  <a:schemeClr val="tx1"/>
                </a:solidFill>
              </a:rPr>
              <a:t>+1</a:t>
            </a:r>
          </a:p>
          <a:p>
            <a:r>
              <a:rPr lang="en-US" altLang="zh-CN" sz="1800" dirty="0">
                <a:solidFill>
                  <a:schemeClr val="tx1"/>
                </a:solidFill>
              </a:rPr>
              <a:t>    for j in range(0,k):</a:t>
            </a:r>
          </a:p>
          <a:p>
            <a:r>
              <a:rPr lang="en-US" altLang="zh-CN" sz="1800" dirty="0">
                <a:solidFill>
                  <a:schemeClr val="tx1"/>
                </a:solidFill>
              </a:rPr>
              <a:t>        </a:t>
            </a:r>
            <a:r>
              <a:rPr lang="en-US" altLang="zh-CN" sz="1800" dirty="0" err="1">
                <a:solidFill>
                  <a:schemeClr val="tx1"/>
                </a:solidFill>
              </a:rPr>
              <a:t>ch</a:t>
            </a:r>
            <a:r>
              <a:rPr lang="en-US" altLang="zh-CN" sz="1800" dirty="0">
                <a:solidFill>
                  <a:schemeClr val="tx1"/>
                </a:solidFill>
              </a:rPr>
              <a:t>=</a:t>
            </a:r>
            <a:r>
              <a:rPr lang="en-US" altLang="zh-CN" sz="1800" dirty="0" err="1">
                <a:solidFill>
                  <a:schemeClr val="tx1"/>
                </a:solidFill>
              </a:rPr>
              <a:t>chr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en-US" altLang="zh-CN" sz="1800" dirty="0" err="1">
                <a:solidFill>
                  <a:schemeClr val="tx1"/>
                </a:solidFill>
              </a:rPr>
              <a:t>ord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en-US" altLang="zh-CN" sz="1800" dirty="0" err="1">
                <a:solidFill>
                  <a:schemeClr val="tx1"/>
                </a:solidFill>
              </a:rPr>
              <a:t>ch</a:t>
            </a:r>
            <a:r>
              <a:rPr lang="en-US" altLang="zh-CN" sz="1800" dirty="0">
                <a:solidFill>
                  <a:schemeClr val="tx1"/>
                </a:solidFill>
              </a:rPr>
              <a:t>)-1)</a:t>
            </a:r>
          </a:p>
          <a:p>
            <a:r>
              <a:rPr lang="en-US" altLang="zh-CN" sz="1800" dirty="0">
                <a:solidFill>
                  <a:schemeClr val="tx1"/>
                </a:solidFill>
              </a:rPr>
              <a:t>        print(</a:t>
            </a:r>
            <a:r>
              <a:rPr lang="en-US" altLang="zh-CN" sz="1800" dirty="0" err="1">
                <a:solidFill>
                  <a:schemeClr val="tx1"/>
                </a:solidFill>
              </a:rPr>
              <a:t>ch,end</a:t>
            </a:r>
            <a:r>
              <a:rPr lang="en-US" altLang="zh-CN" sz="1800" dirty="0">
                <a:solidFill>
                  <a:schemeClr val="tx1"/>
                </a:solidFill>
              </a:rPr>
              <a:t>='')        </a:t>
            </a:r>
          </a:p>
          <a:p>
            <a:r>
              <a:rPr lang="en-US" altLang="zh-CN" sz="1800" dirty="0">
                <a:solidFill>
                  <a:schemeClr val="tx1"/>
                </a:solidFill>
              </a:rPr>
              <a:t>    print()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60682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6440" y="2780000"/>
            <a:ext cx="83800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18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分析：行序号</a:t>
            </a:r>
            <a:r>
              <a:rPr lang="en-US" altLang="zh-CN" sz="1800" b="0" dirty="0" err="1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</a:t>
            </a:r>
            <a:endParaRPr lang="en-US" altLang="zh-CN" sz="1800" b="0" dirty="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zh-CN" altLang="en-US" sz="18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每行组成：</a:t>
            </a:r>
            <a:r>
              <a:rPr lang="en-US" altLang="zh-CN" sz="18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1 </a:t>
            </a:r>
            <a:r>
              <a:rPr lang="zh-CN" altLang="en-US" sz="18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最左测空格，</a:t>
            </a:r>
            <a:r>
              <a:rPr lang="en-US" altLang="zh-CN" sz="18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9-i</a:t>
            </a:r>
            <a:r>
              <a:rPr lang="zh-CN" altLang="en-US" sz="18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个；</a:t>
            </a:r>
            <a:r>
              <a:rPr lang="en-US" altLang="zh-CN" sz="18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2 </a:t>
            </a:r>
            <a:r>
              <a:rPr lang="zh-CN" altLang="en-US" sz="18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一个变化的数 </a:t>
            </a:r>
            <a:r>
              <a:rPr lang="en-US" altLang="zh-CN" sz="18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t</a:t>
            </a:r>
            <a:r>
              <a:rPr lang="zh-CN" altLang="en-US" sz="18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，可用公式循环求解；</a:t>
            </a:r>
            <a:endParaRPr lang="en-US" altLang="zh-CN" sz="1800" b="0" dirty="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8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3 </a:t>
            </a:r>
            <a:r>
              <a:rPr lang="en-US" altLang="zh-CN" sz="1800" dirty="0">
                <a:solidFill>
                  <a:schemeClr val="tx1"/>
                </a:solidFill>
              </a:rPr>
              <a:t>‘</a:t>
            </a:r>
            <a:r>
              <a:rPr lang="en-US" altLang="zh-CN" sz="18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×8</a:t>
            </a:r>
            <a:r>
              <a:rPr lang="zh-CN" altLang="en-US" sz="18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＋</a:t>
            </a:r>
            <a:r>
              <a:rPr lang="en-US" altLang="zh-CN" sz="1800" dirty="0">
                <a:solidFill>
                  <a:schemeClr val="tx1"/>
                </a:solidFill>
              </a:rPr>
              <a:t>’</a:t>
            </a:r>
            <a:r>
              <a:rPr lang="zh-CN" altLang="en-US" sz="18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是常数；</a:t>
            </a:r>
            <a:r>
              <a:rPr lang="en-US" altLang="zh-CN" sz="18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4 </a:t>
            </a:r>
            <a:r>
              <a:rPr lang="zh-CN" altLang="en-US" sz="18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行索引；</a:t>
            </a:r>
            <a:r>
              <a:rPr lang="en-US" altLang="zh-CN" sz="18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5 </a:t>
            </a:r>
            <a:r>
              <a:rPr lang="zh-CN" altLang="en-US" sz="18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常数项</a:t>
            </a:r>
            <a:r>
              <a:rPr lang="en-US" altLang="zh-CN" sz="1800" dirty="0">
                <a:solidFill>
                  <a:schemeClr val="tx1"/>
                </a:solidFill>
              </a:rPr>
              <a:t>‘</a:t>
            </a:r>
            <a:r>
              <a:rPr lang="en-US" altLang="zh-CN" sz="18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=</a:t>
            </a:r>
            <a:r>
              <a:rPr lang="en-US" altLang="zh-CN" sz="1800" dirty="0">
                <a:solidFill>
                  <a:schemeClr val="tx1"/>
                </a:solidFill>
              </a:rPr>
              <a:t>’</a:t>
            </a:r>
            <a:r>
              <a:rPr lang="en-US" altLang="zh-CN" sz="18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6 </a:t>
            </a:r>
            <a:r>
              <a:rPr lang="zh-CN" altLang="en-US" sz="18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左侧计算的结果  </a:t>
            </a:r>
            <a:r>
              <a:rPr lang="en-US" altLang="zh-CN" sz="18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t*8+i</a:t>
            </a:r>
          </a:p>
        </p:txBody>
      </p:sp>
      <p:sp>
        <p:nvSpPr>
          <p:cNvPr id="4" name="矩形 3"/>
          <p:cNvSpPr/>
          <p:nvPr/>
        </p:nvSpPr>
        <p:spPr>
          <a:xfrm>
            <a:off x="223528" y="104224"/>
            <a:ext cx="41825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1.</a:t>
            </a:r>
            <a:r>
              <a:rPr lang="zh-CN" altLang="en-US" b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字符图</a:t>
            </a:r>
            <a:r>
              <a:rPr lang="en-US" altLang="zh-CN" b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b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b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3.21</a:t>
            </a:r>
            <a:r>
              <a:rPr lang="zh-CN" altLang="en-US" b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数字之美</a:t>
            </a:r>
            <a:endParaRPr lang="en-US" altLang="zh-CN" b="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23434" y="1947744"/>
            <a:ext cx="31578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b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0*10+1=1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b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1*10+2=12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b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12*10+3=123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b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123*10+4=1234</a:t>
            </a:r>
            <a:endParaRPr lang="zh-CN" altLang="en-US" sz="14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6440" y="1766135"/>
            <a:ext cx="1520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t=t*10+i</a:t>
            </a:r>
            <a:endParaRPr lang="zh-CN" altLang="en-US" sz="1800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66724" y="1358105"/>
            <a:ext cx="962322" cy="387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t=0</a:t>
            </a:r>
            <a:endParaRPr lang="zh-CN" altLang="en-US" sz="1600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27" name="图片 26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2" b="1"/>
          <a:stretch/>
        </p:blipFill>
        <p:spPr bwMode="auto">
          <a:xfrm>
            <a:off x="5471769" y="159717"/>
            <a:ext cx="2963949" cy="165739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8" name="图片 2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2183" y="1082219"/>
            <a:ext cx="822820" cy="160412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8"/>
          <p:cNvSpPr txBox="1"/>
          <p:nvPr/>
        </p:nvSpPr>
        <p:spPr>
          <a:xfrm>
            <a:off x="7138407" y="2169839"/>
            <a:ext cx="1059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400" b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可变部分</a:t>
            </a:r>
            <a:endParaRPr lang="en-US" altLang="zh-CN" sz="1400" b="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7" name="直接箭头连接符 6"/>
          <p:cNvCxnSpPr/>
          <p:nvPr/>
        </p:nvCxnSpPr>
        <p:spPr bwMode="auto">
          <a:xfrm flipH="1" flipV="1">
            <a:off x="5940152" y="791184"/>
            <a:ext cx="1481756" cy="1404627"/>
          </a:xfrm>
          <a:prstGeom prst="straightConnector1">
            <a:avLst/>
          </a:prstGeom>
          <a:noFill/>
          <a:ln w="12700" algn="ctr">
            <a:solidFill>
              <a:srgbClr val="000066"/>
            </a:solidFill>
            <a:round/>
            <a:headEnd type="stealth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19" name="直接箭头连接符 18"/>
          <p:cNvCxnSpPr/>
          <p:nvPr/>
        </p:nvCxnSpPr>
        <p:spPr bwMode="auto">
          <a:xfrm flipH="1" flipV="1">
            <a:off x="6169297" y="1552004"/>
            <a:ext cx="1225509" cy="664551"/>
          </a:xfrm>
          <a:prstGeom prst="straightConnector1">
            <a:avLst/>
          </a:prstGeom>
          <a:noFill/>
          <a:ln w="12700" algn="ctr">
            <a:solidFill>
              <a:srgbClr val="000066"/>
            </a:solidFill>
            <a:round/>
            <a:headEnd type="stealth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21" name="直接箭头连接符 20"/>
          <p:cNvCxnSpPr/>
          <p:nvPr/>
        </p:nvCxnSpPr>
        <p:spPr bwMode="auto">
          <a:xfrm flipH="1" flipV="1">
            <a:off x="7085713" y="988412"/>
            <a:ext cx="665449" cy="1217772"/>
          </a:xfrm>
          <a:prstGeom prst="straightConnector1">
            <a:avLst/>
          </a:prstGeom>
          <a:noFill/>
          <a:ln w="12700" algn="ctr">
            <a:solidFill>
              <a:srgbClr val="000066"/>
            </a:solidFill>
            <a:round/>
            <a:headEnd type="stealth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23" name="直接箭头连接符 22"/>
          <p:cNvCxnSpPr/>
          <p:nvPr/>
        </p:nvCxnSpPr>
        <p:spPr bwMode="auto">
          <a:xfrm flipV="1">
            <a:off x="7799497" y="1814700"/>
            <a:ext cx="97991" cy="381112"/>
          </a:xfrm>
          <a:prstGeom prst="straightConnector1">
            <a:avLst/>
          </a:prstGeom>
          <a:noFill/>
          <a:ln w="12700" algn="ctr">
            <a:solidFill>
              <a:srgbClr val="000066"/>
            </a:solidFill>
            <a:round/>
            <a:headEnd type="stealth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29" name="TextBox 8"/>
          <p:cNvSpPr txBox="1"/>
          <p:nvPr/>
        </p:nvSpPr>
        <p:spPr>
          <a:xfrm>
            <a:off x="5502763" y="491678"/>
            <a:ext cx="6956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400" b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空格</a:t>
            </a:r>
            <a:endParaRPr lang="en-US" altLang="zh-CN" sz="1400" b="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TextBox 1"/>
          <p:cNvSpPr txBox="1"/>
          <p:nvPr/>
        </p:nvSpPr>
        <p:spPr>
          <a:xfrm>
            <a:off x="223528" y="615519"/>
            <a:ext cx="5199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18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要求：</a:t>
            </a:r>
            <a:r>
              <a:rPr lang="zh-CN" altLang="en-US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利用循环显示有规律数字图</a:t>
            </a:r>
            <a:endParaRPr lang="en-US" altLang="zh-CN" sz="1600" b="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461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24" grpId="0"/>
      <p:bldP spid="14" grpId="0"/>
      <p:bldP spid="29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3528" y="615519"/>
            <a:ext cx="519990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18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要求：</a:t>
            </a:r>
            <a:r>
              <a:rPr lang="zh-CN" altLang="en-US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利用循环显示有规律数字图</a:t>
            </a:r>
            <a:endParaRPr lang="en-US" altLang="zh-CN" sz="1600" b="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分析：</a:t>
            </a:r>
            <a:r>
              <a:rPr lang="zh-CN" altLang="en-US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关键在于，如何构建左边有规律的数值表达式？</a:t>
            </a:r>
            <a:endParaRPr lang="en-US" altLang="zh-CN" sz="1600" b="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    </a:t>
            </a:r>
            <a:r>
              <a:rPr lang="zh-CN" altLang="en-US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输出格式如何表示？</a:t>
            </a:r>
          </a:p>
        </p:txBody>
      </p:sp>
      <p:sp>
        <p:nvSpPr>
          <p:cNvPr id="4" name="矩形 3"/>
          <p:cNvSpPr/>
          <p:nvPr/>
        </p:nvSpPr>
        <p:spPr>
          <a:xfrm>
            <a:off x="223528" y="104224"/>
            <a:ext cx="41825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1.</a:t>
            </a:r>
            <a:r>
              <a:rPr lang="zh-CN" altLang="en-US" b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字符图</a:t>
            </a:r>
            <a:r>
              <a:rPr lang="en-US" altLang="zh-CN" b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b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b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3.21</a:t>
            </a:r>
            <a:r>
              <a:rPr lang="zh-CN" altLang="en-US" b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数字之美</a:t>
            </a:r>
            <a:endParaRPr lang="en-US" altLang="zh-CN" b="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23434" y="1947744"/>
            <a:ext cx="31578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b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0*10+1=1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b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1*10+2=12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b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12*10+3=123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b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123*10+4=1234</a:t>
            </a:r>
            <a:endParaRPr lang="zh-CN" altLang="en-US" sz="14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68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172" y="1923678"/>
            <a:ext cx="1066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680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172" y="1947744"/>
            <a:ext cx="1076325" cy="60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680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222" y="1923678"/>
            <a:ext cx="1057275" cy="800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680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459" y="1923678"/>
            <a:ext cx="1047750" cy="1181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1733104" y="2063115"/>
            <a:ext cx="1520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t=t*10+i</a:t>
            </a:r>
            <a:endParaRPr lang="zh-CN" altLang="en-US" sz="1800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818440" y="1670447"/>
            <a:ext cx="962322" cy="387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t=0</a:t>
            </a:r>
            <a:endParaRPr lang="zh-CN" altLang="en-US" sz="160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5" name="AutoShape 44"/>
          <p:cNvSpPr>
            <a:spLocks noChangeArrowheads="1"/>
          </p:cNvSpPr>
          <p:nvPr/>
        </p:nvSpPr>
        <p:spPr bwMode="gray">
          <a:xfrm>
            <a:off x="207294" y="3256990"/>
            <a:ext cx="7461049" cy="1224136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t=0</a:t>
            </a:r>
          </a:p>
          <a:p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for </a:t>
            </a:r>
            <a:r>
              <a:rPr lang="en-US" altLang="zh-CN" sz="16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in range(1,10):</a:t>
            </a:r>
          </a:p>
          <a:p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t=t*10+i</a:t>
            </a:r>
          </a:p>
          <a:p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print("{}{}×8</a:t>
            </a:r>
            <a:r>
              <a:rPr lang="zh-CN" altLang="en-US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＋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{}</a:t>
            </a:r>
            <a:r>
              <a:rPr lang="zh-CN" altLang="en-US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＝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{}".format( (11-i) *" ", </a:t>
            </a:r>
            <a:r>
              <a:rPr lang="en-US" altLang="zh-CN" sz="16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t,i,t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*8+i))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pic>
        <p:nvPicPr>
          <p:cNvPr id="27" name="图片 26"/>
          <p:cNvPicPr/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2" b="1"/>
          <a:stretch/>
        </p:blipFill>
        <p:spPr bwMode="auto">
          <a:xfrm>
            <a:off x="5471769" y="159717"/>
            <a:ext cx="2963949" cy="165739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8" name="图片 27"/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8617" y="1500658"/>
            <a:ext cx="822820" cy="160412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8"/>
          <p:cNvSpPr txBox="1"/>
          <p:nvPr/>
        </p:nvSpPr>
        <p:spPr>
          <a:xfrm>
            <a:off x="7138407" y="2169839"/>
            <a:ext cx="1059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400" b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可变部分</a:t>
            </a:r>
            <a:endParaRPr lang="en-US" altLang="zh-CN" sz="1400" b="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7" name="直接箭头连接符 6"/>
          <p:cNvCxnSpPr/>
          <p:nvPr/>
        </p:nvCxnSpPr>
        <p:spPr bwMode="auto">
          <a:xfrm flipH="1" flipV="1">
            <a:off x="5940152" y="791184"/>
            <a:ext cx="1481756" cy="1404627"/>
          </a:xfrm>
          <a:prstGeom prst="straightConnector1">
            <a:avLst/>
          </a:prstGeom>
          <a:noFill/>
          <a:ln w="12700" algn="ctr">
            <a:solidFill>
              <a:srgbClr val="000066"/>
            </a:solidFill>
            <a:round/>
            <a:headEnd type="stealth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19" name="直接箭头连接符 18"/>
          <p:cNvCxnSpPr/>
          <p:nvPr/>
        </p:nvCxnSpPr>
        <p:spPr bwMode="auto">
          <a:xfrm flipH="1" flipV="1">
            <a:off x="6169297" y="1552004"/>
            <a:ext cx="1225509" cy="664551"/>
          </a:xfrm>
          <a:prstGeom prst="straightConnector1">
            <a:avLst/>
          </a:prstGeom>
          <a:noFill/>
          <a:ln w="12700" algn="ctr">
            <a:solidFill>
              <a:srgbClr val="000066"/>
            </a:solidFill>
            <a:round/>
            <a:headEnd type="stealth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21" name="直接箭头连接符 20"/>
          <p:cNvCxnSpPr/>
          <p:nvPr/>
        </p:nvCxnSpPr>
        <p:spPr bwMode="auto">
          <a:xfrm flipH="1" flipV="1">
            <a:off x="7085713" y="988412"/>
            <a:ext cx="665449" cy="1217772"/>
          </a:xfrm>
          <a:prstGeom prst="straightConnector1">
            <a:avLst/>
          </a:prstGeom>
          <a:noFill/>
          <a:ln w="12700" algn="ctr">
            <a:solidFill>
              <a:srgbClr val="000066"/>
            </a:solidFill>
            <a:round/>
            <a:headEnd type="stealth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23" name="直接箭头连接符 22"/>
          <p:cNvCxnSpPr/>
          <p:nvPr/>
        </p:nvCxnSpPr>
        <p:spPr bwMode="auto">
          <a:xfrm flipV="1">
            <a:off x="7799497" y="1814700"/>
            <a:ext cx="97991" cy="381112"/>
          </a:xfrm>
          <a:prstGeom prst="straightConnector1">
            <a:avLst/>
          </a:prstGeom>
          <a:noFill/>
          <a:ln w="12700" algn="ctr">
            <a:solidFill>
              <a:srgbClr val="000066"/>
            </a:solidFill>
            <a:round/>
            <a:headEnd type="stealth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29" name="TextBox 8"/>
          <p:cNvSpPr txBox="1"/>
          <p:nvPr/>
        </p:nvSpPr>
        <p:spPr>
          <a:xfrm>
            <a:off x="5502763" y="491678"/>
            <a:ext cx="6956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400" b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空格</a:t>
            </a:r>
            <a:endParaRPr lang="en-US" altLang="zh-CN" sz="1400" b="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75406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6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6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6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76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24" grpId="0"/>
      <p:bldP spid="25" grpId="0" animBg="1"/>
      <p:bldP spid="14" grpId="0"/>
      <p:bldP spid="29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4"/>
          <p:cNvSpPr>
            <a:spLocks noChangeArrowheads="1"/>
          </p:cNvSpPr>
          <p:nvPr/>
        </p:nvSpPr>
        <p:spPr bwMode="gray">
          <a:xfrm>
            <a:off x="251520" y="318058"/>
            <a:ext cx="8208912" cy="1101564"/>
          </a:xfrm>
          <a:prstGeom prst="roundRect">
            <a:avLst>
              <a:gd name="adj" fmla="val 8014"/>
            </a:avLst>
          </a:prstGeom>
          <a:solidFill>
            <a:srgbClr val="FFFFCC"/>
          </a:solidFill>
          <a:ln w="9525">
            <a:solidFill>
              <a:srgbClr val="808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600"/>
              </a:spcBef>
            </a:pPr>
            <a:r>
              <a:rPr lang="zh-CN" altLang="en-US" sz="1800" b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思考：</a:t>
            </a:r>
            <a:endParaRPr lang="en-US" altLang="zh-CN" sz="1800" b="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          模仿尝试一下吧！</a:t>
            </a:r>
            <a:endParaRPr lang="en-US" altLang="zh-CN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          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能否找出其他数字之美规律图</a:t>
            </a: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?</a:t>
            </a:r>
            <a:endParaRPr lang="zh-CN" altLang="en-US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椭圆 1"/>
          <p:cNvSpPr/>
          <p:nvPr/>
        </p:nvSpPr>
        <p:spPr bwMode="auto">
          <a:xfrm>
            <a:off x="8172400" y="4371950"/>
            <a:ext cx="288032" cy="288032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8820043" y="4659982"/>
            <a:ext cx="162000" cy="16141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  <a:ea typeface="黑体" pitchFamily="2" charset="-122"/>
            </a:endParaRPr>
          </a:p>
        </p:txBody>
      </p:sp>
      <p:pic>
        <p:nvPicPr>
          <p:cNvPr id="97282" name="图片 10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59"/>
          <a:stretch>
            <a:fillRect/>
          </a:stretch>
        </p:blipFill>
        <p:spPr bwMode="auto">
          <a:xfrm>
            <a:off x="285051" y="1621062"/>
            <a:ext cx="3952514" cy="1697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7281" name="图片 10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1463316"/>
            <a:ext cx="2808312" cy="1670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2298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C3EE1D9-4627-49E3-9487-45D88F85136E}"/>
              </a:ext>
            </a:extLst>
          </p:cNvPr>
          <p:cNvSpPr txBox="1"/>
          <p:nvPr/>
        </p:nvSpPr>
        <p:spPr>
          <a:xfrm>
            <a:off x="107504" y="3457280"/>
            <a:ext cx="46085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t=0</a:t>
            </a:r>
          </a:p>
          <a:p>
            <a:r>
              <a:rPr lang="en-US" altLang="zh-CN" sz="1600" dirty="0"/>
              <a:t>for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 in range(1,10):</a:t>
            </a:r>
          </a:p>
          <a:p>
            <a:r>
              <a:rPr lang="en-US" altLang="zh-CN" sz="1600" dirty="0"/>
              <a:t>    t=t*10+1</a:t>
            </a:r>
          </a:p>
          <a:p>
            <a:r>
              <a:rPr lang="en-US" altLang="zh-CN" sz="1600" dirty="0"/>
              <a:t>    print("%</a:t>
            </a:r>
            <a:r>
              <a:rPr lang="en-US" altLang="zh-CN" sz="1600" dirty="0" err="1"/>
              <a:t>s%d</a:t>
            </a:r>
            <a:r>
              <a:rPr lang="en-US" altLang="zh-CN" sz="1600" dirty="0"/>
              <a:t>×%d</a:t>
            </a:r>
            <a:r>
              <a:rPr lang="zh-CN" altLang="en-US" sz="1600" dirty="0"/>
              <a:t>＝</a:t>
            </a:r>
            <a:r>
              <a:rPr lang="en-US" altLang="zh-CN" sz="1600" dirty="0"/>
              <a:t>%d"%((19-i)*" ",</a:t>
            </a:r>
            <a:r>
              <a:rPr lang="en-US" altLang="zh-CN" sz="1600" dirty="0" err="1"/>
              <a:t>t,t,t</a:t>
            </a:r>
            <a:r>
              <a:rPr lang="en-US" altLang="zh-CN" sz="1600" dirty="0"/>
              <a:t>*t))</a:t>
            </a:r>
            <a:endParaRPr lang="zh-CN" altLang="en-US" sz="16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24D6AF9-641A-491B-A842-410C4D2DCE4A}"/>
              </a:ext>
            </a:extLst>
          </p:cNvPr>
          <p:cNvSpPr txBox="1"/>
          <p:nvPr/>
        </p:nvSpPr>
        <p:spPr>
          <a:xfrm>
            <a:off x="4932040" y="3401861"/>
            <a:ext cx="331236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t=0</a:t>
            </a:r>
          </a:p>
          <a:p>
            <a:r>
              <a:rPr lang="en-US" altLang="zh-CN" sz="1400" dirty="0"/>
              <a:t>for </a:t>
            </a:r>
            <a:r>
              <a:rPr lang="en-US" altLang="zh-CN" sz="1400" dirty="0" err="1"/>
              <a:t>i</a:t>
            </a:r>
            <a:r>
              <a:rPr lang="en-US" altLang="zh-CN" sz="1400" dirty="0"/>
              <a:t> in range(9,1,-1):</a:t>
            </a:r>
          </a:p>
          <a:p>
            <a:r>
              <a:rPr lang="en-US" altLang="zh-CN" sz="1400" dirty="0"/>
              <a:t>    t=t*10+i</a:t>
            </a:r>
          </a:p>
          <a:p>
            <a:r>
              <a:rPr lang="en-US" altLang="zh-CN" sz="1400" dirty="0"/>
              <a:t>    print("%s%d×9+%d</a:t>
            </a:r>
            <a:r>
              <a:rPr lang="zh-CN" altLang="en-US" sz="1400" dirty="0"/>
              <a:t>＝</a:t>
            </a:r>
            <a:r>
              <a:rPr lang="en-US" altLang="zh-CN" sz="1400" dirty="0"/>
              <a:t>%d"%((</a:t>
            </a:r>
            <a:r>
              <a:rPr lang="en-US" altLang="zh-CN" sz="1400" dirty="0" err="1"/>
              <a:t>i</a:t>
            </a:r>
            <a:r>
              <a:rPr lang="en-US" altLang="zh-CN" sz="1400" dirty="0"/>
              <a:t>)*" ",t,i-2,t*9+i-2))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963080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7" name="Picture 10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6588" y="1995686"/>
            <a:ext cx="5233684" cy="5869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678" name="Rectangle 11"/>
          <p:cNvSpPr>
            <a:spLocks noChangeArrowheads="1"/>
          </p:cNvSpPr>
          <p:nvPr/>
        </p:nvSpPr>
        <p:spPr bwMode="auto">
          <a:xfrm>
            <a:off x="853952" y="2147206"/>
            <a:ext cx="14478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zh-CN" altLang="en-US" sz="16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近似公式 </a:t>
            </a:r>
          </a:p>
        </p:txBody>
      </p:sp>
      <p:sp>
        <p:nvSpPr>
          <p:cNvPr id="28682" name="Rectangle 7"/>
          <p:cNvSpPr>
            <a:spLocks noChangeArrowheads="1"/>
          </p:cNvSpPr>
          <p:nvPr/>
        </p:nvSpPr>
        <p:spPr bwMode="auto">
          <a:xfrm>
            <a:off x="184801" y="195486"/>
            <a:ext cx="8458200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just">
              <a:lnSpc>
                <a:spcPct val="100000"/>
              </a:lnSpc>
              <a:spcBef>
                <a:spcPct val="0"/>
              </a:spcBef>
            </a:pPr>
            <a:r>
              <a:rPr lang="en-US" altLang="zh-CN" sz="2800" b="0" dirty="0">
                <a:latin typeface="Courier New" pitchFamily="49" charset="0"/>
                <a:ea typeface="微软雅黑" pitchFamily="34" charset="-122"/>
                <a:cs typeface="Courier New" pitchFamily="49" charset="0"/>
              </a:rPr>
              <a:t>2.</a:t>
            </a:r>
            <a:r>
              <a:rPr lang="zh-CN" altLang="en-US" sz="2800" b="0" dirty="0"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计算部分级数和</a:t>
            </a:r>
          </a:p>
        </p:txBody>
      </p:sp>
      <p:sp>
        <p:nvSpPr>
          <p:cNvPr id="28683" name="Rectangle 8"/>
          <p:cNvSpPr>
            <a:spLocks noChangeArrowheads="1"/>
          </p:cNvSpPr>
          <p:nvPr/>
        </p:nvSpPr>
        <p:spPr bwMode="auto">
          <a:xfrm>
            <a:off x="184801" y="1635646"/>
            <a:ext cx="9144000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>
            <a:spAutoFit/>
          </a:bodyPr>
          <a:lstStyle/>
          <a:p>
            <a:r>
              <a:rPr lang="zh-CN" altLang="en-US" sz="18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</a:t>
            </a:r>
            <a:r>
              <a:rPr lang="zh-CN" altLang="en-US" sz="1800" b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例</a:t>
            </a:r>
            <a:r>
              <a:rPr lang="zh-CN" altLang="en-US" sz="16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： 求自然对数</a:t>
            </a:r>
            <a:r>
              <a:rPr lang="en-US" altLang="zh-CN" sz="16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</a:t>
            </a:r>
            <a:r>
              <a:rPr lang="zh-CN" altLang="en-US" sz="16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的近似值，其误差小于</a:t>
            </a:r>
            <a:r>
              <a:rPr lang="en-US" altLang="zh-CN" sz="16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0.00001</a:t>
            </a:r>
            <a:r>
              <a:rPr lang="zh-CN" altLang="en-US" sz="16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。</a:t>
            </a:r>
          </a:p>
        </p:txBody>
      </p:sp>
      <p:sp>
        <p:nvSpPr>
          <p:cNvPr id="28684" name="Text Box 9"/>
          <p:cNvSpPr txBox="1">
            <a:spLocks noChangeArrowheads="1"/>
          </p:cNvSpPr>
          <p:nvPr/>
        </p:nvSpPr>
        <p:spPr bwMode="auto">
          <a:xfrm>
            <a:off x="350032" y="2630506"/>
            <a:ext cx="7416800" cy="1095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ts val="1200"/>
              </a:spcBef>
            </a:pPr>
            <a:r>
              <a:rPr lang="zh-CN" altLang="en-US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分析：</a:t>
            </a:r>
            <a:r>
              <a:rPr lang="zh-CN" altLang="en-US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每一项求阶乘、再将阶乘值的倒数累加，要两重循环来实现。</a:t>
            </a:r>
            <a:endParaRPr lang="en-US" altLang="zh-CN" sz="1600" b="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 eaLnBrk="1" hangingPunct="1">
              <a:lnSpc>
                <a:spcPct val="115000"/>
              </a:lnSpc>
              <a:spcBef>
                <a:spcPts val="600"/>
              </a:spcBef>
            </a:pPr>
            <a:r>
              <a:rPr lang="en-US" altLang="zh-CN" sz="16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</a:t>
            </a:r>
            <a:r>
              <a:rPr lang="zh-CN" altLang="en-US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本例涉及到程序设计中两个重要运算：</a:t>
            </a:r>
          </a:p>
          <a:p>
            <a:pPr eaLnBrk="1" hangingPunct="1">
              <a:lnSpc>
                <a:spcPct val="115000"/>
              </a:lnSpc>
              <a:spcBef>
                <a:spcPts val="600"/>
              </a:spcBef>
            </a:pPr>
            <a:r>
              <a:rPr lang="en-US" altLang="zh-CN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		</a:t>
            </a:r>
            <a:r>
              <a:rPr lang="zh-CN" altLang="en-US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连乘        累加</a:t>
            </a:r>
          </a:p>
        </p:txBody>
      </p:sp>
      <p:sp>
        <p:nvSpPr>
          <p:cNvPr id="28685" name="Rectangle 11"/>
          <p:cNvSpPr>
            <a:spLocks noChangeArrowheads="1"/>
          </p:cNvSpPr>
          <p:nvPr/>
        </p:nvSpPr>
        <p:spPr bwMode="auto">
          <a:xfrm>
            <a:off x="148288" y="-70057"/>
            <a:ext cx="184731" cy="387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anchor="ctr">
            <a:spAutoFit/>
          </a:bodyPr>
          <a:lstStyle/>
          <a:p>
            <a:endParaRPr lang="zh-CN" altLang="en-US" sz="1600"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28687" name="Rectangle 13"/>
          <p:cNvSpPr>
            <a:spLocks noChangeArrowheads="1"/>
          </p:cNvSpPr>
          <p:nvPr/>
        </p:nvSpPr>
        <p:spPr bwMode="auto">
          <a:xfrm>
            <a:off x="148288" y="2344530"/>
            <a:ext cx="184731" cy="387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ts val="1200"/>
              </a:spcBef>
            </a:pPr>
            <a:endParaRPr lang="zh-CN" altLang="en-US" sz="1600"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28688" name="Rectangle 15"/>
          <p:cNvSpPr>
            <a:spLocks noChangeArrowheads="1"/>
          </p:cNvSpPr>
          <p:nvPr/>
        </p:nvSpPr>
        <p:spPr bwMode="auto">
          <a:xfrm>
            <a:off x="148288" y="-70057"/>
            <a:ext cx="184731" cy="387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anchor="ctr">
            <a:spAutoFit/>
          </a:bodyPr>
          <a:lstStyle/>
          <a:p>
            <a:endParaRPr lang="zh-CN" altLang="en-US" sz="1600"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graphicFrame>
        <p:nvGraphicFramePr>
          <p:cNvPr id="28689" name="Object 14"/>
          <p:cNvGraphicFramePr>
            <a:graphicFrameLocks noChangeAspect="1"/>
          </p:cNvGraphicFramePr>
          <p:nvPr/>
        </p:nvGraphicFramePr>
        <p:xfrm>
          <a:off x="4135438" y="3254548"/>
          <a:ext cx="436562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35" name="公式" r:id="rId5" imgW="266469" imgH="431425" progId="Equation.3">
                  <p:embed/>
                </p:oleObj>
              </mc:Choice>
              <mc:Fallback>
                <p:oleObj name="公式" r:id="rId5" imgW="266469" imgH="431425" progId="Equation.3">
                  <p:embed/>
                  <p:pic>
                    <p:nvPicPr>
                      <p:cNvPr id="28689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5438" y="3254548"/>
                        <a:ext cx="436562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90" name="Rectangle 17"/>
          <p:cNvSpPr>
            <a:spLocks noChangeArrowheads="1"/>
          </p:cNvSpPr>
          <p:nvPr/>
        </p:nvSpPr>
        <p:spPr bwMode="auto">
          <a:xfrm>
            <a:off x="148288" y="-70057"/>
            <a:ext cx="184731" cy="387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anchor="ctr">
            <a:spAutoFit/>
          </a:bodyPr>
          <a:lstStyle/>
          <a:p>
            <a:endParaRPr lang="zh-CN" altLang="en-US" sz="1600"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graphicFrame>
        <p:nvGraphicFramePr>
          <p:cNvPr id="28691" name="Object 16"/>
          <p:cNvGraphicFramePr>
            <a:graphicFrameLocks noChangeAspect="1"/>
          </p:cNvGraphicFramePr>
          <p:nvPr/>
        </p:nvGraphicFramePr>
        <p:xfrm>
          <a:off x="2846438" y="3291830"/>
          <a:ext cx="429418" cy="4858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36" name="公式" r:id="rId7" imgW="291973" imgH="431613" progId="Equation.3">
                  <p:embed/>
                </p:oleObj>
              </mc:Choice>
              <mc:Fallback>
                <p:oleObj name="公式" r:id="rId7" imgW="291973" imgH="431613" progId="Equation.3">
                  <p:embed/>
                  <p:pic>
                    <p:nvPicPr>
                      <p:cNvPr id="28691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6438" y="3291830"/>
                        <a:ext cx="429418" cy="4858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21146" y="878823"/>
            <a:ext cx="6915150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zh-CN" altLang="en-US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用于</a:t>
            </a:r>
            <a:r>
              <a:rPr lang="zh-CN" altLang="en-US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：求问题近似解的一种方法</a:t>
            </a:r>
            <a:r>
              <a:rPr lang="zh-CN" altLang="en-US" sz="1600" b="0" dirty="0"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，</a:t>
            </a:r>
            <a:r>
              <a:rPr lang="zh-CN" altLang="en-US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例求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</a:t>
            </a:r>
            <a:r>
              <a:rPr lang="zh-CN" altLang="en-US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、 、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sin(x)</a:t>
            </a:r>
            <a:r>
              <a:rPr lang="zh-CN" altLang="en-US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等。</a:t>
            </a:r>
            <a:endParaRPr lang="en-US" altLang="zh-CN" sz="1600" b="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zh-CN" altLang="en-US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关键</a:t>
            </a:r>
            <a:r>
              <a:rPr lang="zh-CN" altLang="en-US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：已知公式找规律写出</a:t>
            </a:r>
            <a:r>
              <a:rPr lang="zh-CN" altLang="en-US" sz="16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通项、精度（结束循环条件）</a:t>
            </a:r>
            <a:endParaRPr lang="en-US" altLang="zh-CN" sz="1600" b="0" dirty="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endParaRPr lang="zh-CN" altLang="en-US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endParaRPr lang="zh-CN" altLang="en-US" sz="1600" b="0" dirty="0">
              <a:solidFill>
                <a:srgbClr val="C00000"/>
              </a:solidFill>
            </a:endParaRPr>
          </a:p>
        </p:txBody>
      </p:sp>
      <p:pic>
        <p:nvPicPr>
          <p:cNvPr id="28779" name="Picture 107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7414" y="993551"/>
            <a:ext cx="190500" cy="157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47936" y="3867894"/>
            <a:ext cx="6715740" cy="1224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求阶乘： 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1!=1,2!=2*1!,…,i!=i*(i-1)!</a:t>
            </a:r>
          </a:p>
          <a:p>
            <a:r>
              <a:rPr lang="zh-CN" altLang="en-US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     简化成一重循环求累加（    ） 就可。 </a:t>
            </a:r>
          </a:p>
          <a:p>
            <a:r>
              <a:rPr lang="en-US" altLang="zh-CN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</a:t>
            </a:r>
            <a:endParaRPr lang="zh-CN" altLang="en-US" sz="1600" b="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4283968" y="4227934"/>
          <a:ext cx="472833" cy="4931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37" name="公式" r:id="rId10" imgW="317225" imgH="431425" progId="Equation.3">
                  <p:embed/>
                </p:oleObj>
              </mc:Choice>
              <mc:Fallback>
                <p:oleObj name="公式" r:id="rId10" imgW="317225" imgH="431425" progId="Equation.3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3968" y="4227934"/>
                        <a:ext cx="472833" cy="4931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30346942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8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8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8" grpId="0"/>
      <p:bldP spid="28683" grpId="0"/>
      <p:bldP spid="28684" grpId="0"/>
      <p:bldP spid="28687" grpId="0"/>
      <p:bldP spid="3" grpId="0"/>
      <p:bldP spid="2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44"/>
          <p:cNvSpPr>
            <a:spLocks noChangeArrowheads="1"/>
          </p:cNvSpPr>
          <p:nvPr/>
        </p:nvSpPr>
        <p:spPr bwMode="gray">
          <a:xfrm>
            <a:off x="323528" y="1779662"/>
            <a:ext cx="8002857" cy="2448272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285750" indent="-285750" eaLnBrk="0" hangingPunc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累加和问题：</a:t>
            </a:r>
            <a:r>
              <a:rPr lang="zh-CN" altLang="en-US" sz="1800" dirty="0">
                <a:solidFill>
                  <a:srgbClr val="FF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前后项间有关系</a:t>
            </a:r>
            <a:r>
              <a:rPr lang="zh-CN" altLang="en-US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，每项的取值，项的索引有关</a:t>
            </a:r>
            <a:endParaRPr lang="en-US" altLang="zh-CN" sz="18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 marL="285750" indent="-285750" eaLnBrk="0" hangingPunc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所以需要定义的变量：和值</a:t>
            </a:r>
            <a:r>
              <a:rPr lang="en-US" altLang="zh-CN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</a:t>
            </a:r>
            <a:r>
              <a:rPr lang="zh-CN" altLang="en-US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，项的索引 </a:t>
            </a:r>
            <a:r>
              <a:rPr lang="en-US" altLang="zh-CN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index </a:t>
            </a:r>
            <a:r>
              <a:rPr lang="zh-CN" altLang="en-US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，项的分母取值 </a:t>
            </a:r>
            <a:r>
              <a:rPr lang="en-US" altLang="zh-CN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term</a:t>
            </a:r>
          </a:p>
          <a:p>
            <a:pPr marL="285750" indent="-285750" eaLnBrk="0" hangingPunc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FF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和值</a:t>
            </a:r>
            <a:r>
              <a:rPr lang="en-US" altLang="zh-CN" sz="1800" dirty="0">
                <a:solidFill>
                  <a:srgbClr val="FF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</a:t>
            </a:r>
            <a:r>
              <a:rPr lang="zh-CN" altLang="en-US" sz="1800" dirty="0">
                <a:solidFill>
                  <a:srgbClr val="FF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初值</a:t>
            </a:r>
            <a:r>
              <a:rPr lang="en-US" altLang="zh-CN" sz="1800" dirty="0">
                <a:solidFill>
                  <a:srgbClr val="FF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1</a:t>
            </a:r>
          </a:p>
          <a:p>
            <a:pPr marL="285750" indent="-285750" eaLnBrk="0" hangingPunc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FF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索引</a:t>
            </a:r>
            <a:r>
              <a:rPr lang="en-US" altLang="zh-CN" sz="1800" dirty="0">
                <a:solidFill>
                  <a:srgbClr val="FF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index </a:t>
            </a:r>
            <a:r>
              <a:rPr lang="zh-CN" altLang="en-US" sz="1800" dirty="0">
                <a:solidFill>
                  <a:srgbClr val="FF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取初值</a:t>
            </a:r>
            <a:r>
              <a:rPr lang="en-US" altLang="zh-CN" sz="1800" dirty="0">
                <a:solidFill>
                  <a:srgbClr val="FF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1</a:t>
            </a:r>
          </a:p>
          <a:p>
            <a:pPr marL="285750" indent="-285750" eaLnBrk="0" hangingPunc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FF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项的分母</a:t>
            </a:r>
            <a:r>
              <a:rPr lang="en-US" altLang="zh-CN" sz="1800" dirty="0">
                <a:solidFill>
                  <a:srgbClr val="FF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term </a:t>
            </a:r>
            <a:r>
              <a:rPr lang="zh-CN" altLang="en-US" sz="1800" dirty="0">
                <a:solidFill>
                  <a:srgbClr val="FF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初值</a:t>
            </a:r>
            <a:r>
              <a:rPr lang="en-US" altLang="zh-CN" sz="1800" dirty="0">
                <a:solidFill>
                  <a:srgbClr val="FF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1</a:t>
            </a:r>
          </a:p>
          <a:p>
            <a:pPr marL="285750" indent="-285750" eaLnBrk="0" hangingPunc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循环每次计算一个项的分母，然后   和值  </a:t>
            </a:r>
            <a:r>
              <a:rPr lang="en-US" altLang="zh-CN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+=  1/</a:t>
            </a:r>
            <a:r>
              <a:rPr lang="zh-CN" altLang="en-US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当前项的分母</a:t>
            </a:r>
            <a:endParaRPr lang="en-US" altLang="zh-CN" sz="18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 marL="285750" indent="-285750" eaLnBrk="0" hangingPunc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循环终止的条件</a:t>
            </a:r>
            <a:endParaRPr lang="en-US" altLang="zh-CN" sz="18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pic>
        <p:nvPicPr>
          <p:cNvPr id="11" name="Picture 10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67494"/>
            <a:ext cx="5399936" cy="547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539552" y="915566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通项：</a:t>
            </a:r>
          </a:p>
        </p:txBody>
      </p:sp>
      <p:pic>
        <p:nvPicPr>
          <p:cNvPr id="7680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843558"/>
            <a:ext cx="360040" cy="5090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2555776" y="923277"/>
            <a:ext cx="3963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终止条件精度：     </a:t>
            </a:r>
            <a:r>
              <a:rPr lang="en-US" altLang="zh-CN" sz="1800" dirty="0"/>
              <a:t>&lt; </a:t>
            </a:r>
            <a:r>
              <a:rPr lang="en-US" altLang="zh-CN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0.00001</a:t>
            </a:r>
            <a:endParaRPr lang="zh-CN" altLang="en-US" sz="1800" dirty="0"/>
          </a:p>
        </p:txBody>
      </p:sp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2160" y="853432"/>
            <a:ext cx="360040" cy="5090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92327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44"/>
          <p:cNvSpPr>
            <a:spLocks noChangeArrowheads="1"/>
          </p:cNvSpPr>
          <p:nvPr/>
        </p:nvSpPr>
        <p:spPr bwMode="gray">
          <a:xfrm>
            <a:off x="313559" y="1352581"/>
            <a:ext cx="5914625" cy="2155274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e=1.0</a:t>
            </a:r>
          </a:p>
          <a:p>
            <a:r>
              <a:rPr lang="en-US" altLang="zh-CN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term=index=1  #e</a:t>
            </a:r>
            <a:r>
              <a:rPr lang="zh-CN" altLang="zh-CN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求得值，</a:t>
            </a:r>
            <a:r>
              <a:rPr lang="en-US" altLang="zh-CN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n</a:t>
            </a:r>
            <a:r>
              <a:rPr lang="zh-CN" altLang="zh-CN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求得</a:t>
            </a:r>
            <a:r>
              <a:rPr lang="en-US" altLang="zh-CN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i!</a:t>
            </a:r>
            <a:r>
              <a:rPr lang="zh-CN" altLang="zh-CN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值</a:t>
            </a:r>
          </a:p>
          <a:p>
            <a:r>
              <a:rPr lang="en-US" altLang="zh-CN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while 1/term&gt;=1e-6:</a:t>
            </a:r>
            <a:endParaRPr lang="zh-CN" altLang="zh-CN" sz="18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term *= index   # </a:t>
            </a:r>
            <a:r>
              <a:rPr lang="zh-CN" altLang="en-US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算当前项</a:t>
            </a:r>
            <a:endParaRPr lang="zh-CN" altLang="zh-CN" sz="18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e += 1/term</a:t>
            </a:r>
            <a:endParaRPr lang="zh-CN" altLang="zh-CN" sz="18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index += 1</a:t>
            </a:r>
            <a:endParaRPr lang="zh-CN" altLang="zh-CN" sz="18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print("</a:t>
            </a:r>
            <a:r>
              <a:rPr lang="zh-CN" altLang="zh-CN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计算了</a:t>
            </a:r>
            <a:r>
              <a:rPr lang="en-US" altLang="zh-CN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%d </a:t>
            </a:r>
            <a:r>
              <a:rPr lang="zh-CN" altLang="zh-CN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项的</a:t>
            </a:r>
            <a:r>
              <a:rPr lang="en-US" altLang="zh-CN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</a:t>
            </a:r>
            <a:r>
              <a:rPr lang="zh-CN" altLang="zh-CN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的值是：</a:t>
            </a:r>
            <a:r>
              <a:rPr lang="en-US" altLang="zh-CN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%7.5f"%(</a:t>
            </a:r>
            <a:r>
              <a:rPr lang="en-US" altLang="zh-CN" sz="18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index,e</a:t>
            </a:r>
            <a:r>
              <a:rPr lang="en-US" altLang="zh-CN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))</a:t>
            </a:r>
            <a:endParaRPr lang="zh-CN" altLang="zh-CN" sz="18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 eaLnBrk="0" hangingPunct="0">
              <a:lnSpc>
                <a:spcPct val="100000"/>
              </a:lnSpc>
              <a:spcBef>
                <a:spcPts val="0"/>
              </a:spcBef>
            </a:pPr>
            <a:endParaRPr lang="en-US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pic>
        <p:nvPicPr>
          <p:cNvPr id="11" name="Picture 10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67494"/>
            <a:ext cx="5399936" cy="547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539552" y="915566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通项：</a:t>
            </a:r>
          </a:p>
        </p:txBody>
      </p:sp>
      <p:pic>
        <p:nvPicPr>
          <p:cNvPr id="7680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843558"/>
            <a:ext cx="360040" cy="5090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2555776" y="923277"/>
            <a:ext cx="3963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终止条件精度：     </a:t>
            </a:r>
            <a:r>
              <a:rPr lang="en-US" altLang="zh-CN" sz="1800" dirty="0"/>
              <a:t>&lt; </a:t>
            </a:r>
            <a:r>
              <a:rPr lang="en-US" altLang="zh-CN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0.00001</a:t>
            </a:r>
            <a:endParaRPr lang="zh-CN" altLang="en-US" sz="1800" dirty="0"/>
          </a:p>
        </p:txBody>
      </p:sp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2160" y="853432"/>
            <a:ext cx="360040" cy="5090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AutoShape 44"/>
          <p:cNvSpPr>
            <a:spLocks noChangeArrowheads="1"/>
          </p:cNvSpPr>
          <p:nvPr/>
        </p:nvSpPr>
        <p:spPr bwMode="gray">
          <a:xfrm>
            <a:off x="200679" y="3777514"/>
            <a:ext cx="3867265" cy="612807"/>
          </a:xfrm>
          <a:prstGeom prst="roundRect">
            <a:avLst>
              <a:gd name="adj" fmla="val 8014"/>
            </a:avLst>
          </a:prstGeom>
          <a:solidFill>
            <a:srgbClr val="FFFFCC"/>
          </a:solidFill>
          <a:ln w="9525">
            <a:solidFill>
              <a:srgbClr val="808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0"/>
              </a:spcBef>
            </a:pPr>
            <a:r>
              <a:rPr lang="zh-CN" altLang="en-US" sz="1800" dirty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思考（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  <a:cs typeface="Courier New" pitchFamily="49" charset="0"/>
                <a:sym typeface="Wingdings" pitchFamily="2" charset="2"/>
              </a:rPr>
              <a:t>1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  <a:cs typeface="Courier New" pitchFamily="49" charset="0"/>
                <a:sym typeface="Wingdings" pitchFamily="2" charset="2"/>
              </a:rPr>
              <a:t>）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若将</a:t>
            </a:r>
            <a:r>
              <a:rPr lang="en-US" altLang="zh-CN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while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语句改为</a:t>
            </a:r>
            <a:r>
              <a:rPr lang="en-US" altLang="zh-CN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for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？</a:t>
            </a:r>
            <a:endParaRPr lang="en-US" altLang="zh-CN" sz="1800" b="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（</a:t>
            </a:r>
            <a:r>
              <a:rPr lang="en-US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2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）能否将每一项形式都显示？</a:t>
            </a:r>
          </a:p>
        </p:txBody>
      </p:sp>
      <p:pic>
        <p:nvPicPr>
          <p:cNvPr id="23" name="图片 22"/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32" b="7912"/>
          <a:stretch/>
        </p:blipFill>
        <p:spPr bwMode="auto">
          <a:xfrm>
            <a:off x="4202160" y="3896909"/>
            <a:ext cx="4941840" cy="61905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D1FB86B-AAF6-4DA3-B3A6-789D6D31512E}"/>
              </a:ext>
            </a:extLst>
          </p:cNvPr>
          <p:cNvSpPr txBox="1"/>
          <p:nvPr/>
        </p:nvSpPr>
        <p:spPr>
          <a:xfrm>
            <a:off x="6208584" y="1059582"/>
            <a:ext cx="2539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e=n=1  #e</a:t>
            </a:r>
            <a:r>
              <a:rPr lang="zh-CN" altLang="en-US" sz="1600" dirty="0"/>
              <a:t>求得值，</a:t>
            </a:r>
            <a:r>
              <a:rPr lang="en-US" altLang="zh-CN" sz="1600" dirty="0"/>
              <a:t>n</a:t>
            </a:r>
            <a:r>
              <a:rPr lang="zh-CN" altLang="en-US" sz="1600" dirty="0"/>
              <a:t>求得</a:t>
            </a:r>
            <a:r>
              <a:rPr lang="en-US" altLang="zh-CN" sz="1600" dirty="0" err="1"/>
              <a:t>i</a:t>
            </a:r>
            <a:r>
              <a:rPr lang="en-US" altLang="zh-CN" sz="1600" dirty="0"/>
              <a:t>!</a:t>
            </a:r>
            <a:r>
              <a:rPr lang="zh-CN" altLang="en-US" sz="1600" dirty="0"/>
              <a:t>值</a:t>
            </a:r>
          </a:p>
          <a:p>
            <a:r>
              <a:rPr lang="en-US" altLang="zh-CN" sz="1600" dirty="0"/>
              <a:t>for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 in range(1,100000):</a:t>
            </a:r>
          </a:p>
          <a:p>
            <a:r>
              <a:rPr lang="en-US" altLang="zh-CN" sz="1600" dirty="0"/>
              <a:t>    n*=</a:t>
            </a:r>
            <a:r>
              <a:rPr lang="en-US" altLang="zh-CN" sz="1600" dirty="0" err="1"/>
              <a:t>i</a:t>
            </a:r>
            <a:endParaRPr lang="en-US" altLang="zh-CN" sz="1600" dirty="0"/>
          </a:p>
          <a:p>
            <a:r>
              <a:rPr lang="en-US" altLang="zh-CN" sz="1600" dirty="0"/>
              <a:t>    if 1/n &lt;0.000001:</a:t>
            </a:r>
          </a:p>
          <a:p>
            <a:r>
              <a:rPr lang="en-US" altLang="zh-CN" sz="1600" dirty="0"/>
              <a:t>        break</a:t>
            </a:r>
          </a:p>
          <a:p>
            <a:r>
              <a:rPr lang="en-US" altLang="zh-CN" sz="1600" dirty="0"/>
              <a:t>    e+=1/n</a:t>
            </a:r>
          </a:p>
          <a:p>
            <a:r>
              <a:rPr lang="en-US" altLang="zh-CN" sz="1600" dirty="0"/>
              <a:t>print("</a:t>
            </a:r>
            <a:r>
              <a:rPr lang="zh-CN" altLang="en-US" sz="1600" dirty="0"/>
              <a:t>计算了 </a:t>
            </a:r>
            <a:r>
              <a:rPr lang="en-US" altLang="zh-CN" sz="1600" dirty="0"/>
              <a:t>%d </a:t>
            </a:r>
            <a:r>
              <a:rPr lang="zh-CN" altLang="en-US" sz="1600" dirty="0"/>
              <a:t>项的</a:t>
            </a:r>
            <a:r>
              <a:rPr lang="en-US" altLang="zh-CN" sz="1600" dirty="0"/>
              <a:t>e</a:t>
            </a:r>
            <a:r>
              <a:rPr lang="zh-CN" altLang="en-US" sz="1600" dirty="0"/>
              <a:t>的值是：</a:t>
            </a:r>
            <a:r>
              <a:rPr lang="en-US" altLang="zh-CN" sz="1600" dirty="0"/>
              <a:t>%7.5f"%(</a:t>
            </a:r>
            <a:r>
              <a:rPr lang="en-US" altLang="zh-CN" sz="1600" dirty="0" err="1"/>
              <a:t>i,e</a:t>
            </a:r>
            <a:r>
              <a:rPr lang="en-US" altLang="zh-CN" sz="1600" dirty="0"/>
              <a:t>))</a:t>
            </a:r>
            <a:endParaRPr lang="zh-CN" altLang="en-US" sz="16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8A354FC-9AB6-42B4-A4C8-BCD030C1A4F5}"/>
              </a:ext>
            </a:extLst>
          </p:cNvPr>
          <p:cNvSpPr txBox="1"/>
          <p:nvPr/>
        </p:nvSpPr>
        <p:spPr>
          <a:xfrm>
            <a:off x="6293394" y="479278"/>
            <a:ext cx="2736304" cy="369331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zh-CN" sz="1800" dirty="0"/>
              <a:t>e=n=1  #e</a:t>
            </a:r>
            <a:r>
              <a:rPr lang="zh-CN" altLang="en-US" sz="1800" dirty="0"/>
              <a:t>求得值，</a:t>
            </a:r>
            <a:r>
              <a:rPr lang="en-US" altLang="zh-CN" sz="1800" dirty="0"/>
              <a:t>n</a:t>
            </a:r>
            <a:r>
              <a:rPr lang="zh-CN" altLang="en-US" sz="1800" dirty="0"/>
              <a:t>求得</a:t>
            </a:r>
            <a:r>
              <a:rPr lang="en-US" altLang="zh-CN" sz="1800" dirty="0" err="1"/>
              <a:t>i</a:t>
            </a:r>
            <a:r>
              <a:rPr lang="en-US" altLang="zh-CN" sz="1800" dirty="0"/>
              <a:t>!</a:t>
            </a:r>
            <a:r>
              <a:rPr lang="zh-CN" altLang="en-US" sz="1800" dirty="0"/>
              <a:t>值</a:t>
            </a:r>
          </a:p>
          <a:p>
            <a:r>
              <a:rPr lang="en-US" altLang="zh-CN" sz="1800" dirty="0"/>
              <a:t>s="e=1"</a:t>
            </a:r>
          </a:p>
          <a:p>
            <a:r>
              <a:rPr lang="en-US" altLang="zh-CN" sz="1800" dirty="0"/>
              <a:t>for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 in range(1,100000):</a:t>
            </a:r>
          </a:p>
          <a:p>
            <a:r>
              <a:rPr lang="en-US" altLang="zh-CN" sz="1800" dirty="0"/>
              <a:t>    n*=</a:t>
            </a:r>
            <a:r>
              <a:rPr lang="en-US" altLang="zh-CN" sz="1800" dirty="0" err="1"/>
              <a:t>i</a:t>
            </a:r>
            <a:endParaRPr lang="en-US" altLang="zh-CN" sz="1800" dirty="0"/>
          </a:p>
          <a:p>
            <a:r>
              <a:rPr lang="en-US" altLang="zh-CN" sz="1800" dirty="0"/>
              <a:t>    if 1/n &lt;1e-6:</a:t>
            </a:r>
          </a:p>
          <a:p>
            <a:r>
              <a:rPr lang="en-US" altLang="zh-CN" sz="1800" dirty="0"/>
              <a:t>        break</a:t>
            </a:r>
          </a:p>
          <a:p>
            <a:r>
              <a:rPr lang="en-US" altLang="zh-CN" sz="1800" dirty="0"/>
              <a:t>    e+=1/n</a:t>
            </a:r>
          </a:p>
          <a:p>
            <a:r>
              <a:rPr lang="en-US" altLang="zh-CN" sz="1800" dirty="0"/>
              <a:t>    s1="1/"+str(</a:t>
            </a:r>
            <a:r>
              <a:rPr lang="en-US" altLang="zh-CN" sz="1800" dirty="0" err="1"/>
              <a:t>i</a:t>
            </a:r>
            <a:r>
              <a:rPr lang="en-US" altLang="zh-CN" sz="1800" dirty="0"/>
              <a:t>)+"!"</a:t>
            </a:r>
          </a:p>
          <a:p>
            <a:r>
              <a:rPr lang="en-US" altLang="zh-CN" sz="1800" dirty="0"/>
              <a:t>    s += "+"+s1</a:t>
            </a:r>
          </a:p>
          <a:p>
            <a:r>
              <a:rPr lang="en-US" altLang="zh-CN" sz="1800" dirty="0"/>
              <a:t>print("</a:t>
            </a:r>
            <a:r>
              <a:rPr lang="zh-CN" altLang="en-US" sz="1800" dirty="0"/>
              <a:t>计算了 </a:t>
            </a:r>
            <a:r>
              <a:rPr lang="en-US" altLang="zh-CN" sz="1800" dirty="0"/>
              <a:t>%d </a:t>
            </a:r>
            <a:r>
              <a:rPr lang="zh-CN" altLang="en-US" sz="1800" dirty="0"/>
              <a:t>项的</a:t>
            </a:r>
            <a:r>
              <a:rPr lang="en-US" altLang="zh-CN" sz="1800" dirty="0"/>
              <a:t>e</a:t>
            </a:r>
            <a:r>
              <a:rPr lang="zh-CN" altLang="en-US" sz="1800" dirty="0"/>
              <a:t>的值是：</a:t>
            </a:r>
            <a:r>
              <a:rPr lang="en-US" altLang="zh-CN" sz="1800" dirty="0"/>
              <a:t>%7.5f"%(</a:t>
            </a:r>
            <a:r>
              <a:rPr lang="en-US" altLang="zh-CN" sz="1800" dirty="0" err="1"/>
              <a:t>i,e</a:t>
            </a:r>
            <a:r>
              <a:rPr lang="en-US" altLang="zh-CN" sz="1800" dirty="0"/>
              <a:t>))</a:t>
            </a:r>
          </a:p>
          <a:p>
            <a:r>
              <a:rPr lang="en-US" altLang="zh-CN" sz="1800" dirty="0"/>
              <a:t>print("%s"%(s))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328607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2" grpId="0" animBg="1"/>
      <p:bldP spid="2" grpId="0"/>
      <p:bldP spid="3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5575"/>
            <a:ext cx="5181600" cy="530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algn="l"/>
            <a:r>
              <a:rPr lang="en-US" altLang="zh-CN" sz="2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3.</a:t>
            </a:r>
            <a:r>
              <a:rPr lang="zh-CN" altLang="en-US" sz="2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枚举法、试凑法</a:t>
            </a:r>
          </a:p>
        </p:txBody>
      </p:sp>
      <p:sp>
        <p:nvSpPr>
          <p:cNvPr id="29702" name="Rectangle 3"/>
          <p:cNvSpPr>
            <a:spLocks noChangeArrowheads="1"/>
          </p:cNvSpPr>
          <p:nvPr/>
        </p:nvSpPr>
        <p:spPr bwMode="auto">
          <a:xfrm>
            <a:off x="170021" y="859873"/>
            <a:ext cx="7714347" cy="369974"/>
          </a:xfrm>
          <a:prstGeom prst="rect">
            <a:avLst/>
          </a:prstGeom>
          <a:noFill/>
          <a:ln>
            <a:noFill/>
          </a:ln>
          <a:effectLst>
            <a:outerShdw dist="107763" sx="1000" sy="1000" algn="ctr" rotWithShape="0">
              <a:schemeClr val="bg2"/>
            </a:outerShdw>
          </a:effectLst>
        </p:spPr>
        <p:txBody>
          <a:bodyPr wrap="square" lIns="92075" tIns="46038" rIns="92075" bIns="46038">
            <a:spAutoFit/>
          </a:bodyPr>
          <a:lstStyle/>
          <a:p>
            <a:pPr>
              <a:spcBef>
                <a:spcPct val="0"/>
              </a:spcBef>
              <a:buClr>
                <a:srgbClr val="A50021"/>
              </a:buClr>
              <a:buFont typeface="Wingdings" pitchFamily="2" charset="2"/>
              <a:buNone/>
            </a:pPr>
            <a:r>
              <a:rPr lang="zh-CN" altLang="en-US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将可能出现的各种情况一一罗列测试，判断是否满足条件。</a:t>
            </a:r>
            <a:r>
              <a:rPr lang="en-US" altLang="zh-CN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</a:t>
            </a:r>
            <a:endParaRPr lang="zh-CN" altLang="en-US" sz="16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9512" y="2939106"/>
            <a:ext cx="5937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例  计算机破案、百元买百鸡问题、水仙花数等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180528" y="1563638"/>
            <a:ext cx="9021762" cy="1077860"/>
          </a:xfrm>
          <a:prstGeom prst="rect">
            <a:avLst/>
          </a:prstGeom>
          <a:noFill/>
          <a:ln>
            <a:noFill/>
          </a:ln>
          <a:effectLst>
            <a:outerShdw dist="107763" sx="1000" sy="1000" algn="ctr" rotWithShape="0">
              <a:schemeClr val="bg2"/>
            </a:outerShdw>
          </a:effectLst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defRPr/>
            </a:pPr>
            <a:r>
              <a:rPr lang="zh-CN" altLang="en-US" sz="1800" b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枚举法解题的基本思路：</a:t>
            </a:r>
          </a:p>
          <a:p>
            <a:pPr>
              <a:lnSpc>
                <a:spcPct val="100000"/>
              </a:lnSpc>
              <a:spcBef>
                <a:spcPts val="600"/>
              </a:spcBef>
              <a:defRPr/>
            </a:pP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￭ 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确定枚举对象、枚举范围和判定条件；</a:t>
            </a:r>
          </a:p>
          <a:p>
            <a:pPr>
              <a:lnSpc>
                <a:spcPct val="100000"/>
              </a:lnSpc>
              <a:spcBef>
                <a:spcPts val="600"/>
              </a:spcBef>
              <a:defRPr/>
            </a:pPr>
            <a:r>
              <a:rPr lang="zh-CN" altLang="en-US" sz="1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￭ </a:t>
            </a:r>
            <a:r>
              <a:rPr lang="zh-CN" altLang="en-US" sz="1800" b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枚举可能的解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，验证是否是问题的解。</a:t>
            </a: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</a:t>
            </a:r>
            <a:endParaRPr lang="zh-CN" altLang="en-US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276721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2" grpId="0"/>
      <p:bldP spid="2" grpId="0"/>
      <p:bldP spid="11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 bwMode="auto">
          <a:xfrm>
            <a:off x="107504" y="699542"/>
            <a:ext cx="8229600" cy="492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/>
            <a:r>
              <a:rPr lang="zh-CN" altLang="zh-CN" sz="20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【例</a:t>
            </a:r>
            <a:r>
              <a:rPr lang="en-US" altLang="zh-CN" sz="2000" b="1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3.23</a:t>
            </a:r>
            <a:r>
              <a:rPr lang="zh-CN" altLang="zh-CN" sz="20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】</a:t>
            </a:r>
            <a:r>
              <a:rPr lang="zh-CN" altLang="en-US" sz="20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谁是凶手</a:t>
            </a:r>
            <a:r>
              <a:rPr lang="en-US" altLang="zh-CN" sz="20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?</a:t>
            </a:r>
            <a:endParaRPr lang="zh-CN" altLang="en-US" sz="20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819" name="内容占位符 2"/>
          <p:cNvSpPr>
            <a:spLocks noGrp="1"/>
          </p:cNvSpPr>
          <p:nvPr>
            <p:ph idx="1"/>
          </p:nvPr>
        </p:nvSpPr>
        <p:spPr bwMode="auto">
          <a:xfrm>
            <a:off x="107504" y="1337915"/>
            <a:ext cx="9108504" cy="3394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spcBef>
                <a:spcPts val="600"/>
              </a:spcBef>
              <a:buFontTx/>
              <a:buNone/>
            </a:pPr>
            <a:r>
              <a:rPr lang="zh-CN" altLang="en-US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某天晚上，张三在家中遇害，侦查过程中发现</a:t>
            </a:r>
            <a:r>
              <a:rPr lang="en-US" altLang="zh-CN" sz="1800" b="1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A</a:t>
            </a:r>
            <a:r>
              <a:rPr lang="zh-CN" altLang="en-US" sz="1800" b="1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、</a:t>
            </a:r>
            <a:r>
              <a:rPr lang="en-US" altLang="zh-CN" sz="1800" b="1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B</a:t>
            </a:r>
            <a:r>
              <a:rPr lang="zh-CN" altLang="en-US" sz="1800" b="1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、</a:t>
            </a:r>
            <a:r>
              <a:rPr lang="en-US" altLang="zh-CN" sz="1800" b="1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C</a:t>
            </a:r>
            <a:r>
              <a:rPr lang="zh-CN" altLang="en-US" sz="1800" b="1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、</a:t>
            </a:r>
            <a:r>
              <a:rPr lang="en-US" altLang="zh-CN" sz="1800" b="1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D</a:t>
            </a:r>
            <a:r>
              <a:rPr lang="zh-CN" altLang="en-US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四人到过现场。</a:t>
            </a:r>
            <a:endParaRPr lang="en-US" altLang="zh-CN" sz="18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 marL="0" indent="0">
              <a:spcBef>
                <a:spcPts val="600"/>
              </a:spcBef>
              <a:buFontTx/>
              <a:buNone/>
            </a:pPr>
            <a:r>
              <a:rPr lang="zh-CN" altLang="en-US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在讯问他们时：</a:t>
            </a:r>
          </a:p>
          <a:p>
            <a:pPr marL="0" indent="0">
              <a:spcBef>
                <a:spcPts val="1200"/>
              </a:spcBef>
              <a:buFontTx/>
              <a:buNone/>
            </a:pPr>
            <a:r>
              <a:rPr lang="en-US" altLang="zh-CN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</a:t>
            </a:r>
            <a:r>
              <a:rPr lang="en-US" altLang="zh-CN" sz="1800" b="1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A</a:t>
            </a:r>
            <a:r>
              <a:rPr lang="zh-CN" altLang="en-US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说</a:t>
            </a:r>
            <a:r>
              <a:rPr lang="zh-CN" altLang="en-US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：“我没有杀人”</a:t>
            </a:r>
            <a:endParaRPr lang="en-US" altLang="zh-CN" sz="18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 marL="0" indent="0">
              <a:spcBef>
                <a:spcPts val="600"/>
              </a:spcBef>
              <a:buFontTx/>
              <a:buNone/>
            </a:pPr>
            <a:r>
              <a:rPr lang="zh-CN" altLang="en-US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</a:t>
            </a:r>
            <a:r>
              <a:rPr lang="en-US" altLang="zh-CN" sz="1800" b="1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B</a:t>
            </a:r>
            <a:r>
              <a:rPr lang="zh-CN" altLang="en-US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说</a:t>
            </a:r>
            <a:r>
              <a:rPr lang="zh-CN" altLang="en-US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：“</a:t>
            </a:r>
            <a:r>
              <a:rPr lang="en-US" altLang="zh-CN" sz="1800" b="1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C</a:t>
            </a:r>
            <a:r>
              <a:rPr lang="zh-CN" altLang="en-US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是凶手”</a:t>
            </a:r>
            <a:endParaRPr lang="en-US" altLang="zh-CN" sz="18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 marL="0" indent="0">
              <a:spcBef>
                <a:spcPts val="600"/>
              </a:spcBef>
              <a:buFontTx/>
              <a:buNone/>
            </a:pPr>
            <a:r>
              <a:rPr lang="zh-CN" altLang="en-US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</a:t>
            </a:r>
            <a:r>
              <a:rPr lang="en-US" altLang="zh-CN" sz="1800" b="1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C</a:t>
            </a:r>
            <a:r>
              <a:rPr lang="zh-CN" altLang="en-US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说</a:t>
            </a:r>
            <a:r>
              <a:rPr lang="zh-CN" altLang="en-US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：“杀人者是</a:t>
            </a:r>
            <a:r>
              <a:rPr lang="en-US" altLang="zh-CN" sz="1800" b="1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D</a:t>
            </a:r>
            <a:r>
              <a:rPr lang="en-US" altLang="zh-CN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”  </a:t>
            </a:r>
          </a:p>
          <a:p>
            <a:pPr marL="0" indent="0">
              <a:spcBef>
                <a:spcPts val="600"/>
              </a:spcBef>
              <a:buFontTx/>
              <a:buNone/>
            </a:pPr>
            <a:r>
              <a:rPr lang="en-US" altLang="zh-CN" sz="1800" b="1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</a:t>
            </a:r>
            <a:r>
              <a:rPr lang="en-US" altLang="zh-CN" sz="1800" b="1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D</a:t>
            </a:r>
            <a:r>
              <a:rPr lang="zh-CN" altLang="en-US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说</a:t>
            </a:r>
            <a:r>
              <a:rPr lang="zh-CN" altLang="en-US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：“</a:t>
            </a:r>
            <a:r>
              <a:rPr lang="en-US" altLang="zh-CN" sz="1800" b="1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C</a:t>
            </a:r>
            <a:r>
              <a:rPr lang="zh-CN" altLang="en-US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在冤枉好人”</a:t>
            </a:r>
          </a:p>
          <a:p>
            <a:pPr marL="0" indent="0">
              <a:spcBef>
                <a:spcPts val="1200"/>
              </a:spcBef>
              <a:buFontTx/>
              <a:buNone/>
            </a:pPr>
            <a:r>
              <a:rPr lang="zh-CN" altLang="en-US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侦查员说</a:t>
            </a:r>
            <a:r>
              <a:rPr lang="zh-CN" altLang="en-US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：</a:t>
            </a:r>
            <a:r>
              <a:rPr lang="en-US" altLang="zh-CN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</a:t>
            </a:r>
            <a:r>
              <a:rPr lang="zh-CN" altLang="en-US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经过判断，四人中有三人说的是真话，一人说的是假话；四人中有且仅</a:t>
            </a:r>
            <a:r>
              <a:rPr lang="en-US" altLang="zh-CN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	</a:t>
            </a:r>
            <a:r>
              <a:rPr lang="zh-CN" altLang="en-US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　　有一人是凶手。</a:t>
            </a:r>
            <a:endParaRPr lang="en-US" altLang="zh-CN" sz="18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 marL="0" indent="0">
              <a:spcBef>
                <a:spcPts val="1200"/>
              </a:spcBef>
              <a:buFontTx/>
              <a:buNone/>
            </a:pPr>
            <a:r>
              <a:rPr lang="zh-CN" altLang="en-US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凶手到底是谁？</a:t>
            </a:r>
          </a:p>
        </p:txBody>
      </p:sp>
    </p:spTree>
    <p:extLst>
      <p:ext uri="{BB962C8B-B14F-4D97-AF65-F5344CB8AC3E}">
        <p14:creationId xmlns:p14="http://schemas.microsoft.com/office/powerpoint/2010/main" val="2122518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矩形 4"/>
          <p:cNvSpPr>
            <a:spLocks noChangeArrowheads="1"/>
          </p:cNvSpPr>
          <p:nvPr/>
        </p:nvSpPr>
        <p:spPr bwMode="auto">
          <a:xfrm>
            <a:off x="179512" y="276855"/>
            <a:ext cx="8785225" cy="1708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 b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分析：</a:t>
            </a:r>
            <a:endParaRPr lang="en-US" altLang="zh-CN" sz="2800" b="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  <a:cs typeface="Courier New" pitchFamily="49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b="0" dirty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用 </a:t>
            </a:r>
            <a:r>
              <a:rPr lang="en-US" altLang="zh-CN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1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表示凶手，</a:t>
            </a:r>
            <a:r>
              <a:rPr lang="en-US" altLang="zh-CN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0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表示不是凶手，则每个人的取值范围就是</a:t>
            </a:r>
            <a:r>
              <a:rPr lang="en-US" altLang="zh-CN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0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或</a:t>
            </a:r>
            <a:r>
              <a:rPr lang="en-US" altLang="zh-CN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1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；</a:t>
            </a:r>
            <a:endParaRPr lang="en-US" altLang="zh-CN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  <a:cs typeface="Courier New" pitchFamily="49" charset="0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sz="1800" b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</a:t>
            </a:r>
            <a:r>
              <a:rPr lang="zh-CN" altLang="en-US" sz="1800" b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四人的说话关系表达式：</a:t>
            </a:r>
            <a:endParaRPr lang="en-US" altLang="zh-CN" sz="1800" b="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b="0" dirty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</a:t>
            </a:r>
            <a:endParaRPr lang="zh-CN" altLang="en-US" b="0" dirty="0">
              <a:latin typeface="微软雅黑" pitchFamily="34" charset="-122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35845" name="矩形 6"/>
          <p:cNvSpPr>
            <a:spLocks noChangeArrowheads="1"/>
          </p:cNvSpPr>
          <p:nvPr/>
        </p:nvSpPr>
        <p:spPr bwMode="auto">
          <a:xfrm>
            <a:off x="206194" y="2694013"/>
            <a:ext cx="3168650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1800" b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侦查员判断的关系表达式：</a:t>
            </a:r>
          </a:p>
        </p:txBody>
      </p:sp>
      <p:cxnSp>
        <p:nvCxnSpPr>
          <p:cNvPr id="3" name="直接连接符 2"/>
          <p:cNvCxnSpPr/>
          <p:nvPr/>
        </p:nvCxnSpPr>
        <p:spPr bwMode="auto">
          <a:xfrm>
            <a:off x="6593524" y="4069925"/>
            <a:ext cx="395238" cy="0"/>
          </a:xfrm>
          <a:prstGeom prst="line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pic>
        <p:nvPicPr>
          <p:cNvPr id="1034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3" y="1130935"/>
            <a:ext cx="2817627" cy="14055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4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616" y="3219822"/>
            <a:ext cx="61722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716016" y="1989168"/>
            <a:ext cx="648072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solidFill>
                  <a:schemeClr val="tx1"/>
                </a:solidFill>
              </a:rPr>
              <a:t>D==1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1475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5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4"/>
          <p:cNvSpPr>
            <a:spLocks noChangeArrowheads="1"/>
          </p:cNvSpPr>
          <p:nvPr/>
        </p:nvSpPr>
        <p:spPr bwMode="gray">
          <a:xfrm>
            <a:off x="179388" y="343726"/>
            <a:ext cx="8569325" cy="1795976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for a in range(0,2):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    for b in range(0,2):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        for c in range(0,2):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            for d in range(0,2):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                if ((a==0)+(c==1)+(d==1)+(d==0))==3 and (</a:t>
            </a:r>
            <a:r>
              <a:rPr lang="en-US" altLang="zh-CN" sz="1600" dirty="0" err="1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a+b+c+d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)==1: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                    print(</a:t>
            </a:r>
            <a:r>
              <a:rPr lang="en-US" altLang="zh-CN" sz="1600" dirty="0" err="1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a,b,c,d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)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23528" y="2355726"/>
            <a:ext cx="54726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程序运行显示：</a:t>
            </a:r>
            <a:r>
              <a:rPr lang="en-US" altLang="zh-CN" sz="20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0 0 1 0</a:t>
            </a:r>
            <a:r>
              <a:rPr lang="zh-CN" altLang="zh-CN" sz="20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，即</a:t>
            </a:r>
            <a:r>
              <a:rPr lang="en-US" altLang="zh-CN" sz="20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zh-CN" sz="20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是凶手。</a:t>
            </a:r>
          </a:p>
        </p:txBody>
      </p:sp>
      <p:sp>
        <p:nvSpPr>
          <p:cNvPr id="6" name="椭圆 5"/>
          <p:cNvSpPr/>
          <p:nvPr/>
        </p:nvSpPr>
        <p:spPr bwMode="auto">
          <a:xfrm>
            <a:off x="8628729" y="4641980"/>
            <a:ext cx="108012" cy="10801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85967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4B7A49-83B5-49E6-85E1-037ED0FCE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枚举法的练习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466E75-434C-4922-AF18-83D119E37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2000" dirty="0"/>
              <a:t>计算机排考，三门课程</a:t>
            </a:r>
            <a:r>
              <a:rPr lang="en-US" altLang="zh-CN" sz="2000" dirty="0"/>
              <a:t>A</a:t>
            </a:r>
            <a:r>
              <a:rPr lang="zh-CN" altLang="en-US" sz="2000" dirty="0"/>
              <a:t>，</a:t>
            </a:r>
            <a:r>
              <a:rPr lang="en-US" altLang="zh-CN" sz="2000" dirty="0"/>
              <a:t>B</a:t>
            </a:r>
            <a:r>
              <a:rPr lang="zh-CN" altLang="en-US" sz="2000" dirty="0"/>
              <a:t>，</a:t>
            </a:r>
            <a:r>
              <a:rPr lang="en-US" altLang="zh-CN" sz="2000" dirty="0"/>
              <a:t>C</a:t>
            </a:r>
            <a:r>
              <a:rPr lang="zh-CN" altLang="en-US" sz="2000" dirty="0"/>
              <a:t>，考试安排在周一至周六，考试顺序</a:t>
            </a:r>
            <a:r>
              <a:rPr lang="en-US" altLang="zh-CN" sz="2000" dirty="0"/>
              <a:t>A</a:t>
            </a:r>
            <a:r>
              <a:rPr lang="zh-CN" altLang="en-US" sz="2000" dirty="0"/>
              <a:t>，</a:t>
            </a:r>
            <a:r>
              <a:rPr lang="en-US" altLang="zh-CN" sz="2000" dirty="0"/>
              <a:t>B</a:t>
            </a:r>
            <a:r>
              <a:rPr lang="zh-CN" altLang="en-US" sz="2000" dirty="0"/>
              <a:t>，</a:t>
            </a:r>
            <a:r>
              <a:rPr lang="en-US" altLang="zh-CN" sz="2000" dirty="0"/>
              <a:t>C</a:t>
            </a:r>
            <a:r>
              <a:rPr lang="zh-CN" altLang="en-US" sz="2000" dirty="0"/>
              <a:t>，一天只能安排一门考试，最后一门考试必须安排在周五或周六，列出所有可能的考试方案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分析：</a:t>
            </a:r>
            <a:r>
              <a:rPr lang="en-US" altLang="zh-CN" sz="2000" dirty="0"/>
              <a:t>A   1~4</a:t>
            </a:r>
          </a:p>
          <a:p>
            <a:pPr marL="0" indent="0">
              <a:buNone/>
            </a:pPr>
            <a:r>
              <a:rPr lang="en-US" altLang="zh-CN" sz="2000" dirty="0"/>
              <a:t>           B    A+1~5</a:t>
            </a:r>
          </a:p>
          <a:p>
            <a:pPr marL="0" indent="0">
              <a:buNone/>
            </a:pPr>
            <a:r>
              <a:rPr lang="en-US" altLang="zh-CN" sz="2000" dirty="0"/>
              <a:t>           C     5~6</a:t>
            </a:r>
          </a:p>
          <a:p>
            <a:pPr marL="0" indent="0">
              <a:buNone/>
            </a:pPr>
            <a:r>
              <a:rPr lang="en-US" altLang="zh-CN" sz="2000" dirty="0"/>
              <a:t> </a:t>
            </a:r>
            <a:r>
              <a:rPr lang="zh-CN" altLang="en-US" sz="2000" dirty="0"/>
              <a:t>满足</a:t>
            </a:r>
            <a:r>
              <a:rPr lang="en-US" altLang="zh-CN" sz="2000" dirty="0"/>
              <a:t>A&lt;B&lt;C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89B0DE-90BE-490F-811C-A79E15BD80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7C270E-26C8-4352-BE21-3DBF4A2EC019}" type="slidenum">
              <a:rPr lang="en-US" altLang="zh-CN" smtClean="0"/>
              <a:pPr>
                <a:defRPr/>
              </a:pPr>
              <a:t>91</a:t>
            </a:fld>
            <a:endParaRPr lang="en-US" altLang="zh-CN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B934155-724A-49CF-A139-39DBF0829E4E}"/>
              </a:ext>
            </a:extLst>
          </p:cNvPr>
          <p:cNvSpPr txBox="1"/>
          <p:nvPr/>
        </p:nvSpPr>
        <p:spPr>
          <a:xfrm>
            <a:off x="4139952" y="1995686"/>
            <a:ext cx="46805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/>
              <a:t>n=0</a:t>
            </a:r>
          </a:p>
          <a:p>
            <a:r>
              <a:rPr lang="en-US" altLang="zh-CN" sz="1800" dirty="0"/>
              <a:t>for a in range(1,5):  # </a:t>
            </a:r>
            <a:r>
              <a:rPr lang="zh-CN" altLang="en-US" sz="1800" dirty="0"/>
              <a:t>周一</a:t>
            </a:r>
            <a:r>
              <a:rPr lang="en-US" altLang="zh-CN" sz="1800" dirty="0"/>
              <a:t>~</a:t>
            </a:r>
            <a:r>
              <a:rPr lang="zh-CN" altLang="en-US" sz="1800" dirty="0"/>
              <a:t>四</a:t>
            </a:r>
            <a:endParaRPr lang="en-US" altLang="zh-CN" sz="1800" dirty="0"/>
          </a:p>
          <a:p>
            <a:r>
              <a:rPr lang="en-US" altLang="zh-CN" sz="1800" dirty="0"/>
              <a:t>    for b in range(a+1,6):   # </a:t>
            </a:r>
            <a:r>
              <a:rPr lang="zh-CN" altLang="en-US" sz="1800" dirty="0"/>
              <a:t>到周五</a:t>
            </a:r>
            <a:endParaRPr lang="en-US" altLang="zh-CN" sz="1800" dirty="0"/>
          </a:p>
          <a:p>
            <a:r>
              <a:rPr lang="en-US" altLang="zh-CN" sz="1800" dirty="0"/>
              <a:t>        for c in range(5,7):</a:t>
            </a:r>
          </a:p>
          <a:p>
            <a:r>
              <a:rPr lang="en-US" altLang="zh-CN" sz="1800" dirty="0"/>
              <a:t>            if b&lt;c:</a:t>
            </a:r>
          </a:p>
          <a:p>
            <a:r>
              <a:rPr lang="en-US" altLang="zh-CN" sz="1800" dirty="0"/>
              <a:t>                print("%d %d %d"%(</a:t>
            </a:r>
            <a:r>
              <a:rPr lang="en-US" altLang="zh-CN" sz="1800" dirty="0" err="1"/>
              <a:t>a,b,c</a:t>
            </a:r>
            <a:r>
              <a:rPr lang="en-US" altLang="zh-CN" sz="1800" dirty="0"/>
              <a:t>))</a:t>
            </a:r>
          </a:p>
          <a:p>
            <a:r>
              <a:rPr lang="en-US" altLang="zh-CN" sz="1800" dirty="0"/>
              <a:t>                n=n+1</a:t>
            </a:r>
          </a:p>
          <a:p>
            <a:r>
              <a:rPr lang="en-US" altLang="zh-CN" sz="1800" dirty="0"/>
              <a:t>print("</a:t>
            </a:r>
            <a:r>
              <a:rPr lang="zh-CN" altLang="en-US" sz="1800" dirty="0"/>
              <a:t>共有</a:t>
            </a:r>
            <a:r>
              <a:rPr lang="en-US" altLang="zh-CN" sz="1800" dirty="0"/>
              <a:t>%d</a:t>
            </a:r>
            <a:r>
              <a:rPr lang="zh-CN" altLang="en-US" sz="1800" dirty="0"/>
              <a:t>种排法</a:t>
            </a:r>
            <a:r>
              <a:rPr lang="en-US" altLang="zh-CN" sz="1800" dirty="0"/>
              <a:t>"%n)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986827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" y="-182563"/>
            <a:ext cx="8229600" cy="85725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algn="l"/>
            <a:r>
              <a:rPr lang="en-US" altLang="zh-CN" sz="2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4.</a:t>
            </a:r>
            <a:r>
              <a:rPr lang="zh-CN" altLang="en-US" sz="2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递推法（又称为迭代法）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51520" y="699542"/>
            <a:ext cx="8776051" cy="76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  <a:buClr>
                <a:srgbClr val="A50021"/>
              </a:buClr>
              <a:buFont typeface="Wingdings" pitchFamily="2" charset="2"/>
              <a:buNone/>
            </a:pPr>
            <a:r>
              <a:rPr lang="zh-CN" altLang="en-US" sz="16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思想</a:t>
            </a:r>
            <a:r>
              <a:rPr lang="zh-CN" altLang="en-US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：把一个复杂的计算过程转化为简单过程的多次重复。</a:t>
            </a:r>
          </a:p>
          <a:p>
            <a:pPr>
              <a:spcBef>
                <a:spcPts val="600"/>
              </a:spcBef>
              <a:buClr>
                <a:srgbClr val="A50021"/>
              </a:buClr>
              <a:buFont typeface="Wingdings" pitchFamily="2" charset="2"/>
              <a:buNone/>
            </a:pPr>
            <a:r>
              <a:rPr lang="zh-CN" altLang="en-US" sz="16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方法</a:t>
            </a:r>
            <a:r>
              <a:rPr lang="zh-CN" altLang="en-US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：根据递推公式，反复用旧值递推出新值，并用新值取代旧值的过程。</a:t>
            </a:r>
            <a:endParaRPr lang="zh-CN" altLang="en-US" sz="1600" b="0" dirty="0">
              <a:solidFill>
                <a:srgbClr val="000066"/>
              </a:solidFill>
            </a:endParaRPr>
          </a:p>
        </p:txBody>
      </p:sp>
      <p:sp>
        <p:nvSpPr>
          <p:cNvPr id="12" name="流程图: 数据 385"/>
          <p:cNvSpPr>
            <a:spLocks noChangeArrowheads="1"/>
          </p:cNvSpPr>
          <p:nvPr/>
        </p:nvSpPr>
        <p:spPr bwMode="auto">
          <a:xfrm>
            <a:off x="1315963" y="4155802"/>
            <a:ext cx="1966913" cy="372616"/>
          </a:xfrm>
          <a:prstGeom prst="flowChartInputOutput">
            <a:avLst/>
          </a:prstGeom>
          <a:noFill/>
          <a:ln w="31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16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输出新值</a:t>
            </a:r>
            <a:endParaRPr lang="en-US" altLang="zh-CN" sz="1600" b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14" name="矩形 386"/>
          <p:cNvSpPr>
            <a:spLocks noChangeArrowheads="1"/>
          </p:cNvSpPr>
          <p:nvPr/>
        </p:nvSpPr>
        <p:spPr bwMode="auto">
          <a:xfrm>
            <a:off x="1315964" y="1923678"/>
            <a:ext cx="2247850" cy="372492"/>
          </a:xfrm>
          <a:prstGeom prst="rect">
            <a:avLst/>
          </a:prstGeom>
          <a:noFill/>
          <a:ln w="31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16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已知或假设一个新值</a:t>
            </a:r>
          </a:p>
        </p:txBody>
      </p:sp>
      <p:cxnSp>
        <p:nvCxnSpPr>
          <p:cNvPr id="16" name="直接箭头连接符 393"/>
          <p:cNvCxnSpPr>
            <a:cxnSpLocks noChangeShapeType="1"/>
            <a:stCxn id="14" idx="2"/>
          </p:cNvCxnSpPr>
          <p:nvPr/>
        </p:nvCxnSpPr>
        <p:spPr bwMode="auto">
          <a:xfrm flipH="1">
            <a:off x="2397051" y="2296170"/>
            <a:ext cx="0" cy="334615"/>
          </a:xfrm>
          <a:prstGeom prst="straightConnector1">
            <a:avLst/>
          </a:prstGeom>
          <a:noFill/>
          <a:ln w="9525">
            <a:solidFill>
              <a:srgbClr val="4A7EBB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直接箭头连接符 395"/>
          <p:cNvCxnSpPr>
            <a:cxnSpLocks noChangeShapeType="1"/>
          </p:cNvCxnSpPr>
          <p:nvPr/>
        </p:nvCxnSpPr>
        <p:spPr bwMode="auto">
          <a:xfrm>
            <a:off x="2339901" y="3953724"/>
            <a:ext cx="0" cy="246063"/>
          </a:xfrm>
          <a:prstGeom prst="straightConnector1">
            <a:avLst/>
          </a:prstGeom>
          <a:noFill/>
          <a:ln w="9525">
            <a:solidFill>
              <a:srgbClr val="4A7EBB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直接箭头连接符 397"/>
          <p:cNvCxnSpPr>
            <a:cxnSpLocks noChangeShapeType="1"/>
          </p:cNvCxnSpPr>
          <p:nvPr/>
        </p:nvCxnSpPr>
        <p:spPr bwMode="auto">
          <a:xfrm flipH="1">
            <a:off x="776213" y="2443460"/>
            <a:ext cx="1582738" cy="1587"/>
          </a:xfrm>
          <a:prstGeom prst="straightConnector1">
            <a:avLst/>
          </a:prstGeom>
          <a:noFill/>
          <a:ln w="9525">
            <a:solidFill>
              <a:srgbClr val="4A7EBB"/>
            </a:solidFill>
            <a:round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直接箭头连接符 398"/>
          <p:cNvCxnSpPr>
            <a:cxnSpLocks noChangeShapeType="1"/>
          </p:cNvCxnSpPr>
          <p:nvPr/>
        </p:nvCxnSpPr>
        <p:spPr bwMode="auto">
          <a:xfrm>
            <a:off x="755576" y="2432347"/>
            <a:ext cx="0" cy="1339850"/>
          </a:xfrm>
          <a:prstGeom prst="straightConnector1">
            <a:avLst/>
          </a:prstGeom>
          <a:noFill/>
          <a:ln w="9525">
            <a:solidFill>
              <a:srgbClr val="4A7E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" name="直接箭头连接符 400"/>
          <p:cNvCxnSpPr>
            <a:cxnSpLocks noChangeShapeType="1"/>
          </p:cNvCxnSpPr>
          <p:nvPr/>
        </p:nvCxnSpPr>
        <p:spPr bwMode="auto">
          <a:xfrm flipH="1">
            <a:off x="776213" y="3772197"/>
            <a:ext cx="455613" cy="1588"/>
          </a:xfrm>
          <a:prstGeom prst="straightConnector1">
            <a:avLst/>
          </a:prstGeom>
          <a:noFill/>
          <a:ln w="9525">
            <a:solidFill>
              <a:srgbClr val="4A7E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矩形 404"/>
          <p:cNvSpPr>
            <a:spLocks noChangeArrowheads="1"/>
          </p:cNvSpPr>
          <p:nvPr/>
        </p:nvSpPr>
        <p:spPr bwMode="auto">
          <a:xfrm>
            <a:off x="1004019" y="3395167"/>
            <a:ext cx="687661" cy="37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16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False</a:t>
            </a:r>
          </a:p>
        </p:txBody>
      </p:sp>
      <p:sp>
        <p:nvSpPr>
          <p:cNvPr id="22" name="矩形 405"/>
          <p:cNvSpPr>
            <a:spLocks noChangeArrowheads="1"/>
          </p:cNvSpPr>
          <p:nvPr/>
        </p:nvSpPr>
        <p:spPr bwMode="auto">
          <a:xfrm>
            <a:off x="2443473" y="3949551"/>
            <a:ext cx="1395413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16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True</a:t>
            </a:r>
          </a:p>
        </p:txBody>
      </p:sp>
      <p:sp>
        <p:nvSpPr>
          <p:cNvPr id="23" name="流程图: 决策 387"/>
          <p:cNvSpPr>
            <a:spLocks noChangeArrowheads="1"/>
          </p:cNvSpPr>
          <p:nvPr/>
        </p:nvSpPr>
        <p:spPr bwMode="auto">
          <a:xfrm>
            <a:off x="1103238" y="3556297"/>
            <a:ext cx="2473325" cy="423863"/>
          </a:xfrm>
          <a:prstGeom prst="flowChartDecision">
            <a:avLst/>
          </a:prstGeom>
          <a:noFill/>
          <a:ln w="31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16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条件满足？</a:t>
            </a:r>
            <a:endParaRPr lang="en-US" altLang="zh-CN" sz="1600" b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24" name="矩形 386"/>
          <p:cNvSpPr>
            <a:spLocks noChangeArrowheads="1"/>
          </p:cNvSpPr>
          <p:nvPr/>
        </p:nvSpPr>
        <p:spPr bwMode="auto">
          <a:xfrm>
            <a:off x="1292100" y="2632372"/>
            <a:ext cx="2271713" cy="601663"/>
          </a:xfrm>
          <a:prstGeom prst="rect">
            <a:avLst/>
          </a:prstGeom>
          <a:noFill/>
          <a:ln w="31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16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旧值＝新值</a:t>
            </a:r>
            <a:endParaRPr lang="en-US" altLang="zh-CN" sz="1600" b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16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新值</a:t>
            </a:r>
            <a:r>
              <a:rPr lang="en-US" altLang="zh-CN" sz="16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=</a:t>
            </a:r>
            <a:r>
              <a:rPr lang="zh-CN" altLang="en-US" sz="16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根据递推公式</a:t>
            </a:r>
          </a:p>
        </p:txBody>
      </p:sp>
      <p:cxnSp>
        <p:nvCxnSpPr>
          <p:cNvPr id="25" name="直接箭头连接符 393"/>
          <p:cNvCxnSpPr>
            <a:cxnSpLocks noChangeShapeType="1"/>
            <a:stCxn id="24" idx="2"/>
          </p:cNvCxnSpPr>
          <p:nvPr/>
        </p:nvCxnSpPr>
        <p:spPr bwMode="auto">
          <a:xfrm flipH="1">
            <a:off x="2373239" y="3234035"/>
            <a:ext cx="0" cy="322262"/>
          </a:xfrm>
          <a:prstGeom prst="straightConnector1">
            <a:avLst/>
          </a:prstGeom>
          <a:noFill/>
          <a:ln w="9525">
            <a:solidFill>
              <a:srgbClr val="4A7EBB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" name="TextBox 6"/>
          <p:cNvSpPr txBox="1"/>
          <p:nvPr/>
        </p:nvSpPr>
        <p:spPr>
          <a:xfrm>
            <a:off x="251520" y="1459750"/>
            <a:ext cx="60486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例： </a:t>
            </a:r>
            <a:r>
              <a:rPr lang="zh-CN" altLang="en-US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阶乘、二分法高次方程的解、猴子吃桃子等问题</a:t>
            </a:r>
          </a:p>
        </p:txBody>
      </p:sp>
    </p:spTree>
    <p:extLst>
      <p:ext uri="{BB962C8B-B14F-4D97-AF65-F5344CB8AC3E}">
        <p14:creationId xmlns:p14="http://schemas.microsoft.com/office/powerpoint/2010/main" val="1260678407"/>
      </p:ext>
    </p:extLst>
  </p:cSld>
  <p:clrMapOvr>
    <a:masterClrMapping/>
  </p:clrMapOvr>
  <p:transition>
    <p:random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" y="-182563"/>
            <a:ext cx="8229600" cy="85725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algn="l"/>
            <a:r>
              <a:rPr lang="zh-CN" altLang="en-US" sz="2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</a:t>
            </a:r>
            <a:r>
              <a:rPr lang="zh-CN" altLang="zh-CN" sz="20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猴子吃桃子问题</a:t>
            </a:r>
            <a:r>
              <a:rPr lang="zh-CN" altLang="zh-CN" sz="2800" dirty="0">
                <a:solidFill>
                  <a:srgbClr val="000066"/>
                </a:solidFill>
              </a:rPr>
              <a:t>。</a:t>
            </a:r>
            <a:endParaRPr lang="zh-CN" altLang="en-US" sz="2800" dirty="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2200579" name="Rectangle 3"/>
          <p:cNvSpPr>
            <a:spLocks noChangeArrowheads="1"/>
          </p:cNvSpPr>
          <p:nvPr/>
        </p:nvSpPr>
        <p:spPr bwMode="auto">
          <a:xfrm>
            <a:off x="141524" y="771550"/>
            <a:ext cx="9183003" cy="369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小猴有桃若干，每天都吃尚存桃子的一半多一个，到第</a:t>
            </a:r>
            <a:r>
              <a:rPr lang="en-US" altLang="zh-CN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7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天只剩</a:t>
            </a:r>
            <a:r>
              <a:rPr lang="zh-CN" altLang="en-US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一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个，问小猴原有桃多少？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141524" y="1434018"/>
            <a:ext cx="8964612" cy="646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1" hangingPunct="1"/>
            <a:r>
              <a:rPr lang="zh-CN" altLang="en-US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分析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：用后一天的数推出前一天的桃子数。</a:t>
            </a:r>
            <a:endParaRPr lang="en-US" altLang="zh-CN" sz="1800" b="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 eaLnBrk="1" hangingPunct="1"/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设：第</a:t>
            </a:r>
            <a:r>
              <a:rPr lang="en-US" altLang="zh-CN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n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天的桃子为</a:t>
            </a:r>
            <a:r>
              <a:rPr lang="en-US" altLang="zh-CN" sz="1800" dirty="0" err="1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x</a:t>
            </a:r>
            <a:r>
              <a:rPr lang="en-US" altLang="zh-CN" sz="1800" baseline="-25000" dirty="0" err="1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n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，是前一天的桃子的</a:t>
            </a:r>
            <a:r>
              <a:rPr lang="en-US" altLang="zh-CN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x</a:t>
            </a:r>
            <a:r>
              <a:rPr lang="en-US" altLang="zh-CN" sz="1800" baseline="-250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n-1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一半减少</a:t>
            </a:r>
            <a:r>
              <a:rPr lang="en-US" altLang="zh-CN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1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。</a:t>
            </a:r>
          </a:p>
        </p:txBody>
      </p:sp>
      <p:sp>
        <p:nvSpPr>
          <p:cNvPr id="3" name="矩形 2"/>
          <p:cNvSpPr/>
          <p:nvPr/>
        </p:nvSpPr>
        <p:spPr>
          <a:xfrm>
            <a:off x="395536" y="3554793"/>
            <a:ext cx="2977097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6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已知第</a:t>
            </a:r>
            <a:r>
              <a:rPr lang="en-US" altLang="zh-CN" sz="16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x</a:t>
            </a:r>
            <a:r>
              <a:rPr lang="en-US" altLang="zh-CN" sz="1600" baseline="-250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7</a:t>
            </a:r>
            <a:r>
              <a:rPr lang="zh-CN" altLang="en-US" sz="16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天为</a:t>
            </a:r>
            <a:r>
              <a:rPr lang="en-US" altLang="zh-CN" sz="16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1</a:t>
            </a:r>
            <a:r>
              <a:rPr lang="zh-CN" altLang="en-US" sz="16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，则第</a:t>
            </a:r>
            <a:r>
              <a:rPr lang="en-US" altLang="zh-CN" sz="16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x</a:t>
            </a:r>
            <a:r>
              <a:rPr lang="en-US" altLang="zh-CN" sz="1600" baseline="-250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6</a:t>
            </a:r>
            <a:r>
              <a:rPr lang="zh-CN" altLang="en-US" sz="16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天为</a:t>
            </a:r>
            <a:r>
              <a:rPr lang="en-US" altLang="zh-CN" sz="16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4</a:t>
            </a:r>
          </a:p>
        </p:txBody>
      </p:sp>
      <p:pic>
        <p:nvPicPr>
          <p:cNvPr id="30764" name="Picture 4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493" y="2162672"/>
            <a:ext cx="1971675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23528" y="2745876"/>
            <a:ext cx="576064" cy="3584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0" dirty="0">
                <a:solidFill>
                  <a:srgbClr val="000066"/>
                </a:solidFill>
              </a:rPr>
              <a:t>得：</a:t>
            </a:r>
          </a:p>
        </p:txBody>
      </p:sp>
      <p:pic>
        <p:nvPicPr>
          <p:cNvPr id="30765" name="Picture 4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158" y="2751956"/>
            <a:ext cx="1895475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椭圆 4"/>
          <p:cNvSpPr/>
          <p:nvPr/>
        </p:nvSpPr>
        <p:spPr bwMode="auto">
          <a:xfrm>
            <a:off x="8820472" y="3434237"/>
            <a:ext cx="285665" cy="181458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8820472" y="3434237"/>
            <a:ext cx="180000" cy="180000"/>
          </a:xfrm>
          <a:prstGeom prst="ellipse">
            <a:avLst/>
          </a:prstGeom>
          <a:solidFill>
            <a:srgbClr val="CCECFF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12" name="AutoShape 44"/>
          <p:cNvSpPr>
            <a:spLocks noChangeArrowheads="1"/>
          </p:cNvSpPr>
          <p:nvPr/>
        </p:nvSpPr>
        <p:spPr bwMode="gray">
          <a:xfrm>
            <a:off x="3456384" y="2206954"/>
            <a:ext cx="5364088" cy="1213571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x=1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for i in range(6,0,-1):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    x=(x+1)*2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    print("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第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 %d 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天的桃子数为：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 %d 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只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"%(</a:t>
            </a:r>
            <a:r>
              <a:rPr lang="en-US" altLang="zh-CN" sz="1600" dirty="0" err="1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i,x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))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13" name="图片 12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3460973"/>
            <a:ext cx="3240360" cy="15278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04387546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0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00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0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0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0579" grpId="0"/>
      <p:bldP spid="11" grpId="0"/>
      <p:bldP spid="3" grpId="0"/>
      <p:bldP spid="4" grpId="0"/>
      <p:bldP spid="12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23"/>
          <p:cNvSpPr>
            <a:spLocks noChangeArrowheads="1"/>
          </p:cNvSpPr>
          <p:nvPr/>
        </p:nvSpPr>
        <p:spPr bwMode="auto">
          <a:xfrm>
            <a:off x="-308941" y="2171427"/>
            <a:ext cx="184731" cy="387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anchor="ctr">
            <a:spAutoFit/>
          </a:bodyPr>
          <a:lstStyle/>
          <a:p>
            <a:endParaRPr lang="zh-CN" altLang="en-US" sz="1600"/>
          </a:p>
        </p:txBody>
      </p:sp>
      <p:sp>
        <p:nvSpPr>
          <p:cNvPr id="20" name="Text Box 24"/>
          <p:cNvSpPr txBox="1">
            <a:spLocks noChangeArrowheads="1"/>
          </p:cNvSpPr>
          <p:nvPr/>
        </p:nvSpPr>
        <p:spPr bwMode="auto">
          <a:xfrm>
            <a:off x="395858" y="1671111"/>
            <a:ext cx="4248150" cy="3965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>
            <a:spAutoFit/>
          </a:bodyPr>
          <a:lstStyle>
            <a:lvl1pPr eaLnBrk="0" hangingPunct="0"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18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迭代公式为：</a:t>
            </a:r>
          </a:p>
        </p:txBody>
      </p:sp>
      <p:pic>
        <p:nvPicPr>
          <p:cNvPr id="21" name="Picture 2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58"/>
          <a:stretch>
            <a:fillRect/>
          </a:stretch>
        </p:blipFill>
        <p:spPr bwMode="auto">
          <a:xfrm>
            <a:off x="2519933" y="1026249"/>
            <a:ext cx="631479" cy="478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2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3452" y="1475952"/>
            <a:ext cx="1887589" cy="682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Rectangle 48"/>
          <p:cNvSpPr>
            <a:spLocks noChangeArrowheads="1"/>
          </p:cNvSpPr>
          <p:nvPr/>
        </p:nvSpPr>
        <p:spPr bwMode="auto">
          <a:xfrm>
            <a:off x="-308941" y="1799952"/>
            <a:ext cx="184731" cy="387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anchor="ctr">
            <a:spAutoFit/>
          </a:bodyPr>
          <a:lstStyle/>
          <a:p>
            <a:endParaRPr lang="zh-CN" altLang="en-US" sz="1600"/>
          </a:p>
        </p:txBody>
      </p:sp>
      <p:sp>
        <p:nvSpPr>
          <p:cNvPr id="41" name="流程图: 数据 385"/>
          <p:cNvSpPr>
            <a:spLocks noChangeArrowheads="1"/>
          </p:cNvSpPr>
          <p:nvPr/>
        </p:nvSpPr>
        <p:spPr bwMode="auto">
          <a:xfrm>
            <a:off x="6004564" y="2991222"/>
            <a:ext cx="1540520" cy="350416"/>
          </a:xfrm>
          <a:prstGeom prst="flowChartInputOutput">
            <a:avLst/>
          </a:prstGeom>
          <a:noFill/>
          <a:ln w="31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14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输出</a:t>
            </a:r>
            <a:r>
              <a:rPr lang="en-US" altLang="zh-CN" sz="140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x</a:t>
            </a:r>
          </a:p>
        </p:txBody>
      </p:sp>
      <p:sp>
        <p:nvSpPr>
          <p:cNvPr id="42" name="矩形 386"/>
          <p:cNvSpPr>
            <a:spLocks noChangeArrowheads="1"/>
          </p:cNvSpPr>
          <p:nvPr/>
        </p:nvSpPr>
        <p:spPr bwMode="auto">
          <a:xfrm>
            <a:off x="6085924" y="843334"/>
            <a:ext cx="1346867" cy="277813"/>
          </a:xfrm>
          <a:prstGeom prst="rect">
            <a:avLst/>
          </a:prstGeom>
          <a:noFill/>
          <a:ln w="31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14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假定新值</a:t>
            </a:r>
            <a:r>
              <a:rPr lang="en-US" altLang="zh-CN" sz="1400" b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x</a:t>
            </a:r>
            <a:endParaRPr lang="zh-CN" altLang="en-US" sz="1400" b="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  <a:cs typeface="Courier New" pitchFamily="49" charset="0"/>
            </a:endParaRPr>
          </a:p>
        </p:txBody>
      </p:sp>
      <p:cxnSp>
        <p:nvCxnSpPr>
          <p:cNvPr id="43" name="直接箭头连接符 391"/>
          <p:cNvCxnSpPr>
            <a:cxnSpLocks noChangeShapeType="1"/>
          </p:cNvCxnSpPr>
          <p:nvPr/>
        </p:nvCxnSpPr>
        <p:spPr bwMode="auto">
          <a:xfrm>
            <a:off x="6752996" y="659184"/>
            <a:ext cx="0" cy="184150"/>
          </a:xfrm>
          <a:prstGeom prst="straightConnector1">
            <a:avLst/>
          </a:prstGeom>
          <a:noFill/>
          <a:ln w="9525">
            <a:solidFill>
              <a:srgbClr val="4A7EBB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" name="直接箭头连接符 393"/>
          <p:cNvCxnSpPr>
            <a:cxnSpLocks noChangeShapeType="1"/>
          </p:cNvCxnSpPr>
          <p:nvPr/>
        </p:nvCxnSpPr>
        <p:spPr bwMode="auto">
          <a:xfrm flipH="1">
            <a:off x="6763612" y="1137022"/>
            <a:ext cx="0" cy="257175"/>
          </a:xfrm>
          <a:prstGeom prst="straightConnector1">
            <a:avLst/>
          </a:prstGeom>
          <a:noFill/>
          <a:ln w="9525">
            <a:solidFill>
              <a:srgbClr val="4A7EBB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" name="直接箭头连接符 395"/>
          <p:cNvCxnSpPr>
            <a:cxnSpLocks noChangeShapeType="1"/>
          </p:cNvCxnSpPr>
          <p:nvPr/>
        </p:nvCxnSpPr>
        <p:spPr bwMode="auto">
          <a:xfrm>
            <a:off x="6785974" y="2743640"/>
            <a:ext cx="0" cy="246063"/>
          </a:xfrm>
          <a:prstGeom prst="straightConnector1">
            <a:avLst/>
          </a:prstGeom>
          <a:noFill/>
          <a:ln w="9525">
            <a:solidFill>
              <a:srgbClr val="4A7EBB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" name="直接箭头连接符 397"/>
          <p:cNvCxnSpPr>
            <a:cxnSpLocks noChangeShapeType="1"/>
          </p:cNvCxnSpPr>
          <p:nvPr/>
        </p:nvCxnSpPr>
        <p:spPr bwMode="auto">
          <a:xfrm flipH="1">
            <a:off x="5239816" y="1195759"/>
            <a:ext cx="1546159" cy="0"/>
          </a:xfrm>
          <a:prstGeom prst="straightConnector1">
            <a:avLst/>
          </a:prstGeom>
          <a:noFill/>
          <a:ln w="9525">
            <a:solidFill>
              <a:srgbClr val="4A7EBB"/>
            </a:solidFill>
            <a:round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" name="直接箭头连接符 398"/>
          <p:cNvCxnSpPr>
            <a:cxnSpLocks noChangeShapeType="1"/>
          </p:cNvCxnSpPr>
          <p:nvPr/>
        </p:nvCxnSpPr>
        <p:spPr bwMode="auto">
          <a:xfrm>
            <a:off x="5239816" y="1174742"/>
            <a:ext cx="0" cy="1339850"/>
          </a:xfrm>
          <a:prstGeom prst="straightConnector1">
            <a:avLst/>
          </a:prstGeom>
          <a:noFill/>
          <a:ln w="9525">
            <a:solidFill>
              <a:srgbClr val="4A7E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" name="直接箭头连接符 400"/>
          <p:cNvCxnSpPr>
            <a:cxnSpLocks noChangeShapeType="1"/>
          </p:cNvCxnSpPr>
          <p:nvPr/>
        </p:nvCxnSpPr>
        <p:spPr bwMode="auto">
          <a:xfrm flipH="1" flipV="1">
            <a:off x="5239816" y="2531640"/>
            <a:ext cx="227808" cy="3969"/>
          </a:xfrm>
          <a:prstGeom prst="straightConnector1">
            <a:avLst/>
          </a:prstGeom>
          <a:noFill/>
          <a:ln w="9525">
            <a:solidFill>
              <a:srgbClr val="4A7E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9" name="矩形 404"/>
          <p:cNvSpPr>
            <a:spLocks noChangeArrowheads="1"/>
          </p:cNvSpPr>
          <p:nvPr/>
        </p:nvSpPr>
        <p:spPr bwMode="auto">
          <a:xfrm>
            <a:off x="6848995" y="2726619"/>
            <a:ext cx="1395413" cy="204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16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False</a:t>
            </a:r>
          </a:p>
        </p:txBody>
      </p:sp>
      <p:sp>
        <p:nvSpPr>
          <p:cNvPr id="50" name="矩形 405"/>
          <p:cNvSpPr>
            <a:spLocks noChangeArrowheads="1"/>
          </p:cNvSpPr>
          <p:nvPr/>
        </p:nvSpPr>
        <p:spPr bwMode="auto">
          <a:xfrm>
            <a:off x="5353720" y="2284947"/>
            <a:ext cx="697707" cy="160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14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True</a:t>
            </a:r>
          </a:p>
        </p:txBody>
      </p:sp>
      <p:sp>
        <p:nvSpPr>
          <p:cNvPr id="51" name="流程图: 决策 387"/>
          <p:cNvSpPr>
            <a:spLocks noChangeArrowheads="1"/>
          </p:cNvSpPr>
          <p:nvPr/>
        </p:nvSpPr>
        <p:spPr bwMode="auto">
          <a:xfrm>
            <a:off x="5524563" y="2319709"/>
            <a:ext cx="2553455" cy="423863"/>
          </a:xfrm>
          <a:prstGeom prst="flowChartDecision">
            <a:avLst/>
          </a:prstGeom>
          <a:noFill/>
          <a:ln w="31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altLang="zh-CN" sz="16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|x-x0|&gt;</a:t>
            </a:r>
            <a:r>
              <a:rPr lang="zh-CN" altLang="en-US" sz="16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精度？</a:t>
            </a:r>
            <a:endParaRPr lang="en-US" altLang="zh-CN" sz="1600" b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52" name="矩形 386"/>
          <p:cNvSpPr>
            <a:spLocks noChangeArrowheads="1"/>
          </p:cNvSpPr>
          <p:nvPr/>
        </p:nvSpPr>
        <p:spPr bwMode="auto">
          <a:xfrm>
            <a:off x="5982193" y="1395784"/>
            <a:ext cx="1634899" cy="601663"/>
          </a:xfrm>
          <a:prstGeom prst="rect">
            <a:avLst/>
          </a:prstGeom>
          <a:noFill/>
          <a:ln w="31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14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旧值</a:t>
            </a:r>
            <a:r>
              <a:rPr lang="en-US" altLang="zh-CN" sz="140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x0</a:t>
            </a:r>
            <a:r>
              <a:rPr lang="zh-CN" altLang="en-US" sz="14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＝新值</a:t>
            </a:r>
            <a:r>
              <a:rPr lang="en-US" altLang="zh-CN" sz="140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x</a:t>
            </a:r>
          </a:p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14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根据公式得新值</a:t>
            </a:r>
            <a:r>
              <a:rPr lang="en-US" altLang="zh-CN" sz="140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x</a:t>
            </a:r>
            <a:endParaRPr lang="zh-CN" altLang="en-US" sz="1400">
              <a:solidFill>
                <a:srgbClr val="C00000"/>
              </a:solidFill>
              <a:latin typeface="微软雅黑" pitchFamily="34" charset="-122"/>
              <a:ea typeface="微软雅黑" pitchFamily="34" charset="-122"/>
              <a:cs typeface="Courier New" pitchFamily="49" charset="0"/>
            </a:endParaRPr>
          </a:p>
        </p:txBody>
      </p:sp>
      <p:cxnSp>
        <p:nvCxnSpPr>
          <p:cNvPr id="53" name="直接箭头连接符 393"/>
          <p:cNvCxnSpPr>
            <a:cxnSpLocks noChangeShapeType="1"/>
          </p:cNvCxnSpPr>
          <p:nvPr/>
        </p:nvCxnSpPr>
        <p:spPr bwMode="auto">
          <a:xfrm>
            <a:off x="6788387" y="1997447"/>
            <a:ext cx="0" cy="322262"/>
          </a:xfrm>
          <a:prstGeom prst="straightConnector1">
            <a:avLst/>
          </a:prstGeom>
          <a:noFill/>
          <a:ln w="9525">
            <a:solidFill>
              <a:srgbClr val="4A7EBB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8" name="TextBox 57"/>
          <p:cNvSpPr txBox="1"/>
          <p:nvPr/>
        </p:nvSpPr>
        <p:spPr>
          <a:xfrm>
            <a:off x="300718" y="2829012"/>
            <a:ext cx="3214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请课堂上 自己尝试完成代码！</a:t>
            </a:r>
          </a:p>
        </p:txBody>
      </p:sp>
      <p:sp>
        <p:nvSpPr>
          <p:cNvPr id="24" name="AutoShape 44"/>
          <p:cNvSpPr>
            <a:spLocks noChangeArrowheads="1"/>
          </p:cNvSpPr>
          <p:nvPr/>
        </p:nvSpPr>
        <p:spPr bwMode="gray">
          <a:xfrm>
            <a:off x="236371" y="499847"/>
            <a:ext cx="5003445" cy="558731"/>
          </a:xfrm>
          <a:prstGeom prst="roundRect">
            <a:avLst>
              <a:gd name="adj" fmla="val 8014"/>
            </a:avLst>
          </a:prstGeom>
          <a:solidFill>
            <a:srgbClr val="FFFFCC"/>
          </a:solidFill>
          <a:ln w="9525">
            <a:solidFill>
              <a:srgbClr val="808000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zh-CN" altLang="en-US" sz="2000" b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利用迭代法求高次方程根？</a:t>
            </a:r>
          </a:p>
        </p:txBody>
      </p:sp>
      <p:sp>
        <p:nvSpPr>
          <p:cNvPr id="23" name="Text Box 24"/>
          <p:cNvSpPr txBox="1">
            <a:spLocks noChangeArrowheads="1"/>
          </p:cNvSpPr>
          <p:nvPr/>
        </p:nvSpPr>
        <p:spPr bwMode="auto">
          <a:xfrm>
            <a:off x="300718" y="2188318"/>
            <a:ext cx="49390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>
            <a:spAutoFit/>
          </a:bodyPr>
          <a:lstStyle>
            <a:lvl1pPr eaLnBrk="0" hangingPunct="0"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随意设置 </a:t>
            </a: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x</a:t>
            </a:r>
            <a:r>
              <a:rPr lang="en-US" altLang="zh-CN" sz="1800" b="0" baseline="-250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i 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的初值，迭代到 </a:t>
            </a: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abs(x</a:t>
            </a:r>
            <a:r>
              <a:rPr lang="en-US" altLang="zh-CN" sz="1800" b="0" baseline="-250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i+1</a:t>
            </a: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-x</a:t>
            </a:r>
            <a:r>
              <a:rPr lang="en-US" altLang="zh-CN" sz="1800" b="0" baseline="-250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)&lt;1e-5</a:t>
            </a:r>
            <a:endParaRPr lang="zh-CN" altLang="en-US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94832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41" grpId="0" animBg="1"/>
      <p:bldP spid="42" grpId="0" animBg="1"/>
      <p:bldP spid="49" grpId="0"/>
      <p:bldP spid="50" grpId="0"/>
      <p:bldP spid="51" grpId="0" animBg="1"/>
      <p:bldP spid="52" grpId="0" animBg="1"/>
      <p:bldP spid="58" grpId="0"/>
      <p:bldP spid="24" grpId="0" animBg="1"/>
      <p:bldP spid="23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B79AC7-2B19-44D3-95C7-BB9FFDB13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4CC5B2-8DF9-4029-876D-F7C0B3300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000" dirty="0"/>
              <a:t>a=float(input("please input a number:"))</a:t>
            </a:r>
          </a:p>
          <a:p>
            <a:pPr marL="0" indent="0">
              <a:buNone/>
            </a:pPr>
            <a:r>
              <a:rPr lang="en-US" altLang="zh-CN" sz="2000" dirty="0"/>
              <a:t>x0=2</a:t>
            </a:r>
          </a:p>
          <a:p>
            <a:pPr marL="0" indent="0">
              <a:buNone/>
            </a:pPr>
            <a:r>
              <a:rPr lang="en-US" altLang="zh-CN" sz="2000" dirty="0"/>
              <a:t>x1=2*x0/3+a/(3*x0**2)</a:t>
            </a:r>
          </a:p>
          <a:p>
            <a:pPr marL="0" indent="0">
              <a:buNone/>
            </a:pPr>
            <a:r>
              <a:rPr lang="en-US" altLang="zh-CN" sz="2000" dirty="0"/>
              <a:t>while abs(x1-x0) &gt;0.000001:</a:t>
            </a:r>
          </a:p>
          <a:p>
            <a:pPr marL="0" indent="0">
              <a:buNone/>
            </a:pPr>
            <a:r>
              <a:rPr lang="en-US" altLang="zh-CN" sz="2000" dirty="0"/>
              <a:t>    x0=x1</a:t>
            </a:r>
          </a:p>
          <a:p>
            <a:pPr marL="0" indent="0">
              <a:buNone/>
            </a:pPr>
            <a:r>
              <a:rPr lang="en-US" altLang="zh-CN" sz="2000" dirty="0"/>
              <a:t>    x1=2/3*x0+a/3/x0**2</a:t>
            </a:r>
          </a:p>
          <a:p>
            <a:pPr marL="0" indent="0">
              <a:buNone/>
            </a:pPr>
            <a:r>
              <a:rPr lang="en-US" altLang="zh-CN" sz="2000" dirty="0"/>
              <a:t>print("%f</a:t>
            </a:r>
            <a:r>
              <a:rPr lang="zh-CN" altLang="en-US" sz="2000" dirty="0"/>
              <a:t>的立方根为</a:t>
            </a:r>
            <a:r>
              <a:rPr lang="en-US" altLang="zh-CN" sz="2000" dirty="0"/>
              <a:t>%f"%(a,x1))</a:t>
            </a:r>
          </a:p>
          <a:p>
            <a:pPr marL="0" indent="0">
              <a:buNone/>
            </a:pPr>
            <a:r>
              <a:rPr lang="en-US" altLang="zh-CN" sz="2000" dirty="0"/>
              <a:t>print("%f</a:t>
            </a:r>
            <a:r>
              <a:rPr lang="zh-CN" altLang="en-US" sz="2000" dirty="0"/>
              <a:t>的立方根为</a:t>
            </a:r>
            <a:r>
              <a:rPr lang="en-US" altLang="zh-CN" sz="2000" dirty="0"/>
              <a:t>%f"%(</a:t>
            </a:r>
            <a:r>
              <a:rPr lang="en-US" altLang="zh-CN" sz="2000" dirty="0" err="1"/>
              <a:t>a,pow</a:t>
            </a:r>
            <a:r>
              <a:rPr lang="en-US" altLang="zh-CN" sz="2000" dirty="0"/>
              <a:t>(a,1/3)))</a:t>
            </a:r>
            <a:endParaRPr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D1D40E-C65B-4613-A973-40CE5CF01E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7C270E-26C8-4352-BE21-3DBF4A2EC019}" type="slidenum">
              <a:rPr lang="en-US" altLang="zh-CN" smtClean="0"/>
              <a:pPr>
                <a:defRPr/>
              </a:pPr>
              <a:t>95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6350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FF"/>
      </a:hlink>
      <a:folHlink>
        <a:srgbClr val="3333CC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  <a:ext uri="{53640926-AAD7-44D8-BBD7-CCE9431645EC}">
            <a14:shadowObscured xmlns:a14="http://schemas.microsoft.com/office/drawing/2010/main" val="1"/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2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rgbClr val="A50021"/>
            </a:solidFill>
            <a:effectLst/>
            <a:latin typeface="Arial" charset="0"/>
            <a:ea typeface="黑体" pitchFamily="2" charset="-122"/>
          </a:defRPr>
        </a:defPPr>
      </a:lstStyle>
    </a:spDef>
    <a:lnDef>
      <a:spPr bwMode="auto">
        <a:noFill/>
        <a:ln w="12700" algn="ctr">
          <a:solidFill>
            <a:srgbClr val="000066"/>
          </a:solidFill>
          <a:round/>
          <a:headEnd type="stealth" w="med" len="med"/>
          <a:tailEnd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  <a:ext uri="{53640926-AAD7-44D8-BBD7-CCE9431645EC}">
            <a14:shadowObscured xmlns:a14="http://schemas.microsoft.com/office/drawing/2010/main" val="1"/>
          </a:ext>
        </a:extLst>
      </a:spPr>
      <a:bodyPr/>
      <a:lstStyle/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31445</TotalTime>
  <Words>9391</Words>
  <Application>Microsoft Office PowerPoint</Application>
  <PresentationFormat>全屏显示(16:9)</PresentationFormat>
  <Paragraphs>1194</Paragraphs>
  <Slides>95</Slides>
  <Notes>35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95</vt:i4>
      </vt:variant>
    </vt:vector>
  </HeadingPairs>
  <TitlesOfParts>
    <vt:vector size="109" baseType="lpstr">
      <vt:lpstr>等线</vt:lpstr>
      <vt:lpstr>方正姚体</vt:lpstr>
      <vt:lpstr>黑体</vt:lpstr>
      <vt:lpstr>楷体_GB2312</vt:lpstr>
      <vt:lpstr>微软雅黑</vt:lpstr>
      <vt:lpstr>Arial</vt:lpstr>
      <vt:lpstr>Arial Black</vt:lpstr>
      <vt:lpstr>Calibri</vt:lpstr>
      <vt:lpstr>Courier New</vt:lpstr>
      <vt:lpstr>Wingdings</vt:lpstr>
      <vt:lpstr>默认设计模板</vt:lpstr>
      <vt:lpstr>公式</vt:lpstr>
      <vt:lpstr>Equation</vt:lpstr>
      <vt:lpstr>Picture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if 语句(单分支结构）引例</vt:lpstr>
      <vt:lpstr>PowerPoint 演示文稿</vt:lpstr>
      <vt:lpstr>PowerPoint 演示文稿</vt:lpstr>
      <vt:lpstr>PowerPoint 演示文稿</vt:lpstr>
      <vt:lpstr>PowerPoint 演示文稿</vt:lpstr>
      <vt:lpstr>if…elif…else 语句（多分支结构）引例 </vt:lpstr>
      <vt:lpstr>PowerPoint 演示文稿</vt:lpstr>
      <vt:lpstr>PowerPoint 演示文稿</vt:lpstr>
      <vt:lpstr>if 语句中的  表达式</vt:lpstr>
      <vt:lpstr>PowerPoint 演示文稿</vt:lpstr>
      <vt:lpstr>例子</vt:lpstr>
      <vt:lpstr>多分支结构例子</vt:lpstr>
      <vt:lpstr>多分支结构的正确书写 </vt:lpstr>
      <vt:lpstr>PowerPoint 演示文稿</vt:lpstr>
      <vt:lpstr>选择结构的嵌套 </vt:lpstr>
      <vt:lpstr>PowerPoint 演示文稿</vt:lpstr>
      <vt:lpstr>for循环语句 </vt:lpstr>
      <vt:lpstr>for 循环使用的序列</vt:lpstr>
      <vt:lpstr>for 循环使用的序列</vt:lpstr>
      <vt:lpstr>计算1+2+3+……+100的和</vt:lpstr>
      <vt:lpstr>PowerPoint 演示文稿</vt:lpstr>
      <vt:lpstr>例：计算1+2+3+……+100的和</vt:lpstr>
      <vt:lpstr>计算100以内偶数的和</vt:lpstr>
      <vt:lpstr>例子  验证投硬币的正反面</vt:lpstr>
      <vt:lpstr>背单词，学排错</vt:lpstr>
      <vt:lpstr>背诵 for循环的格式</vt:lpstr>
      <vt:lpstr>采用索引法遍历序列</vt:lpstr>
      <vt:lpstr>PowerPoint 演示文稿</vt:lpstr>
      <vt:lpstr>PowerPoint 演示文稿</vt:lpstr>
      <vt:lpstr>for 循环的练习</vt:lpstr>
      <vt:lpstr>for 循环的练习—自读</vt:lpstr>
      <vt:lpstr>PowerPoint 演示文稿</vt:lpstr>
      <vt:lpstr>PowerPoint 演示文稿</vt:lpstr>
      <vt:lpstr>PowerPoint 演示文稿</vt:lpstr>
      <vt:lpstr>PowerPoint 演示文稿</vt:lpstr>
      <vt:lpstr>while循环语句 </vt:lpstr>
      <vt:lpstr>while循环语句 </vt:lpstr>
      <vt:lpstr>PowerPoint 演示文稿</vt:lpstr>
      <vt:lpstr>While循环的练习</vt:lpstr>
      <vt:lpstr>求全班的最高分、最低分  </vt:lpstr>
      <vt:lpstr>求全班的最高分、最低分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循环的嵌套 </vt:lpstr>
      <vt:lpstr>循环的嵌套 </vt:lpstr>
      <vt:lpstr>PowerPoint 演示文稿</vt:lpstr>
      <vt:lpstr>例子：求s=1！+2！+3！+4！+…+n!</vt:lpstr>
      <vt:lpstr>例子：求s=1！+2！+3！+4！+…+n!</vt:lpstr>
      <vt:lpstr>例子：求s=1！+2！+3！+4！+…+n!</vt:lpstr>
      <vt:lpstr>例子:个位+十位+百位==5</vt:lpstr>
      <vt:lpstr>实例:个位+十位+百位==5</vt:lpstr>
      <vt:lpstr>循环结构的其他语句</vt:lpstr>
      <vt:lpstr>例3.17 break、continue语句区别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练习：打印字符图</vt:lpstr>
      <vt:lpstr>练习：打印字符图</vt:lpstr>
      <vt:lpstr>复杂的：输入行数n 打印字符图</vt:lpstr>
      <vt:lpstr>练习：输入行数n 打印字符图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3.枚举法、试凑法</vt:lpstr>
      <vt:lpstr>【例3.23】谁是凶手?</vt:lpstr>
      <vt:lpstr>PowerPoint 演示文稿</vt:lpstr>
      <vt:lpstr>PowerPoint 演示文稿</vt:lpstr>
      <vt:lpstr>枚举法的练习</vt:lpstr>
      <vt:lpstr>4.递推法（又称为迭代法）</vt:lpstr>
      <vt:lpstr> 猴子吃桃子问题。</vt:lpstr>
      <vt:lpstr>PowerPoint 演示文稿</vt:lpstr>
      <vt:lpstr>PowerPoint 演示文稿</vt:lpstr>
    </vt:vector>
  </TitlesOfParts>
  <Company>同济大学计算机系基础学科组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VB.NET</dc:title>
  <dc:creator/>
  <cp:revision>899</cp:revision>
  <dcterms:created xsi:type="dcterms:W3CDTF">2005-07-18T08:28:37Z</dcterms:created>
  <dcterms:modified xsi:type="dcterms:W3CDTF">2025-02-28T05:43:14Z</dcterms:modified>
</cp:coreProperties>
</file>