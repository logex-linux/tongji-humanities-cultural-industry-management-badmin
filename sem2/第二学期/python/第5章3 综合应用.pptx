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7"/>
  </p:notesMasterIdLst>
  <p:handoutMasterIdLst>
    <p:handoutMasterId r:id="rId18"/>
  </p:handoutMasterIdLst>
  <p:sldIdLst>
    <p:sldId id="381" r:id="rId2"/>
    <p:sldId id="382" r:id="rId3"/>
    <p:sldId id="371" r:id="rId4"/>
    <p:sldId id="390" r:id="rId5"/>
    <p:sldId id="391" r:id="rId6"/>
    <p:sldId id="392" r:id="rId7"/>
    <p:sldId id="393" r:id="rId8"/>
    <p:sldId id="394" r:id="rId9"/>
    <p:sldId id="383" r:id="rId10"/>
    <p:sldId id="384" r:id="rId11"/>
    <p:sldId id="385" r:id="rId12"/>
    <p:sldId id="386" r:id="rId13"/>
    <p:sldId id="387" r:id="rId14"/>
    <p:sldId id="388" r:id="rId15"/>
    <p:sldId id="389" r:id="rId16"/>
  </p:sldIdLst>
  <p:sldSz cx="12190413" cy="6859588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orient="horz" pos="2881">
          <p15:clr>
            <a:srgbClr val="A4A3A4"/>
          </p15:clr>
        </p15:guide>
        <p15:guide id="5" orient="horz" pos="2161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0000B4"/>
    <a:srgbClr val="808000"/>
    <a:srgbClr val="000096"/>
    <a:srgbClr val="CCFFFF"/>
    <a:srgbClr val="FFFF99"/>
    <a:srgbClr val="000066"/>
    <a:srgbClr val="0000A8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89917" autoAdjust="0"/>
  </p:normalViewPr>
  <p:slideViewPr>
    <p:cSldViewPr>
      <p:cViewPr varScale="1">
        <p:scale>
          <a:sx n="102" d="100"/>
          <a:sy n="102" d="100"/>
        </p:scale>
        <p:origin x="84" y="496"/>
      </p:cViewPr>
      <p:guideLst>
        <p:guide orient="horz" pos="2160"/>
        <p:guide pos="2880"/>
        <p:guide orient="horz" pos="1620"/>
        <p:guide orient="horz" pos="2881"/>
        <p:guide orient="horz" pos="2161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3F1A6AC-1568-4D97-B1A6-D2F5D0C5FA21}" type="datetimeFigureOut">
              <a:rPr lang="zh-CN" altLang="en-US"/>
              <a:pPr>
                <a:defRPr/>
              </a:pPr>
              <a:t>2026/4/6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1C5DEC9-6472-4206-B59B-1A30B65930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328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FFE69E8-AAF3-420D-97F5-31FA21EBBEB8}" type="datetimeFigureOut">
              <a:rPr lang="zh-CN" altLang="en-US"/>
              <a:pPr>
                <a:defRPr/>
              </a:pPr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7EB3F29-63AA-456A-8033-9D7C5DEBDA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825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#方法2，用列表推导式</a:t>
            </a:r>
          </a:p>
          <a:p>
            <a:r>
              <a:rPr lang="zh-CN" altLang="en-US" sz="1200" dirty="0"/>
              <a:t>std_no2=[]</a:t>
            </a:r>
          </a:p>
          <a:p>
            <a:r>
              <a:rPr lang="zh-CN" altLang="en-US" sz="1200" dirty="0"/>
              <a:t>for k in range(len(no_1)):</a:t>
            </a:r>
          </a:p>
          <a:p>
            <a:r>
              <a:rPr lang="zh-CN" altLang="en-US" sz="1200" dirty="0"/>
              <a:t>    std_no2.append([stdAll[j] for j in range(len(stdAll)) if stdAll[j][0]==int(no_1[k])])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283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#方法2，用列表推导式</a:t>
            </a:r>
          </a:p>
          <a:p>
            <a:r>
              <a:rPr lang="zh-CN" altLang="en-US" sz="1200" dirty="0"/>
              <a:t>std_no2=[]</a:t>
            </a:r>
          </a:p>
          <a:p>
            <a:r>
              <a:rPr lang="zh-CN" altLang="en-US" sz="1200" dirty="0"/>
              <a:t>for k in range(len(no_1)):</a:t>
            </a:r>
          </a:p>
          <a:p>
            <a:r>
              <a:rPr lang="zh-CN" altLang="en-US" sz="1200" dirty="0"/>
              <a:t>    std_no2.append([stdAll[j] for j in range(len(stdAll)) if stdAll[j][0]==int(no_1[k])])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310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4774190"/>
            <a:ext cx="12190413" cy="211292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/>
        </p:spPr>
        <p:txBody>
          <a:bodyPr wrap="none" lIns="121917" tIns="60958" rIns="121917" bIns="60958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dirty="0"/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1" y="6431392"/>
            <a:ext cx="545977" cy="415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CE680026-A519-4A84-9AD5-EF3476A9A4DC}" type="slidenum">
              <a:rPr lang="en-US" altLang="zh-CN" sz="19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900" b="1" dirty="0">
              <a:solidFill>
                <a:schemeClr val="bg1"/>
              </a:solidFill>
            </a:endParaRPr>
          </a:p>
        </p:txBody>
      </p:sp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325276" y="1629178"/>
            <a:ext cx="10010530" cy="1470366"/>
          </a:xfrm>
        </p:spPr>
        <p:txBody>
          <a:bodyPr anchor="ctr"/>
          <a:lstStyle>
            <a:lvl1pPr algn="r">
              <a:defRPr sz="6400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654720" y="5158386"/>
            <a:ext cx="7919854" cy="768263"/>
          </a:xfrm>
          <a:noFill/>
          <a:ln>
            <a:noFill/>
          </a:ln>
        </p:spPr>
        <p:txBody>
          <a:bodyPr/>
          <a:lstStyle>
            <a:lvl1pPr marL="0" indent="0" algn="ctr">
              <a:spcBef>
                <a:spcPct val="20000"/>
              </a:spcBef>
              <a:buClrTx/>
              <a:buFontTx/>
              <a:buNone/>
              <a:defRPr sz="48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 dirty="0"/>
              <a:t>单击以编辑母版副标题样式</a:t>
            </a:r>
            <a:endParaRPr lang="en-US" altLang="zh-CN" dirty="0"/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20" y="3766204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822" y="3766204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323" y="3772632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427" y="3766825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29" y="3766825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431" y="3773253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35" y="3759776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036" y="3759776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538" y="3766204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499" y="3770586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8" descr="http://www.rrcap.unep.org/userfiles/image/200px-Tongji_University_Logo.jpg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5001" y="3770586"/>
            <a:ext cx="1022216" cy="100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396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761901" y="6859588"/>
            <a:ext cx="247617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7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800"/>
              </a:spcBef>
              <a:defRPr sz="27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800"/>
              </a:spcBef>
              <a:buClr>
                <a:srgbClr val="FF99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8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800"/>
              </a:spcBef>
              <a:buClr>
                <a:srgbClr val="FF99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8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81619067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521" y="1600572"/>
            <a:ext cx="10971372" cy="4527011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024324" y="6425572"/>
            <a:ext cx="4607383" cy="364151"/>
          </a:xfrm>
          <a:prstGeom prst="rect">
            <a:avLst/>
          </a:prstGeom>
        </p:spPr>
        <p:txBody>
          <a:bodyPr lIns="121917" tIns="60958" rIns="121917" bIns="60958"/>
          <a:lstStyle>
            <a:lvl1pPr eaLnBrk="1" hangingPunct="1"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 dirty="0"/>
              <a:t>http://cal.tongji.edu.cn/soft</a:t>
            </a:r>
          </a:p>
        </p:txBody>
      </p:sp>
    </p:spTree>
    <p:extLst>
      <p:ext uri="{BB962C8B-B14F-4D97-AF65-F5344CB8AC3E}">
        <p14:creationId xmlns:p14="http://schemas.microsoft.com/office/powerpoint/2010/main" val="112485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331200" y="6450977"/>
            <a:ext cx="7468745" cy="364151"/>
          </a:xfrm>
          <a:prstGeom prst="rect">
            <a:avLst/>
          </a:prstGeom>
        </p:spPr>
        <p:txBody>
          <a:bodyPr lIns="121917" tIns="60958" rIns="121917" bIns="60958"/>
          <a:lstStyle>
            <a:lvl1pPr eaLnBrk="1" hangingPunct="1"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 dirty="0"/>
              <a:t>http://cal.tongji.edu.cn/soft</a:t>
            </a:r>
          </a:p>
        </p:txBody>
      </p:sp>
    </p:spTree>
    <p:extLst>
      <p:ext uri="{BB962C8B-B14F-4D97-AF65-F5344CB8AC3E}">
        <p14:creationId xmlns:p14="http://schemas.microsoft.com/office/powerpoint/2010/main" val="39971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 userDrawn="1"/>
        </p:nvSpPr>
        <p:spPr bwMode="gray">
          <a:xfrm>
            <a:off x="0" y="6527196"/>
            <a:ext cx="12190413" cy="33239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lIns="121917" tIns="60958" rIns="121917" bIns="60958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Line 56"/>
          <p:cNvSpPr>
            <a:spLocks noChangeShapeType="1"/>
          </p:cNvSpPr>
          <p:nvPr/>
        </p:nvSpPr>
        <p:spPr bwMode="gray">
          <a:xfrm>
            <a:off x="0" y="6502847"/>
            <a:ext cx="12190413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21917" tIns="60958" rIns="121917" bIns="60958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1055" y="1412144"/>
            <a:ext cx="11056027" cy="480171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wrap="square" lIns="121917" tIns="60958" rIns="121917" bIns="609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31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601055" y="139733"/>
            <a:ext cx="11032748" cy="868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17" tIns="60958" rIns="121917" bIns="6095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pic>
        <p:nvPicPr>
          <p:cNvPr id="1032" name="图片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113" y="6530345"/>
            <a:ext cx="1152739" cy="31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700" b="1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8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8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8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800" b="1">
          <a:solidFill>
            <a:schemeClr val="accent1"/>
          </a:solidFill>
          <a:latin typeface="Arial" pitchFamily="34" charset="0"/>
        </a:defRPr>
      </a:lvl5pPr>
      <a:lvl6pPr marL="609585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300" b="1">
          <a:solidFill>
            <a:schemeClr val="accent1"/>
          </a:solidFill>
          <a:latin typeface="Arial" pitchFamily="34" charset="0"/>
        </a:defRPr>
      </a:lvl6pPr>
      <a:lvl7pPr marL="121917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300" b="1">
          <a:solidFill>
            <a:schemeClr val="accent1"/>
          </a:solidFill>
          <a:latin typeface="Arial" pitchFamily="34" charset="0"/>
        </a:defRPr>
      </a:lvl7pPr>
      <a:lvl8pPr marL="1828754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300" b="1">
          <a:solidFill>
            <a:schemeClr val="accent1"/>
          </a:solidFill>
          <a:latin typeface="Arial" pitchFamily="34" charset="0"/>
        </a:defRPr>
      </a:lvl8pPr>
      <a:lvl9pPr marL="2438339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4300" b="1">
          <a:solidFill>
            <a:schemeClr val="accent1"/>
          </a:solidFill>
          <a:latin typeface="Arial" pitchFamily="34" charset="0"/>
        </a:defRPr>
      </a:lvl9pPr>
    </p:titleStyle>
    <p:bodyStyle>
      <a:lvl1pPr marL="457189" indent="-457189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u"/>
        <a:defRPr sz="2700" b="1">
          <a:solidFill>
            <a:srgbClr val="0070C0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990575" indent="-380990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rgbClr val="FF9900"/>
        </a:buClr>
        <a:buChar char="•"/>
        <a:defRPr sz="27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523962" indent="-304792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2133547" indent="-304792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rgbClr val="FF9900"/>
        </a:buClr>
        <a:buChar char="•"/>
        <a:defRPr sz="21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743131" indent="-304792" algn="l" rtl="0" eaLnBrk="0" fontAlgn="base" hangingPunct="0">
        <a:lnSpc>
          <a:spcPct val="110000"/>
        </a:lnSpc>
        <a:spcBef>
          <a:spcPts val="800"/>
        </a:spcBef>
        <a:spcAft>
          <a:spcPct val="0"/>
        </a:spcAft>
        <a:buClr>
          <a:schemeClr val="hlink"/>
        </a:buClr>
        <a:buChar char="•"/>
        <a:defRPr sz="2700">
          <a:solidFill>
            <a:srgbClr val="5F5F5F"/>
          </a:solidFill>
          <a:latin typeface="+mn-lt"/>
          <a:ea typeface="华文新魏" pitchFamily="2" charset="-122"/>
        </a:defRPr>
      </a:lvl5pPr>
      <a:lvl6pPr marL="3352716" indent="-304792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700">
          <a:solidFill>
            <a:srgbClr val="5F5F5F"/>
          </a:solidFill>
          <a:latin typeface="+mn-lt"/>
        </a:defRPr>
      </a:lvl6pPr>
      <a:lvl7pPr marL="3962301" indent="-304792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700">
          <a:solidFill>
            <a:srgbClr val="5F5F5F"/>
          </a:solidFill>
          <a:latin typeface="+mn-lt"/>
        </a:defRPr>
      </a:lvl7pPr>
      <a:lvl8pPr marL="4571886" indent="-304792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700">
          <a:solidFill>
            <a:srgbClr val="5F5F5F"/>
          </a:solidFill>
          <a:latin typeface="+mn-lt"/>
        </a:defRPr>
      </a:lvl8pPr>
      <a:lvl9pPr marL="5181470" indent="-304792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7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5.3 </a:t>
            </a:r>
            <a:r>
              <a:rPr lang="zh-CN" altLang="en-US" dirty="0">
                <a:solidFill>
                  <a:srgbClr val="C00000"/>
                </a:solidFill>
              </a:rPr>
              <a:t>综合应用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055" y="1007767"/>
            <a:ext cx="11056027" cy="1749797"/>
          </a:xfr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Clr>
                <a:srgbClr val="00B050"/>
              </a:buClr>
              <a:buNone/>
            </a:pPr>
            <a:r>
              <a:rPr lang="en-US" altLang="zh-CN" sz="2400" b="1" dirty="0">
                <a:solidFill>
                  <a:srgbClr val="002060"/>
                </a:solidFill>
              </a:rPr>
              <a:t>1. </a:t>
            </a:r>
            <a:r>
              <a:rPr lang="zh-CN" altLang="en-US" sz="2400" b="1" dirty="0">
                <a:solidFill>
                  <a:srgbClr val="002060"/>
                </a:solidFill>
              </a:rPr>
              <a:t>数据分拣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marL="0" indent="0">
              <a:buClr>
                <a:srgbClr val="00B050"/>
              </a:buClr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根据某个条件，从已知数据序列中挑选出符合要求的数据</a:t>
            </a:r>
            <a:endParaRPr lang="en-US" altLang="zh-CN" sz="2400" dirty="0"/>
          </a:p>
          <a:p>
            <a:pPr marL="0" indent="0">
              <a:buClr>
                <a:srgbClr val="00B050"/>
              </a:buClr>
              <a:buNone/>
            </a:pPr>
            <a:r>
              <a:rPr lang="zh-CN" altLang="en-US" sz="2400" b="1" dirty="0">
                <a:solidFill>
                  <a:srgbClr val="00B050"/>
                </a:solidFill>
              </a:rPr>
              <a:t>     例</a:t>
            </a:r>
            <a:r>
              <a:rPr lang="en-US" altLang="zh-CN" sz="2400" b="1" dirty="0" smtClean="0">
                <a:solidFill>
                  <a:srgbClr val="00B050"/>
                </a:solidFill>
              </a:rPr>
              <a:t>5.10  </a:t>
            </a:r>
            <a:r>
              <a:rPr lang="zh-CN" altLang="en-US" sz="2400" b="1" dirty="0">
                <a:solidFill>
                  <a:srgbClr val="00B050"/>
                </a:solidFill>
              </a:rPr>
              <a:t>将某个班级</a:t>
            </a:r>
            <a:r>
              <a:rPr lang="zh-CN" altLang="en-US" sz="2400" b="1">
                <a:solidFill>
                  <a:srgbClr val="00B050"/>
                </a:solidFill>
              </a:rPr>
              <a:t>的</a:t>
            </a:r>
            <a:r>
              <a:rPr lang="zh-CN" altLang="en-US" sz="2400" b="1" smtClean="0">
                <a:solidFill>
                  <a:srgbClr val="00B050"/>
                </a:solidFill>
              </a:rPr>
              <a:t>学生</a:t>
            </a:r>
            <a:r>
              <a:rPr lang="zh-CN" altLang="en-US" sz="2400" b="1">
                <a:solidFill>
                  <a:srgbClr val="00B050"/>
                </a:solidFill>
              </a:rPr>
              <a:t>信息</a:t>
            </a:r>
            <a:r>
              <a:rPr lang="zh-CN" altLang="en-US" sz="2400" b="1" smtClean="0">
                <a:solidFill>
                  <a:srgbClr val="00B050"/>
                </a:solidFill>
              </a:rPr>
              <a:t>从</a:t>
            </a:r>
            <a:r>
              <a:rPr lang="zh-CN" altLang="en-US" sz="2400" b="1" dirty="0">
                <a:solidFill>
                  <a:srgbClr val="00B050"/>
                </a:solidFill>
              </a:rPr>
              <a:t>所有班级的数据中分拣出来。</a:t>
            </a:r>
            <a:r>
              <a:rPr lang="en-US" altLang="zh-CN" sz="2400" b="1" dirty="0">
                <a:solidFill>
                  <a:srgbClr val="00B050"/>
                </a:solidFill>
              </a:rPr>
              <a:t>  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5164" y="2637022"/>
            <a:ext cx="9394498" cy="363176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将所有班级学生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的信息放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入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列表</a:t>
            </a:r>
            <a:r>
              <a:rPr lang="en-US" altLang="zh-CN" sz="2000" dirty="0" err="1" smtClean="0">
                <a:latin typeface="微软雅黑" pitchFamily="34" charset="-122"/>
                <a:ea typeface="微软雅黑" pitchFamily="34" charset="-122"/>
              </a:rPr>
              <a:t>studentList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 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将指定班级的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学生学号放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入列表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C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利用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列表推导式从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studentList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中把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中的学生信息挑选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出来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797" y="3688671"/>
            <a:ext cx="38766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078" y="4941962"/>
            <a:ext cx="23241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2494806" y="5806058"/>
            <a:ext cx="44502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[</a:t>
            </a:r>
            <a:r>
              <a:rPr lang="en-US" altLang="zh-CN" sz="2000" dirty="0" err="1">
                <a:solidFill>
                  <a:srgbClr val="FF0000"/>
                </a:solidFill>
              </a:rPr>
              <a:t>stu</a:t>
            </a:r>
            <a:r>
              <a:rPr lang="en-US" altLang="zh-CN" sz="2000" dirty="0">
                <a:solidFill>
                  <a:srgbClr val="FF0000"/>
                </a:solidFill>
              </a:rPr>
              <a:t> for </a:t>
            </a:r>
            <a:r>
              <a:rPr lang="en-US" altLang="zh-CN" sz="2000" dirty="0" err="1">
                <a:solidFill>
                  <a:srgbClr val="FF0000"/>
                </a:solidFill>
              </a:rPr>
              <a:t>stu</a:t>
            </a:r>
            <a:r>
              <a:rPr lang="en-US" altLang="zh-CN" sz="2000" dirty="0">
                <a:solidFill>
                  <a:srgbClr val="FF0000"/>
                </a:solidFill>
              </a:rPr>
              <a:t> in </a:t>
            </a:r>
            <a:r>
              <a:rPr lang="en-US" altLang="zh-CN" sz="2000" dirty="0" err="1">
                <a:solidFill>
                  <a:srgbClr val="FF0000"/>
                </a:solidFill>
              </a:rPr>
              <a:t>studentList</a:t>
            </a:r>
            <a:r>
              <a:rPr lang="en-US" altLang="zh-CN" sz="2000" dirty="0">
                <a:solidFill>
                  <a:srgbClr val="FF0000"/>
                </a:solidFill>
              </a:rPr>
              <a:t> if </a:t>
            </a:r>
            <a:r>
              <a:rPr lang="en-US" altLang="zh-CN" sz="2000" dirty="0" err="1">
                <a:solidFill>
                  <a:srgbClr val="FF0000"/>
                </a:solidFill>
              </a:rPr>
              <a:t>stu</a:t>
            </a:r>
            <a:r>
              <a:rPr lang="en-US" altLang="zh-CN" sz="2000" dirty="0">
                <a:solidFill>
                  <a:srgbClr val="FF0000"/>
                </a:solidFill>
              </a:rPr>
              <a:t>[0] in C]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98909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5.3 </a:t>
            </a:r>
            <a:r>
              <a:rPr lang="zh-CN" altLang="en-US" dirty="0">
                <a:solidFill>
                  <a:srgbClr val="C00000"/>
                </a:solidFill>
              </a:rPr>
              <a:t>综合应用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055" y="1007767"/>
            <a:ext cx="11056027" cy="1749797"/>
          </a:xfr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Clr>
                <a:srgbClr val="00B050"/>
              </a:buClr>
              <a:buNone/>
            </a:pPr>
            <a:r>
              <a:rPr lang="en-US" altLang="zh-CN" sz="2400" b="1" dirty="0">
                <a:solidFill>
                  <a:srgbClr val="002060"/>
                </a:solidFill>
              </a:rPr>
              <a:t>1. </a:t>
            </a:r>
            <a:r>
              <a:rPr lang="zh-CN" altLang="en-US" sz="2400" b="1" dirty="0">
                <a:solidFill>
                  <a:srgbClr val="002060"/>
                </a:solidFill>
              </a:rPr>
              <a:t>数据分拣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marL="0" indent="0">
              <a:buClr>
                <a:srgbClr val="00B050"/>
              </a:buClr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根据某个条件，从已知数据序列中挑选出符合要求的数据</a:t>
            </a:r>
            <a:endParaRPr lang="en-US" altLang="zh-CN" sz="2400" dirty="0"/>
          </a:p>
          <a:p>
            <a:pPr marL="0" indent="0">
              <a:buClr>
                <a:srgbClr val="00B050"/>
              </a:buClr>
              <a:buNone/>
            </a:pPr>
            <a:r>
              <a:rPr lang="zh-CN" altLang="en-US" sz="2400" b="1" dirty="0">
                <a:solidFill>
                  <a:srgbClr val="00B050"/>
                </a:solidFill>
              </a:rPr>
              <a:t>     例</a:t>
            </a:r>
            <a:r>
              <a:rPr lang="en-US" altLang="zh-CN" sz="2400" b="1" dirty="0" smtClean="0">
                <a:solidFill>
                  <a:srgbClr val="00B050"/>
                </a:solidFill>
              </a:rPr>
              <a:t>5.10  </a:t>
            </a:r>
            <a:r>
              <a:rPr lang="zh-CN" altLang="en-US" sz="2400" b="1" dirty="0">
                <a:solidFill>
                  <a:srgbClr val="00B050"/>
                </a:solidFill>
              </a:rPr>
              <a:t>将某个班级</a:t>
            </a:r>
            <a:r>
              <a:rPr lang="zh-CN" altLang="en-US" sz="2400" b="1">
                <a:solidFill>
                  <a:srgbClr val="00B050"/>
                </a:solidFill>
              </a:rPr>
              <a:t>的</a:t>
            </a:r>
            <a:r>
              <a:rPr lang="zh-CN" altLang="en-US" sz="2400" b="1" smtClean="0">
                <a:solidFill>
                  <a:srgbClr val="00B050"/>
                </a:solidFill>
              </a:rPr>
              <a:t>学生</a:t>
            </a:r>
            <a:r>
              <a:rPr lang="zh-CN" altLang="en-US" sz="2400" b="1">
                <a:solidFill>
                  <a:srgbClr val="00B050"/>
                </a:solidFill>
              </a:rPr>
              <a:t>信息</a:t>
            </a:r>
            <a:r>
              <a:rPr lang="zh-CN" altLang="en-US" sz="2400" b="1" smtClean="0">
                <a:solidFill>
                  <a:srgbClr val="00B050"/>
                </a:solidFill>
              </a:rPr>
              <a:t>从</a:t>
            </a:r>
            <a:r>
              <a:rPr lang="zh-CN" altLang="en-US" sz="2400" b="1" dirty="0">
                <a:solidFill>
                  <a:srgbClr val="00B050"/>
                </a:solidFill>
              </a:rPr>
              <a:t>所有班级的数据中分拣出来。</a:t>
            </a:r>
            <a:r>
              <a:rPr lang="en-US" altLang="zh-CN" sz="2400" b="1" dirty="0">
                <a:solidFill>
                  <a:srgbClr val="00B050"/>
                </a:solidFill>
              </a:rPr>
              <a:t>  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58702" y="2565698"/>
            <a:ext cx="5802968" cy="38164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r>
              <a:rPr lang="en-US" altLang="zh-CN" sz="2000" dirty="0" err="1"/>
              <a:t>studentList</a:t>
            </a:r>
            <a:r>
              <a:rPr lang="en-US" altLang="zh-CN" sz="2000" dirty="0"/>
              <a:t>=[]</a:t>
            </a:r>
          </a:p>
          <a:p>
            <a:r>
              <a:rPr lang="en-US" altLang="zh-CN" sz="2000" dirty="0" err="1"/>
              <a:t>studentList.append</a:t>
            </a:r>
            <a:r>
              <a:rPr lang="en-US" altLang="zh-CN" sz="2000" dirty="0"/>
              <a:t>(('120001','</a:t>
            </a:r>
            <a:r>
              <a:rPr lang="zh-CN" altLang="en-US" sz="2000" dirty="0"/>
              <a:t>许封</a:t>
            </a:r>
            <a:r>
              <a:rPr lang="en-US" altLang="zh-CN" sz="2000" dirty="0"/>
              <a:t>',65,84,61))</a:t>
            </a:r>
          </a:p>
          <a:p>
            <a:r>
              <a:rPr lang="en-US" altLang="zh-CN" sz="2000" dirty="0" err="1"/>
              <a:t>studentList.append</a:t>
            </a:r>
            <a:r>
              <a:rPr lang="en-US" altLang="zh-CN" sz="2000" dirty="0"/>
              <a:t>(('120002','</a:t>
            </a:r>
            <a:r>
              <a:rPr lang="zh-CN" altLang="en-US" sz="2000" dirty="0"/>
              <a:t>周杰</a:t>
            </a:r>
            <a:r>
              <a:rPr lang="en-US" altLang="zh-CN" sz="2000" dirty="0"/>
              <a:t>',76,65,71))</a:t>
            </a:r>
          </a:p>
          <a:p>
            <a:r>
              <a:rPr lang="en-US" altLang="zh-CN" sz="2000" dirty="0" err="1"/>
              <a:t>studentList.append</a:t>
            </a:r>
            <a:r>
              <a:rPr lang="en-US" altLang="zh-CN" sz="2000" dirty="0"/>
              <a:t>(('120003','</a:t>
            </a:r>
            <a:r>
              <a:rPr lang="zh-CN" altLang="en-US" sz="2000" dirty="0"/>
              <a:t>李娜</a:t>
            </a:r>
            <a:r>
              <a:rPr lang="en-US" altLang="zh-CN" sz="2000" dirty="0"/>
              <a:t>',87,86,77))</a:t>
            </a:r>
          </a:p>
          <a:p>
            <a:r>
              <a:rPr lang="en-US" altLang="zh-CN" sz="2000" dirty="0" err="1"/>
              <a:t>studentList.append</a:t>
            </a:r>
            <a:r>
              <a:rPr lang="en-US" altLang="zh-CN" sz="2000" dirty="0"/>
              <a:t>(('120004','</a:t>
            </a:r>
            <a:r>
              <a:rPr lang="zh-CN" altLang="en-US" sz="2000" dirty="0"/>
              <a:t>江红雁</a:t>
            </a:r>
            <a:r>
              <a:rPr lang="en-US" altLang="zh-CN" sz="2000" dirty="0"/>
              <a:t>',95,76,91))</a:t>
            </a:r>
          </a:p>
          <a:p>
            <a:r>
              <a:rPr lang="en-US" altLang="zh-CN" sz="2000" dirty="0"/>
              <a:t>C=['120002','120004']</a:t>
            </a:r>
          </a:p>
          <a:p>
            <a:r>
              <a:rPr lang="en-US" altLang="zh-CN" sz="2000" dirty="0"/>
              <a:t>R=[</a:t>
            </a:r>
            <a:r>
              <a:rPr lang="en-US" altLang="zh-CN" sz="2000" dirty="0" err="1"/>
              <a:t>stu</a:t>
            </a:r>
            <a:r>
              <a:rPr lang="en-US" altLang="zh-CN" sz="2000" dirty="0"/>
              <a:t> for </a:t>
            </a:r>
            <a:r>
              <a:rPr lang="en-US" altLang="zh-CN" sz="2000" dirty="0" err="1"/>
              <a:t>stu</a:t>
            </a:r>
            <a:r>
              <a:rPr lang="en-US" altLang="zh-CN" sz="2000" dirty="0"/>
              <a:t> in </a:t>
            </a:r>
            <a:r>
              <a:rPr lang="en-US" altLang="zh-CN" sz="2000" dirty="0" err="1"/>
              <a:t>studentList</a:t>
            </a:r>
            <a:r>
              <a:rPr lang="en-US" altLang="zh-CN" sz="2000" dirty="0"/>
              <a:t> if </a:t>
            </a:r>
            <a:r>
              <a:rPr lang="en-US" altLang="zh-CN" sz="2000" dirty="0" err="1"/>
              <a:t>stu</a:t>
            </a:r>
            <a:r>
              <a:rPr lang="en-US" altLang="zh-CN" sz="2000" dirty="0"/>
              <a:t>[0] in C]</a:t>
            </a:r>
          </a:p>
          <a:p>
            <a:r>
              <a:rPr lang="en-US" altLang="zh-CN" sz="2000" dirty="0"/>
              <a:t>for </a:t>
            </a:r>
            <a:r>
              <a:rPr lang="en-US" altLang="zh-CN" sz="2000" dirty="0" err="1"/>
              <a:t>stu</a:t>
            </a:r>
            <a:r>
              <a:rPr lang="en-US" altLang="zh-CN" sz="2000" dirty="0"/>
              <a:t> in R:   #</a:t>
            </a:r>
            <a:r>
              <a:rPr lang="zh-CN" altLang="en-US" sz="2000" dirty="0"/>
              <a:t>双重循环输出子表内容</a:t>
            </a:r>
            <a:endParaRPr lang="en-US" altLang="zh-CN" sz="2000" dirty="0"/>
          </a:p>
          <a:p>
            <a:r>
              <a:rPr lang="en-US" altLang="zh-CN" sz="2000" dirty="0"/>
              <a:t>    for item in </a:t>
            </a:r>
            <a:r>
              <a:rPr lang="en-US" altLang="zh-CN" sz="2000" dirty="0" err="1"/>
              <a:t>stu</a:t>
            </a:r>
            <a:r>
              <a:rPr lang="en-US" altLang="zh-CN" sz="2000" dirty="0"/>
              <a:t>:</a:t>
            </a:r>
          </a:p>
          <a:p>
            <a:r>
              <a:rPr lang="en-US" altLang="zh-CN" sz="2000" dirty="0"/>
              <a:t>        print(item ,end="\t")</a:t>
            </a:r>
          </a:p>
          <a:p>
            <a:r>
              <a:rPr lang="en-US" altLang="zh-CN" sz="2000" dirty="0"/>
              <a:t>    print</a:t>
            </a:r>
            <a:r>
              <a:rPr lang="en-US" altLang="zh-CN" sz="2000" dirty="0" smtClean="0"/>
              <a:t>()</a:t>
            </a:r>
          </a:p>
          <a:p>
            <a:endParaRPr lang="zh-CN" alt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974" y="5734050"/>
            <a:ext cx="30099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793672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982966" y="405485"/>
            <a:ext cx="7771388" cy="63747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sz="3200" dirty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矩阵相乘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/>
              <p:cNvSpPr txBox="1">
                <a:spLocks/>
              </p:cNvSpPr>
              <p:nvPr/>
            </p:nvSpPr>
            <p:spPr bwMode="auto">
              <a:xfrm>
                <a:off x="767308" y="1125004"/>
                <a:ext cx="10655797" cy="307305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vert="horz" wrap="square" lIns="91438" tIns="45719" rIns="91438" bIns="45719" numCol="1" anchor="t" anchorCtr="0" compatLnSpc="1">
                <a:prstTxWarp prst="textNoShape">
                  <a:avLst/>
                </a:prstTxWarp>
              </a:bodyPr>
              <a:lstStyle>
                <a:lvl1pPr marL="411163" indent="-342900" algn="l" rtl="0" eaLnBrk="0" fontAlgn="base" hangingPunct="0">
                  <a:spcBef>
                    <a:spcPts val="7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itchFamily="2" charset="2"/>
                  <a:buChar char=""/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39775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itchFamily="2" charset="2"/>
                  <a:buChar char="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95363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itchFamily="18" charset="2"/>
                  <a:buChar char="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6047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EB80A"/>
                  </a:buClr>
                  <a:buFont typeface="Wingdings 3" pitchFamily="18" charset="2"/>
                  <a:buChar char="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81138" indent="-2095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EB80A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09928" indent="-210312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01952" indent="-18288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93976" indent="-18288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91015" indent="0" algn="just" eaLnBrk="1" hangingPunct="1">
                  <a:buNone/>
                </a:pPr>
                <a:r>
                  <a:rPr lang="zh-CN" altLang="en-US" sz="2400" dirty="0"/>
                  <a:t>分析：</a:t>
                </a:r>
                <a:endParaRPr lang="en-US" altLang="zh-CN" sz="2400" dirty="0"/>
              </a:p>
              <a:p>
                <a:pPr algn="just" eaLnBrk="1" hangingPunct="1">
                  <a:buFont typeface="Wingdings" panose="05000000000000000000" pitchFamily="2" charset="2"/>
                  <a:buChar char="u"/>
                </a:pPr>
                <a:r>
                  <a:rPr lang="en-US" altLang="zh-CN" sz="2400" dirty="0"/>
                  <a:t>2</a:t>
                </a:r>
                <a:r>
                  <a:rPr lang="zh-CN" altLang="en-US" sz="2400" dirty="0"/>
                  <a:t>个矩阵相乘，左矩阵的列数等于右矩阵的行数</a:t>
                </a:r>
                <a:endParaRPr lang="en-US" altLang="zh-CN" sz="2400" dirty="0"/>
              </a:p>
              <a:p>
                <a:pPr algn="just" eaLnBrk="1" hangingPunct="1">
                  <a:buFont typeface="Wingdings" panose="05000000000000000000" pitchFamily="2" charset="2"/>
                  <a:buChar char="u"/>
                </a:pPr>
                <a:r>
                  <a:rPr lang="zh-CN" altLang="en-US" sz="2400" dirty="0"/>
                  <a:t>结果矩阵，行数等于左的行数，列数等于右矩阵列数</a:t>
                </a:r>
                <a:endParaRPr lang="en-US" altLang="zh-CN" sz="2400" dirty="0"/>
              </a:p>
              <a:p>
                <a:pPr algn="just" eaLnBrk="1" hangingPunct="1">
                  <a:buFont typeface="Wingdings" panose="05000000000000000000" pitchFamily="2" charset="2"/>
                  <a:buChar char="u"/>
                </a:pPr>
                <a:r>
                  <a:rPr lang="zh-CN" altLang="en-US" sz="2400" dirty="0"/>
                  <a:t>结果矩阵的第</a:t>
                </a:r>
                <a:r>
                  <a:rPr lang="en-US" altLang="zh-CN" sz="2400" dirty="0" err="1"/>
                  <a:t>i</a:t>
                </a:r>
                <a:r>
                  <a:rPr lang="zh-CN" altLang="en-US" sz="2400" dirty="0"/>
                  <a:t>行</a:t>
                </a:r>
                <a:r>
                  <a:rPr lang="en-US" altLang="zh-CN" sz="2400" dirty="0"/>
                  <a:t>j</a:t>
                </a:r>
                <a:r>
                  <a:rPr lang="zh-CN" altLang="en-US" sz="2400" dirty="0"/>
                  <a:t>列的元素，是左矩阵的第</a:t>
                </a:r>
                <a:r>
                  <a:rPr lang="en-US" altLang="zh-CN" sz="2400" dirty="0" err="1"/>
                  <a:t>i</a:t>
                </a:r>
                <a:r>
                  <a:rPr lang="zh-CN" altLang="en-US" sz="2400" dirty="0"/>
                  <a:t>行和右矩阵第</a:t>
                </a:r>
                <a:r>
                  <a:rPr lang="en-US" altLang="zh-CN" sz="2400" dirty="0"/>
                  <a:t>j</a:t>
                </a:r>
                <a:r>
                  <a:rPr lang="zh-CN" altLang="en-US" sz="2400" dirty="0"/>
                  <a:t>列，对应元素相乘的累加和</a:t>
                </a:r>
                <a:endParaRPr lang="en-US" altLang="zh-CN" sz="2400" dirty="0"/>
              </a:p>
              <a:p>
                <a:pPr marL="449251" indent="-380990" algn="just" eaLnBrk="1" hangingPunct="1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556" y="843558"/>
                <a:ext cx="7992888" cy="2304256"/>
              </a:xfrm>
              <a:prstGeom prst="rect">
                <a:avLst/>
              </a:prstGeom>
              <a:blipFill>
                <a:blip r:embed="rId2"/>
                <a:stretch>
                  <a:fillRect t="-1579" r="-837" b="-20263"/>
                </a:stretch>
              </a:blipFill>
              <a:ln>
                <a:solidFill>
                  <a:schemeClr val="accent1"/>
                </a:solidFill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内容占位符 2"/>
          <p:cNvSpPr txBox="1">
            <a:spLocks/>
          </p:cNvSpPr>
          <p:nvPr/>
        </p:nvSpPr>
        <p:spPr bwMode="auto">
          <a:xfrm>
            <a:off x="2279279" y="4736259"/>
            <a:ext cx="1655968" cy="108037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1" indent="0" algn="just" eaLnBrk="1" hangingPunct="1">
              <a:buNone/>
            </a:pPr>
            <a:r>
              <a:rPr lang="en-US" altLang="zh-CN" sz="2400" dirty="0"/>
              <a:t>1    3    4  </a:t>
            </a:r>
          </a:p>
          <a:p>
            <a:pPr marL="68261" indent="0" algn="just" eaLnBrk="1" hangingPunct="1">
              <a:buNone/>
            </a:pPr>
            <a:r>
              <a:rPr lang="en-US" altLang="zh-CN" sz="2400" dirty="0"/>
              <a:t>5    1    0  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4889230" y="4584127"/>
            <a:ext cx="1655968" cy="13730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1" indent="0" algn="just" eaLnBrk="1" hangingPunct="1">
              <a:buNone/>
            </a:pPr>
            <a:r>
              <a:rPr lang="en-US" altLang="zh-CN" sz="2400" dirty="0"/>
              <a:t>3    1   5  </a:t>
            </a:r>
          </a:p>
          <a:p>
            <a:pPr marL="68261" indent="0" algn="just" eaLnBrk="1" hangingPunct="1">
              <a:buNone/>
            </a:pPr>
            <a:r>
              <a:rPr lang="en-US" altLang="zh-CN" sz="2400" dirty="0"/>
              <a:t>7    0   2</a:t>
            </a:r>
          </a:p>
          <a:p>
            <a:pPr marL="68261" indent="0" algn="just" eaLnBrk="1" hangingPunct="1">
              <a:buNone/>
            </a:pPr>
            <a:r>
              <a:rPr lang="en-US" altLang="zh-CN" sz="2400" dirty="0"/>
              <a:t>2    -1    3</a:t>
            </a:r>
          </a:p>
          <a:p>
            <a:pPr marL="68261" indent="0" algn="just" eaLnBrk="1" hangingPunct="1">
              <a:buNone/>
            </a:pPr>
            <a:r>
              <a:rPr lang="en-US" altLang="zh-CN" sz="2400" dirty="0"/>
              <a:t> 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743194" y="5096382"/>
            <a:ext cx="791985" cy="400105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altLang="zh-CN" dirty="0"/>
              <a:t>=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223242" y="5024358"/>
            <a:ext cx="359993" cy="400105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7247185" y="4896016"/>
            <a:ext cx="1907964" cy="89328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1" indent="0" algn="just" eaLnBrk="1" hangingPunct="1">
              <a:buNone/>
            </a:pPr>
            <a:r>
              <a:rPr lang="en-US" altLang="zh-CN" sz="2400" dirty="0"/>
              <a:t>32    -3   23  </a:t>
            </a:r>
          </a:p>
          <a:p>
            <a:pPr marL="68261" indent="0" algn="just" eaLnBrk="1" hangingPunct="1">
              <a:buNone/>
            </a:pPr>
            <a:r>
              <a:rPr lang="en-US" altLang="zh-CN" sz="2400" dirty="0"/>
              <a:t>22    5    27  </a:t>
            </a:r>
          </a:p>
        </p:txBody>
      </p:sp>
    </p:spTree>
    <p:extLst>
      <p:ext uri="{BB962C8B-B14F-4D97-AF65-F5344CB8AC3E}">
        <p14:creationId xmlns:p14="http://schemas.microsoft.com/office/powerpoint/2010/main" val="750474250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431315" y="548807"/>
            <a:ext cx="7771388" cy="64822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3200" dirty="0" smtClean="0">
                <a:latin typeface="黑体" pitchFamily="49" charset="-122"/>
                <a:ea typeface="黑体" pitchFamily="49" charset="-122"/>
              </a:rPr>
              <a:t>5.11 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矩阵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相乘</a:t>
            </a:r>
            <a:r>
              <a:rPr lang="en-US" altLang="zh-CN" sz="3200" dirty="0" smtClean="0">
                <a:latin typeface="黑体" pitchFamily="49" charset="-122"/>
                <a:ea typeface="黑体" pitchFamily="49" charset="-122"/>
              </a:rPr>
              <a:t>,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格式化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输出</a:t>
            </a:r>
          </a:p>
        </p:txBody>
      </p:sp>
      <p:sp>
        <p:nvSpPr>
          <p:cNvPr id="2" name="矩形 1"/>
          <p:cNvSpPr/>
          <p:nvPr/>
        </p:nvSpPr>
        <p:spPr>
          <a:xfrm>
            <a:off x="431315" y="1413104"/>
            <a:ext cx="5375859" cy="481413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pPr marL="68263" algn="just" eaLnBrk="1" hangingPunct="1"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zh-CN" altLang="en-US" sz="2400" dirty="0">
                <a:solidFill>
                  <a:schemeClr val="tx1"/>
                </a:solidFill>
              </a:rPr>
              <a:t>分析 ：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411163" indent="-342900" algn="just" eaLnBrk="1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Char char="u"/>
            </a:pPr>
            <a:r>
              <a:rPr lang="en-US" altLang="zh-CN" sz="2400" dirty="0">
                <a:solidFill>
                  <a:schemeClr val="tx1"/>
                </a:solidFill>
              </a:rPr>
              <a:t>  </a:t>
            </a:r>
            <a:r>
              <a:rPr lang="zh-CN" altLang="en-US" sz="2400" dirty="0">
                <a:solidFill>
                  <a:schemeClr val="tx1"/>
                </a:solidFill>
              </a:rPr>
              <a:t>怎么求</a:t>
            </a:r>
            <a:r>
              <a:rPr lang="en-US" altLang="zh-CN" sz="2400" dirty="0">
                <a:solidFill>
                  <a:schemeClr val="tx1"/>
                </a:solidFill>
              </a:rPr>
              <a:t>C</a:t>
            </a:r>
            <a:r>
              <a:rPr lang="zh-CN" altLang="en-US" sz="2400" dirty="0">
                <a:solidFill>
                  <a:schemeClr val="tx1"/>
                </a:solidFill>
              </a:rPr>
              <a:t>矩阵</a:t>
            </a:r>
            <a:r>
              <a:rPr lang="zh-CN" altLang="en-US" sz="2400" dirty="0" smtClean="0">
                <a:solidFill>
                  <a:schemeClr val="tx1"/>
                </a:solidFill>
              </a:rPr>
              <a:t>？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68263" algn="just" eaLnBrk="1" hangingPunct="1"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zh-CN" altLang="en-US" sz="2400" b="1" dirty="0" smtClean="0">
                <a:solidFill>
                  <a:srgbClr val="0070C0"/>
                </a:solidFill>
              </a:rPr>
              <a:t>    遍历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C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矩阵的行，逐行求解</a:t>
            </a:r>
            <a:endParaRPr lang="en-US" altLang="zh-CN" sz="2400" b="1" dirty="0" smtClean="0">
              <a:solidFill>
                <a:srgbClr val="0070C0"/>
              </a:solidFill>
            </a:endParaRPr>
          </a:p>
          <a:p>
            <a:pPr marL="1020748" lvl="1" indent="-342900" algn="just" eaLnBrk="1" hangingPunct="1">
              <a:spcBef>
                <a:spcPts val="700"/>
              </a:spcBef>
              <a:buClr>
                <a:schemeClr val="tx2"/>
              </a:buClr>
              <a:buSzPct val="95000"/>
              <a:buFont typeface="Arial" pitchFamily="34" charset="0"/>
              <a:buChar char="•"/>
            </a:pPr>
            <a:r>
              <a:rPr lang="en-US" altLang="zh-CN" sz="2400" dirty="0" smtClean="0">
                <a:solidFill>
                  <a:schemeClr val="tx1"/>
                </a:solidFill>
              </a:rPr>
              <a:t>C</a:t>
            </a:r>
            <a:r>
              <a:rPr lang="zh-CN" altLang="en-US" sz="2400" dirty="0" smtClean="0">
                <a:solidFill>
                  <a:schemeClr val="tx1"/>
                </a:solidFill>
              </a:rPr>
              <a:t>的</a:t>
            </a:r>
            <a:r>
              <a:rPr lang="en-US" altLang="zh-CN" sz="2400" dirty="0" smtClean="0">
                <a:solidFill>
                  <a:schemeClr val="tx1"/>
                </a:solidFill>
              </a:rPr>
              <a:t>i</a:t>
            </a:r>
            <a:r>
              <a:rPr lang="zh-CN" altLang="en-US" sz="2400" dirty="0" smtClean="0">
                <a:solidFill>
                  <a:schemeClr val="tx1"/>
                </a:solidFill>
              </a:rPr>
              <a:t>行放在一个列表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oneRow</a:t>
            </a:r>
            <a:r>
              <a:rPr lang="zh-CN" altLang="en-US" sz="2400" dirty="0" smtClean="0">
                <a:solidFill>
                  <a:schemeClr val="tx1"/>
                </a:solidFill>
              </a:rPr>
              <a:t>中，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1020748" lvl="1" indent="-342900" algn="just" eaLnBrk="1" hangingPunct="1">
              <a:spcBef>
                <a:spcPts val="700"/>
              </a:spcBef>
              <a:buClr>
                <a:schemeClr val="tx2"/>
              </a:buClr>
              <a:buSzPct val="95000"/>
              <a:buFont typeface="Arial" pitchFamily="34" charset="0"/>
              <a:buChar char="•"/>
            </a:pPr>
            <a:r>
              <a:rPr lang="en-US" altLang="zh-CN" sz="2400" dirty="0" err="1" smtClean="0">
                <a:solidFill>
                  <a:schemeClr val="tx1"/>
                </a:solidFill>
              </a:rPr>
              <a:t>oneRow</a:t>
            </a:r>
            <a:r>
              <a:rPr lang="zh-CN" altLang="en-US" sz="2400" dirty="0" smtClean="0">
                <a:solidFill>
                  <a:schemeClr val="tx1"/>
                </a:solidFill>
              </a:rPr>
              <a:t>中的全部元素</a:t>
            </a:r>
            <a:r>
              <a:rPr lang="zh-CN" altLang="en-US" sz="2400" dirty="0">
                <a:solidFill>
                  <a:schemeClr val="tx1"/>
                </a:solidFill>
              </a:rPr>
              <a:t>初始化</a:t>
            </a:r>
            <a:r>
              <a:rPr lang="zh-CN" altLang="en-US" sz="2400" dirty="0" smtClean="0">
                <a:solidFill>
                  <a:schemeClr val="tx1"/>
                </a:solidFill>
              </a:rPr>
              <a:t>为</a:t>
            </a:r>
            <a:r>
              <a:rPr lang="en-US" altLang="zh-CN" sz="2400" dirty="0" smtClean="0">
                <a:solidFill>
                  <a:schemeClr val="tx1"/>
                </a:solidFill>
              </a:rPr>
              <a:t>None</a:t>
            </a:r>
          </a:p>
          <a:p>
            <a:pPr marL="1020748" lvl="1" indent="-342900" algn="just" eaLnBrk="1" hangingPunct="1">
              <a:spcBef>
                <a:spcPts val="700"/>
              </a:spcBef>
              <a:buClr>
                <a:schemeClr val="tx2"/>
              </a:buClr>
              <a:buSzPct val="95000"/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然后逐个求解该行中的每一个的元素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oneRow</a:t>
            </a:r>
            <a:r>
              <a:rPr lang="en-US" altLang="zh-CN" sz="2400" dirty="0" smtClean="0">
                <a:solidFill>
                  <a:schemeClr val="tx1"/>
                </a:solidFill>
              </a:rPr>
              <a:t>[j]</a:t>
            </a:r>
          </a:p>
          <a:p>
            <a:pPr marL="1020748" lvl="1" indent="-342900" algn="just" eaLnBrk="1" hangingPunct="1">
              <a:spcBef>
                <a:spcPts val="700"/>
              </a:spcBef>
              <a:buClr>
                <a:schemeClr val="tx2"/>
              </a:buClr>
              <a:buSzPct val="95000"/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把该行加入</a:t>
            </a:r>
            <a:r>
              <a:rPr lang="en-US" altLang="zh-CN" sz="2400" dirty="0" smtClean="0">
                <a:solidFill>
                  <a:schemeClr val="tx1"/>
                </a:solidFill>
              </a:rPr>
              <a:t>C</a:t>
            </a:r>
            <a:r>
              <a:rPr lang="zh-CN" altLang="en-US" sz="2400" dirty="0" smtClean="0">
                <a:solidFill>
                  <a:schemeClr val="tx1"/>
                </a:solidFill>
              </a:rPr>
              <a:t>矩阵中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68263" algn="just" eaLnBrk="1" hangingPunct="1">
              <a:spcBef>
                <a:spcPts val="700"/>
              </a:spcBef>
              <a:buClr>
                <a:schemeClr val="tx2"/>
              </a:buClr>
              <a:buSzPct val="95000"/>
            </a:pPr>
            <a:endParaRPr lang="en-US" altLang="zh-CN" sz="2400" dirty="0" smtClean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51190" y="1421144"/>
            <a:ext cx="5784667" cy="43242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r>
              <a:rPr lang="zh-CN" altLang="en-US" sz="2100" dirty="0"/>
              <a:t>def matDot(A,B):</a:t>
            </a:r>
          </a:p>
          <a:p>
            <a:r>
              <a:rPr lang="zh-CN" altLang="en-US" sz="2100" dirty="0"/>
              <a:t>    C=[ ]               #结果矩阵</a:t>
            </a:r>
          </a:p>
          <a:p>
            <a:r>
              <a:rPr lang="zh-CN" altLang="en-US" sz="2100" dirty="0"/>
              <a:t>    row=len(A)     # 取A矩阵的行数</a:t>
            </a:r>
          </a:p>
          <a:p>
            <a:r>
              <a:rPr lang="zh-CN" altLang="en-US" sz="2100" dirty="0"/>
              <a:t>    col=len(B[0])  # 取B矩阵的列数</a:t>
            </a:r>
          </a:p>
          <a:p>
            <a:r>
              <a:rPr lang="zh-CN" altLang="en-US" sz="2100" dirty="0"/>
              <a:t>    for i in range(row):  </a:t>
            </a:r>
            <a:r>
              <a:rPr lang="en-US" altLang="zh-CN" sz="2100" dirty="0" smtClean="0"/>
              <a:t>#</a:t>
            </a:r>
            <a:r>
              <a:rPr lang="zh-CN" altLang="en-US" sz="2100" dirty="0" smtClean="0"/>
              <a:t>逐行</a:t>
            </a:r>
            <a:r>
              <a:rPr lang="zh-CN" altLang="en-US" sz="2100" dirty="0"/>
              <a:t>求</a:t>
            </a:r>
            <a:r>
              <a:rPr lang="en-US" altLang="zh-CN" sz="2100" dirty="0"/>
              <a:t>C</a:t>
            </a:r>
            <a:r>
              <a:rPr lang="zh-CN" altLang="en-US" sz="2100" dirty="0"/>
              <a:t>矩阵</a:t>
            </a:r>
          </a:p>
          <a:p>
            <a:r>
              <a:rPr lang="zh-CN" altLang="en-US" sz="2100" dirty="0"/>
              <a:t>        oneRow=</a:t>
            </a:r>
            <a:r>
              <a:rPr lang="zh-CN" altLang="en-US" sz="2100" dirty="0">
                <a:solidFill>
                  <a:srgbClr val="FF0000"/>
                </a:solidFill>
              </a:rPr>
              <a:t>col</a:t>
            </a:r>
            <a:r>
              <a:rPr lang="zh-CN" altLang="en-US" sz="2100" dirty="0"/>
              <a:t>*[None]  # 结果矩阵的一行</a:t>
            </a:r>
          </a:p>
          <a:p>
            <a:r>
              <a:rPr lang="zh-CN" altLang="en-US" sz="2100" dirty="0"/>
              <a:t>        for j in range(col):</a:t>
            </a:r>
          </a:p>
          <a:p>
            <a:r>
              <a:rPr lang="zh-CN" altLang="en-US" sz="2100" dirty="0"/>
              <a:t>            s=0.0</a:t>
            </a:r>
          </a:p>
          <a:p>
            <a:r>
              <a:rPr lang="zh-CN" altLang="en-US" sz="2100" dirty="0"/>
              <a:t>            for k in range(len(B)):</a:t>
            </a:r>
          </a:p>
          <a:p>
            <a:r>
              <a:rPr lang="zh-CN" altLang="en-US" sz="2100" dirty="0"/>
              <a:t>                s += A[i][k]*B[k][j]</a:t>
            </a:r>
          </a:p>
          <a:p>
            <a:r>
              <a:rPr lang="zh-CN" altLang="en-US" sz="2100" dirty="0"/>
              <a:t>            oneRow[j]=s</a:t>
            </a:r>
          </a:p>
          <a:p>
            <a:r>
              <a:rPr lang="zh-CN" altLang="en-US" sz="2100" dirty="0"/>
              <a:t>        C.append(oneRow)</a:t>
            </a:r>
          </a:p>
          <a:p>
            <a:r>
              <a:rPr lang="zh-CN" altLang="en-US" sz="2100" dirty="0"/>
              <a:t>    return C</a:t>
            </a:r>
          </a:p>
        </p:txBody>
      </p:sp>
    </p:spTree>
    <p:extLst>
      <p:ext uri="{BB962C8B-B14F-4D97-AF65-F5344CB8AC3E}">
        <p14:creationId xmlns:p14="http://schemas.microsoft.com/office/powerpoint/2010/main" val="380657322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431315" y="548807"/>
            <a:ext cx="7771388" cy="64822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b" anchorCtr="0" compatLnSpc="1">
            <a:prstTxWarp prst="textNoShape">
              <a:avLst/>
            </a:prstTxWarp>
          </a:bodyPr>
          <a:lstStyle/>
          <a:p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3200" dirty="0" smtClean="0">
                <a:latin typeface="黑体" pitchFamily="49" charset="-122"/>
                <a:ea typeface="黑体" pitchFamily="49" charset="-122"/>
              </a:rPr>
              <a:t>5.11 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矩阵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相乘</a:t>
            </a:r>
            <a:r>
              <a:rPr lang="en-US" altLang="zh-CN" sz="3200" dirty="0" smtClean="0">
                <a:latin typeface="黑体" pitchFamily="49" charset="-122"/>
                <a:ea typeface="黑体" pitchFamily="49" charset="-122"/>
              </a:rPr>
              <a:t>,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格式化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输出</a:t>
            </a:r>
          </a:p>
        </p:txBody>
      </p:sp>
      <p:sp>
        <p:nvSpPr>
          <p:cNvPr id="2" name="矩形 1"/>
          <p:cNvSpPr/>
          <p:nvPr/>
        </p:nvSpPr>
        <p:spPr>
          <a:xfrm>
            <a:off x="431315" y="1413104"/>
            <a:ext cx="5663892" cy="43919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r>
              <a:rPr lang="zh-CN" altLang="en-US" sz="2100" dirty="0"/>
              <a:t>def matDot(A,B):</a:t>
            </a:r>
          </a:p>
          <a:p>
            <a:r>
              <a:rPr lang="zh-CN" altLang="en-US" sz="2100" dirty="0"/>
              <a:t>    C=[ ]               #结果矩阵</a:t>
            </a:r>
          </a:p>
          <a:p>
            <a:r>
              <a:rPr lang="zh-CN" altLang="en-US" sz="2100" dirty="0"/>
              <a:t>    row=len(A)     # 取A矩阵的行数</a:t>
            </a:r>
          </a:p>
          <a:p>
            <a:r>
              <a:rPr lang="zh-CN" altLang="en-US" sz="2100" dirty="0"/>
              <a:t>    col=len(B[0])  # 取B矩阵的列数</a:t>
            </a:r>
          </a:p>
          <a:p>
            <a:r>
              <a:rPr lang="zh-CN" altLang="en-US" sz="2100" dirty="0"/>
              <a:t>    for i in range(row)</a:t>
            </a:r>
            <a:r>
              <a:rPr lang="zh-CN" altLang="en-US" sz="2100" dirty="0" smtClean="0"/>
              <a:t>:  </a:t>
            </a:r>
            <a:r>
              <a:rPr lang="en-US" altLang="zh-CN" sz="2100" dirty="0" smtClean="0"/>
              <a:t>#</a:t>
            </a:r>
            <a:r>
              <a:rPr lang="en-US" altLang="zh-CN" sz="2100" dirty="0" err="1" smtClean="0"/>
              <a:t>zhu</a:t>
            </a:r>
            <a:r>
              <a:rPr lang="zh-CN" altLang="en-US" sz="2100" dirty="0" smtClean="0"/>
              <a:t>行求</a:t>
            </a:r>
            <a:r>
              <a:rPr lang="en-US" altLang="zh-CN" sz="2100" dirty="0" smtClean="0"/>
              <a:t>C</a:t>
            </a:r>
            <a:r>
              <a:rPr lang="zh-CN" altLang="en-US" sz="2100" dirty="0" smtClean="0"/>
              <a:t>矩阵</a:t>
            </a:r>
            <a:endParaRPr lang="zh-CN" altLang="en-US" sz="2100" dirty="0"/>
          </a:p>
          <a:p>
            <a:r>
              <a:rPr lang="zh-CN" altLang="en-US" sz="2100" dirty="0"/>
              <a:t>        oneRow=</a:t>
            </a:r>
            <a:r>
              <a:rPr lang="zh-CN" altLang="en-US" sz="2100" dirty="0">
                <a:solidFill>
                  <a:srgbClr val="FF0000"/>
                </a:solidFill>
              </a:rPr>
              <a:t>col</a:t>
            </a:r>
            <a:r>
              <a:rPr lang="zh-CN" altLang="en-US" sz="2100" dirty="0"/>
              <a:t>*[None]  # 结果矩阵的一行</a:t>
            </a:r>
          </a:p>
          <a:p>
            <a:r>
              <a:rPr lang="zh-CN" altLang="en-US" sz="2100" dirty="0"/>
              <a:t>        for j in range(col):</a:t>
            </a:r>
          </a:p>
          <a:p>
            <a:r>
              <a:rPr lang="zh-CN" altLang="en-US" sz="2100" dirty="0"/>
              <a:t>            s=0.0</a:t>
            </a:r>
          </a:p>
          <a:p>
            <a:r>
              <a:rPr lang="zh-CN" altLang="en-US" sz="2100" dirty="0"/>
              <a:t>            for k in range(len(B)):</a:t>
            </a:r>
          </a:p>
          <a:p>
            <a:r>
              <a:rPr lang="zh-CN" altLang="en-US" sz="2100" dirty="0"/>
              <a:t>                s += A[i][k]*B[k][j]</a:t>
            </a:r>
          </a:p>
          <a:p>
            <a:r>
              <a:rPr lang="zh-CN" altLang="en-US" sz="2100" dirty="0"/>
              <a:t>            oneRow[j]=s</a:t>
            </a:r>
          </a:p>
          <a:p>
            <a:r>
              <a:rPr lang="zh-CN" altLang="en-US" sz="2100" dirty="0"/>
              <a:t>        C.append(oneRow)</a:t>
            </a:r>
          </a:p>
          <a:p>
            <a:r>
              <a:rPr lang="zh-CN" altLang="en-US" sz="2100" dirty="0"/>
              <a:t>    return C</a:t>
            </a:r>
          </a:p>
        </p:txBody>
      </p:sp>
      <p:sp>
        <p:nvSpPr>
          <p:cNvPr id="3" name="矩形 2"/>
          <p:cNvSpPr/>
          <p:nvPr/>
        </p:nvSpPr>
        <p:spPr>
          <a:xfrm>
            <a:off x="6287203" y="1421144"/>
            <a:ext cx="5912017" cy="33547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r>
              <a:rPr lang="zh-CN" altLang="en-US" sz="2100" dirty="0"/>
              <a:t>def printMat(A):</a:t>
            </a:r>
          </a:p>
          <a:p>
            <a:r>
              <a:rPr lang="zh-CN" altLang="en-US" sz="2100" dirty="0"/>
              <a:t>    for row in A:</a:t>
            </a:r>
          </a:p>
          <a:p>
            <a:r>
              <a:rPr lang="zh-CN" altLang="en-US" sz="2100" dirty="0"/>
              <a:t>        for item in row:</a:t>
            </a:r>
          </a:p>
          <a:p>
            <a:r>
              <a:rPr lang="zh-CN" altLang="en-US" sz="2100" dirty="0"/>
              <a:t>            print(item,'\t',end='')</a:t>
            </a:r>
          </a:p>
          <a:p>
            <a:r>
              <a:rPr lang="zh-CN" altLang="en-US" sz="2100" dirty="0"/>
              <a:t>        print()</a:t>
            </a:r>
          </a:p>
          <a:p>
            <a:endParaRPr lang="zh-CN" altLang="en-US" sz="2100" dirty="0"/>
          </a:p>
          <a:p>
            <a:r>
              <a:rPr lang="en-US" altLang="zh-CN" sz="2100" dirty="0"/>
              <a:t>A</a:t>
            </a:r>
            <a:r>
              <a:rPr lang="zh-CN" altLang="en-US" sz="2100" dirty="0" smtClean="0"/>
              <a:t>=[[</a:t>
            </a:r>
            <a:r>
              <a:rPr lang="zh-CN" altLang="en-US" sz="2100" dirty="0"/>
              <a:t>1,2,3],[4,5,6]]</a:t>
            </a:r>
          </a:p>
          <a:p>
            <a:r>
              <a:rPr lang="en-US" altLang="zh-CN" sz="2100" dirty="0" smtClean="0"/>
              <a:t>B</a:t>
            </a:r>
            <a:r>
              <a:rPr lang="zh-CN" altLang="en-US" sz="2100" dirty="0" smtClean="0"/>
              <a:t>=[[</a:t>
            </a:r>
            <a:r>
              <a:rPr lang="en-US" altLang="zh-CN" sz="2100" dirty="0" smtClean="0"/>
              <a:t>3</a:t>
            </a:r>
            <a:r>
              <a:rPr lang="zh-CN" altLang="en-US" sz="2100" dirty="0" smtClean="0"/>
              <a:t>,</a:t>
            </a:r>
            <a:r>
              <a:rPr lang="en-US" altLang="zh-CN" sz="2100" dirty="0" smtClean="0"/>
              <a:t>1</a:t>
            </a:r>
            <a:r>
              <a:rPr lang="zh-CN" altLang="en-US" sz="2100" dirty="0" smtClean="0"/>
              <a:t>,</a:t>
            </a:r>
            <a:r>
              <a:rPr lang="en-US" altLang="zh-CN" sz="2100" dirty="0" smtClean="0"/>
              <a:t>5</a:t>
            </a:r>
            <a:r>
              <a:rPr lang="zh-CN" altLang="en-US" sz="2100" dirty="0" smtClean="0"/>
              <a:t>],[</a:t>
            </a:r>
            <a:r>
              <a:rPr lang="en-US" altLang="zh-CN" sz="2100" dirty="0" smtClean="0"/>
              <a:t>7</a:t>
            </a:r>
            <a:r>
              <a:rPr lang="zh-CN" altLang="en-US" sz="2100" dirty="0" smtClean="0"/>
              <a:t>,</a:t>
            </a:r>
            <a:r>
              <a:rPr lang="en-US" altLang="zh-CN" sz="2100" dirty="0" smtClean="0"/>
              <a:t>0</a:t>
            </a:r>
            <a:r>
              <a:rPr lang="zh-CN" altLang="en-US" sz="2100" dirty="0" smtClean="0"/>
              <a:t>,</a:t>
            </a:r>
            <a:r>
              <a:rPr lang="en-US" altLang="zh-CN" sz="2100" dirty="0" smtClean="0"/>
              <a:t>2</a:t>
            </a:r>
            <a:r>
              <a:rPr lang="zh-CN" altLang="en-US" sz="2100" dirty="0" smtClean="0"/>
              <a:t>]</a:t>
            </a:r>
            <a:r>
              <a:rPr lang="en-US" altLang="zh-CN" sz="2100" dirty="0" smtClean="0"/>
              <a:t>,[2,1,3]</a:t>
            </a:r>
            <a:r>
              <a:rPr lang="zh-CN" altLang="en-US" sz="2100" dirty="0" smtClean="0"/>
              <a:t>]</a:t>
            </a:r>
            <a:endParaRPr lang="zh-CN" altLang="en-US" sz="2100" dirty="0"/>
          </a:p>
          <a:p>
            <a:r>
              <a:rPr lang="zh-CN" altLang="en-US" sz="2100" dirty="0"/>
              <a:t>matCoe=matDot</a:t>
            </a:r>
            <a:r>
              <a:rPr lang="zh-CN" altLang="en-US" sz="2100" dirty="0" smtClean="0"/>
              <a:t>(</a:t>
            </a:r>
            <a:r>
              <a:rPr lang="en-US" altLang="zh-CN" sz="2100" dirty="0"/>
              <a:t>A</a:t>
            </a:r>
            <a:r>
              <a:rPr lang="zh-CN" altLang="en-US" sz="2100" dirty="0" smtClean="0"/>
              <a:t>,</a:t>
            </a:r>
            <a:r>
              <a:rPr lang="en-US" altLang="zh-CN" sz="2100" dirty="0"/>
              <a:t>B</a:t>
            </a:r>
            <a:r>
              <a:rPr lang="zh-CN" altLang="en-US" sz="2100" dirty="0" smtClean="0"/>
              <a:t>)</a:t>
            </a:r>
            <a:endParaRPr lang="zh-CN" altLang="en-US" sz="2100" dirty="0"/>
          </a:p>
          <a:p>
            <a:r>
              <a:rPr lang="zh-CN" altLang="en-US" sz="2100" dirty="0"/>
              <a:t>printMat(matCoe)</a:t>
            </a:r>
          </a:p>
        </p:txBody>
      </p:sp>
    </p:spTree>
    <p:extLst>
      <p:ext uri="{BB962C8B-B14F-4D97-AF65-F5344CB8AC3E}">
        <p14:creationId xmlns:p14="http://schemas.microsoft.com/office/powerpoint/2010/main" val="237408979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623311" y="260709"/>
            <a:ext cx="7771388" cy="79227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sz="3200" dirty="0"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统计值：均值、标准差、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中位数</a:t>
            </a:r>
            <a:endParaRPr lang="zh-CN" altLang="en-US" sz="3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75312" y="1221036"/>
            <a:ext cx="11039789" cy="530510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1" indent="0" algn="just" eaLnBrk="1" hangingPunct="1"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000" b="1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5.12 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zh-CN" altLang="en-US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键盘上输入一组同学的年龄，以</a:t>
            </a:r>
            <a:r>
              <a:rPr lang="en-US" altLang="zh-CN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结束，求这组数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的中位数、均值</a:t>
            </a:r>
            <a:r>
              <a:rPr lang="zh-CN" altLang="en-US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标准差</a:t>
            </a:r>
            <a:endParaRPr lang="en-US" altLang="zh-CN" sz="2000" b="1" dirty="0" smtClean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  <a:p>
            <a:pPr marL="68261" indent="0" algn="just" eaLnBrk="1" hangingPunct="1">
              <a:lnSpc>
                <a:spcPct val="150000"/>
              </a:lnSpc>
              <a:buNone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分析：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输入的一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组年龄数据可存放于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列表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中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求中位数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首先对数据升序排序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，如果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是偶数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，中位数是中间的两个数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(data[</a:t>
            </a:r>
            <a:r>
              <a:rPr lang="zh-CN" altLang="en-US" sz="2000" dirty="0" smtClean="0"/>
              <a:t>n</a:t>
            </a:r>
            <a:r>
              <a:rPr lang="zh-CN" altLang="en-US" sz="2000" dirty="0"/>
              <a:t>//2-</a:t>
            </a:r>
            <a:r>
              <a:rPr lang="zh-CN" altLang="en-US" sz="2000" dirty="0" smtClean="0"/>
              <a:t>1</a:t>
            </a:r>
            <a:r>
              <a:rPr lang="en-US" altLang="zh-CN" sz="2000" dirty="0" smtClean="0"/>
              <a:t>]</a:t>
            </a:r>
            <a:r>
              <a:rPr lang="zh-CN" altLang="en-US" sz="2000" dirty="0" smtClean="0"/>
              <a:t>、 </a:t>
            </a:r>
            <a:r>
              <a:rPr lang="en-US" altLang="zh-CN" sz="2000" dirty="0" smtClean="0"/>
              <a:t>data[</a:t>
            </a:r>
            <a:r>
              <a:rPr lang="zh-CN" altLang="en-US" sz="2000" dirty="0" smtClean="0"/>
              <a:t>n</a:t>
            </a:r>
            <a:r>
              <a:rPr lang="zh-CN" altLang="en-US" sz="2000" dirty="0"/>
              <a:t>//</a:t>
            </a:r>
            <a:r>
              <a:rPr lang="zh-CN" altLang="en-US" sz="2000" dirty="0" smtClean="0"/>
              <a:t>2</a:t>
            </a:r>
            <a:r>
              <a:rPr lang="en-US" altLang="zh-CN" sz="2000" dirty="0" smtClean="0"/>
              <a:t>])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均值，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否则中位数就是中间位置的数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data[n//2]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均值可用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sum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len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函数求解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标准差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4268D7-5001-6CAA-87C5-F19356833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590" y="4653930"/>
            <a:ext cx="2600104" cy="112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65447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623311" y="260709"/>
            <a:ext cx="7771388" cy="79227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sz="3200" dirty="0"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统计值：均值、标准差、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中位数</a:t>
            </a:r>
            <a:endParaRPr lang="zh-CN" altLang="en-US" sz="3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75312" y="1221036"/>
            <a:ext cx="11039789" cy="530510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1" indent="0" algn="just" eaLnBrk="1" hangingPunct="1"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000" b="1" dirty="0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5.12 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zh-CN" altLang="en-US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键盘上输入一组同学的年龄，以</a:t>
            </a:r>
            <a:r>
              <a:rPr lang="en-US" altLang="zh-CN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结束，求这组数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的中位数、均值</a:t>
            </a:r>
            <a:r>
              <a:rPr lang="zh-CN" altLang="en-US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000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标准差</a:t>
            </a:r>
            <a:endParaRPr lang="en-US" altLang="zh-CN" sz="2000" b="1" dirty="0" smtClean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  <a:p>
            <a:pPr marL="68261" indent="0" algn="just" eaLnBrk="1" hangingPunct="1">
              <a:lnSpc>
                <a:spcPct val="150000"/>
              </a:lnSpc>
              <a:buNone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：采用模块化程序设计方法，分别用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函数实现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个功能模块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获取数据：函数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名 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getNumbers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；返回输入的数据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列表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1257278" lvl="2" indent="-342900" algn="just" eaLnBrk="1" hangingPunct="1">
              <a:lnSpc>
                <a:spcPct val="150000"/>
              </a:lnSpc>
              <a:spcBef>
                <a:spcPts val="133"/>
              </a:spcBef>
              <a:spcAft>
                <a:spcPts val="800"/>
              </a:spcAft>
              <a:buClr>
                <a:srgbClr val="00B050"/>
              </a:buClr>
              <a:buFont typeface="Arial" pitchFamily="34" charset="0"/>
              <a:buChar char="•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可以用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循环完成数据的输入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1257278" lvl="2" indent="-342900" algn="just" eaLnBrk="1" hangingPunct="1">
              <a:lnSpc>
                <a:spcPct val="150000"/>
              </a:lnSpc>
              <a:spcBef>
                <a:spcPts val="133"/>
              </a:spcBef>
              <a:spcAft>
                <a:spcPts val="800"/>
              </a:spcAft>
              <a:buClr>
                <a:srgbClr val="00B050"/>
              </a:buClr>
              <a:buFont typeface="Arial" pitchFamily="34" charset="0"/>
              <a:buChar char="•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每输入一个数，就用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append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追加到列表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中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求中位数：函数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getMed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，给定列表，返回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中位数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求均值：函数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getMean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给定列表，返回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均值。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求标准差 ：函数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</a:rPr>
              <a:t>getDev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,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给定列表，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返回标准差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887390" lvl="1" algn="just" eaLnBrk="1" hangingPunct="1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884452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05304" y="693490"/>
            <a:ext cx="5401870" cy="507830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r>
              <a:rPr lang="zh-CN" altLang="en-US" dirty="0"/>
              <a:t>import math</a:t>
            </a:r>
          </a:p>
          <a:p>
            <a:r>
              <a:rPr lang="zh-CN" altLang="en-US" dirty="0"/>
              <a:t>def getNumbers(data):         #data是一个空列表</a:t>
            </a:r>
          </a:p>
          <a:p>
            <a:r>
              <a:rPr lang="zh-CN" altLang="en-US" dirty="0"/>
              <a:t>    while True:</a:t>
            </a:r>
          </a:p>
          <a:p>
            <a:r>
              <a:rPr lang="zh-CN" altLang="en-US" dirty="0"/>
              <a:t>        x=eval(input("请输入数据，输入-1时结束："))</a:t>
            </a:r>
          </a:p>
          <a:p>
            <a:r>
              <a:rPr lang="zh-CN" altLang="en-US" dirty="0"/>
              <a:t>        if x==-1:</a:t>
            </a:r>
          </a:p>
          <a:p>
            <a:r>
              <a:rPr lang="zh-CN" altLang="en-US" dirty="0"/>
              <a:t>            break</a:t>
            </a:r>
          </a:p>
          <a:p>
            <a:r>
              <a:rPr lang="zh-CN" altLang="en-US" dirty="0"/>
              <a:t>        else:</a:t>
            </a:r>
          </a:p>
          <a:p>
            <a:r>
              <a:rPr lang="zh-CN" altLang="en-US" dirty="0"/>
              <a:t>            data.append(x)</a:t>
            </a:r>
          </a:p>
          <a:p>
            <a:r>
              <a:rPr lang="zh-CN" altLang="en-US" dirty="0" smtClean="0"/>
              <a:t>    </a:t>
            </a:r>
            <a:r>
              <a:rPr lang="zh-CN" altLang="en-US" dirty="0" smtClean="0">
                <a:solidFill>
                  <a:srgbClr val="FF0000"/>
                </a:solidFill>
              </a:rPr>
              <a:t>return data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r>
              <a:rPr lang="zh-CN" altLang="en-US" dirty="0"/>
              <a:t>def getMed(num):</a:t>
            </a:r>
          </a:p>
          <a:p>
            <a:r>
              <a:rPr lang="zh-CN" altLang="en-US" dirty="0"/>
              <a:t>    num.sort()             </a:t>
            </a:r>
            <a:r>
              <a:rPr lang="zh-CN" altLang="en-US" dirty="0" smtClean="0"/>
              <a:t>#</a:t>
            </a:r>
            <a:r>
              <a:rPr lang="zh-CN" altLang="en-US" dirty="0"/>
              <a:t>必须先排序，再找中间的数</a:t>
            </a:r>
          </a:p>
          <a:p>
            <a:r>
              <a:rPr lang="zh-CN" altLang="en-US" dirty="0"/>
              <a:t>    n=len(num)</a:t>
            </a:r>
          </a:p>
          <a:p>
            <a:r>
              <a:rPr lang="zh-CN" altLang="en-US" dirty="0"/>
              <a:t>    if n%2==1</a:t>
            </a:r>
            <a:r>
              <a:rPr lang="zh-CN" altLang="en-US" dirty="0" smtClean="0"/>
              <a:t>:      #</a:t>
            </a:r>
            <a:r>
              <a:rPr lang="zh-CN" altLang="en-US" dirty="0"/>
              <a:t>奇数个数直接返回中间那</a:t>
            </a:r>
            <a:r>
              <a:rPr lang="zh-CN" altLang="en-US" dirty="0" smtClean="0"/>
              <a:t>个数</a:t>
            </a:r>
            <a:endParaRPr lang="zh-CN" altLang="en-US" dirty="0"/>
          </a:p>
          <a:p>
            <a:r>
              <a:rPr lang="zh-CN" altLang="en-US" dirty="0"/>
              <a:t>        return(num[</a:t>
            </a:r>
            <a:r>
              <a:rPr lang="zh-CN" altLang="en-US" dirty="0">
                <a:solidFill>
                  <a:srgbClr val="FF0000"/>
                </a:solidFill>
              </a:rPr>
              <a:t>n//</a:t>
            </a:r>
            <a:r>
              <a:rPr lang="zh-CN" altLang="en-US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])</a:t>
            </a:r>
          </a:p>
          <a:p>
            <a:r>
              <a:rPr lang="zh-CN" altLang="en-US" dirty="0" smtClean="0"/>
              <a:t>    </a:t>
            </a:r>
            <a:r>
              <a:rPr lang="zh-CN" altLang="en-US" dirty="0"/>
              <a:t>else</a:t>
            </a:r>
            <a:r>
              <a:rPr lang="zh-CN" altLang="en-US" dirty="0" smtClean="0"/>
              <a:t>:                #</a:t>
            </a:r>
            <a:r>
              <a:rPr lang="zh-CN" altLang="en-US" dirty="0"/>
              <a:t>偶数个时返回中间两个数的</a:t>
            </a:r>
            <a:r>
              <a:rPr lang="zh-CN" altLang="en-US" dirty="0" smtClean="0"/>
              <a:t>均值</a:t>
            </a:r>
            <a:endParaRPr lang="zh-CN" altLang="en-US" dirty="0"/>
          </a:p>
          <a:p>
            <a:r>
              <a:rPr lang="zh-CN" altLang="en-US" dirty="0"/>
              <a:t>        return((num[n//2-1]+num[n//2])/2</a:t>
            </a:r>
            <a:r>
              <a:rPr lang="zh-CN" altLang="en-US" sz="1600" dirty="0"/>
              <a:t>)    </a:t>
            </a:r>
            <a:endParaRPr lang="en-US" altLang="zh-CN" sz="1600" dirty="0"/>
          </a:p>
          <a:p>
            <a:r>
              <a:rPr lang="en-US" altLang="zh-CN" sz="1600" dirty="0"/>
              <a:t>               </a:t>
            </a:r>
            <a:r>
              <a:rPr lang="zh-CN" altLang="en-US" sz="1600" dirty="0" smtClean="0"/>
              <a:t> </a:t>
            </a:r>
            <a:endParaRPr lang="zh-CN" altLang="en-US" sz="1600" dirty="0"/>
          </a:p>
        </p:txBody>
      </p:sp>
      <p:sp>
        <p:nvSpPr>
          <p:cNvPr id="5" name="矩形 4"/>
          <p:cNvSpPr/>
          <p:nvPr/>
        </p:nvSpPr>
        <p:spPr>
          <a:xfrm>
            <a:off x="5951190" y="765498"/>
            <a:ext cx="5783805" cy="52475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r>
              <a:rPr lang="zh-CN" altLang="en-US" sz="2000" dirty="0"/>
              <a:t>def getMean(num):</a:t>
            </a:r>
          </a:p>
          <a:p>
            <a:r>
              <a:rPr lang="zh-CN" altLang="en-US" sz="2000" dirty="0"/>
              <a:t>    return sum(num)/len(num)</a:t>
            </a:r>
          </a:p>
          <a:p>
            <a:endParaRPr lang="zh-CN" altLang="en-US" sz="2000" dirty="0"/>
          </a:p>
          <a:p>
            <a:r>
              <a:rPr lang="zh-CN" altLang="en-US" sz="2000" dirty="0"/>
              <a:t>def getDev(num):</a:t>
            </a:r>
          </a:p>
          <a:p>
            <a:r>
              <a:rPr lang="zh-CN" altLang="en-US" sz="2000" dirty="0"/>
              <a:t>    av=getMean(num)</a:t>
            </a:r>
          </a:p>
          <a:p>
            <a:r>
              <a:rPr lang="zh-CN" altLang="en-US" sz="2000" dirty="0"/>
              <a:t>    s=0</a:t>
            </a:r>
          </a:p>
          <a:p>
            <a:r>
              <a:rPr lang="zh-CN" altLang="en-US" sz="2000" dirty="0"/>
              <a:t>    for x in num:</a:t>
            </a:r>
          </a:p>
          <a:p>
            <a:r>
              <a:rPr lang="zh-CN" altLang="en-US" sz="2000" dirty="0"/>
              <a:t>        s += (x-av)**2</a:t>
            </a:r>
          </a:p>
          <a:p>
            <a:r>
              <a:rPr lang="zh-CN" altLang="en-US" sz="2000" dirty="0"/>
              <a:t>    return math.sqrt(s/(len(num)-1</a:t>
            </a:r>
            <a:r>
              <a:rPr lang="zh-CN" altLang="en-US" sz="2000" dirty="0" smtClean="0"/>
              <a:t>))</a:t>
            </a:r>
            <a:endParaRPr lang="en-US" altLang="zh-CN" sz="2000" dirty="0" smtClean="0"/>
          </a:p>
          <a:p>
            <a:endParaRPr lang="zh-CN" altLang="en-US" sz="2000" dirty="0"/>
          </a:p>
          <a:p>
            <a:r>
              <a:rPr lang="zh-CN" altLang="en-US" sz="1900" dirty="0" smtClean="0">
                <a:solidFill>
                  <a:srgbClr val="C00000"/>
                </a:solidFill>
              </a:rPr>
              <a:t>if </a:t>
            </a:r>
            <a:r>
              <a:rPr lang="zh-CN" altLang="en-US" sz="1900" dirty="0">
                <a:solidFill>
                  <a:srgbClr val="C00000"/>
                </a:solidFill>
              </a:rPr>
              <a:t>__name__=='__main__':</a:t>
            </a:r>
          </a:p>
          <a:p>
            <a:r>
              <a:rPr lang="zh-CN" altLang="en-US" sz="1900" dirty="0"/>
              <a:t>    num=[]</a:t>
            </a:r>
          </a:p>
          <a:p>
            <a:r>
              <a:rPr lang="zh-CN" altLang="en-US" sz="1900" dirty="0"/>
              <a:t>    getNumbers(num)</a:t>
            </a:r>
          </a:p>
          <a:p>
            <a:r>
              <a:rPr lang="zh-CN" altLang="en-US" sz="1900" dirty="0"/>
              <a:t>    print("输入数据：",num</a:t>
            </a:r>
            <a:r>
              <a:rPr lang="zh-CN" altLang="en-US" sz="1900" dirty="0" smtClean="0"/>
              <a:t>)</a:t>
            </a:r>
            <a:endParaRPr lang="en-US" altLang="zh-CN" sz="1900" dirty="0" smtClean="0"/>
          </a:p>
          <a:p>
            <a:r>
              <a:rPr lang="zh-CN" altLang="en-US" sz="1900" dirty="0"/>
              <a:t> </a:t>
            </a:r>
            <a:r>
              <a:rPr lang="en-US" altLang="zh-CN" sz="1900" dirty="0"/>
              <a:t> </a:t>
            </a:r>
            <a:r>
              <a:rPr lang="en-US" altLang="zh-CN" sz="1900" dirty="0" smtClean="0"/>
              <a:t>  </a:t>
            </a:r>
            <a:r>
              <a:rPr lang="zh-CN" altLang="en-US" sz="1900" dirty="0" smtClean="0"/>
              <a:t>print</a:t>
            </a:r>
            <a:r>
              <a:rPr lang="zh-CN" altLang="en-US" sz="1900" dirty="0"/>
              <a:t>("中位数为：",getMed(num))</a:t>
            </a:r>
          </a:p>
          <a:p>
            <a:r>
              <a:rPr lang="zh-CN" altLang="en-US" sz="1900" dirty="0"/>
              <a:t>    print('均值为：',getMean(num))</a:t>
            </a:r>
          </a:p>
          <a:p>
            <a:r>
              <a:rPr lang="zh-CN" altLang="en-US" sz="1900" dirty="0"/>
              <a:t>    print("方差为：",getDev(num</a:t>
            </a:r>
            <a:r>
              <a:rPr lang="zh-CN" altLang="en-US" sz="1900" dirty="0" smtClean="0"/>
              <a:t>))</a:t>
            </a:r>
            <a:endParaRPr lang="zh-CN" altLang="en-US" sz="1900" dirty="0"/>
          </a:p>
        </p:txBody>
      </p:sp>
    </p:spTree>
    <p:extLst>
      <p:ext uri="{BB962C8B-B14F-4D97-AF65-F5344CB8AC3E}">
        <p14:creationId xmlns:p14="http://schemas.microsoft.com/office/powerpoint/2010/main" val="209989134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1055" y="452774"/>
            <a:ext cx="5590150" cy="554992"/>
          </a:xfrm>
        </p:spPr>
        <p:txBody>
          <a:bodyPr/>
          <a:lstStyle/>
          <a:p>
            <a:r>
              <a:rPr lang="en-US" altLang="zh-CN" sz="3200" dirty="0"/>
              <a:t>4</a:t>
            </a:r>
            <a:r>
              <a:rPr lang="en-US" altLang="zh-CN" sz="3200" dirty="0" smtClean="0"/>
              <a:t>. </a:t>
            </a:r>
            <a:r>
              <a:rPr lang="zh-CN" altLang="en-US" sz="3200" dirty="0"/>
              <a:t>数据协同过滤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055" y="1221037"/>
            <a:ext cx="11056027" cy="487305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en-US" sz="2400" b="1" dirty="0" smtClean="0">
                <a:solidFill>
                  <a:srgbClr val="C00000"/>
                </a:solidFill>
              </a:rPr>
              <a:t>协同过滤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/>
              <a:t>协同过滤是一种推荐算法，其基本原理是通过分析大量用户的行为数据（如评分、购买、点击等），发现用户之间或物品之间的相似性，</a:t>
            </a:r>
            <a:r>
              <a:rPr lang="zh-CN" altLang="en-US" sz="2400" dirty="0" smtClean="0"/>
              <a:t>进而给目标用户推荐可能</a:t>
            </a:r>
            <a:r>
              <a:rPr lang="zh-CN" altLang="en-US" sz="2400" dirty="0"/>
              <a:t>感兴趣的</a:t>
            </a:r>
            <a:r>
              <a:rPr lang="zh-CN" altLang="en-US" sz="2400" dirty="0" smtClean="0"/>
              <a:t>内容。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算法假设相似的用户具有相同的兴趣。如果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是相似的用户，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购买的商品，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可能也会购买。</a:t>
            </a:r>
            <a:endParaRPr lang="en-US" altLang="zh-CN" sz="2400" dirty="0" smtClean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 smtClean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 smtClean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98159610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1055" y="452774"/>
            <a:ext cx="5590150" cy="554992"/>
          </a:xfrm>
        </p:spPr>
        <p:txBody>
          <a:bodyPr/>
          <a:lstStyle/>
          <a:p>
            <a:r>
              <a:rPr lang="en-US" altLang="zh-CN" sz="3200" dirty="0"/>
              <a:t>4</a:t>
            </a:r>
            <a:r>
              <a:rPr lang="en-US" altLang="zh-CN" sz="3200" dirty="0" smtClean="0"/>
              <a:t>. </a:t>
            </a:r>
            <a:r>
              <a:rPr lang="zh-CN" altLang="en-US" sz="3200" dirty="0"/>
              <a:t>数据协同过滤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055" y="1221037"/>
            <a:ext cx="11056027" cy="120064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en-US" sz="2400" dirty="0" smtClean="0">
                <a:solidFill>
                  <a:srgbClr val="0070C0"/>
                </a:solidFill>
              </a:rPr>
              <a:t>例</a:t>
            </a:r>
            <a:r>
              <a:rPr lang="en-US" altLang="zh-CN" sz="2400" dirty="0" smtClean="0">
                <a:solidFill>
                  <a:srgbClr val="0070C0"/>
                </a:solidFill>
              </a:rPr>
              <a:t>5.13</a:t>
            </a:r>
            <a:r>
              <a:rPr lang="zh-CN" altLang="en-US" sz="2400" dirty="0" smtClean="0">
                <a:solidFill>
                  <a:srgbClr val="0070C0"/>
                </a:solidFill>
              </a:rPr>
              <a:t> </a:t>
            </a:r>
            <a:r>
              <a:rPr lang="zh-CN" altLang="en-US" sz="2400" dirty="0"/>
              <a:t>某超市积累了一</a:t>
            </a:r>
            <a:r>
              <a:rPr lang="zh-CN" altLang="en-US" sz="2400" dirty="0" smtClean="0"/>
              <a:t>组客户</a:t>
            </a:r>
            <a:r>
              <a:rPr lang="zh-CN" altLang="en-US" sz="2400" dirty="0"/>
              <a:t>对奶制品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购买</a:t>
            </a:r>
            <a:r>
              <a:rPr lang="zh-CN" altLang="en-US" sz="2400" dirty="0" smtClean="0"/>
              <a:t>数据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user_data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包括品牌及其选购次数，现有一新</a:t>
            </a:r>
            <a:r>
              <a:rPr lang="zh-CN" altLang="en-US" sz="2400" dirty="0" smtClean="0"/>
              <a:t>客户</a:t>
            </a:r>
            <a:r>
              <a:rPr lang="en-US" altLang="zh-CN" sz="2400" dirty="0" smtClean="0"/>
              <a:t>target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请用数据协同过滤的原理，向新客户推介奶制品。</a:t>
            </a:r>
          </a:p>
        </p:txBody>
      </p:sp>
      <p:sp>
        <p:nvSpPr>
          <p:cNvPr id="4" name="矩形 3"/>
          <p:cNvSpPr/>
          <p:nvPr/>
        </p:nvSpPr>
        <p:spPr>
          <a:xfrm>
            <a:off x="600091" y="2493690"/>
            <a:ext cx="11076606" cy="239039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900" dirty="0"/>
              <a:t>user_data={'客户1':{'安慕希':3,'蒙牛纯甄':6,'莫斯利安':3,'三元':3,'蒙牛冠益乳':3},\</a:t>
            </a:r>
          </a:p>
          <a:p>
            <a:pPr>
              <a:spcAft>
                <a:spcPts val="800"/>
              </a:spcAft>
            </a:pPr>
            <a:r>
              <a:rPr lang="zh-CN" altLang="en-US" sz="1900" dirty="0"/>
              <a:t>           '客户2':{'君乐宝':5,'安佳':5,'光明研简':5,'优诺':3,'兰格格':5,'莫斯利安':3},\</a:t>
            </a:r>
          </a:p>
          <a:p>
            <a:pPr>
              <a:spcAft>
                <a:spcPts val="800"/>
              </a:spcAft>
            </a:pPr>
            <a:r>
              <a:rPr lang="zh-CN" altLang="en-US" sz="1900" dirty="0"/>
              <a:t>           '客户3':{'兰格格':5,'欧德宝':4,'三元':3,'如实':3,'伊利畅轻':5,'安慕希':7},\</a:t>
            </a:r>
          </a:p>
          <a:p>
            <a:pPr>
              <a:spcAft>
                <a:spcPts val="800"/>
              </a:spcAft>
            </a:pPr>
            <a:r>
              <a:rPr lang="zh-CN" altLang="en-US" sz="1900" dirty="0"/>
              <a:t>           '客户4':{'蒙牛冠益乳':3,'三元':3,'如实':3,'伊利畅轻':5,'光明优倍':7}</a:t>
            </a:r>
          </a:p>
          <a:p>
            <a:pPr>
              <a:spcAft>
                <a:spcPts val="800"/>
              </a:spcAft>
            </a:pPr>
            <a:r>
              <a:rPr lang="zh-CN" altLang="en-US" sz="1900" dirty="0"/>
              <a:t>           </a:t>
            </a:r>
            <a:r>
              <a:rPr lang="zh-CN" altLang="en-US" sz="1900" dirty="0" smtClean="0"/>
              <a:t>}</a:t>
            </a:r>
            <a:endParaRPr lang="en-US" altLang="zh-CN" sz="1900" dirty="0" smtClean="0"/>
          </a:p>
          <a:p>
            <a:pPr>
              <a:spcAft>
                <a:spcPts val="800"/>
              </a:spcAft>
            </a:pPr>
            <a:r>
              <a:rPr lang="zh-CN" altLang="en-US" sz="1900" dirty="0"/>
              <a:t>target={'蒙牛冠益乳':3,'三元':3,'安慕希':3,'光明优倍':3}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91" y="5157985"/>
            <a:ext cx="931153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altLang="zh-CN" sz="1400" dirty="0" smtClean="0"/>
          </a:p>
          <a:p>
            <a:endParaRPr lang="zh-CN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217349818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1055" y="452774"/>
            <a:ext cx="5590150" cy="554992"/>
          </a:xfrm>
        </p:spPr>
        <p:txBody>
          <a:bodyPr/>
          <a:lstStyle/>
          <a:p>
            <a:r>
              <a:rPr lang="en-US" altLang="zh-CN" sz="3200" dirty="0"/>
              <a:t>4</a:t>
            </a:r>
            <a:r>
              <a:rPr lang="en-US" altLang="zh-CN" sz="3200" dirty="0" smtClean="0"/>
              <a:t>. </a:t>
            </a:r>
            <a:r>
              <a:rPr lang="zh-CN" altLang="en-US" sz="3200" dirty="0"/>
              <a:t>数据协同过滤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6614" y="333450"/>
            <a:ext cx="110397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dirty="0" smtClean="0"/>
              <a:t>()</a:t>
            </a:r>
            <a:endParaRPr lang="zh-CN" altLang="en-US" sz="1400" dirty="0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67025" y="1269554"/>
            <a:ext cx="11056027" cy="4801712"/>
          </a:xfrm>
        </p:spPr>
        <p:txBody>
          <a:bodyPr/>
          <a:lstStyle/>
          <a:p>
            <a:r>
              <a:rPr lang="zh-CN" altLang="en-US" sz="2800" dirty="0" smtClean="0"/>
              <a:t>分析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400" dirty="0" smtClean="0"/>
              <a:t>        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target</a:t>
            </a:r>
            <a:r>
              <a:rPr lang="zh-CN" altLang="en-US" sz="2000" dirty="0" smtClean="0"/>
              <a:t>的相似客户：与</a:t>
            </a:r>
            <a:r>
              <a:rPr lang="en-US" altLang="zh-CN" sz="2000" dirty="0" smtClean="0"/>
              <a:t>target</a:t>
            </a:r>
            <a:r>
              <a:rPr lang="zh-CN" altLang="en-US" sz="2000" dirty="0" smtClean="0"/>
              <a:t>购买的共同商品个数最多的客户</a:t>
            </a:r>
            <a:endParaRPr lang="en-US" altLang="zh-CN" sz="2000" dirty="0" smtClean="0"/>
          </a:p>
          <a:p>
            <a:pPr marL="1485872" lvl="3" indent="-342900"/>
            <a:r>
              <a:rPr lang="en-US" altLang="zh-CN" dirty="0" smtClean="0"/>
              <a:t>	</a:t>
            </a:r>
          </a:p>
          <a:p>
            <a:pPr marL="1485872" lvl="3" indent="-342900"/>
            <a:endParaRPr lang="en-US" altLang="zh-CN" dirty="0"/>
          </a:p>
          <a:p>
            <a:pPr marL="1485872" lvl="3" indent="-342900"/>
            <a:endParaRPr lang="en-US" altLang="zh-CN" dirty="0" smtClean="0"/>
          </a:p>
          <a:p>
            <a:pPr marL="1485872" lvl="3" indent="-342900"/>
            <a:endParaRPr lang="en-US" altLang="zh-CN" dirty="0"/>
          </a:p>
          <a:p>
            <a:pPr marL="1142972" lvl="3" indent="0">
              <a:buNone/>
            </a:pPr>
            <a:endParaRPr lang="en-US" altLang="zh-CN" dirty="0"/>
          </a:p>
          <a:p>
            <a:pPr marL="1485872" lvl="3" indent="-342900"/>
            <a:r>
              <a:rPr lang="zh-CN" altLang="en-US" dirty="0" smtClean="0"/>
              <a:t>共同商品：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sz="2000" dirty="0" smtClean="0"/>
              <a:t> </a:t>
            </a:r>
            <a:r>
              <a:rPr lang="en-US" altLang="zh-CN" sz="2000" dirty="0" smtClean="0"/>
              <a:t>	       </a:t>
            </a:r>
            <a:r>
              <a:rPr lang="zh-CN" altLang="en-US" sz="2000" dirty="0" smtClean="0"/>
              <a:t>thiscommonMilk</a:t>
            </a:r>
            <a:r>
              <a:rPr lang="en-US" altLang="zh-CN" sz="2000" dirty="0" smtClean="0"/>
              <a:t>=</a:t>
            </a:r>
            <a:r>
              <a:rPr lang="zh-CN" altLang="en-US" sz="2000" dirty="0" smtClean="0"/>
              <a:t> set(</a:t>
            </a:r>
            <a:r>
              <a:rPr lang="en-US" altLang="zh-CN" sz="2000" dirty="0" err="1" smtClean="0">
                <a:solidFill>
                  <a:srgbClr val="C00000"/>
                </a:solidFill>
              </a:rPr>
              <a:t>user_data</a:t>
            </a:r>
            <a:r>
              <a:rPr lang="en-US" altLang="zh-CN" sz="2000" dirty="0" smtClean="0">
                <a:solidFill>
                  <a:srgbClr val="C00000"/>
                </a:solidFill>
              </a:rPr>
              <a:t>[k]</a:t>
            </a:r>
            <a:r>
              <a:rPr lang="zh-CN" altLang="en-US" sz="2000" dirty="0" smtClean="0">
                <a:solidFill>
                  <a:srgbClr val="C00000"/>
                </a:solidFill>
              </a:rPr>
              <a:t>.keys() 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&amp;</a:t>
            </a:r>
            <a:r>
              <a:rPr lang="zh-CN" altLang="en-US" sz="2000" dirty="0" smtClean="0"/>
              <a:t> </a:t>
            </a:r>
            <a:r>
              <a:rPr lang="zh-CN" altLang="en-US" sz="2000" dirty="0" smtClean="0">
                <a:solidFill>
                  <a:srgbClr val="C00000"/>
                </a:solidFill>
              </a:rPr>
              <a:t>target.keys()</a:t>
            </a:r>
            <a:r>
              <a:rPr lang="en-US" altLang="zh-CN" sz="2000" dirty="0" smtClean="0">
                <a:solidFill>
                  <a:srgbClr val="C0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000" dirty="0" smtClean="0"/>
              <a:t>	       </a:t>
            </a:r>
            <a:r>
              <a:rPr lang="en-US" altLang="zh-CN" sz="2000" dirty="0" err="1" smtClean="0"/>
              <a:t>thisc</a:t>
            </a:r>
            <a:r>
              <a:rPr lang="zh-CN" altLang="en-US" sz="2000" dirty="0" smtClean="0"/>
              <a:t>ommonlen</a:t>
            </a:r>
            <a:r>
              <a:rPr lang="en-US" altLang="zh-CN" sz="2000" dirty="0" smtClean="0"/>
              <a:t>=</a:t>
            </a:r>
            <a:r>
              <a:rPr lang="en-US" altLang="zh-CN" sz="2000" dirty="0" err="1" smtClean="0"/>
              <a:t>len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thiscommonMilk</a:t>
            </a:r>
            <a:r>
              <a:rPr lang="en-US" altLang="zh-CN" sz="2000" dirty="0" smtClean="0"/>
              <a:t>)</a:t>
            </a:r>
            <a:endParaRPr lang="en-US" altLang="zh-CN" sz="20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sz="2800" dirty="0" smtClean="0"/>
          </a:p>
          <a:p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248227" y="2703460"/>
            <a:ext cx="7488832" cy="1928729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400" dirty="0" smtClean="0"/>
              <a:t>user_data={'客户1':{'安慕希':3,'蒙牛纯甄':6,'莫斯利安':3,'三元':3,'蒙牛冠益乳':3},\</a:t>
            </a:r>
          </a:p>
          <a:p>
            <a:pPr>
              <a:spcAft>
                <a:spcPts val="800"/>
              </a:spcAft>
            </a:pPr>
            <a:r>
              <a:rPr lang="zh-CN" altLang="en-US" sz="1400" dirty="0" smtClean="0"/>
              <a:t>           '客户2':{'君乐宝':5,'安佳':5,'光明研简':5,'优诺':3,'兰格格':5,'莫斯利安':3},\</a:t>
            </a:r>
          </a:p>
          <a:p>
            <a:pPr>
              <a:spcAft>
                <a:spcPts val="800"/>
              </a:spcAft>
            </a:pPr>
            <a:r>
              <a:rPr lang="zh-CN" altLang="en-US" sz="1400" dirty="0" smtClean="0"/>
              <a:t>           '客户3':{'兰格格':5,'欧德宝':4,'三元':3,'如实':3,'伊利畅轻':5,'安慕希':7},\</a:t>
            </a:r>
          </a:p>
          <a:p>
            <a:pPr>
              <a:spcAft>
                <a:spcPts val="800"/>
              </a:spcAft>
            </a:pPr>
            <a:r>
              <a:rPr lang="zh-CN" altLang="en-US" sz="1400" dirty="0" smtClean="0"/>
              <a:t>           '客户4':{'蒙牛冠益乳':3,'三元':3,'如实':3,'伊利畅轻':5,'光明优倍':7}</a:t>
            </a:r>
          </a:p>
          <a:p>
            <a:pPr>
              <a:spcAft>
                <a:spcPts val="800"/>
              </a:spcAft>
            </a:pPr>
            <a:r>
              <a:rPr lang="zh-CN" altLang="en-US" sz="1400" dirty="0" smtClean="0"/>
              <a:t>           }</a:t>
            </a:r>
            <a:endParaRPr lang="en-US" altLang="zh-CN" sz="1400" dirty="0" smtClean="0"/>
          </a:p>
          <a:p>
            <a:pPr>
              <a:spcAft>
                <a:spcPts val="800"/>
              </a:spcAft>
            </a:pPr>
            <a:r>
              <a:rPr lang="zh-CN" altLang="en-US" sz="1400" dirty="0" smtClean="0"/>
              <a:t>target={'蒙牛冠益乳':3,'三元':3,'安慕希':3,'光明优倍':3}</a:t>
            </a:r>
            <a:endParaRPr lang="zh-CN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2278782" y="2349674"/>
            <a:ext cx="7848872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/>
            <a:r>
              <a:rPr lang="zh-CN" altLang="en-US" sz="2100" dirty="0" smtClean="0">
                <a:latin typeface="微软雅黑" pitchFamily="34" charset="-122"/>
                <a:ea typeface="微软雅黑" pitchFamily="34" charset="-122"/>
              </a:rPr>
              <a:t>共同商品个数：</a:t>
            </a:r>
            <a:r>
              <a:rPr lang="zh-CN" altLang="en-US" sz="210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客户</a:t>
            </a:r>
            <a:r>
              <a:rPr lang="en-US" altLang="zh-CN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1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，客户</a:t>
            </a:r>
            <a:r>
              <a:rPr lang="en-US" altLang="zh-CN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，客户</a:t>
            </a:r>
            <a:r>
              <a:rPr lang="en-US" altLang="zh-CN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，客户</a:t>
            </a:r>
            <a:r>
              <a:rPr lang="en-US" altLang="zh-CN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1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1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  <a:p>
            <a:endParaRPr lang="zh-CN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720922281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1055" y="452774"/>
            <a:ext cx="5590150" cy="554992"/>
          </a:xfrm>
        </p:spPr>
        <p:txBody>
          <a:bodyPr/>
          <a:lstStyle/>
          <a:p>
            <a:r>
              <a:rPr lang="en-US" altLang="zh-CN" sz="3200" dirty="0"/>
              <a:t>4</a:t>
            </a:r>
            <a:r>
              <a:rPr lang="en-US" altLang="zh-CN" sz="3200" dirty="0" smtClean="0"/>
              <a:t>. </a:t>
            </a:r>
            <a:r>
              <a:rPr lang="zh-CN" altLang="en-US" sz="3200" dirty="0"/>
              <a:t>数据协同过滤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6614" y="333450"/>
            <a:ext cx="110397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dirty="0" smtClean="0"/>
              <a:t>()</a:t>
            </a:r>
            <a:endParaRPr lang="zh-CN" altLang="en-US" sz="1400" dirty="0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67025" y="1269554"/>
            <a:ext cx="11056027" cy="4801712"/>
          </a:xfrm>
        </p:spPr>
        <p:txBody>
          <a:bodyPr/>
          <a:lstStyle/>
          <a:p>
            <a:r>
              <a:rPr lang="zh-CN" altLang="en-US" sz="2800" dirty="0"/>
              <a:t>分析</a:t>
            </a:r>
            <a:endParaRPr lang="en-US" altLang="zh-CN" sz="2800" dirty="0"/>
          </a:p>
          <a:p>
            <a:pPr marL="609585" lvl="1" indent="0"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）遍历</a:t>
            </a:r>
            <a:r>
              <a:rPr lang="en-US" altLang="zh-CN" sz="2000" dirty="0" err="1"/>
              <a:t>User_data</a:t>
            </a:r>
            <a:r>
              <a:rPr lang="en-US" altLang="zh-CN" sz="2000" dirty="0"/>
              <a:t>,</a:t>
            </a:r>
            <a:r>
              <a:rPr lang="zh-CN" altLang="en-US" sz="2000" dirty="0"/>
              <a:t>找</a:t>
            </a:r>
            <a:r>
              <a:rPr lang="en-US" altLang="zh-CN" sz="2000" dirty="0"/>
              <a:t>target</a:t>
            </a:r>
            <a:r>
              <a:rPr lang="zh-CN" altLang="en-US" sz="2000" dirty="0" smtClean="0"/>
              <a:t>与所有客户</a:t>
            </a:r>
            <a:r>
              <a:rPr lang="zh-CN" altLang="en-US" sz="2000" dirty="0"/>
              <a:t>的共同</a:t>
            </a:r>
            <a:r>
              <a:rPr lang="zh-CN" altLang="en-US" sz="2000" dirty="0" smtClean="0"/>
              <a:t>商品个数的</a:t>
            </a:r>
            <a:r>
              <a:rPr lang="zh-CN" altLang="en-US" sz="2000" dirty="0"/>
              <a:t>最大</a:t>
            </a:r>
            <a:r>
              <a:rPr lang="zh-CN" altLang="en-US" sz="2000" dirty="0" smtClean="0"/>
              <a:t>值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800" dirty="0"/>
          </a:p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04770" y="2637706"/>
            <a:ext cx="7934852" cy="20697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457188" lvl="1">
              <a:spcAft>
                <a:spcPts val="267"/>
              </a:spcAft>
            </a:pPr>
            <a:r>
              <a:rPr lang="zh-CN" altLang="en-US" dirty="0"/>
              <a:t>Maxcommonlen=0                     #用于</a:t>
            </a:r>
            <a:r>
              <a:rPr lang="zh-CN" altLang="en-US" dirty="0" smtClean="0"/>
              <a:t>存放与所有客户共同</a:t>
            </a:r>
            <a:r>
              <a:rPr lang="zh-CN" altLang="en-US" dirty="0"/>
              <a:t>商品个数最大值</a:t>
            </a:r>
          </a:p>
          <a:p>
            <a:pPr marL="457188" lvl="1">
              <a:spcAft>
                <a:spcPts val="267"/>
              </a:spcAft>
            </a:pPr>
            <a:r>
              <a:rPr lang="zh-CN" altLang="en-US" dirty="0"/>
              <a:t>for v in user_data.values():          #遍历客户</a:t>
            </a:r>
            <a:r>
              <a:rPr lang="zh-CN" altLang="en-US" dirty="0" smtClean="0"/>
              <a:t>的购买数据</a:t>
            </a:r>
            <a:endParaRPr lang="en-US" altLang="zh-CN" dirty="0"/>
          </a:p>
          <a:p>
            <a:pPr marL="457188" lvl="1">
              <a:spcAft>
                <a:spcPts val="267"/>
              </a:spcAft>
            </a:pPr>
            <a:r>
              <a:rPr lang="zh-CN" altLang="en-US" dirty="0"/>
              <a:t>    thiscommonMilk=set(</a:t>
            </a:r>
            <a:r>
              <a:rPr lang="zh-CN" altLang="en-US" dirty="0">
                <a:solidFill>
                  <a:srgbClr val="C00000"/>
                </a:solidFill>
              </a:rPr>
              <a:t>v.keys() </a:t>
            </a:r>
            <a:r>
              <a:rPr lang="zh-CN" altLang="en-US" b="1" dirty="0">
                <a:solidFill>
                  <a:srgbClr val="C00000"/>
                </a:solidFill>
              </a:rPr>
              <a:t>&amp;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C00000"/>
                </a:solidFill>
              </a:rPr>
              <a:t>target.keys() </a:t>
            </a:r>
            <a:r>
              <a:rPr lang="zh-CN" altLang="en-US" dirty="0"/>
              <a:t>) #找出与目标客户的共同商品集合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C00000"/>
                </a:solidFill>
              </a:rPr>
              <a:t>找交集</a:t>
            </a:r>
            <a:r>
              <a:rPr lang="zh-CN" altLang="en-US" dirty="0"/>
              <a:t>）</a:t>
            </a:r>
          </a:p>
          <a:p>
            <a:pPr marL="457188" lvl="1">
              <a:spcAft>
                <a:spcPts val="267"/>
              </a:spcAft>
            </a:pPr>
            <a:r>
              <a:rPr lang="zh-CN" altLang="en-US" dirty="0"/>
              <a:t>    if Maxcommonlen&lt;len(thiscommonMilk): </a:t>
            </a:r>
            <a:r>
              <a:rPr lang="en-US" altLang="zh-CN" dirty="0"/>
              <a:t>#</a:t>
            </a:r>
            <a:r>
              <a:rPr lang="zh-CN" altLang="en-US" dirty="0"/>
              <a:t>找共同商品个数的最大值</a:t>
            </a:r>
          </a:p>
          <a:p>
            <a:pPr marL="457188" lvl="1">
              <a:spcAft>
                <a:spcPts val="267"/>
              </a:spcAft>
            </a:pPr>
            <a:r>
              <a:rPr lang="zh-CN" altLang="en-US" dirty="0"/>
              <a:t>        Maxcommonlen=len(thiscommonMilk)</a:t>
            </a:r>
          </a:p>
          <a:p>
            <a:endParaRPr lang="zh-CN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79451982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1055" y="452774"/>
            <a:ext cx="5590150" cy="554992"/>
          </a:xfrm>
        </p:spPr>
        <p:txBody>
          <a:bodyPr/>
          <a:lstStyle/>
          <a:p>
            <a:r>
              <a:rPr lang="en-US" altLang="zh-CN" sz="3200" dirty="0"/>
              <a:t>4</a:t>
            </a:r>
            <a:r>
              <a:rPr lang="en-US" altLang="zh-CN" sz="3200" dirty="0" smtClean="0"/>
              <a:t>. </a:t>
            </a:r>
            <a:r>
              <a:rPr lang="zh-CN" altLang="en-US" sz="3200" dirty="0"/>
              <a:t>数据协同过滤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6614" y="333450"/>
            <a:ext cx="1103973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dirty="0" smtClean="0"/>
              <a:t>()</a:t>
            </a:r>
            <a:endParaRPr lang="zh-CN" altLang="en-US" sz="1400" dirty="0" smtClean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67025" y="1269554"/>
            <a:ext cx="11056027" cy="4801712"/>
          </a:xfrm>
        </p:spPr>
        <p:txBody>
          <a:bodyPr/>
          <a:lstStyle/>
          <a:p>
            <a:r>
              <a:rPr lang="zh-CN" altLang="en-US" sz="2800" dirty="0"/>
              <a:t>分析</a:t>
            </a:r>
            <a:endParaRPr lang="en-US" altLang="zh-CN" sz="2000" dirty="0" smtClean="0"/>
          </a:p>
          <a:p>
            <a:pPr marL="609585" lvl="1" indent="0"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/>
              <a:t>3</a:t>
            </a:r>
            <a:r>
              <a:rPr lang="zh-CN" altLang="en-US" sz="2000" dirty="0" smtClean="0"/>
              <a:t>）再次</a:t>
            </a:r>
            <a:r>
              <a:rPr lang="zh-CN" altLang="en-US" sz="2000" dirty="0"/>
              <a:t>遍历</a:t>
            </a:r>
            <a:r>
              <a:rPr lang="en-US" altLang="zh-CN" sz="2000" dirty="0" err="1" smtClean="0"/>
              <a:t>User_data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找</a:t>
            </a:r>
            <a:r>
              <a:rPr lang="zh-CN" altLang="en-US" sz="2000" dirty="0"/>
              <a:t>相似客户（与</a:t>
            </a:r>
            <a:r>
              <a:rPr lang="en-US" altLang="zh-CN" sz="2000" dirty="0"/>
              <a:t>target</a:t>
            </a:r>
            <a:r>
              <a:rPr lang="zh-CN" altLang="en-US" sz="2000" dirty="0"/>
              <a:t>共同商品个数达到最大值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marL="1066773" lvl="2" indent="0">
              <a:spcAft>
                <a:spcPts val="267"/>
              </a:spcAft>
              <a:buNone/>
            </a:pPr>
            <a:r>
              <a:rPr lang="zh-CN" altLang="en-US" dirty="0" smtClean="0"/>
              <a:t>similar={}                                # 用字典</a:t>
            </a:r>
            <a:r>
              <a:rPr lang="zh-CN" altLang="en-US" dirty="0" smtClean="0">
                <a:solidFill>
                  <a:srgbClr val="C00000"/>
                </a:solidFill>
              </a:rPr>
              <a:t>存储 “相似用户:共同商品”            </a:t>
            </a:r>
          </a:p>
          <a:p>
            <a:pPr marL="609585" lvl="1" indent="0">
              <a:buNone/>
            </a:pPr>
            <a:endParaRPr lang="en-US" altLang="zh-CN" sz="2000" dirty="0" smtClean="0"/>
          </a:p>
          <a:p>
            <a:pPr marL="609585" lvl="1" indent="0">
              <a:buNone/>
            </a:pPr>
            <a:endParaRPr lang="en-US" altLang="zh-CN" sz="2000" dirty="0" smtClean="0"/>
          </a:p>
          <a:p>
            <a:pPr marL="609585" lvl="1" indent="0">
              <a:buNone/>
            </a:pPr>
            <a:endParaRPr lang="en-US" altLang="zh-CN" sz="2000" dirty="0"/>
          </a:p>
          <a:p>
            <a:pPr marL="609585" lvl="1" indent="0">
              <a:buNone/>
            </a:pPr>
            <a:endParaRPr lang="en-US" altLang="zh-CN" sz="2000" dirty="0" smtClean="0"/>
          </a:p>
          <a:p>
            <a:pPr marL="609585" lvl="1" indent="0"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/>
              <a:t>4</a:t>
            </a:r>
            <a:r>
              <a:rPr lang="zh-CN" altLang="en-US" sz="2000" dirty="0" smtClean="0"/>
              <a:t>）商品推荐</a:t>
            </a:r>
            <a:endParaRPr lang="en-US" altLang="zh-CN" sz="2000" dirty="0" smtClean="0"/>
          </a:p>
          <a:p>
            <a:pPr marL="609585" lvl="1" indent="0">
              <a:buNone/>
            </a:pPr>
            <a:r>
              <a:rPr lang="zh-CN" altLang="en-US" sz="2000" dirty="0" smtClean="0"/>
              <a:t>       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85435" y="2853730"/>
            <a:ext cx="8802088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indent="-152397">
              <a:spcAft>
                <a:spcPts val="267"/>
              </a:spcAft>
            </a:pPr>
            <a:r>
              <a:rPr lang="zh-CN" altLang="en-US" dirty="0"/>
              <a:t>for k,v in user_data.items():                          </a:t>
            </a:r>
            <a:r>
              <a:rPr lang="en-US" altLang="zh-CN" dirty="0"/>
              <a:t>#</a:t>
            </a:r>
            <a:r>
              <a:rPr lang="zh-CN" altLang="en-US" dirty="0"/>
              <a:t>再次遍历用户数据，定位最相似的客户</a:t>
            </a:r>
          </a:p>
          <a:p>
            <a:pPr indent="-152397">
              <a:spcAft>
                <a:spcPts val="267"/>
              </a:spcAft>
            </a:pPr>
            <a:r>
              <a:rPr lang="zh-CN" altLang="en-US" dirty="0"/>
              <a:t>    thiscommonMilk=set(v.keys()&amp;target.keys())        # 获取共同商品的品牌</a:t>
            </a:r>
          </a:p>
          <a:p>
            <a:pPr indent="-152397">
              <a:spcAft>
                <a:spcPts val="267"/>
              </a:spcAft>
            </a:pPr>
            <a:r>
              <a:rPr lang="zh-CN" altLang="en-US" dirty="0"/>
              <a:t>    if Maxcommonlen==len(thiscommonMilk):</a:t>
            </a:r>
          </a:p>
          <a:p>
            <a:pPr indent="-152397">
              <a:spcAft>
                <a:spcPts val="267"/>
              </a:spcAft>
            </a:pPr>
            <a:r>
              <a:rPr lang="zh-CN" altLang="en-US" dirty="0"/>
              <a:t>        similar[k]=thiscommonMilk </a:t>
            </a:r>
            <a:endParaRPr lang="en-US" altLang="zh-CN" dirty="0"/>
          </a:p>
          <a:p>
            <a:endParaRPr lang="zh-CN" altLang="en-US" sz="1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885436" y="4869525"/>
            <a:ext cx="8802088" cy="11079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dirty="0"/>
              <a:t>for k,v in similar.items():</a:t>
            </a:r>
            <a:endParaRPr lang="en-US" altLang="zh-CN" sz="2000" dirty="0"/>
          </a:p>
          <a:p>
            <a:r>
              <a:rPr lang="en-US" altLang="zh-CN" sz="2000" dirty="0"/>
              <a:t>	</a:t>
            </a:r>
            <a:r>
              <a:rPr lang="zh-CN" altLang="en-US" sz="2000" dirty="0" smtClean="0"/>
              <a:t>userMilk</a:t>
            </a:r>
            <a:r>
              <a:rPr lang="en-US" altLang="zh-CN" sz="2000" dirty="0"/>
              <a:t>= </a:t>
            </a:r>
            <a:r>
              <a:rPr lang="zh-CN" altLang="en-US" sz="2000" dirty="0"/>
              <a:t>user_data[k].keys()-</a:t>
            </a:r>
            <a:r>
              <a:rPr lang="en-US" altLang="zh-CN" sz="2000" dirty="0"/>
              <a:t>similar[k]</a:t>
            </a:r>
          </a:p>
          <a:p>
            <a:endParaRPr lang="zh-CN" altLang="en-US" dirty="0"/>
          </a:p>
          <a:p>
            <a:endParaRPr lang="zh-CN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23897110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2598" y="1053530"/>
            <a:ext cx="10847793" cy="446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2000" dirty="0" smtClean="0"/>
              <a:t>user</a:t>
            </a:r>
            <a:r>
              <a:rPr lang="zh-CN" altLang="en-US" sz="2000" dirty="0"/>
              <a:t>_data={'客户1':{'安慕希':3,'蒙牛纯甄':6,'莫斯利安':3,'三元':3,'蒙牛冠益乳':3},\</a:t>
            </a:r>
          </a:p>
          <a:p>
            <a:pPr>
              <a:spcAft>
                <a:spcPts val="800"/>
              </a:spcAft>
            </a:pPr>
            <a:r>
              <a:rPr lang="zh-CN" altLang="en-US" sz="2000" dirty="0"/>
              <a:t>           '客户2':{'君乐宝':5,'安佳':5,'光明研简':5,'优诺':3,'兰格格':5,'莫斯利安':3},\</a:t>
            </a:r>
          </a:p>
          <a:p>
            <a:pPr>
              <a:spcAft>
                <a:spcPts val="800"/>
              </a:spcAft>
            </a:pPr>
            <a:r>
              <a:rPr lang="zh-CN" altLang="en-US" sz="2000" dirty="0"/>
              <a:t>           '客户3':{'兰格格':5,'欧德宝':4,'三元':3,'如实':3,'伊利畅轻':5,'安慕希':7},\</a:t>
            </a:r>
          </a:p>
          <a:p>
            <a:pPr>
              <a:spcAft>
                <a:spcPts val="800"/>
              </a:spcAft>
            </a:pPr>
            <a:r>
              <a:rPr lang="zh-CN" altLang="en-US" sz="2000" dirty="0"/>
              <a:t>           '客户4':{'蒙牛冠益乳':3,'三元':3,'如实':3,'伊利畅轻':5,'光明优倍':7}</a:t>
            </a:r>
          </a:p>
          <a:p>
            <a:pPr>
              <a:spcAft>
                <a:spcPts val="800"/>
              </a:spcAft>
            </a:pPr>
            <a:r>
              <a:rPr lang="zh-CN" altLang="en-US" sz="2000" dirty="0"/>
              <a:t>           }</a:t>
            </a:r>
            <a:endParaRPr lang="en-US" altLang="zh-CN" sz="2000" dirty="0"/>
          </a:p>
          <a:p>
            <a:pPr>
              <a:spcAft>
                <a:spcPts val="267"/>
              </a:spcAft>
            </a:pPr>
            <a:r>
              <a:rPr lang="zh-CN" altLang="en-US" sz="1900" dirty="0" smtClean="0"/>
              <a:t>target</a:t>
            </a:r>
            <a:r>
              <a:rPr lang="zh-CN" altLang="en-US" sz="1900" dirty="0"/>
              <a:t>={'蒙牛冠益乳':3,'三元':3,'安慕希':3,'光明优倍':3}   #目标客户</a:t>
            </a:r>
          </a:p>
          <a:p>
            <a:pPr>
              <a:spcAft>
                <a:spcPts val="267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遍历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user_data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中的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每个客户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，寻找共同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商品个数最大值</a:t>
            </a:r>
            <a:endParaRPr lang="en-US" altLang="zh-CN" sz="1900" dirty="0" smtClean="0">
              <a:solidFill>
                <a:srgbClr val="FF0000"/>
              </a:solidFill>
            </a:endParaRPr>
          </a:p>
          <a:p>
            <a:pPr>
              <a:spcAft>
                <a:spcPts val="267"/>
              </a:spcAft>
            </a:pPr>
            <a:r>
              <a:rPr lang="zh-CN" altLang="en-US" sz="1900" dirty="0" smtClean="0"/>
              <a:t>Maxcommonlen</a:t>
            </a:r>
            <a:r>
              <a:rPr lang="zh-CN" altLang="en-US" sz="1900" dirty="0"/>
              <a:t>=0                                                  </a:t>
            </a:r>
            <a:r>
              <a:rPr lang="zh-CN" altLang="en-US" sz="1900" dirty="0" smtClean="0"/>
              <a:t> </a:t>
            </a:r>
            <a:r>
              <a:rPr lang="zh-CN" altLang="en-US" sz="1900" dirty="0"/>
              <a:t>#用于存放共同商品个数最大值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for v in user_data.values():                                      </a:t>
            </a:r>
            <a:r>
              <a:rPr lang="zh-CN" altLang="en-US" sz="1900" dirty="0" smtClean="0"/>
              <a:t> </a:t>
            </a:r>
            <a:r>
              <a:rPr lang="zh-CN" altLang="en-US" sz="1900" dirty="0"/>
              <a:t>#遍历客户的营销数据</a:t>
            </a:r>
            <a:endParaRPr lang="en-US" altLang="zh-CN" sz="1900" dirty="0"/>
          </a:p>
          <a:p>
            <a:pPr>
              <a:spcAft>
                <a:spcPts val="267"/>
              </a:spcAft>
            </a:pPr>
            <a:r>
              <a:rPr lang="zh-CN" altLang="en-US" sz="1900" dirty="0"/>
              <a:t>    thiscommonMilk=set(</a:t>
            </a:r>
            <a:r>
              <a:rPr lang="zh-CN" altLang="en-US" sz="1900" dirty="0">
                <a:solidFill>
                  <a:srgbClr val="C00000"/>
                </a:solidFill>
              </a:rPr>
              <a:t>v.keys() </a:t>
            </a:r>
            <a:r>
              <a:rPr lang="zh-CN" altLang="en-US" sz="1900" b="1" dirty="0">
                <a:solidFill>
                  <a:srgbClr val="C00000"/>
                </a:solidFill>
              </a:rPr>
              <a:t>&amp;</a:t>
            </a:r>
            <a:r>
              <a:rPr lang="zh-CN" altLang="en-US" sz="1900" dirty="0"/>
              <a:t> </a:t>
            </a:r>
            <a:r>
              <a:rPr lang="zh-CN" altLang="en-US" sz="1900" dirty="0">
                <a:solidFill>
                  <a:srgbClr val="C00000"/>
                </a:solidFill>
              </a:rPr>
              <a:t>target.keys</a:t>
            </a:r>
            <a:r>
              <a:rPr lang="zh-CN" altLang="en-US" sz="1900" dirty="0" smtClean="0">
                <a:solidFill>
                  <a:srgbClr val="C00000"/>
                </a:solidFill>
              </a:rPr>
              <a:t>() </a:t>
            </a:r>
            <a:r>
              <a:rPr lang="zh-CN" altLang="en-US" sz="1900" dirty="0" smtClean="0"/>
              <a:t>)     #</a:t>
            </a:r>
            <a:r>
              <a:rPr lang="zh-CN" altLang="en-US" sz="1900" dirty="0"/>
              <a:t>找出与目标客户的共同商品集合（</a:t>
            </a:r>
            <a:r>
              <a:rPr lang="zh-CN" altLang="en-US" sz="1900" dirty="0">
                <a:solidFill>
                  <a:srgbClr val="C00000"/>
                </a:solidFill>
              </a:rPr>
              <a:t>找交集</a:t>
            </a:r>
            <a:r>
              <a:rPr lang="zh-CN" altLang="en-US" sz="1900" dirty="0"/>
              <a:t>）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    if Maxcommonlen&lt;len(thiscommonMilk):             </a:t>
            </a:r>
            <a:r>
              <a:rPr lang="zh-CN" altLang="en-US" sz="1900" dirty="0" smtClean="0"/>
              <a:t> </a:t>
            </a:r>
            <a:r>
              <a:rPr lang="en-US" altLang="zh-CN" sz="1900" dirty="0"/>
              <a:t>#</a:t>
            </a:r>
            <a:r>
              <a:rPr lang="zh-CN" altLang="en-US" sz="1900" dirty="0"/>
              <a:t>找共同商品个数的最大值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        Maxcommonlen=len(thiscommonMilk</a:t>
            </a:r>
            <a:r>
              <a:rPr lang="zh-CN" altLang="en-US" sz="1900" dirty="0" smtClean="0"/>
              <a:t>)</a:t>
            </a:r>
            <a:endParaRPr lang="zh-CN" altLang="en-US" sz="1900" dirty="0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01055" y="452774"/>
            <a:ext cx="5590150" cy="554992"/>
          </a:xfrm>
        </p:spPr>
        <p:txBody>
          <a:bodyPr/>
          <a:lstStyle/>
          <a:p>
            <a:r>
              <a:rPr lang="en-US" altLang="zh-CN" sz="3200" dirty="0"/>
              <a:t>4</a:t>
            </a:r>
            <a:r>
              <a:rPr lang="en-US" altLang="zh-CN" sz="3200" dirty="0" smtClean="0"/>
              <a:t>. </a:t>
            </a:r>
            <a:r>
              <a:rPr lang="zh-CN" altLang="en-US" sz="3200" dirty="0"/>
              <a:t>数据协同过滤</a:t>
            </a:r>
          </a:p>
        </p:txBody>
      </p:sp>
    </p:spTree>
    <p:extLst>
      <p:ext uri="{BB962C8B-B14F-4D97-AF65-F5344CB8AC3E}">
        <p14:creationId xmlns:p14="http://schemas.microsoft.com/office/powerpoint/2010/main" val="302822426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78581" y="1341562"/>
            <a:ext cx="10847793" cy="375487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21917" tIns="60958" rIns="121917" bIns="60958">
            <a:spAutoFit/>
          </a:bodyPr>
          <a:lstStyle/>
          <a:p>
            <a:pPr>
              <a:spcAft>
                <a:spcPts val="267"/>
              </a:spcAft>
            </a:pP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寻找最相似客户（可能不止一个）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267"/>
              </a:spcAft>
            </a:pPr>
            <a:r>
              <a:rPr lang="zh-CN" altLang="en-US" sz="1900" dirty="0" smtClean="0"/>
              <a:t>similar</a:t>
            </a:r>
            <a:r>
              <a:rPr lang="zh-CN" altLang="en-US" sz="1900" dirty="0"/>
              <a:t>={}                                                                        # 用字典</a:t>
            </a:r>
            <a:r>
              <a:rPr lang="zh-CN" altLang="en-US" sz="1900" dirty="0">
                <a:solidFill>
                  <a:srgbClr val="C00000"/>
                </a:solidFill>
              </a:rPr>
              <a:t>存储 “相似用户:共同商品”            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for k,v in user_data.items():                                           </a:t>
            </a:r>
            <a:r>
              <a:rPr lang="en-US" altLang="zh-CN" sz="1900" dirty="0"/>
              <a:t>#</a:t>
            </a:r>
            <a:r>
              <a:rPr lang="zh-CN" altLang="en-US" sz="1900" dirty="0"/>
              <a:t>再次遍历用户数据，定位最相似的客户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    thiscommonMilk=set(v.keys()&amp;target.keys())              # 获取共同商品的品牌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    if Maxcommonlen==len(thiscommonMilk):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        similar[k]=thiscommonMilk                                      # 找到相似客户，值为共同商品品牌的集合</a:t>
            </a:r>
          </a:p>
          <a:p>
            <a:pPr>
              <a:spcAft>
                <a:spcPts val="267"/>
              </a:spcAft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进行商品推荐      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for k,v in similar.items():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    print</a:t>
            </a:r>
            <a:r>
              <a:rPr lang="zh-CN" altLang="en-US" sz="1900" dirty="0" smtClean="0"/>
              <a:t>(“相似客户:”,</a:t>
            </a:r>
            <a:r>
              <a:rPr lang="zh-CN" altLang="en-US" sz="1900" dirty="0"/>
              <a:t>k</a:t>
            </a:r>
            <a:r>
              <a:rPr lang="zh-CN" altLang="en-US" sz="1900" dirty="0" smtClean="0"/>
              <a:t>)；print(“共同商品:”,</a:t>
            </a:r>
            <a:r>
              <a:rPr lang="zh-CN" altLang="en-US" sz="1900" dirty="0"/>
              <a:t>v</a:t>
            </a:r>
            <a:r>
              <a:rPr lang="zh-CN" altLang="en-US" sz="1900" dirty="0" smtClean="0"/>
              <a:t>)；print</a:t>
            </a:r>
            <a:r>
              <a:rPr lang="zh-CN" altLang="en-US" sz="1900" dirty="0"/>
              <a:t>("推荐商品:",end=" ")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    userMilk=user_data[k].keys()-v      #</a:t>
            </a:r>
            <a:r>
              <a:rPr lang="zh-CN" altLang="en-US" sz="1900" dirty="0" smtClean="0"/>
              <a:t>推荐</a:t>
            </a:r>
            <a:r>
              <a:rPr lang="zh-CN" altLang="en-US" sz="1900" dirty="0"/>
              <a:t>商品</a:t>
            </a:r>
          </a:p>
          <a:p>
            <a:pPr>
              <a:spcAft>
                <a:spcPts val="267"/>
              </a:spcAft>
            </a:pPr>
            <a:r>
              <a:rPr lang="zh-CN" altLang="en-US" sz="1900" dirty="0"/>
              <a:t>    print(userMilk)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01055" y="452774"/>
            <a:ext cx="5590150" cy="554992"/>
          </a:xfrm>
        </p:spPr>
        <p:txBody>
          <a:bodyPr/>
          <a:lstStyle/>
          <a:p>
            <a:r>
              <a:rPr lang="en-US" altLang="zh-CN" sz="3200" dirty="0"/>
              <a:t>4</a:t>
            </a:r>
            <a:r>
              <a:rPr lang="en-US" altLang="zh-CN" sz="3200" dirty="0" smtClean="0"/>
              <a:t>. </a:t>
            </a:r>
            <a:r>
              <a:rPr lang="zh-CN" altLang="en-US" sz="3200" dirty="0"/>
              <a:t>数据协同过滤</a:t>
            </a:r>
          </a:p>
        </p:txBody>
      </p:sp>
    </p:spTree>
    <p:extLst>
      <p:ext uri="{BB962C8B-B14F-4D97-AF65-F5344CB8AC3E}">
        <p14:creationId xmlns:p14="http://schemas.microsoft.com/office/powerpoint/2010/main" val="2419561290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defRPr sz="1400" dirty="0" smtClean="0"/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19184</TotalTime>
  <Words>2593</Words>
  <Application>Microsoft Office PowerPoint</Application>
  <PresentationFormat>自定义</PresentationFormat>
  <Paragraphs>232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黑体</vt:lpstr>
      <vt:lpstr>华文新魏</vt:lpstr>
      <vt:lpstr>宋体</vt:lpstr>
      <vt:lpstr>微软雅黑</vt:lpstr>
      <vt:lpstr>Arial</vt:lpstr>
      <vt:lpstr>Bodoni MT Black</vt:lpstr>
      <vt:lpstr>Calibri</vt:lpstr>
      <vt:lpstr>Cambria Math</vt:lpstr>
      <vt:lpstr>Wingdings</vt:lpstr>
      <vt:lpstr>主题1</vt:lpstr>
      <vt:lpstr>5.3 综合应用</vt:lpstr>
      <vt:lpstr>5.3 综合应用</vt:lpstr>
      <vt:lpstr>2.矩阵相乘  </vt:lpstr>
      <vt:lpstr>例5.11 矩阵相乘,格式化输出</vt:lpstr>
      <vt:lpstr>例5.11 矩阵相乘,格式化输出</vt:lpstr>
      <vt:lpstr>3.统计值：均值、标准差、中位数</vt:lpstr>
      <vt:lpstr>3.统计值：均值、标准差、中位数</vt:lpstr>
      <vt:lpstr>PowerPoint 演示文稿</vt:lpstr>
      <vt:lpstr>4. 数据协同过滤</vt:lpstr>
      <vt:lpstr>4. 数据协同过滤</vt:lpstr>
      <vt:lpstr>4. 数据协同过滤</vt:lpstr>
      <vt:lpstr>4. 数据协同过滤</vt:lpstr>
      <vt:lpstr>4. 数据协同过滤</vt:lpstr>
      <vt:lpstr>4. 数据协同过滤</vt:lpstr>
      <vt:lpstr>4. 数据协同过滤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1646</cp:revision>
  <dcterms:created xsi:type="dcterms:W3CDTF">2010-02-28T17:17:53Z</dcterms:created>
  <dcterms:modified xsi:type="dcterms:W3CDTF">2026-04-06T09:58:06Z</dcterms:modified>
</cp:coreProperties>
</file>