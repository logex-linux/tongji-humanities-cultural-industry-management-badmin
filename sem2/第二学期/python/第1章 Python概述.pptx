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7" r:id="rId1"/>
  </p:sldMasterIdLst>
  <p:notesMasterIdLst>
    <p:notesMasterId r:id="rId11"/>
  </p:notesMasterIdLst>
  <p:sldIdLst>
    <p:sldId id="256" r:id="rId2"/>
    <p:sldId id="442" r:id="rId3"/>
    <p:sldId id="440" r:id="rId4"/>
    <p:sldId id="441" r:id="rId5"/>
    <p:sldId id="454" r:id="rId6"/>
    <p:sldId id="434" r:id="rId7"/>
    <p:sldId id="445" r:id="rId8"/>
    <p:sldId id="436" r:id="rId9"/>
    <p:sldId id="447" r:id="rId10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0021"/>
    <a:srgbClr val="000066"/>
    <a:srgbClr val="0000B4"/>
    <a:srgbClr val="000096"/>
    <a:srgbClr val="0000A8"/>
    <a:srgbClr val="00FFA8"/>
    <a:srgbClr val="006699"/>
    <a:srgbClr val="CC0099"/>
    <a:srgbClr val="A7D9FF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3" autoAdjust="0"/>
    <p:restoredTop sz="86352" autoAdjust="0"/>
  </p:normalViewPr>
  <p:slideViewPr>
    <p:cSldViewPr>
      <p:cViewPr varScale="1">
        <p:scale>
          <a:sx n="82" d="100"/>
          <a:sy n="82" d="100"/>
        </p:scale>
        <p:origin x="64" y="2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244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392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A04592A4-E237-4A56-9CB9-39DC0234BDB2}" type="datetimeFigureOut">
              <a:rPr lang="zh-CN" altLang="en-US"/>
              <a:pPr>
                <a:defRPr/>
              </a:pPr>
              <a:t>2025/2/17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8941A3E1-9B29-4EC3-8654-927667BFF2E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886065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4"/>
          <p:cNvSpPr>
            <a:spLocks noChangeArrowheads="1"/>
          </p:cNvSpPr>
          <p:nvPr/>
        </p:nvSpPr>
        <p:spPr bwMode="gray">
          <a:xfrm>
            <a:off x="0" y="3132138"/>
            <a:ext cx="9144000" cy="3725862"/>
          </a:xfrm>
          <a:prstGeom prst="rect">
            <a:avLst/>
          </a:prstGeom>
          <a:gradFill rotWithShape="1">
            <a:gsLst>
              <a:gs pos="0">
                <a:srgbClr val="003569"/>
              </a:gs>
              <a:gs pos="100000">
                <a:srgbClr val="417EB5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5" name="Line 65"/>
          <p:cNvSpPr>
            <a:spLocks noChangeShapeType="1"/>
          </p:cNvSpPr>
          <p:nvPr/>
        </p:nvSpPr>
        <p:spPr bwMode="gray">
          <a:xfrm>
            <a:off x="0" y="3125788"/>
            <a:ext cx="9144000" cy="0"/>
          </a:xfrm>
          <a:prstGeom prst="line">
            <a:avLst/>
          </a:prstGeom>
          <a:noFill/>
          <a:ln w="25400">
            <a:solidFill>
              <a:srgbClr val="66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Text Box 46"/>
          <p:cNvSpPr txBox="1">
            <a:spLocks noChangeArrowheads="1"/>
          </p:cNvSpPr>
          <p:nvPr/>
        </p:nvSpPr>
        <p:spPr bwMode="auto">
          <a:xfrm>
            <a:off x="0" y="6537325"/>
            <a:ext cx="4857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b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fld id="{83415D4A-526D-4DC9-BF32-C7B8DBFED9D6}" type="slidenum">
              <a:rPr lang="en-US" altLang="zh-CN" sz="1400" b="1" smtClean="0">
                <a:solidFill>
                  <a:schemeClr val="bg1"/>
                </a:solidFill>
              </a:rPr>
              <a:pPr eaLnBrk="1" hangingPunct="1">
                <a:defRPr/>
              </a:pPr>
              <a:t>‹#›</a:t>
            </a:fld>
            <a:endParaRPr lang="en-US" altLang="zh-CN" sz="1400" b="1">
              <a:solidFill>
                <a:schemeClr val="bg1"/>
              </a:solidFill>
            </a:endParaRPr>
          </a:p>
        </p:txBody>
      </p:sp>
      <p:pic>
        <p:nvPicPr>
          <p:cNvPr id="8" name="Picture 8" descr="http://www.rrcap.unep.org/userfiles/image/200px-Tongji_University_Log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285750"/>
            <a:ext cx="1905000" cy="187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111" name="Rectangle 47"/>
          <p:cNvSpPr>
            <a:spLocks noGrp="1" noChangeArrowheads="1"/>
          </p:cNvSpPr>
          <p:nvPr>
            <p:ph type="ctrTitle" sz="quarter"/>
          </p:nvPr>
        </p:nvSpPr>
        <p:spPr>
          <a:xfrm>
            <a:off x="1117600" y="1406525"/>
            <a:ext cx="7508875" cy="1470025"/>
          </a:xfrm>
        </p:spPr>
        <p:txBody>
          <a:bodyPr anchor="ctr"/>
          <a:lstStyle>
            <a:lvl1pPr algn="r">
              <a:defRPr sz="4800">
                <a:latin typeface="华文新魏" pitchFamily="2" charset="-122"/>
                <a:ea typeface="华文新魏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altLang="zh-CN" dirty="0"/>
          </a:p>
        </p:txBody>
      </p:sp>
      <p:sp>
        <p:nvSpPr>
          <p:cNvPr id="88112" name="Rectangle 48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421063" y="3357562"/>
            <a:ext cx="5205412" cy="1085859"/>
          </a:xfrm>
        </p:spPr>
        <p:txBody>
          <a:bodyPr/>
          <a:lstStyle>
            <a:lvl1pPr marL="0" indent="0" algn="r">
              <a:spcBef>
                <a:spcPct val="20000"/>
              </a:spcBef>
              <a:buClrTx/>
              <a:buFontTx/>
              <a:buNone/>
              <a:defRPr sz="2400">
                <a:solidFill>
                  <a:schemeClr val="bg1"/>
                </a:solidFill>
                <a:latin typeface="Bodoni MT Black" pitchFamily="18" charset="0"/>
              </a:defRPr>
            </a:lvl1pPr>
          </a:lstStyle>
          <a:p>
            <a:r>
              <a:rPr lang="zh-CN" altLang="en-US"/>
              <a:t>单击此处编辑母版副标题样式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8639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8"/>
          <p:cNvCxnSpPr>
            <a:cxnSpLocks noChangeShapeType="1"/>
          </p:cNvCxnSpPr>
          <p:nvPr/>
        </p:nvCxnSpPr>
        <p:spPr bwMode="auto">
          <a:xfrm>
            <a:off x="571500" y="6858000"/>
            <a:ext cx="1857375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defRPr>
                <a:latin typeface="华文新魏" pitchFamily="2" charset="-122"/>
                <a:ea typeface="华文新魏" pitchFamily="2" charset="-122"/>
              </a:defRPr>
            </a:lvl1pPr>
            <a:lvl2pPr>
              <a:lnSpc>
                <a:spcPct val="110000"/>
              </a:lnSpc>
              <a:spcBef>
                <a:spcPts val="600"/>
              </a:spcBef>
              <a:buClr>
                <a:srgbClr val="FF9900"/>
              </a:buClr>
              <a:defRPr>
                <a:latin typeface="华文新魏" pitchFamily="2" charset="-122"/>
                <a:ea typeface="华文新魏" pitchFamily="2" charset="-122"/>
              </a:defRPr>
            </a:lvl2pPr>
            <a:lvl3pPr>
              <a:lnSpc>
                <a:spcPct val="110000"/>
              </a:lnSpc>
              <a:spcBef>
                <a:spcPts val="600"/>
              </a:spcBef>
              <a:defRPr>
                <a:latin typeface="华文新魏" pitchFamily="2" charset="-122"/>
                <a:ea typeface="华文新魏" pitchFamily="2" charset="-122"/>
              </a:defRPr>
            </a:lvl3pPr>
            <a:lvl4pPr>
              <a:lnSpc>
                <a:spcPct val="110000"/>
              </a:lnSpc>
              <a:spcBef>
                <a:spcPts val="600"/>
              </a:spcBef>
              <a:buClr>
                <a:srgbClr val="FF9900"/>
              </a:buClr>
              <a:defRPr>
                <a:latin typeface="华文新魏" pitchFamily="2" charset="-122"/>
                <a:ea typeface="华文新魏" pitchFamily="2" charset="-122"/>
              </a:defRPr>
            </a:lvl4pPr>
            <a:lvl5pPr>
              <a:lnSpc>
                <a:spcPct val="110000"/>
              </a:lnSpc>
              <a:spcBef>
                <a:spcPts val="600"/>
              </a:spcBef>
              <a:defRPr>
                <a:latin typeface="华文新魏" pitchFamily="2" charset="-122"/>
                <a:ea typeface="华文新魏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74950253"/>
      </p:ext>
    </p:extLst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r>
              <a:rPr lang="zh-CN" altLang="en-US" noProof="0"/>
              <a:t>单击图标添加表格</a:t>
            </a:r>
          </a:p>
        </p:txBody>
      </p:sp>
    </p:spTree>
    <p:extLst>
      <p:ext uri="{BB962C8B-B14F-4D97-AF65-F5344CB8AC3E}">
        <p14:creationId xmlns:p14="http://schemas.microsoft.com/office/powerpoint/2010/main" val="3026131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461842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54"/>
          <p:cNvSpPr>
            <a:spLocks noChangeArrowheads="1"/>
          </p:cNvSpPr>
          <p:nvPr/>
        </p:nvSpPr>
        <p:spPr bwMode="gray">
          <a:xfrm>
            <a:off x="0" y="6375400"/>
            <a:ext cx="9144000" cy="4826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7" name="Line 56"/>
          <p:cNvSpPr>
            <a:spLocks noChangeShapeType="1"/>
          </p:cNvSpPr>
          <p:nvPr/>
        </p:nvSpPr>
        <p:spPr bwMode="gray">
          <a:xfrm>
            <a:off x="0" y="6369050"/>
            <a:ext cx="9144000" cy="0"/>
          </a:xfrm>
          <a:prstGeom prst="line">
            <a:avLst/>
          </a:prstGeom>
          <a:noFill/>
          <a:ln w="25400">
            <a:solidFill>
              <a:srgbClr val="66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8" name="Rectangle 4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0850" y="1412875"/>
            <a:ext cx="8293100" cy="409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</p:txBody>
      </p:sp>
      <p:sp>
        <p:nvSpPr>
          <p:cNvPr id="1029" name="Text Box 45"/>
          <p:cNvSpPr txBox="1">
            <a:spLocks noChangeArrowheads="1"/>
          </p:cNvSpPr>
          <p:nvPr/>
        </p:nvSpPr>
        <p:spPr bwMode="ltGray">
          <a:xfrm>
            <a:off x="8621713" y="6453188"/>
            <a:ext cx="4857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b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fld id="{6FD76A5C-5101-48E2-B4FF-7E96E16CB41A}" type="slidenum">
              <a:rPr lang="en-US" altLang="zh-CN" sz="1400" b="1" smtClean="0">
                <a:solidFill>
                  <a:schemeClr val="bg1"/>
                </a:solidFill>
              </a:rPr>
              <a:pPr eaLnBrk="1" hangingPunct="1">
                <a:defRPr/>
              </a:pPr>
              <a:t>‹#›</a:t>
            </a:fld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1030" name="Rectangle 46"/>
          <p:cNvSpPr>
            <a:spLocks noGrp="1" noChangeArrowheads="1"/>
          </p:cNvSpPr>
          <p:nvPr>
            <p:ph type="title"/>
          </p:nvPr>
        </p:nvSpPr>
        <p:spPr bwMode="auto">
          <a:xfrm>
            <a:off x="450850" y="139700"/>
            <a:ext cx="8275638" cy="86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31" name="TextBox 6"/>
          <p:cNvSpPr txBox="1">
            <a:spLocks noChangeArrowheads="1"/>
          </p:cNvSpPr>
          <p:nvPr/>
        </p:nvSpPr>
        <p:spPr bwMode="auto">
          <a:xfrm>
            <a:off x="4763" y="6416675"/>
            <a:ext cx="32051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b="1" dirty="0" err="1">
                <a:solidFill>
                  <a:schemeClr val="bg1"/>
                </a:solidFill>
              </a:rPr>
              <a:t>Tongji</a:t>
            </a:r>
            <a:r>
              <a:rPr lang="en-US" altLang="zh-CN" b="1" dirty="0">
                <a:solidFill>
                  <a:schemeClr val="bg1"/>
                </a:solidFill>
              </a:rPr>
              <a:t> University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pic>
        <p:nvPicPr>
          <p:cNvPr id="1032" name="Picture 9" descr="tongji university lo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000" y="115888"/>
            <a:ext cx="212407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  <p:sldLayoutId id="2147483927" r:id="rId2"/>
    <p:sldLayoutId id="2147483923" r:id="rId3"/>
    <p:sldLayoutId id="2147483925" r:id="rId4"/>
  </p:sldLayoutIdLst>
  <p:transition>
    <p:zoom/>
  </p:transition>
  <p:txStyles>
    <p:titleStyle>
      <a:lvl1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Arial" pitchFamily="34" charset="0"/>
        </a:defRPr>
      </a:lvl2pPr>
      <a:lvl3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Arial" pitchFamily="34" charset="0"/>
        </a:defRPr>
      </a:lvl3pPr>
      <a:lvl4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Arial" pitchFamily="34" charset="0"/>
        </a:defRPr>
      </a:lvl4pPr>
      <a:lvl5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Arial" pitchFamily="34" charset="0"/>
        </a:defRPr>
      </a:lvl5pPr>
      <a:lvl6pPr marL="4572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" pitchFamily="34" charset="0"/>
        </a:defRPr>
      </a:lvl6pPr>
      <a:lvl7pPr marL="9144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" pitchFamily="34" charset="0"/>
        </a:defRPr>
      </a:lvl7pPr>
      <a:lvl8pPr marL="13716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" pitchFamily="34" charset="0"/>
        </a:defRPr>
      </a:lvl8pPr>
      <a:lvl9pPr marL="18288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lnSpc>
          <a:spcPct val="110000"/>
        </a:lnSpc>
        <a:spcBef>
          <a:spcPts val="600"/>
        </a:spcBef>
        <a:spcAft>
          <a:spcPct val="0"/>
        </a:spcAft>
        <a:buClr>
          <a:schemeClr val="hlink"/>
        </a:buClr>
        <a:buChar char="•"/>
        <a:defRPr sz="2400" b="1">
          <a:solidFill>
            <a:schemeClr val="tx1"/>
          </a:solidFill>
          <a:latin typeface="华文新魏" pitchFamily="2" charset="-122"/>
          <a:ea typeface="华文新魏" pitchFamily="2" charset="-122"/>
          <a:cs typeface="+mn-cs"/>
        </a:defRPr>
      </a:lvl1pPr>
      <a:lvl2pPr marL="742950" indent="-285750" algn="l" rtl="0" eaLnBrk="0" fontAlgn="base" hangingPunct="0">
        <a:lnSpc>
          <a:spcPct val="110000"/>
        </a:lnSpc>
        <a:spcBef>
          <a:spcPts val="600"/>
        </a:spcBef>
        <a:spcAft>
          <a:spcPct val="0"/>
        </a:spcAft>
        <a:buClr>
          <a:srgbClr val="FF9900"/>
        </a:buClr>
        <a:buChar char="•"/>
        <a:defRPr sz="2200">
          <a:solidFill>
            <a:schemeClr val="tx1"/>
          </a:solidFill>
          <a:latin typeface="华文新魏" pitchFamily="2" charset="-122"/>
          <a:ea typeface="华文新魏" pitchFamily="2" charset="-122"/>
        </a:defRPr>
      </a:lvl2pPr>
      <a:lvl3pPr marL="1143000" indent="-228600" algn="l" rtl="0" eaLnBrk="0" fontAlgn="base" hangingPunct="0">
        <a:lnSpc>
          <a:spcPct val="110000"/>
        </a:lnSpc>
        <a:spcBef>
          <a:spcPts val="600"/>
        </a:spcBef>
        <a:spcAft>
          <a:spcPct val="0"/>
        </a:spcAft>
        <a:buClr>
          <a:schemeClr val="hlink"/>
        </a:buClr>
        <a:buChar char="•"/>
        <a:defRPr>
          <a:solidFill>
            <a:schemeClr val="tx1"/>
          </a:solidFill>
          <a:latin typeface="华文新魏" pitchFamily="2" charset="-122"/>
          <a:ea typeface="华文新魏" pitchFamily="2" charset="-122"/>
        </a:defRPr>
      </a:lvl3pPr>
      <a:lvl4pPr marL="1600200" indent="-228600" algn="l" rtl="0" eaLnBrk="0" fontAlgn="base" hangingPunct="0">
        <a:lnSpc>
          <a:spcPct val="110000"/>
        </a:lnSpc>
        <a:spcBef>
          <a:spcPts val="600"/>
        </a:spcBef>
        <a:spcAft>
          <a:spcPct val="0"/>
        </a:spcAft>
        <a:buClr>
          <a:srgbClr val="FF9900"/>
        </a:buClr>
        <a:buChar char="•"/>
        <a:defRPr sz="1600">
          <a:solidFill>
            <a:schemeClr val="tx1"/>
          </a:solidFill>
          <a:latin typeface="华文新魏" pitchFamily="2" charset="-122"/>
          <a:ea typeface="华文新魏" pitchFamily="2" charset="-122"/>
        </a:defRPr>
      </a:lvl4pPr>
      <a:lvl5pPr marL="2057400" indent="-228600" algn="l" rtl="0" eaLnBrk="0" fontAlgn="base" hangingPunct="0">
        <a:lnSpc>
          <a:spcPct val="110000"/>
        </a:lnSpc>
        <a:spcBef>
          <a:spcPts val="600"/>
        </a:spcBef>
        <a:spcAft>
          <a:spcPct val="0"/>
        </a:spcAft>
        <a:buClr>
          <a:schemeClr val="hlink"/>
        </a:buClr>
        <a:buChar char="•"/>
        <a:defRPr sz="2000">
          <a:solidFill>
            <a:srgbClr val="5F5F5F"/>
          </a:solidFill>
          <a:latin typeface="+mn-lt"/>
          <a:ea typeface="华文新魏" pitchFamily="2" charset="-122"/>
        </a:defRPr>
      </a:lvl5pPr>
      <a:lvl6pPr marL="2514600" indent="-228600" algn="l" rtl="0" eaLnBrk="1" fontAlgn="base" hangingPunct="1">
        <a:lnSpc>
          <a:spcPct val="85000"/>
        </a:lnSpc>
        <a:spcBef>
          <a:spcPct val="30000"/>
        </a:spcBef>
        <a:spcAft>
          <a:spcPct val="0"/>
        </a:spcAft>
        <a:buClr>
          <a:schemeClr val="hlink"/>
        </a:buClr>
        <a:buChar char="•"/>
        <a:defRPr sz="2000">
          <a:solidFill>
            <a:srgbClr val="5F5F5F"/>
          </a:solidFill>
          <a:latin typeface="+mn-lt"/>
        </a:defRPr>
      </a:lvl6pPr>
      <a:lvl7pPr marL="2971800" indent="-228600" algn="l" rtl="0" eaLnBrk="1" fontAlgn="base" hangingPunct="1">
        <a:lnSpc>
          <a:spcPct val="85000"/>
        </a:lnSpc>
        <a:spcBef>
          <a:spcPct val="30000"/>
        </a:spcBef>
        <a:spcAft>
          <a:spcPct val="0"/>
        </a:spcAft>
        <a:buClr>
          <a:schemeClr val="hlink"/>
        </a:buClr>
        <a:buChar char="•"/>
        <a:defRPr sz="2000">
          <a:solidFill>
            <a:srgbClr val="5F5F5F"/>
          </a:solidFill>
          <a:latin typeface="+mn-lt"/>
        </a:defRPr>
      </a:lvl7pPr>
      <a:lvl8pPr marL="3429000" indent="-228600" algn="l" rtl="0" eaLnBrk="1" fontAlgn="base" hangingPunct="1">
        <a:lnSpc>
          <a:spcPct val="85000"/>
        </a:lnSpc>
        <a:spcBef>
          <a:spcPct val="30000"/>
        </a:spcBef>
        <a:spcAft>
          <a:spcPct val="0"/>
        </a:spcAft>
        <a:buClr>
          <a:schemeClr val="hlink"/>
        </a:buClr>
        <a:buChar char="•"/>
        <a:defRPr sz="2000">
          <a:solidFill>
            <a:srgbClr val="5F5F5F"/>
          </a:solidFill>
          <a:latin typeface="+mn-lt"/>
        </a:defRPr>
      </a:lvl8pPr>
      <a:lvl9pPr marL="3886200" indent="-228600" algn="l" rtl="0" eaLnBrk="1" fontAlgn="base" hangingPunct="1">
        <a:lnSpc>
          <a:spcPct val="85000"/>
        </a:lnSpc>
        <a:spcBef>
          <a:spcPct val="30000"/>
        </a:spcBef>
        <a:spcAft>
          <a:spcPct val="0"/>
        </a:spcAft>
        <a:buClr>
          <a:schemeClr val="hlink"/>
        </a:buClr>
        <a:buChar char="•"/>
        <a:defRPr sz="2000">
          <a:solidFill>
            <a:srgbClr val="5F5F5F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python.org/download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www.python.org/download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www.python.org/download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://www.python.org/download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://www.python.org/download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pPr algn="ctr" eaLnBrk="1" hangingPunct="1"/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第一章  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Python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概述</a:t>
            </a:r>
            <a:endParaRPr lang="zh-CN" altLang="en-US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099" name="副标题 2"/>
          <p:cNvSpPr>
            <a:spLocks noGrp="1"/>
          </p:cNvSpPr>
          <p:nvPr>
            <p:ph type="subTitle" sz="quarter" idx="1"/>
          </p:nvPr>
        </p:nvSpPr>
        <p:spPr>
          <a:xfrm>
            <a:off x="3421063" y="3357562"/>
            <a:ext cx="5205412" cy="1439589"/>
          </a:xfrm>
        </p:spPr>
        <p:txBody>
          <a:bodyPr/>
          <a:lstStyle/>
          <a:p>
            <a:pPr eaLnBrk="1" hangingPunct="1"/>
            <a:r>
              <a:rPr lang="zh-CN" altLang="en-US" sz="4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同济大学计算机</a:t>
            </a:r>
            <a:endParaRPr lang="en-US" altLang="zh-CN" sz="40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r>
              <a:rPr lang="zh-CN" altLang="en-US" sz="4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基础教研室</a:t>
            </a:r>
          </a:p>
        </p:txBody>
      </p:sp>
    </p:spTree>
  </p:cSld>
  <p:clrMapOvr>
    <a:masterClrMapping/>
  </p:clrMapOvr>
  <p:transition advTm="21872"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557444" y="260648"/>
            <a:ext cx="7959634" cy="698376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kumimoji="1"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kumimoji="1" lang="zh-CN" altLang="en-US" sz="2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程序设计语言</a:t>
            </a: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8B4BE11C-711D-4ACD-B5D5-5B8FAD4C52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901" y="5596973"/>
            <a:ext cx="8104720" cy="52322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>
            <a:lvl1pPr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kumimoji="1"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kumimoji="1" lang="zh-CN" altLang="zh-CN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解释性的、</a:t>
            </a:r>
            <a:r>
              <a:rPr kumimoji="1" lang="zh-CN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高级的</a:t>
            </a:r>
            <a:r>
              <a:rPr kumimoji="1" lang="zh-CN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zh-CN" altLang="zh-CN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通用的</a:t>
            </a:r>
            <a:r>
              <a:rPr kumimoji="1" lang="zh-CN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程序设计语言</a:t>
            </a:r>
            <a:endParaRPr kumimoji="1" lang="en-US" altLang="zh-CN" sz="2800" b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7" name="Text Box 3">
            <a:extLst>
              <a:ext uri="{FF2B5EF4-FFF2-40B4-BE49-F238E27FC236}">
                <a16:creationId xmlns:a16="http://schemas.microsoft.com/office/drawing/2014/main" id="{2A04C2F3-7A11-4838-BB0F-FA5964A799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624" y="2911121"/>
            <a:ext cx="1224136" cy="707886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>
            <a:lvl1pPr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程序设计</a:t>
            </a:r>
            <a:br>
              <a:rPr kumimoji="1"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1"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语言</a:t>
            </a:r>
            <a:endParaRPr kumimoji="1"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3BBF0AF1-19A0-4AE4-9CEB-45C02BC65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0022" y="1971464"/>
            <a:ext cx="1459970" cy="46166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>
            <a:lvl1pPr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低级语言</a:t>
            </a:r>
            <a:endParaRPr kumimoji="1" lang="en-US" altLang="zh-CN" sz="2400" b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C4042E81-DA6B-4D84-BF5A-FF39B25CA1A0}"/>
              </a:ext>
            </a:extLst>
          </p:cNvPr>
          <p:cNvCxnSpPr>
            <a:cxnSpLocks/>
            <a:endCxn id="8" idx="1"/>
          </p:cNvCxnSpPr>
          <p:nvPr/>
        </p:nvCxnSpPr>
        <p:spPr bwMode="auto">
          <a:xfrm flipV="1">
            <a:off x="2411760" y="2202297"/>
            <a:ext cx="628262" cy="81205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" name="Text Box 3">
            <a:extLst>
              <a:ext uri="{FF2B5EF4-FFF2-40B4-BE49-F238E27FC236}">
                <a16:creationId xmlns:a16="http://schemas.microsoft.com/office/drawing/2014/main" id="{BC616EC7-EA0C-45DB-AE03-8705DBB552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8778" y="3763023"/>
            <a:ext cx="1536810" cy="46166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>
            <a:lvl1pPr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高级语言</a:t>
            </a:r>
            <a:endParaRPr kumimoji="1" lang="en-US" altLang="zh-CN" sz="2400" b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C3ECC47E-C483-4308-B822-CB38FDB6241B}"/>
              </a:ext>
            </a:extLst>
          </p:cNvPr>
          <p:cNvCxnSpPr>
            <a:cxnSpLocks/>
            <a:endCxn id="10" idx="1"/>
          </p:cNvCxnSpPr>
          <p:nvPr/>
        </p:nvCxnSpPr>
        <p:spPr bwMode="auto">
          <a:xfrm>
            <a:off x="2411760" y="3537572"/>
            <a:ext cx="657018" cy="45628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C4042E81-DA6B-4D84-BF5A-FF39B25CA1A0}"/>
              </a:ext>
            </a:extLst>
          </p:cNvPr>
          <p:cNvCxnSpPr>
            <a:cxnSpLocks/>
            <a:endCxn id="19" idx="1"/>
          </p:cNvCxnSpPr>
          <p:nvPr/>
        </p:nvCxnSpPr>
        <p:spPr bwMode="auto">
          <a:xfrm flipV="1">
            <a:off x="4499992" y="1643609"/>
            <a:ext cx="772278" cy="41234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C3ECC47E-C483-4308-B822-CB38FDB6241B}"/>
              </a:ext>
            </a:extLst>
          </p:cNvPr>
          <p:cNvCxnSpPr>
            <a:cxnSpLocks/>
            <a:endCxn id="22" idx="1"/>
          </p:cNvCxnSpPr>
          <p:nvPr/>
        </p:nvCxnSpPr>
        <p:spPr bwMode="auto">
          <a:xfrm>
            <a:off x="4499992" y="2267560"/>
            <a:ext cx="772278" cy="30057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9" name="Text Box 3">
            <a:extLst>
              <a:ext uri="{FF2B5EF4-FFF2-40B4-BE49-F238E27FC236}">
                <a16:creationId xmlns:a16="http://schemas.microsoft.com/office/drawing/2014/main" id="{3BBF0AF1-19A0-4AE4-9CEB-45C02BC65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2270" y="1412776"/>
            <a:ext cx="1459970" cy="46166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>
            <a:lvl1pPr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机器语言</a:t>
            </a:r>
            <a:endParaRPr kumimoji="1" lang="en-US" altLang="zh-CN" sz="2400" b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22" name="Text Box 3">
            <a:extLst>
              <a:ext uri="{FF2B5EF4-FFF2-40B4-BE49-F238E27FC236}">
                <a16:creationId xmlns:a16="http://schemas.microsoft.com/office/drawing/2014/main" id="{3BBF0AF1-19A0-4AE4-9CEB-45C02BC65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2270" y="2337306"/>
            <a:ext cx="1459970" cy="46166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>
            <a:lvl1pPr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汇编语言</a:t>
            </a:r>
            <a:endParaRPr kumimoji="1" lang="en-US" altLang="zh-CN" sz="2400" b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28" name="Text Box 3">
            <a:extLst>
              <a:ext uri="{FF2B5EF4-FFF2-40B4-BE49-F238E27FC236}">
                <a16:creationId xmlns:a16="http://schemas.microsoft.com/office/drawing/2014/main" id="{3BBF0AF1-19A0-4AE4-9CEB-45C02BC65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2270" y="3266941"/>
            <a:ext cx="3332178" cy="46166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>
            <a:lvl1pPr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面向过程程序设计语言</a:t>
            </a:r>
            <a:endParaRPr kumimoji="1" lang="en-US" altLang="zh-CN" sz="2400" b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29" name="Text Box 3">
            <a:extLst>
              <a:ext uri="{FF2B5EF4-FFF2-40B4-BE49-F238E27FC236}">
                <a16:creationId xmlns:a16="http://schemas.microsoft.com/office/drawing/2014/main" id="{3BBF0AF1-19A0-4AE4-9CEB-45C02BC65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2270" y="4191471"/>
            <a:ext cx="3332178" cy="46166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>
            <a:lvl1pPr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面向对象程序设计语言</a:t>
            </a:r>
            <a:endParaRPr kumimoji="1" lang="en-US" altLang="zh-CN" sz="2400" b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C4042E81-DA6B-4D84-BF5A-FF39B25CA1A0}"/>
              </a:ext>
            </a:extLst>
          </p:cNvPr>
          <p:cNvCxnSpPr>
            <a:cxnSpLocks/>
          </p:cNvCxnSpPr>
          <p:nvPr/>
        </p:nvCxnSpPr>
        <p:spPr bwMode="auto">
          <a:xfrm flipV="1">
            <a:off x="4604184" y="3465564"/>
            <a:ext cx="628262" cy="43646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C3ECC47E-C483-4308-B822-CB38FDB6241B}"/>
              </a:ext>
            </a:extLst>
          </p:cNvPr>
          <p:cNvCxnSpPr>
            <a:cxnSpLocks/>
          </p:cNvCxnSpPr>
          <p:nvPr/>
        </p:nvCxnSpPr>
        <p:spPr bwMode="auto">
          <a:xfrm>
            <a:off x="4604184" y="4113636"/>
            <a:ext cx="628262" cy="32347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230946552"/>
      </p:ext>
    </p:extLst>
  </p:cSld>
  <p:clrMapOvr>
    <a:masterClrMapping/>
  </p:clrMapOvr>
  <p:transition advTm="36667"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557444" y="260648"/>
            <a:ext cx="7959634" cy="698376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kumimoji="1"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kumimoji="1" lang="zh-CN" altLang="en-US" sz="2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程序设计语言</a:t>
            </a: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8B4BE11C-711D-4ACD-B5D5-5B8FAD4C52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3608" y="1082639"/>
            <a:ext cx="7473470" cy="52322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>
            <a:lvl1pPr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9pPr>
          </a:lstStyle>
          <a:p>
            <a:pPr marL="457200" indent="-457200" eaLnBrk="1" hangingPunct="1">
              <a:spcBef>
                <a:spcPct val="50000"/>
              </a:spcBef>
              <a:buFont typeface="Wingdings" panose="05000000000000000000" pitchFamily="2" charset="2"/>
              <a:buChar char="n"/>
            </a:pPr>
            <a:r>
              <a:rPr kumimoji="1"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低级语言与高级</a:t>
            </a:r>
            <a:r>
              <a:rPr kumimoji="1" lang="zh-CN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语言</a:t>
            </a:r>
          </a:p>
        </p:txBody>
      </p:sp>
      <p:pic>
        <p:nvPicPr>
          <p:cNvPr id="1025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844824"/>
            <a:ext cx="7795222" cy="1656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Text Box 3">
            <a:extLst>
              <a:ext uri="{FF2B5EF4-FFF2-40B4-BE49-F238E27FC236}">
                <a16:creationId xmlns:a16="http://schemas.microsoft.com/office/drawing/2014/main" id="{8B4BE11C-711D-4ACD-B5D5-5B8FAD4C52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023" y="3522421"/>
            <a:ext cx="8100392" cy="2677656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>
            <a:lvl1pPr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9pPr>
          </a:lstStyle>
          <a:p>
            <a:pPr marL="457200" indent="-457200" eaLnBrk="1" hangingPunct="1">
              <a:spcBef>
                <a:spcPct val="50000"/>
              </a:spcBef>
              <a:buFont typeface="Wingdings" panose="05000000000000000000" pitchFamily="2" charset="2"/>
              <a:buChar char="n"/>
            </a:pPr>
            <a:r>
              <a:rPr kumimoji="1"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高级语言</a:t>
            </a:r>
            <a:endParaRPr kumimoji="1" lang="zh-CN" altLang="zh-CN" sz="2800" b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kumimoji="1"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kumimoji="1"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面向</a:t>
            </a:r>
            <a:r>
              <a:rPr kumimoji="1"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自然语言和数学语言</a:t>
            </a:r>
            <a:r>
              <a:rPr kumimoji="1"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，远离机器的程序设计语言</a:t>
            </a:r>
            <a:endParaRPr kumimoji="1" lang="en-US" altLang="zh-CN" sz="2400" b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kumimoji="1"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kumimoji="1" lang="zh-CN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①</a:t>
            </a:r>
            <a:r>
              <a:rPr kumimoji="1"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1" lang="zh-CN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面向过程程序设计语言</a:t>
            </a:r>
            <a:r>
              <a:rPr kumimoji="1"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BASIC</a:t>
            </a:r>
            <a:r>
              <a:rPr kumimoji="1" lang="zh-CN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  <a:p>
            <a:pPr>
              <a:lnSpc>
                <a:spcPct val="125000"/>
              </a:lnSpc>
            </a:pPr>
            <a:r>
              <a:rPr kumimoji="1"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②  </a:t>
            </a:r>
            <a:r>
              <a:rPr kumimoji="1" lang="zh-CN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面向对象程序设计语言</a:t>
            </a:r>
            <a:r>
              <a:rPr kumimoji="1"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Visual Basic</a:t>
            </a:r>
            <a:r>
              <a:rPr kumimoji="1" lang="zh-CN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C++</a:t>
            </a:r>
            <a:br>
              <a:rPr kumimoji="1"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1" lang="en-US" altLang="zh-CN" sz="2800" b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C#</a:t>
            </a:r>
            <a:r>
              <a:rPr kumimoji="1" lang="zh-CN" altLang="en-US" sz="2800" b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-US" altLang="zh-CN" sz="2800" b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kumimoji="1" lang="zh-CN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</p:txBody>
      </p:sp>
    </p:spTree>
    <p:extLst>
      <p:ext uri="{BB962C8B-B14F-4D97-AF65-F5344CB8AC3E}">
        <p14:creationId xmlns:p14="http://schemas.microsoft.com/office/powerpoint/2010/main" val="458363337"/>
      </p:ext>
    </p:extLst>
  </p:cSld>
  <p:clrMapOvr>
    <a:masterClrMapping/>
  </p:clrMapOvr>
  <p:transition advTm="54358"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557444" y="260648"/>
            <a:ext cx="7959634" cy="698376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kumimoji="1"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kumimoji="1" lang="zh-CN" altLang="en-US" sz="2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程序设计语言转执行代码</a:t>
            </a: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8B4BE11C-711D-4ACD-B5D5-5B8FAD4C52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444" y="1124744"/>
            <a:ext cx="8539230" cy="52322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>
            <a:lvl1pPr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9pPr>
          </a:lstStyle>
          <a:p>
            <a:pPr marL="457200" indent="-457200" eaLnBrk="1" hangingPunct="1">
              <a:spcBef>
                <a:spcPct val="50000"/>
              </a:spcBef>
              <a:buFont typeface="Wingdings" panose="05000000000000000000" pitchFamily="2" charset="2"/>
              <a:buChar char="n"/>
            </a:pPr>
            <a:r>
              <a:rPr kumimoji="1"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kumimoji="1"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kumimoji="1" lang="zh-CN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解释性</a:t>
            </a:r>
            <a:r>
              <a:rPr kumimoji="1" lang="zh-CN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的、高级的、通用的程序设计语言</a:t>
            </a:r>
            <a:endParaRPr kumimoji="1" lang="en-US" altLang="zh-CN" sz="2800" b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7" name="Text Box 3">
            <a:extLst>
              <a:ext uri="{FF2B5EF4-FFF2-40B4-BE49-F238E27FC236}">
                <a16:creationId xmlns:a16="http://schemas.microsoft.com/office/drawing/2014/main" id="{2A04C2F3-7A11-4838-BB0F-FA5964A799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96" y="2608726"/>
            <a:ext cx="2371432" cy="52322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>
            <a:lvl1pPr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高级语言程序</a:t>
            </a:r>
            <a:endParaRPr kumimoji="1" lang="en-US" altLang="zh-CN" sz="2800" b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3BBF0AF1-19A0-4AE4-9CEB-45C02BC65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5190" y="1910654"/>
            <a:ext cx="5713274" cy="46166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>
            <a:lvl1pPr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翻译一条命令执行一条，即边翻译边执行</a:t>
            </a:r>
            <a:endParaRPr kumimoji="1" lang="en-US" altLang="zh-CN" sz="2400" b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C4042E81-DA6B-4D84-BF5A-FF39B25CA1A0}"/>
              </a:ext>
            </a:extLst>
          </p:cNvPr>
          <p:cNvCxnSpPr>
            <a:cxnSpLocks/>
          </p:cNvCxnSpPr>
          <p:nvPr/>
        </p:nvCxnSpPr>
        <p:spPr bwMode="auto">
          <a:xfrm flipV="1">
            <a:off x="2406928" y="2172264"/>
            <a:ext cx="628262" cy="43646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" name="Text Box 3">
            <a:extLst>
              <a:ext uri="{FF2B5EF4-FFF2-40B4-BE49-F238E27FC236}">
                <a16:creationId xmlns:a16="http://schemas.microsoft.com/office/drawing/2014/main" id="{BC616EC7-EA0C-45DB-AE03-8705DBB552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5190" y="3193812"/>
            <a:ext cx="4273114" cy="46166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>
            <a:lvl1pPr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翻译、链接成可执行程序</a:t>
            </a:r>
            <a:r>
              <a:rPr kumimoji="1"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(.exe)</a:t>
            </a:r>
            <a:endParaRPr kumimoji="1" lang="en-US" altLang="zh-CN" sz="2400" b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C3ECC47E-C483-4308-B822-CB38FDB6241B}"/>
              </a:ext>
            </a:extLst>
          </p:cNvPr>
          <p:cNvCxnSpPr>
            <a:cxnSpLocks/>
          </p:cNvCxnSpPr>
          <p:nvPr/>
        </p:nvCxnSpPr>
        <p:spPr bwMode="auto">
          <a:xfrm>
            <a:off x="2406928" y="3131946"/>
            <a:ext cx="628262" cy="32347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CC16E2A0-3F1D-4B6E-B06A-160EC5E675CA}"/>
              </a:ext>
            </a:extLst>
          </p:cNvPr>
          <p:cNvCxnSpPr>
            <a:cxnSpLocks/>
          </p:cNvCxnSpPr>
          <p:nvPr/>
        </p:nvCxnSpPr>
        <p:spPr bwMode="auto">
          <a:xfrm>
            <a:off x="7308304" y="3455422"/>
            <a:ext cx="504056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8" name="Text Box 3">
            <a:extLst>
              <a:ext uri="{FF2B5EF4-FFF2-40B4-BE49-F238E27FC236}">
                <a16:creationId xmlns:a16="http://schemas.microsoft.com/office/drawing/2014/main" id="{0585F9FB-001E-43A3-8BCE-96E6C2F9C9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2360" y="3211387"/>
            <a:ext cx="1440160" cy="46166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>
            <a:lvl1pPr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执行程序</a:t>
            </a:r>
            <a:endParaRPr kumimoji="1" lang="en-US" altLang="zh-CN" sz="2400" b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20" name="Text Box 3">
            <a:extLst>
              <a:ext uri="{FF2B5EF4-FFF2-40B4-BE49-F238E27FC236}">
                <a16:creationId xmlns:a16="http://schemas.microsoft.com/office/drawing/2014/main" id="{DFE055B3-A19B-4C56-B887-A57DEA4E26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1534" y="2391271"/>
            <a:ext cx="2836610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解释   解释器</a:t>
            </a:r>
            <a:endParaRPr kumimoji="1"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21" name="Text Box 3">
            <a:extLst>
              <a:ext uri="{FF2B5EF4-FFF2-40B4-BE49-F238E27FC236}">
                <a16:creationId xmlns:a16="http://schemas.microsoft.com/office/drawing/2014/main" id="{9C5EA628-3F7E-4382-A6ED-C9F34B2FF5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1534" y="3673052"/>
            <a:ext cx="3916730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编译   编译器、编译程序</a:t>
            </a:r>
            <a:endParaRPr kumimoji="1"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23" name="Text Box 3">
            <a:extLst>
              <a:ext uri="{FF2B5EF4-FFF2-40B4-BE49-F238E27FC236}">
                <a16:creationId xmlns:a16="http://schemas.microsoft.com/office/drawing/2014/main" id="{44185349-441F-4429-B38A-E593ED97EA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444" y="5301208"/>
            <a:ext cx="8545916" cy="46166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>
            <a:lvl1pPr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kumimoji="1" lang="zh-CN" altLang="en-US" sz="2400" b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kumimoji="1"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解释性的、</a:t>
            </a:r>
            <a:r>
              <a:rPr kumimoji="1"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C/C++</a:t>
            </a:r>
            <a:r>
              <a:rPr kumimoji="1"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C#</a:t>
            </a:r>
            <a:r>
              <a:rPr kumimoji="1"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是编译性的</a:t>
            </a:r>
            <a:endParaRPr kumimoji="1" lang="en-US" altLang="zh-CN" sz="2400" b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2050" name="Picture 6338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39" y="4146096"/>
            <a:ext cx="5672491" cy="1072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17217370"/>
      </p:ext>
    </p:extLst>
  </p:cSld>
  <p:clrMapOvr>
    <a:masterClrMapping/>
  </p:clrMapOvr>
  <p:transition advTm="88129"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557444" y="260648"/>
            <a:ext cx="7959634" cy="698376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en-US" altLang="zh-CN" dirty="0">
                <a:latin typeface="黑体" pitchFamily="49" charset="-122"/>
                <a:ea typeface="黑体" pitchFamily="49" charset="-122"/>
              </a:rPr>
              <a:t>Python</a:t>
            </a:r>
            <a:r>
              <a:rPr lang="zh-CN" altLang="en-US" dirty="0">
                <a:latin typeface="黑体" pitchFamily="49" charset="-122"/>
                <a:ea typeface="黑体" pitchFamily="49" charset="-122"/>
              </a:rPr>
              <a:t>开发环境</a:t>
            </a:r>
          </a:p>
        </p:txBody>
      </p:sp>
      <p:sp>
        <p:nvSpPr>
          <p:cNvPr id="64515" name="Text Box 3"/>
          <p:cNvSpPr txBox="1">
            <a:spLocks noChangeArrowheads="1"/>
          </p:cNvSpPr>
          <p:nvPr/>
        </p:nvSpPr>
        <p:spPr bwMode="auto">
          <a:xfrm>
            <a:off x="324793" y="1120641"/>
            <a:ext cx="8424936" cy="224676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>
            <a:lvl1pPr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anose="05000000000000000000" pitchFamily="2" charset="2"/>
              <a:buChar char="n"/>
            </a:pPr>
            <a:r>
              <a:rPr kumimoji="1" lang="en-US" altLang="zh-CN" sz="2800" b="1" dirty="0">
                <a:solidFill>
                  <a:srgbClr val="FF0000"/>
                </a:solidFill>
                <a:latin typeface="宋体" charset="-122"/>
                <a:hlinkClick r:id="rId2"/>
              </a:rPr>
              <a:t>anaconda</a:t>
            </a:r>
            <a:r>
              <a:rPr kumimoji="1" lang="zh-CN" altLang="en-US" sz="2800" b="1" dirty="0">
                <a:solidFill>
                  <a:schemeClr val="tx1"/>
                </a:solidFill>
                <a:latin typeface="宋体" charset="-122"/>
                <a:hlinkClick r:id="rId2"/>
              </a:rPr>
              <a:t>：集成好，大多数包都包括</a:t>
            </a:r>
            <a:endParaRPr kumimoji="1" lang="en-US" altLang="zh-CN" sz="2800" b="1" dirty="0">
              <a:solidFill>
                <a:schemeClr val="tx1"/>
              </a:solidFill>
              <a:latin typeface="宋体" charset="-122"/>
              <a:hlinkClick r:id="" action="ppaction://noaction"/>
            </a:endParaRPr>
          </a:p>
          <a:p>
            <a:pPr algn="just"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chemeClr val="tx1"/>
                </a:solidFill>
                <a:latin typeface="宋体" charset="-122"/>
              </a:rPr>
              <a:t>下载地址：清华镜像，</a:t>
            </a:r>
            <a:r>
              <a:rPr kumimoji="1" lang="zh-CN" altLang="en-US" sz="2800" b="1" dirty="0">
                <a:solidFill>
                  <a:srgbClr val="FF0000"/>
                </a:solidFill>
                <a:latin typeface="宋体" charset="-122"/>
              </a:rPr>
              <a:t>用最新版本</a:t>
            </a:r>
            <a:endParaRPr kumimoji="1" lang="en-US" altLang="zh-CN" sz="2800" b="1" dirty="0">
              <a:solidFill>
                <a:srgbClr val="FF0000"/>
              </a:solidFill>
              <a:latin typeface="宋体" charset="-122"/>
            </a:endParaRPr>
          </a:p>
          <a:p>
            <a:pPr algn="just" eaLnBrk="1" hangingPunct="1">
              <a:spcBef>
                <a:spcPct val="50000"/>
              </a:spcBef>
            </a:pPr>
            <a:r>
              <a:rPr kumimoji="1" lang="en-US" altLang="zh-CN" sz="2800" b="1" dirty="0">
                <a:solidFill>
                  <a:schemeClr val="tx1"/>
                </a:solidFill>
                <a:latin typeface="宋体" charset="-122"/>
              </a:rPr>
              <a:t>https://mirrors.tuna.tsinghua.edu.cn/anaconda/archive/?C=M&amp;O=D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260" y="3529029"/>
            <a:ext cx="4832932" cy="2543648"/>
          </a:xfrm>
          <a:prstGeom prst="rect">
            <a:avLst/>
          </a:prstGeom>
        </p:spPr>
      </p:pic>
      <p:sp>
        <p:nvSpPr>
          <p:cNvPr id="2" name="椭圆 1"/>
          <p:cNvSpPr/>
          <p:nvPr/>
        </p:nvSpPr>
        <p:spPr bwMode="auto">
          <a:xfrm>
            <a:off x="545260" y="4293096"/>
            <a:ext cx="4832932" cy="576064"/>
          </a:xfrm>
          <a:prstGeom prst="ellipse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0541755"/>
      </p:ext>
    </p:extLst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557444" y="260648"/>
            <a:ext cx="7959634" cy="698376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kumimoji="1" lang="zh-CN" altLang="en-US" sz="2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四、</a:t>
            </a:r>
            <a:r>
              <a:rPr kumimoji="1"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kumimoji="1" lang="zh-CN" altLang="en-US" sz="2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开发环境</a:t>
            </a:r>
          </a:p>
        </p:txBody>
      </p:sp>
      <p:sp>
        <p:nvSpPr>
          <p:cNvPr id="64515" name="Text Box 3"/>
          <p:cNvSpPr txBox="1">
            <a:spLocks noChangeArrowheads="1"/>
          </p:cNvSpPr>
          <p:nvPr/>
        </p:nvSpPr>
        <p:spPr bwMode="auto">
          <a:xfrm>
            <a:off x="557444" y="997037"/>
            <a:ext cx="8424936" cy="100822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>
            <a:lvl1pPr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9pPr>
          </a:lstStyle>
          <a:p>
            <a:pPr marL="457200" indent="-457200" eaLnBrk="1" hangingPunct="1">
              <a:lnSpc>
                <a:spcPct val="124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r>
              <a:rPr kumimoji="1"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Anaconda</a:t>
            </a:r>
            <a:r>
              <a:rPr kumimoji="1" lang="en-US" altLang="zh-CN" sz="2400" b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457200" indent="-457200" eaLnBrk="1" hangingPunct="1">
              <a:lnSpc>
                <a:spcPct val="124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r>
              <a:rPr kumimoji="1" lang="zh-CN" altLang="en-US" sz="2400" b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从</a:t>
            </a:r>
            <a:r>
              <a:rPr kumimoji="1" lang="en-US" altLang="zh-CN" sz="2400" b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windows</a:t>
            </a:r>
            <a:r>
              <a:rPr kumimoji="1" lang="zh-CN" altLang="en-US" sz="2400" b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的开始菜单，运行</a:t>
            </a:r>
            <a:r>
              <a:rPr kumimoji="1" lang="en-US" altLang="zh-CN" sz="2400" b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Spyder</a:t>
            </a:r>
            <a:r>
              <a:rPr kumimoji="1" lang="zh-CN" altLang="en-US" sz="2400" b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，开始编程序</a:t>
            </a:r>
            <a:endParaRPr kumimoji="1" lang="en-US" altLang="zh-CN" sz="2400" b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1655E5F2-DBBA-43F4-B6BD-58ED7481D0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2564904"/>
            <a:ext cx="3255554" cy="3168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椭圆 1"/>
          <p:cNvSpPr/>
          <p:nvPr/>
        </p:nvSpPr>
        <p:spPr bwMode="auto">
          <a:xfrm>
            <a:off x="1375241" y="5157192"/>
            <a:ext cx="2088232" cy="792088"/>
          </a:xfrm>
          <a:prstGeom prst="ellipse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4714923"/>
      </p:ext>
    </p:extLst>
  </p:cSld>
  <p:clrMapOvr>
    <a:masterClrMapping/>
  </p:clrMapOvr>
  <p:transition advTm="14999"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557444" y="260648"/>
            <a:ext cx="7959634" cy="698376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kumimoji="1" lang="zh-CN" altLang="en-US" sz="2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四、</a:t>
            </a:r>
            <a:r>
              <a:rPr kumimoji="1"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kumimoji="1" lang="zh-CN" altLang="en-US" sz="2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开发环境</a:t>
            </a:r>
          </a:p>
        </p:txBody>
      </p:sp>
      <p:sp>
        <p:nvSpPr>
          <p:cNvPr id="64515" name="Text Box 3"/>
          <p:cNvSpPr txBox="1">
            <a:spLocks noChangeArrowheads="1"/>
          </p:cNvSpPr>
          <p:nvPr/>
        </p:nvSpPr>
        <p:spPr bwMode="auto">
          <a:xfrm>
            <a:off x="557444" y="997037"/>
            <a:ext cx="8424936" cy="50796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>
            <a:lvl1pPr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9pPr>
          </a:lstStyle>
          <a:p>
            <a:pPr marL="457200" indent="-457200" eaLnBrk="1" hangingPunct="1">
              <a:lnSpc>
                <a:spcPct val="124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r>
              <a:rPr kumimoji="1"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Anaconda	</a:t>
            </a:r>
            <a:endParaRPr kumimoji="1" lang="en-US" altLang="zh-CN" sz="2400" b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4100" name="图片 1">
            <a:extLst>
              <a:ext uri="{FF2B5EF4-FFF2-40B4-BE49-F238E27FC236}">
                <a16:creationId xmlns:a16="http://schemas.microsoft.com/office/drawing/2014/main" id="{ADFC70B5-9FE9-48E6-81F7-9F47C479BA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3340" y="2024844"/>
            <a:ext cx="6455003" cy="3384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5">
            <a:extLst>
              <a:ext uri="{FF2B5EF4-FFF2-40B4-BE49-F238E27FC236}">
                <a16:creationId xmlns:a16="http://schemas.microsoft.com/office/drawing/2014/main" id="{243DF1EC-735F-4A49-A8D9-FC5ED4A4A3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2" y="3559298"/>
            <a:ext cx="1140018" cy="698376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rgbClr val="000066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编辑窗口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rgbClr val="000066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Line 6">
            <a:extLst>
              <a:ext uri="{FF2B5EF4-FFF2-40B4-BE49-F238E27FC236}">
                <a16:creationId xmlns:a16="http://schemas.microsoft.com/office/drawing/2014/main" id="{0A19ED94-C344-4F03-A748-B9DB704499FE}"/>
              </a:ext>
            </a:extLst>
          </p:cNvPr>
          <p:cNvSpPr>
            <a:spLocks noChangeShapeType="1"/>
          </p:cNvSpPr>
          <p:nvPr/>
        </p:nvSpPr>
        <p:spPr bwMode="auto">
          <a:xfrm>
            <a:off x="1043607" y="3717032"/>
            <a:ext cx="4572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" name="Text Box 5">
            <a:extLst>
              <a:ext uri="{FF2B5EF4-FFF2-40B4-BE49-F238E27FC236}">
                <a16:creationId xmlns:a16="http://schemas.microsoft.com/office/drawing/2014/main" id="{593F658B-C37C-4281-974D-7B7DAFF3F9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7823" y="4581128"/>
            <a:ext cx="1325718" cy="698376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rgbClr val="000066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控制台窗口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rgbClr val="000066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Line 7">
            <a:extLst>
              <a:ext uri="{FF2B5EF4-FFF2-40B4-BE49-F238E27FC236}">
                <a16:creationId xmlns:a16="http://schemas.microsoft.com/office/drawing/2014/main" id="{0C0DEDD7-1C85-44CF-A11F-FE20B86EFEF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08303" y="4725144"/>
            <a:ext cx="4572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4527843"/>
      </p:ext>
    </p:extLst>
  </p:cSld>
  <p:clrMapOvr>
    <a:masterClrMapping/>
  </p:clrMapOvr>
  <p:transition advTm="37944"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557444" y="260648"/>
            <a:ext cx="7959634" cy="698376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kumimoji="1" lang="zh-CN" altLang="en-US" sz="2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五、程序调试</a:t>
            </a:r>
          </a:p>
        </p:txBody>
      </p:sp>
      <p:sp>
        <p:nvSpPr>
          <p:cNvPr id="64515" name="Text Box 3"/>
          <p:cNvSpPr txBox="1">
            <a:spLocks noChangeArrowheads="1"/>
          </p:cNvSpPr>
          <p:nvPr/>
        </p:nvSpPr>
        <p:spPr bwMode="auto">
          <a:xfrm>
            <a:off x="557444" y="997037"/>
            <a:ext cx="8424936" cy="330539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>
            <a:lvl1pPr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9pPr>
          </a:lstStyle>
          <a:p>
            <a:pPr marL="457200" indent="-457200" eaLnBrk="1" hangingPunct="1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r>
              <a:rPr kumimoji="1"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三分编程七分调试</a:t>
            </a:r>
            <a:endParaRPr kumimoji="1" lang="en-US" altLang="zh-CN" sz="2400" b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r>
              <a:rPr kumimoji="1"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两类</a:t>
            </a:r>
            <a:r>
              <a:rPr kumimoji="1"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错误</a:t>
            </a:r>
            <a:r>
              <a:rPr kumimoji="1"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kumimoji="1" lang="en-US" altLang="zh-CN" sz="2400" b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25000"/>
              </a:lnSpc>
              <a:spcBef>
                <a:spcPts val="0"/>
              </a:spcBef>
            </a:pPr>
            <a:r>
              <a:rPr kumimoji="1"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kumimoji="1"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①</a:t>
            </a:r>
            <a:r>
              <a:rPr kumimoji="1"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语法错误</a:t>
            </a:r>
            <a:r>
              <a:rPr kumimoji="1"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1"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</a:t>
            </a:r>
            <a:r>
              <a:rPr kumimoji="1"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大小写错误</a:t>
            </a:r>
            <a:r>
              <a:rPr kumimoji="1"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kumimoji="1"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解释器可以发现</a:t>
            </a:r>
            <a:endParaRPr kumimoji="1" lang="en-US" altLang="zh-CN" sz="2400" b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25000"/>
              </a:lnSpc>
              <a:spcBef>
                <a:spcPts val="0"/>
              </a:spcBef>
            </a:pPr>
            <a:r>
              <a:rPr kumimoji="1"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② </a:t>
            </a:r>
            <a:r>
              <a:rPr kumimoji="1"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逻辑错误</a:t>
            </a:r>
            <a:r>
              <a:rPr kumimoji="1"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1"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</a:t>
            </a:r>
            <a:r>
              <a:rPr kumimoji="1" lang="en-US" altLang="zh-CN" sz="2400" b="1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kumimoji="1"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写成</a:t>
            </a:r>
            <a:r>
              <a:rPr kumimoji="1"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a-b</a:t>
            </a:r>
            <a:r>
              <a:rPr kumimoji="1"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kumimoji="1"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解释器</a:t>
            </a:r>
            <a:r>
              <a:rPr kumimoji="1"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</a:t>
            </a:r>
            <a:r>
              <a:rPr kumimoji="1"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可以发现</a:t>
            </a:r>
            <a:endParaRPr kumimoji="1" lang="en-US" altLang="zh-CN" sz="2400" b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r>
              <a:rPr kumimoji="1"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错误信息形式</a:t>
            </a:r>
            <a:r>
              <a:rPr kumimoji="1"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kumimoji="1" lang="en-US" altLang="zh-CN" sz="2400" b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kumimoji="1"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 "</a:t>
            </a:r>
            <a:r>
              <a:rPr kumimoji="1"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文件名</a:t>
            </a:r>
            <a:r>
              <a:rPr kumimoji="1"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", line </a:t>
            </a:r>
            <a:r>
              <a:rPr kumimoji="1"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行号</a:t>
            </a:r>
            <a:r>
              <a:rPr kumimoji="1"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in &lt;module&gt;</a:t>
            </a:r>
            <a:endParaRPr kumimoji="1" lang="zh-CN" altLang="zh-CN" sz="2000" b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kumimoji="1"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错误代码</a:t>
            </a:r>
          </a:p>
          <a:p>
            <a:pPr lvl="1"/>
            <a:r>
              <a:rPr kumimoji="1"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错误类型</a:t>
            </a:r>
            <a:r>
              <a:rPr kumimoji="1"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1"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错误内容</a:t>
            </a:r>
          </a:p>
        </p:txBody>
      </p:sp>
      <p:sp>
        <p:nvSpPr>
          <p:cNvPr id="2" name="矩形 1"/>
          <p:cNvSpPr/>
          <p:nvPr/>
        </p:nvSpPr>
        <p:spPr>
          <a:xfrm>
            <a:off x="532224" y="4509120"/>
            <a:ext cx="7784192" cy="138499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266700" indent="269875">
              <a:spcAft>
                <a:spcPts val="0"/>
              </a:spcAft>
            </a:pPr>
            <a:r>
              <a:rPr kumimoji="1"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例子：</a:t>
            </a:r>
            <a:endParaRPr kumimoji="1"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charset="-122"/>
              <a:cs typeface="Times New Roman" panose="02020603050405020304" pitchFamily="18" charset="0"/>
            </a:endParaRPr>
          </a:p>
          <a:p>
            <a:pPr marL="266700" indent="269875">
              <a:spcAft>
                <a:spcPts val="0"/>
              </a:spcAft>
            </a:pPr>
            <a:r>
              <a:rPr kumimoji="1"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File "C:/Test/A2R.PY", line 1, in &lt;module&gt;</a:t>
            </a:r>
            <a:endParaRPr kumimoji="1" lang="zh-CN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charset="-122"/>
              <a:cs typeface="Times New Roman" panose="02020603050405020304" pitchFamily="18" charset="0"/>
            </a:endParaRPr>
          </a:p>
          <a:p>
            <a:pPr marL="266700" indent="269875">
              <a:spcAft>
                <a:spcPts val="0"/>
              </a:spcAft>
            </a:pPr>
            <a:r>
              <a:rPr kumimoji="1"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import </a:t>
            </a:r>
            <a:r>
              <a:rPr kumimoji="1"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Math  </a:t>
            </a:r>
            <a:r>
              <a:rPr kumimoji="1"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                        #</a:t>
            </a:r>
            <a:r>
              <a:rPr kumimoji="1"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导入</a:t>
            </a:r>
            <a:r>
              <a:rPr kumimoji="1"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math</a:t>
            </a:r>
            <a:r>
              <a:rPr kumimoji="1"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模块</a:t>
            </a:r>
          </a:p>
          <a:p>
            <a:pPr marL="266700" indent="269875">
              <a:spcAft>
                <a:spcPts val="0"/>
              </a:spcAft>
            </a:pPr>
            <a:r>
              <a:rPr kumimoji="1" lang="en-US" altLang="zh-CN" sz="2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ModuleNotFoundError</a:t>
            </a:r>
            <a:r>
              <a:rPr kumimoji="1"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: No module named 'Math</a:t>
            </a:r>
            <a:r>
              <a:rPr lang="en-US" altLang="zh-CN" kern="100" dirty="0">
                <a:latin typeface="Times New Roman" panose="02020603050405020304" pitchFamily="18" charset="0"/>
              </a:rPr>
              <a:t>'</a:t>
            </a:r>
            <a:endParaRPr lang="zh-CN" altLang="zh-CN" sz="2400" kern="100" dirty="0">
              <a:latin typeface="Times New Roman" panose="02020603050405020304" pitchFamily="18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659" r="82333" b="47363"/>
          <a:stretch/>
        </p:blipFill>
        <p:spPr bwMode="auto">
          <a:xfrm>
            <a:off x="6444208" y="764704"/>
            <a:ext cx="2087789" cy="11212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47766545"/>
      </p:ext>
    </p:extLst>
  </p:cSld>
  <p:clrMapOvr>
    <a:masterClrMapping/>
  </p:clrMapOvr>
  <p:transition advTm="159229"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557444" y="260648"/>
            <a:ext cx="7959634" cy="698376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kumimoji="1" lang="zh-CN" altLang="en-US" sz="2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五、程序调试</a:t>
            </a:r>
          </a:p>
        </p:txBody>
      </p:sp>
      <p:sp>
        <p:nvSpPr>
          <p:cNvPr id="64515" name="Text Box 3"/>
          <p:cNvSpPr txBox="1">
            <a:spLocks noChangeArrowheads="1"/>
          </p:cNvSpPr>
          <p:nvPr/>
        </p:nvSpPr>
        <p:spPr bwMode="auto">
          <a:xfrm>
            <a:off x="557444" y="997037"/>
            <a:ext cx="8424936" cy="1661993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>
            <a:lvl1pPr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9pPr>
          </a:lstStyle>
          <a:p>
            <a:pPr>
              <a:lnSpc>
                <a:spcPct val="125000"/>
              </a:lnSpc>
            </a:pPr>
            <a:r>
              <a:rPr kumimoji="1"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⑤ 数据类型错误</a:t>
            </a:r>
          </a:p>
          <a:p>
            <a:r>
              <a:rPr kumimoji="1" lang="en-US" altLang="zh-CN" sz="1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 input(“</a:t>
            </a:r>
            <a:r>
              <a:rPr kumimoji="1" lang="zh-CN" altLang="zh-CN" sz="1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请</a:t>
            </a:r>
            <a:r>
              <a:rPr kumimoji="1" lang="en-US" altLang="zh-CN" sz="1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zh-CN" altLang="zh-CN" sz="1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的值：</a:t>
            </a:r>
            <a:r>
              <a:rPr kumimoji="1" lang="en-US" altLang="zh-CN" sz="1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”)   #x</a:t>
            </a:r>
            <a:r>
              <a:rPr kumimoji="1" lang="zh-CN" altLang="en-US" sz="1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是字符类型，例如“</a:t>
            </a:r>
            <a:r>
              <a:rPr kumimoji="1" lang="en-US" altLang="zh-CN" sz="1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kumimoji="1" lang="zh-CN" altLang="en-US" sz="1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kumimoji="1" lang="zh-CN" altLang="zh-CN" sz="1800" b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CN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y=x*x</a:t>
            </a:r>
            <a:r>
              <a:rPr kumimoji="1" lang="en-US" altLang="zh-CN" sz="1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</a:p>
          <a:p>
            <a:r>
              <a:rPr kumimoji="1" lang="en-US" altLang="zh-CN" sz="1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print(y)</a:t>
            </a:r>
            <a:endParaRPr kumimoji="1" lang="zh-CN" altLang="zh-CN" sz="1800" b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zh-CN" altLang="zh-CN" sz="1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此错误信息为：</a:t>
            </a:r>
            <a:r>
              <a:rPr kumimoji="1" lang="en-US" altLang="zh-CN" sz="1800" b="1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TypeError</a:t>
            </a:r>
            <a:r>
              <a:rPr kumimoji="1" lang="en-US" altLang="zh-CN" sz="18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can't multiply sequence by non-int of type 'str'</a:t>
            </a:r>
            <a:endParaRPr kumimoji="1" lang="zh-CN" altLang="zh-CN" sz="1800" b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104" name="Picture 8">
            <a:extLst>
              <a:ext uri="{FF2B5EF4-FFF2-40B4-BE49-F238E27FC236}">
                <a16:creationId xmlns:a16="http://schemas.microsoft.com/office/drawing/2014/main" id="{A2816325-6722-4DCF-954E-A1D0E22C56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2708920"/>
            <a:ext cx="4043970" cy="3168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A3868BEB-5757-46DD-9F8F-6AF55C01047C}"/>
              </a:ext>
            </a:extLst>
          </p:cNvPr>
          <p:cNvSpPr/>
          <p:nvPr/>
        </p:nvSpPr>
        <p:spPr>
          <a:xfrm>
            <a:off x="229921" y="3477488"/>
            <a:ext cx="4572000" cy="1631216"/>
          </a:xfrm>
          <a:prstGeom prst="rect">
            <a:avLst/>
          </a:prstGeom>
        </p:spPr>
        <p:txBody>
          <a:bodyPr>
            <a:spAutoFit/>
          </a:bodyPr>
          <a:lstStyle/>
          <a:p>
            <a:pPr marL="266700" indent="266700" algn="just">
              <a:lnSpc>
                <a:spcPts val="2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 panose="02020603050405020304" pitchFamily="18" charset="0"/>
              </a:rPr>
              <a:t>Debug</a:t>
            </a:r>
            <a:r>
              <a:rPr lang="zh-CN" altLang="zh-CN" kern="100" dirty="0">
                <a:latin typeface="Times New Roman" panose="02020603050405020304" pitchFamily="18" charset="0"/>
              </a:rPr>
              <a:t>：开始调试</a:t>
            </a:r>
          </a:p>
          <a:p>
            <a:pPr marL="266700" indent="266700" algn="just">
              <a:lnSpc>
                <a:spcPts val="2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 panose="02020603050405020304" pitchFamily="18" charset="0"/>
              </a:rPr>
              <a:t>Step</a:t>
            </a:r>
            <a:r>
              <a:rPr lang="zh-CN" altLang="zh-CN" kern="100" dirty="0">
                <a:latin typeface="Times New Roman" panose="02020603050405020304" pitchFamily="18" charset="0"/>
              </a:rPr>
              <a:t>：开始单步执行</a:t>
            </a:r>
          </a:p>
          <a:p>
            <a:pPr marL="266700" indent="266700" algn="just">
              <a:lnSpc>
                <a:spcPts val="2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 panose="02020603050405020304" pitchFamily="18" charset="0"/>
              </a:rPr>
              <a:t>Step Info</a:t>
            </a:r>
            <a:r>
              <a:rPr lang="zh-CN" altLang="zh-CN" kern="100" dirty="0">
                <a:latin typeface="Times New Roman" panose="02020603050405020304" pitchFamily="18" charset="0"/>
              </a:rPr>
              <a:t>：单步运行进入函数体内</a:t>
            </a:r>
          </a:p>
          <a:p>
            <a:pPr marL="266700" indent="266700" algn="just">
              <a:lnSpc>
                <a:spcPts val="2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 panose="02020603050405020304" pitchFamily="18" charset="0"/>
              </a:rPr>
              <a:t>Step Return</a:t>
            </a:r>
            <a:r>
              <a:rPr lang="zh-CN" altLang="zh-CN" kern="100" dirty="0">
                <a:latin typeface="Times New Roman" panose="02020603050405020304" pitchFamily="18" charset="0"/>
              </a:rPr>
              <a:t>：单步运行跳出函数体</a:t>
            </a:r>
          </a:p>
          <a:p>
            <a:pPr algn="just">
              <a:lnSpc>
                <a:spcPts val="2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 panose="02020603050405020304" pitchFamily="18" charset="0"/>
              </a:rPr>
              <a:t>         Continue</a:t>
            </a:r>
            <a:r>
              <a:rPr lang="zh-CN" altLang="zh-CN" kern="100" dirty="0">
                <a:latin typeface="Times New Roman" panose="02020603050405020304" pitchFamily="18" charset="0"/>
              </a:rPr>
              <a:t>：继续</a:t>
            </a:r>
          </a:p>
          <a:p>
            <a:pPr algn="just">
              <a:lnSpc>
                <a:spcPts val="2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 panose="02020603050405020304" pitchFamily="18" charset="0"/>
              </a:rPr>
              <a:t>         Stop</a:t>
            </a:r>
            <a:r>
              <a:rPr lang="zh-CN" altLang="zh-CN" kern="100" dirty="0">
                <a:latin typeface="Times New Roman" panose="02020603050405020304" pitchFamily="18" charset="0"/>
              </a:rPr>
              <a:t>：停止调试</a:t>
            </a:r>
          </a:p>
        </p:txBody>
      </p:sp>
    </p:spTree>
    <p:extLst>
      <p:ext uri="{BB962C8B-B14F-4D97-AF65-F5344CB8AC3E}">
        <p14:creationId xmlns:p14="http://schemas.microsoft.com/office/powerpoint/2010/main" val="406883801"/>
      </p:ext>
    </p:extLst>
  </p:cSld>
  <p:clrMapOvr>
    <a:masterClrMapping/>
  </p:clrMapOvr>
  <p:transition advTm="200046">
    <p:zoom/>
  </p:transition>
</p:sld>
</file>

<file path=ppt/theme/theme1.xml><?xml version="1.0" encoding="utf-8"?>
<a:theme xmlns:a="http://schemas.openxmlformats.org/drawingml/2006/main" name="主题1">
  <a:themeElements>
    <a:clrScheme name="Blank Presentation 12">
      <a:dk1>
        <a:srgbClr val="000000"/>
      </a:dk1>
      <a:lt1>
        <a:srgbClr val="FFFFFF"/>
      </a:lt1>
      <a:dk2>
        <a:srgbClr val="BF311A"/>
      </a:dk2>
      <a:lt2>
        <a:srgbClr val="808285"/>
      </a:lt2>
      <a:accent1>
        <a:srgbClr val="005595"/>
      </a:accent1>
      <a:accent2>
        <a:srgbClr val="BEC0C2"/>
      </a:accent2>
      <a:accent3>
        <a:srgbClr val="FFFFFF"/>
      </a:accent3>
      <a:accent4>
        <a:srgbClr val="000000"/>
      </a:accent4>
      <a:accent5>
        <a:srgbClr val="AAB4C8"/>
      </a:accent5>
      <a:accent6>
        <a:srgbClr val="ACAEB0"/>
      </a:accent6>
      <a:hlink>
        <a:srgbClr val="5C8727"/>
      </a:hlink>
      <a:folHlink>
        <a:srgbClr val="EC891D"/>
      </a:folHlink>
    </a:clrScheme>
    <a:fontScheme name="Blank Presentati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0000"/>
        </a:dk1>
        <a:lt1>
          <a:srgbClr val="FFFFFF"/>
        </a:lt1>
        <a:dk2>
          <a:srgbClr val="BF311A"/>
        </a:dk2>
        <a:lt2>
          <a:srgbClr val="919195"/>
        </a:lt2>
        <a:accent1>
          <a:srgbClr val="005595"/>
        </a:accent1>
        <a:accent2>
          <a:srgbClr val="BABCBE"/>
        </a:accent2>
        <a:accent3>
          <a:srgbClr val="FFFFFF"/>
        </a:accent3>
        <a:accent4>
          <a:srgbClr val="000000"/>
        </a:accent4>
        <a:accent5>
          <a:srgbClr val="AAB4C8"/>
        </a:accent5>
        <a:accent6>
          <a:srgbClr val="A8AAAC"/>
        </a:accent6>
        <a:hlink>
          <a:srgbClr val="5C8727"/>
        </a:hlink>
        <a:folHlink>
          <a:srgbClr val="4577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000000"/>
        </a:dk1>
        <a:lt1>
          <a:srgbClr val="FFFFFF"/>
        </a:lt1>
        <a:dk2>
          <a:srgbClr val="5C8727"/>
        </a:dk2>
        <a:lt2>
          <a:srgbClr val="919195"/>
        </a:lt2>
        <a:accent1>
          <a:srgbClr val="005595"/>
        </a:accent1>
        <a:accent2>
          <a:srgbClr val="BABCBE"/>
        </a:accent2>
        <a:accent3>
          <a:srgbClr val="FFFFFF"/>
        </a:accent3>
        <a:accent4>
          <a:srgbClr val="000000"/>
        </a:accent4>
        <a:accent5>
          <a:srgbClr val="AAB4C8"/>
        </a:accent5>
        <a:accent6>
          <a:srgbClr val="A8AAAC"/>
        </a:accent6>
        <a:hlink>
          <a:srgbClr val="EC891D"/>
        </a:hlink>
        <a:folHlink>
          <a:srgbClr val="BF311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000000"/>
        </a:dk1>
        <a:lt1>
          <a:srgbClr val="FFFFFF"/>
        </a:lt1>
        <a:dk2>
          <a:srgbClr val="EC891D"/>
        </a:dk2>
        <a:lt2>
          <a:srgbClr val="919195"/>
        </a:lt2>
        <a:accent1>
          <a:srgbClr val="005595"/>
        </a:accent1>
        <a:accent2>
          <a:srgbClr val="BABCBE"/>
        </a:accent2>
        <a:accent3>
          <a:srgbClr val="FFFFFF"/>
        </a:accent3>
        <a:accent4>
          <a:srgbClr val="000000"/>
        </a:accent4>
        <a:accent5>
          <a:srgbClr val="AAB4C8"/>
        </a:accent5>
        <a:accent6>
          <a:srgbClr val="A8AAAC"/>
        </a:accent6>
        <a:hlink>
          <a:srgbClr val="5C8727"/>
        </a:hlink>
        <a:folHlink>
          <a:srgbClr val="BF311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000000"/>
        </a:dk1>
        <a:lt1>
          <a:srgbClr val="FFFFFF"/>
        </a:lt1>
        <a:dk2>
          <a:srgbClr val="BF311A"/>
        </a:dk2>
        <a:lt2>
          <a:srgbClr val="919195"/>
        </a:lt2>
        <a:accent1>
          <a:srgbClr val="005595"/>
        </a:accent1>
        <a:accent2>
          <a:srgbClr val="BABCBE"/>
        </a:accent2>
        <a:accent3>
          <a:srgbClr val="FFFFFF"/>
        </a:accent3>
        <a:accent4>
          <a:srgbClr val="000000"/>
        </a:accent4>
        <a:accent5>
          <a:srgbClr val="AAB4C8"/>
        </a:accent5>
        <a:accent6>
          <a:srgbClr val="A8AAAC"/>
        </a:accent6>
        <a:hlink>
          <a:srgbClr val="5C8727"/>
        </a:hlink>
        <a:folHlink>
          <a:srgbClr val="EC891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000000"/>
        </a:dk1>
        <a:lt1>
          <a:srgbClr val="FFFFFF"/>
        </a:lt1>
        <a:dk2>
          <a:srgbClr val="BF311A"/>
        </a:dk2>
        <a:lt2>
          <a:srgbClr val="808285"/>
        </a:lt2>
        <a:accent1>
          <a:srgbClr val="005595"/>
        </a:accent1>
        <a:accent2>
          <a:srgbClr val="BEC0C2"/>
        </a:accent2>
        <a:accent3>
          <a:srgbClr val="FFFFFF"/>
        </a:accent3>
        <a:accent4>
          <a:srgbClr val="000000"/>
        </a:accent4>
        <a:accent5>
          <a:srgbClr val="AAB4C8"/>
        </a:accent5>
        <a:accent6>
          <a:srgbClr val="ACAEB0"/>
        </a:accent6>
        <a:hlink>
          <a:srgbClr val="5C8727"/>
        </a:hlink>
        <a:folHlink>
          <a:srgbClr val="EC891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15206</TotalTime>
  <Words>404</Words>
  <Application>Microsoft Office PowerPoint</Application>
  <PresentationFormat>全屏显示(4:3)</PresentationFormat>
  <Paragraphs>63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黑体</vt:lpstr>
      <vt:lpstr>华文新魏</vt:lpstr>
      <vt:lpstr>宋体</vt:lpstr>
      <vt:lpstr>微软雅黑</vt:lpstr>
      <vt:lpstr>Arial</vt:lpstr>
      <vt:lpstr>Bodoni MT Black</vt:lpstr>
      <vt:lpstr>Calibri</vt:lpstr>
      <vt:lpstr>Times New Roman</vt:lpstr>
      <vt:lpstr>Wingdings</vt:lpstr>
      <vt:lpstr>主题1</vt:lpstr>
      <vt:lpstr>第一章  Python概述</vt:lpstr>
      <vt:lpstr>1. 程序设计语言</vt:lpstr>
      <vt:lpstr>1. 程序设计语言</vt:lpstr>
      <vt:lpstr>2. 程序设计语言转执行代码</vt:lpstr>
      <vt:lpstr>Python开发环境</vt:lpstr>
      <vt:lpstr>四、Python开发环境</vt:lpstr>
      <vt:lpstr>四、Python开发环境</vt:lpstr>
      <vt:lpstr>五、程序调试</vt:lpstr>
      <vt:lpstr>五、程序调试</vt:lpstr>
    </vt:vector>
  </TitlesOfParts>
  <Company>Workgroup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软件技术基础</dc:title>
  <dc:creator/>
  <cp:revision>432</cp:revision>
  <dcterms:created xsi:type="dcterms:W3CDTF">2010-02-28T17:17:53Z</dcterms:created>
  <dcterms:modified xsi:type="dcterms:W3CDTF">2025-02-17T15:52:26Z</dcterms:modified>
</cp:coreProperties>
</file>