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6"/>
  </p:notesMasterIdLst>
  <p:sldIdLst>
    <p:sldId id="273" r:id="rId2"/>
    <p:sldId id="274" r:id="rId3"/>
    <p:sldId id="275" r:id="rId4"/>
    <p:sldId id="276" r:id="rId5"/>
    <p:sldId id="277" r:id="rId6"/>
    <p:sldId id="278" r:id="rId7"/>
    <p:sldId id="280" r:id="rId8"/>
    <p:sldId id="396" r:id="rId9"/>
    <p:sldId id="418" r:id="rId10"/>
    <p:sldId id="397" r:id="rId11"/>
    <p:sldId id="419" r:id="rId12"/>
    <p:sldId id="398" r:id="rId13"/>
    <p:sldId id="279" r:id="rId14"/>
    <p:sldId id="281" r:id="rId1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00B4"/>
    <a:srgbClr val="000096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12" autoAdjust="0"/>
    <p:restoredTop sz="79039" autoAdjust="0"/>
  </p:normalViewPr>
  <p:slideViewPr>
    <p:cSldViewPr>
      <p:cViewPr varScale="1">
        <p:scale>
          <a:sx n="77" d="100"/>
          <a:sy n="77" d="100"/>
        </p:scale>
        <p:origin x="92" y="7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zh-CN" dirty="0" err="1"/>
              <a:t>turtle.</a:t>
            </a:r>
            <a:r>
              <a:rPr lang="en-US" altLang="zh-CN" dirty="0" err="1">
                <a:effectLst/>
              </a:rPr>
              <a:t>speed</a:t>
            </a:r>
            <a:r>
              <a:rPr lang="en-US" altLang="zh-CN" dirty="0"/>
              <a:t>(</a:t>
            </a:r>
            <a:r>
              <a:rPr lang="en-US" altLang="zh-CN" dirty="0">
                <a:effectLst/>
              </a:rPr>
              <a:t>speed</a:t>
            </a:r>
            <a:r>
              <a:rPr lang="en-US" altLang="zh-CN" dirty="0"/>
              <a:t>=None)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turtle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的速度介于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之间。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如果输入的数字大于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或小于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，则速度设置为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速度字符串通过以下方式映射到速度值：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fastest’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</a:p>
          <a:p>
            <a:pPr lvl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‘fast’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</a:p>
          <a:p>
            <a:pPr lvl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‘normal’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</a:p>
          <a:p>
            <a:pPr lvl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‘slow’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  <a:p>
            <a:pPr lvl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‘slowest’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28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4443422"/>
            <a:ext cx="12192000" cy="2414578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4443422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524"/>
            <a:ext cx="4026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145285"/>
            <a:ext cx="1152128" cy="113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911424" y="2370530"/>
            <a:ext cx="10011833" cy="1470025"/>
          </a:xfrm>
        </p:spPr>
        <p:txBody>
          <a:bodyPr anchor="ctr"/>
          <a:lstStyle>
            <a:lvl1pPr algn="ctr">
              <a:defRPr sz="4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51584" y="5068809"/>
            <a:ext cx="6940549" cy="1085859"/>
          </a:xfrm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762001" y="6858000"/>
            <a:ext cx="24765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45FD9-2A9F-4ADC-AC9B-CCE7FF1D7D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40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597352"/>
            <a:ext cx="12192000" cy="26064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597352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1133" y="1196752"/>
            <a:ext cx="11057467" cy="5112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11789326" y="6505599"/>
            <a:ext cx="4026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601133" y="139701"/>
            <a:ext cx="11034184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0" y="6597351"/>
            <a:ext cx="960066" cy="25831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  <p:sldLayoutId id="2147483928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1127448" y="476672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>
                <a:solidFill>
                  <a:srgbClr val="0070C0"/>
                </a:solidFill>
              </a:rPr>
              <a:t>递归制图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21086" y="1412776"/>
            <a:ext cx="7876554" cy="116432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观察三种图形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从中找出递归的规律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086" y="3212976"/>
            <a:ext cx="2771800" cy="275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403" y="3068960"/>
            <a:ext cx="1728192" cy="256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51" y="3068960"/>
            <a:ext cx="3355954" cy="22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5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081" y="1296408"/>
            <a:ext cx="5877999" cy="2421843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引用</a:t>
            </a:r>
            <a:r>
              <a:rPr lang="en-US" altLang="zh-CN" dirty="0" err="1">
                <a:solidFill>
                  <a:schemeClr val="tx1"/>
                </a:solidFill>
              </a:rPr>
              <a:t>matplotlib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绘制平面上点的连线，把点的横坐标放入列表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，把点的纵坐标放入列表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中。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调用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plot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显示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8081" y="357724"/>
            <a:ext cx="8275638" cy="675407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制图初步</a:t>
            </a:r>
            <a:r>
              <a:rPr lang="en-US" altLang="zh-CN" dirty="0">
                <a:solidFill>
                  <a:srgbClr val="0070C0"/>
                </a:solidFill>
              </a:rPr>
              <a:t>—</a:t>
            </a:r>
            <a:r>
              <a:rPr lang="zh-CN" altLang="en-US" dirty="0">
                <a:solidFill>
                  <a:srgbClr val="0070C0"/>
                </a:solidFill>
              </a:rPr>
              <a:t>初步了解</a:t>
            </a:r>
            <a:r>
              <a:rPr lang="en-US" altLang="zh-CN" dirty="0" err="1">
                <a:solidFill>
                  <a:srgbClr val="0070C0"/>
                </a:solidFill>
              </a:rPr>
              <a:t>matplotlib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26261" y="3991764"/>
            <a:ext cx="9887987" cy="244827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s-E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import matplotlib.pyplot as plt          # 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制图，引用包</a:t>
            </a:r>
          </a:p>
          <a:p>
            <a:pPr marL="0" indent="0" eaLnBrk="1" hangingPunct="1">
              <a:buNone/>
            </a:pPr>
            <a:r>
              <a:rPr lang="es-E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x=[0, 300, 150,0]      # x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坐标序列</a:t>
            </a:r>
          </a:p>
          <a:p>
            <a:pPr marL="0" indent="0" eaLnBrk="1" hangingPunct="1">
              <a:buNone/>
            </a:pPr>
            <a:r>
              <a:rPr lang="es-E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y=[300,300, 0,300]   # y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坐标序列</a:t>
            </a:r>
          </a:p>
          <a:p>
            <a:pPr marL="0" indent="0" eaLnBrk="1" hangingPunct="1">
              <a:buNone/>
            </a:pPr>
            <a:r>
              <a:rPr lang="es-E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plt.plot(x,y,'b',marker='^')     # 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绘制蓝色线条，标记顶点</a:t>
            </a:r>
          </a:p>
          <a:p>
            <a:pPr marL="0" indent="0" eaLnBrk="1" hangingPunct="1">
              <a:buNone/>
            </a:pPr>
            <a:r>
              <a:rPr lang="es-ES" altLang="zh-CN" kern="0" dirty="0">
                <a:latin typeface="等线" panose="02010600030101010101" pitchFamily="2" charset="-122"/>
                <a:ea typeface="等线" panose="02010600030101010101" pitchFamily="2" charset="-122"/>
              </a:rPr>
              <a:t>plt.show()          #</a:t>
            </a:r>
            <a:r>
              <a:rPr lang="zh-CN" altLang="en-US" kern="0" dirty="0">
                <a:latin typeface="等线" panose="02010600030101010101" pitchFamily="2" charset="-122"/>
                <a:ea typeface="等线" panose="02010600030101010101" pitchFamily="2" charset="-122"/>
              </a:rPr>
              <a:t>显示图形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5E1EFA-EF4D-4DDD-83AA-9FD52CFF1246}"/>
              </a:ext>
            </a:extLst>
          </p:cNvPr>
          <p:cNvSpPr/>
          <p:nvPr/>
        </p:nvSpPr>
        <p:spPr>
          <a:xfrm>
            <a:off x="3810000" y="31058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￼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187" y="1272728"/>
            <a:ext cx="3662061" cy="242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8167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245190"/>
            <a:ext cx="9865096" cy="1204977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个大的三角形开始，将其三条边的中点进行连线，形成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个三角形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除中间外的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个三角形重复上述过程，直到满足给定的条件结束。 </a:t>
            </a: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 flipH="1" flipV="1">
            <a:off x="2388369" y="3621236"/>
            <a:ext cx="2484438" cy="2374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759" y="3602269"/>
            <a:ext cx="2592388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495024" y="3339988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x1,y1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3194650" y="5996136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x2,y2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4892652" y="3392636"/>
            <a:ext cx="125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x3,y3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991495" y="4615433"/>
            <a:ext cx="100610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u1,v1</a:t>
            </a: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4294784" y="4753128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3613920" y="3591940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4151834" y="4772025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u2,v2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330175" y="3110368"/>
            <a:ext cx="125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u3,v3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3472" y="179982"/>
            <a:ext cx="8275638" cy="732396"/>
          </a:xfrm>
        </p:spPr>
        <p:txBody>
          <a:bodyPr/>
          <a:lstStyle/>
          <a:p>
            <a:r>
              <a:rPr lang="zh-CN" altLang="en-US" dirty="0"/>
              <a:t>三角分型递归</a:t>
            </a:r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2955359" y="4771009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1101551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616294"/>
            <a:ext cx="9612561" cy="260187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找中点，确定除中间外的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个三角形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s-E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u1 = (x1 + x2)/2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s-E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v1 = (y1+y2)/2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  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u2=(x2+x3)/2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v2=(y2+y3)/2</a:t>
            </a: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u3=(x1+x3)/2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  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v3=y3</a:t>
            </a:r>
            <a:endParaRPr lang="es-E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 以每个三角形递归一次，且深度减小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 flipH="1" flipV="1">
            <a:off x="2388369" y="3621236"/>
            <a:ext cx="2484438" cy="2374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948" y="3547890"/>
            <a:ext cx="2592388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137544" y="3187849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x1,y1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3194650" y="5996136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x2,y2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4333058" y="3187849"/>
            <a:ext cx="125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x3,y3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991495" y="4615433"/>
            <a:ext cx="100610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u1,v1</a:t>
            </a: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4294784" y="4753128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3613920" y="3591940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4151834" y="4772025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u2,v2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037658" y="3692674"/>
            <a:ext cx="125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u3,v3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2078" y="137718"/>
            <a:ext cx="8275638" cy="47857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dirty="0"/>
              <a:t>三角分析</a:t>
            </a:r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2955359" y="4771009"/>
            <a:ext cx="73025" cy="730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694455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029122"/>
            <a:ext cx="10729192" cy="4560119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为方便制图，将三角形的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坐标，各形成列表，作为函数的参数，函数内再序列解包。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还要考虑当时递归的深度，也需要一个整数</a:t>
            </a:r>
            <a:endParaRPr lang="en-US" altLang="zh-CN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00100" lvl="2" indent="0" eaLnBrk="1" hangingPunct="1"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def tri(</a:t>
            </a:r>
            <a:r>
              <a:rPr lang="en-US" altLang="zh-CN" sz="2800" b="1" dirty="0" err="1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x,y,n</a:t>
            </a:r>
            <a:r>
              <a:rPr lang="en-US" altLang="zh-CN" sz="28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):      #n</a:t>
            </a:r>
            <a:r>
              <a:rPr lang="zh-CN" altLang="en-US" sz="28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是深度</a:t>
            </a:r>
            <a:endParaRPr lang="en-US" altLang="zh-CN" sz="2800" b="1" dirty="0">
              <a:solidFill>
                <a:srgbClr val="00B05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00100" lvl="2" indent="0" eaLnBrk="1" hangingPunct="1"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x1,x2,x3=x</a:t>
            </a:r>
          </a:p>
          <a:p>
            <a:pPr marL="800100" lvl="2" indent="0" eaLnBrk="1" hangingPunct="1"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y1,y2,y3=y</a:t>
            </a:r>
          </a:p>
          <a:p>
            <a:pPr marL="800100" lvl="2" indent="0" eaLnBrk="1" hangingPunct="1"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。。。</a:t>
            </a:r>
            <a:endParaRPr lang="en-US" altLang="zh-CN" sz="2400" b="1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7448" y="188640"/>
            <a:ext cx="8275638" cy="745853"/>
          </a:xfrm>
        </p:spPr>
        <p:txBody>
          <a:bodyPr/>
          <a:lstStyle/>
          <a:p>
            <a:r>
              <a:rPr lang="zh-CN" altLang="en-US" dirty="0"/>
              <a:t>三角形分析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26" y="2636912"/>
            <a:ext cx="2753320" cy="267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781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691835"/>
            <a:ext cx="8280920" cy="583350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import matplotlib.pyplot as plt</a:t>
            </a: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def tri(x,y, n):</a:t>
            </a: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x1,x2,x3=x</a:t>
            </a: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y1,y2,y3=y</a:t>
            </a:r>
          </a:p>
          <a:p>
            <a:pPr marL="0" indent="0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if n == 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marL="0" indent="0" eaLnBrk="1" hangingPunct="1"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x=[x1,x2,x3,x1]</a:t>
            </a:r>
            <a:r>
              <a:rPr lang="en-U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y=[y1,y2,y3,y1]; </a:t>
            </a:r>
          </a:p>
          <a:p>
            <a:pPr marL="0" indent="0" eaLnBrk="1" hangingPunct="1"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plt.plot(x,y,'b')</a:t>
            </a:r>
          </a:p>
          <a:p>
            <a:pPr marL="0" indent="0" eaLnBrk="1" hangingPunct="1"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else:</a:t>
            </a:r>
          </a:p>
          <a:p>
            <a:pPr marL="0" indent="0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u1 = (x1 + x2)/2;   v1 = (y1+y2)/2</a:t>
            </a:r>
          </a:p>
          <a:p>
            <a:pPr marL="0" indent="0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u2 = (x2 + x3)/2;   v2 = (y2+y3)/2</a:t>
            </a:r>
          </a:p>
          <a:p>
            <a:pPr marL="0" indent="0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u3 = (x3 + x1)/2;   v3 = (y3 + y1)/2</a:t>
            </a:r>
          </a:p>
          <a:p>
            <a:pPr marL="0" indent="0" eaLnBrk="1" hangingPunct="1"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tri([x1,u1,u3],[y1,v1,v3], n - 1);       </a:t>
            </a:r>
          </a:p>
          <a:p>
            <a:pPr marL="0" indent="0" eaLnBrk="1" hangingPunct="1"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tri([u1,x2,u2],[v1,y2,v2], n - 1)</a:t>
            </a:r>
          </a:p>
          <a:p>
            <a:pPr marL="0" indent="0" eaLnBrk="1" hangingPunct="1">
              <a:spcBef>
                <a:spcPts val="300"/>
              </a:spcBef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tri([u3,u2,x3], [v3,v2,y3], n - 1)</a:t>
            </a:r>
          </a:p>
          <a:p>
            <a:pPr marL="0" indent="0" eaLnBrk="1" hangingPunct="1"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x=[0,300,150];   y=[300,300,0];   </a:t>
            </a:r>
          </a:p>
          <a:p>
            <a:pPr marL="0" indent="0" eaLnBrk="1" hangingPunct="1"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tri(x,y,7);     </a:t>
            </a:r>
          </a:p>
          <a:p>
            <a:pPr marL="0" indent="0" eaLnBrk="1" hangingPunct="1">
              <a:buNone/>
            </a:pPr>
            <a:r>
              <a:rPr lang="es-ES" altLang="zh-CN" sz="1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plt.show()</a:t>
            </a:r>
            <a:endParaRPr lang="zh-CN" altLang="en-US" sz="18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5440" y="27422"/>
            <a:ext cx="3257054" cy="675407"/>
          </a:xfrm>
        </p:spPr>
        <p:txBody>
          <a:bodyPr/>
          <a:lstStyle/>
          <a:p>
            <a:r>
              <a:rPr lang="zh-CN" altLang="en-US" dirty="0"/>
              <a:t>完整代码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4365104"/>
            <a:ext cx="1656184" cy="164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387" y="1268760"/>
            <a:ext cx="2160241" cy="209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4062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980728"/>
            <a:ext cx="5276345" cy="46431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407368" y="70665"/>
            <a:ext cx="6096000" cy="6463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zh-CN" altLang="en-US" sz="1600" dirty="0"/>
              <a:t>import turtle as tt</a:t>
            </a:r>
          </a:p>
          <a:p>
            <a:r>
              <a:rPr lang="zh-CN" altLang="en-US" sz="1600" dirty="0"/>
              <a:t>tt.pensize=5</a:t>
            </a:r>
          </a:p>
          <a:p>
            <a:r>
              <a:rPr lang="zh-CN" altLang="en-US" sz="1600" dirty="0"/>
              <a:t>tS=tt.Screen()</a:t>
            </a:r>
          </a:p>
          <a:p>
            <a:r>
              <a:rPr lang="zh-CN" altLang="en-US" sz="1600" dirty="0"/>
              <a:t>def tri(x,y, n):</a:t>
            </a:r>
          </a:p>
          <a:p>
            <a:r>
              <a:rPr lang="zh-CN" altLang="en-US" sz="1600" dirty="0"/>
              <a:t>    x1,x2,x3=x</a:t>
            </a:r>
          </a:p>
          <a:p>
            <a:r>
              <a:rPr lang="zh-CN" altLang="en-US" sz="1600" dirty="0"/>
              <a:t>    y1,y2,y3=y</a:t>
            </a:r>
          </a:p>
          <a:p>
            <a:r>
              <a:rPr lang="zh-CN" altLang="en-US" sz="1600" dirty="0"/>
              <a:t>    if n == 0:</a:t>
            </a:r>
          </a:p>
          <a:p>
            <a:r>
              <a:rPr lang="zh-CN" altLang="en-US" sz="1600" dirty="0"/>
              <a:t>        x=[x1,x2,x3,x1]; y=[y1,y2,y3,y1]; </a:t>
            </a:r>
          </a:p>
          <a:p>
            <a:r>
              <a:rPr lang="zh-CN" altLang="en-US" sz="1600" dirty="0"/>
              <a:t>        tt.up()</a:t>
            </a:r>
          </a:p>
          <a:p>
            <a:r>
              <a:rPr lang="zh-CN" altLang="en-US" sz="1600" dirty="0"/>
              <a:t>        tt.goto((x1,y1))</a:t>
            </a:r>
          </a:p>
          <a:p>
            <a:r>
              <a:rPr lang="zh-CN" altLang="en-US" sz="1600" dirty="0"/>
              <a:t>        tt.pd()</a:t>
            </a:r>
          </a:p>
          <a:p>
            <a:r>
              <a:rPr lang="zh-CN" altLang="en-US" sz="1600" dirty="0"/>
              <a:t>        tt.goto((x2,y2));  tt.goto((x3,y3));  tt.goto((x1,y1))</a:t>
            </a:r>
          </a:p>
          <a:p>
            <a:r>
              <a:rPr lang="zh-CN" altLang="en-US" sz="1600" dirty="0"/>
              <a:t>        tt.pu()</a:t>
            </a:r>
          </a:p>
          <a:p>
            <a:r>
              <a:rPr lang="zh-CN" altLang="en-US" sz="1600" dirty="0"/>
              <a:t>    else:</a:t>
            </a:r>
          </a:p>
          <a:p>
            <a:r>
              <a:rPr lang="zh-CN" altLang="en-US" sz="1600" dirty="0"/>
              <a:t>        u1 = (x1 + x2)/2;   v1 = (y1 + y2)/2</a:t>
            </a:r>
          </a:p>
          <a:p>
            <a:r>
              <a:rPr lang="zh-CN" altLang="en-US" sz="1600" dirty="0"/>
              <a:t>        u2 = (x2 + x3)/2;   v2 = (y2 + y3)/2</a:t>
            </a:r>
          </a:p>
          <a:p>
            <a:r>
              <a:rPr lang="zh-CN" altLang="en-US" sz="1600" dirty="0"/>
              <a:t>        u3 = (x3 + x1)/2;   v3 = (y3 + y1)/2</a:t>
            </a:r>
          </a:p>
          <a:p>
            <a:r>
              <a:rPr lang="zh-CN" altLang="en-US" sz="1600" dirty="0"/>
              <a:t>        tri([x1,u1,u3], [y1,v1,v3], n - 1);        </a:t>
            </a:r>
          </a:p>
          <a:p>
            <a:r>
              <a:rPr lang="zh-CN" altLang="en-US" sz="1600" dirty="0"/>
              <a:t>        tri([u1,x2,u2], [v1,y2,v2], n - 1)</a:t>
            </a:r>
          </a:p>
          <a:p>
            <a:r>
              <a:rPr lang="zh-CN" altLang="en-US" sz="1600" dirty="0"/>
              <a:t>        tri([u3,u2,x3], [v3,v2,y3], n - 1)</a:t>
            </a:r>
          </a:p>
          <a:p>
            <a:r>
              <a:rPr lang="zh-CN" altLang="en-US" sz="1600" dirty="0"/>
              <a:t>x=[-300,300,0];</a:t>
            </a:r>
          </a:p>
          <a:p>
            <a:r>
              <a:rPr lang="zh-CN" altLang="en-US" sz="1600" dirty="0"/>
              <a:t>y=[300,300,-300];</a:t>
            </a:r>
          </a:p>
          <a:p>
            <a:r>
              <a:rPr lang="zh-CN" altLang="en-US" sz="1600" dirty="0"/>
              <a:t>tri(x,y,1);</a:t>
            </a:r>
          </a:p>
          <a:p>
            <a:r>
              <a:rPr lang="zh-CN" altLang="en-US" sz="1600" dirty="0"/>
              <a:t>tt.done()</a:t>
            </a:r>
          </a:p>
          <a:p>
            <a:r>
              <a:rPr lang="zh-CN" altLang="en-US" sz="1600" dirty="0"/>
              <a:t>tS.exitonclick()</a:t>
            </a:r>
          </a:p>
        </p:txBody>
      </p:sp>
    </p:spTree>
    <p:extLst>
      <p:ext uri="{BB962C8B-B14F-4D97-AF65-F5344CB8AC3E}">
        <p14:creationId xmlns:p14="http://schemas.microsoft.com/office/powerpoint/2010/main" val="319684566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133" y="1124744"/>
            <a:ext cx="11057467" cy="518457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turtle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内置的</a:t>
            </a:r>
            <a:r>
              <a:rPr lang="zh-CN" altLang="zh-CN" dirty="0">
                <a:solidFill>
                  <a:schemeClr val="tx1"/>
                </a:solidFill>
              </a:rPr>
              <a:t>图形绘制库，</a:t>
            </a:r>
            <a:r>
              <a:rPr lang="zh-CN" altLang="en-US" dirty="0">
                <a:solidFill>
                  <a:schemeClr val="tx1"/>
                </a:solidFill>
              </a:rPr>
              <a:t>类似</a:t>
            </a:r>
            <a:r>
              <a:rPr lang="zh-CN" altLang="zh-CN" dirty="0">
                <a:solidFill>
                  <a:schemeClr val="tx1"/>
                </a:solidFill>
              </a:rPr>
              <a:t>控制一只“小龟”以不同的方向和速度进行</a:t>
            </a:r>
            <a:r>
              <a:rPr lang="zh-CN" altLang="en-US" dirty="0">
                <a:solidFill>
                  <a:schemeClr val="tx1"/>
                </a:solidFill>
              </a:rPr>
              <a:t>移动</a:t>
            </a:r>
            <a:r>
              <a:rPr lang="zh-CN" altLang="zh-CN" dirty="0">
                <a:solidFill>
                  <a:schemeClr val="tx1"/>
                </a:solidFill>
              </a:rPr>
              <a:t>而得到其运动轨迹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．坐标位置和方向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setup( )</a:t>
            </a:r>
            <a:r>
              <a:rPr lang="zh-CN" altLang="en-US" dirty="0">
                <a:solidFill>
                  <a:srgbClr val="00B050"/>
                </a:solidFill>
              </a:rPr>
              <a:t>：</a:t>
            </a:r>
            <a:r>
              <a:rPr lang="zh-CN" altLang="zh-CN" dirty="0">
                <a:solidFill>
                  <a:srgbClr val="00B050"/>
                </a:solidFill>
              </a:rPr>
              <a:t>初始化画布窗口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zh-CN" dirty="0">
                <a:solidFill>
                  <a:srgbClr val="00B050"/>
                </a:solidFill>
              </a:rPr>
              <a:t>大小和位置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setup(640,480,100,200)  </a:t>
            </a:r>
            <a:r>
              <a:rPr lang="en-US" altLang="zh-CN" sz="1867" dirty="0">
                <a:solidFill>
                  <a:schemeClr val="tx1"/>
                </a:solidFill>
              </a:rPr>
              <a:t>#</a:t>
            </a:r>
            <a:r>
              <a:rPr lang="zh-CN" altLang="en-US" sz="1867" dirty="0">
                <a:solidFill>
                  <a:schemeClr val="tx1"/>
                </a:solidFill>
              </a:rPr>
              <a:t>画布大小</a:t>
            </a:r>
            <a:r>
              <a:rPr lang="en-US" altLang="zh-CN" sz="1867" dirty="0">
                <a:solidFill>
                  <a:schemeClr val="tx1"/>
                </a:solidFill>
              </a:rPr>
              <a:t>640</a:t>
            </a:r>
            <a:r>
              <a:rPr lang="zh-CN" altLang="en-US" sz="1867" dirty="0">
                <a:solidFill>
                  <a:schemeClr val="tx1"/>
                </a:solidFill>
              </a:rPr>
              <a:t>*</a:t>
            </a:r>
            <a:r>
              <a:rPr lang="en-US" altLang="zh-CN" sz="1867" dirty="0">
                <a:solidFill>
                  <a:schemeClr val="tx1"/>
                </a:solidFill>
              </a:rPr>
              <a:t>480</a:t>
            </a:r>
            <a:r>
              <a:rPr lang="zh-CN" altLang="en-US" sz="1867" dirty="0">
                <a:solidFill>
                  <a:schemeClr val="tx1"/>
                </a:solidFill>
              </a:rPr>
              <a:t>，画布位于屏幕的起始位置（</a:t>
            </a:r>
            <a:r>
              <a:rPr lang="en-US" altLang="zh-CN" sz="1867" dirty="0">
                <a:solidFill>
                  <a:schemeClr val="tx1"/>
                </a:solidFill>
              </a:rPr>
              <a:t>100</a:t>
            </a:r>
            <a:r>
              <a:rPr lang="zh-CN" altLang="en-US" sz="1867" dirty="0">
                <a:solidFill>
                  <a:schemeClr val="tx1"/>
                </a:solidFill>
              </a:rPr>
              <a:t>，</a:t>
            </a:r>
            <a:r>
              <a:rPr lang="en-US" altLang="zh-CN" sz="1867" dirty="0">
                <a:solidFill>
                  <a:schemeClr val="tx1"/>
                </a:solidFill>
              </a:rPr>
              <a:t>200</a:t>
            </a:r>
            <a:r>
              <a:rPr lang="zh-CN" altLang="en-US" sz="1867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注意：</a:t>
            </a:r>
            <a:r>
              <a:rPr lang="zh-CN" altLang="zh-CN" dirty="0">
                <a:solidFill>
                  <a:schemeClr val="tx1"/>
                </a:solidFill>
              </a:rPr>
              <a:t>原点</a:t>
            </a:r>
            <a:r>
              <a:rPr lang="en-US" altLang="zh-CN" dirty="0">
                <a:solidFill>
                  <a:schemeClr val="tx1"/>
                </a:solidFill>
              </a:rPr>
              <a:t>(0,0)</a:t>
            </a:r>
            <a:r>
              <a:rPr lang="zh-CN" altLang="zh-CN" dirty="0">
                <a:solidFill>
                  <a:schemeClr val="tx1"/>
                </a:solidFill>
              </a:rPr>
              <a:t>在画布中心，坐标方向向右、向上为正。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1133" y="139701"/>
            <a:ext cx="11034184" cy="867833"/>
          </a:xfrm>
        </p:spPr>
        <p:txBody>
          <a:bodyPr/>
          <a:lstStyle/>
          <a:p>
            <a:r>
              <a:rPr lang="zh-CN" altLang="en-US" sz="3200" dirty="0"/>
              <a:t>图形绘制</a:t>
            </a:r>
            <a:r>
              <a:rPr lang="en-US" altLang="zh-CN" sz="3200" dirty="0"/>
              <a:t>—turtle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6401740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164637"/>
            <a:ext cx="2880320" cy="554864"/>
          </a:xfrm>
        </p:spPr>
        <p:txBody>
          <a:bodyPr/>
          <a:lstStyle/>
          <a:p>
            <a:r>
              <a:rPr lang="zh-CN" altLang="en-US" sz="3200" dirty="0"/>
              <a:t>绘图坐标系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7824192" y="838916"/>
            <a:ext cx="3949435" cy="3840427"/>
            <a:chOff x="2699792" y="284962"/>
            <a:chExt cx="3898180" cy="4123823"/>
          </a:xfrm>
        </p:grpSpPr>
        <p:grpSp>
          <p:nvGrpSpPr>
            <p:cNvPr id="10" name="组合 9"/>
            <p:cNvGrpSpPr/>
            <p:nvPr/>
          </p:nvGrpSpPr>
          <p:grpSpPr>
            <a:xfrm>
              <a:off x="2699792" y="284962"/>
              <a:ext cx="3898180" cy="4123823"/>
              <a:chOff x="4820555" y="310137"/>
              <a:chExt cx="3898180" cy="4123823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20555" y="310137"/>
                <a:ext cx="3898180" cy="4123823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</p:pic>
          <p:cxnSp>
            <p:nvCxnSpPr>
              <p:cNvPr id="7" name="直接箭头连接符 6"/>
              <p:cNvCxnSpPr/>
              <p:nvPr/>
            </p:nvCxnSpPr>
            <p:spPr bwMode="auto">
              <a:xfrm>
                <a:off x="6769645" y="2500404"/>
                <a:ext cx="1557203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sp>
            <p:nvSpPr>
              <p:cNvPr id="9" name="文本框 8"/>
              <p:cNvSpPr txBox="1"/>
              <p:nvPr/>
            </p:nvSpPr>
            <p:spPr>
              <a:xfrm>
                <a:off x="6930499" y="2236013"/>
                <a:ext cx="1301584" cy="264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默认前进方向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915100" y="1331592"/>
                <a:ext cx="1316983" cy="264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旋转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90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的方向</a:t>
                </a:r>
              </a:p>
            </p:txBody>
          </p:sp>
        </p:grpSp>
        <p:cxnSp>
          <p:nvCxnSpPr>
            <p:cNvPr id="14" name="直接箭头连接符 13"/>
            <p:cNvCxnSpPr/>
            <p:nvPr/>
          </p:nvCxnSpPr>
          <p:spPr bwMode="auto">
            <a:xfrm flipV="1">
              <a:off x="4648882" y="839638"/>
              <a:ext cx="0" cy="163559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8" name="矩形 17"/>
          <p:cNvSpPr/>
          <p:nvPr/>
        </p:nvSpPr>
        <p:spPr>
          <a:xfrm>
            <a:off x="108609" y="838917"/>
            <a:ext cx="7427551" cy="44088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67"/>
              </a:spcAft>
            </a:pPr>
            <a:r>
              <a:rPr lang="zh-CN" altLang="en-US" dirty="0"/>
              <a:t>import turtle as  tt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tt.setup(500,500,100,100) 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 #绘图窗口的宽度高度为500，窗口左上角在屏幕上的起始位置为（100，100）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tt.up(); tt.seth(-90); tt.fd(20)   </a:t>
            </a:r>
            <a:endParaRPr lang="en-US" altLang="zh-CN" dirty="0"/>
          </a:p>
          <a:p>
            <a:pPr>
              <a:spcAft>
                <a:spcPts val="1067"/>
              </a:spcAft>
            </a:pPr>
            <a:r>
              <a:rPr lang="zh-CN" altLang="en-US" dirty="0"/>
              <a:t>#抬起笔,向右转90度，前进20个像素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tt.write('(0,0)')                    #输出坐标原点的标记文字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tt.home(); tt.fd(-200); tt.pd(); tt.fd(400); tt.up()      </a:t>
            </a:r>
            <a:endParaRPr lang="en-US" altLang="zh-CN" dirty="0"/>
          </a:p>
          <a:p>
            <a:pPr>
              <a:spcAft>
                <a:spcPts val="1067"/>
              </a:spcAft>
            </a:pPr>
            <a:r>
              <a:rPr lang="zh-CN" altLang="en-US" dirty="0"/>
              <a:t>#回到原点,先后退200，按下笔，再前进400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tt.home(); tt.seth(90);  tt.fd(-200); tt.pd(); tt.fd(400) </a:t>
            </a:r>
          </a:p>
          <a:p>
            <a:pPr>
              <a:spcAft>
                <a:spcPts val="1067"/>
              </a:spcAft>
            </a:pPr>
            <a:r>
              <a:rPr lang="zh-CN" altLang="en-US" dirty="0"/>
              <a:t>tt.done()</a:t>
            </a:r>
          </a:p>
        </p:txBody>
      </p:sp>
    </p:spTree>
    <p:extLst>
      <p:ext uri="{BB962C8B-B14F-4D97-AF65-F5344CB8AC3E}">
        <p14:creationId xmlns:p14="http://schemas.microsoft.com/office/powerpoint/2010/main" val="417161635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1133" y="139701"/>
            <a:ext cx="11034184" cy="867833"/>
          </a:xfrm>
        </p:spPr>
        <p:txBody>
          <a:bodyPr/>
          <a:lstStyle/>
          <a:p>
            <a:r>
              <a:rPr lang="zh-CN" altLang="en-US" sz="3733" dirty="0"/>
              <a:t>图形绘制</a:t>
            </a:r>
            <a:r>
              <a:rPr lang="en-US" altLang="zh-CN" sz="3733" dirty="0"/>
              <a:t>—Turtle</a:t>
            </a:r>
            <a:endParaRPr lang="zh-CN" altLang="en-US" sz="3733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42655" y="1220755"/>
            <a:ext cx="11551141" cy="4800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67" dirty="0">
                <a:solidFill>
                  <a:schemeClr val="tx1"/>
                </a:solidFill>
              </a:rPr>
              <a:t>2</a:t>
            </a:r>
            <a:r>
              <a:rPr lang="zh-CN" altLang="zh-CN" sz="2667" dirty="0">
                <a:solidFill>
                  <a:schemeClr val="tx1"/>
                </a:solidFill>
              </a:rPr>
              <a:t>．</a:t>
            </a:r>
            <a:r>
              <a:rPr lang="zh-CN" altLang="en-US" sz="2667" dirty="0">
                <a:solidFill>
                  <a:schemeClr val="tx1"/>
                </a:solidFill>
              </a:rPr>
              <a:t>画笔控制</a:t>
            </a:r>
            <a:endParaRPr lang="zh-CN" altLang="zh-CN" sz="2667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/>
              <a:t>color( )</a:t>
            </a:r>
            <a:r>
              <a:rPr lang="zh-CN" altLang="en-US" sz="2667" dirty="0"/>
              <a:t>：</a:t>
            </a:r>
            <a:r>
              <a:rPr lang="zh-CN" altLang="zh-CN" sz="2667" dirty="0"/>
              <a:t>用于设置或返回画笔</a:t>
            </a:r>
            <a:r>
              <a:rPr lang="zh-CN" altLang="en-US" sz="2667" dirty="0"/>
              <a:t>的</a:t>
            </a:r>
            <a:r>
              <a:rPr lang="zh-CN" altLang="zh-CN" sz="2667" dirty="0"/>
              <a:t>颜色</a:t>
            </a:r>
            <a:endParaRPr lang="en-US" altLang="zh-CN" sz="2667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 err="1"/>
              <a:t>pensize</a:t>
            </a:r>
            <a:r>
              <a:rPr lang="en-US" altLang="zh-CN" sz="2667" dirty="0"/>
              <a:t>( )</a:t>
            </a:r>
            <a:r>
              <a:rPr lang="zh-CN" altLang="en-US" sz="2667" dirty="0"/>
              <a:t>和</a:t>
            </a:r>
            <a:r>
              <a:rPr lang="en-US" altLang="zh-CN" sz="2667" dirty="0"/>
              <a:t>width( )</a:t>
            </a:r>
            <a:r>
              <a:rPr lang="zh-CN" altLang="en-US" sz="2667" dirty="0"/>
              <a:t>：</a:t>
            </a:r>
            <a:r>
              <a:rPr lang="zh-CN" altLang="zh-CN" sz="2667" dirty="0"/>
              <a:t>用于设置笔触粗细</a:t>
            </a:r>
            <a:endParaRPr lang="en-US" altLang="zh-CN" sz="2667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 err="1"/>
              <a:t>penup</a:t>
            </a:r>
            <a:r>
              <a:rPr lang="en-US" altLang="zh-CN" sz="2667" dirty="0"/>
              <a:t>( )</a:t>
            </a:r>
            <a:r>
              <a:rPr lang="zh-CN" altLang="en-US" sz="2667" dirty="0"/>
              <a:t>或</a:t>
            </a:r>
            <a:r>
              <a:rPr lang="en-US" altLang="zh-CN" sz="2667" dirty="0" err="1"/>
              <a:t>pu</a:t>
            </a:r>
            <a:r>
              <a:rPr lang="en-US" altLang="zh-CN" sz="2667" dirty="0"/>
              <a:t>( )</a:t>
            </a:r>
            <a:r>
              <a:rPr lang="zh-CN" altLang="zh-CN" sz="2667" dirty="0"/>
              <a:t>或</a:t>
            </a:r>
            <a:r>
              <a:rPr lang="en-US" altLang="zh-CN" sz="2667" dirty="0"/>
              <a:t>up( )</a:t>
            </a:r>
            <a:r>
              <a:rPr lang="zh-CN" altLang="en-US" sz="2667" dirty="0"/>
              <a:t>：表示</a:t>
            </a:r>
            <a:r>
              <a:rPr lang="zh-CN" altLang="zh-CN" sz="2667" dirty="0"/>
              <a:t>抬</a:t>
            </a:r>
            <a:r>
              <a:rPr lang="zh-CN" altLang="en-US" sz="2667" dirty="0"/>
              <a:t>起</a:t>
            </a:r>
            <a:r>
              <a:rPr lang="zh-CN" altLang="zh-CN" sz="2667" dirty="0"/>
              <a:t>笔，</a:t>
            </a:r>
            <a:r>
              <a:rPr lang="zh-CN" altLang="en-US" sz="2667" dirty="0"/>
              <a:t>小龟</a:t>
            </a:r>
            <a:r>
              <a:rPr lang="zh-CN" altLang="zh-CN" sz="2667" dirty="0"/>
              <a:t>移动时</a:t>
            </a:r>
            <a:r>
              <a:rPr lang="zh-CN" altLang="en-US" sz="2667" dirty="0"/>
              <a:t>没有</a:t>
            </a:r>
            <a:r>
              <a:rPr lang="zh-CN" altLang="zh-CN" sz="2667" dirty="0"/>
              <a:t>墨迹；</a:t>
            </a:r>
            <a:endParaRPr lang="en-US" altLang="zh-CN" sz="2667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 err="1"/>
              <a:t>pendown</a:t>
            </a:r>
            <a:r>
              <a:rPr lang="en-US" altLang="zh-CN" sz="2667" dirty="0"/>
              <a:t>( )</a:t>
            </a:r>
            <a:r>
              <a:rPr lang="zh-CN" altLang="en-US" sz="2667" dirty="0"/>
              <a:t>或</a:t>
            </a:r>
            <a:r>
              <a:rPr lang="en-US" altLang="zh-CN" sz="2667" dirty="0" err="1"/>
              <a:t>pd</a:t>
            </a:r>
            <a:r>
              <a:rPr lang="en-US" altLang="zh-CN" sz="2667" dirty="0"/>
              <a:t>( )</a:t>
            </a:r>
            <a:r>
              <a:rPr lang="zh-CN" altLang="zh-CN" sz="2667" dirty="0"/>
              <a:t>或</a:t>
            </a:r>
            <a:r>
              <a:rPr lang="en-US" altLang="zh-CN" sz="2667" dirty="0"/>
              <a:t>down( )</a:t>
            </a:r>
            <a:r>
              <a:rPr lang="zh-CN" altLang="en-US" sz="2667" dirty="0"/>
              <a:t>：表示</a:t>
            </a:r>
            <a:r>
              <a:rPr lang="zh-CN" altLang="zh-CN" sz="2667" dirty="0"/>
              <a:t>落笔，</a:t>
            </a:r>
            <a:r>
              <a:rPr lang="zh-CN" altLang="en-US" sz="2667" dirty="0"/>
              <a:t>小龟</a:t>
            </a:r>
            <a:r>
              <a:rPr lang="zh-CN" altLang="zh-CN" sz="2667" dirty="0"/>
              <a:t>移动时会留下墨迹</a:t>
            </a:r>
            <a:r>
              <a:rPr lang="zh-CN" altLang="en-US" sz="2667" dirty="0"/>
              <a:t>；</a:t>
            </a:r>
            <a:endParaRPr lang="zh-CN" altLang="zh-CN" sz="2667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/>
              <a:t>forward( )</a:t>
            </a:r>
            <a:r>
              <a:rPr lang="zh-CN" altLang="en-US" sz="2667" dirty="0"/>
              <a:t>或</a:t>
            </a:r>
            <a:r>
              <a:rPr lang="en-US" altLang="zh-CN" sz="2667" dirty="0" err="1"/>
              <a:t>fd</a:t>
            </a:r>
            <a:r>
              <a:rPr lang="en-US" altLang="zh-CN" sz="2667" dirty="0"/>
              <a:t>( )</a:t>
            </a:r>
            <a:r>
              <a:rPr lang="zh-CN" altLang="en-US" sz="2667" dirty="0"/>
              <a:t>：</a:t>
            </a:r>
            <a:r>
              <a:rPr lang="zh-CN" altLang="zh-CN" sz="2667" dirty="0"/>
              <a:t>向箭头所指方向前进</a:t>
            </a:r>
            <a:r>
              <a:rPr lang="zh-CN" altLang="en-US" sz="2667" dirty="0"/>
              <a:t>；</a:t>
            </a:r>
            <a:endParaRPr lang="en-US" altLang="zh-CN" sz="2667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667" dirty="0"/>
              <a:t>backward( )</a:t>
            </a:r>
            <a:r>
              <a:rPr lang="zh-CN" altLang="en-US" sz="2667" dirty="0"/>
              <a:t>或</a:t>
            </a:r>
            <a:r>
              <a:rPr lang="en-US" altLang="zh-CN" sz="2667" dirty="0" err="1"/>
              <a:t>bk</a:t>
            </a:r>
            <a:r>
              <a:rPr lang="en-US" altLang="zh-CN" sz="2667" dirty="0"/>
              <a:t>( )</a:t>
            </a:r>
            <a:r>
              <a:rPr lang="zh-CN" altLang="zh-CN" sz="2667" dirty="0"/>
              <a:t>或</a:t>
            </a:r>
            <a:r>
              <a:rPr lang="en-US" altLang="zh-CN" sz="2667" dirty="0"/>
              <a:t>back( )</a:t>
            </a:r>
            <a:r>
              <a:rPr lang="zh-CN" altLang="en-US" sz="2667" dirty="0"/>
              <a:t>：</a:t>
            </a:r>
            <a:r>
              <a:rPr lang="zh-CN" altLang="zh-CN" sz="2667" dirty="0"/>
              <a:t>向箭头所指</a:t>
            </a:r>
            <a:r>
              <a:rPr lang="zh-CN" altLang="en-US" sz="2667" dirty="0"/>
              <a:t>反</a:t>
            </a:r>
            <a:r>
              <a:rPr lang="zh-CN" altLang="zh-CN" sz="2667" dirty="0"/>
              <a:t>方向前进</a:t>
            </a:r>
            <a:r>
              <a:rPr lang="zh-CN" altLang="en-US" sz="2667" dirty="0"/>
              <a:t>；</a:t>
            </a:r>
            <a:endParaRPr lang="en-US" altLang="zh-CN" sz="2667" dirty="0"/>
          </a:p>
        </p:txBody>
      </p:sp>
    </p:spTree>
    <p:extLst>
      <p:ext uri="{BB962C8B-B14F-4D97-AF65-F5344CB8AC3E}">
        <p14:creationId xmlns:p14="http://schemas.microsoft.com/office/powerpoint/2010/main" val="268743464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30161" y="1316766"/>
            <a:ext cx="11057467" cy="52085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67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667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．画笔</a:t>
            </a:r>
            <a:r>
              <a:rPr lang="zh-CN" altLang="en-US" sz="2667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zh-CN" sz="2667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left( )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lt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：往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箭头方向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right( )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：往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箭头方向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goto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setpos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setposition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：跳转到指定位置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circle(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：画圆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home(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返回原点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speed(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：速度控制（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为最快（无移动过程，直接显示目标结果）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done( 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绘图完毕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结束进程。</a:t>
            </a:r>
            <a:endParaRPr lang="en-US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Exitonclick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():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endParaRPr lang="zh-CN" altLang="zh-CN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01133" y="139701"/>
            <a:ext cx="11034184" cy="867833"/>
          </a:xfrm>
        </p:spPr>
        <p:txBody>
          <a:bodyPr/>
          <a:lstStyle/>
          <a:p>
            <a:r>
              <a:rPr lang="zh-CN" altLang="en-US" sz="3733" dirty="0"/>
              <a:t>图形绘制</a:t>
            </a:r>
            <a:r>
              <a:rPr lang="en-US" altLang="zh-CN" sz="3733" dirty="0"/>
              <a:t>—Turtle</a:t>
            </a:r>
            <a:endParaRPr lang="zh-CN" altLang="en-US" sz="3733" dirty="0"/>
          </a:p>
        </p:txBody>
      </p:sp>
    </p:spTree>
    <p:extLst>
      <p:ext uri="{BB962C8B-B14F-4D97-AF65-F5344CB8AC3E}">
        <p14:creationId xmlns:p14="http://schemas.microsoft.com/office/powerpoint/2010/main" val="342212658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134" y="1124744"/>
            <a:ext cx="6166941" cy="48006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import turtle as </a:t>
            </a:r>
            <a:r>
              <a:rPr lang="en-US" altLang="zh-CN" sz="1867" dirty="0" err="1">
                <a:solidFill>
                  <a:schemeClr val="tx1"/>
                </a:solidFill>
              </a:rPr>
              <a:t>tt</a:t>
            </a:r>
            <a:endParaRPr lang="en-US" altLang="zh-CN" sz="1867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import </a:t>
            </a:r>
            <a:r>
              <a:rPr lang="en-US" altLang="zh-CN" sz="1867" dirty="0" err="1">
                <a:solidFill>
                  <a:schemeClr val="tx1"/>
                </a:solidFill>
              </a:rPr>
              <a:t>numpy</a:t>
            </a:r>
            <a:r>
              <a:rPr lang="en-US" altLang="zh-CN" sz="1867" dirty="0">
                <a:solidFill>
                  <a:schemeClr val="tx1"/>
                </a:solidFill>
              </a:rPr>
              <a:t> as np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 err="1">
                <a:solidFill>
                  <a:schemeClr val="tx1"/>
                </a:solidFill>
              </a:rPr>
              <a:t>tt.setup</a:t>
            </a:r>
            <a:r>
              <a:rPr lang="en-US" altLang="zh-CN" sz="1867" dirty="0">
                <a:solidFill>
                  <a:schemeClr val="tx1"/>
                </a:solidFill>
              </a:rPr>
              <a:t>(600,600,0,0)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 err="1">
                <a:solidFill>
                  <a:schemeClr val="tx1"/>
                </a:solidFill>
              </a:rPr>
              <a:t>tt.up</a:t>
            </a:r>
            <a:r>
              <a:rPr lang="en-US" altLang="zh-CN" sz="1867" dirty="0">
                <a:solidFill>
                  <a:schemeClr val="tx1"/>
                </a:solidFill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 err="1">
                <a:solidFill>
                  <a:schemeClr val="tx1"/>
                </a:solidFill>
              </a:rPr>
              <a:t>tt.pensize</a:t>
            </a:r>
            <a:r>
              <a:rPr lang="en-US" altLang="zh-CN" sz="1867" dirty="0">
                <a:solidFill>
                  <a:schemeClr val="tx1"/>
                </a:solidFill>
              </a:rPr>
              <a:t>(2)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 err="1">
                <a:solidFill>
                  <a:schemeClr val="tx1"/>
                </a:solidFill>
              </a:rPr>
              <a:t>tt.color</a:t>
            </a:r>
            <a:r>
              <a:rPr lang="en-US" altLang="zh-CN" sz="1867" dirty="0">
                <a:solidFill>
                  <a:schemeClr val="tx1"/>
                </a:solidFill>
              </a:rPr>
              <a:t>('red')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for </a:t>
            </a:r>
            <a:r>
              <a:rPr lang="en-US" altLang="zh-CN" sz="1867" dirty="0" err="1">
                <a:solidFill>
                  <a:schemeClr val="tx1"/>
                </a:solidFill>
              </a:rPr>
              <a:t>i</a:t>
            </a:r>
            <a:r>
              <a:rPr lang="en-US" altLang="zh-CN" sz="1867" dirty="0">
                <a:solidFill>
                  <a:schemeClr val="tx1"/>
                </a:solidFill>
              </a:rPr>
              <a:t> in range(20):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for theta in </a:t>
            </a:r>
            <a:r>
              <a:rPr lang="en-US" altLang="zh-CN" sz="1867" dirty="0" err="1">
                <a:solidFill>
                  <a:schemeClr val="tx1"/>
                </a:solidFill>
              </a:rPr>
              <a:t>np.arange</a:t>
            </a:r>
            <a:r>
              <a:rPr lang="en-US" altLang="zh-CN" sz="1867" dirty="0">
                <a:solidFill>
                  <a:schemeClr val="tx1"/>
                </a:solidFill>
              </a:rPr>
              <a:t>(0,2*np.pi,0.02):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    p=(200-i)*(0.88-np.sin(theta))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    x=</a:t>
            </a:r>
            <a:r>
              <a:rPr lang="en-US" altLang="zh-CN" sz="1867" dirty="0" err="1">
                <a:solidFill>
                  <a:schemeClr val="tx1"/>
                </a:solidFill>
              </a:rPr>
              <a:t>int</a:t>
            </a:r>
            <a:r>
              <a:rPr lang="en-US" altLang="zh-CN" sz="1867" dirty="0">
                <a:solidFill>
                  <a:schemeClr val="tx1"/>
                </a:solidFill>
              </a:rPr>
              <a:t>(p*</a:t>
            </a:r>
            <a:r>
              <a:rPr lang="en-US" altLang="zh-CN" sz="1867" dirty="0" err="1">
                <a:solidFill>
                  <a:schemeClr val="tx1"/>
                </a:solidFill>
              </a:rPr>
              <a:t>np.cos</a:t>
            </a:r>
            <a:r>
              <a:rPr lang="en-US" altLang="zh-CN" sz="1867" dirty="0">
                <a:solidFill>
                  <a:schemeClr val="tx1"/>
                </a:solidFill>
              </a:rPr>
              <a:t>(theta))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    y=</a:t>
            </a:r>
            <a:r>
              <a:rPr lang="en-US" altLang="zh-CN" sz="1867" dirty="0" err="1">
                <a:solidFill>
                  <a:schemeClr val="tx1"/>
                </a:solidFill>
              </a:rPr>
              <a:t>int</a:t>
            </a:r>
            <a:r>
              <a:rPr lang="en-US" altLang="zh-CN" sz="1867" dirty="0">
                <a:solidFill>
                  <a:schemeClr val="tx1"/>
                </a:solidFill>
              </a:rPr>
              <a:t>(p*</a:t>
            </a:r>
            <a:r>
              <a:rPr lang="en-US" altLang="zh-CN" sz="1867" dirty="0" err="1">
                <a:solidFill>
                  <a:schemeClr val="tx1"/>
                </a:solidFill>
              </a:rPr>
              <a:t>np.sin</a:t>
            </a:r>
            <a:r>
              <a:rPr lang="en-US" altLang="zh-CN" sz="1867" dirty="0">
                <a:solidFill>
                  <a:schemeClr val="tx1"/>
                </a:solidFill>
              </a:rPr>
              <a:t>(theta))+120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    </a:t>
            </a:r>
            <a:r>
              <a:rPr lang="en-US" altLang="zh-CN" sz="1867" dirty="0" err="1">
                <a:solidFill>
                  <a:schemeClr val="tx1"/>
                </a:solidFill>
              </a:rPr>
              <a:t>tt.setpos</a:t>
            </a:r>
            <a:r>
              <a:rPr lang="en-US" altLang="zh-CN" sz="1867" dirty="0">
                <a:solidFill>
                  <a:schemeClr val="tx1"/>
                </a:solidFill>
              </a:rPr>
              <a:t>(</a:t>
            </a:r>
            <a:r>
              <a:rPr lang="en-US" altLang="zh-CN" sz="1867" dirty="0" err="1">
                <a:solidFill>
                  <a:schemeClr val="tx1"/>
                </a:solidFill>
              </a:rPr>
              <a:t>x,y</a:t>
            </a:r>
            <a:r>
              <a:rPr lang="en-US" altLang="zh-CN" sz="1867" dirty="0">
                <a:solidFill>
                  <a:schemeClr val="tx1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    </a:t>
            </a:r>
            <a:r>
              <a:rPr lang="en-US" altLang="zh-CN" sz="1867" dirty="0" err="1">
                <a:solidFill>
                  <a:schemeClr val="tx1"/>
                </a:solidFill>
              </a:rPr>
              <a:t>tt.pd</a:t>
            </a:r>
            <a:r>
              <a:rPr lang="en-US" altLang="zh-CN" sz="1867" dirty="0">
                <a:solidFill>
                  <a:schemeClr val="tx1"/>
                </a:solidFill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>
                <a:solidFill>
                  <a:schemeClr val="tx1"/>
                </a:solidFill>
              </a:rPr>
              <a:t>    </a:t>
            </a:r>
            <a:r>
              <a:rPr lang="en-US" altLang="zh-CN" sz="1867" dirty="0" err="1">
                <a:solidFill>
                  <a:schemeClr val="tx1"/>
                </a:solidFill>
              </a:rPr>
              <a:t>tt.up</a:t>
            </a:r>
            <a:r>
              <a:rPr lang="en-US" altLang="zh-CN" sz="1867" dirty="0">
                <a:solidFill>
                  <a:schemeClr val="tx1"/>
                </a:solidFill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67" dirty="0" err="1">
                <a:solidFill>
                  <a:schemeClr val="tx1"/>
                </a:solidFill>
              </a:rPr>
              <a:t>tt.done</a:t>
            </a:r>
            <a:r>
              <a:rPr lang="en-US" altLang="zh-CN" sz="1867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例  绘制</a:t>
            </a:r>
            <a:r>
              <a:rPr lang="zh-CN" altLang="en-US" sz="3200" dirty="0"/>
              <a:t>笛卡尔心形曲线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117" y="1124744"/>
            <a:ext cx="4360664" cy="460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0469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1109774"/>
            <a:ext cx="4933553" cy="43370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407368" y="181957"/>
            <a:ext cx="6096000" cy="64940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zh-CN" altLang="en-US" sz="1600" dirty="0"/>
              <a:t>import turtle as tt</a:t>
            </a:r>
          </a:p>
          <a:p>
            <a:r>
              <a:rPr lang="zh-CN" altLang="en-US" sz="1600" dirty="0"/>
              <a:t>tt.pensize=5</a:t>
            </a:r>
          </a:p>
          <a:p>
            <a:r>
              <a:rPr lang="zh-CN" altLang="en-US" sz="1600" dirty="0"/>
              <a:t>tt.pu()</a:t>
            </a:r>
          </a:p>
          <a:p>
            <a:r>
              <a:rPr lang="zh-CN" altLang="en-US" sz="1600" dirty="0"/>
              <a:t>tS=tt.Screen()</a:t>
            </a:r>
          </a:p>
          <a:p>
            <a:r>
              <a:rPr lang="zh-CN" altLang="en-US" sz="1600" dirty="0"/>
              <a:t>def rect(x, n):</a:t>
            </a:r>
          </a:p>
          <a:p>
            <a:r>
              <a:rPr lang="zh-CN" altLang="en-US" sz="1600" dirty="0"/>
              <a:t>    sx,sy,bc=x        #起始点,边长</a:t>
            </a:r>
          </a:p>
          <a:p>
            <a:r>
              <a:rPr lang="zh-CN" altLang="en-US" sz="1600" dirty="0"/>
              <a:t>    if n == 0: </a:t>
            </a:r>
          </a:p>
          <a:p>
            <a:r>
              <a:rPr lang="zh-CN" altLang="en-US" sz="1600" dirty="0"/>
              <a:t>        tt.goto((sx,sy))</a:t>
            </a:r>
          </a:p>
          <a:p>
            <a:r>
              <a:rPr lang="zh-CN" altLang="en-US" sz="1600" dirty="0"/>
              <a:t>        tt.pd();</a:t>
            </a:r>
          </a:p>
          <a:p>
            <a:r>
              <a:rPr lang="zh-CN" altLang="en-US" sz="1600" dirty="0"/>
              <a:t>        for i in range(4):</a:t>
            </a:r>
          </a:p>
          <a:p>
            <a:r>
              <a:rPr lang="zh-CN" altLang="en-US" sz="1600" dirty="0"/>
              <a:t>            tt.fd(bc); tt.right(90)</a:t>
            </a:r>
          </a:p>
          <a:p>
            <a:r>
              <a:rPr lang="zh-CN" altLang="en-US" sz="1600" dirty="0"/>
              <a:t>        tt.pu()        </a:t>
            </a:r>
          </a:p>
          <a:p>
            <a:r>
              <a:rPr lang="zh-CN" altLang="en-US" sz="1600" dirty="0"/>
              <a:t>    else: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rect([sx,sy,              bc//3-5],  n - 1)        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rect([sx+bc//3+5,sy,      bc//3-5], 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rect([sx+ 2*bc//3+10,sy,  bc//3-5], 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rect([sx,sy-bc//3-5,      bc//3-5], 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rect([sx+2*bc//3+10,sy-bc//3-5,   bc//3-5],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rect([sx,sy-2*bc//3-10,           bc//3-5],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rect([sx+bc//3+5,sy-2*bc//3-10,   bc//3-5], n - 1)</a:t>
            </a:r>
          </a:p>
          <a:p>
            <a:r>
              <a:rPr lang="zh-CN" altLang="en-US" sz="1600" dirty="0">
                <a:solidFill>
                  <a:srgbClr val="0070C0"/>
                </a:solidFill>
              </a:rPr>
              <a:t>        rect([sx+2*bc//3+10,sy-2*bc//3-10,bc//3-5], n - 1)      </a:t>
            </a:r>
            <a:r>
              <a:rPr lang="zh-CN" altLang="en-US" sz="1600" dirty="0"/>
              <a:t> </a:t>
            </a:r>
          </a:p>
          <a:p>
            <a:r>
              <a:rPr lang="zh-CN" altLang="en-US" sz="1600" dirty="0"/>
              <a:t>x=[-300,300,500]</a:t>
            </a:r>
          </a:p>
          <a:p>
            <a:r>
              <a:rPr lang="zh-CN" altLang="en-US" sz="1600" dirty="0"/>
              <a:t>rect(x,2);</a:t>
            </a:r>
          </a:p>
          <a:p>
            <a:r>
              <a:rPr lang="zh-CN" altLang="en-US" sz="1600" dirty="0"/>
              <a:t>tt.done()</a:t>
            </a:r>
          </a:p>
          <a:p>
            <a:r>
              <a:rPr lang="zh-CN" altLang="en-US" sz="1600" dirty="0"/>
              <a:t>tS.exitonclick()</a:t>
            </a:r>
          </a:p>
        </p:txBody>
      </p:sp>
    </p:spTree>
    <p:extLst>
      <p:ext uri="{BB962C8B-B14F-4D97-AF65-F5344CB8AC3E}">
        <p14:creationId xmlns:p14="http://schemas.microsoft.com/office/powerpoint/2010/main" val="286451931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133" y="139701"/>
            <a:ext cx="10500240" cy="868363"/>
          </a:xfrm>
        </p:spPr>
        <p:txBody>
          <a:bodyPr/>
          <a:lstStyle/>
          <a:p>
            <a:r>
              <a:rPr lang="zh-CN" altLang="en-US" sz="2400" dirty="0"/>
              <a:t>递归树的绘制</a:t>
            </a:r>
          </a:p>
        </p:txBody>
      </p:sp>
      <p:sp>
        <p:nvSpPr>
          <p:cNvPr id="5" name="矩形 4"/>
          <p:cNvSpPr/>
          <p:nvPr/>
        </p:nvSpPr>
        <p:spPr>
          <a:xfrm>
            <a:off x="593265" y="1124744"/>
            <a:ext cx="5278843" cy="52629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/>
              <a:t>import turtle as tt</a:t>
            </a:r>
          </a:p>
          <a:p>
            <a:r>
              <a:rPr lang="zh-CN" altLang="en-US" sz="1400" dirty="0"/>
              <a:t>def Tree(lenB):</a:t>
            </a:r>
          </a:p>
          <a:p>
            <a:r>
              <a:rPr lang="zh-CN" altLang="en-US" sz="1400" dirty="0"/>
              <a:t>    if lenB&gt;20:</a:t>
            </a:r>
          </a:p>
          <a:p>
            <a:r>
              <a:rPr lang="zh-CN" altLang="en-US" sz="1400" dirty="0"/>
              <a:t>        tt.forward(lenB)  #画主干树枝</a:t>
            </a:r>
          </a:p>
          <a:p>
            <a:r>
              <a:rPr lang="zh-CN" altLang="en-US" sz="1400" dirty="0"/>
              <a:t>        tt.up()</a:t>
            </a:r>
          </a:p>
          <a:p>
            <a:r>
              <a:rPr lang="zh-CN" altLang="en-US" sz="1400" dirty="0"/>
              <a:t>        tt.backward(lenB) #回到树干底部</a:t>
            </a:r>
          </a:p>
          <a:p>
            <a:r>
              <a:rPr lang="zh-CN" altLang="en-US" sz="1400" dirty="0"/>
              <a:t>        tt.down()</a:t>
            </a:r>
          </a:p>
          <a:p>
            <a:r>
              <a:rPr lang="zh-CN" altLang="en-US" sz="1400" dirty="0"/>
              <a:t>        tt.fd(lenB/3)      #到达第1根树枝的起点  </a:t>
            </a:r>
          </a:p>
          <a:p>
            <a:r>
              <a:rPr lang="zh-CN" altLang="en-US" sz="1400" dirty="0"/>
              <a:t>        tt.left(30)        #向左旋转30度</a:t>
            </a:r>
          </a:p>
          <a:p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FF0000"/>
                </a:solidFill>
              </a:rPr>
              <a:t>Tree(lenB*0.5)     #画第1根树枝</a:t>
            </a:r>
          </a:p>
          <a:p>
            <a:r>
              <a:rPr lang="zh-CN" altLang="en-US" sz="1400" dirty="0"/>
              <a:t>        tt.right(30)       #小乌龟方向回正</a:t>
            </a:r>
          </a:p>
          <a:p>
            <a:r>
              <a:rPr lang="zh-CN" altLang="en-US" sz="1400" dirty="0"/>
              <a:t>        tt.backward(lenB/3)  #小乌龟回到第1根树枝的起点处</a:t>
            </a:r>
          </a:p>
          <a:p>
            <a:r>
              <a:rPr lang="zh-CN" altLang="en-US" sz="1400" dirty="0"/>
              <a:t>        </a:t>
            </a:r>
          </a:p>
          <a:p>
            <a:r>
              <a:rPr lang="zh-CN" altLang="en-US" sz="1400" dirty="0"/>
              <a:t>        tt.fd(lenB*0.5)        #到达第2根树枝的起点  </a:t>
            </a:r>
          </a:p>
          <a:p>
            <a:r>
              <a:rPr lang="zh-CN" altLang="en-US" sz="1400" dirty="0"/>
              <a:t>        tt.right(30)           #向右旋转30度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        Tree(lenB*0.5)         #画第2根树枝</a:t>
            </a:r>
          </a:p>
          <a:p>
            <a:r>
              <a:rPr lang="zh-CN" altLang="en-US" sz="1400" dirty="0"/>
              <a:t>        tt.left(30)            #小乌龟方向回正</a:t>
            </a:r>
          </a:p>
          <a:p>
            <a:r>
              <a:rPr lang="zh-CN" altLang="en-US" sz="1400" dirty="0"/>
              <a:t>        tt.backward(lenB*0.5)  #小乌龟回到第2根树枝的起点处</a:t>
            </a:r>
          </a:p>
          <a:p>
            <a:r>
              <a:rPr lang="zh-CN" altLang="en-US" sz="1400" dirty="0"/>
              <a:t>        </a:t>
            </a:r>
          </a:p>
          <a:p>
            <a:r>
              <a:rPr lang="zh-CN" altLang="en-US" sz="1400" dirty="0"/>
              <a:t>        tt.fd(lenB*2/3)        #到达第3根树枝的起点  </a:t>
            </a:r>
          </a:p>
          <a:p>
            <a:r>
              <a:rPr lang="zh-CN" altLang="en-US" sz="1400" dirty="0"/>
              <a:t>        tt.left(30)            #向左旋转30度</a:t>
            </a:r>
          </a:p>
          <a:p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FF0000"/>
                </a:solidFill>
              </a:rPr>
              <a:t>Tree(lenB*0.5)         #画第3根树枝</a:t>
            </a:r>
          </a:p>
          <a:p>
            <a:r>
              <a:rPr lang="zh-CN" altLang="en-US" sz="1400" dirty="0"/>
              <a:t>        tt.right(30)           #小乌龟方向回正</a:t>
            </a:r>
          </a:p>
          <a:p>
            <a:r>
              <a:rPr lang="zh-CN" altLang="en-US" sz="1400" dirty="0"/>
              <a:t>        tt.backward(lenB*2/3)  #小乌龟回到第3根树枝的起点处</a:t>
            </a:r>
          </a:p>
        </p:txBody>
      </p:sp>
      <p:sp>
        <p:nvSpPr>
          <p:cNvPr id="6" name="矩形 5"/>
          <p:cNvSpPr/>
          <p:nvPr/>
        </p:nvSpPr>
        <p:spPr>
          <a:xfrm>
            <a:off x="5980318" y="1159271"/>
            <a:ext cx="3788090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tt.left(90)        #小乌龟方向朝上</a:t>
            </a:r>
          </a:p>
          <a:p>
            <a:r>
              <a:rPr lang="zh-CN" altLang="en-US" dirty="0"/>
              <a:t>tt.pu()            #抬笔</a:t>
            </a:r>
          </a:p>
          <a:p>
            <a:r>
              <a:rPr lang="zh-CN" altLang="en-US" dirty="0"/>
              <a:t>tt.backward(150)   #后退150点</a:t>
            </a:r>
          </a:p>
          <a:p>
            <a:r>
              <a:rPr lang="zh-CN" altLang="en-US" dirty="0"/>
              <a:t>tt.pd()            #落笔</a:t>
            </a:r>
          </a:p>
          <a:p>
            <a:r>
              <a:rPr lang="zh-CN" altLang="en-US" dirty="0"/>
              <a:t>tt.color("green")</a:t>
            </a:r>
          </a:p>
          <a:p>
            <a:r>
              <a:rPr lang="zh-CN" altLang="en-US" dirty="0"/>
              <a:t>Tree(400)</a:t>
            </a:r>
          </a:p>
          <a:p>
            <a:r>
              <a:rPr lang="zh-CN" altLang="en-US" dirty="0"/>
              <a:t>tt.exitonclick()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033" y="3190596"/>
            <a:ext cx="2346972" cy="321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8981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11215</TotalTime>
  <Words>2003</Words>
  <Application>Microsoft Office PowerPoint</Application>
  <PresentationFormat>宽屏</PresentationFormat>
  <Paragraphs>206</Paragraphs>
  <Slides>14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黑体</vt:lpstr>
      <vt:lpstr>华文新魏</vt:lpstr>
      <vt:lpstr>宋体</vt:lpstr>
      <vt:lpstr>微软雅黑</vt:lpstr>
      <vt:lpstr>Arial</vt:lpstr>
      <vt:lpstr>Bodoni MT Black</vt:lpstr>
      <vt:lpstr>Calibri</vt:lpstr>
      <vt:lpstr>Times New Roman</vt:lpstr>
      <vt:lpstr>Wingdings</vt:lpstr>
      <vt:lpstr>主题1</vt:lpstr>
      <vt:lpstr>PowerPoint 演示文稿</vt:lpstr>
      <vt:lpstr>制图初步—初步了解matplotlib</vt:lpstr>
      <vt:lpstr>三角分型递归</vt:lpstr>
      <vt:lpstr>三角分析</vt:lpstr>
      <vt:lpstr>三角形分析</vt:lpstr>
      <vt:lpstr>完整代码</vt:lpstr>
      <vt:lpstr>PowerPoint 演示文稿</vt:lpstr>
      <vt:lpstr>图形绘制—turtle</vt:lpstr>
      <vt:lpstr>绘图坐标系</vt:lpstr>
      <vt:lpstr>图形绘制—Turtle</vt:lpstr>
      <vt:lpstr>图形绘制—Turtle</vt:lpstr>
      <vt:lpstr>例  绘制笛卡尔心形曲线</vt:lpstr>
      <vt:lpstr>PowerPoint 演示文稿</vt:lpstr>
      <vt:lpstr>递归树的绘制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689</cp:revision>
  <dcterms:created xsi:type="dcterms:W3CDTF">2010-02-28T17:17:53Z</dcterms:created>
  <dcterms:modified xsi:type="dcterms:W3CDTF">2026-04-06T09:49:16Z</dcterms:modified>
</cp:coreProperties>
</file>