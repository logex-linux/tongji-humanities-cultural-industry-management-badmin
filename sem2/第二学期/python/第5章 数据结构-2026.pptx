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05"/>
  </p:notesMasterIdLst>
  <p:sldIdLst>
    <p:sldId id="256" r:id="rId2"/>
    <p:sldId id="512" r:id="rId3"/>
    <p:sldId id="484" r:id="rId4"/>
    <p:sldId id="421" r:id="rId5"/>
    <p:sldId id="423" r:id="rId6"/>
    <p:sldId id="497" r:id="rId7"/>
    <p:sldId id="308" r:id="rId8"/>
    <p:sldId id="354" r:id="rId9"/>
    <p:sldId id="379" r:id="rId10"/>
    <p:sldId id="309" r:id="rId11"/>
    <p:sldId id="380" r:id="rId12"/>
    <p:sldId id="381" r:id="rId13"/>
    <p:sldId id="382" r:id="rId14"/>
    <p:sldId id="383" r:id="rId15"/>
    <p:sldId id="384" r:id="rId16"/>
    <p:sldId id="386" r:id="rId17"/>
    <p:sldId id="387" r:id="rId18"/>
    <p:sldId id="388" r:id="rId19"/>
    <p:sldId id="389" r:id="rId20"/>
    <p:sldId id="390" r:id="rId21"/>
    <p:sldId id="456" r:id="rId22"/>
    <p:sldId id="391" r:id="rId23"/>
    <p:sldId id="316" r:id="rId24"/>
    <p:sldId id="498" r:id="rId25"/>
    <p:sldId id="311" r:id="rId26"/>
    <p:sldId id="318" r:id="rId27"/>
    <p:sldId id="392" r:id="rId28"/>
    <p:sldId id="393" r:id="rId29"/>
    <p:sldId id="394" r:id="rId30"/>
    <p:sldId id="510" r:id="rId31"/>
    <p:sldId id="453" r:id="rId32"/>
    <p:sldId id="395" r:id="rId33"/>
    <p:sldId id="396" r:id="rId34"/>
    <p:sldId id="397" r:id="rId35"/>
    <p:sldId id="274" r:id="rId36"/>
    <p:sldId id="485" r:id="rId37"/>
    <p:sldId id="402" r:id="rId38"/>
    <p:sldId id="488" r:id="rId39"/>
    <p:sldId id="403" r:id="rId40"/>
    <p:sldId id="404" r:id="rId41"/>
    <p:sldId id="458" r:id="rId42"/>
    <p:sldId id="405" r:id="rId43"/>
    <p:sldId id="409" r:id="rId44"/>
    <p:sldId id="347" r:id="rId45"/>
    <p:sldId id="406" r:id="rId46"/>
    <p:sldId id="487" r:id="rId47"/>
    <p:sldId id="412" r:id="rId48"/>
    <p:sldId id="413" r:id="rId49"/>
    <p:sldId id="414" r:id="rId50"/>
    <p:sldId id="415" r:id="rId51"/>
    <p:sldId id="292" r:id="rId52"/>
    <p:sldId id="293" r:id="rId53"/>
    <p:sldId id="416" r:id="rId54"/>
    <p:sldId id="310" r:id="rId55"/>
    <p:sldId id="364" r:id="rId56"/>
    <p:sldId id="517" r:id="rId57"/>
    <p:sldId id="295" r:id="rId58"/>
    <p:sldId id="460" r:id="rId59"/>
    <p:sldId id="511" r:id="rId60"/>
    <p:sldId id="298" r:id="rId61"/>
    <p:sldId id="418" r:id="rId62"/>
    <p:sldId id="419" r:id="rId63"/>
    <p:sldId id="507" r:id="rId64"/>
    <p:sldId id="508" r:id="rId65"/>
    <p:sldId id="300" r:id="rId66"/>
    <p:sldId id="301" r:id="rId67"/>
    <p:sldId id="424" r:id="rId68"/>
    <p:sldId id="425" r:id="rId69"/>
    <p:sldId id="426" r:id="rId70"/>
    <p:sldId id="502" r:id="rId71"/>
    <p:sldId id="427" r:id="rId72"/>
    <p:sldId id="428" r:id="rId73"/>
    <p:sldId id="429" r:id="rId74"/>
    <p:sldId id="430" r:id="rId75"/>
    <p:sldId id="431" r:id="rId76"/>
    <p:sldId id="432" r:id="rId77"/>
    <p:sldId id="433" r:id="rId78"/>
    <p:sldId id="434" r:id="rId79"/>
    <p:sldId id="437" r:id="rId80"/>
    <p:sldId id="436" r:id="rId81"/>
    <p:sldId id="491" r:id="rId82"/>
    <p:sldId id="438" r:id="rId83"/>
    <p:sldId id="435" r:id="rId84"/>
    <p:sldId id="516" r:id="rId85"/>
    <p:sldId id="439" r:id="rId86"/>
    <p:sldId id="492" r:id="rId87"/>
    <p:sldId id="441" r:id="rId88"/>
    <p:sldId id="444" r:id="rId89"/>
    <p:sldId id="445" r:id="rId90"/>
    <p:sldId id="513" r:id="rId91"/>
    <p:sldId id="514" r:id="rId92"/>
    <p:sldId id="515" r:id="rId93"/>
    <p:sldId id="355" r:id="rId94"/>
    <p:sldId id="496" r:id="rId95"/>
    <p:sldId id="356" r:id="rId96"/>
    <p:sldId id="357" r:id="rId97"/>
    <p:sldId id="378" r:id="rId98"/>
    <p:sldId id="518" r:id="rId99"/>
    <p:sldId id="315" r:id="rId100"/>
    <p:sldId id="326" r:id="rId101"/>
    <p:sldId id="371" r:id="rId102"/>
    <p:sldId id="372" r:id="rId103"/>
    <p:sldId id="373" r:id="rId10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66FFFF"/>
    <a:srgbClr val="0000B4"/>
    <a:srgbClr val="000096"/>
    <a:srgbClr val="00FFA8"/>
    <a:srgbClr val="006699"/>
    <a:srgbClr val="CC0099"/>
    <a:srgbClr val="A7D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84" d="100"/>
          <a:sy n="84" d="100"/>
        </p:scale>
        <p:origin x="68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4592A4-E237-4A56-9CB9-39DC0234BDB2}" type="datetimeFigureOut">
              <a:rPr lang="zh-CN" altLang="en-US"/>
              <a:pPr>
                <a:defRPr/>
              </a:pPr>
              <a:t>2025/3/31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41A3E1-9B29-4EC3-8654-927667BFF2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170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转置后展平</a:t>
            </a:r>
          </a:p>
          <a:p>
            <a:r>
              <a:rPr lang="en-US" altLang="zh-CN" dirty="0"/>
              <a:t>Z=[]</a:t>
            </a:r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(X[0])):</a:t>
            </a:r>
          </a:p>
          <a:p>
            <a:r>
              <a:rPr lang="en-US" altLang="zh-CN" dirty="0"/>
              <a:t>    for j in range(</a:t>
            </a:r>
            <a:r>
              <a:rPr lang="en-US" altLang="zh-CN" dirty="0" err="1"/>
              <a:t>len</a:t>
            </a:r>
            <a:r>
              <a:rPr lang="en-US" altLang="zh-CN" dirty="0"/>
              <a:t>(X)):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Z.append</a:t>
            </a:r>
            <a:r>
              <a:rPr lang="en-US" altLang="zh-CN" dirty="0"/>
              <a:t>(X[j][</a:t>
            </a:r>
            <a:r>
              <a:rPr lang="en-US" altLang="zh-CN" dirty="0" err="1"/>
              <a:t>i</a:t>
            </a:r>
            <a:r>
              <a:rPr lang="en-US" altLang="zh-CN" dirty="0"/>
              <a:t>])</a:t>
            </a:r>
          </a:p>
          <a:p>
            <a:r>
              <a:rPr lang="en-US" altLang="zh-CN" dirty="0"/>
              <a:t>print(Z)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055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197" indent="0">
              <a:spcBef>
                <a:spcPts val="0"/>
              </a:spcBef>
              <a:buNone/>
            </a:pPr>
            <a:r>
              <a:rPr lang="en-US" altLang="zh-CN" sz="1200" dirty="0"/>
              <a:t>for row in X:                            # </a:t>
            </a:r>
            <a:r>
              <a:rPr lang="zh-CN" altLang="en-US" sz="1200" dirty="0"/>
              <a:t>遍历</a:t>
            </a:r>
            <a:r>
              <a:rPr lang="en-US" altLang="zh-CN" sz="1200" dirty="0"/>
              <a:t>X</a:t>
            </a:r>
            <a:r>
              <a:rPr lang="zh-CN" altLang="en-US" sz="1200" dirty="0"/>
              <a:t>的每一行</a:t>
            </a:r>
            <a:endParaRPr lang="en-US" altLang="zh-CN" sz="1200" dirty="0"/>
          </a:p>
          <a:p>
            <a:pPr marL="51197" indent="0">
              <a:spcBef>
                <a:spcPts val="0"/>
              </a:spcBef>
              <a:buNone/>
            </a:pPr>
            <a:r>
              <a:rPr lang="en-US" altLang="zh-CN" sz="1200" dirty="0"/>
              <a:t>    print(row[0],end=‘ ’)           # </a:t>
            </a:r>
            <a:r>
              <a:rPr lang="zh-CN" altLang="en-US" sz="1200" dirty="0"/>
              <a:t>控制输出每一行的第</a:t>
            </a:r>
            <a:r>
              <a:rPr lang="en-US" altLang="zh-CN" sz="1200" dirty="0"/>
              <a:t>0</a:t>
            </a:r>
            <a:r>
              <a:rPr lang="zh-CN" altLang="en-US" sz="1200" dirty="0"/>
              <a:t>列：   </a:t>
            </a:r>
            <a:r>
              <a:rPr lang="en-US" altLang="zh-CN" sz="1200" dirty="0"/>
              <a:t> 1   5   9</a:t>
            </a:r>
          </a:p>
          <a:p>
            <a:pPr marL="51197" indent="0">
              <a:spcBef>
                <a:spcPts val="0"/>
              </a:spcBef>
              <a:buNone/>
            </a:pPr>
            <a:r>
              <a:rPr lang="en-US" altLang="zh-CN" sz="1200" dirty="0"/>
              <a:t>print()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47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3132138"/>
            <a:ext cx="9144000" cy="3725862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3125788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325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3415D4A-526D-4DC9-BF32-C7B8DBFED9D6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85750"/>
            <a:ext cx="19050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406525"/>
            <a:ext cx="7508875" cy="1470025"/>
          </a:xfrm>
        </p:spPr>
        <p:txBody>
          <a:bodyPr anchor="ctr"/>
          <a:lstStyle>
            <a:lvl1pPr algn="r">
              <a:defRPr sz="48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1063" y="3357562"/>
            <a:ext cx="5205412" cy="1085859"/>
          </a:xfrm>
        </p:spPr>
        <p:txBody>
          <a:bodyPr/>
          <a:lstStyle>
            <a:lvl1pPr marL="0" indent="0" algn="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6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68580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5025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02613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18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C7C2-E367-4D1A-8507-0E4B93C08E54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F44F-88D4-409B-A822-AB9949CC2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79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375400"/>
            <a:ext cx="9144000" cy="482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369050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412875"/>
            <a:ext cx="82931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8621713" y="6453188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6FD76A5C-5101-48E2-B4FF-7E96E16CB41A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39700"/>
            <a:ext cx="8275638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TextBox 6"/>
          <p:cNvSpPr txBox="1">
            <a:spLocks noChangeArrowheads="1"/>
          </p:cNvSpPr>
          <p:nvPr/>
        </p:nvSpPr>
        <p:spPr bwMode="auto">
          <a:xfrm>
            <a:off x="4763" y="6416675"/>
            <a:ext cx="3205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 err="1">
                <a:solidFill>
                  <a:schemeClr val="bg1"/>
                </a:solidFill>
              </a:rPr>
              <a:t>Tongji</a:t>
            </a:r>
            <a:r>
              <a:rPr lang="en-US" altLang="zh-CN" b="1" dirty="0">
                <a:solidFill>
                  <a:schemeClr val="bg1"/>
                </a:solidFill>
              </a:rPr>
              <a:t> University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032" name="Picture 9" descr="tongji university lo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15888"/>
            <a:ext cx="2124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3" r:id="rId3"/>
    <p:sldLayoutId id="2147483925" r:id="rId4"/>
    <p:sldLayoutId id="2147483928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 sz="quarter"/>
          </p:nvPr>
        </p:nvSpPr>
        <p:spPr>
          <a:xfrm>
            <a:off x="1130564" y="1340768"/>
            <a:ext cx="7508875" cy="1470025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第五章</a:t>
            </a:r>
            <a:br>
              <a:rPr lang="en-US" altLang="zh-CN" dirty="0"/>
            </a:br>
            <a:r>
              <a:rPr lang="en-US" altLang="zh-CN" dirty="0"/>
              <a:t>Python</a:t>
            </a:r>
            <a:r>
              <a:rPr lang="zh-CN" altLang="en-US" dirty="0"/>
              <a:t>数据结构</a:t>
            </a:r>
            <a:r>
              <a:rPr lang="en-US" altLang="zh-CN" dirty="0"/>
              <a:t>—</a:t>
            </a:r>
            <a:r>
              <a:rPr lang="zh-CN" altLang="en-US" dirty="0"/>
              <a:t>序列</a:t>
            </a:r>
          </a:p>
        </p:txBody>
      </p:sp>
      <p:sp>
        <p:nvSpPr>
          <p:cNvPr id="4099" name="副标题 2"/>
          <p:cNvSpPr>
            <a:spLocks noGrp="1"/>
          </p:cNvSpPr>
          <p:nvPr>
            <p:ph type="subTitle" sz="quarter" idx="1"/>
          </p:nvPr>
        </p:nvSpPr>
        <p:spPr>
          <a:xfrm>
            <a:off x="3421063" y="3357563"/>
            <a:ext cx="5205412" cy="108585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Bodoni MT Black"/>
              </a:rPr>
              <a:t>同济大学计算机</a:t>
            </a:r>
            <a:endParaRPr lang="en-US" altLang="zh-CN" sz="4000" dirty="0">
              <a:latin typeface="Bodoni MT Black"/>
            </a:endParaRPr>
          </a:p>
          <a:p>
            <a:pPr eaLnBrk="1" hangingPunct="1"/>
            <a:r>
              <a:rPr lang="zh-CN" altLang="en-US" sz="4000" dirty="0">
                <a:latin typeface="Bodoni MT Black"/>
              </a:rPr>
              <a:t>基础教研室</a:t>
            </a:r>
          </a:p>
          <a:p>
            <a:pPr eaLnBrk="1" hangingPunct="1"/>
            <a:endParaRPr lang="zh-CN" altLang="en-US" sz="4000" dirty="0">
              <a:latin typeface="Bodoni MT Black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4B59D-A9BA-E0FD-BA68-F35F6ECD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找错题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806697-4386-940C-FD7A-100CCCDDB9C3}"/>
              </a:ext>
            </a:extLst>
          </p:cNvPr>
          <p:cNvSpPr txBox="1"/>
          <p:nvPr/>
        </p:nvSpPr>
        <p:spPr>
          <a:xfrm>
            <a:off x="251520" y="1052736"/>
            <a:ext cx="86409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def prime(m):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for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in range(1,m):       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isPrime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=True       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if m %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==0: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break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isPrime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=False     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isPrime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 True: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k=int('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请输入一个整数，我帮你判断它是不是素数，输入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结束：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')    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if k&lt;0: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break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if prime(k):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print(k,'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是素数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')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954699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本章内容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11560" y="1196752"/>
            <a:ext cx="7604642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25463" indent="-457200" algn="just" eaLnBrk="1" hangingPunct="1">
              <a:buFont typeface="+mj-lt"/>
              <a:buAutoNum type="arabicPeriod"/>
            </a:pPr>
            <a:r>
              <a:rPr lang="zh-CN" altLang="en-US" sz="2400" dirty="0"/>
              <a:t>列表</a:t>
            </a:r>
            <a:endParaRPr lang="en-US" altLang="zh-CN" sz="2400" dirty="0"/>
          </a:p>
          <a:p>
            <a:pPr marL="525463" indent="-457200" algn="just" eaLnBrk="1" hangingPunct="1">
              <a:buFont typeface="+mj-lt"/>
              <a:buAutoNum type="arabicPeriod"/>
            </a:pPr>
            <a:r>
              <a:rPr lang="zh-CN" altLang="en-US" sz="2400" dirty="0"/>
              <a:t>元组</a:t>
            </a:r>
            <a:endParaRPr lang="en-US" altLang="zh-CN" sz="2400" dirty="0"/>
          </a:p>
          <a:p>
            <a:pPr marL="525463" indent="-457200" algn="just" eaLnBrk="1" hangingPunct="1">
              <a:buFont typeface="+mj-lt"/>
              <a:buAutoNum type="arabicPeriod"/>
            </a:pPr>
            <a:r>
              <a:rPr lang="zh-CN" altLang="en-US" sz="2400" dirty="0"/>
              <a:t>字典</a:t>
            </a:r>
            <a:endParaRPr lang="en-US" altLang="zh-CN" sz="2400" dirty="0"/>
          </a:p>
          <a:p>
            <a:pPr marL="525463" indent="-457200" algn="just" eaLnBrk="1" hangingPunct="1">
              <a:buFont typeface="+mj-lt"/>
              <a:buAutoNum type="arabicPeriod"/>
            </a:pPr>
            <a:r>
              <a:rPr lang="zh-CN" altLang="en-US" sz="2400" dirty="0"/>
              <a:t>集合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88764892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8138402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引例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学生平均成绩和标准差的计算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67544" y="1135900"/>
            <a:ext cx="79249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en-US" altLang="zh-CN" sz="2400" dirty="0"/>
              <a:t>170</a:t>
            </a:r>
            <a:r>
              <a:rPr lang="zh-CN" altLang="en-US" sz="2400" dirty="0"/>
              <a:t>个同学，</a:t>
            </a:r>
            <a:r>
              <a:rPr lang="en-US" altLang="zh-CN" sz="2400" dirty="0"/>
              <a:t>170</a:t>
            </a:r>
            <a:r>
              <a:rPr lang="zh-CN" altLang="en-US" sz="2400" dirty="0"/>
              <a:t>个成绩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6953044" cy="648072"/>
          </a:xfrm>
          <a:prstGeom prst="rect">
            <a:avLst/>
          </a:prstGeom>
        </p:spPr>
      </p:pic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4415" y="3068960"/>
            <a:ext cx="7924968" cy="19442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en-US" altLang="zh-CN" sz="2400" dirty="0"/>
              <a:t>170</a:t>
            </a:r>
            <a:r>
              <a:rPr lang="zh-CN" altLang="en-US" sz="2400" dirty="0"/>
              <a:t>个同学，</a:t>
            </a:r>
            <a:r>
              <a:rPr lang="en-US" altLang="zh-CN" sz="2400" dirty="0"/>
              <a:t>170</a:t>
            </a:r>
            <a:r>
              <a:rPr lang="zh-CN" altLang="en-US" sz="2400" dirty="0"/>
              <a:t>个成绩，可用计数循环输入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zh-CN" altLang="en-US" sz="2400" dirty="0"/>
              <a:t>计算平均值，需要所有人的成绩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zh-CN" altLang="en-US" sz="2400" dirty="0"/>
              <a:t>计算</a:t>
            </a:r>
            <a:r>
              <a:rPr lang="en-US" altLang="zh-CN" sz="2400" dirty="0" err="1"/>
              <a:t>std</a:t>
            </a:r>
            <a:r>
              <a:rPr lang="zh-CN" altLang="en-US" sz="2400" dirty="0"/>
              <a:t>时，仍需要所有人的成绩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28629095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引例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学生成绩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11560" y="1196752"/>
            <a:ext cx="7604642" cy="5040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zh-CN" altLang="en-US" sz="2400" dirty="0"/>
              <a:t>不使用列表存储学生成绩，那么学生成绩就要输入两次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16832"/>
            <a:ext cx="72104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54346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299786" y="116632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引例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学生成绩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299786" y="908720"/>
            <a:ext cx="8280920" cy="54006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换一种数据结构，则方便的多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68263" indent="0" algn="just" eaLnBrk="1" hangingPunct="1">
              <a:buNone/>
            </a:pPr>
            <a:r>
              <a:rPr lang="en-US" altLang="zh-CN" sz="2000" dirty="0"/>
              <a:t>import math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n=100 ;</a:t>
            </a:r>
            <a:r>
              <a:rPr lang="en-US" altLang="zh-CN" sz="2000" dirty="0">
                <a:solidFill>
                  <a:srgbClr val="FF0000"/>
                </a:solidFill>
              </a:rPr>
              <a:t>Scores=[ ]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range(n):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   x=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(input("</a:t>
            </a:r>
            <a:r>
              <a:rPr lang="zh-CN" altLang="en-US" sz="2000" dirty="0"/>
              <a:t>请输入成绩：</a:t>
            </a:r>
            <a:r>
              <a:rPr lang="en-US" altLang="zh-CN" sz="2000" dirty="0"/>
              <a:t>"))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Scores.append</a:t>
            </a:r>
            <a:r>
              <a:rPr lang="en-US" altLang="zh-CN" sz="2000" dirty="0"/>
              <a:t>(x)   </a:t>
            </a:r>
            <a:r>
              <a:rPr lang="en-US" altLang="zh-CN" sz="2000" dirty="0">
                <a:solidFill>
                  <a:srgbClr val="FF0000"/>
                </a:solidFill>
              </a:rPr>
              <a:t>#</a:t>
            </a:r>
            <a:r>
              <a:rPr lang="zh-CN" altLang="en-US" sz="2000" dirty="0">
                <a:solidFill>
                  <a:srgbClr val="FF0000"/>
                </a:solidFill>
              </a:rPr>
              <a:t>追加当前输入成绩到列表中 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68263" indent="0" algn="just" eaLnBrk="1" hangingPunct="1">
              <a:buNone/>
            </a:pPr>
            <a:r>
              <a:rPr lang="en-US" altLang="zh-CN" sz="2000" dirty="0"/>
              <a:t>total=sum(Scores)</a:t>
            </a:r>
          </a:p>
          <a:p>
            <a:pPr marL="68263" indent="0" algn="just" eaLnBrk="1" hangingPunct="1">
              <a:buNone/>
            </a:pPr>
            <a:r>
              <a:rPr lang="en-US" altLang="zh-CN" sz="2000" dirty="0" err="1"/>
              <a:t>ave</a:t>
            </a:r>
            <a:r>
              <a:rPr lang="en-US" altLang="zh-CN" sz="2000" dirty="0"/>
              <a:t>=total/n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s=0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for x in Scores: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    s=s+(x-</a:t>
            </a:r>
            <a:r>
              <a:rPr lang="en-US" altLang="zh-CN" sz="2000" dirty="0" err="1"/>
              <a:t>ave</a:t>
            </a:r>
            <a:r>
              <a:rPr lang="en-US" altLang="zh-CN" sz="2000" dirty="0"/>
              <a:t>)**2 # </a:t>
            </a:r>
            <a:r>
              <a:rPr lang="zh-CN" altLang="en-US" sz="2000" dirty="0"/>
              <a:t>用列表存储的数据计算标准差 </a:t>
            </a:r>
            <a:endParaRPr lang="en-US" altLang="zh-CN" sz="2000" dirty="0"/>
          </a:p>
          <a:p>
            <a:pPr marL="68263" indent="0" algn="just" eaLnBrk="1" hangingPunct="1">
              <a:buNone/>
            </a:pPr>
            <a:r>
              <a:rPr lang="en-US" altLang="zh-CN" sz="2000" dirty="0" err="1"/>
              <a:t>std</a:t>
            </a:r>
            <a:r>
              <a:rPr lang="en-US" altLang="zh-CN" sz="2000" dirty="0"/>
              <a:t>=</a:t>
            </a:r>
            <a:r>
              <a:rPr lang="en-US" altLang="zh-CN" sz="2000" dirty="0" err="1"/>
              <a:t>math.sqrt</a:t>
            </a:r>
            <a:r>
              <a:rPr lang="en-US" altLang="zh-CN" sz="2000" dirty="0"/>
              <a:t>(s/(n-1)) 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print('</a:t>
            </a:r>
            <a:r>
              <a:rPr lang="zh-CN" altLang="en-US" sz="2000" dirty="0"/>
              <a:t>总平均</a:t>
            </a:r>
            <a:r>
              <a:rPr lang="en-US" altLang="zh-CN" sz="2000" dirty="0"/>
              <a:t>=',</a:t>
            </a:r>
            <a:r>
              <a:rPr lang="en-US" altLang="zh-CN" sz="2000" dirty="0" err="1"/>
              <a:t>ave</a:t>
            </a:r>
            <a:r>
              <a:rPr lang="en-US" altLang="zh-CN" sz="2000" dirty="0"/>
              <a:t>,'</a:t>
            </a:r>
            <a:r>
              <a:rPr lang="zh-CN" altLang="en-US" sz="2000" dirty="0"/>
              <a:t>标准差</a:t>
            </a:r>
            <a:r>
              <a:rPr lang="en-US" altLang="zh-CN" sz="2000" dirty="0"/>
              <a:t>=',</a:t>
            </a:r>
            <a:r>
              <a:rPr lang="en-US" altLang="zh-CN" sz="2000" dirty="0" err="1"/>
              <a:t>std</a:t>
            </a:r>
            <a:r>
              <a:rPr lang="en-US" altLang="zh-CN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6427873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列表  </a:t>
            </a:r>
            <a:r>
              <a:rPr lang="en-US" altLang="zh-CN">
                <a:latin typeface="黑体" pitchFamily="49" charset="-122"/>
                <a:ea typeface="黑体" pitchFamily="49" charset="-122"/>
              </a:rPr>
              <a:t>List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11560" y="1484784"/>
            <a:ext cx="7914918" cy="2952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800" dirty="0"/>
              <a:t>列表</a:t>
            </a:r>
            <a:r>
              <a:rPr lang="en-US" altLang="zh-CN" sz="2800" dirty="0"/>
              <a:t>list</a:t>
            </a:r>
            <a:r>
              <a:rPr lang="zh-CN" altLang="en-US" sz="2800" dirty="0"/>
              <a:t>，是一组数据，放进</a:t>
            </a:r>
            <a:r>
              <a:rPr lang="en-US" altLang="zh-CN" sz="2800" dirty="0"/>
              <a:t>[ ] </a:t>
            </a:r>
            <a:r>
              <a:rPr lang="zh-CN" altLang="en-US" sz="2800" dirty="0"/>
              <a:t>中，这组数据可以是</a:t>
            </a:r>
            <a:r>
              <a:rPr lang="zh-CN" altLang="en-US" sz="2800" dirty="0">
                <a:solidFill>
                  <a:srgbClr val="FF0000"/>
                </a:solidFill>
              </a:rPr>
              <a:t>同类型</a:t>
            </a:r>
            <a:r>
              <a:rPr lang="zh-CN" altLang="en-US" sz="2800" dirty="0"/>
              <a:t>，也可是</a:t>
            </a:r>
            <a:r>
              <a:rPr lang="zh-CN" altLang="en-US" sz="2800" dirty="0">
                <a:solidFill>
                  <a:srgbClr val="FF0000"/>
                </a:solidFill>
              </a:rPr>
              <a:t>不同类型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just" eaLnBrk="1" hangingPunct="1">
              <a:buFontTx/>
              <a:buNone/>
            </a:pPr>
            <a:r>
              <a:rPr lang="en-US" altLang="zh-CN" sz="2800" dirty="0"/>
              <a:t>x=[22,”</a:t>
            </a:r>
            <a:r>
              <a:rPr lang="zh-CN" altLang="en-US" sz="2800" dirty="0"/>
              <a:t>小王</a:t>
            </a:r>
            <a:r>
              <a:rPr lang="en-US" altLang="zh-CN" sz="2800" dirty="0"/>
              <a:t>”,89, 21,”anna”,76]</a:t>
            </a:r>
          </a:p>
          <a:p>
            <a:pPr algn="just" eaLnBrk="1" hangingPunct="1"/>
            <a:r>
              <a:rPr lang="zh-CN" altLang="en-US" sz="2800" dirty="0"/>
              <a:t>提供强大的处理功能：排序，索引、计数、切片等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540785208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zh-CN" dirty="0"/>
              <a:t>列表</a:t>
            </a:r>
            <a:r>
              <a:rPr lang="zh-CN" altLang="en-US" dirty="0"/>
              <a:t>创建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685800" y="1196752"/>
            <a:ext cx="7772400" cy="489654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82613" indent="-514350" algn="just" eaLnBrk="1" hangingPunct="1">
              <a:buFont typeface="+mj-lt"/>
              <a:buAutoNum type="arabicPeriod"/>
            </a:pPr>
            <a:r>
              <a:rPr lang="zh-CN" altLang="zh-CN" b="1" dirty="0"/>
              <a:t>直接使用</a:t>
            </a:r>
            <a:r>
              <a:rPr lang="en-US" altLang="zh-CN" b="1" dirty="0"/>
              <a:t>[ ]</a:t>
            </a:r>
            <a:r>
              <a:rPr lang="zh-CN" altLang="zh-CN" b="1" dirty="0"/>
              <a:t>生成列表</a:t>
            </a:r>
            <a:endParaRPr lang="en-US" altLang="zh-CN" sz="2400" dirty="0"/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	Li=[ 1</a:t>
            </a:r>
            <a:r>
              <a:rPr lang="zh-CN" altLang="en-US" sz="2400" dirty="0"/>
              <a:t>，</a:t>
            </a:r>
            <a:r>
              <a:rPr lang="en-US" altLang="zh-CN" sz="2400" dirty="0"/>
              <a:t>20.9</a:t>
            </a:r>
            <a:r>
              <a:rPr lang="zh-CN" altLang="en-US" sz="2400" dirty="0"/>
              <a:t>，</a:t>
            </a:r>
            <a:r>
              <a:rPr lang="en-US" altLang="zh-CN" sz="2400" dirty="0"/>
              <a:t>-1]    </a:t>
            </a:r>
          </a:p>
          <a:p>
            <a:pPr marL="582613" indent="-514350" algn="just" eaLnBrk="1" hangingPunct="1">
              <a:buFont typeface="+mj-lt"/>
              <a:buAutoNum type="arabicPeriod" startAt="2"/>
            </a:pPr>
            <a:r>
              <a:rPr lang="zh-CN" altLang="zh-CN" b="1" dirty="0"/>
              <a:t>使用</a:t>
            </a:r>
            <a:r>
              <a:rPr lang="en-US" altLang="zh-CN" b="1" dirty="0"/>
              <a:t>list</a:t>
            </a:r>
            <a:r>
              <a:rPr lang="zh-CN" altLang="zh-CN" b="1" dirty="0"/>
              <a:t>函数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list </a:t>
            </a:r>
            <a:r>
              <a:rPr lang="zh-CN" altLang="en-US" sz="2400" dirty="0"/>
              <a:t>配合</a:t>
            </a:r>
            <a:r>
              <a:rPr lang="en-US" altLang="zh-CN" sz="2400" dirty="0"/>
              <a:t>range</a:t>
            </a:r>
            <a:r>
              <a:rPr lang="zh-CN" altLang="en-US" sz="2400" dirty="0"/>
              <a:t>产生列表</a:t>
            </a:r>
            <a:endParaRPr lang="en-US" altLang="zh-CN" sz="2400" dirty="0"/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     a=list(range(1,10,3) )</a:t>
            </a:r>
          </a:p>
          <a:p>
            <a:pPr algn="just" eaLnBrk="1" hangingPunct="1">
              <a:buFontTx/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[1,4,7]</a:t>
            </a:r>
          </a:p>
          <a:p>
            <a:pPr marL="68263" indent="0">
              <a:buNone/>
            </a:pPr>
            <a:r>
              <a:rPr lang="en-US" altLang="zh-CN" sz="2400" dirty="0"/>
              <a:t>     University="</a:t>
            </a:r>
            <a:r>
              <a:rPr lang="en-US" altLang="zh-CN" sz="2400" dirty="0" err="1"/>
              <a:t>Tongji</a:t>
            </a:r>
            <a:r>
              <a:rPr lang="en-US" altLang="zh-CN" sz="2400" dirty="0"/>
              <a:t>"      </a:t>
            </a:r>
            <a:r>
              <a:rPr lang="en-US" altLang="zh-CN" dirty="0"/>
              <a:t>['T', 'o', 'n', 'g', 'j', '</a:t>
            </a:r>
            <a:r>
              <a:rPr lang="en-US" altLang="zh-CN" dirty="0" err="1"/>
              <a:t>i</a:t>
            </a:r>
            <a:r>
              <a:rPr lang="en-US" altLang="zh-CN" dirty="0"/>
              <a:t>']</a:t>
            </a:r>
            <a:endParaRPr lang="en-US" altLang="zh-CN" sz="2400" dirty="0"/>
          </a:p>
          <a:p>
            <a:pPr marL="68263" indent="0">
              <a:buNone/>
            </a:pPr>
            <a:r>
              <a:rPr lang="en-US" altLang="zh-CN" sz="2400" dirty="0"/>
              <a:t>     Li=list(University)   </a:t>
            </a:r>
          </a:p>
          <a:p>
            <a:pPr marL="582613" indent="-514350" algn="just" eaLnBrk="1" hangingPunct="1">
              <a:buFont typeface="+mj-lt"/>
              <a:buAutoNum type="arabicPeriod" startAt="3"/>
            </a:pPr>
            <a:r>
              <a:rPr lang="zh-CN" altLang="en-US" b="1" dirty="0"/>
              <a:t>其他 ：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切片，列表方法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append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，列表推导式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6179199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zh-CN" dirty="0"/>
              <a:t>列表</a:t>
            </a:r>
            <a:r>
              <a:rPr lang="zh-CN" altLang="en-US" dirty="0"/>
              <a:t>删除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659485" y="1340768"/>
            <a:ext cx="7772400" cy="489654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dirty="0"/>
              <a:t>格式：</a:t>
            </a:r>
            <a:r>
              <a:rPr lang="en-US" altLang="zh-CN" dirty="0"/>
              <a:t>del </a:t>
            </a:r>
            <a:r>
              <a:rPr lang="zh-CN" altLang="zh-CN" dirty="0"/>
              <a:t>列表</a:t>
            </a:r>
            <a:endParaRPr lang="en-US" altLang="zh-CN" sz="2400" dirty="0"/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	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     Li=[ 1</a:t>
            </a:r>
            <a:r>
              <a:rPr lang="zh-CN" altLang="en-US" sz="2400" dirty="0"/>
              <a:t>，</a:t>
            </a:r>
            <a:r>
              <a:rPr lang="en-US" altLang="zh-CN" sz="2400" dirty="0"/>
              <a:t>20.9</a:t>
            </a:r>
            <a:r>
              <a:rPr lang="zh-CN" altLang="en-US" sz="2400" dirty="0"/>
              <a:t>，</a:t>
            </a:r>
            <a:r>
              <a:rPr lang="en-US" altLang="zh-CN" sz="2400" dirty="0"/>
              <a:t>-1] 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	 del Li[1]  # </a:t>
            </a:r>
            <a:r>
              <a:rPr lang="zh-CN" altLang="en-US" sz="2400" dirty="0"/>
              <a:t>删除列表的一个元素</a:t>
            </a:r>
            <a:endParaRPr lang="en-US" altLang="zh-CN" sz="2400" dirty="0"/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	 print(Li)     #[1,-1]</a:t>
            </a:r>
          </a:p>
          <a:p>
            <a:pPr marL="68263" indent="0">
              <a:buNone/>
            </a:pPr>
            <a:r>
              <a:rPr lang="en-US" altLang="zh-CN" dirty="0"/>
              <a:t>    del Li  		# </a:t>
            </a:r>
            <a:r>
              <a:rPr lang="zh-CN" altLang="zh-CN" dirty="0"/>
              <a:t>删除列表</a:t>
            </a:r>
          </a:p>
          <a:p>
            <a:pPr marL="68263" indent="0">
              <a:buNone/>
            </a:pPr>
            <a:r>
              <a:rPr lang="en-US" altLang="zh-CN" dirty="0"/>
              <a:t>    print(Li</a:t>
            </a:r>
            <a:r>
              <a:rPr lang="en-US" altLang="zh-CN" sz="2400" dirty="0">
                <a:solidFill>
                  <a:srgbClr val="FF0000"/>
                </a:solidFill>
              </a:rPr>
              <a:t>) #</a:t>
            </a:r>
            <a:r>
              <a:rPr lang="en-US" altLang="zh-CN" sz="2400" dirty="0" err="1">
                <a:solidFill>
                  <a:srgbClr val="FF0000"/>
                </a:solidFill>
              </a:rPr>
              <a:t>NameError</a:t>
            </a:r>
            <a:r>
              <a:rPr lang="en-US" altLang="zh-CN" sz="2400" dirty="0">
                <a:solidFill>
                  <a:srgbClr val="FF0000"/>
                </a:solidFill>
              </a:rPr>
              <a:t>: name 'Li' is not defined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marL="68263" indent="0">
              <a:buNone/>
            </a:pPr>
            <a:endParaRPr lang="en-US" altLang="zh-CN" dirty="0"/>
          </a:p>
          <a:p>
            <a:pPr marL="68263" indent="0">
              <a:buNone/>
            </a:pPr>
            <a:r>
              <a:rPr lang="en-US" altLang="zh-CN" dirty="0"/>
              <a:t>     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036351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列表元素的调用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51206" y="1340768"/>
            <a:ext cx="7772400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列表访问格式 ：  </a:t>
            </a:r>
            <a:r>
              <a:rPr lang="zh-CN" altLang="en-US" sz="2400" dirty="0">
                <a:solidFill>
                  <a:srgbClr val="FF0000"/>
                </a:solidFill>
              </a:rPr>
              <a:t>表名</a:t>
            </a:r>
            <a:r>
              <a:rPr lang="en-US" altLang="zh-CN" sz="2400" dirty="0">
                <a:solidFill>
                  <a:srgbClr val="FF0000"/>
                </a:solidFill>
              </a:rPr>
              <a:t>[</a:t>
            </a:r>
            <a:r>
              <a:rPr lang="zh-CN" altLang="en-US" sz="2400" dirty="0">
                <a:solidFill>
                  <a:srgbClr val="FF0000"/>
                </a:solidFill>
              </a:rPr>
              <a:t>下标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</a:p>
          <a:p>
            <a:pPr algn="just" eaLnBrk="1" hangingPunct="1"/>
            <a:r>
              <a:rPr lang="zh-CN" altLang="en-US" sz="2400" dirty="0"/>
              <a:t>下标从左到右  </a:t>
            </a:r>
            <a:r>
              <a:rPr lang="en-US" altLang="zh-CN" sz="2400" dirty="0"/>
              <a:t>0 ~ n-1  </a:t>
            </a:r>
            <a:r>
              <a:rPr lang="zh-CN" altLang="en-US" sz="2400" dirty="0"/>
              <a:t>；从右向左 </a:t>
            </a:r>
            <a:r>
              <a:rPr lang="en-US" altLang="zh-CN" sz="2400" dirty="0"/>
              <a:t>-1 ~ -n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64065" y="3147361"/>
            <a:ext cx="4320480" cy="26642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Tx/>
              <a:buNone/>
            </a:pPr>
            <a:r>
              <a:rPr lang="it-IT" altLang="zh-CN" sz="2400" dirty="0"/>
              <a:t>x=[1, 2,3,'</a:t>
            </a:r>
            <a:r>
              <a:rPr lang="zh-CN" altLang="it-IT" sz="2400" dirty="0"/>
              <a:t>小王</a:t>
            </a:r>
            <a:r>
              <a:rPr lang="it-IT" altLang="zh-CN" sz="2400" dirty="0"/>
              <a:t>','anna']</a:t>
            </a:r>
          </a:p>
          <a:p>
            <a:pPr algn="just" eaLnBrk="1" hangingPunct="1">
              <a:buFontTx/>
              <a:buNone/>
            </a:pPr>
            <a:r>
              <a:rPr lang="it-IT" altLang="zh-CN" sz="2400" dirty="0"/>
              <a:t>x[0]</a:t>
            </a:r>
          </a:p>
          <a:p>
            <a:pPr algn="just" eaLnBrk="1" hangingPunct="1">
              <a:buFontTx/>
              <a:buNone/>
            </a:pPr>
            <a:r>
              <a:rPr lang="it-IT" altLang="zh-CN" sz="2400" dirty="0"/>
              <a:t>1</a:t>
            </a:r>
          </a:p>
          <a:p>
            <a:pPr algn="just" eaLnBrk="1" hangingPunct="1">
              <a:buFontTx/>
              <a:buNone/>
            </a:pPr>
            <a:r>
              <a:rPr lang="it-IT" altLang="zh-CN" sz="2400" dirty="0"/>
              <a:t>x[-1]</a:t>
            </a:r>
          </a:p>
          <a:p>
            <a:pPr algn="just" eaLnBrk="1" hangingPunct="1">
              <a:buFontTx/>
              <a:buNone/>
            </a:pPr>
            <a:r>
              <a:rPr lang="it-IT" altLang="zh-CN" sz="2400" dirty="0"/>
              <a:t>'anna'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5220072" y="4206008"/>
            <a:ext cx="3091880" cy="70685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Tx/>
              <a:buNone/>
            </a:pPr>
            <a:r>
              <a:rPr lang="zh-CN" altLang="en-US" sz="2400" dirty="0"/>
              <a:t>用</a:t>
            </a:r>
            <a:r>
              <a:rPr lang="en-US" altLang="zh-CN" sz="2400" dirty="0"/>
              <a:t>[</a:t>
            </a:r>
            <a:r>
              <a:rPr lang="zh-CN" altLang="en-US" sz="2400" dirty="0"/>
              <a:t>索引</a:t>
            </a:r>
            <a:r>
              <a:rPr lang="en-US" altLang="zh-CN" sz="2400" dirty="0"/>
              <a:t>]</a:t>
            </a:r>
            <a:r>
              <a:rPr lang="zh-CN" altLang="en-US" sz="2400" dirty="0"/>
              <a:t>方式引用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87941275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7772400" cy="72576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列表遍历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39552" y="930780"/>
            <a:ext cx="7772400" cy="537854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zh-CN" b="1" dirty="0"/>
              <a:t>枚举方式</a:t>
            </a:r>
            <a:endParaRPr lang="en-US" altLang="zh-CN" b="1" dirty="0"/>
          </a:p>
          <a:p>
            <a:pPr marL="68263" indent="0" algn="just" eaLnBrk="1" hangingPunct="1">
              <a:buNone/>
            </a:pPr>
            <a:r>
              <a:rPr lang="en-US" altLang="zh-CN" dirty="0"/>
              <a:t>     for item in L:</a:t>
            </a:r>
          </a:p>
          <a:p>
            <a:pPr algn="just" eaLnBrk="1" hangingPunct="1"/>
            <a:r>
              <a:rPr lang="zh-CN" altLang="zh-CN" b="1" dirty="0"/>
              <a:t>下标索引方式</a:t>
            </a:r>
            <a:endParaRPr lang="en-US" altLang="zh-CN" b="1" dirty="0"/>
          </a:p>
          <a:p>
            <a:pPr marL="68263" indent="0" algn="just" eaLnBrk="1" hangingPunct="1">
              <a:buNone/>
            </a:pPr>
            <a:r>
              <a:rPr lang="en-US" altLang="zh-CN" dirty="0"/>
              <a:t>     </a:t>
            </a:r>
            <a:r>
              <a:rPr lang="zh-CN" altLang="en-US" sz="2800" dirty="0"/>
              <a:t>用</a:t>
            </a:r>
            <a:r>
              <a:rPr lang="en-US" altLang="zh-CN" sz="2800" dirty="0"/>
              <a:t>range</a:t>
            </a:r>
            <a:r>
              <a:rPr lang="zh-CN" altLang="en-US" sz="2800" dirty="0"/>
              <a:t>函数配合</a:t>
            </a:r>
            <a:endParaRPr lang="en-US" altLang="zh-CN" sz="2800" dirty="0"/>
          </a:p>
          <a:p>
            <a:pPr marL="68263" indent="0">
              <a:buNone/>
            </a:pPr>
            <a:r>
              <a:rPr lang="en-US" altLang="zh-CN" sz="2800" b="1" dirty="0"/>
              <a:t>      </a:t>
            </a:r>
            <a:r>
              <a:rPr lang="en-US" altLang="zh-CN" sz="2800" dirty="0"/>
              <a:t>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in range(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(L)):</a:t>
            </a:r>
            <a:endParaRPr lang="zh-CN" altLang="zh-CN" sz="2800" dirty="0"/>
          </a:p>
          <a:p>
            <a:pPr marL="68263" indent="0">
              <a:buNone/>
            </a:pPr>
            <a:r>
              <a:rPr lang="en-US" altLang="zh-CN" sz="2800" dirty="0"/>
              <a:t>            </a:t>
            </a:r>
            <a:r>
              <a:rPr lang="zh-CN" altLang="zh-CN" sz="2800" dirty="0"/>
              <a:t>对</a:t>
            </a:r>
            <a:r>
              <a:rPr lang="en-US" altLang="zh-CN" sz="2800" dirty="0">
                <a:solidFill>
                  <a:srgbClr val="FF0000"/>
                </a:solidFill>
              </a:rPr>
              <a:t>L[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]</a:t>
            </a:r>
            <a:r>
              <a:rPr lang="zh-CN" altLang="zh-CN" sz="2800" dirty="0"/>
              <a:t>进行处理</a:t>
            </a:r>
            <a:endParaRPr lang="en-US" altLang="zh-CN" sz="2800" b="1" dirty="0"/>
          </a:p>
          <a:p>
            <a:pPr algn="just" eaLnBrk="1" hangingPunct="1"/>
            <a:r>
              <a:rPr lang="zh-CN" altLang="zh-CN" b="1" dirty="0">
                <a:solidFill>
                  <a:srgbClr val="FF0000"/>
                </a:solidFill>
              </a:rPr>
              <a:t>枚举加下标索引方式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en-US" altLang="zh-CN" dirty="0"/>
              <a:t>    </a:t>
            </a:r>
            <a:r>
              <a:rPr lang="zh-CN" altLang="zh-CN" sz="2800" dirty="0"/>
              <a:t>借助</a:t>
            </a:r>
            <a:r>
              <a:rPr lang="en-US" altLang="zh-CN" sz="2800" dirty="0"/>
              <a:t>enumerate</a:t>
            </a:r>
            <a:r>
              <a:rPr lang="zh-CN" altLang="en-US" sz="2800" dirty="0"/>
              <a:t>函数</a:t>
            </a:r>
            <a:r>
              <a:rPr lang="zh-CN" altLang="zh-CN" sz="2800" dirty="0"/>
              <a:t>，其格式为：</a:t>
            </a:r>
          </a:p>
          <a:p>
            <a:pPr marL="68263" indent="0">
              <a:buNone/>
            </a:pPr>
            <a:r>
              <a:rPr lang="en-US" altLang="zh-CN" sz="2800" dirty="0"/>
              <a:t>     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, item in </a:t>
            </a:r>
            <a:r>
              <a:rPr lang="en-US" altLang="zh-CN" sz="2800" dirty="0">
                <a:solidFill>
                  <a:srgbClr val="FF0000"/>
                </a:solidFill>
              </a:rPr>
              <a:t>enumerate</a:t>
            </a:r>
            <a:r>
              <a:rPr lang="en-US" altLang="zh-CN" sz="2800" dirty="0"/>
              <a:t>(L):</a:t>
            </a:r>
            <a:endParaRPr lang="zh-CN" altLang="zh-CN" sz="2800" dirty="0"/>
          </a:p>
          <a:p>
            <a:pPr marL="68263" indent="0" algn="just" eaLnBrk="1" hangingPunct="1">
              <a:buNone/>
            </a:pPr>
            <a:r>
              <a:rPr lang="en-US" altLang="zh-CN" sz="2800" dirty="0"/>
              <a:t>      </a:t>
            </a:r>
            <a:r>
              <a:rPr lang="en-US" altLang="zh-CN" sz="2800" dirty="0" err="1"/>
              <a:t>i</a:t>
            </a:r>
            <a:r>
              <a:rPr lang="zh-CN" altLang="zh-CN" sz="2800" dirty="0"/>
              <a:t>是第</a:t>
            </a:r>
            <a:r>
              <a:rPr lang="en-US" altLang="zh-CN" sz="2800" dirty="0" err="1"/>
              <a:t>i</a:t>
            </a:r>
            <a:r>
              <a:rPr lang="zh-CN" altLang="zh-CN" sz="2800" dirty="0"/>
              <a:t>个元素的下标，</a:t>
            </a:r>
            <a:r>
              <a:rPr lang="en-US" altLang="zh-CN" sz="2800" dirty="0"/>
              <a:t>item</a:t>
            </a:r>
            <a:r>
              <a:rPr lang="zh-CN" altLang="zh-CN" sz="2800" dirty="0"/>
              <a:t>是</a:t>
            </a:r>
            <a:r>
              <a:rPr lang="zh-CN" altLang="en-US" sz="2800" dirty="0"/>
              <a:t>第</a:t>
            </a:r>
            <a:r>
              <a:rPr lang="en-US" altLang="zh-CN" sz="2800" dirty="0" err="1"/>
              <a:t>i</a:t>
            </a:r>
            <a:r>
              <a:rPr lang="zh-CN" altLang="en-US" sz="2800" dirty="0"/>
              <a:t>元素的</a:t>
            </a:r>
            <a:r>
              <a:rPr lang="zh-CN" altLang="zh-CN" sz="2800" dirty="0"/>
              <a:t>值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935267129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 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67544" y="1124744"/>
            <a:ext cx="8136904" cy="40324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zh-CN" dirty="0"/>
              <a:t>求</a:t>
            </a:r>
            <a:r>
              <a:rPr lang="en-US" altLang="zh-CN" dirty="0"/>
              <a:t>100-999</a:t>
            </a:r>
            <a:r>
              <a:rPr lang="zh-CN" altLang="zh-CN" dirty="0"/>
              <a:t>之间的所有水仙花数。</a:t>
            </a:r>
            <a:endParaRPr lang="en-US" altLang="zh-CN" dirty="0"/>
          </a:p>
          <a:p>
            <a:pPr algn="just" eaLnBrk="1" hangingPunct="1"/>
            <a:r>
              <a:rPr lang="zh-CN" altLang="zh-CN" dirty="0"/>
              <a:t>水仙花数是指一个</a:t>
            </a:r>
            <a:r>
              <a:rPr lang="en-US" altLang="zh-CN" dirty="0"/>
              <a:t> 3 </a:t>
            </a:r>
            <a:r>
              <a:rPr lang="zh-CN" altLang="zh-CN" dirty="0"/>
              <a:t>位数，它的每个位上的数字的</a:t>
            </a:r>
            <a:r>
              <a:rPr lang="en-US" altLang="zh-CN" dirty="0"/>
              <a:t> 3</a:t>
            </a:r>
            <a:r>
              <a:rPr lang="zh-CN" altLang="zh-CN" dirty="0"/>
              <a:t>次幂之和等于它本身。请用三种遍历方式求解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algn="just" eaLnBrk="1" hangingPunct="1"/>
            <a:r>
              <a:rPr lang="zh-CN" altLang="en-US" sz="2400" dirty="0"/>
              <a:t>将所有的三位数，放进一个列表中，然后遍历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055322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方案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1—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直接枚举 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23528" y="1124744"/>
            <a:ext cx="8712968" cy="40324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dirty="0"/>
              <a:t>R=list(range(100,1000))  # </a:t>
            </a:r>
            <a:r>
              <a:rPr lang="zh-CN" altLang="en-US" dirty="0"/>
              <a:t>生成所有三位数的列表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for item in R</a:t>
            </a:r>
            <a:r>
              <a:rPr lang="en-US" altLang="zh-CN" dirty="0"/>
              <a:t>: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x=item % 10           # </a:t>
            </a:r>
            <a:r>
              <a:rPr lang="zh-CN" altLang="en-US" dirty="0"/>
              <a:t>个位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y=item // 10 % 10   # </a:t>
            </a:r>
            <a:r>
              <a:rPr lang="zh-CN" altLang="en-US" dirty="0"/>
              <a:t>十位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z=item//100            # </a:t>
            </a:r>
            <a:r>
              <a:rPr lang="zh-CN" altLang="en-US" dirty="0"/>
              <a:t>百位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if (x**3+y**3+z**3)==item: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    print(item)</a:t>
            </a:r>
            <a:endParaRPr lang="zh-CN" altLang="zh-CN" dirty="0"/>
          </a:p>
          <a:p>
            <a:pPr marL="68263" indent="0" algn="just" eaLnBrk="1" hangingPunct="1">
              <a:buNone/>
            </a:pPr>
            <a:endParaRPr lang="en-US" altLang="zh-CN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469764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方案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2—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下标索引 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11560" y="1124744"/>
            <a:ext cx="7772400" cy="40324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dirty="0"/>
              <a:t>R=list(range(100,1000))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for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in range(</a:t>
            </a:r>
            <a:r>
              <a:rPr lang="en-US" altLang="zh-CN" dirty="0" err="1">
                <a:solidFill>
                  <a:srgbClr val="FF0000"/>
                </a:solidFill>
              </a:rPr>
              <a:t>len</a:t>
            </a:r>
            <a:r>
              <a:rPr lang="en-US" altLang="zh-CN" dirty="0">
                <a:solidFill>
                  <a:srgbClr val="FF0000"/>
                </a:solidFill>
              </a:rPr>
              <a:t>(R)):</a:t>
            </a:r>
            <a:endParaRPr lang="zh-CN" altLang="zh-CN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en-US" altLang="zh-CN" dirty="0"/>
              <a:t>    x=  R[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]   % 10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y=R[</a:t>
            </a:r>
            <a:r>
              <a:rPr lang="en-US" altLang="zh-CN" dirty="0" err="1"/>
              <a:t>i</a:t>
            </a:r>
            <a:r>
              <a:rPr lang="en-US" altLang="zh-CN" dirty="0"/>
              <a:t>] // 10 % 10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z=R[</a:t>
            </a:r>
            <a:r>
              <a:rPr lang="en-US" altLang="zh-CN" dirty="0" err="1"/>
              <a:t>i</a:t>
            </a:r>
            <a:r>
              <a:rPr lang="en-US" altLang="zh-CN" dirty="0"/>
              <a:t>]//100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if (x**3+y**3+z**3)==R[</a:t>
            </a:r>
            <a:r>
              <a:rPr lang="en-US" altLang="zh-CN" dirty="0" err="1"/>
              <a:t>i</a:t>
            </a:r>
            <a:r>
              <a:rPr lang="en-US" altLang="zh-CN" dirty="0"/>
              <a:t>]: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    print(R[</a:t>
            </a:r>
            <a:r>
              <a:rPr lang="en-US" altLang="zh-CN" dirty="0" err="1"/>
              <a:t>i</a:t>
            </a:r>
            <a:r>
              <a:rPr lang="en-US" altLang="zh-CN" dirty="0"/>
              <a:t>])</a:t>
            </a:r>
            <a:endParaRPr lang="zh-CN" altLang="zh-CN" dirty="0"/>
          </a:p>
          <a:p>
            <a:pPr marL="68263" indent="0" algn="just" eaLnBrk="1" hangingPunct="1">
              <a:buNone/>
            </a:pPr>
            <a:endParaRPr lang="en-US" altLang="zh-CN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168401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方案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3—enumerate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函数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11560" y="1340768"/>
            <a:ext cx="7772400" cy="40324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dirty="0"/>
              <a:t>R=list(range(100,1000))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for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, item in enumerate(R):</a:t>
            </a:r>
            <a:endParaRPr lang="zh-CN" altLang="zh-CN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en-US" altLang="zh-CN" dirty="0"/>
              <a:t>    x=item % 10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y=item // 10 % 10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z=item//100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if (x**3+y**3+z**3)==item: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    print('</a:t>
            </a:r>
            <a:r>
              <a:rPr lang="zh-CN" altLang="zh-CN" dirty="0"/>
              <a:t>第</a:t>
            </a:r>
            <a:r>
              <a:rPr lang="en-US" altLang="zh-CN" dirty="0"/>
              <a:t>'+</a:t>
            </a:r>
            <a:r>
              <a:rPr lang="en-US" altLang="zh-CN" b="1" dirty="0" err="1">
                <a:solidFill>
                  <a:srgbClr val="FF0000"/>
                </a:solidFill>
              </a:rPr>
              <a:t>str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+'</a:t>
            </a:r>
            <a:r>
              <a:rPr lang="zh-CN" altLang="zh-CN" dirty="0"/>
              <a:t>项是水仙花</a:t>
            </a:r>
            <a:r>
              <a:rPr lang="en-US" altLang="zh-CN" dirty="0"/>
              <a:t>',item)</a:t>
            </a:r>
            <a:endParaRPr lang="zh-CN" altLang="zh-CN" dirty="0"/>
          </a:p>
          <a:p>
            <a:pPr marL="68263" indent="0" algn="just" eaLnBrk="1" hangingPunct="1">
              <a:buNone/>
            </a:pPr>
            <a:endParaRPr lang="en-US" altLang="zh-CN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54115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遍历注意事项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11560" y="1124744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zh-CN" altLang="en-US" dirty="0"/>
              <a:t>如果遍历的同时，需要对 表项值 修改，则必须用</a:t>
            </a:r>
            <a:r>
              <a:rPr lang="zh-CN" altLang="en-US" dirty="0">
                <a:solidFill>
                  <a:srgbClr val="FF0000"/>
                </a:solidFill>
              </a:rPr>
              <a:t>下标方式</a:t>
            </a:r>
            <a:endParaRPr lang="en-US" altLang="zh-CN" sz="4000" b="1" dirty="0">
              <a:solidFill>
                <a:srgbClr val="FF0000"/>
              </a:solidFill>
            </a:endParaRPr>
          </a:p>
          <a:p>
            <a:pPr marL="68263" indent="0">
              <a:buNone/>
            </a:pPr>
            <a:endParaRPr lang="en-US" altLang="zh-CN" dirty="0"/>
          </a:p>
          <a:p>
            <a:pPr marL="68263" indent="0">
              <a:buNone/>
            </a:pPr>
            <a:r>
              <a:rPr lang="zh-CN" altLang="zh-CN" dirty="0"/>
              <a:t>将</a:t>
            </a:r>
            <a:r>
              <a:rPr lang="en-US" altLang="zh-CN" dirty="0"/>
              <a:t>0-9</a:t>
            </a:r>
            <a:r>
              <a:rPr lang="zh-CN" altLang="zh-CN" dirty="0"/>
              <a:t>组成的列表</a:t>
            </a:r>
            <a:r>
              <a:rPr lang="zh-CN" altLang="en-US" dirty="0"/>
              <a:t>的</a:t>
            </a:r>
            <a:r>
              <a:rPr lang="zh-CN" altLang="zh-CN" dirty="0"/>
              <a:t>每个元素平方</a:t>
            </a:r>
            <a:endParaRPr lang="en-US" altLang="zh-CN" dirty="0"/>
          </a:p>
          <a:p>
            <a:pPr marL="68263" indent="0">
              <a:buNone/>
            </a:pPr>
            <a:r>
              <a:rPr lang="en-US" altLang="zh-CN" dirty="0"/>
              <a:t>A=1,B=A , A=10</a:t>
            </a:r>
          </a:p>
          <a:p>
            <a:pPr marL="68263" indent="0">
              <a:buNone/>
            </a:pPr>
            <a:r>
              <a:rPr lang="en-US" altLang="zh-CN" dirty="0"/>
              <a:t>R=list(range(0,10))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for item in R: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item=item**2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print(R)</a:t>
            </a:r>
            <a:endParaRPr lang="zh-CN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5505494" y="3465584"/>
            <a:ext cx="1877437" cy="43088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不能达到要求</a:t>
            </a:r>
          </a:p>
        </p:txBody>
      </p:sp>
    </p:spTree>
    <p:extLst>
      <p:ext uri="{BB962C8B-B14F-4D97-AF65-F5344CB8AC3E}">
        <p14:creationId xmlns:p14="http://schemas.microsoft.com/office/powerpoint/2010/main" val="223842109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 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11560" y="986408"/>
            <a:ext cx="7772400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zh-CN" dirty="0"/>
              <a:t>将</a:t>
            </a:r>
            <a:r>
              <a:rPr lang="en-US" altLang="zh-CN" dirty="0"/>
              <a:t>0-9</a:t>
            </a:r>
            <a:r>
              <a:rPr lang="zh-CN" altLang="zh-CN" dirty="0"/>
              <a:t>组成的列表每个元素平方</a:t>
            </a:r>
            <a:endParaRPr lang="en-US" altLang="zh-CN" dirty="0"/>
          </a:p>
          <a:p>
            <a:pPr marL="68263" indent="0">
              <a:buNone/>
            </a:pPr>
            <a:r>
              <a:rPr lang="en-US" altLang="zh-CN" dirty="0"/>
              <a:t>R=list(range(0,10))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(R)):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    R[</a:t>
            </a:r>
            <a:r>
              <a:rPr lang="en-US" altLang="zh-CN" dirty="0" err="1"/>
              <a:t>i</a:t>
            </a:r>
            <a:r>
              <a:rPr lang="en-US" altLang="zh-CN" dirty="0"/>
              <a:t>]=R[</a:t>
            </a:r>
            <a:r>
              <a:rPr lang="en-US" altLang="zh-CN" dirty="0" err="1"/>
              <a:t>i</a:t>
            </a:r>
            <a:r>
              <a:rPr lang="en-US" altLang="zh-CN" dirty="0"/>
              <a:t>]**2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print(R)</a:t>
            </a:r>
            <a:endParaRPr lang="zh-CN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5796136" y="4793943"/>
            <a:ext cx="1319592" cy="43088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结果正确</a:t>
            </a:r>
          </a:p>
        </p:txBody>
      </p:sp>
      <p:sp>
        <p:nvSpPr>
          <p:cNvPr id="2" name="矩形 1"/>
          <p:cNvSpPr/>
          <p:nvPr/>
        </p:nvSpPr>
        <p:spPr>
          <a:xfrm>
            <a:off x="3995936" y="5477237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[0, 1, 4, 9, 16, 25, 36, 49, 64, 81]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0192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列表分片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23528" y="1268760"/>
            <a:ext cx="8358889" cy="47525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目的：将列表中的片段取出来形成列表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 eaLnBrk="1" hangingPunct="1"/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回忆字符串的分片，操作一致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 eaLnBrk="1" hangingPunct="1"/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采用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[</a:t>
            </a:r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</a:rPr>
              <a:t>m:n:step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]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的形式，结果是左闭右开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 eaLnBrk="1" hangingPunct="1"/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</a:rPr>
              <a:t>m,n,step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之间应该配合， 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m&lt;n  step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应该正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 eaLnBrk="1" hangingPunct="1"/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m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省略，步长正，取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；步长负，取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-1</a:t>
            </a:r>
          </a:p>
          <a:p>
            <a:pPr algn="just" eaLnBrk="1" hangingPunct="1"/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省略，步长正，取最大位置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+1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，步长负，取负最大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-1</a:t>
            </a:r>
          </a:p>
          <a:p>
            <a:pPr algn="just" eaLnBrk="1" hangingPunct="1"/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step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省略，取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</a:p>
          <a:p>
            <a:pPr algn="just" eaLnBrk="1" hangingPunct="1"/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全部省略（只跟一个冒号），取整个表，拷贝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904305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列表运算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----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分片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67544" y="1040058"/>
            <a:ext cx="7992887" cy="71618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en-US" altLang="zh-CN" sz="2800" b="1" dirty="0"/>
              <a:t>&gt;&gt;&gt; x=[1,3,23,22,45,90]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76819" y="1905339"/>
            <a:ext cx="3142485" cy="41961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en-US" altLang="zh-CN" sz="2000" b="1" dirty="0"/>
              <a:t>x[:4]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[1, 3, 23, 22]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x[:9]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[1, 3, 23, 22, 45, 90]</a:t>
            </a:r>
          </a:p>
          <a:p>
            <a:pPr marL="68263" indent="0" algn="just" eaLnBrk="1" hangingPunct="1">
              <a:buNone/>
            </a:pP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x[1:]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[3, 23, 22, 45, 90]</a:t>
            </a:r>
          </a:p>
          <a:p>
            <a:pPr marL="68263" indent="0" algn="just" eaLnBrk="1" hangingPunct="1">
              <a:buNone/>
            </a:pP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x[-3:-1]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[22, 45]</a:t>
            </a:r>
          </a:p>
        </p:txBody>
      </p:sp>
      <p:sp>
        <p:nvSpPr>
          <p:cNvPr id="6" name="矩形 5"/>
          <p:cNvSpPr/>
          <p:nvPr/>
        </p:nvSpPr>
        <p:spPr>
          <a:xfrm>
            <a:off x="4098986" y="2952446"/>
            <a:ext cx="4427492" cy="764585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索引</a:t>
            </a:r>
            <a:r>
              <a:rPr lang="en-US" altLang="zh-CN" sz="2400" dirty="0"/>
              <a:t>9</a:t>
            </a:r>
            <a:r>
              <a:rPr lang="zh-CN" altLang="en-US" sz="2400" dirty="0"/>
              <a:t>超过最大值，取到最大值</a:t>
            </a:r>
          </a:p>
        </p:txBody>
      </p:sp>
      <p:sp>
        <p:nvSpPr>
          <p:cNvPr id="7" name="矩形 6"/>
          <p:cNvSpPr/>
          <p:nvPr/>
        </p:nvSpPr>
        <p:spPr>
          <a:xfrm>
            <a:off x="4087520" y="2084824"/>
            <a:ext cx="3968102" cy="576064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/>
              <a:t>：前无数字，从</a:t>
            </a:r>
            <a:r>
              <a:rPr lang="en-US" altLang="zh-CN" sz="2000" dirty="0"/>
              <a:t>0</a:t>
            </a:r>
            <a:r>
              <a:rPr lang="zh-CN" altLang="en-US" sz="2000" dirty="0"/>
              <a:t>开始</a:t>
            </a:r>
          </a:p>
        </p:txBody>
      </p:sp>
      <p:sp>
        <p:nvSpPr>
          <p:cNvPr id="8" name="矩形 7"/>
          <p:cNvSpPr/>
          <p:nvPr/>
        </p:nvSpPr>
        <p:spPr>
          <a:xfrm>
            <a:off x="4098986" y="4136299"/>
            <a:ext cx="3995523" cy="576064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/>
              <a:t>：后无数字，到最后</a:t>
            </a:r>
          </a:p>
        </p:txBody>
      </p:sp>
    </p:spTree>
    <p:extLst>
      <p:ext uri="{BB962C8B-B14F-4D97-AF65-F5344CB8AC3E}">
        <p14:creationId xmlns:p14="http://schemas.microsoft.com/office/powerpoint/2010/main" val="18696402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分片步长 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67544" y="980728"/>
            <a:ext cx="7848872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000" b="1" dirty="0"/>
              <a:t>默认步长为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，如果改变步长，再增加一个：并后跟一个数字</a:t>
            </a: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x=[1, 3, 23, 22, 45, 90]</a:t>
            </a:r>
          </a:p>
          <a:p>
            <a:pPr marL="68263" indent="0" algn="just" eaLnBrk="1" hangingPunct="1">
              <a:buNone/>
            </a:pP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x[::3]   #  m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都省略</a:t>
            </a: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[1, 22]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x[5:3:-1]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[90, 45]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x[::-2]    # m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省略，步长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负数</a:t>
            </a: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[90, 22, 3]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x[0:5:-2]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[ ]</a:t>
            </a:r>
          </a:p>
        </p:txBody>
      </p:sp>
      <p:sp>
        <p:nvSpPr>
          <p:cNvPr id="2" name="矩形 1"/>
          <p:cNvSpPr/>
          <p:nvPr/>
        </p:nvSpPr>
        <p:spPr>
          <a:xfrm>
            <a:off x="4139952" y="4437112"/>
            <a:ext cx="3960440" cy="57606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左边小，取负步长？</a:t>
            </a:r>
          </a:p>
        </p:txBody>
      </p:sp>
      <p:cxnSp>
        <p:nvCxnSpPr>
          <p:cNvPr id="4" name="直接箭头连接符 3"/>
          <p:cNvCxnSpPr>
            <a:stCxn id="2" idx="1"/>
          </p:cNvCxnSpPr>
          <p:nvPr/>
        </p:nvCxnSpPr>
        <p:spPr>
          <a:xfrm flipH="1">
            <a:off x="2627784" y="4725144"/>
            <a:ext cx="1512168" cy="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5316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表的拷贝与赋值之间的差异</a:t>
            </a:r>
          </a:p>
        </p:txBody>
      </p:sp>
      <p:sp>
        <p:nvSpPr>
          <p:cNvPr id="4" name="内容占位符 2"/>
          <p:cNvSpPr txBox="1">
            <a:spLocks noGrp="1"/>
          </p:cNvSpPr>
          <p:nvPr>
            <p:ph idx="1"/>
          </p:nvPr>
        </p:nvSpPr>
        <p:spPr bwMode="auto">
          <a:xfrm>
            <a:off x="433388" y="1412776"/>
            <a:ext cx="8293100" cy="409416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en-US" altLang="zh-CN" sz="2400" dirty="0"/>
              <a:t>X=[1, 3, 23, 22, 45, 90]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y=</a:t>
            </a:r>
            <a:r>
              <a:rPr lang="en-US" altLang="zh-CN" sz="2400" b="1" dirty="0"/>
              <a:t>x[:]  #</a:t>
            </a:r>
            <a:r>
              <a:rPr lang="zh-CN" altLang="en-US" sz="2400" dirty="0"/>
              <a:t>整个表</a:t>
            </a:r>
            <a:endParaRPr lang="en-US" altLang="zh-CN" sz="2400" b="1" dirty="0"/>
          </a:p>
          <a:p>
            <a:pPr marL="68263" indent="0" algn="just" eaLnBrk="1" hangingPunct="1">
              <a:buNone/>
            </a:pPr>
            <a:r>
              <a:rPr lang="zh-CN" altLang="en-US" sz="2400" dirty="0"/>
              <a:t>和</a:t>
            </a:r>
            <a:r>
              <a:rPr lang="en-US" altLang="zh-CN" sz="2400" dirty="0"/>
              <a:t>y=x</a:t>
            </a:r>
          </a:p>
          <a:p>
            <a:pPr marL="68263" indent="0" algn="just" eaLnBrk="1" hangingPunct="1">
              <a:buNone/>
            </a:pPr>
            <a:r>
              <a:rPr lang="zh-CN" altLang="en-US" sz="2400" b="1" dirty="0"/>
              <a:t>有什么区别？</a:t>
            </a:r>
            <a:endParaRPr lang="en-US" altLang="zh-CN" sz="2400" b="1" dirty="0"/>
          </a:p>
          <a:p>
            <a:pPr marL="68263" indent="0" algn="just" eaLnBrk="1" hangingPunct="1">
              <a:buNone/>
            </a:pPr>
            <a:r>
              <a:rPr lang="zh-CN" altLang="en-US" sz="2400" dirty="0"/>
              <a:t>请去复习  “</a:t>
            </a:r>
            <a:r>
              <a:rPr lang="zh-CN" altLang="en-US" sz="2400" dirty="0">
                <a:solidFill>
                  <a:srgbClr val="FF0000"/>
                </a:solidFill>
              </a:rPr>
              <a:t>绑定</a:t>
            </a:r>
            <a:r>
              <a:rPr lang="zh-CN" altLang="en-US" sz="2400" dirty="0"/>
              <a:t>” 课件</a:t>
            </a:r>
            <a:endParaRPr lang="en-US" altLang="zh-CN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1772816"/>
            <a:ext cx="4176464" cy="3046988"/>
          </a:xfrm>
          <a:prstGeom prst="rect">
            <a:avLst/>
          </a:prstGeom>
          <a:solidFill>
            <a:schemeClr val="bg1"/>
          </a:solidFill>
          <a:ln w="28575">
            <a:solidFill>
              <a:srgbClr val="66FF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x=[1, 3, 23, 22, 45, 90]</a:t>
            </a:r>
          </a:p>
          <a:p>
            <a:r>
              <a:rPr lang="en-US" altLang="zh-CN" sz="2400" dirty="0"/>
              <a:t>y=x[:]  #  y</a:t>
            </a:r>
            <a:r>
              <a:rPr lang="zh-CN" altLang="en-US" sz="2400" dirty="0"/>
              <a:t>和</a:t>
            </a:r>
            <a:r>
              <a:rPr lang="en-US" altLang="zh-CN" sz="2400" dirty="0"/>
              <a:t>x</a:t>
            </a:r>
            <a:r>
              <a:rPr lang="zh-CN" altLang="en-US" sz="2400" dirty="0"/>
              <a:t>没有关系</a:t>
            </a:r>
            <a:endParaRPr lang="en-US" altLang="zh-CN" sz="2400" dirty="0"/>
          </a:p>
          <a:p>
            <a:r>
              <a:rPr lang="en-US" altLang="zh-CN" sz="2400" dirty="0"/>
              <a:t>x[1]=100</a:t>
            </a: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z=x    # z</a:t>
            </a:r>
            <a:r>
              <a:rPr lang="zh-CN" altLang="en-US" sz="2400" dirty="0"/>
              <a:t>，</a:t>
            </a:r>
            <a:r>
              <a:rPr lang="en-US" altLang="zh-CN" sz="2400" dirty="0"/>
              <a:t>x</a:t>
            </a:r>
            <a:r>
              <a:rPr lang="zh-CN" altLang="en-US" sz="2400" dirty="0"/>
              <a:t>同时绑定表</a:t>
            </a:r>
            <a:endParaRPr lang="en-US" altLang="zh-CN" sz="2400" dirty="0"/>
          </a:p>
          <a:p>
            <a:r>
              <a:rPr lang="en-US" altLang="zh-CN" sz="2400" dirty="0"/>
              <a:t>x[2]=1000</a:t>
            </a: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x,z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运行结果是什么？为什么？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1671382450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分片赋值 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11560" y="1124744"/>
            <a:ext cx="7848872" cy="489654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b="1" dirty="0"/>
              <a:t>将</a:t>
            </a:r>
            <a:r>
              <a:rPr lang="zh-CN" altLang="en-US" sz="2400" b="1" dirty="0">
                <a:solidFill>
                  <a:srgbClr val="FF0000"/>
                </a:solidFill>
              </a:rPr>
              <a:t>列表赋值给列表的分片</a:t>
            </a:r>
            <a:r>
              <a:rPr lang="zh-CN" altLang="en-US" sz="2400" b="1" dirty="0"/>
              <a:t>，可实现元素的插入和删除</a:t>
            </a:r>
            <a:endParaRPr lang="en-US" altLang="zh-CN" sz="2400" b="1" dirty="0"/>
          </a:p>
          <a:p>
            <a:pPr marL="68263" indent="0">
              <a:buNone/>
            </a:pPr>
            <a:r>
              <a:rPr lang="en-US" altLang="zh-CN" dirty="0"/>
              <a:t>L=[1,2,3,4,5]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L[1:1]=[ </a:t>
            </a:r>
            <a:r>
              <a:rPr lang="en-US" altLang="zh-CN" b="1" dirty="0">
                <a:solidFill>
                  <a:srgbClr val="00B050"/>
                </a:solidFill>
              </a:rPr>
              <a:t>-9,-8,-7 </a:t>
            </a:r>
            <a:r>
              <a:rPr lang="en-US" altLang="zh-CN" dirty="0"/>
              <a:t>]   # [1:1]</a:t>
            </a:r>
            <a:r>
              <a:rPr lang="zh-CN" altLang="en-US" dirty="0"/>
              <a:t>是空表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print(L)</a:t>
            </a:r>
            <a:endParaRPr lang="zh-CN" altLang="zh-CN" dirty="0"/>
          </a:p>
          <a:p>
            <a:pPr marL="68263" indent="0" algn="just" eaLnBrk="1" hangingPunct="1">
              <a:buNone/>
            </a:pPr>
            <a:r>
              <a:rPr lang="zh-CN" altLang="en-US" dirty="0"/>
              <a:t>结果为：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, </a:t>
            </a:r>
            <a:r>
              <a:rPr lang="en-US" altLang="zh-CN" b="1" dirty="0">
                <a:solidFill>
                  <a:srgbClr val="00B050"/>
                </a:solidFill>
              </a:rPr>
              <a:t>-9, -8, -7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, 3, 4, 5]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L=[1, </a:t>
            </a:r>
            <a:r>
              <a:rPr lang="en-US" altLang="zh-CN" dirty="0">
                <a:solidFill>
                  <a:srgbClr val="FF0000"/>
                </a:solidFill>
              </a:rPr>
              <a:t>-9, -8, -7</a:t>
            </a:r>
            <a:r>
              <a:rPr lang="en-US" altLang="zh-CN" dirty="0"/>
              <a:t>, 2, 3, 4, 5]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L[1:4]=[]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print(L)</a:t>
            </a:r>
            <a:endParaRPr lang="zh-CN" altLang="zh-CN" dirty="0"/>
          </a:p>
          <a:p>
            <a:pPr marL="68263" indent="0" algn="just" eaLnBrk="1" hangingPunct="1">
              <a:buNone/>
            </a:pPr>
            <a:r>
              <a:rPr lang="en-US" altLang="zh-CN" dirty="0"/>
              <a:t>[1, 2, 3, 4, 5]</a:t>
            </a:r>
            <a:endParaRPr lang="zh-CN" altLang="zh-CN" dirty="0"/>
          </a:p>
        </p:txBody>
      </p:sp>
      <p:sp>
        <p:nvSpPr>
          <p:cNvPr id="2" name="右箭头 1"/>
          <p:cNvSpPr/>
          <p:nvPr/>
        </p:nvSpPr>
        <p:spPr bwMode="auto">
          <a:xfrm rot="3336034">
            <a:off x="2680334" y="2639729"/>
            <a:ext cx="851001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357002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列表的加法和乘法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251520" y="980728"/>
            <a:ext cx="8274958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25463" indent="-457200" algn="just" eaLnBrk="1" hangingPunct="1">
              <a:buFont typeface="+mj-lt"/>
              <a:buAutoNum type="arabicPeriod"/>
            </a:pP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法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表首尾连接，结果列表 重新分配地址，重绑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x=[1, 3, 23, 22, 45, 90]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y=['bob', '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alice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', 'storm']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x=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x+y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x +=y   </a:t>
            </a:r>
            <a:r>
              <a:rPr lang="zh-CN" altLang="en-US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  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x=</a:t>
            </a:r>
            <a:r>
              <a:rPr lang="en-US" altLang="zh-CN" sz="24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x+y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的区别</a:t>
            </a: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 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结果：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[1, 3, 23, 22, 45, 90, 'bob', '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alice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', 'storm']</a:t>
            </a:r>
          </a:p>
          <a:p>
            <a:pPr marL="68263" indent="0" algn="just" eaLnBrk="1" hangingPunct="1">
              <a:buNone/>
            </a:pPr>
            <a:r>
              <a:rPr lang="es-E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#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比较下列语句最终的结果  </a:t>
            </a:r>
            <a:endParaRPr lang="es-E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algn="just" eaLnBrk="1" hangingPunct="1">
              <a:buNone/>
            </a:pPr>
            <a:r>
              <a:rPr lang="es-E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x=[1, 3, 23, 22, 45, 90]</a:t>
            </a:r>
          </a:p>
          <a:p>
            <a:pPr marL="68263" indent="0" algn="just" eaLnBrk="1" hangingPunct="1">
              <a:buNone/>
            </a:pPr>
            <a:r>
              <a:rPr lang="es-E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y=['bob', 'alice', 'storm']</a:t>
            </a:r>
          </a:p>
          <a:p>
            <a:pPr marL="68263" indent="0" algn="just" eaLnBrk="1" hangingPunct="1">
              <a:buNone/>
            </a:pPr>
            <a:r>
              <a:rPr lang="es-E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B=x</a:t>
            </a:r>
          </a:p>
          <a:p>
            <a:pPr marL="68263" indent="0" algn="just" eaLnBrk="1" hangingPunct="1">
              <a:buNone/>
            </a:pPr>
            <a:r>
              <a:rPr lang="es-E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x += y    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比较语句   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x =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x+y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       打印   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，看结果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algn="just" eaLnBrk="1" hangingPunct="1">
              <a:buNone/>
            </a:pP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2516439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列表的加法和乘法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95536" y="1052736"/>
            <a:ext cx="8130942" cy="43924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25463" indent="-457200" algn="just" eaLnBrk="1" hangingPunct="1">
              <a:buFont typeface="+mj-lt"/>
              <a:buAutoNum type="arabicPeriod" startAt="2"/>
            </a:pP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 </a:t>
            </a:r>
            <a:r>
              <a:rPr lang="zh-CN" altLang="en-US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法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，表与整数相乘，表重复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遍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y= y*3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['bob', '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alice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', 'storm', 'bob', '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alice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', 'storm', 'bob', '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alice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', 'storm']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5956434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35436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例子，利用列表，求斐波那契数列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754078" y="1412776"/>
            <a:ext cx="7772400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序列的后一个数是前</a:t>
            </a:r>
            <a:r>
              <a:rPr lang="en-US" altLang="zh-CN" sz="2400" dirty="0"/>
              <a:t>2</a:t>
            </a:r>
            <a:r>
              <a:rPr lang="zh-CN" altLang="en-US" sz="2400" dirty="0"/>
              <a:t>项的加和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现有表</a:t>
            </a:r>
            <a:r>
              <a:rPr lang="en-US" altLang="zh-CN" sz="2400" dirty="0"/>
              <a:t>-1</a:t>
            </a:r>
            <a:r>
              <a:rPr lang="zh-CN" altLang="en-US" sz="2400" dirty="0"/>
              <a:t>，</a:t>
            </a:r>
            <a:r>
              <a:rPr lang="en-US" altLang="zh-CN" sz="2400" dirty="0"/>
              <a:t>-2</a:t>
            </a:r>
            <a:r>
              <a:rPr lang="zh-CN" altLang="en-US" sz="2400" dirty="0"/>
              <a:t>下标，就是最后两项，列表</a:t>
            </a:r>
            <a:r>
              <a:rPr lang="en-US" altLang="zh-CN" sz="2400" dirty="0"/>
              <a:t>+</a:t>
            </a:r>
            <a:r>
              <a:rPr lang="zh-CN" altLang="en-US" sz="2400" dirty="0"/>
              <a:t>运算可完成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求序列的前</a:t>
            </a:r>
            <a:r>
              <a:rPr lang="en-US" altLang="zh-CN" sz="2400" dirty="0"/>
              <a:t>10</a:t>
            </a:r>
            <a:r>
              <a:rPr lang="zh-CN" altLang="en-US" sz="2400" dirty="0"/>
              <a:t>项</a:t>
            </a:r>
            <a:endParaRPr lang="en-US" altLang="zh-CN" sz="24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23528" y="3085872"/>
            <a:ext cx="4536504" cy="28803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Tx/>
              <a:buNone/>
            </a:pPr>
            <a:r>
              <a:rPr lang="en-US" altLang="zh-CN" sz="2400" dirty="0"/>
              <a:t>fibs=[0,1]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A=fibs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range(8):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	fibs +=[fibs [</a:t>
            </a:r>
            <a:r>
              <a:rPr lang="en-US" altLang="zh-CN" sz="2400" dirty="0">
                <a:solidFill>
                  <a:srgbClr val="FF0000"/>
                </a:solidFill>
              </a:rPr>
              <a:t>-2</a:t>
            </a:r>
            <a:r>
              <a:rPr lang="en-US" altLang="zh-CN" sz="2400" dirty="0"/>
              <a:t>]+fibs[</a:t>
            </a:r>
            <a:r>
              <a:rPr lang="en-US" altLang="zh-CN" sz="2400" dirty="0">
                <a:solidFill>
                  <a:srgbClr val="FF0000"/>
                </a:solidFill>
              </a:rPr>
              <a:t>-1</a:t>
            </a:r>
            <a:r>
              <a:rPr lang="en-US" altLang="zh-CN" sz="2400" dirty="0"/>
              <a:t>]]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print(fibs)</a:t>
            </a:r>
          </a:p>
          <a:p>
            <a:pPr algn="just" eaLnBrk="1" hangingPunct="1">
              <a:buFontTx/>
              <a:buNone/>
            </a:pPr>
            <a:r>
              <a:rPr lang="en-US" altLang="zh-CN" sz="2400" dirty="0"/>
              <a:t>[0, 1, 1, 2, 3, 5, 8, 13, 21, 34]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85D62BB-500F-FCA7-015B-97EBD9450B9A}"/>
              </a:ext>
            </a:extLst>
          </p:cNvPr>
          <p:cNvSpPr txBox="1">
            <a:spLocks/>
          </p:cNvSpPr>
          <p:nvPr/>
        </p:nvSpPr>
        <p:spPr bwMode="auto">
          <a:xfrm>
            <a:off x="5076056" y="3122365"/>
            <a:ext cx="3883968" cy="28634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思考题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程序结束后，</a:t>
            </a:r>
            <a:r>
              <a:rPr lang="en-US" altLang="zh-CN" sz="2400" dirty="0">
                <a:solidFill>
                  <a:srgbClr val="FF0000"/>
                </a:solidFill>
              </a:rPr>
              <a:t>A 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fibs</a:t>
            </a:r>
            <a:r>
              <a:rPr lang="zh-CN" altLang="en-US" sz="2400" dirty="0">
                <a:solidFill>
                  <a:srgbClr val="FF0000"/>
                </a:solidFill>
              </a:rPr>
              <a:t>有啥不同</a:t>
            </a:r>
            <a:r>
              <a:rPr lang="zh-CN" altLang="en-US" sz="2400" dirty="0"/>
              <a:t>？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2347703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成员资格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成员在表中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in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运算符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)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26637" y="1412776"/>
            <a:ext cx="7992888" cy="23042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b="1" dirty="0">
                <a:solidFill>
                  <a:srgbClr val="FF0000"/>
                </a:solidFill>
              </a:rPr>
              <a:t>包含则返回</a:t>
            </a:r>
            <a:r>
              <a:rPr lang="en-US" altLang="zh-CN" sz="2400" b="1" dirty="0">
                <a:solidFill>
                  <a:srgbClr val="FF0000"/>
                </a:solidFill>
              </a:rPr>
              <a:t>true</a:t>
            </a:r>
            <a:r>
              <a:rPr lang="zh-CN" altLang="en-US" sz="2400" b="1" dirty="0">
                <a:solidFill>
                  <a:srgbClr val="FF0000"/>
                </a:solidFill>
              </a:rPr>
              <a:t>，否则</a:t>
            </a:r>
            <a:r>
              <a:rPr lang="en-US" altLang="zh-CN" sz="2400" b="1" dirty="0">
                <a:solidFill>
                  <a:srgbClr val="FF0000"/>
                </a:solidFill>
              </a:rPr>
              <a:t> false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/>
              <a:t>&gt;&gt;&gt; y=["bob","</a:t>
            </a:r>
            <a:r>
              <a:rPr lang="en-US" altLang="zh-CN" sz="2400" b="1" dirty="0" err="1"/>
              <a:t>alice</a:t>
            </a:r>
            <a:r>
              <a:rPr lang="en-US" altLang="zh-CN" sz="2400" b="1" dirty="0"/>
              <a:t>","storm"]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/>
              <a:t>&gt;&gt;&gt; name="bob"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name in y</a:t>
            </a:r>
            <a:r>
              <a:rPr lang="en-US" altLang="zh-CN" sz="2400" b="1" dirty="0"/>
              <a:t>        </a:t>
            </a:r>
            <a:r>
              <a:rPr lang="en-US" altLang="zh-CN" sz="2400" b="1" dirty="0">
                <a:solidFill>
                  <a:schemeClr val="tx2"/>
                </a:solidFill>
              </a:rPr>
              <a:t># </a:t>
            </a:r>
            <a:r>
              <a:rPr lang="zh-CN" altLang="en-US" sz="2400" b="1" dirty="0">
                <a:solidFill>
                  <a:schemeClr val="tx2"/>
                </a:solidFill>
              </a:rPr>
              <a:t>语句的值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68263" indent="0" algn="just" eaLnBrk="1" hangingPunct="1">
              <a:buNone/>
            </a:pPr>
            <a:r>
              <a:rPr lang="en-US" altLang="zh-CN" sz="2400" b="1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70585091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例子，列表去重复值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39552" y="907530"/>
            <a:ext cx="7772400" cy="244827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zh-CN" sz="2400" dirty="0"/>
              <a:t>已知一个列表中有某些元素重复，请去掉重复元素，形成一个新列表</a:t>
            </a:r>
            <a:r>
              <a:rPr lang="zh-CN" altLang="en-US" sz="2400" dirty="0"/>
              <a:t>，步骤如下：</a:t>
            </a:r>
            <a:endParaRPr lang="en-US" altLang="zh-CN" sz="2400" dirty="0"/>
          </a:p>
          <a:p>
            <a:pPr algn="just" eaLnBrk="1" hangingPunct="1"/>
            <a:r>
              <a:rPr lang="zh-CN" altLang="zh-CN" sz="2400" dirty="0">
                <a:solidFill>
                  <a:schemeClr val="tx2"/>
                </a:solidFill>
              </a:rPr>
              <a:t>新生成一个空列表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algn="just" eaLnBrk="1" hangingPunct="1"/>
            <a:r>
              <a:rPr lang="zh-CN" altLang="zh-CN" sz="2400" dirty="0"/>
              <a:t>遍历原来的列表，每从原列表中取出一个元素后，判断其在新表中是否存在，不存在</a:t>
            </a:r>
            <a:r>
              <a:rPr lang="zh-CN" altLang="zh-CN" sz="2400" dirty="0">
                <a:solidFill>
                  <a:schemeClr val="tx2"/>
                </a:solidFill>
              </a:rPr>
              <a:t>就将其加到新列表</a:t>
            </a:r>
            <a:r>
              <a:rPr lang="zh-CN" altLang="zh-CN" sz="2400" dirty="0"/>
              <a:t>的方式完成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chemeClr val="tx2"/>
                </a:solidFill>
              </a:rPr>
              <a:t>in</a:t>
            </a:r>
            <a:r>
              <a:rPr lang="zh-CN" altLang="en-US" sz="2400" dirty="0"/>
              <a:t>运算符</a:t>
            </a:r>
            <a:endParaRPr lang="en-US" altLang="zh-CN" sz="24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74238" y="3501008"/>
            <a:ext cx="7808315" cy="266310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sz="2400" dirty="0"/>
              <a:t>L1=[1,3,6,3,3,7,8,1,1,1]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 err="1"/>
              <a:t>newL</a:t>
            </a:r>
            <a:r>
              <a:rPr lang="en-US" altLang="zh-CN" sz="2400" dirty="0"/>
              <a:t>=[ 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L1: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    if not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</a:t>
            </a:r>
            <a:r>
              <a:rPr lang="en-US" altLang="zh-CN" sz="2400" dirty="0" err="1"/>
              <a:t>newL</a:t>
            </a:r>
            <a:r>
              <a:rPr lang="en-US" altLang="zh-CN" sz="2400" dirty="0"/>
              <a:t>: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newL</a:t>
            </a:r>
            <a:r>
              <a:rPr lang="en-US" altLang="zh-CN" sz="2400" dirty="0"/>
              <a:t> +=[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</a:t>
            </a:r>
            <a:r>
              <a:rPr lang="en-US" altLang="zh-CN" sz="2400" dirty="0" err="1"/>
              <a:t>newL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68263" indent="0" algn="just" eaLnBrk="1" hangingPunct="1">
              <a:buNone/>
            </a:pP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4653136"/>
            <a:ext cx="2852355" cy="70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1693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列表对象方法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852736" cy="31683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zh-CN" sz="2400" dirty="0"/>
              <a:t>列表是对象</a:t>
            </a:r>
            <a:endParaRPr lang="en-US" altLang="zh-CN" sz="2400" dirty="0"/>
          </a:p>
          <a:p>
            <a:pPr algn="just" eaLnBrk="1" hangingPunct="1"/>
            <a:r>
              <a:rPr lang="zh-CN" altLang="zh-CN" sz="2400" dirty="0"/>
              <a:t>按面向对象程序设计理论，列表有自己的行为</a:t>
            </a:r>
            <a:r>
              <a:rPr lang="zh-CN" altLang="en-US" sz="2400" dirty="0"/>
              <a:t>，既方法</a:t>
            </a:r>
            <a:endParaRPr lang="en-US" altLang="zh-CN" sz="2400" dirty="0"/>
          </a:p>
          <a:p>
            <a:pPr algn="just" eaLnBrk="1" hangingPunct="1"/>
            <a:r>
              <a:rPr lang="zh-CN" altLang="en-US" sz="2800" b="1" dirty="0"/>
              <a:t>调用格式：</a:t>
            </a:r>
            <a:r>
              <a:rPr lang="zh-CN" altLang="en-US" sz="2800" b="1" dirty="0">
                <a:solidFill>
                  <a:srgbClr val="FF0000"/>
                </a:solidFill>
              </a:rPr>
              <a:t>列表变量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参数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</a:p>
          <a:p>
            <a:pPr marL="68263" indent="0" algn="just" eaLnBrk="1" hangingPunct="1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一定要注意列表的方法 是否有返回值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68263" indent="0" algn="just" eaLnBrk="1" hangingPunct="1">
              <a:buNone/>
            </a:pPr>
            <a:r>
              <a:rPr lang="zh-CN" altLang="en-US" sz="2400" dirty="0"/>
              <a:t>如 </a:t>
            </a:r>
            <a:r>
              <a:rPr lang="en-US" altLang="zh-CN" sz="2400" dirty="0"/>
              <a:t>li=[1,2,3]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 </a:t>
            </a:r>
            <a:r>
              <a:rPr lang="en-US" altLang="zh-CN" sz="2400" dirty="0" err="1"/>
              <a:t>li.append</a:t>
            </a:r>
            <a:r>
              <a:rPr lang="en-US" altLang="zh-CN" sz="2400" dirty="0"/>
              <a:t>(12)</a:t>
            </a:r>
          </a:p>
        </p:txBody>
      </p:sp>
      <p:sp>
        <p:nvSpPr>
          <p:cNvPr id="2" name="矩形 1"/>
          <p:cNvSpPr/>
          <p:nvPr/>
        </p:nvSpPr>
        <p:spPr>
          <a:xfrm>
            <a:off x="827584" y="450912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表</a:t>
            </a:r>
            <a:endParaRPr lang="zh-CN" altLang="en-US" b="1"/>
          </a:p>
        </p:txBody>
      </p:sp>
      <p:sp>
        <p:nvSpPr>
          <p:cNvPr id="5" name="矩形 4"/>
          <p:cNvSpPr/>
          <p:nvPr/>
        </p:nvSpPr>
        <p:spPr>
          <a:xfrm>
            <a:off x="1547664" y="452936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方法</a:t>
            </a:r>
            <a:endParaRPr lang="zh-CN" altLang="en-US" b="1"/>
          </a:p>
        </p:txBody>
      </p:sp>
      <p:cxnSp>
        <p:nvCxnSpPr>
          <p:cNvPr id="4" name="直接箭头连接符 3"/>
          <p:cNvCxnSpPr>
            <a:stCxn id="2" idx="0"/>
          </p:cNvCxnSpPr>
          <p:nvPr/>
        </p:nvCxnSpPr>
        <p:spPr bwMode="auto">
          <a:xfrm flipV="1">
            <a:off x="1035333" y="4077072"/>
            <a:ext cx="0" cy="432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/>
          <p:cNvCxnSpPr>
            <a:stCxn id="5" idx="0"/>
          </p:cNvCxnSpPr>
          <p:nvPr/>
        </p:nvCxnSpPr>
        <p:spPr bwMode="auto">
          <a:xfrm flipH="1" flipV="1">
            <a:off x="1870829" y="4077072"/>
            <a:ext cx="1" cy="4522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16900535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列表对象方法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-append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84724" y="907530"/>
            <a:ext cx="7772400" cy="540179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在</a:t>
            </a:r>
            <a:r>
              <a:rPr lang="zh-CN" altLang="zh-CN" sz="2400" dirty="0"/>
              <a:t>列表</a:t>
            </a:r>
            <a:r>
              <a:rPr lang="zh-CN" altLang="en-US" sz="2400" dirty="0"/>
              <a:t>的尾部追加新元素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格式：表</a:t>
            </a:r>
            <a:r>
              <a:rPr lang="en-US" altLang="zh-CN" sz="2400" dirty="0"/>
              <a:t>.append(</a:t>
            </a:r>
            <a:r>
              <a:rPr lang="zh-CN" altLang="en-US" sz="2400" dirty="0"/>
              <a:t>新元素</a:t>
            </a:r>
            <a:r>
              <a:rPr lang="en-US" altLang="zh-CN" sz="2400" dirty="0"/>
              <a:t>)</a:t>
            </a:r>
          </a:p>
          <a:p>
            <a:pPr algn="just" eaLnBrk="1" hangingPunct="1"/>
            <a:r>
              <a:rPr lang="zh-CN" altLang="en-US" sz="2400" dirty="0"/>
              <a:t>返回值：</a:t>
            </a:r>
            <a:r>
              <a:rPr lang="zh-CN" altLang="en-US" sz="2400" dirty="0">
                <a:solidFill>
                  <a:srgbClr val="FF0000"/>
                </a:solidFill>
              </a:rPr>
              <a:t>无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zh-CN" altLang="en-US" sz="2400" dirty="0"/>
              <a:t>计算斐波那契数列</a:t>
            </a:r>
            <a:endParaRPr lang="en-US" altLang="zh-CN" sz="2400" dirty="0"/>
          </a:p>
          <a:p>
            <a:pPr marL="68263" indent="0">
              <a:buNone/>
            </a:pPr>
            <a:r>
              <a:rPr lang="en-US" altLang="zh-CN" sz="2400" dirty="0"/>
              <a:t>fib=[0,1]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range(2,10): 	#</a:t>
            </a:r>
            <a:r>
              <a:rPr lang="zh-CN" altLang="zh-CN" sz="2400" dirty="0"/>
              <a:t>表中已存在</a:t>
            </a:r>
            <a:r>
              <a:rPr lang="en-US" altLang="zh-CN" sz="2400" dirty="0"/>
              <a:t>2</a:t>
            </a:r>
            <a:r>
              <a:rPr lang="zh-CN" altLang="zh-CN" sz="2400" dirty="0"/>
              <a:t>项，从</a:t>
            </a:r>
            <a:r>
              <a:rPr lang="en-US" altLang="zh-CN" sz="2400" dirty="0"/>
              <a:t>2</a:t>
            </a:r>
            <a:r>
              <a:rPr lang="zh-CN" altLang="zh-CN" sz="2400" dirty="0"/>
              <a:t>开始</a:t>
            </a:r>
          </a:p>
          <a:p>
            <a:pPr marL="68263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fib.append</a:t>
            </a:r>
            <a:r>
              <a:rPr lang="en-US" altLang="zh-CN" sz="2400" dirty="0"/>
              <a:t>(fib[-1]+fib[-2])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 (fib)</a:t>
            </a:r>
            <a:endParaRPr lang="zh-CN" altLang="zh-CN" sz="2400" dirty="0"/>
          </a:p>
          <a:p>
            <a:pPr marL="68263" indent="0" algn="just" eaLnBrk="1" hangingPunct="1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思考：</a:t>
            </a:r>
            <a:r>
              <a:rPr lang="en-US" altLang="zh-CN" sz="2400" dirty="0">
                <a:solidFill>
                  <a:srgbClr val="FF0000"/>
                </a:solidFill>
              </a:rPr>
              <a:t>append</a:t>
            </a:r>
            <a:r>
              <a:rPr lang="zh-CN" altLang="en-US" sz="2400" dirty="0">
                <a:solidFill>
                  <a:srgbClr val="FF0000"/>
                </a:solidFill>
              </a:rPr>
              <a:t>方法与 列表的  </a:t>
            </a:r>
            <a:r>
              <a:rPr lang="en-US" altLang="zh-CN" sz="2400" dirty="0">
                <a:solidFill>
                  <a:srgbClr val="FF0000"/>
                </a:solidFill>
              </a:rPr>
              <a:t>+   </a:t>
            </a:r>
            <a:r>
              <a:rPr lang="zh-CN" altLang="en-US" sz="2400" dirty="0">
                <a:solidFill>
                  <a:srgbClr val="FF0000"/>
                </a:solidFill>
              </a:rPr>
              <a:t>运算有何不同？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68263" indent="0" algn="just" eaLnBrk="1" hangingPunct="1">
              <a:buNone/>
            </a:pPr>
            <a:r>
              <a:rPr lang="en-US" altLang="zh-CN" sz="2400" dirty="0"/>
              <a:t>+ </a:t>
            </a:r>
            <a:r>
              <a:rPr lang="zh-CN" altLang="en-US" sz="2400" dirty="0"/>
              <a:t>运算 换地址，收尾链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append </a:t>
            </a:r>
            <a:r>
              <a:rPr lang="zh-CN" altLang="en-US" sz="2400" dirty="0"/>
              <a:t>不换地址，</a:t>
            </a:r>
            <a:r>
              <a:rPr lang="en-US" altLang="zh-CN" sz="2400" dirty="0"/>
              <a:t>append</a:t>
            </a:r>
            <a:r>
              <a:rPr lang="zh-CN" altLang="en-US" sz="2400" dirty="0"/>
              <a:t>的参数作一个元素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en-US" altLang="zh-CN" sz="2400" dirty="0"/>
              <a:t>+= </a:t>
            </a:r>
            <a:r>
              <a:rPr lang="zh-CN" altLang="en-US" sz="2400" dirty="0"/>
              <a:t>运算符  又如何？  </a:t>
            </a:r>
            <a:r>
              <a:rPr lang="zh-CN" altLang="en-US" sz="2400" dirty="0">
                <a:solidFill>
                  <a:srgbClr val="FF0000"/>
                </a:solidFill>
              </a:rPr>
              <a:t>又不变地址，真是奇怪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94893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-append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67544" y="944724"/>
            <a:ext cx="8352928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zh-CN" altLang="en-US" sz="2400" dirty="0"/>
              <a:t>如 </a:t>
            </a:r>
            <a:r>
              <a:rPr lang="en-US" altLang="zh-CN" sz="2400" dirty="0"/>
              <a:t>li=[1,2,3]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 </a:t>
            </a:r>
            <a:r>
              <a:rPr lang="en-US" altLang="zh-CN" sz="2400" dirty="0" err="1"/>
              <a:t>li.append</a:t>
            </a:r>
            <a:r>
              <a:rPr lang="en-US" altLang="zh-CN" sz="2400" dirty="0"/>
              <a:t>(12)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Student=‘</a:t>
            </a:r>
            <a:r>
              <a:rPr lang="zh-CN" altLang="en-US" sz="2400" dirty="0"/>
              <a:t>张骏</a:t>
            </a:r>
            <a:r>
              <a:rPr lang="en-US" altLang="zh-CN" sz="2400" dirty="0"/>
              <a:t>’</a:t>
            </a:r>
          </a:p>
          <a:p>
            <a:pPr marL="68263" indent="0" algn="just" eaLnBrk="1" hangingPunct="1">
              <a:buNone/>
            </a:pPr>
            <a:r>
              <a:rPr lang="en-US" altLang="zh-CN" sz="2400" dirty="0" err="1"/>
              <a:t>li.append</a:t>
            </a:r>
            <a:r>
              <a:rPr lang="en-US" altLang="zh-CN" sz="2400" dirty="0"/>
              <a:t>(Student)</a:t>
            </a:r>
          </a:p>
          <a:p>
            <a:pPr marL="68263" indent="0" algn="just" eaLnBrk="1" hangingPunct="1">
              <a:buNone/>
            </a:pPr>
            <a:r>
              <a:rPr lang="en-US" altLang="zh-CN" sz="2400" dirty="0" err="1"/>
              <a:t>newLi</a:t>
            </a:r>
            <a:r>
              <a:rPr lang="en-US" altLang="zh-CN" sz="2400" dirty="0"/>
              <a:t>=[45,2,18]</a:t>
            </a:r>
          </a:p>
          <a:p>
            <a:pPr marL="68263" indent="0" algn="just" eaLnBrk="1" hangingPunct="1">
              <a:buNone/>
            </a:pPr>
            <a:r>
              <a:rPr lang="en-US" altLang="zh-CN" sz="2400" dirty="0" err="1"/>
              <a:t>li.append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newLi</a:t>
            </a:r>
            <a:r>
              <a:rPr lang="en-US" altLang="zh-CN" sz="2400" dirty="0"/>
              <a:t>)</a:t>
            </a:r>
          </a:p>
          <a:p>
            <a:pPr marL="68263" indent="0" algn="just" eaLnBrk="1" hangingPunct="1">
              <a:buNone/>
            </a:pPr>
            <a:r>
              <a:rPr lang="zh-CN" altLang="en-US" sz="2400" dirty="0"/>
              <a:t>回答：</a:t>
            </a:r>
            <a:r>
              <a:rPr lang="en-US" altLang="zh-CN" sz="2400" dirty="0"/>
              <a:t>li</a:t>
            </a:r>
            <a:r>
              <a:rPr lang="zh-CN" altLang="en-US" sz="2400" dirty="0"/>
              <a:t>最终的内容是什么？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06337671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44624"/>
            <a:ext cx="8275638" cy="868363"/>
          </a:xfrm>
        </p:spPr>
        <p:txBody>
          <a:bodyPr/>
          <a:lstStyle/>
          <a:p>
            <a:r>
              <a:rPr lang="zh-CN" altLang="en-US" dirty="0"/>
              <a:t>输出结果是什么？为什么？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8074" y="912987"/>
            <a:ext cx="8293100" cy="518457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def fun(</a:t>
            </a:r>
            <a:r>
              <a:rPr lang="en-US" altLang="zh-CN" sz="20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fib,n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):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for i in range(2,n): 	#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表中已存在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项，从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开始</a:t>
            </a:r>
          </a:p>
          <a:p>
            <a:pPr marL="0" indent="0">
              <a:buNone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fib.append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(fib[-1]+fib[-2])   # 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用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append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方法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def fun1(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fib,n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):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for i in range(2,n): 	#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表中已存在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项，从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开始</a:t>
            </a:r>
          </a:p>
          <a:p>
            <a:pPr marL="0" indent="0">
              <a:buNone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      </a:t>
            </a:r>
            <a:r>
              <a:rPr lang="en-US" altLang="zh-CN" sz="2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fib =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fib+[fib[-1]+fib[-2]]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fib=[0,1]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fun(fib,10)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print(fib)  # 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输出的结果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fib=[0,1]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fun1(fib,10)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print(fib)  # 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输出的结果   背口诀：函数中，形参出现在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的左侧</a:t>
            </a:r>
          </a:p>
        </p:txBody>
      </p:sp>
    </p:spTree>
    <p:extLst>
      <p:ext uri="{BB962C8B-B14F-4D97-AF65-F5344CB8AC3E}">
        <p14:creationId xmlns:p14="http://schemas.microsoft.com/office/powerpoint/2010/main" val="2963963447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列表对象方法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-reverse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将列表逆转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格式：表</a:t>
            </a:r>
            <a:r>
              <a:rPr lang="en-US" altLang="zh-CN" sz="2400" dirty="0"/>
              <a:t>.reverse()</a:t>
            </a:r>
          </a:p>
          <a:p>
            <a:pPr algn="just" eaLnBrk="1" hangingPunct="1"/>
            <a:r>
              <a:rPr lang="zh-CN" altLang="en-US" sz="2400" dirty="0">
                <a:solidFill>
                  <a:srgbClr val="FF0000"/>
                </a:solidFill>
              </a:rPr>
              <a:t>返回值：无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en-US" altLang="zh-CN" dirty="0"/>
              <a:t>L=[1,2,3,'laoyang']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L.reverse</a:t>
            </a:r>
            <a:r>
              <a:rPr lang="en-US" altLang="zh-CN" dirty="0">
                <a:solidFill>
                  <a:srgbClr val="FF0000"/>
                </a:solidFill>
              </a:rPr>
              <a:t> ()</a:t>
            </a:r>
            <a:endParaRPr lang="zh-CN" altLang="zh-CN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print(L) </a:t>
            </a:r>
          </a:p>
          <a:p>
            <a:pPr marL="68263" indent="0">
              <a:buNone/>
            </a:pPr>
            <a:endParaRPr lang="en-US" altLang="zh-CN" dirty="0"/>
          </a:p>
          <a:p>
            <a:pPr marL="68263" indent="0">
              <a:buNone/>
            </a:pPr>
            <a:r>
              <a:rPr lang="zh-CN" altLang="en-US" dirty="0"/>
              <a:t>问题 </a:t>
            </a:r>
            <a:endParaRPr lang="en-US" altLang="zh-CN" dirty="0"/>
          </a:p>
          <a:p>
            <a:pPr marL="68263" indent="0">
              <a:buNone/>
            </a:pPr>
            <a:r>
              <a:rPr lang="zh-CN" altLang="en-US" dirty="0"/>
              <a:t>如果写 </a:t>
            </a:r>
            <a:r>
              <a:rPr lang="en-US" altLang="zh-CN" dirty="0"/>
              <a:t>print(</a:t>
            </a:r>
            <a:r>
              <a:rPr lang="en-US" altLang="zh-CN" dirty="0" err="1"/>
              <a:t>L.reverse</a:t>
            </a:r>
            <a:r>
              <a:rPr lang="en-US" altLang="zh-CN" dirty="0"/>
              <a:t>()  )   </a:t>
            </a:r>
            <a:r>
              <a:rPr lang="zh-CN" altLang="en-US" dirty="0"/>
              <a:t>可以吗？</a:t>
            </a:r>
            <a:endParaRPr lang="zh-CN" altLang="zh-CN" dirty="0"/>
          </a:p>
          <a:p>
            <a:pPr marL="68263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58582772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113421"/>
            <a:ext cx="7772400" cy="7188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列表对象方法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</a:t>
            </a:r>
            <a:r>
              <a:rPr lang="en-US" altLang="zh-CN" dirty="0"/>
              <a:t>sort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2808" y="886840"/>
            <a:ext cx="7772400" cy="175007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将列表排序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格式：</a:t>
            </a:r>
            <a:r>
              <a:rPr lang="zh-CN" altLang="en-US" sz="2400" dirty="0">
                <a:solidFill>
                  <a:srgbClr val="FF0000"/>
                </a:solidFill>
              </a:rPr>
              <a:t>表</a:t>
            </a:r>
            <a:r>
              <a:rPr lang="en-US" altLang="zh-CN" sz="2400" dirty="0">
                <a:solidFill>
                  <a:srgbClr val="FF0000"/>
                </a:solidFill>
              </a:rPr>
              <a:t>.sort</a:t>
            </a:r>
            <a:r>
              <a:rPr lang="en-US" altLang="zh-CN" sz="2400" dirty="0"/>
              <a:t>( [reverse=False] )</a:t>
            </a:r>
            <a:r>
              <a:rPr lang="zh-CN" altLang="en-US" sz="2400" dirty="0"/>
              <a:t>，</a:t>
            </a:r>
            <a:r>
              <a:rPr lang="en-US" altLang="zh-CN" sz="2400" dirty="0"/>
              <a:t>reverse</a:t>
            </a:r>
            <a:r>
              <a:rPr lang="zh-CN" altLang="en-US" sz="2400" dirty="0"/>
              <a:t>缺省为</a:t>
            </a:r>
            <a:r>
              <a:rPr lang="en-US" altLang="zh-CN" sz="2400" dirty="0"/>
              <a:t>False</a:t>
            </a:r>
            <a:r>
              <a:rPr lang="zh-CN" altLang="en-US" sz="2400" dirty="0"/>
              <a:t>，升序，</a:t>
            </a:r>
            <a:r>
              <a:rPr lang="en-US" altLang="zh-CN" sz="2400" dirty="0"/>
              <a:t>reverse =True</a:t>
            </a:r>
            <a:r>
              <a:rPr lang="zh-CN" altLang="en-US" sz="2400" dirty="0"/>
              <a:t>，降序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返回值：</a:t>
            </a:r>
            <a:r>
              <a:rPr lang="zh-CN" altLang="en-US" sz="2400" dirty="0">
                <a:solidFill>
                  <a:srgbClr val="FF0000"/>
                </a:solidFill>
              </a:rPr>
              <a:t>无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just" eaLnBrk="1" hangingPunct="1"/>
            <a:endParaRPr lang="en-US" altLang="zh-CN" sz="2400" dirty="0"/>
          </a:p>
          <a:p>
            <a:pPr marL="68263" indent="0">
              <a:buNone/>
            </a:pPr>
            <a:endParaRPr lang="en-US" altLang="zh-CN" sz="24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49082" y="2678388"/>
            <a:ext cx="3562878" cy="154270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sz="2400" dirty="0"/>
              <a:t>L=[8,2,3,17.8]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 err="1"/>
              <a:t>L.sort</a:t>
            </a:r>
            <a:r>
              <a:rPr lang="en-US" altLang="zh-CN" sz="2400" dirty="0"/>
              <a:t>()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print(L)</a:t>
            </a:r>
            <a:endParaRPr lang="zh-CN" altLang="zh-CN" sz="2400" dirty="0"/>
          </a:p>
          <a:p>
            <a:pPr marL="68263" indent="0">
              <a:buNone/>
            </a:pPr>
            <a:endParaRPr lang="en-US" altLang="zh-CN" sz="240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355976" y="2691441"/>
            <a:ext cx="4096129" cy="15296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sz="2400" dirty="0"/>
              <a:t>L=['</a:t>
            </a:r>
            <a:r>
              <a:rPr lang="en-US" altLang="zh-CN" sz="2400" dirty="0" err="1"/>
              <a:t>Trump','Haden','Hellen</a:t>
            </a:r>
            <a:r>
              <a:rPr lang="en-US" altLang="zh-CN" sz="2400" dirty="0"/>
              <a:t>']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 err="1"/>
              <a:t>L.sort</a:t>
            </a:r>
            <a:r>
              <a:rPr lang="en-US" altLang="zh-CN" sz="2400" dirty="0"/>
              <a:t>()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print(L) </a:t>
            </a:r>
            <a:endParaRPr lang="zh-CN" altLang="zh-CN" sz="2400" dirty="0"/>
          </a:p>
          <a:p>
            <a:pPr marL="68263" indent="0">
              <a:buNone/>
            </a:pPr>
            <a:endParaRPr lang="en-US" altLang="zh-CN" sz="24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644147" y="4406582"/>
            <a:ext cx="3567813" cy="190273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en-US" altLang="zh-CN" sz="2400" dirty="0"/>
              <a:t>L=['Trump',1,3,18.9]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 err="1"/>
              <a:t>L.sort</a:t>
            </a:r>
            <a:r>
              <a:rPr lang="en-US" altLang="zh-CN" sz="2400" dirty="0"/>
              <a:t>()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print(L)</a:t>
            </a:r>
          </a:p>
          <a:p>
            <a:pPr marL="68263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代码报错。为什么？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marL="68263" indent="0">
              <a:buNone/>
            </a:pPr>
            <a:endParaRPr lang="en-US" altLang="zh-CN" sz="2400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355976" y="4406582"/>
            <a:ext cx="4128937" cy="190273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列表所有元素间，可比较</a:t>
            </a:r>
            <a:r>
              <a:rPr lang="zh-CN" altLang="en-US" sz="2400" dirty="0"/>
              <a:t>，才能用</a:t>
            </a:r>
            <a:r>
              <a:rPr lang="en-US" altLang="zh-CN" sz="2400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246579896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列表对象方法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-count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对指定的元素计数，既元组在表中出现几次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格式：</a:t>
            </a:r>
            <a:r>
              <a:rPr lang="zh-CN" altLang="en-US" sz="2400" b="1" dirty="0">
                <a:solidFill>
                  <a:srgbClr val="FF0000"/>
                </a:solidFill>
              </a:rPr>
              <a:t>表</a:t>
            </a:r>
            <a:r>
              <a:rPr lang="en-US" altLang="zh-CN" sz="2400" b="1" dirty="0">
                <a:solidFill>
                  <a:srgbClr val="FF0000"/>
                </a:solidFill>
              </a:rPr>
              <a:t>.count(</a:t>
            </a:r>
            <a:r>
              <a:rPr lang="zh-CN" altLang="en-US" sz="2400" b="1" dirty="0">
                <a:solidFill>
                  <a:srgbClr val="FF0000"/>
                </a:solidFill>
              </a:rPr>
              <a:t>元素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</a:p>
          <a:p>
            <a:pPr algn="just" eaLnBrk="1" hangingPunct="1"/>
            <a:r>
              <a:rPr lang="zh-CN" altLang="en-US" sz="2400" b="1" dirty="0">
                <a:solidFill>
                  <a:srgbClr val="FF0000"/>
                </a:solidFill>
              </a:rPr>
              <a:t>返回值：元素出现的次数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en-US" altLang="zh-CN" dirty="0"/>
              <a:t>L=['</a:t>
            </a:r>
            <a:r>
              <a:rPr lang="en-US" altLang="zh-CN" dirty="0" err="1"/>
              <a:t>hellen</a:t>
            </a:r>
            <a:r>
              <a:rPr lang="en-US" altLang="zh-CN" dirty="0"/>
              <a:t>','</a:t>
            </a:r>
            <a:r>
              <a:rPr lang="en-US" altLang="zh-CN" dirty="0" err="1"/>
              <a:t>stery</a:t>
            </a:r>
            <a:r>
              <a:rPr lang="en-US" altLang="zh-CN" dirty="0"/>
              <a:t>','</a:t>
            </a:r>
            <a:r>
              <a:rPr lang="en-US" altLang="zh-CN" dirty="0" err="1"/>
              <a:t>antongni</a:t>
            </a:r>
            <a:r>
              <a:rPr lang="en-US" altLang="zh-CN" dirty="0"/>
              <a:t>','</a:t>
            </a:r>
            <a:r>
              <a:rPr lang="en-US" altLang="zh-CN" dirty="0" err="1"/>
              <a:t>hellen</a:t>
            </a:r>
            <a:r>
              <a:rPr lang="en-US" altLang="zh-CN" dirty="0"/>
              <a:t>']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n=</a:t>
            </a:r>
            <a:r>
              <a:rPr lang="en-US" altLang="zh-CN" dirty="0" err="1"/>
              <a:t>L.count</a:t>
            </a:r>
            <a:r>
              <a:rPr lang="en-US" altLang="zh-CN" dirty="0"/>
              <a:t>('</a:t>
            </a:r>
            <a:r>
              <a:rPr lang="en-US" altLang="zh-CN" dirty="0" err="1"/>
              <a:t>hellen</a:t>
            </a:r>
            <a:r>
              <a:rPr lang="en-US" altLang="zh-CN" dirty="0"/>
              <a:t>')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print(n)</a:t>
            </a:r>
            <a:endParaRPr lang="zh-CN" altLang="zh-CN" dirty="0"/>
          </a:p>
          <a:p>
            <a:pPr marL="68263" indent="0">
              <a:buNone/>
            </a:pPr>
            <a:r>
              <a:rPr lang="zh-CN" altLang="en-US" sz="2400" dirty="0"/>
              <a:t>结果：</a:t>
            </a:r>
            <a:r>
              <a:rPr lang="en-US" altLang="zh-CN" sz="2400" dirty="0"/>
              <a:t>2</a:t>
            </a:r>
          </a:p>
          <a:p>
            <a:pPr marL="68263" indent="0">
              <a:buNone/>
            </a:pPr>
            <a:r>
              <a:rPr lang="en-US" altLang="zh-CN" sz="2400" dirty="0"/>
              <a:t>Print(</a:t>
            </a:r>
            <a:r>
              <a:rPr lang="en-US" altLang="zh-CN" sz="2400" dirty="0" err="1"/>
              <a:t>L.count</a:t>
            </a:r>
            <a:r>
              <a:rPr lang="en-US" altLang="zh-CN" sz="2400" dirty="0"/>
              <a:t>('</a:t>
            </a:r>
            <a:r>
              <a:rPr lang="en-US" altLang="zh-CN" sz="2400" dirty="0" err="1"/>
              <a:t>hellen</a:t>
            </a:r>
            <a:r>
              <a:rPr lang="en-US" altLang="zh-CN" sz="2400" dirty="0"/>
              <a:t>'))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52754479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476672"/>
            <a:ext cx="8275638" cy="506859"/>
          </a:xfrm>
        </p:spPr>
        <p:txBody>
          <a:bodyPr/>
          <a:lstStyle/>
          <a:p>
            <a:r>
              <a:rPr lang="zh-CN" altLang="en-US" sz="2400" dirty="0">
                <a:solidFill>
                  <a:srgbClr val="0070C0"/>
                </a:solidFill>
              </a:rPr>
              <a:t>其它</a:t>
            </a:r>
            <a:r>
              <a:rPr lang="zh-CN" altLang="en-US" sz="2400" dirty="0"/>
              <a:t>常用</a:t>
            </a:r>
            <a:r>
              <a:rPr lang="zh-CN" altLang="en-US" sz="2400" dirty="0">
                <a:solidFill>
                  <a:srgbClr val="0070C0"/>
                </a:solidFill>
              </a:rPr>
              <a:t>方法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23528" y="1196752"/>
            <a:ext cx="8172870" cy="525658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000" dirty="0"/>
              <a:t>设</a:t>
            </a:r>
            <a:r>
              <a:rPr lang="en-US" altLang="zh-CN" sz="2000" dirty="0"/>
              <a:t>x=[1,5,8,6]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dirty="0" err="1">
                <a:solidFill>
                  <a:srgbClr val="C00000"/>
                </a:solidFill>
              </a:rPr>
              <a:t>x.insert</a:t>
            </a:r>
            <a:r>
              <a:rPr lang="en-US" altLang="zh-CN" sz="2000" dirty="0">
                <a:solidFill>
                  <a:srgbClr val="C00000"/>
                </a:solidFill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index,object</a:t>
            </a:r>
            <a:r>
              <a:rPr lang="en-US" altLang="zh-CN" sz="2000" dirty="0">
                <a:solidFill>
                  <a:srgbClr val="C00000"/>
                </a:solidFill>
              </a:rPr>
              <a:t>)</a:t>
            </a:r>
            <a:r>
              <a:rPr lang="en-US" altLang="zh-CN" sz="2000" dirty="0">
                <a:solidFill>
                  <a:srgbClr val="00B050"/>
                </a:solidFill>
              </a:rPr>
              <a:t>  </a:t>
            </a:r>
            <a:r>
              <a:rPr lang="en-US" altLang="zh-CN" sz="2000" dirty="0">
                <a:solidFill>
                  <a:srgbClr val="0070C0"/>
                </a:solidFill>
              </a:rPr>
              <a:t>#</a:t>
            </a:r>
            <a:r>
              <a:rPr lang="zh-CN" altLang="en-US" sz="2000" dirty="0">
                <a:solidFill>
                  <a:srgbClr val="0070C0"/>
                </a:solidFill>
              </a:rPr>
              <a:t>将元素插入在指定索引位置，返回</a:t>
            </a:r>
            <a:r>
              <a:rPr lang="en-US" altLang="zh-CN" sz="2000" dirty="0">
                <a:solidFill>
                  <a:srgbClr val="0070C0"/>
                </a:solidFill>
              </a:rPr>
              <a:t>None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x.</a:t>
            </a:r>
            <a:r>
              <a:rPr lang="en-US" altLang="zh-CN" sz="2000" dirty="0" err="1"/>
              <a:t>insert</a:t>
            </a:r>
            <a:r>
              <a:rPr lang="en-US" altLang="zh-CN" sz="2000" dirty="0">
                <a:solidFill>
                  <a:schemeClr val="tx1"/>
                </a:solidFill>
              </a:rPr>
              <a:t>(0,2)        #</a:t>
            </a:r>
            <a:r>
              <a:rPr lang="zh-CN" altLang="en-US" sz="2000" dirty="0">
                <a:solidFill>
                  <a:schemeClr val="tx1"/>
                </a:solidFill>
              </a:rPr>
              <a:t> 将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插在索引为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处：</a:t>
            </a:r>
            <a:r>
              <a:rPr lang="en-US" altLang="zh-CN" sz="2000" dirty="0"/>
              <a:t> [2, 1, 5, 8, 6]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dirty="0" err="1">
                <a:solidFill>
                  <a:srgbClr val="C00000"/>
                </a:solidFill>
              </a:rPr>
              <a:t>x.extend</a:t>
            </a:r>
            <a:r>
              <a:rPr lang="en-US" altLang="zh-CN" sz="2000" dirty="0">
                <a:solidFill>
                  <a:srgbClr val="C00000"/>
                </a:solidFill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iterable</a:t>
            </a:r>
            <a:r>
              <a:rPr lang="en-US" altLang="zh-CN" sz="2000" dirty="0">
                <a:solidFill>
                  <a:srgbClr val="C00000"/>
                </a:solidFill>
              </a:rPr>
              <a:t>)</a:t>
            </a:r>
            <a:r>
              <a:rPr lang="en-US" altLang="zh-CN" sz="2000" dirty="0">
                <a:solidFill>
                  <a:srgbClr val="00B050"/>
                </a:solidFill>
              </a:rPr>
              <a:t>       </a:t>
            </a:r>
            <a:r>
              <a:rPr lang="en-US" altLang="zh-CN" sz="2000" dirty="0">
                <a:solidFill>
                  <a:srgbClr val="0070C0"/>
                </a:solidFill>
              </a:rPr>
              <a:t>#</a:t>
            </a:r>
            <a:r>
              <a:rPr lang="zh-CN" altLang="en-US" sz="2000" dirty="0">
                <a:solidFill>
                  <a:srgbClr val="0070C0"/>
                </a:solidFill>
              </a:rPr>
              <a:t>将序列中的每个元素添加在末尾，返回</a:t>
            </a:r>
            <a:r>
              <a:rPr lang="en-US" altLang="zh-CN" sz="2000" dirty="0">
                <a:solidFill>
                  <a:srgbClr val="0070C0"/>
                </a:solidFill>
              </a:rPr>
              <a:t>None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x.</a:t>
            </a:r>
            <a:r>
              <a:rPr lang="en-US" altLang="zh-CN" sz="2000" dirty="0" err="1"/>
              <a:t>extend</a:t>
            </a:r>
            <a:r>
              <a:rPr lang="en-US" altLang="zh-CN" sz="2000" dirty="0">
                <a:solidFill>
                  <a:schemeClr val="tx1"/>
                </a:solidFill>
              </a:rPr>
              <a:t>([11,12,13])       # </a:t>
            </a:r>
            <a:r>
              <a:rPr lang="en-US" altLang="zh-CN" sz="2000" dirty="0"/>
              <a:t>[2, 1, 5, 8, 6, 11, 12, 13] 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000" dirty="0" err="1">
                <a:solidFill>
                  <a:srgbClr val="C00000"/>
                </a:solidFill>
              </a:rPr>
              <a:t>x.remove</a:t>
            </a:r>
            <a:r>
              <a:rPr lang="zh-CN" altLang="en-US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(</a:t>
            </a:r>
            <a:r>
              <a:rPr lang="zh-CN" altLang="en-US" sz="2000" dirty="0">
                <a:solidFill>
                  <a:schemeClr val="tx2"/>
                </a:solidFill>
              </a:rPr>
              <a:t>列表值或</a:t>
            </a:r>
            <a:r>
              <a:rPr lang="en-US" altLang="zh-CN" sz="2000" dirty="0" err="1">
                <a:solidFill>
                  <a:schemeClr val="tx2"/>
                </a:solidFill>
              </a:rPr>
              <a:t>listN</a:t>
            </a:r>
            <a:r>
              <a:rPr lang="en-US" altLang="zh-CN" sz="2000" dirty="0">
                <a:solidFill>
                  <a:schemeClr val="tx2"/>
                </a:solidFill>
              </a:rPr>
              <a:t>[index])  </a:t>
            </a:r>
            <a:r>
              <a:rPr lang="en-US" altLang="zh-CN" sz="2000" dirty="0">
                <a:solidFill>
                  <a:srgbClr val="0070C0"/>
                </a:solidFill>
              </a:rPr>
              <a:t>#</a:t>
            </a:r>
            <a:r>
              <a:rPr lang="zh-CN" altLang="en-US" sz="2000" dirty="0">
                <a:solidFill>
                  <a:srgbClr val="0070C0"/>
                </a:solidFill>
              </a:rPr>
              <a:t>默认删除第一个出现的值，返回为</a:t>
            </a:r>
            <a:r>
              <a:rPr lang="en-US" altLang="zh-CN" sz="2000" dirty="0">
                <a:solidFill>
                  <a:srgbClr val="0070C0"/>
                </a:solidFill>
              </a:rPr>
              <a:t>None</a:t>
            </a:r>
            <a:r>
              <a:rPr lang="zh-CN" altLang="en-US" sz="2000" dirty="0">
                <a:solidFill>
                  <a:srgbClr val="0070C0"/>
                </a:solidFill>
              </a:rPr>
              <a:t>，值不存在，报错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000" dirty="0">
                <a:solidFill>
                  <a:srgbClr val="00B050"/>
                </a:solidFill>
              </a:rPr>
              <a:t>     </a:t>
            </a:r>
            <a:r>
              <a:rPr lang="zh-CN" altLang="en-US" sz="2000" dirty="0"/>
              <a:t>例如：</a:t>
            </a:r>
            <a:r>
              <a:rPr lang="en-US" altLang="zh-CN" sz="2000" dirty="0" err="1"/>
              <a:t>lt</a:t>
            </a:r>
            <a:r>
              <a:rPr lang="en-US" altLang="zh-CN" sz="2000" dirty="0"/>
              <a:t>=[10,20,30,10,25,20,30] </a:t>
            </a:r>
          </a:p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lt.remove</a:t>
            </a:r>
            <a:r>
              <a:rPr lang="en-US" altLang="zh-CN" sz="2000" dirty="0"/>
              <a:t>(20) </a:t>
            </a:r>
            <a:r>
              <a:rPr lang="zh-CN" altLang="en-US" sz="2000" dirty="0"/>
              <a:t>与</a:t>
            </a:r>
            <a:r>
              <a:rPr lang="en-US" altLang="zh-CN" sz="2000" dirty="0" err="1"/>
              <a:t>lt.remove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lt</a:t>
            </a:r>
            <a:r>
              <a:rPr lang="en-US" altLang="zh-CN" sz="2000" dirty="0"/>
              <a:t>[-2])</a:t>
            </a:r>
            <a:r>
              <a:rPr lang="zh-CN" altLang="en-US" sz="2000" dirty="0">
                <a:solidFill>
                  <a:srgbClr val="0070C0"/>
                </a:solidFill>
              </a:rPr>
              <a:t>区别？</a:t>
            </a:r>
            <a:endParaRPr lang="en-US" altLang="zh-CN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012187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例子 信号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平滑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29178" y="908720"/>
            <a:ext cx="7997300" cy="53285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程序：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# 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循环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len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(data)-(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windowSize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-1)   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次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k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次的分片：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[k: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windowSize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+k]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k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开始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data=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[13, 15, 16, 17, 19, 21, 21.3 , 21.1, 19.1, 17.2, 16, 15.6, 14.3]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windowSize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=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int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(input('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请输入窗口大小：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'))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result=[]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for k in range(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len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(data)-(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windowSize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-1)):   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    segment=data[k: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windowSize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+k]    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onePoint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=sum(segment)/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windowSize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result.append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onePoint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print(result)</a:t>
            </a:r>
          </a:p>
          <a:p>
            <a:pPr marL="68263" indent="0">
              <a:buNone/>
            </a:pPr>
            <a:endParaRPr lang="zh-CN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algn="just" eaLnBrk="1" hangingPunct="1">
              <a:buNone/>
            </a:pP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611680-5C29-4543-5B9F-612821AE0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29" y="3284984"/>
            <a:ext cx="2540131" cy="191144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BF6CEF0-F17E-15FD-5352-43E6A78C0F2E}"/>
              </a:ext>
            </a:extLst>
          </p:cNvPr>
          <p:cNvSpPr txBox="1"/>
          <p:nvPr/>
        </p:nvSpPr>
        <p:spPr>
          <a:xfrm>
            <a:off x="5167104" y="5380672"/>
            <a:ext cx="3960440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r>
              <a:rPr lang="en-US" altLang="zh-CN" dirty="0" err="1"/>
              <a:t>plt.subplot</a:t>
            </a:r>
            <a:r>
              <a:rPr lang="en-US" altLang="zh-CN" dirty="0"/>
              <a:t>(1,2,1)</a:t>
            </a:r>
          </a:p>
          <a:p>
            <a:r>
              <a:rPr lang="en-US" altLang="zh-CN" dirty="0" err="1"/>
              <a:t>plt.plot</a:t>
            </a:r>
            <a:r>
              <a:rPr lang="en-US" altLang="zh-CN" dirty="0"/>
              <a:t>(</a:t>
            </a:r>
            <a:r>
              <a:rPr lang="en-US" altLang="zh-CN" dirty="0" err="1"/>
              <a:t>data,"r</a:t>
            </a:r>
            <a:r>
              <a:rPr lang="en-US" altLang="zh-CN" dirty="0"/>
              <a:t>-")</a:t>
            </a:r>
          </a:p>
          <a:p>
            <a:r>
              <a:rPr lang="en-US" altLang="zh-CN" dirty="0" err="1"/>
              <a:t>plt.subplot</a:t>
            </a:r>
            <a:r>
              <a:rPr lang="en-US" altLang="zh-CN" dirty="0"/>
              <a:t>(1,2,2)</a:t>
            </a:r>
          </a:p>
          <a:p>
            <a:r>
              <a:rPr lang="en-US" altLang="zh-CN" dirty="0" err="1"/>
              <a:t>plt.plot</a:t>
            </a:r>
            <a:r>
              <a:rPr lang="en-US" altLang="zh-CN" dirty="0"/>
              <a:t>(</a:t>
            </a:r>
            <a:r>
              <a:rPr lang="en-US" altLang="zh-CN" dirty="0" err="1"/>
              <a:t>result,"r</a:t>
            </a:r>
            <a:r>
              <a:rPr lang="en-US" altLang="zh-CN" dirty="0"/>
              <a:t>-")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6736091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列表对象方法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-index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772400" cy="518457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指定的元素在元组中</a:t>
            </a:r>
            <a:r>
              <a:rPr lang="zh-CN" altLang="en-US" sz="2400" dirty="0">
                <a:solidFill>
                  <a:srgbClr val="FF0000"/>
                </a:solidFill>
              </a:rPr>
              <a:t>第一次出现的位置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zh-CN" altLang="en-US" sz="2400" dirty="0"/>
              <a:t>格式：表</a:t>
            </a:r>
            <a:r>
              <a:rPr lang="en-US" altLang="zh-CN" sz="2400" dirty="0"/>
              <a:t>.index(</a:t>
            </a:r>
            <a:r>
              <a:rPr lang="zh-CN" altLang="en-US" sz="2400" dirty="0"/>
              <a:t>元素</a:t>
            </a:r>
            <a:r>
              <a:rPr lang="en-US" altLang="zh-CN" sz="2400" dirty="0"/>
              <a:t>)</a:t>
            </a:r>
          </a:p>
          <a:p>
            <a:pPr algn="just" eaLnBrk="1" hangingPunct="1"/>
            <a:r>
              <a:rPr lang="zh-CN" altLang="en-US" sz="2400" dirty="0"/>
              <a:t>返回值：第一次出现位置， </a:t>
            </a:r>
            <a:r>
              <a:rPr lang="zh-CN" altLang="en-US" sz="2400" dirty="0">
                <a:solidFill>
                  <a:schemeClr val="tx2"/>
                </a:solidFill>
              </a:rPr>
              <a:t>不出现，系统崩溃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marL="68263" indent="0">
              <a:buNone/>
            </a:pPr>
            <a:r>
              <a:rPr lang="en-US" altLang="zh-CN" dirty="0"/>
              <a:t>L1=[1,3,6,3,3,7,8,1,1,1]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pos1=L1.index(3)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print(pos1)</a:t>
            </a:r>
          </a:p>
          <a:p>
            <a:pPr marL="68263" indent="0">
              <a:buNone/>
            </a:pPr>
            <a:r>
              <a:rPr lang="zh-CN" altLang="en-US" dirty="0"/>
              <a:t>结果：</a:t>
            </a:r>
            <a:r>
              <a:rPr lang="en-US" altLang="zh-CN" dirty="0"/>
              <a:t>1</a:t>
            </a:r>
          </a:p>
          <a:p>
            <a:pPr marL="68263" indent="0">
              <a:buNone/>
            </a:pPr>
            <a:r>
              <a:rPr lang="en-US" altLang="zh-CN" dirty="0"/>
              <a:t>pos2=L1.index(0)  #  0 </a:t>
            </a:r>
            <a:r>
              <a:rPr lang="zh-CN" altLang="en-US" dirty="0"/>
              <a:t>在表中的什么位置？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print(pos2)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ValueError</a:t>
            </a:r>
            <a:r>
              <a:rPr lang="en-US" altLang="zh-CN" dirty="0">
                <a:solidFill>
                  <a:srgbClr val="FF0000"/>
                </a:solidFill>
              </a:rPr>
              <a:t>: 0 is not in list</a:t>
            </a:r>
            <a:endParaRPr lang="zh-CN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696702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例子：找出列表最大数所在位置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先找出最大值</a:t>
            </a:r>
            <a:r>
              <a:rPr lang="en-US" altLang="zh-CN" sz="2400" dirty="0"/>
              <a:t>Ma</a:t>
            </a:r>
          </a:p>
          <a:p>
            <a:pPr algn="just" eaLnBrk="1" hangingPunct="1"/>
            <a:r>
              <a:rPr lang="zh-CN" altLang="en-US" sz="2400" dirty="0">
                <a:solidFill>
                  <a:schemeClr val="tx2"/>
                </a:solidFill>
              </a:rPr>
              <a:t>调用</a:t>
            </a:r>
            <a:r>
              <a:rPr lang="en-US" altLang="zh-CN" sz="2400" dirty="0">
                <a:solidFill>
                  <a:schemeClr val="tx2"/>
                </a:solidFill>
              </a:rPr>
              <a:t>index(Ma)</a:t>
            </a:r>
          </a:p>
          <a:p>
            <a:pPr marL="68263" indent="0">
              <a:buNone/>
            </a:pPr>
            <a:r>
              <a:rPr lang="en-US" altLang="zh-CN" dirty="0"/>
              <a:t>L1=[1,3,6,3,3,7,8,1,1,1]</a:t>
            </a:r>
          </a:p>
          <a:p>
            <a:pPr marL="68263" indent="0">
              <a:buNone/>
            </a:pPr>
            <a:r>
              <a:rPr lang="en-US" altLang="zh-CN" dirty="0"/>
              <a:t>Ma=max (L1)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pos1=L1.index(Ma)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print(pos1)</a:t>
            </a:r>
          </a:p>
          <a:p>
            <a:pPr marL="68263" indent="0">
              <a:buNone/>
            </a:pPr>
            <a:r>
              <a:rPr lang="zh-CN" altLang="en-US" dirty="0"/>
              <a:t>结果：</a:t>
            </a:r>
            <a:r>
              <a:rPr lang="en-US" altLang="zh-C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43505761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列表对象方法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-pop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85800" y="1058322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zh-CN" sz="2400" dirty="0"/>
              <a:t>将列表的</a:t>
            </a:r>
            <a:r>
              <a:rPr lang="zh-CN" altLang="en-US" sz="2400" dirty="0"/>
              <a:t>指定位置</a:t>
            </a:r>
            <a:r>
              <a:rPr lang="zh-CN" altLang="zh-CN" sz="2400" dirty="0"/>
              <a:t>元素返回，并将其从列表中删除</a:t>
            </a:r>
            <a:r>
              <a:rPr lang="zh-CN" altLang="en-US" sz="2400" dirty="0"/>
              <a:t>，若不指定位置，返回最后一个</a:t>
            </a:r>
            <a:endParaRPr lang="en-US" altLang="zh-CN" sz="2400" dirty="0"/>
          </a:p>
          <a:p>
            <a:pPr algn="just" eaLnBrk="1" hangingPunct="1"/>
            <a:r>
              <a:rPr lang="zh-CN" altLang="en-US" sz="2400" dirty="0"/>
              <a:t>格式：表</a:t>
            </a:r>
            <a:r>
              <a:rPr lang="en-US" altLang="zh-CN" sz="2400" dirty="0"/>
              <a:t>.pop([</a:t>
            </a:r>
            <a:r>
              <a:rPr lang="zh-CN" altLang="en-US" sz="2400" dirty="0"/>
              <a:t>位置</a:t>
            </a:r>
            <a:r>
              <a:rPr lang="en-US" altLang="zh-CN" sz="2400" dirty="0"/>
              <a:t>])</a:t>
            </a:r>
          </a:p>
          <a:p>
            <a:pPr marL="68263" indent="0">
              <a:buNone/>
            </a:pPr>
            <a:r>
              <a:rPr lang="en-US" altLang="zh-CN" sz="2400" dirty="0"/>
              <a:t>x=[4, 10, 1, 97, -5, -7]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n=</a:t>
            </a:r>
            <a:r>
              <a:rPr lang="en-US" altLang="zh-CN" sz="2400" dirty="0" err="1"/>
              <a:t>x.pop</a:t>
            </a:r>
            <a:r>
              <a:rPr lang="en-US" altLang="zh-CN" sz="2400" dirty="0"/>
              <a:t>()      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print(n)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print(x)</a:t>
            </a:r>
          </a:p>
          <a:p>
            <a:pPr marL="68263" indent="0">
              <a:buNone/>
            </a:pPr>
            <a:r>
              <a:rPr lang="en-US" altLang="zh-CN" dirty="0"/>
              <a:t>print(</a:t>
            </a:r>
            <a:r>
              <a:rPr lang="en-US" altLang="zh-CN" dirty="0" err="1"/>
              <a:t>x.pop</a:t>
            </a:r>
            <a:r>
              <a:rPr lang="en-US" altLang="zh-CN" dirty="0"/>
              <a:t>(2))                 </a:t>
            </a:r>
            <a:r>
              <a:rPr lang="en-US" altLang="zh-CN" sz="2400" dirty="0"/>
              <a:t># </a:t>
            </a:r>
            <a:r>
              <a:rPr lang="zh-CN" altLang="en-US" sz="2400" dirty="0"/>
              <a:t>结果：</a:t>
            </a:r>
            <a:r>
              <a:rPr lang="en-US" altLang="zh-CN" sz="2400" dirty="0"/>
              <a:t>1</a:t>
            </a:r>
            <a:endParaRPr lang="zh-CN" altLang="zh-CN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564904"/>
            <a:ext cx="2659796" cy="1728192"/>
          </a:xfrm>
          <a:prstGeom prst="rect">
            <a:avLst/>
          </a:prstGeom>
        </p:spPr>
      </p:pic>
      <p:sp>
        <p:nvSpPr>
          <p:cNvPr id="3" name="右箭头 2"/>
          <p:cNvSpPr/>
          <p:nvPr/>
        </p:nvSpPr>
        <p:spPr bwMode="auto">
          <a:xfrm>
            <a:off x="2654497" y="3356992"/>
            <a:ext cx="1944216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" name="右箭头 2">
            <a:extLst>
              <a:ext uri="{FF2B5EF4-FFF2-40B4-BE49-F238E27FC236}">
                <a16:creationId xmlns:a16="http://schemas.microsoft.com/office/drawing/2014/main" id="{FAB6617D-70A5-7DE3-97CB-18F140AA9E86}"/>
              </a:ext>
            </a:extLst>
          </p:cNvPr>
          <p:cNvSpPr/>
          <p:nvPr/>
        </p:nvSpPr>
        <p:spPr bwMode="auto">
          <a:xfrm>
            <a:off x="2654497" y="3933056"/>
            <a:ext cx="1944216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20509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操作列表的内置函数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en-US" altLang="zh-CN" dirty="0"/>
              <a:t>Python</a:t>
            </a:r>
            <a:r>
              <a:rPr lang="zh-CN" altLang="zh-CN" dirty="0"/>
              <a:t>系统内置的一些函数也可以直接操作列表</a:t>
            </a:r>
            <a:endParaRPr lang="en-US" altLang="zh-CN" dirty="0"/>
          </a:p>
          <a:p>
            <a:pPr algn="just" eaLnBrk="1" hangingPunct="1"/>
            <a:r>
              <a:rPr lang="zh-CN" altLang="zh-CN" dirty="0"/>
              <a:t>加和函数</a:t>
            </a:r>
            <a:r>
              <a:rPr lang="en-US" altLang="zh-CN" dirty="0"/>
              <a:t>sum</a:t>
            </a:r>
            <a:r>
              <a:rPr lang="zh-CN" altLang="zh-CN" dirty="0"/>
              <a:t>，</a:t>
            </a:r>
            <a:endParaRPr lang="en-US" altLang="zh-CN" dirty="0"/>
          </a:p>
          <a:p>
            <a:pPr algn="just" eaLnBrk="1" hangingPunct="1"/>
            <a:r>
              <a:rPr lang="zh-CN" altLang="zh-CN" dirty="0"/>
              <a:t>元素个数函数</a:t>
            </a:r>
            <a:r>
              <a:rPr lang="en-US" altLang="zh-CN" dirty="0" err="1"/>
              <a:t>len</a:t>
            </a:r>
            <a:endParaRPr lang="en-US" altLang="zh-CN" dirty="0"/>
          </a:p>
          <a:p>
            <a:pPr algn="just" eaLnBrk="1" hangingPunct="1"/>
            <a:r>
              <a:rPr lang="zh-CN" altLang="zh-CN" dirty="0"/>
              <a:t>最大最小值函数</a:t>
            </a:r>
            <a:r>
              <a:rPr lang="en-US" altLang="zh-CN" dirty="0"/>
              <a:t>max</a:t>
            </a:r>
            <a:r>
              <a:rPr lang="zh-CN" altLang="zh-CN" dirty="0"/>
              <a:t>、</a:t>
            </a:r>
            <a:r>
              <a:rPr lang="en-US" altLang="zh-CN" dirty="0"/>
              <a:t>min</a:t>
            </a:r>
          </a:p>
          <a:p>
            <a:pPr algn="just" eaLnBrk="1" hangingPunct="1"/>
            <a:r>
              <a:rPr lang="zh-CN" altLang="zh-CN" dirty="0">
                <a:solidFill>
                  <a:srgbClr val="FF0000"/>
                </a:solidFill>
              </a:rPr>
              <a:t>指定函数映射到列表每个元素的函数</a:t>
            </a:r>
            <a:r>
              <a:rPr lang="en-US" altLang="zh-CN" dirty="0">
                <a:solidFill>
                  <a:srgbClr val="FF0000"/>
                </a:solidFill>
              </a:rPr>
              <a:t>map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223697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操作列表的内置函数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-max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min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4" y="1052736"/>
            <a:ext cx="8068759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altLang="zh-CN" dirty="0"/>
              <a:t>max</a:t>
            </a:r>
            <a:r>
              <a:rPr lang="zh-CN" altLang="zh-CN" dirty="0"/>
              <a:t>和</a:t>
            </a:r>
            <a:r>
              <a:rPr lang="en-US" altLang="zh-CN" dirty="0"/>
              <a:t>min</a:t>
            </a:r>
            <a:r>
              <a:rPr lang="zh-CN" altLang="zh-CN" dirty="0"/>
              <a:t>函数从列表中返回最大值和最小值</a:t>
            </a:r>
            <a:endParaRPr lang="en-US" altLang="zh-CN" dirty="0"/>
          </a:p>
          <a:p>
            <a:pPr marL="68263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例子 </a:t>
            </a:r>
            <a:r>
              <a:rPr lang="zh-CN" altLang="en-US" dirty="0"/>
              <a:t> </a:t>
            </a:r>
            <a:r>
              <a:rPr lang="zh-CN" altLang="zh-CN" dirty="0"/>
              <a:t>将数值列表的数值调整到</a:t>
            </a:r>
            <a:r>
              <a:rPr lang="en-US" altLang="zh-CN" dirty="0"/>
              <a:t>0-1</a:t>
            </a:r>
            <a:r>
              <a:rPr lang="zh-CN" altLang="zh-CN" dirty="0"/>
              <a:t>之间</a:t>
            </a:r>
            <a:endParaRPr lang="en-US" altLang="zh-CN" dirty="0"/>
          </a:p>
          <a:p>
            <a:pPr marL="68263" indent="0">
              <a:buNone/>
            </a:pPr>
            <a:r>
              <a:rPr lang="zh-CN" altLang="en-US" dirty="0"/>
              <a:t>公式    每项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(xi-min)/(max-min)</a:t>
            </a:r>
          </a:p>
          <a:p>
            <a:pPr marL="68263" indent="0">
              <a:buNone/>
            </a:pPr>
            <a:r>
              <a:rPr lang="it-IT" altLang="zh-CN" sz="2400" dirty="0"/>
              <a:t>L=[12,34,21.3,45,19,87.2,76.4]</a:t>
            </a:r>
          </a:p>
          <a:p>
            <a:pPr marL="68263" indent="0">
              <a:buNone/>
            </a:pPr>
            <a:r>
              <a:rPr lang="it-IT" altLang="zh-CN" sz="2400" dirty="0"/>
              <a:t>mi=min(L)</a:t>
            </a:r>
          </a:p>
          <a:p>
            <a:pPr marL="68263" indent="0">
              <a:buNone/>
            </a:pPr>
            <a:r>
              <a:rPr lang="it-IT" altLang="zh-CN" sz="2400" dirty="0"/>
              <a:t>ma=max(L)</a:t>
            </a:r>
          </a:p>
          <a:p>
            <a:pPr marL="68263" indent="0">
              <a:buNone/>
            </a:pPr>
            <a:r>
              <a:rPr lang="it-IT" altLang="zh-CN" sz="2400" dirty="0"/>
              <a:t>res=[]</a:t>
            </a:r>
          </a:p>
          <a:p>
            <a:pPr marL="68263" indent="0">
              <a:buNone/>
            </a:pPr>
            <a:r>
              <a:rPr lang="it-IT" altLang="zh-CN" sz="2400" dirty="0"/>
              <a:t>for i in L:</a:t>
            </a:r>
          </a:p>
          <a:p>
            <a:pPr marL="68263" indent="0">
              <a:buNone/>
            </a:pPr>
            <a:r>
              <a:rPr lang="it-IT" altLang="zh-CN" sz="2400" dirty="0"/>
              <a:t>    res.append ((i-mi)/(ma-mi))</a:t>
            </a:r>
          </a:p>
          <a:p>
            <a:pPr marL="68263" indent="0">
              <a:buNone/>
            </a:pPr>
            <a:r>
              <a:rPr lang="it-IT" altLang="zh-CN" sz="2400" dirty="0"/>
              <a:t>print(res)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19793583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操作列表的内置函数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-sum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dirty="0"/>
              <a:t>求数值列表的和</a:t>
            </a:r>
            <a:endParaRPr lang="en-US" altLang="zh-CN" dirty="0"/>
          </a:p>
          <a:p>
            <a:pPr marL="68263" indent="0">
              <a:buNone/>
            </a:pPr>
            <a:r>
              <a:rPr lang="en-US" altLang="zh-CN" dirty="0"/>
              <a:t>L1=[1,3,6,3,3,7,8,1,1,1]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s=sum(L1)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print(s)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017021708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内建函数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--map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54078" y="1268760"/>
            <a:ext cx="7676650" cy="4536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altLang="zh-CN" dirty="0"/>
              <a:t>map</a:t>
            </a:r>
            <a:r>
              <a:rPr lang="zh-CN" altLang="zh-CN" dirty="0"/>
              <a:t>函数将指定函数作用于列表的每个元素</a:t>
            </a:r>
            <a:endParaRPr lang="en-US" altLang="zh-CN" dirty="0"/>
          </a:p>
          <a:p>
            <a:r>
              <a:rPr lang="zh-CN" altLang="zh-CN" dirty="0"/>
              <a:t>格式为：</a:t>
            </a:r>
            <a:r>
              <a:rPr lang="en-US" altLang="zh-CN" dirty="0">
                <a:solidFill>
                  <a:srgbClr val="FF0000"/>
                </a:solidFill>
              </a:rPr>
              <a:t>map(</a:t>
            </a:r>
            <a:r>
              <a:rPr lang="zh-CN" altLang="zh-CN" dirty="0">
                <a:solidFill>
                  <a:srgbClr val="FF0000"/>
                </a:solidFill>
              </a:rPr>
              <a:t>函数名，列表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返回结果：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对象，需要用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函数转换成列表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3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data=['1.0','2.0','3']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t=map(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float,data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lastData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=list(t)</a:t>
            </a:r>
          </a:p>
          <a:p>
            <a:pPr marL="68263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lastData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3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[1.0, 2.0, 3.0]</a:t>
            </a:r>
          </a:p>
        </p:txBody>
      </p:sp>
    </p:spTree>
    <p:extLst>
      <p:ext uri="{BB962C8B-B14F-4D97-AF65-F5344CB8AC3E}">
        <p14:creationId xmlns:p14="http://schemas.microsoft.com/office/powerpoint/2010/main" val="3137181466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389166"/>
            <a:ext cx="8114928" cy="488156"/>
          </a:xfrm>
        </p:spPr>
        <p:txBody>
          <a:bodyPr/>
          <a:lstStyle/>
          <a:p>
            <a:r>
              <a:rPr lang="en-US" altLang="zh-CN" sz="2400" dirty="0">
                <a:solidFill>
                  <a:srgbClr val="0070C0"/>
                </a:solidFill>
              </a:rPr>
              <a:t>map</a:t>
            </a:r>
            <a:r>
              <a:rPr lang="zh-CN" altLang="en-US" sz="2400" dirty="0">
                <a:solidFill>
                  <a:srgbClr val="0070C0"/>
                </a:solidFill>
              </a:rPr>
              <a:t>函数例</a:t>
            </a:r>
          </a:p>
        </p:txBody>
      </p:sp>
      <p:sp>
        <p:nvSpPr>
          <p:cNvPr id="3" name="矩形 2"/>
          <p:cNvSpPr/>
          <p:nvPr/>
        </p:nvSpPr>
        <p:spPr>
          <a:xfrm>
            <a:off x="428171" y="1700808"/>
            <a:ext cx="8114928" cy="39087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(1)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把列表中元素转为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int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     list(map(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,[1.5,2.4,3.6]))        # [1, 2, 3]</a:t>
            </a:r>
          </a:p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(2)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把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range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中元素转为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str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    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list(map(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str,range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(5)))             # ['0', '1', '2', '3', '4']</a:t>
            </a:r>
          </a:p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(3)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自定义一个单参数函数，将其映射到一个列表中所有的元素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(4)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定义有两个参数的函数，将其映射到两个列表上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501008"/>
            <a:ext cx="2880320" cy="7940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7" y="4869161"/>
            <a:ext cx="3605411" cy="80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7484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12513" y="-687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操作列表的内置函数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</a:t>
            </a:r>
            <a:r>
              <a:rPr lang="en-US" altLang="zh-CN" dirty="0" err="1">
                <a:latin typeface="黑体" pitchFamily="49" charset="-122"/>
                <a:ea typeface="黑体" pitchFamily="49" charset="-122"/>
              </a:rPr>
              <a:t>len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79705" y="1052736"/>
            <a:ext cx="7772400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zh-CN" dirty="0"/>
              <a:t>内置函数</a:t>
            </a:r>
            <a:r>
              <a:rPr lang="en-US" altLang="zh-CN" dirty="0" err="1"/>
              <a:t>len</a:t>
            </a:r>
            <a:r>
              <a:rPr lang="zh-CN" altLang="zh-CN" dirty="0"/>
              <a:t>返回列表的元素个数</a:t>
            </a:r>
            <a:endParaRPr lang="en-US" altLang="zh-CN" dirty="0"/>
          </a:p>
          <a:p>
            <a:r>
              <a:rPr lang="zh-CN" altLang="en-US" dirty="0"/>
              <a:t>例子：</a:t>
            </a:r>
            <a:r>
              <a:rPr lang="zh-CN" altLang="zh-CN" dirty="0"/>
              <a:t>从键盘上输入一组数，数间用</a:t>
            </a:r>
            <a:r>
              <a:rPr lang="zh-CN" altLang="zh-CN" dirty="0">
                <a:solidFill>
                  <a:srgbClr val="FF0000"/>
                </a:solidFill>
              </a:rPr>
              <a:t>逗号间隔</a:t>
            </a:r>
            <a:r>
              <a:rPr lang="zh-CN" altLang="zh-CN" dirty="0"/>
              <a:t>，请计算其均值和标准偏差</a:t>
            </a:r>
            <a:endParaRPr lang="en-US" altLang="zh-CN" dirty="0"/>
          </a:p>
          <a:p>
            <a:endParaRPr lang="zh-CN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852936"/>
            <a:ext cx="6078815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74987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206555" y="548680"/>
            <a:ext cx="7772400" cy="914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例子：</a:t>
            </a:r>
            <a:r>
              <a:rPr lang="zh-CN" altLang="zh-CN" dirty="0"/>
              <a:t>从键盘上输入一组数，数间用</a:t>
            </a:r>
            <a:r>
              <a:rPr lang="zh-CN" altLang="zh-CN" dirty="0">
                <a:solidFill>
                  <a:srgbClr val="FF0000"/>
                </a:solidFill>
              </a:rPr>
              <a:t>逗号间隔</a:t>
            </a:r>
            <a:r>
              <a:rPr lang="zh-CN" altLang="zh-CN" dirty="0"/>
              <a:t>，计算其均值和标准偏差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206555" y="1700808"/>
            <a:ext cx="8741437" cy="44644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zh-CN" dirty="0"/>
              <a:t>键盘上输入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得到的是字符串</a:t>
            </a:r>
            <a:r>
              <a:rPr lang="zh-CN" altLang="en-US" dirty="0"/>
              <a:t>，例如</a:t>
            </a:r>
            <a:endParaRPr lang="en-US" altLang="zh-CN" dirty="0"/>
          </a:p>
          <a:p>
            <a:pPr marL="68263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s=</a:t>
            </a:r>
            <a:r>
              <a:rPr lang="zh-CN" altLang="en-US" dirty="0"/>
              <a:t> “</a:t>
            </a:r>
            <a:r>
              <a:rPr lang="en-US" altLang="zh-CN" dirty="0"/>
              <a:t>1.23, 3.53,  10.21, 31.11, 0.45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知识点：</a:t>
            </a:r>
            <a:r>
              <a:rPr lang="zh-CN" altLang="en-US" dirty="0"/>
              <a:t>字符串有</a:t>
            </a:r>
            <a:r>
              <a:rPr lang="en-US" altLang="zh-CN" dirty="0"/>
              <a:t>split</a:t>
            </a:r>
            <a:r>
              <a:rPr lang="zh-CN" altLang="en-US" dirty="0"/>
              <a:t>函数，支持分割，</a:t>
            </a:r>
            <a:r>
              <a:rPr lang="en-US" altLang="zh-CN" dirty="0"/>
              <a:t>L=</a:t>
            </a:r>
            <a:r>
              <a:rPr lang="en-US" altLang="zh-CN" dirty="0" err="1">
                <a:solidFill>
                  <a:schemeClr val="tx2"/>
                </a:solidFill>
              </a:rPr>
              <a:t>s.split</a:t>
            </a:r>
            <a:r>
              <a:rPr lang="en-US" altLang="zh-CN" dirty="0">
                <a:solidFill>
                  <a:schemeClr val="tx2"/>
                </a:solidFill>
              </a:rPr>
              <a:t>(‘,’)  # </a:t>
            </a:r>
            <a:r>
              <a:rPr lang="zh-CN" altLang="en-US" dirty="0">
                <a:solidFill>
                  <a:schemeClr val="tx2"/>
                </a:solidFill>
              </a:rPr>
              <a:t>逗号间隔</a:t>
            </a:r>
            <a:endParaRPr lang="en-US" altLang="zh-CN" dirty="0">
              <a:solidFill>
                <a:schemeClr val="tx2"/>
              </a:solidFill>
            </a:endParaRPr>
          </a:p>
          <a:p>
            <a:pPr marL="68263" indent="0">
              <a:buNone/>
            </a:pPr>
            <a:r>
              <a:rPr lang="en-US" altLang="zh-CN" dirty="0"/>
              <a:t>   L= [</a:t>
            </a:r>
            <a:r>
              <a:rPr lang="zh-CN" altLang="en-US" dirty="0"/>
              <a:t>“</a:t>
            </a:r>
            <a:r>
              <a:rPr lang="en-US" altLang="zh-CN" dirty="0"/>
              <a:t>1.23”, “3.53”,  “10.21”, “31.11”, “0.45</a:t>
            </a:r>
            <a:r>
              <a:rPr lang="zh-CN" altLang="en-US" dirty="0"/>
              <a:t>”</a:t>
            </a:r>
            <a:r>
              <a:rPr lang="en-US" altLang="zh-CN" dirty="0"/>
              <a:t>]</a:t>
            </a:r>
          </a:p>
          <a:p>
            <a:r>
              <a:rPr lang="zh-CN" altLang="en-US" dirty="0"/>
              <a:t>将</a:t>
            </a:r>
            <a:r>
              <a:rPr lang="en-US" altLang="zh-CN" dirty="0"/>
              <a:t>float</a:t>
            </a:r>
            <a:r>
              <a:rPr lang="zh-CN" altLang="en-US" dirty="0"/>
              <a:t>函数，</a:t>
            </a:r>
            <a:r>
              <a:rPr lang="en-US" altLang="zh-CN" dirty="0"/>
              <a:t>map</a:t>
            </a:r>
            <a:r>
              <a:rPr lang="zh-CN" altLang="en-US" dirty="0"/>
              <a:t>到列表，再</a:t>
            </a:r>
            <a:r>
              <a:rPr lang="en-US" altLang="zh-CN" dirty="0"/>
              <a:t>list</a:t>
            </a:r>
            <a:r>
              <a:rPr lang="zh-CN" altLang="en-US" dirty="0"/>
              <a:t>，可得实数列表</a:t>
            </a:r>
            <a:endParaRPr lang="en-US" altLang="zh-CN" dirty="0"/>
          </a:p>
          <a:p>
            <a:pPr marL="68263" indent="0">
              <a:buNone/>
            </a:pPr>
            <a:r>
              <a:rPr lang="en-US" altLang="zh-CN" dirty="0"/>
              <a:t>   list(map(</a:t>
            </a:r>
            <a:r>
              <a:rPr lang="en-US" altLang="zh-CN" dirty="0" err="1"/>
              <a:t>float,L</a:t>
            </a:r>
            <a:r>
              <a:rPr lang="en-US" altLang="zh-CN" dirty="0"/>
              <a:t>))</a:t>
            </a:r>
          </a:p>
          <a:p>
            <a:r>
              <a:rPr lang="zh-CN" altLang="en-US" dirty="0"/>
              <a:t>后续可以计算均值和方差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750313481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29639" y="980728"/>
            <a:ext cx="7676650" cy="54006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zh-CN" sz="2400" dirty="0"/>
              <a:t>从键盘上输入一组数，数间用逗号间隔，请利用</a:t>
            </a:r>
            <a:r>
              <a:rPr lang="en-US" altLang="zh-CN" sz="2400" dirty="0"/>
              <a:t>map</a:t>
            </a:r>
            <a:r>
              <a:rPr lang="zh-CN" altLang="zh-CN" sz="2400" dirty="0"/>
              <a:t>函数转换数值，计算其均值和标准偏差</a:t>
            </a:r>
            <a:endParaRPr lang="en-US" altLang="zh-CN" sz="2400" dirty="0"/>
          </a:p>
          <a:p>
            <a:pPr marL="68263" indent="0">
              <a:buNone/>
            </a:pPr>
            <a:r>
              <a:rPr lang="en-US" altLang="zh-CN" sz="2400" dirty="0"/>
              <a:t>data=input('</a:t>
            </a:r>
            <a:r>
              <a:rPr lang="zh-CN" altLang="zh-CN" sz="2400" dirty="0"/>
              <a:t>请输入一组数，数间以逗号间隔：</a:t>
            </a:r>
            <a:r>
              <a:rPr lang="en-US" altLang="zh-CN" sz="2400" dirty="0"/>
              <a:t>')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data=</a:t>
            </a:r>
            <a:r>
              <a:rPr lang="en-US" altLang="zh-CN" sz="2400" dirty="0" err="1"/>
              <a:t>data.split</a:t>
            </a:r>
            <a:r>
              <a:rPr lang="en-US" altLang="zh-CN" sz="2400" dirty="0"/>
              <a:t>(',')  		# </a:t>
            </a:r>
            <a:r>
              <a:rPr lang="zh-CN" altLang="zh-CN" sz="2400" dirty="0"/>
              <a:t>按逗号将数据分割</a:t>
            </a:r>
          </a:p>
          <a:p>
            <a:pPr marL="68263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data=list(map(</a:t>
            </a:r>
            <a:r>
              <a:rPr lang="en-US" altLang="zh-CN" sz="2400" dirty="0" err="1">
                <a:solidFill>
                  <a:srgbClr val="FF0000"/>
                </a:solidFill>
              </a:rPr>
              <a:t>float,data</a:t>
            </a:r>
            <a:r>
              <a:rPr lang="en-US" altLang="zh-CN" sz="2400" dirty="0">
                <a:solidFill>
                  <a:srgbClr val="FF0000"/>
                </a:solidFill>
              </a:rPr>
              <a:t>))   #data[i] = float(data[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])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marL="68263" indent="0">
              <a:buNone/>
            </a:pPr>
            <a:r>
              <a:rPr lang="en-US" altLang="zh-CN" sz="2400" dirty="0"/>
              <a:t>aver=sum(data)/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(data)  	# </a:t>
            </a:r>
            <a:r>
              <a:rPr lang="zh-CN" altLang="zh-CN" sz="2400" dirty="0"/>
              <a:t>求平均值</a:t>
            </a:r>
          </a:p>
          <a:p>
            <a:pPr marL="68263" indent="0">
              <a:buNone/>
            </a:pPr>
            <a:r>
              <a:rPr lang="en-US" altLang="zh-CN" sz="2400" dirty="0" err="1"/>
              <a:t>std</a:t>
            </a:r>
            <a:r>
              <a:rPr lang="en-US" altLang="zh-CN" sz="2400" dirty="0"/>
              <a:t>=0  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data: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 +=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-aver)**2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import math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 err="1"/>
              <a:t>std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math.sqrt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/(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(data)))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print('</a:t>
            </a:r>
            <a:r>
              <a:rPr lang="zh-CN" altLang="zh-CN" sz="2400" dirty="0"/>
              <a:t>平均值</a:t>
            </a:r>
            <a:r>
              <a:rPr lang="en-US" altLang="zh-CN" sz="2400" dirty="0"/>
              <a:t>={:.3f},</a:t>
            </a:r>
            <a:r>
              <a:rPr lang="zh-CN" altLang="zh-CN" sz="2400" dirty="0"/>
              <a:t>标准偏差</a:t>
            </a:r>
            <a:r>
              <a:rPr lang="en-US" altLang="zh-CN" sz="2400" dirty="0"/>
              <a:t>={:.3f}'.format(</a:t>
            </a:r>
            <a:r>
              <a:rPr lang="en-US" altLang="zh-CN" sz="2400" dirty="0" err="1"/>
              <a:t>aver,std</a:t>
            </a:r>
            <a:r>
              <a:rPr lang="en-US" altLang="zh-CN" sz="2400" dirty="0"/>
              <a:t>))</a:t>
            </a:r>
            <a:endParaRPr lang="zh-CN" altLang="zh-CN" sz="2400" dirty="0"/>
          </a:p>
          <a:p>
            <a:pPr marL="68263" indent="0"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428705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内建函数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--zip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54078" y="1268760"/>
            <a:ext cx="7772400" cy="4536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altLang="zh-CN" sz="2800" dirty="0"/>
              <a:t>zip</a:t>
            </a:r>
            <a:r>
              <a:rPr lang="zh-CN" altLang="zh-CN" sz="2800" dirty="0"/>
              <a:t>函数将</a:t>
            </a:r>
            <a:r>
              <a:rPr lang="zh-CN" altLang="zh-CN" sz="2800" dirty="0">
                <a:solidFill>
                  <a:srgbClr val="FF0000"/>
                </a:solidFill>
              </a:rPr>
              <a:t>多个列表</a:t>
            </a:r>
            <a:r>
              <a:rPr lang="zh-CN" altLang="zh-CN" sz="2800" dirty="0"/>
              <a:t>的</a:t>
            </a:r>
            <a:r>
              <a:rPr lang="zh-CN" altLang="zh-CN" sz="2800" dirty="0">
                <a:solidFill>
                  <a:srgbClr val="FF0000"/>
                </a:solidFill>
              </a:rPr>
              <a:t>对应元素</a:t>
            </a:r>
            <a:r>
              <a:rPr lang="zh-CN" altLang="zh-CN" sz="2800" dirty="0"/>
              <a:t>整合为</a:t>
            </a:r>
            <a:r>
              <a:rPr lang="zh-CN" altLang="zh-CN" sz="2800" dirty="0">
                <a:solidFill>
                  <a:srgbClr val="FF0000"/>
                </a:solidFill>
              </a:rPr>
              <a:t>元组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zip</a:t>
            </a:r>
            <a:r>
              <a:rPr lang="zh-CN" altLang="zh-CN" sz="2800" dirty="0"/>
              <a:t>对象不能直接显示其包含的值，需要用</a:t>
            </a:r>
            <a:r>
              <a:rPr lang="en-US" altLang="zh-CN" sz="2800" dirty="0"/>
              <a:t>list</a:t>
            </a:r>
            <a:r>
              <a:rPr lang="zh-CN" altLang="zh-CN" sz="2800" dirty="0"/>
              <a:t>函数将</a:t>
            </a:r>
            <a:r>
              <a:rPr lang="en-US" altLang="zh-CN" sz="2800" dirty="0"/>
              <a:t>zip</a:t>
            </a:r>
            <a:r>
              <a:rPr lang="zh-CN" altLang="zh-CN" sz="2800" dirty="0"/>
              <a:t>对象转换为列表再显示</a:t>
            </a:r>
            <a:endParaRPr lang="en-US" altLang="zh-CN" sz="2800" dirty="0"/>
          </a:p>
          <a:p>
            <a:pPr marL="68263" indent="0">
              <a:buNone/>
            </a:pPr>
            <a:r>
              <a:rPr lang="en-US" altLang="zh-CN" sz="2400" dirty="0"/>
              <a:t>names=['</a:t>
            </a:r>
            <a:r>
              <a:rPr lang="zh-CN" altLang="zh-CN" sz="2400" dirty="0"/>
              <a:t>张仟</a:t>
            </a:r>
            <a:r>
              <a:rPr lang="en-US" altLang="zh-CN" sz="2400" dirty="0"/>
              <a:t>', '</a:t>
            </a:r>
            <a:r>
              <a:rPr lang="zh-CN" altLang="zh-CN" sz="2400" dirty="0"/>
              <a:t>石戎</a:t>
            </a:r>
            <a:r>
              <a:rPr lang="en-US" altLang="zh-CN" sz="2400" dirty="0"/>
              <a:t>',  '</a:t>
            </a:r>
            <a:r>
              <a:rPr lang="zh-CN" altLang="zh-CN" sz="2400" dirty="0"/>
              <a:t>万行</a:t>
            </a:r>
            <a:r>
              <a:rPr lang="en-US" altLang="zh-CN" sz="2400" dirty="0"/>
              <a:t>']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ages=[23, 21, 22]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 err="1"/>
              <a:t>ziped</a:t>
            </a:r>
            <a:r>
              <a:rPr lang="en-US" altLang="zh-CN" sz="2400" dirty="0"/>
              <a:t>=zip(</a:t>
            </a:r>
            <a:r>
              <a:rPr lang="en-US" altLang="zh-CN" sz="2400" dirty="0" err="1"/>
              <a:t>names,ages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</a:t>
            </a:r>
            <a:r>
              <a:rPr lang="en-US" altLang="zh-CN" sz="2400" dirty="0" err="1"/>
              <a:t>ziped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print(list(</a:t>
            </a:r>
            <a:r>
              <a:rPr lang="en-US" altLang="zh-CN" sz="2400" dirty="0" err="1"/>
              <a:t>ziped</a:t>
            </a:r>
            <a:r>
              <a:rPr lang="en-US" altLang="zh-CN" sz="2400" dirty="0"/>
              <a:t>))</a:t>
            </a:r>
            <a:endParaRPr lang="zh-CN" altLang="zh-CN" sz="2400" dirty="0"/>
          </a:p>
          <a:p>
            <a:pPr marL="68263" indent="0"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4365104"/>
            <a:ext cx="5450891" cy="136815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E2016D0-33EB-7384-00E2-FD54BFB98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753" y="3140968"/>
            <a:ext cx="4807247" cy="99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18466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内建函数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—zip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54078" y="1268760"/>
            <a:ext cx="7772400" cy="4536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zh-CN" dirty="0"/>
              <a:t>用</a:t>
            </a:r>
            <a:r>
              <a:rPr lang="en-US" altLang="zh-CN" dirty="0"/>
              <a:t>zip</a:t>
            </a:r>
            <a:r>
              <a:rPr lang="zh-CN" altLang="zh-CN" dirty="0"/>
              <a:t>实现学生姓名和年龄的对应显示</a:t>
            </a:r>
            <a:endParaRPr lang="en-US" altLang="zh-CN" dirty="0"/>
          </a:p>
          <a:p>
            <a:pPr marL="68263" indent="0">
              <a:buNone/>
            </a:pPr>
            <a:r>
              <a:rPr lang="en-US" altLang="zh-CN" sz="2400" dirty="0"/>
              <a:t>names=['</a:t>
            </a:r>
            <a:r>
              <a:rPr lang="zh-CN" altLang="zh-CN" sz="2400" dirty="0"/>
              <a:t>张仟</a:t>
            </a:r>
            <a:r>
              <a:rPr lang="en-US" altLang="zh-CN" sz="2400" dirty="0"/>
              <a:t>', '</a:t>
            </a:r>
            <a:r>
              <a:rPr lang="zh-CN" altLang="zh-CN" sz="2400" dirty="0"/>
              <a:t>石戎</a:t>
            </a:r>
            <a:r>
              <a:rPr lang="en-US" altLang="zh-CN" sz="2400" dirty="0"/>
              <a:t>',  '</a:t>
            </a:r>
            <a:r>
              <a:rPr lang="zh-CN" altLang="zh-CN" sz="2400" dirty="0"/>
              <a:t>万行</a:t>
            </a:r>
            <a:r>
              <a:rPr lang="en-US" altLang="zh-CN" sz="2400" dirty="0"/>
              <a:t>']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ages=[23, 21, 22]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name,age</a:t>
            </a:r>
            <a:r>
              <a:rPr lang="en-US" altLang="zh-CN" sz="2400" dirty="0"/>
              <a:t> in zip(</a:t>
            </a:r>
            <a:r>
              <a:rPr lang="en-US" altLang="zh-CN" sz="2400" dirty="0" err="1"/>
              <a:t>names,ages</a:t>
            </a:r>
            <a:r>
              <a:rPr lang="en-US" altLang="zh-CN" sz="2400" dirty="0"/>
              <a:t>):</a:t>
            </a:r>
            <a:endParaRPr lang="zh-CN" altLang="zh-CN" sz="2400" dirty="0"/>
          </a:p>
          <a:p>
            <a:pPr marL="68263" indent="0">
              <a:buNone/>
            </a:pPr>
            <a:r>
              <a:rPr lang="en-US" altLang="zh-CN" sz="2400" dirty="0"/>
              <a:t>    print(</a:t>
            </a:r>
            <a:r>
              <a:rPr lang="en-US" altLang="zh-CN" sz="2400" dirty="0" err="1"/>
              <a:t>name,age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68263" indent="0"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54" y="3784542"/>
            <a:ext cx="2520280" cy="202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57094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内建函数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--</a:t>
            </a:r>
            <a:r>
              <a:rPr lang="en-US" altLang="zh-CN" dirty="0"/>
              <a:t> enumerate 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54078" y="1268760"/>
            <a:ext cx="7772400" cy="4536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altLang="zh-CN" dirty="0"/>
              <a:t>enumerate</a:t>
            </a:r>
            <a:r>
              <a:rPr lang="zh-CN" altLang="zh-CN" dirty="0"/>
              <a:t>函数将一个列表的元素与其下标索引号组成元组</a:t>
            </a:r>
            <a:endParaRPr lang="en-US" altLang="zh-CN" dirty="0"/>
          </a:p>
          <a:p>
            <a:pPr marL="68263" indent="0">
              <a:buNone/>
            </a:pPr>
            <a:r>
              <a:rPr lang="en-US" altLang="zh-CN" dirty="0"/>
              <a:t>names=['</a:t>
            </a:r>
            <a:r>
              <a:rPr lang="zh-CN" altLang="zh-CN" dirty="0"/>
              <a:t>张仟</a:t>
            </a:r>
            <a:r>
              <a:rPr lang="en-US" altLang="zh-CN" dirty="0"/>
              <a:t>', '</a:t>
            </a:r>
            <a:r>
              <a:rPr lang="zh-CN" altLang="zh-CN" dirty="0"/>
              <a:t>石戎</a:t>
            </a:r>
            <a:r>
              <a:rPr lang="en-US" altLang="zh-CN" dirty="0"/>
              <a:t>',  '</a:t>
            </a:r>
            <a:r>
              <a:rPr lang="zh-CN" altLang="zh-CN" dirty="0"/>
              <a:t>万行</a:t>
            </a:r>
            <a:r>
              <a:rPr lang="en-US" altLang="zh-CN" dirty="0"/>
              <a:t>']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 err="1"/>
              <a:t>enu</a:t>
            </a:r>
            <a:r>
              <a:rPr lang="en-US" altLang="zh-CN" dirty="0"/>
              <a:t>=enumerate(names)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</a:t>
            </a:r>
            <a:r>
              <a:rPr lang="en-US" altLang="zh-CN" dirty="0" err="1"/>
              <a:t>enu</a:t>
            </a:r>
            <a:r>
              <a:rPr lang="en-US" altLang="zh-CN" dirty="0"/>
              <a:t>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print(list(</a:t>
            </a:r>
            <a:r>
              <a:rPr lang="en-US" altLang="zh-CN" dirty="0" err="1"/>
              <a:t>enu</a:t>
            </a:r>
            <a:r>
              <a:rPr lang="en-US" altLang="zh-CN" dirty="0"/>
              <a:t>))</a:t>
            </a:r>
            <a:endParaRPr lang="zh-CN" altLang="zh-CN" dirty="0"/>
          </a:p>
          <a:p>
            <a:pPr marL="68263" indent="0">
              <a:buNone/>
            </a:pPr>
            <a:r>
              <a:rPr lang="en-US" altLang="zh-CN" dirty="0"/>
              <a:t>enu1=enumerate(names,1)</a:t>
            </a:r>
          </a:p>
          <a:p>
            <a:pPr marL="68263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index,name</a:t>
            </a:r>
            <a:r>
              <a:rPr lang="en-US" altLang="zh-CN" dirty="0"/>
              <a:t> in enu1:</a:t>
            </a:r>
          </a:p>
          <a:p>
            <a:pPr marL="68263" indent="0">
              <a:buNone/>
            </a:pPr>
            <a:r>
              <a:rPr lang="en-US" altLang="zh-CN" dirty="0"/>
              <a:t>    print(</a:t>
            </a:r>
            <a:r>
              <a:rPr lang="en-US" altLang="zh-CN" dirty="0" err="1"/>
              <a:t>index,name</a:t>
            </a:r>
            <a:r>
              <a:rPr lang="en-US" altLang="zh-CN" dirty="0"/>
              <a:t>)</a:t>
            </a:r>
          </a:p>
          <a:p>
            <a:pPr marL="68263" indent="0"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3140968"/>
            <a:ext cx="3176414" cy="13049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884E3DE-845D-3157-7FD0-7F1F25B1E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4443229"/>
            <a:ext cx="1206562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0163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0070C0"/>
                </a:solidFill>
              </a:rPr>
              <a:t>内置函数</a:t>
            </a:r>
            <a:r>
              <a:rPr lang="en-US" altLang="zh-CN" sz="2400" dirty="0">
                <a:solidFill>
                  <a:srgbClr val="0070C0"/>
                </a:solidFill>
              </a:rPr>
              <a:t>—filter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3721" y="1167006"/>
            <a:ext cx="8153598" cy="170013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将一个单参数函数作用到一个序列上，返回该序列中使得该函数返回为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的元素组成的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rgbClr val="C00000"/>
                </a:solidFill>
              </a:rPr>
              <a:t>若指定函数为</a:t>
            </a:r>
            <a:r>
              <a:rPr lang="en-US" altLang="zh-CN" sz="1800" dirty="0">
                <a:solidFill>
                  <a:srgbClr val="C00000"/>
                </a:solidFill>
              </a:rPr>
              <a:t>None</a:t>
            </a:r>
            <a:r>
              <a:rPr lang="zh-CN" altLang="en-US" sz="1800" dirty="0">
                <a:solidFill>
                  <a:srgbClr val="C00000"/>
                </a:solidFill>
              </a:rPr>
              <a:t>，则返回序列中等价为</a:t>
            </a:r>
            <a:r>
              <a:rPr lang="en-US" altLang="zh-CN" sz="1800" dirty="0">
                <a:solidFill>
                  <a:srgbClr val="C00000"/>
                </a:solidFill>
              </a:rPr>
              <a:t>True</a:t>
            </a:r>
            <a:r>
              <a:rPr lang="zh-CN" altLang="en-US" sz="1800" dirty="0">
                <a:solidFill>
                  <a:srgbClr val="C00000"/>
                </a:solidFill>
              </a:rPr>
              <a:t>的元素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3721" y="3400947"/>
            <a:ext cx="4195567" cy="231601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#</a:t>
            </a:r>
            <a:r>
              <a:rPr lang="zh-CN" altLang="en-US" sz="1400" dirty="0"/>
              <a:t>过滤掉非字母与数字符号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ls=['Tong','Ji','@#$','520','{!}']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def func(i):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return i.isalnum()       #返回字母或数字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rt=list(filter(func,ls))    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print(rt)          　　　　 </a:t>
            </a:r>
            <a:r>
              <a:rPr lang="en-US" altLang="zh-CN" sz="1400" dirty="0"/>
              <a:t># </a:t>
            </a:r>
            <a:r>
              <a:rPr lang="zh-CN" altLang="en-US" sz="1400" dirty="0"/>
              <a:t>输出过滤后的列表元素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输出结果：</a:t>
            </a:r>
            <a:r>
              <a:rPr lang="en-US" altLang="zh-CN" sz="1400" dirty="0"/>
              <a:t>['Tong', 'Ji', '520']</a:t>
            </a:r>
            <a:endParaRPr lang="zh-CN" altLang="en-US" sz="1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2229504"/>
            <a:ext cx="4260798" cy="577854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185405" y="3869856"/>
            <a:ext cx="3523903" cy="1237954"/>
            <a:chOff x="5519960" y="3576983"/>
            <a:chExt cx="3432795" cy="123795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9960" y="3946315"/>
              <a:ext cx="3432795" cy="86862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pic>
        <p:sp>
          <p:nvSpPr>
            <p:cNvPr id="10" name="矩形 9"/>
            <p:cNvSpPr/>
            <p:nvPr/>
          </p:nvSpPr>
          <p:spPr>
            <a:xfrm>
              <a:off x="5544168" y="3576983"/>
              <a:ext cx="3384377" cy="36933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dirty="0"/>
                <a:t>#</a:t>
              </a:r>
              <a:r>
                <a:rPr lang="zh-CN" altLang="en-US" dirty="0"/>
                <a:t>过滤掉偶数，输出奇数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2418460722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3548" y="680010"/>
            <a:ext cx="8275638" cy="650875"/>
          </a:xfrm>
        </p:spPr>
        <p:txBody>
          <a:bodyPr/>
          <a:lstStyle/>
          <a:p>
            <a:r>
              <a:rPr lang="en-US" altLang="zh-CN" sz="2400" dirty="0">
                <a:solidFill>
                  <a:srgbClr val="0070C0"/>
                </a:solidFill>
              </a:rPr>
              <a:t>map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altLang="zh-CN" sz="2400" dirty="0">
                <a:solidFill>
                  <a:srgbClr val="0070C0"/>
                </a:solidFill>
              </a:rPr>
              <a:t>filter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altLang="zh-CN" sz="2400" dirty="0">
                <a:solidFill>
                  <a:srgbClr val="0070C0"/>
                </a:solidFill>
              </a:rPr>
              <a:t>enumerate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altLang="zh-CN" sz="2400" dirty="0">
                <a:solidFill>
                  <a:srgbClr val="0070C0"/>
                </a:solidFill>
              </a:rPr>
              <a:t>zip</a:t>
            </a:r>
            <a:r>
              <a:rPr lang="zh-CN" altLang="en-US" sz="2400" dirty="0">
                <a:solidFill>
                  <a:srgbClr val="0070C0"/>
                </a:solidFill>
              </a:rPr>
              <a:t>共性：</a:t>
            </a:r>
            <a:r>
              <a:rPr lang="zh-CN" altLang="en-US" sz="2400" dirty="0">
                <a:solidFill>
                  <a:srgbClr val="C00000"/>
                </a:solidFill>
              </a:rPr>
              <a:t>可迭代对象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3548" y="1564070"/>
            <a:ext cx="8496944" cy="122141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1800" dirty="0"/>
              <a:t>迭代器模式（</a:t>
            </a:r>
            <a:r>
              <a:rPr lang="en-US" altLang="zh-CN" sz="1800" dirty="0"/>
              <a:t>Iterator</a:t>
            </a:r>
            <a:r>
              <a:rPr lang="zh-CN" altLang="en-US" sz="1800" dirty="0"/>
              <a:t>），提供一种方法顺序访问一个聚合对象中的各个元素，不暴露该对象的内部表示。</a:t>
            </a:r>
            <a:endParaRPr lang="en-US" altLang="zh-CN" sz="1800" dirty="0">
              <a:solidFill>
                <a:srgbClr val="00B050"/>
              </a:solidFill>
            </a:endParaRPr>
          </a:p>
          <a:p>
            <a:r>
              <a:rPr lang="zh-CN" altLang="en-US" sz="1800" dirty="0">
                <a:solidFill>
                  <a:srgbClr val="00B050"/>
                </a:solidFill>
              </a:rPr>
              <a:t>迭代对象遍历完最后一个元素后，访问结束，若需继续访问，需重建迭代对象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0" y="4087963"/>
            <a:ext cx="3267906" cy="14468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918" y="3751322"/>
            <a:ext cx="2321812" cy="18001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4" y="4200658"/>
            <a:ext cx="2430717" cy="132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32296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zh-CN" dirty="0"/>
              <a:t>列表推导式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54078" y="1124744"/>
            <a:ext cx="7772400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zh-CN" sz="2800" dirty="0"/>
              <a:t>列表推导式是一种简洁式的快速对列表进行遍历、过滤进而达到重组的方案。其语法格式为</a:t>
            </a:r>
            <a:endParaRPr lang="en-US" altLang="zh-CN" sz="2800" dirty="0"/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3" indent="0"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/>
          </a:p>
          <a:p>
            <a:r>
              <a:rPr lang="zh-CN" altLang="zh-CN" sz="2800" dirty="0"/>
              <a:t>语义为，根据条件计算“</a:t>
            </a:r>
            <a:r>
              <a:rPr lang="zh-CN" altLang="zh-CN" sz="2800" dirty="0">
                <a:solidFill>
                  <a:srgbClr val="FF0000"/>
                </a:solidFill>
              </a:rPr>
              <a:t>结果表达式</a:t>
            </a:r>
            <a:r>
              <a:rPr lang="en-US" altLang="zh-CN" sz="2800" dirty="0">
                <a:solidFill>
                  <a:srgbClr val="FF0000"/>
                </a:solidFill>
              </a:rPr>
              <a:t>exp</a:t>
            </a:r>
            <a:r>
              <a:rPr lang="zh-CN" altLang="zh-CN" sz="2800" dirty="0"/>
              <a:t>”，</a:t>
            </a:r>
            <a:endParaRPr lang="en-US" altLang="zh-CN" sz="2800" dirty="0"/>
          </a:p>
          <a:p>
            <a:r>
              <a:rPr lang="zh-CN" altLang="zh-CN" sz="2800" dirty="0">
                <a:solidFill>
                  <a:schemeClr val="tx2"/>
                </a:solidFill>
              </a:rPr>
              <a:t>以“结果表达式”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zh-CN" altLang="zh-CN" sz="2800" dirty="0">
                <a:solidFill>
                  <a:schemeClr val="tx2"/>
                </a:solidFill>
              </a:rPr>
              <a:t>作为元素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zh-CN" altLang="zh-CN" sz="2800" dirty="0"/>
              <a:t>形成新的列表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CA7997-2AFB-8518-9777-83D867C15B1F}"/>
              </a:ext>
            </a:extLst>
          </p:cNvPr>
          <p:cNvSpPr/>
          <p:nvPr/>
        </p:nvSpPr>
        <p:spPr>
          <a:xfrm>
            <a:off x="787850" y="2179270"/>
            <a:ext cx="7704856" cy="30035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for x in data 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condition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单分支</a:t>
            </a:r>
            <a:endParaRPr lang="en-US" altLang="zh-CN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说明：遍历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的每一个数据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，满足条件的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保留在列表中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zh-CN" altLang="zh-CN" sz="1600" dirty="0">
                <a:solidFill>
                  <a:srgbClr val="121212"/>
                </a:solidFill>
                <a:latin typeface="Arial Unicode MS"/>
                <a:ea typeface="Menlo"/>
              </a:rPr>
              <a:t> </a:t>
            </a:r>
            <a:r>
              <a:rPr lang="en-US" altLang="zh-CN" sz="1600" dirty="0" err="1">
                <a:solidFill>
                  <a:srgbClr val="121212"/>
                </a:solidFill>
                <a:latin typeface="Arial Unicode MS"/>
                <a:ea typeface="Menlo"/>
              </a:rPr>
              <a:t>rt</a:t>
            </a:r>
            <a:r>
              <a:rPr lang="en-US" altLang="zh-CN" sz="1600" dirty="0">
                <a:solidFill>
                  <a:srgbClr val="121212"/>
                </a:solidFill>
                <a:latin typeface="Arial Unicode MS"/>
                <a:ea typeface="Menlo"/>
              </a:rPr>
              <a:t>=[x for x in range(100) if x%3==0 and x%7==0 ]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1600" dirty="0">
                <a:solidFill>
                  <a:srgbClr val="121212"/>
                </a:solidFill>
                <a:latin typeface="Arial Unicode MS"/>
                <a:ea typeface="Menlo"/>
              </a:rPr>
              <a:t> [0, 21, 42, 63, 84]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</a:rPr>
              <a:t>[ </a:t>
            </a:r>
            <a:r>
              <a:rPr lang="en-US" altLang="zh-CN" sz="1600" b="1" dirty="0">
                <a:solidFill>
                  <a:srgbClr val="C00000"/>
                </a:solidFill>
              </a:rPr>
              <a:t>exp1 if condition </a:t>
            </a:r>
            <a:r>
              <a:rPr lang="en-US" altLang="zh-CN" sz="1600" b="1" dirty="0">
                <a:solidFill>
                  <a:srgbClr val="00B050"/>
                </a:solidFill>
              </a:rPr>
              <a:t>else exp2 </a:t>
            </a:r>
            <a:r>
              <a:rPr lang="en-US" altLang="zh-CN" sz="1600" b="1" dirty="0">
                <a:solidFill>
                  <a:srgbClr val="0000B4"/>
                </a:solidFill>
              </a:rPr>
              <a:t>for x in data </a:t>
            </a:r>
            <a:r>
              <a:rPr lang="en-US" altLang="zh-CN" sz="1600" b="1" dirty="0">
                <a:solidFill>
                  <a:schemeClr val="tx1"/>
                </a:solidFill>
              </a:rPr>
              <a:t>]</a:t>
            </a:r>
            <a:r>
              <a:rPr lang="en-US" altLang="zh-CN" sz="1600" b="1" dirty="0">
                <a:solidFill>
                  <a:srgbClr val="00B050"/>
                </a:solidFill>
              </a:rPr>
              <a:t>    #</a:t>
            </a:r>
            <a:r>
              <a:rPr lang="zh-CN" altLang="en-US" sz="1600" b="1" dirty="0">
                <a:solidFill>
                  <a:srgbClr val="00B050"/>
                </a:solidFill>
              </a:rPr>
              <a:t>两分支</a:t>
            </a: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说明：  遍历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中的数据，满足条件时取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，生成一个新列表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=[x**2 if x%2==0 else 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for x in range(10) ]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 10, 4, 30, 16, 50, 36, 70, 64, 90]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2661107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827584" y="1544216"/>
            <a:ext cx="7772400" cy="403244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/>
              <a:t>例子 求 </a:t>
            </a:r>
            <a:r>
              <a:rPr lang="en-US" altLang="zh-CN" sz="2400" dirty="0"/>
              <a:t>0—9 </a:t>
            </a:r>
            <a:r>
              <a:rPr lang="zh-CN" altLang="en-US" sz="2400" dirty="0"/>
              <a:t>每个数字平方的列表</a:t>
            </a:r>
            <a:endParaRPr lang="en-US" altLang="zh-CN" sz="2400" dirty="0"/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li= [x*x for x in range(10)]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[0, 1, 4, 9, 16, 25, 36, 49, 64, 81]</a:t>
            </a:r>
          </a:p>
          <a:p>
            <a:pPr marL="68263" indent="0" algn="just" eaLnBrk="1" hangingPunct="1">
              <a:buNone/>
            </a:pPr>
            <a:endParaRPr lang="en-US" altLang="zh-CN" sz="2400" b="1" dirty="0">
              <a:solidFill>
                <a:srgbClr val="FFFF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5656" y="3982616"/>
            <a:ext cx="3816424" cy="1569660"/>
          </a:xfrm>
          <a:prstGeom prst="rect">
            <a:avLst/>
          </a:prstGeom>
          <a:solidFill>
            <a:schemeClr val="bg1"/>
          </a:solidFill>
          <a:ln w="28575">
            <a:solidFill>
              <a:srgbClr val="66FF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Li=[]</a:t>
            </a:r>
          </a:p>
          <a:p>
            <a:r>
              <a:rPr lang="en-US" altLang="zh-CN" sz="2400" dirty="0"/>
              <a:t>for x in range(10):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Li.append</a:t>
            </a:r>
            <a:r>
              <a:rPr lang="en-US" altLang="zh-CN" sz="2400" dirty="0"/>
              <a:t>(x*x) </a:t>
            </a:r>
          </a:p>
          <a:p>
            <a:r>
              <a:rPr lang="en-US" altLang="zh-CN" sz="2400" dirty="0"/>
              <a:t>print(Li)</a:t>
            </a:r>
          </a:p>
        </p:txBody>
      </p:sp>
      <p:sp>
        <p:nvSpPr>
          <p:cNvPr id="3" name="下箭头 2"/>
          <p:cNvSpPr/>
          <p:nvPr/>
        </p:nvSpPr>
        <p:spPr bwMode="auto">
          <a:xfrm>
            <a:off x="3072330" y="3022124"/>
            <a:ext cx="324036" cy="936104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13725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例子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46050" y="1268760"/>
            <a:ext cx="7772400" cy="10081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例子 求 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0—9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中可以被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整除的数字的平方列表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46050" y="2708920"/>
            <a:ext cx="7772400" cy="129614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algn="just" eaLnBrk="1" hangingPunct="1"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li= [x*x for 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in range(10) 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if x%3==0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]</a:t>
            </a:r>
          </a:p>
          <a:p>
            <a:pPr marL="68263" indent="0" algn="just" eaLnBrk="1" hangingPunct="1"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[0, 9, 36, 81]</a:t>
            </a:r>
          </a:p>
        </p:txBody>
      </p:sp>
      <p:sp>
        <p:nvSpPr>
          <p:cNvPr id="2" name="矩形 1"/>
          <p:cNvSpPr/>
          <p:nvPr/>
        </p:nvSpPr>
        <p:spPr>
          <a:xfrm>
            <a:off x="2051720" y="4581128"/>
            <a:ext cx="4572000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66FFFF"/>
            </a:solidFill>
          </a:ln>
        </p:spPr>
        <p:txBody>
          <a:bodyPr>
            <a:spAutoFit/>
          </a:bodyPr>
          <a:lstStyle/>
          <a:p>
            <a:r>
              <a:rPr lang="en-US" altLang="zh-CN" dirty="0"/>
              <a:t>Li=[]</a:t>
            </a:r>
          </a:p>
          <a:p>
            <a:r>
              <a:rPr lang="en-US" altLang="zh-CN" dirty="0"/>
              <a:t>for x in range(10):</a:t>
            </a:r>
          </a:p>
          <a:p>
            <a:r>
              <a:rPr lang="en-US" altLang="zh-CN" dirty="0"/>
              <a:t>    if x%3==0: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Li.append</a:t>
            </a:r>
            <a:r>
              <a:rPr lang="en-US" altLang="zh-CN" dirty="0"/>
              <a:t>(x*x)</a:t>
            </a:r>
          </a:p>
          <a:p>
            <a:r>
              <a:rPr lang="en-US" altLang="zh-CN" dirty="0"/>
              <a:t>print(Li)</a:t>
            </a:r>
            <a:endParaRPr lang="zh-CN" altLang="en-US" dirty="0"/>
          </a:p>
        </p:txBody>
      </p:sp>
      <p:sp>
        <p:nvSpPr>
          <p:cNvPr id="3" name="下箭头 2"/>
          <p:cNvSpPr/>
          <p:nvPr/>
        </p:nvSpPr>
        <p:spPr bwMode="auto">
          <a:xfrm>
            <a:off x="4427984" y="4005064"/>
            <a:ext cx="360040" cy="576064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649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764704"/>
            <a:ext cx="8275638" cy="506859"/>
          </a:xfrm>
        </p:spPr>
        <p:txBody>
          <a:bodyPr/>
          <a:lstStyle/>
          <a:p>
            <a:r>
              <a:rPr lang="zh-CN" altLang="en-US" sz="2400" dirty="0">
                <a:solidFill>
                  <a:srgbClr val="0070C0"/>
                </a:solidFill>
              </a:rPr>
              <a:t>例</a:t>
            </a:r>
            <a:r>
              <a:rPr lang="en-US" altLang="zh-CN" sz="2400" dirty="0">
                <a:solidFill>
                  <a:srgbClr val="0070C0"/>
                </a:solidFill>
              </a:rPr>
              <a:t>  </a:t>
            </a:r>
            <a:r>
              <a:rPr lang="zh-CN" altLang="en-US" sz="2400" dirty="0">
                <a:solidFill>
                  <a:srgbClr val="0070C0"/>
                </a:solidFill>
              </a:rPr>
              <a:t>输出</a:t>
            </a:r>
            <a:r>
              <a:rPr lang="en-US" altLang="zh-CN" sz="2400" dirty="0">
                <a:solidFill>
                  <a:srgbClr val="0070C0"/>
                </a:solidFill>
              </a:rPr>
              <a:t>100</a:t>
            </a:r>
            <a:r>
              <a:rPr lang="zh-CN" altLang="en-US" sz="2400" dirty="0">
                <a:solidFill>
                  <a:srgbClr val="0070C0"/>
                </a:solidFill>
              </a:rPr>
              <a:t>以内的</a:t>
            </a:r>
            <a:r>
              <a:rPr lang="zh-CN" altLang="en-US" sz="2400" dirty="0">
                <a:solidFill>
                  <a:srgbClr val="C00000"/>
                </a:solidFill>
              </a:rPr>
              <a:t>素数</a:t>
            </a:r>
          </a:p>
        </p:txBody>
      </p:sp>
      <p:sp>
        <p:nvSpPr>
          <p:cNvPr id="7" name="矩形 6"/>
          <p:cNvSpPr/>
          <p:nvPr/>
        </p:nvSpPr>
        <p:spPr>
          <a:xfrm>
            <a:off x="431032" y="1484784"/>
            <a:ext cx="8712968" cy="344709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列表推导式</a:t>
            </a:r>
            <a:r>
              <a:rPr lang="zh-CN" altLang="en-US" dirty="0"/>
              <a:t>：</a:t>
            </a:r>
            <a:r>
              <a:rPr lang="en-US" altLang="zh-CN" dirty="0"/>
              <a:t>result</a:t>
            </a:r>
            <a:r>
              <a:rPr lang="zh-CN" altLang="en-US" dirty="0"/>
              <a:t>=</a:t>
            </a:r>
            <a:r>
              <a:rPr lang="zh-CN" altLang="en-US" dirty="0">
                <a:solidFill>
                  <a:srgbClr val="0000FF"/>
                </a:solidFill>
              </a:rPr>
              <a:t>[x</a:t>
            </a:r>
            <a:r>
              <a:rPr lang="zh-CN" altLang="en-US" dirty="0"/>
              <a:t> </a:t>
            </a:r>
            <a:r>
              <a:rPr lang="zh-CN" altLang="en-US" b="1" dirty="0">
                <a:solidFill>
                  <a:srgbClr val="00B050"/>
                </a:solidFill>
              </a:rPr>
              <a:t>for x in range(2,100) </a:t>
            </a:r>
            <a:r>
              <a:rPr lang="zh-CN" altLang="en-US" dirty="0"/>
              <a:t>if 0 not in </a:t>
            </a:r>
            <a:r>
              <a:rPr lang="zh-CN" altLang="en-US" dirty="0">
                <a:solidFill>
                  <a:srgbClr val="7030A0"/>
                </a:solidFill>
              </a:rPr>
              <a:t>[x%y</a:t>
            </a:r>
            <a:r>
              <a:rPr lang="zh-CN" altLang="en-US" dirty="0"/>
              <a:t> </a:t>
            </a:r>
            <a:r>
              <a:rPr lang="zh-CN" altLang="en-US" b="1" dirty="0">
                <a:solidFill>
                  <a:srgbClr val="00B050"/>
                </a:solidFill>
              </a:rPr>
              <a:t>for y in range(2,x)</a:t>
            </a:r>
            <a:r>
              <a:rPr lang="zh-CN" altLang="en-US" dirty="0">
                <a:solidFill>
                  <a:srgbClr val="7030A0"/>
                </a:solidFill>
              </a:rPr>
              <a:t>]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]</a:t>
            </a:r>
            <a:r>
              <a:rPr lang="zh-CN" altLang="en-US" dirty="0"/>
              <a:t> 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改进：</a:t>
            </a:r>
            <a:r>
              <a:rPr lang="en-US" altLang="zh-CN" sz="1400" dirty="0"/>
              <a:t>import math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en-US" altLang="zh-CN" sz="1400" dirty="0"/>
              <a:t>    result 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=[x for x in range(2,100) if 0 not in [</a:t>
            </a:r>
            <a:r>
              <a:rPr lang="zh-CN" altLang="en-US" sz="1400" dirty="0"/>
              <a:t>x%y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 y in range(2, int(</a:t>
            </a:r>
            <a:r>
              <a:rPr lang="en-US" altLang="zh-CN" sz="14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(x))+1)]] 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600" dirty="0"/>
          </a:p>
          <a:p>
            <a:r>
              <a:rPr lang="zh-CN" altLang="en-US" b="1" dirty="0">
                <a:solidFill>
                  <a:srgbClr val="00B050"/>
                </a:solidFill>
              </a:rPr>
              <a:t># 等价于</a:t>
            </a:r>
          </a:p>
          <a:p>
            <a:pPr lvl="1"/>
            <a:r>
              <a:rPr lang="zh-CN" altLang="en-US" sz="1600" dirty="0"/>
              <a:t>result=[]</a:t>
            </a:r>
          </a:p>
          <a:p>
            <a:pPr lvl="1"/>
            <a:r>
              <a:rPr lang="zh-CN" altLang="en-US" sz="1600" dirty="0"/>
              <a:t>for x in range(2,100):</a:t>
            </a:r>
          </a:p>
          <a:p>
            <a:pPr lvl="1"/>
            <a:r>
              <a:rPr lang="zh-CN" altLang="en-US" sz="1600" dirty="0"/>
              <a:t>    temp=[]</a:t>
            </a:r>
          </a:p>
          <a:p>
            <a:pPr lvl="1"/>
            <a:r>
              <a:rPr lang="zh-CN" altLang="en-US" sz="1600" dirty="0"/>
              <a:t>    for y in range(2,x):</a:t>
            </a:r>
          </a:p>
          <a:p>
            <a:pPr lvl="1"/>
            <a:r>
              <a:rPr lang="zh-CN" altLang="en-US" sz="1600" dirty="0"/>
              <a:t>        temp.append(x%y)    </a:t>
            </a:r>
            <a:r>
              <a:rPr lang="zh-CN" altLang="en-US" sz="1400" dirty="0"/>
              <a:t> #temp列表存放了所有x除y的余数</a:t>
            </a:r>
            <a:endParaRPr lang="zh-CN" altLang="en-US" sz="1600" dirty="0"/>
          </a:p>
          <a:p>
            <a:pPr lvl="1"/>
            <a:r>
              <a:rPr lang="zh-CN" altLang="en-US" sz="1600" dirty="0"/>
              <a:t>    if 0 not in temp</a:t>
            </a:r>
            <a:r>
              <a:rPr lang="zh-CN" altLang="en-US" sz="1400" dirty="0"/>
              <a:t>:                #如果没有0，说明没有一个y可以除尽x,那么x就是一个素数</a:t>
            </a:r>
          </a:p>
          <a:p>
            <a:pPr lvl="1"/>
            <a:r>
              <a:rPr lang="zh-CN" altLang="en-US" sz="1600" dirty="0"/>
              <a:t>        result.append(x</a:t>
            </a:r>
            <a:r>
              <a:rPr lang="zh-CN" altLang="en-US" sz="1400" dirty="0"/>
              <a:t>)          #将x添加到素数列表尾部</a:t>
            </a:r>
            <a:endParaRPr lang="zh-CN" altLang="en-US" sz="1600" dirty="0"/>
          </a:p>
          <a:p>
            <a:pPr lvl="1"/>
            <a:r>
              <a:rPr lang="zh-CN" altLang="en-US" sz="1600" dirty="0"/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4052927514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395536" y="506292"/>
            <a:ext cx="5829300" cy="5940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鸢尾花数据集处理</a:t>
            </a:r>
            <a:endParaRPr lang="zh-CN" altLang="en-US" sz="240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9552" y="1339451"/>
            <a:ext cx="8064896" cy="11568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鸢尾花数据集中包含山鸢、变色鸢尾两种花，每株样本用萼片的长和宽、花瓣的长和宽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个数据表达，抽取其中的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个样本，前三个是山鸢，类别用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表示，后三个是变色鸢尾，用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表示，请根据列表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的值，将山鸢的三个样本挑选出来形成新的列表。</a:t>
            </a:r>
          </a:p>
        </p:txBody>
      </p:sp>
      <p:sp>
        <p:nvSpPr>
          <p:cNvPr id="6" name="矩形 5"/>
          <p:cNvSpPr/>
          <p:nvPr/>
        </p:nvSpPr>
        <p:spPr>
          <a:xfrm>
            <a:off x="560160" y="2852936"/>
            <a:ext cx="8064896" cy="12875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X</a:t>
            </a:r>
            <a:r>
              <a:rPr lang="zh-CN" altLang="en-US" sz="1200" dirty="0"/>
              <a:t>=[[5.1, 3.5, 1.4, 0.2], [4.9, 3. , 1.4, 0.2], [4.7, 3.2, 1.3, 0.2],[7. , 3.2, 4.7, 1.4], [6.4, 3.2, 4.5, 1.5], [6.9, 3.1, 4.9, 1.5]]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y</a:t>
            </a:r>
            <a:r>
              <a:rPr lang="zh-CN" altLang="en-US" sz="1600" dirty="0"/>
              <a:t>=[0,0,0,1,1,1]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result</a:t>
            </a:r>
            <a:r>
              <a:rPr lang="zh-CN" altLang="en-US" dirty="0">
                <a:solidFill>
                  <a:srgbClr val="C00000"/>
                </a:solidFill>
              </a:rPr>
              <a:t>=[X[i]</a:t>
            </a:r>
            <a:r>
              <a:rPr lang="zh-CN" altLang="en-US" dirty="0"/>
              <a:t> </a:t>
            </a:r>
            <a:r>
              <a:rPr lang="zh-CN" altLang="en-US" b="1" dirty="0">
                <a:solidFill>
                  <a:srgbClr val="00B050"/>
                </a:solidFill>
              </a:rPr>
              <a:t>for i in range(len(X))  </a:t>
            </a:r>
            <a:r>
              <a:rPr lang="zh-CN" altLang="en-US" dirty="0"/>
              <a:t>if y[i]==0 </a:t>
            </a:r>
            <a:r>
              <a:rPr lang="zh-CN" altLang="en-US" dirty="0">
                <a:solidFill>
                  <a:srgbClr val="C00000"/>
                </a:solidFill>
              </a:rPr>
              <a:t>]</a:t>
            </a:r>
          </a:p>
        </p:txBody>
      </p:sp>
      <p:sp>
        <p:nvSpPr>
          <p:cNvPr id="7" name="矩形 6"/>
          <p:cNvSpPr/>
          <p:nvPr/>
        </p:nvSpPr>
        <p:spPr>
          <a:xfrm>
            <a:off x="596164" y="4499742"/>
            <a:ext cx="79928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输出：</a:t>
            </a:r>
            <a:r>
              <a:rPr lang="zh-CN" altLang="en-US" sz="1600" dirty="0"/>
              <a:t>[[5.1, 3.5, 1.4, 0.2], [4.9, 3.0, 1.4, 0.2], [4.7, 3.2, 1.3, 0.2]]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1428038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C9032-5668-4544-9F84-2817738B5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8293100" cy="20162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例：一组学生信息存放在列表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中，对应的班级存放在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stu_class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挑选出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班的学生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=[['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张三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',90],['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李四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',88],['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王五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',78]]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stu_class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=[1,2,1]  # 3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个同学分别是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1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班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67544" y="183599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数据过滤的例子</a:t>
            </a:r>
          </a:p>
        </p:txBody>
      </p:sp>
    </p:spTree>
    <p:extLst>
      <p:ext uri="{BB962C8B-B14F-4D97-AF65-F5344CB8AC3E}">
        <p14:creationId xmlns:p14="http://schemas.microsoft.com/office/powerpoint/2010/main" val="1063334888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C9032-5668-4544-9F84-2817738B5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8293100" cy="20162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例：一组学生信息存放在列表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中，对应的班级存放在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stu_class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挑选出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班的学生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=[['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张三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',90],['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李四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',88],['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王五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',78]]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stu_class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=[1,2,1]  # 3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个同学分别是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1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班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9552" y="4015147"/>
            <a:ext cx="7848872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66FFFF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2400" dirty="0"/>
              <a:t>result=[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   for i in range(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)) if </a:t>
            </a:r>
            <a:r>
              <a:rPr lang="en-US" altLang="zh-CN" sz="2400" dirty="0" err="1"/>
              <a:t>stu_class</a:t>
            </a:r>
            <a:r>
              <a:rPr lang="en-US" altLang="zh-CN" sz="2400" dirty="0"/>
              <a:t>[i]==1]</a:t>
            </a:r>
          </a:p>
          <a:p>
            <a:pPr marL="0" indent="0">
              <a:buNone/>
            </a:pPr>
            <a:r>
              <a:rPr lang="en-US" altLang="zh-CN" sz="2400" dirty="0"/>
              <a:t>print(result)</a:t>
            </a:r>
          </a:p>
          <a:p>
            <a:pPr marL="0" indent="0">
              <a:buNone/>
            </a:pPr>
            <a:r>
              <a:rPr lang="en-US" altLang="zh-CN" sz="2400" dirty="0"/>
              <a:t>[['</a:t>
            </a:r>
            <a:r>
              <a:rPr lang="zh-CN" altLang="en-US" sz="2400" dirty="0"/>
              <a:t>张三</a:t>
            </a:r>
            <a:r>
              <a:rPr lang="en-US" altLang="zh-CN" sz="2400" dirty="0"/>
              <a:t>', 90], ['</a:t>
            </a:r>
            <a:r>
              <a:rPr lang="zh-CN" altLang="en-US" sz="2400" dirty="0"/>
              <a:t>王五</a:t>
            </a:r>
            <a:r>
              <a:rPr lang="en-US" altLang="zh-CN" sz="2400" dirty="0"/>
              <a:t>', 78]]</a:t>
            </a:r>
            <a:endParaRPr lang="zh-CN" altLang="en-US" sz="2400" dirty="0"/>
          </a:p>
          <a:p>
            <a:endParaRPr lang="zh-CN" altLang="en-US" dirty="0"/>
          </a:p>
        </p:txBody>
      </p:sp>
      <p:sp>
        <p:nvSpPr>
          <p:cNvPr id="4" name="下箭头 3"/>
          <p:cNvSpPr/>
          <p:nvPr/>
        </p:nvSpPr>
        <p:spPr bwMode="auto">
          <a:xfrm>
            <a:off x="3635896" y="2713962"/>
            <a:ext cx="288032" cy="144016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67544" y="183599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数据过滤的例子</a:t>
            </a:r>
          </a:p>
        </p:txBody>
      </p:sp>
    </p:spTree>
    <p:extLst>
      <p:ext uri="{BB962C8B-B14F-4D97-AF65-F5344CB8AC3E}">
        <p14:creationId xmlns:p14="http://schemas.microsoft.com/office/powerpoint/2010/main" val="3242570478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635" y="548680"/>
            <a:ext cx="8275638" cy="650875"/>
          </a:xfrm>
        </p:spPr>
        <p:txBody>
          <a:bodyPr/>
          <a:lstStyle/>
          <a:p>
            <a:r>
              <a:rPr lang="zh-CN" altLang="en-US" sz="2400" dirty="0">
                <a:solidFill>
                  <a:srgbClr val="0070C0"/>
                </a:solidFill>
              </a:rPr>
              <a:t>遍历多个列表</a:t>
            </a:r>
          </a:p>
        </p:txBody>
      </p:sp>
      <p:sp>
        <p:nvSpPr>
          <p:cNvPr id="5" name="矩形 4"/>
          <p:cNvSpPr/>
          <p:nvPr/>
        </p:nvSpPr>
        <p:spPr>
          <a:xfrm>
            <a:off x="431540" y="1484784"/>
            <a:ext cx="8280920" cy="341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X=['</a:t>
            </a:r>
            <a:r>
              <a:rPr lang="en-US" altLang="zh-CN" sz="1600" dirty="0" err="1">
                <a:latin typeface="+mn-ea"/>
              </a:rPr>
              <a:t>I','Love','U</a:t>
            </a:r>
            <a:r>
              <a:rPr lang="en-US" altLang="zh-CN" sz="1600" dirty="0">
                <a:latin typeface="+mn-ea"/>
              </a:rPr>
              <a:t>’];   Y=[5,2,0]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print(list(zip(X,Y)))   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+mn-ea"/>
              </a:rPr>
              <a:t># [('I', 5), ('Love', 2), ('U', 0)]</a:t>
            </a:r>
            <a:endParaRPr lang="en-US" altLang="zh-CN" sz="1600" dirty="0">
              <a:solidFill>
                <a:srgbClr val="00B05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print([(</a:t>
            </a:r>
            <a:r>
              <a:rPr lang="en-US" altLang="zh-CN" sz="1600" dirty="0" err="1">
                <a:latin typeface="+mn-ea"/>
              </a:rPr>
              <a:t>a,b</a:t>
            </a:r>
            <a:r>
              <a:rPr lang="en-US" altLang="zh-CN" sz="1600" dirty="0">
                <a:latin typeface="+mn-ea"/>
              </a:rPr>
              <a:t>) for a in X for b in Y ])   </a:t>
            </a:r>
          </a:p>
          <a:p>
            <a:r>
              <a:rPr lang="en-US" altLang="zh-CN" sz="1600" dirty="0">
                <a:latin typeface="+mn-ea"/>
              </a:rPr>
              <a:t>                                </a:t>
            </a:r>
            <a:r>
              <a:rPr lang="en-US" altLang="zh-CN" sz="1400" dirty="0">
                <a:solidFill>
                  <a:srgbClr val="00B050"/>
                </a:solidFill>
                <a:latin typeface="+mn-ea"/>
              </a:rPr>
              <a:t># [('I', 5), ('I', 2), ('I', 0), ('Love', 5), ('Love', 2), ('Love', 0), ('U', 5), ('U', 2), ('U', 0)]</a:t>
            </a:r>
            <a:endParaRPr lang="en-US" altLang="zh-CN" sz="1600" dirty="0">
              <a:solidFill>
                <a:srgbClr val="00B050"/>
              </a:solidFill>
              <a:latin typeface="+mn-ea"/>
            </a:endParaRPr>
          </a:p>
          <a:p>
            <a:r>
              <a:rPr lang="en-US" altLang="zh-CN" dirty="0">
                <a:latin typeface="+mn-ea"/>
              </a:rPr>
              <a:t>print([(</a:t>
            </a:r>
            <a:r>
              <a:rPr lang="en-US" altLang="zh-CN" dirty="0" err="1">
                <a:latin typeface="+mn-ea"/>
              </a:rPr>
              <a:t>a,b</a:t>
            </a:r>
            <a:r>
              <a:rPr lang="en-US" altLang="zh-CN" dirty="0">
                <a:latin typeface="+mn-ea"/>
              </a:rPr>
              <a:t>) for a in X for b in Y if b!=0])   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+mn-ea"/>
              </a:rPr>
              <a:t>                                     # [('I', 5), ('I', 2), ('Love', 5), ('Love', 2), ('U', 5), ('U', 2)]</a:t>
            </a:r>
          </a:p>
          <a:p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# 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等价于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pPr lvl="1"/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result=[]</a:t>
            </a:r>
          </a:p>
          <a:p>
            <a:pPr lvl="1"/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a in X:</a:t>
            </a:r>
          </a:p>
          <a:p>
            <a:pPr lvl="1"/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for b in Y:</a:t>
            </a:r>
          </a:p>
          <a:p>
            <a:pPr lvl="1"/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if b!=0:</a:t>
            </a:r>
          </a:p>
          <a:p>
            <a:pPr lvl="1"/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6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result.append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</a:t>
            </a:r>
            <a:r>
              <a:rPr lang="en-US" altLang="zh-CN" sz="16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708679820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二维列表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68930" y="980728"/>
            <a:ext cx="7979534" cy="518457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列表的元素是列表</a:t>
            </a:r>
            <a:endParaRPr lang="en-US" altLang="zh-CN" sz="24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  <a:p>
            <a:pPr algn="just" eaLnBrk="1" hangingPunct="1"/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表达形式 </a:t>
            </a:r>
            <a:r>
              <a:rPr lang="en-US" altLang="zh-CN" sz="2000" b="1" dirty="0">
                <a:latin typeface="黑体" pitchFamily="49" charset="-122"/>
                <a:ea typeface="黑体" pitchFamily="49" charset="-122"/>
              </a:rPr>
              <a:t>[ 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[ ],[],[] </a:t>
            </a:r>
            <a:r>
              <a:rPr lang="en-US" altLang="zh-CN" sz="2000" b="1" dirty="0">
                <a:latin typeface="黑体" pitchFamily="49" charset="-122"/>
                <a:ea typeface="黑体" pitchFamily="49" charset="-122"/>
              </a:rPr>
              <a:t>,... ]</a:t>
            </a: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12   31      48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65   41     90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73   44     18</a:t>
            </a:r>
          </a:p>
          <a:p>
            <a:pPr marL="68263" indent="0" algn="just" eaLnBrk="1" hangingPunct="1">
              <a:buNone/>
            </a:pPr>
            <a:r>
              <a:rPr lang="en-US" altLang="zh-CN" sz="2800" dirty="0"/>
              <a:t>x=[  [12,31,48], [65,41,90], [73,44,18] ]</a:t>
            </a:r>
          </a:p>
          <a:p>
            <a:pPr algn="just" eaLnBrk="1" hangingPunct="1"/>
            <a:r>
              <a:rPr lang="zh-CN" altLang="en-US" sz="2000" b="1" dirty="0"/>
              <a:t>二维列表的访问</a:t>
            </a:r>
            <a:endParaRPr lang="en-US" altLang="zh-CN" sz="2000" b="1" dirty="0"/>
          </a:p>
          <a:p>
            <a:pPr lvl="1" algn="just" eaLnBrk="1" hangingPunct="1">
              <a:buFont typeface="Wingdings" pitchFamily="2" charset="2"/>
              <a:buChar char="ü"/>
            </a:pPr>
            <a:r>
              <a:rPr lang="zh-CN" altLang="en-US" sz="2000" b="1" dirty="0"/>
              <a:t>访问子列表</a:t>
            </a:r>
            <a:endParaRPr lang="en-US" altLang="zh-CN" sz="2000" b="1" dirty="0"/>
          </a:p>
          <a:p>
            <a:pPr marL="454025" lvl="1" indent="0" algn="just" eaLnBrk="1" hangingPunct="1">
              <a:buNone/>
            </a:pPr>
            <a:r>
              <a:rPr lang="zh-CN" altLang="en-US" sz="2000" b="1" dirty="0"/>
              <a:t>只跟一个</a:t>
            </a:r>
            <a:r>
              <a:rPr lang="en-US" altLang="zh-CN" sz="2000" b="1" dirty="0"/>
              <a:t>[ ],  x[0]</a:t>
            </a:r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	[12, 31, 48]</a:t>
            </a:r>
          </a:p>
          <a:p>
            <a:pPr lvl="1" algn="just" eaLnBrk="1" hangingPunct="1">
              <a:buFont typeface="Wingdings" pitchFamily="2" charset="2"/>
              <a:buChar char="ü"/>
            </a:pPr>
            <a:r>
              <a:rPr lang="zh-CN" altLang="en-US" sz="2000" b="1" dirty="0"/>
              <a:t>访问子列表中的元素</a:t>
            </a:r>
            <a:endParaRPr lang="en-US" altLang="zh-CN" sz="2000" b="1" dirty="0"/>
          </a:p>
          <a:p>
            <a:pPr marL="68263" indent="0" algn="just" eaLnBrk="1" hangingPunct="1"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/>
              <a:t>跟两个</a:t>
            </a:r>
            <a:r>
              <a:rPr lang="en-US" altLang="zh-CN" sz="2000" b="1" dirty="0"/>
              <a:t>[ ],  </a:t>
            </a:r>
            <a:r>
              <a:rPr lang="zh-CN" altLang="en-US" sz="2000" b="1" dirty="0">
                <a:solidFill>
                  <a:srgbClr val="FF0000"/>
                </a:solidFill>
              </a:rPr>
              <a:t>如</a:t>
            </a:r>
            <a:r>
              <a:rPr lang="en-US" altLang="zh-CN" sz="2000" b="1" dirty="0">
                <a:solidFill>
                  <a:srgbClr val="FF0000"/>
                </a:solidFill>
              </a:rPr>
              <a:t> x[1] [2]</a:t>
            </a:r>
          </a:p>
          <a:p>
            <a:pPr marL="68263" indent="0" algn="just" eaLnBrk="1" hangingPunct="1">
              <a:buNone/>
            </a:pPr>
            <a:r>
              <a:rPr lang="en-US" altLang="zh-CN" sz="2000" dirty="0"/>
              <a:t>	90</a:t>
            </a:r>
          </a:p>
        </p:txBody>
      </p:sp>
    </p:spTree>
    <p:extLst>
      <p:ext uri="{BB962C8B-B14F-4D97-AF65-F5344CB8AC3E}">
        <p14:creationId xmlns:p14="http://schemas.microsoft.com/office/powerpoint/2010/main" val="2710613380"/>
      </p:ext>
    </p:extLst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矩阵的表达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---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列表的元素是列表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83782" y="1268760"/>
            <a:ext cx="5588418" cy="43924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/>
            <a:r>
              <a:rPr lang="zh-CN" altLang="en-US" sz="2400" b="1" dirty="0"/>
              <a:t>矩阵</a:t>
            </a:r>
            <a:endParaRPr lang="en-US" altLang="zh-CN" sz="2400" b="1" dirty="0"/>
          </a:p>
          <a:p>
            <a:pPr marL="68263" indent="0" algn="just" eaLnBrk="1" hangingPunct="1">
              <a:buNone/>
            </a:pPr>
            <a:r>
              <a:rPr lang="en-US" altLang="zh-CN" sz="2400" b="1" dirty="0"/>
              <a:t>12   31      48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/>
              <a:t>65   41     90</a:t>
            </a:r>
          </a:p>
          <a:p>
            <a:pPr marL="68263" indent="0" algn="just" eaLnBrk="1" hangingPunct="1">
              <a:buNone/>
            </a:pPr>
            <a:r>
              <a:rPr lang="en-US" altLang="zh-CN" sz="2400" b="1" dirty="0"/>
              <a:t>73   44     18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&gt;&gt;&gt; x=[[12,31,48],[65,41,90],[73,44,18]]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&gt;&gt;&gt; x[0]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[12, 31, 48]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x[1][2]</a:t>
            </a:r>
          </a:p>
          <a:p>
            <a:pPr marL="68263" indent="0" algn="just" eaLnBrk="1" hangingPunct="1">
              <a:buNone/>
            </a:pPr>
            <a:r>
              <a:rPr lang="en-US" altLang="zh-CN" sz="2400" dirty="0"/>
              <a:t>90</a:t>
            </a:r>
          </a:p>
        </p:txBody>
      </p:sp>
      <p:sp>
        <p:nvSpPr>
          <p:cNvPr id="5" name="矩形 4"/>
          <p:cNvSpPr/>
          <p:nvPr/>
        </p:nvSpPr>
        <p:spPr>
          <a:xfrm>
            <a:off x="6588224" y="3645024"/>
            <a:ext cx="2304256" cy="936104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/>
              <a:t>元组表达矩阵</a:t>
            </a:r>
            <a:endParaRPr lang="en-US" altLang="zh-CN" sz="2000" dirty="0"/>
          </a:p>
          <a:p>
            <a:r>
              <a:rPr lang="zh-CN" altLang="en-US" sz="2000" dirty="0"/>
              <a:t>两个</a:t>
            </a:r>
            <a:r>
              <a:rPr lang="en-US" altLang="zh-CN" sz="2000" dirty="0"/>
              <a:t>[]</a:t>
            </a:r>
            <a:r>
              <a:rPr lang="zh-CN" altLang="en-US" sz="2000" dirty="0"/>
              <a:t>，第一个为行，第二个为列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1475656" y="2564904"/>
            <a:ext cx="864096" cy="2016224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02469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二维列表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754078" y="1268760"/>
            <a:ext cx="7772400" cy="4536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列表的每个元素，又是一个列表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=[['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张三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',90],['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李四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',88],['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王五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',78]]</a:t>
            </a:r>
          </a:p>
          <a:p>
            <a:pPr marL="68263" indent="0">
              <a:buNone/>
            </a:pPr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</a:rPr>
              <a:t>stu.sort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()  #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可以吗？ 如何排序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856910"/>
      </p:ext>
    </p:extLst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54078" y="188640"/>
            <a:ext cx="7772400" cy="7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二维列表排序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251520" y="1268760"/>
            <a:ext cx="8496944" cy="4536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格式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表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.sort(key=lambda x: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表达式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)  #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跟一个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lambda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函数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#lambda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函数的形参，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，类型是表的一个元素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例子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>
              <a:buNone/>
            </a:pPr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</a:rPr>
              <a:t>stu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=[['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张三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',90],['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李四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',88],['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王五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',78]]</a:t>
            </a:r>
          </a:p>
          <a:p>
            <a:pPr marL="68263" indent="0">
              <a:buNone/>
            </a:pPr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</a:rPr>
              <a:t>stu.sort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(key=lambda x:x[1])</a:t>
            </a:r>
          </a:p>
          <a:p>
            <a:pPr marL="68263" indent="0"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#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x[1]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是一个元素的的第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分量，也就是分数，用它从小到大排序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291044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670000" y="1151747"/>
            <a:ext cx="5976664" cy="5940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  </a:t>
            </a:r>
            <a:r>
              <a:rPr lang="zh-CN" altLang="en-US" sz="2400" dirty="0">
                <a:solidFill>
                  <a:srgbClr val="0070C0"/>
                </a:solidFill>
              </a:rPr>
              <a:t>矩阵</a:t>
            </a:r>
            <a:r>
              <a:rPr lang="zh-CN" altLang="en-US" sz="2400" dirty="0"/>
              <a:t>的平铺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39552" y="1808820"/>
            <a:ext cx="8136904" cy="468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 typeface="Wingdings" panose="05000000000000000000" pitchFamily="2" charset="2"/>
              <a:buChar char="u"/>
            </a:pPr>
            <a:r>
              <a:rPr lang="zh-CN" altLang="zh-CN" sz="1800" dirty="0"/>
              <a:t>矩阵是二维列表，</a:t>
            </a:r>
            <a:r>
              <a:rPr lang="zh-CN" altLang="en-US" sz="1800" dirty="0"/>
              <a:t>平铺</a:t>
            </a:r>
            <a:r>
              <a:rPr lang="zh-CN" altLang="zh-CN" sz="1800" dirty="0"/>
              <a:t>是指将矩阵的后续行连接到前行上，形成一维列表。</a:t>
            </a:r>
            <a:endParaRPr lang="en-US" altLang="zh-CN" sz="15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0000" y="2276872"/>
            <a:ext cx="8267352" cy="341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36947" indent="-285750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B050"/>
                </a:solidFill>
              </a:rPr>
              <a:t>采用列表推导式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508397" lvl="1"/>
            <a:r>
              <a:rPr lang="en-US" altLang="zh-CN" dirty="0"/>
              <a:t>X=[[1, 2, 3, 4],  [5, 6, 7, 8],  [9, 10, 11, 12]]</a:t>
            </a:r>
            <a:endParaRPr lang="zh-CN" altLang="zh-CN" dirty="0"/>
          </a:p>
          <a:p>
            <a:pPr marL="508397" lvl="1"/>
            <a:r>
              <a:rPr lang="en-US" altLang="zh-CN" dirty="0"/>
              <a:t>res=[item </a:t>
            </a:r>
            <a:r>
              <a:rPr lang="en-US" altLang="zh-CN" dirty="0">
                <a:solidFill>
                  <a:srgbClr val="C00000"/>
                </a:solidFill>
              </a:rPr>
              <a:t>for row in X </a:t>
            </a:r>
            <a:r>
              <a:rPr lang="en-US" altLang="zh-CN" dirty="0">
                <a:solidFill>
                  <a:srgbClr val="0070C0"/>
                </a:solidFill>
              </a:rPr>
              <a:t>for item in row </a:t>
            </a:r>
            <a:r>
              <a:rPr lang="en-US" altLang="zh-CN" dirty="0"/>
              <a:t>]</a:t>
            </a:r>
            <a:endParaRPr lang="zh-CN" altLang="zh-CN" dirty="0"/>
          </a:p>
          <a:p>
            <a:pPr marL="508397" lvl="1"/>
            <a:r>
              <a:rPr lang="en-US" altLang="zh-CN" dirty="0"/>
              <a:t>print(res)</a:t>
            </a:r>
          </a:p>
          <a:p>
            <a:pPr marL="51197"/>
            <a:endParaRPr lang="en-US" altLang="zh-CN" dirty="0"/>
          </a:p>
          <a:p>
            <a:pPr marL="336947" indent="-285750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B050"/>
                </a:solidFill>
              </a:rPr>
              <a:t>改用循环嵌套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51197"/>
            <a:r>
              <a:rPr lang="en-US" altLang="zh-CN" b="1" dirty="0">
                <a:solidFill>
                  <a:srgbClr val="00B050"/>
                </a:solidFill>
              </a:rPr>
              <a:t>       </a:t>
            </a:r>
            <a:r>
              <a:rPr lang="en-US" altLang="zh-CN" dirty="0"/>
              <a:t>X=[[1, 2, 3, 4],  [5, 6, 7, 8],  [9, 10, 11, 12]]</a:t>
            </a:r>
          </a:p>
          <a:p>
            <a:pPr marL="508397" lvl="1"/>
            <a:r>
              <a:rPr lang="en-US" altLang="zh-CN" dirty="0"/>
              <a:t>res=[]</a:t>
            </a:r>
          </a:p>
          <a:p>
            <a:pPr marL="508397" lvl="1"/>
            <a:r>
              <a:rPr lang="en-US" altLang="zh-CN" dirty="0"/>
              <a:t>for row in X:</a:t>
            </a:r>
          </a:p>
          <a:p>
            <a:pPr marL="508397" lvl="1"/>
            <a:r>
              <a:rPr lang="en-US" altLang="zh-CN" dirty="0"/>
              <a:t>    for item in row:</a:t>
            </a:r>
          </a:p>
          <a:p>
            <a:pPr marL="508397" lvl="1"/>
            <a:r>
              <a:rPr lang="en-US" altLang="zh-CN" dirty="0"/>
              <a:t>        </a:t>
            </a:r>
            <a:r>
              <a:rPr lang="en-US" altLang="zh-CN" dirty="0" err="1"/>
              <a:t>res.append</a:t>
            </a:r>
            <a:r>
              <a:rPr lang="en-US" altLang="zh-CN" dirty="0"/>
              <a:t>(item)</a:t>
            </a:r>
          </a:p>
          <a:p>
            <a:pPr marL="508397" lvl="1"/>
            <a:r>
              <a:rPr lang="en-US" altLang="zh-CN" dirty="0"/>
              <a:t>print(res)</a:t>
            </a:r>
            <a:endParaRPr lang="zh-CN" altLang="zh-CN" dirty="0"/>
          </a:p>
        </p:txBody>
      </p:sp>
      <p:sp>
        <p:nvSpPr>
          <p:cNvPr id="3" name="矩形 2"/>
          <p:cNvSpPr/>
          <p:nvPr/>
        </p:nvSpPr>
        <p:spPr>
          <a:xfrm>
            <a:off x="6372200" y="4215865"/>
            <a:ext cx="2565152" cy="13542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Y</a:t>
            </a:r>
            <a:r>
              <a:rPr lang="zh-CN" altLang="en-US" sz="1600" dirty="0">
                <a:solidFill>
                  <a:srgbClr val="C00000"/>
                </a:solidFill>
              </a:rPr>
              <a:t>=[]     </a:t>
            </a:r>
            <a:r>
              <a:rPr lang="en-US" altLang="zh-CN" sz="1600" dirty="0">
                <a:solidFill>
                  <a:srgbClr val="C00000"/>
                </a:solidFill>
              </a:rPr>
              <a:t>#</a:t>
            </a:r>
            <a:r>
              <a:rPr lang="zh-CN" altLang="en-US" sz="1600" dirty="0">
                <a:solidFill>
                  <a:srgbClr val="C00000"/>
                </a:solidFill>
              </a:rPr>
              <a:t>传统索引法</a:t>
            </a:r>
          </a:p>
          <a:p>
            <a:r>
              <a:rPr lang="zh-CN" altLang="en-US" sz="1600" dirty="0">
                <a:solidFill>
                  <a:srgbClr val="C00000"/>
                </a:solidFill>
              </a:rPr>
              <a:t>for i in range(len(X)):</a:t>
            </a:r>
          </a:p>
          <a:p>
            <a:r>
              <a:rPr lang="zh-CN" altLang="en-US" sz="1600" dirty="0">
                <a:solidFill>
                  <a:srgbClr val="C00000"/>
                </a:solidFill>
              </a:rPr>
              <a:t>    for j in range(len(X[0])):</a:t>
            </a:r>
          </a:p>
          <a:p>
            <a:r>
              <a:rPr lang="zh-CN" altLang="en-US" sz="1600" dirty="0">
                <a:solidFill>
                  <a:srgbClr val="C00000"/>
                </a:solidFill>
              </a:rPr>
              <a:t>        </a:t>
            </a:r>
            <a:r>
              <a:rPr lang="en-US" altLang="zh-CN" sz="1600" dirty="0">
                <a:solidFill>
                  <a:srgbClr val="C00000"/>
                </a:solidFill>
              </a:rPr>
              <a:t>Y</a:t>
            </a:r>
            <a:r>
              <a:rPr lang="zh-CN" altLang="en-US" sz="1600" dirty="0">
                <a:solidFill>
                  <a:srgbClr val="C00000"/>
                </a:solidFill>
              </a:rPr>
              <a:t>.append(X[i][j])</a:t>
            </a:r>
          </a:p>
          <a:p>
            <a:r>
              <a:rPr lang="zh-CN" altLang="en-US" sz="1600" dirty="0">
                <a:solidFill>
                  <a:srgbClr val="C00000"/>
                </a:solidFill>
              </a:rPr>
              <a:t>print(</a:t>
            </a:r>
            <a:r>
              <a:rPr lang="en-US" altLang="zh-CN" sz="1600" dirty="0">
                <a:solidFill>
                  <a:srgbClr val="C00000"/>
                </a:solidFill>
              </a:rPr>
              <a:t>Y</a:t>
            </a:r>
            <a:r>
              <a:rPr lang="zh-CN" altLang="en-US" sz="16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4403818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548736" y="980728"/>
            <a:ext cx="6471536" cy="5940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  </a:t>
            </a:r>
            <a:r>
              <a:rPr lang="zh-CN" altLang="en-US" sz="2400" dirty="0">
                <a:solidFill>
                  <a:srgbClr val="0070C0"/>
                </a:solidFill>
              </a:rPr>
              <a:t>矩阵转置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71432" y="1639276"/>
            <a:ext cx="8271736" cy="22217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/>
              <a:t>X=[[1, 2, 3, 4],  [5, 6, 7, 8],  [9, 10, 11, 12]]      # 3</a:t>
            </a:r>
            <a:r>
              <a:rPr lang="zh-CN" altLang="en-US" sz="1600" dirty="0"/>
              <a:t>行</a:t>
            </a:r>
            <a:r>
              <a:rPr lang="en-US" altLang="zh-CN" sz="1600" dirty="0"/>
              <a:t>4</a:t>
            </a:r>
            <a:r>
              <a:rPr lang="zh-CN" altLang="en-US" sz="1600" dirty="0"/>
              <a:t>列</a:t>
            </a:r>
          </a:p>
          <a:p>
            <a:pPr marL="51197" indent="0">
              <a:spcBef>
                <a:spcPts val="0"/>
              </a:spcBef>
              <a:buNone/>
            </a:pPr>
            <a:r>
              <a:rPr lang="en-US" altLang="zh-CN" sz="1600" dirty="0" err="1"/>
              <a:t>Xt</a:t>
            </a:r>
            <a:r>
              <a:rPr lang="en-US" altLang="zh-CN" sz="1600" dirty="0"/>
              <a:t>=[[row[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for row in X ] 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range(</a:t>
            </a:r>
            <a:r>
              <a:rPr lang="en-US" altLang="zh-CN" sz="1600" dirty="0" err="1"/>
              <a:t>len</a:t>
            </a:r>
            <a:r>
              <a:rPr lang="en-US" altLang="zh-CN" sz="1600" dirty="0"/>
              <a:t>(X[0])) ]            </a:t>
            </a:r>
            <a:r>
              <a:rPr lang="en-US" altLang="zh-CN" sz="1600" b="1" dirty="0">
                <a:solidFill>
                  <a:srgbClr val="C00000"/>
                </a:solidFill>
              </a:rPr>
              <a:t>#</a:t>
            </a:r>
            <a:r>
              <a:rPr lang="zh-CN" altLang="en-US" sz="1600" b="1" dirty="0">
                <a:solidFill>
                  <a:srgbClr val="C00000"/>
                </a:solidFill>
              </a:rPr>
              <a:t>用列表推导式实现转置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51197" indent="0">
              <a:spcBef>
                <a:spcPts val="0"/>
              </a:spcBef>
              <a:buNone/>
            </a:pPr>
            <a:endParaRPr lang="en-US" altLang="zh-CN" sz="1600" dirty="0"/>
          </a:p>
          <a:p>
            <a:pPr marL="51197" indent="0">
              <a:spcBef>
                <a:spcPts val="0"/>
              </a:spcBef>
              <a:buNone/>
            </a:pPr>
            <a:r>
              <a:rPr lang="en-US" altLang="zh-CN" sz="1600" dirty="0"/>
              <a:t>#</a:t>
            </a:r>
            <a:r>
              <a:rPr lang="zh-CN" altLang="en-US" sz="1600" dirty="0"/>
              <a:t>等价于</a:t>
            </a:r>
            <a:endParaRPr lang="en-US" altLang="zh-CN" sz="1600" dirty="0"/>
          </a:p>
          <a:p>
            <a:pPr marL="51197" indent="0">
              <a:spcBef>
                <a:spcPts val="0"/>
              </a:spcBef>
              <a:buNone/>
            </a:pPr>
            <a:r>
              <a:rPr lang="en-US" altLang="zh-CN" sz="1600" dirty="0" err="1"/>
              <a:t>Xt</a:t>
            </a:r>
            <a:r>
              <a:rPr lang="en-US" altLang="zh-CN" sz="1600" dirty="0"/>
              <a:t>=[]</a:t>
            </a:r>
          </a:p>
          <a:p>
            <a:pPr marL="51197" indent="0">
              <a:spcBef>
                <a:spcPts val="0"/>
              </a:spcBef>
              <a:buNone/>
            </a:pPr>
            <a:r>
              <a:rPr lang="en-US" altLang="zh-CN" sz="1600" dirty="0"/>
              <a:t>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range(</a:t>
            </a:r>
            <a:r>
              <a:rPr lang="en-US" altLang="zh-CN" sz="1600" dirty="0" err="1"/>
              <a:t>len</a:t>
            </a:r>
            <a:r>
              <a:rPr lang="en-US" altLang="zh-CN" sz="1600" dirty="0"/>
              <a:t>(X[0])):                  #</a:t>
            </a:r>
            <a:r>
              <a:rPr lang="zh-CN" altLang="en-US" sz="1600" dirty="0"/>
              <a:t>循环</a:t>
            </a:r>
            <a:r>
              <a:rPr lang="en-US" altLang="zh-CN" sz="1600" dirty="0"/>
              <a:t>4</a:t>
            </a:r>
            <a:r>
              <a:rPr lang="zh-CN" altLang="en-US" sz="1600" dirty="0"/>
              <a:t>次，控制</a:t>
            </a:r>
            <a:r>
              <a:rPr lang="en-US" altLang="zh-CN" sz="1600" dirty="0"/>
              <a:t>4</a:t>
            </a:r>
            <a:r>
              <a:rPr lang="zh-CN" altLang="en-US" sz="1600" dirty="0"/>
              <a:t>行</a:t>
            </a:r>
          </a:p>
          <a:p>
            <a:pPr marL="51197" indent="0">
              <a:spcBef>
                <a:spcPts val="0"/>
              </a:spcBef>
              <a:buNone/>
            </a:pPr>
            <a:r>
              <a:rPr lang="zh-CN" altLang="en-US" sz="1600" dirty="0"/>
              <a:t>    </a:t>
            </a:r>
            <a:r>
              <a:rPr lang="en-US" altLang="zh-CN" sz="1600" dirty="0" err="1"/>
              <a:t>Xt.append</a:t>
            </a:r>
            <a:r>
              <a:rPr lang="en-US" altLang="zh-CN" sz="1600" dirty="0"/>
              <a:t>([row[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for row in X])   #</a:t>
            </a:r>
            <a:r>
              <a:rPr lang="zh-CN" altLang="en-US" sz="1600" dirty="0"/>
              <a:t>每一行添加原来的一列</a:t>
            </a:r>
          </a:p>
          <a:p>
            <a:pPr marL="51197" indent="0">
              <a:spcBef>
                <a:spcPts val="0"/>
              </a:spcBef>
              <a:buNone/>
            </a:pPr>
            <a:r>
              <a:rPr lang="en-US" altLang="zh-CN" sz="1600" dirty="0"/>
              <a:t>print(</a:t>
            </a:r>
            <a:r>
              <a:rPr lang="en-US" altLang="zh-CN" sz="1600" dirty="0" err="1"/>
              <a:t>Xt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293097"/>
            <a:ext cx="5256584" cy="13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5127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4.2  </a:t>
            </a:r>
            <a:r>
              <a:rPr lang="zh-CN" altLang="zh-CN" dirty="0"/>
              <a:t>元组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1850" y="1412776"/>
            <a:ext cx="8513638" cy="4094163"/>
          </a:xfrm>
        </p:spPr>
        <p:txBody>
          <a:bodyPr/>
          <a:lstStyle/>
          <a:p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元组（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tuple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）是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Python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中另一种内置的存储有序数据的结构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元组</a:t>
            </a:r>
            <a:r>
              <a:rPr lang="zh-CN" altLang="en-US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的元素</a:t>
            </a:r>
            <a:r>
              <a:rPr lang="zh-CN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是不可改变的</a:t>
            </a:r>
            <a:r>
              <a:rPr lang="zh-CN" altLang="en-US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，即不能对元素进行赋值</a:t>
            </a:r>
          </a:p>
        </p:txBody>
      </p:sp>
    </p:spTree>
    <p:extLst>
      <p:ext uri="{BB962C8B-B14F-4D97-AF65-F5344CB8AC3E}">
        <p14:creationId xmlns:p14="http://schemas.microsoft.com/office/powerpoint/2010/main" val="3174916642"/>
      </p:ext>
    </p:extLst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742" y="1225689"/>
            <a:ext cx="85187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用逗号分隔值，系统将自动创建元组</a:t>
            </a:r>
            <a:r>
              <a:rPr lang="zh-CN" altLang="en-US" sz="2400" dirty="0"/>
              <a:t>，元组用</a:t>
            </a:r>
            <a:r>
              <a:rPr lang="en-US" altLang="zh-CN" sz="2400" dirty="0"/>
              <a:t>()</a:t>
            </a:r>
            <a:r>
              <a:rPr lang="zh-CN" altLang="en-US" sz="2400" dirty="0"/>
              <a:t>括起来。换句话说，任意类型的对象，如果以逗号隔开，则默认为元组。例如：</a:t>
            </a:r>
          </a:p>
          <a:p>
            <a:endParaRPr lang="zh-CN" altLang="en-US" sz="2400" dirty="0"/>
          </a:p>
          <a:p>
            <a:r>
              <a:rPr lang="en-US" altLang="zh-CN" sz="2400" dirty="0"/>
              <a:t>1,2,3</a:t>
            </a:r>
          </a:p>
          <a:p>
            <a:r>
              <a:rPr lang="en-US" altLang="zh-CN" sz="2400" dirty="0"/>
              <a:t>(1, 2, 3)</a:t>
            </a:r>
          </a:p>
          <a:p>
            <a:r>
              <a:rPr lang="en-US" altLang="zh-CN" sz="2400" dirty="0"/>
              <a:t> t="a", "b", "c", "d"      #</a:t>
            </a:r>
            <a:r>
              <a:rPr lang="zh-CN" altLang="en-US" sz="2400" dirty="0"/>
              <a:t>元组打包（</a:t>
            </a:r>
            <a:r>
              <a:rPr lang="en-US" altLang="zh-CN" sz="2400" dirty="0"/>
              <a:t>tuple packing</a:t>
            </a:r>
            <a:r>
              <a:rPr lang="zh-CN" altLang="en-US" sz="2400" dirty="0"/>
              <a:t>）</a:t>
            </a:r>
          </a:p>
          <a:p>
            <a:r>
              <a:rPr lang="en-US" altLang="zh-CN" sz="2400" dirty="0"/>
              <a:t>t</a:t>
            </a:r>
            <a:r>
              <a:rPr lang="zh-CN" altLang="en-US" sz="2400" dirty="0"/>
              <a:t>的值为 </a:t>
            </a:r>
            <a:r>
              <a:rPr lang="en-US" altLang="zh-CN" sz="2400" dirty="0"/>
              <a:t>('a', 'b', 'c', 'd’)</a:t>
            </a:r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、使用</a:t>
            </a:r>
            <a:r>
              <a:rPr lang="en-US" altLang="zh-CN" sz="2400" dirty="0">
                <a:solidFill>
                  <a:srgbClr val="FF0000"/>
                </a:solidFill>
              </a:rPr>
              <a:t>tuple</a:t>
            </a:r>
            <a:r>
              <a:rPr lang="zh-CN" altLang="en-US" sz="2400" dirty="0">
                <a:solidFill>
                  <a:srgbClr val="FF0000"/>
                </a:solidFill>
              </a:rPr>
              <a:t>函数创建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fr-FR" altLang="zh-CN" sz="2400" dirty="0"/>
              <a:t>&gt;&gt;&gt;t=tuple(range(1,10))</a:t>
            </a:r>
          </a:p>
          <a:p>
            <a:r>
              <a:rPr lang="fr-FR" altLang="zh-CN" sz="2400" dirty="0"/>
              <a:t>&gt;&gt;&gt;t</a:t>
            </a:r>
          </a:p>
          <a:p>
            <a:r>
              <a:rPr lang="fr-FR" altLang="zh-CN" sz="2400" dirty="0"/>
              <a:t>(1, 2, 3, 4, 5, 6, 7, 8, 9)</a:t>
            </a:r>
          </a:p>
          <a:p>
            <a:endParaRPr lang="fr-FR" altLang="zh-CN" sz="2400" dirty="0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445743" y="544413"/>
            <a:ext cx="8275638" cy="868363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en-US" altLang="zh-CN" kern="0" dirty="0"/>
              <a:t>4.2.1</a:t>
            </a:r>
            <a:r>
              <a:rPr lang="zh-CN" altLang="en-US" dirty="0"/>
              <a:t>元组创建与删除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4574212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6400F-AD53-4065-8A3A-5BDEFB5D3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692696"/>
            <a:ext cx="8820472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【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例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4-17】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元组创建举例。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tup1=(1,2,3)  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(1, 2, 3)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t= ('physics', 'chemistry', 1997, 2000) #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值的类型不同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('physics', 'chemistry', 1997, 2000)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u = t, (1, 2, 3, 4, 5) #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元组允许嵌套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u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   ('physics', 'chemistry', 1997, 2000) , (1, 2, 3, 4, 5)   )</a:t>
            </a:r>
          </a:p>
          <a:p>
            <a:pPr marL="0" indent="0">
              <a:buNone/>
            </a:pP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5260662"/>
      </p:ext>
    </p:extLst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6400F-AD53-4065-8A3A-5BDEFB5D3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92696"/>
            <a:ext cx="8676456" cy="540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例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4-17】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元组创建举例。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v = ([1, 2, 3], [3, 2, 1])    #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元组中可包含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可修改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数据类型的元素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v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的值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([1, 2, 3], [3, 2, 1])</a:t>
            </a: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注意，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创建仅包括一个值的元组必须加个逗号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，例如：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42,  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(42,)  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t=(42)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42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empty=( ) #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创建空元组</a:t>
            </a: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8350909"/>
      </p:ext>
    </p:extLst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4C378-1C91-44C3-9B35-0AC546228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0768"/>
            <a:ext cx="8183880" cy="3456384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试图删除元素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del t[2:4]  #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元组不可变更，所以错误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TypeError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 'tuple' object does not support item deletion</a:t>
            </a:r>
          </a:p>
          <a:p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删除列表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del t</a:t>
            </a:r>
          </a:p>
          <a:p>
            <a:pPr marL="0" indent="0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   #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删除后，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不存在，不能查看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NameError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: name 't' is not defined</a:t>
            </a: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0850" y="139700"/>
            <a:ext cx="8275638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3 </a:t>
            </a:r>
            <a:r>
              <a:rPr lang="zh-CN" altLang="en-US" dirty="0"/>
              <a:t>删除元组</a:t>
            </a:r>
          </a:p>
        </p:txBody>
      </p:sp>
    </p:spTree>
    <p:extLst>
      <p:ext uri="{BB962C8B-B14F-4D97-AF65-F5344CB8AC3E}">
        <p14:creationId xmlns:p14="http://schemas.microsoft.com/office/powerpoint/2010/main" val="1471890259"/>
      </p:ext>
    </p:extLst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821"/>
            <a:ext cx="9183990" cy="48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434180" y="188640"/>
            <a:ext cx="8275638" cy="868363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en-US" altLang="zh-CN" kern="0" dirty="0"/>
              <a:t>3 </a:t>
            </a:r>
            <a:r>
              <a:rPr lang="zh-CN" altLang="zh-CN" dirty="0"/>
              <a:t>元组的基本操作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18612331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35DF50A-FB2E-4AB8-BDCF-6F839B760044}"/>
              </a:ext>
            </a:extLst>
          </p:cNvPr>
          <p:cNvSpPr txBox="1"/>
          <p:nvPr/>
        </p:nvSpPr>
        <p:spPr>
          <a:xfrm>
            <a:off x="458116" y="1273027"/>
            <a:ext cx="81369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口诀：不能将一个元组的元素写在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的左侧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tup2 = (1, 2, 3, 4, 5, 6, 7 )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&gt;&gt;&gt;tup2[1]=10</a:t>
            </a: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TypeError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'tuple' object does not support item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元组元素为复合类型，可修改元素的分量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tup3=( [1,2,3], 4, 5)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tup3[0][1]=100     #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元素是个列表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print(tup3)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([1, 100, 3], 4, 5)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8116" y="332656"/>
            <a:ext cx="8275638" cy="868363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正确理解元组的</a:t>
            </a:r>
            <a:r>
              <a:rPr lang="zh-CN" altLang="en-US" sz="4400" dirty="0"/>
              <a:t>不可变更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2209368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304AA-5246-4DF8-8C5E-32F9CE7D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4.2.3 </a:t>
            </a:r>
            <a:r>
              <a:rPr lang="zh-CN" altLang="en-US" dirty="0"/>
              <a:t>内置函数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B9CD2-D9BA-4631-95B0-DD870E52E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8" y="1268760"/>
            <a:ext cx="8293100" cy="43203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与列表一样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sum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len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max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min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map</a:t>
            </a:r>
          </a:p>
          <a:p>
            <a:pPr marL="0" indent="0">
              <a:buNone/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zip,enumerate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等可用于元组的操作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例：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t=(11,22,33,44,55,66,77,88)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max1=max(t)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min1=min(t)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aver=sum(t)/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len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(t)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t2=tuple(map(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float,t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))</a:t>
            </a:r>
          </a:p>
          <a:p>
            <a:pPr marL="0" indent="0"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print(max1,min1,aver,t2)</a:t>
            </a:r>
          </a:p>
          <a:p>
            <a:pPr marL="0" indent="0"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275389"/>
      </p:ext>
    </p:extLst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008063"/>
            <a:ext cx="77768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元组创建时，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t="a", "b", "c", "d"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被称为元组打包。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也可以进行反向操作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元组解包（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unpacking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），即将等号右侧元组中的元素按顺序依次赋给等号左边的变量。例如：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t=1,2,3                         #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=t			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解包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59304AA-5246-4DF8-8C5E-32F9CE7D7EA9}"/>
              </a:ext>
            </a:extLst>
          </p:cNvPr>
          <p:cNvSpPr txBox="1">
            <a:spLocks/>
          </p:cNvSpPr>
          <p:nvPr/>
        </p:nvSpPr>
        <p:spPr>
          <a:xfrm>
            <a:off x="450850" y="139700"/>
            <a:ext cx="8275638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en-US" altLang="zh-CN" kern="0" dirty="0"/>
              <a:t>4.2.4 </a:t>
            </a:r>
            <a:r>
              <a:rPr lang="zh-CN" altLang="en-US" dirty="0"/>
              <a:t>元组解包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0165485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412776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tuple()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函数接收一个列表，转换成元组。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list()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函数接收一个元组转换成列表。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59304AA-5246-4DF8-8C5E-32F9CE7D7EA9}"/>
              </a:ext>
            </a:extLst>
          </p:cNvPr>
          <p:cNvSpPr txBox="1">
            <a:spLocks/>
          </p:cNvSpPr>
          <p:nvPr/>
        </p:nvSpPr>
        <p:spPr>
          <a:xfrm>
            <a:off x="539552" y="239871"/>
            <a:ext cx="8275638" cy="56867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en-US" altLang="zh-CN" dirty="0"/>
              <a:t>4.2.5  </a:t>
            </a:r>
            <a:r>
              <a:rPr lang="zh-CN" altLang="en-US" dirty="0"/>
              <a:t>元组与列表的相互转换</a:t>
            </a:r>
          </a:p>
        </p:txBody>
      </p:sp>
    </p:spTree>
    <p:extLst>
      <p:ext uri="{BB962C8B-B14F-4D97-AF65-F5344CB8AC3E}">
        <p14:creationId xmlns:p14="http://schemas.microsoft.com/office/powerpoint/2010/main" val="41589703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2F80F-C402-4348-B5E5-A1C68704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元组对比列表的优势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1E724F-9BD2-40AA-BD89-FAAC19444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元组比列表的调用速度快。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如果定义了一个常量集对象，并且需要在程序中不断地遍历它，则建议使用元组而不是列表。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使用元组相当于为不需要修改的数据进行了“写保护”，使得数据更安全。</a:t>
            </a:r>
          </a:p>
          <a:p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300447"/>
      </p:ext>
    </p:extLst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4.3  </a:t>
            </a:r>
            <a:r>
              <a:rPr lang="zh-CN" altLang="zh-CN" dirty="0">
                <a:effectLst/>
              </a:rPr>
              <a:t>字典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1850" y="1412776"/>
            <a:ext cx="8513638" cy="31683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字典包含了一个索引的集合，称为键（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key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）和值（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value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）的集合。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一个键对应一个值。这种一一对应的关联称为</a:t>
            </a:r>
            <a:r>
              <a:rPr lang="zh-CN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键值对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key-value pair) 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，或称为项（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item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）。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字典就是用花括号包裹的键值对的集合。每个</a:t>
            </a:r>
            <a:r>
              <a:rPr lang="zh-CN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键值对用冒号“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  <a:r>
              <a:rPr lang="zh-CN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”分隔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每对之间用逗号“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”分隔</a:t>
            </a:r>
            <a:endParaRPr lang="en-US" altLang="zh-CN" sz="28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7542685"/>
      </p:ext>
    </p:extLst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764704"/>
            <a:ext cx="777686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添加、删除或更新字典中的一个键值对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，例如：</a:t>
            </a: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adict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={'name': 'earth', 'port': 80}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添加项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adict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['age']=18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键‘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’不存在，添加新键值对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('age':18)</a:t>
            </a: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adict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{'name': 'earth', 'port': 80,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'age': 18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更新项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adict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['name']='moon'	#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更新键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'name'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adict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'name': 'moon',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'port': 80, 'age': 18}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删除项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adict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['port']		#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删除键键值对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('port': 80)</a:t>
            </a: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adict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{'name': 'moon', 'age': 18}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450850" y="139700"/>
            <a:ext cx="8275638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zh-CN" sz="3200" kern="0" dirty="0"/>
              <a:t>字典</a:t>
            </a:r>
            <a:r>
              <a:rPr lang="zh-CN" altLang="en-US" sz="3200" kern="0" dirty="0"/>
              <a:t>更新</a:t>
            </a:r>
          </a:p>
        </p:txBody>
      </p:sp>
    </p:spTree>
    <p:extLst>
      <p:ext uri="{BB962C8B-B14F-4D97-AF65-F5344CB8AC3E}">
        <p14:creationId xmlns:p14="http://schemas.microsoft.com/office/powerpoint/2010/main" val="23124811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981492"/>
            <a:ext cx="77768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[key]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形式返回键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不在字典中，则会引发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KeyError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={'name': 'earth', 'port': 80}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['port'])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['a']  )    #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不存在指定键时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Traceback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(most recent call last):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File "&lt;pyshell#4&gt;", line 1, in &lt;module&gt;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['a']</a:t>
            </a: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KeyError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'a'</a:t>
            </a:r>
          </a:p>
          <a:p>
            <a:endParaRPr lang="en-US" altLang="zh-CN" sz="2400" dirty="0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450850" y="139700"/>
            <a:ext cx="8275638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/>
              <a:t>访问字典中的值</a:t>
            </a:r>
          </a:p>
          <a:p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15029963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751344"/>
            <a:ext cx="77768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判别键是否存在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检查字典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中是否含有键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d = {'name'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'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'}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'name' in d 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4694920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764704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4.3.4  </a:t>
            </a:r>
            <a:r>
              <a:rPr lang="zh-CN" altLang="zh-CN" b="1" dirty="0"/>
              <a:t>字典的操作</a:t>
            </a:r>
          </a:p>
          <a:p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11560" y="1340768"/>
            <a:ext cx="8020936" cy="4536504"/>
            <a:chOff x="611560" y="1263741"/>
            <a:chExt cx="8020936" cy="3629239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124" y="1263741"/>
              <a:ext cx="7981372" cy="2453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3664238"/>
              <a:ext cx="8020936" cy="1228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732302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5576" y="908720"/>
            <a:ext cx="75608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= {key1 : value1, key2 : value2 }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创建字典是最简单的方法，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方法如下：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dict1 = {'jack': 4098, '</a:t>
            </a:r>
            <a:r>
              <a:rPr lang="en-US" altLang="zh-CN" sz="32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sape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': 4139}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创建空字典，然后逐步添加新项，最常用的方法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dict1 = { } 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创建空字典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dict1[key]=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增加字典项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键必须是唯一的，必须是不可变数据类型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，例如，字符串、数字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或元组。值可以是任何数据类型。</a:t>
            </a: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450850" y="139700"/>
            <a:ext cx="8275638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zh-CN" kern="0" dirty="0"/>
              <a:t>字典</a:t>
            </a:r>
            <a:r>
              <a:rPr lang="zh-CN" altLang="en-US" kern="0" dirty="0"/>
              <a:t>创建</a:t>
            </a:r>
          </a:p>
        </p:txBody>
      </p:sp>
    </p:spTree>
    <p:extLst>
      <p:ext uri="{BB962C8B-B14F-4D97-AF65-F5344CB8AC3E}">
        <p14:creationId xmlns:p14="http://schemas.microsoft.com/office/powerpoint/2010/main" val="30131280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751344"/>
            <a:ext cx="77768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判别键是否存在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检查字典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中是否含有键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d = {'name'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'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'}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'name' in d 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6954502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548680"/>
            <a:ext cx="78488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本页重要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0070C0"/>
                </a:solidFill>
              </a:rPr>
              <a:t>返回字典所有的键、值和项</a:t>
            </a: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dict.keys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  <a:r>
              <a:rPr lang="zh-CN" altLang="en-US" sz="2400" dirty="0">
                <a:solidFill>
                  <a:srgbClr val="FF0000"/>
                </a:solidFill>
              </a:rPr>
              <a:t>、</a:t>
            </a:r>
            <a:r>
              <a:rPr lang="en-US" altLang="zh-CN" sz="2400" dirty="0" err="1">
                <a:solidFill>
                  <a:srgbClr val="FF0000"/>
                </a:solidFill>
              </a:rPr>
              <a:t>dict.values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  <a:r>
              <a:rPr lang="zh-CN" altLang="en-US" sz="2400" dirty="0">
                <a:solidFill>
                  <a:srgbClr val="FF0000"/>
                </a:solidFill>
              </a:rPr>
              <a:t>、</a:t>
            </a:r>
            <a:r>
              <a:rPr lang="en-US" altLang="zh-CN" sz="2400" dirty="0" err="1">
                <a:solidFill>
                  <a:srgbClr val="FF0000"/>
                </a:solidFill>
              </a:rPr>
              <a:t>dict.items</a:t>
            </a:r>
            <a:r>
              <a:rPr lang="en-US" altLang="zh-CN" sz="2400" dirty="0">
                <a:solidFill>
                  <a:srgbClr val="FF0000"/>
                </a:solidFill>
              </a:rPr>
              <a:t>()  </a:t>
            </a:r>
            <a:r>
              <a:rPr lang="zh-CN" altLang="en-US" sz="2400" dirty="0">
                <a:solidFill>
                  <a:srgbClr val="FF0000"/>
                </a:solidFill>
              </a:rPr>
              <a:t>重点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分别返回字典</a:t>
            </a:r>
            <a:r>
              <a:rPr lang="en-US" altLang="zh-CN" sz="2400" dirty="0" err="1"/>
              <a:t>dict</a:t>
            </a:r>
            <a:r>
              <a:rPr lang="zh-CN" altLang="en-US" sz="2400" dirty="0"/>
              <a:t>中每项的键、值、项</a:t>
            </a:r>
            <a:r>
              <a:rPr lang="en-US" altLang="zh-CN" sz="2400" dirty="0"/>
              <a:t>(</a:t>
            </a:r>
            <a:r>
              <a:rPr lang="zh-CN" altLang="en-US" sz="2400" dirty="0"/>
              <a:t>键</a:t>
            </a:r>
            <a:r>
              <a:rPr lang="en-US" altLang="zh-CN" sz="2400" dirty="0"/>
              <a:t>,</a:t>
            </a:r>
            <a:r>
              <a:rPr lang="zh-CN" altLang="en-US" sz="2400" dirty="0"/>
              <a:t>值</a:t>
            </a:r>
            <a:r>
              <a:rPr lang="en-US" altLang="zh-CN" sz="2400" dirty="0"/>
              <a:t>)</a:t>
            </a:r>
            <a:r>
              <a:rPr lang="zh-CN" altLang="en-US" sz="2400" dirty="0"/>
              <a:t>的列表，例如：</a:t>
            </a:r>
          </a:p>
          <a:p>
            <a:r>
              <a:rPr lang="en-US" altLang="zh-CN" sz="2400" dirty="0"/>
              <a:t>d={'name':'alice','age':19,'sex':'F'}</a:t>
            </a: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d.keys</a:t>
            </a:r>
            <a:r>
              <a:rPr lang="en-US" altLang="zh-CN" sz="2400" dirty="0"/>
              <a:t>())</a:t>
            </a: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d.items</a:t>
            </a:r>
            <a:r>
              <a:rPr lang="en-US" altLang="zh-CN" sz="2400" dirty="0"/>
              <a:t>())</a:t>
            </a: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d.values</a:t>
            </a:r>
            <a:r>
              <a:rPr lang="en-US" altLang="zh-CN" sz="2400" dirty="0"/>
              <a:t>())</a:t>
            </a:r>
          </a:p>
          <a:p>
            <a:r>
              <a:rPr lang="zh-CN" altLang="en-US" sz="2400" dirty="0"/>
              <a:t>运行结果如下：（</a:t>
            </a:r>
            <a:r>
              <a:rPr lang="en-US" altLang="zh-CN" sz="2400" dirty="0"/>
              <a:t>3</a:t>
            </a:r>
            <a:r>
              <a:rPr lang="zh-CN" altLang="en-US" sz="2400" dirty="0"/>
              <a:t>个</a:t>
            </a:r>
            <a:r>
              <a:rPr lang="en-US" altLang="zh-CN" sz="2400" dirty="0"/>
              <a:t>print</a:t>
            </a:r>
            <a:r>
              <a:rPr lang="zh-CN" altLang="en-US" sz="2400" dirty="0"/>
              <a:t>语句）</a:t>
            </a:r>
            <a:endParaRPr lang="en-US" altLang="zh-CN" sz="24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2F592CA-39AE-FF80-AB17-6043D39AFB14}"/>
              </a:ext>
            </a:extLst>
          </p:cNvPr>
          <p:cNvSpPr txBox="1"/>
          <p:nvPr/>
        </p:nvSpPr>
        <p:spPr>
          <a:xfrm>
            <a:off x="323528" y="5013176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dict_keys</a:t>
            </a:r>
            <a:r>
              <a:rPr lang="en-US" altLang="zh-CN" sz="2400" dirty="0"/>
              <a:t>(['name', 'age', 'sex'])</a:t>
            </a:r>
          </a:p>
          <a:p>
            <a:r>
              <a:rPr lang="en-US" altLang="zh-CN" sz="2400" dirty="0" err="1"/>
              <a:t>dict_items</a:t>
            </a:r>
            <a:r>
              <a:rPr lang="en-US" altLang="zh-CN" sz="2400" dirty="0"/>
              <a:t>([('name', '</a:t>
            </a:r>
            <a:r>
              <a:rPr lang="en-US" altLang="zh-CN" sz="2400" dirty="0" err="1"/>
              <a:t>alice</a:t>
            </a:r>
            <a:r>
              <a:rPr lang="en-US" altLang="zh-CN" sz="2400" dirty="0"/>
              <a:t>'), ('age', 19), ('sex', 'F')])</a:t>
            </a:r>
          </a:p>
          <a:p>
            <a:r>
              <a:rPr lang="en-US" altLang="zh-CN" sz="2400" dirty="0" err="1"/>
              <a:t>dict_values</a:t>
            </a:r>
            <a:r>
              <a:rPr lang="en-US" altLang="zh-CN" sz="2400" dirty="0"/>
              <a:t>(['</a:t>
            </a:r>
            <a:r>
              <a:rPr lang="en-US" altLang="zh-CN" sz="2400" dirty="0" err="1"/>
              <a:t>alice</a:t>
            </a:r>
            <a:r>
              <a:rPr lang="en-US" altLang="zh-CN" sz="2400" dirty="0"/>
              <a:t>', 19, 'F'])</a:t>
            </a:r>
          </a:p>
        </p:txBody>
      </p:sp>
    </p:spTree>
    <p:extLst>
      <p:ext uri="{BB962C8B-B14F-4D97-AF65-F5344CB8AC3E}">
        <p14:creationId xmlns:p14="http://schemas.microsoft.com/office/powerpoint/2010/main" val="14183147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4233" y="908720"/>
            <a:ext cx="78488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d={'name':'alice','age':19,'sex':'F'}</a:t>
            </a: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0070C0"/>
                </a:solidFill>
              </a:rPr>
              <a:t>方式 </a:t>
            </a:r>
            <a:r>
              <a:rPr lang="en-US" altLang="zh-CN" sz="2400" b="1" dirty="0">
                <a:solidFill>
                  <a:srgbClr val="0070C0"/>
                </a:solidFill>
              </a:rPr>
              <a:t>1 </a:t>
            </a:r>
            <a:r>
              <a:rPr lang="zh-CN" altLang="en-US" sz="2400" b="1" dirty="0">
                <a:solidFill>
                  <a:srgbClr val="0070C0"/>
                </a:solidFill>
              </a:rPr>
              <a:t>：遍历键，</a:t>
            </a:r>
            <a:r>
              <a:rPr lang="en-US" altLang="zh-CN" sz="2400" b="1" dirty="0">
                <a:solidFill>
                  <a:srgbClr val="0070C0"/>
                </a:solidFill>
              </a:rPr>
              <a:t>for key in </a:t>
            </a:r>
            <a:r>
              <a:rPr lang="en-US" altLang="zh-CN" sz="2400" b="1" dirty="0" err="1">
                <a:solidFill>
                  <a:srgbClr val="0070C0"/>
                </a:solidFill>
              </a:rPr>
              <a:t>d.keys</a:t>
            </a:r>
            <a:r>
              <a:rPr lang="en-US" altLang="zh-CN" sz="2400" b="1" dirty="0">
                <a:solidFill>
                  <a:srgbClr val="0070C0"/>
                </a:solidFill>
              </a:rPr>
              <a:t>():    </a:t>
            </a:r>
          </a:p>
          <a:p>
            <a:r>
              <a:rPr lang="zh-CN" altLang="en-US" sz="2400" b="1" dirty="0">
                <a:solidFill>
                  <a:srgbClr val="0070C0"/>
                </a:solidFill>
              </a:rPr>
              <a:t>方式 </a:t>
            </a:r>
            <a:r>
              <a:rPr lang="en-US" altLang="zh-CN" sz="2400" b="1" dirty="0">
                <a:solidFill>
                  <a:srgbClr val="0070C0"/>
                </a:solidFill>
              </a:rPr>
              <a:t>2 </a:t>
            </a:r>
            <a:r>
              <a:rPr lang="zh-CN" altLang="en-US" sz="2400" b="1" dirty="0">
                <a:solidFill>
                  <a:srgbClr val="0070C0"/>
                </a:solidFill>
              </a:rPr>
              <a:t>： </a:t>
            </a:r>
            <a:r>
              <a:rPr lang="en-US" altLang="zh-CN" sz="2400" b="1" dirty="0">
                <a:solidFill>
                  <a:srgbClr val="0070C0"/>
                </a:solidFill>
              </a:rPr>
              <a:t>for  key in d:   # </a:t>
            </a:r>
            <a:r>
              <a:rPr lang="zh-CN" altLang="en-US" sz="2400" b="1" dirty="0">
                <a:solidFill>
                  <a:srgbClr val="0070C0"/>
                </a:solidFill>
              </a:rPr>
              <a:t>也是遍历键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r>
              <a:rPr lang="en-US" altLang="zh-CN" sz="2400" b="1" dirty="0"/>
              <a:t>     print ('key=%s, value=%s.' % (</a:t>
            </a:r>
            <a:r>
              <a:rPr lang="en-US" altLang="zh-CN" sz="2400" b="1" dirty="0" err="1"/>
              <a:t>key,d</a:t>
            </a:r>
            <a:r>
              <a:rPr lang="en-US" altLang="zh-CN" sz="2400" b="1" dirty="0"/>
              <a:t>[key]))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结果：</a:t>
            </a:r>
            <a:r>
              <a:rPr lang="en-US" altLang="zh-CN" sz="2400" dirty="0">
                <a:solidFill>
                  <a:srgbClr val="FF0000"/>
                </a:solidFill>
              </a:rPr>
              <a:t>	</a:t>
            </a:r>
          </a:p>
          <a:p>
            <a:r>
              <a:rPr lang="en-US" altLang="zh-CN" sz="2400" dirty="0"/>
              <a:t>key=name, value=</a:t>
            </a:r>
            <a:r>
              <a:rPr lang="en-US" altLang="zh-CN" sz="2400" dirty="0" err="1"/>
              <a:t>alice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key=age, value=19.</a:t>
            </a:r>
          </a:p>
          <a:p>
            <a:r>
              <a:rPr lang="en-US" altLang="zh-CN" sz="2400" dirty="0"/>
              <a:t>key=sex, value=F.</a:t>
            </a:r>
          </a:p>
        </p:txBody>
      </p:sp>
      <p:sp>
        <p:nvSpPr>
          <p:cNvPr id="3" name="矩形 2"/>
          <p:cNvSpPr/>
          <p:nvPr/>
        </p:nvSpPr>
        <p:spPr>
          <a:xfrm>
            <a:off x="647564" y="4581128"/>
            <a:ext cx="78488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方式</a:t>
            </a:r>
            <a:r>
              <a:rPr lang="en-US" altLang="zh-CN" sz="2400" b="1" dirty="0">
                <a:solidFill>
                  <a:srgbClr val="0070C0"/>
                </a:solidFill>
              </a:rPr>
              <a:t>3  </a:t>
            </a:r>
            <a:r>
              <a:rPr lang="zh-CN" altLang="en-US" sz="2400" b="1" dirty="0">
                <a:solidFill>
                  <a:srgbClr val="0070C0"/>
                </a:solidFill>
              </a:rPr>
              <a:t>遍历字典的项，项有两个内容，键盘、值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r>
              <a:rPr lang="zh-CN" altLang="en-US" sz="2400" dirty="0"/>
              <a:t>for k,v in d.items():</a:t>
            </a:r>
          </a:p>
          <a:p>
            <a:r>
              <a:rPr lang="zh-CN" altLang="en-US" sz="2400" dirty="0"/>
              <a:t>    print(k,v)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0850" y="139700"/>
            <a:ext cx="8275638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字典遍历</a:t>
            </a:r>
            <a:r>
              <a:rPr lang="en-US" altLang="zh-CN" dirty="0">
                <a:solidFill>
                  <a:srgbClr val="FF0000"/>
                </a:solidFill>
              </a:rPr>
              <a:t>—</a:t>
            </a:r>
            <a:r>
              <a:rPr lang="zh-CN" altLang="en-US" dirty="0">
                <a:solidFill>
                  <a:srgbClr val="FF0000"/>
                </a:solidFill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552332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908720"/>
            <a:ext cx="78488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获得值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dict.get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key,default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=None)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访问一个不存在的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，会得到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但方法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会报错，例如：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= {}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 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d.get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(‘name’))    #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None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d['name']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d.get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name",'N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/A')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'N/A'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d[''name''] = 'Eric'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d.get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('name')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'Eric'</a:t>
            </a: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450850" y="139700"/>
            <a:ext cx="8275638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/>
              <a:t>以键查值</a:t>
            </a:r>
          </a:p>
        </p:txBody>
      </p:sp>
    </p:spTree>
    <p:extLst>
      <p:ext uri="{BB962C8B-B14F-4D97-AF65-F5344CB8AC3E}">
        <p14:creationId xmlns:p14="http://schemas.microsoft.com/office/powerpoint/2010/main" val="1510001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506294"/>
            <a:ext cx="820891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简单计算器：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输入两个数字，并输入加减乘除运算符号，输出运算结果。若输入其他符号，则退出程序。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 True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输入两个数和运算符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if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运算符不合要求：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break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根据运算符计算结果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显示结果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运算符用元组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=('+','-','*','/')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运算符检查输入的运算符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是否合乎要求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t not in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break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用字典记录计算结果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={'+':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,'-':a-b,'*':a*b,'/':a/b}</a:t>
            </a:r>
          </a:p>
          <a:p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766798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D876A0-C430-4B0B-887A-375A6249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0648"/>
            <a:ext cx="8293100" cy="59766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tup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=('+','-','*','/')    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while True: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a=float(input('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请输入第一个数字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'))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b=float(input('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请输入第二个数字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'))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t=input('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请输入运算符号，其他符号为退出程序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if not  t in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tup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    break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dic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={'+':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a+b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,'-':a-b,'*':a*b,'/':a/b}     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print('%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s%s%s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=%0.1f' %(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a,t,b,dic.get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(t)))</a:t>
            </a:r>
          </a:p>
          <a:p>
            <a:pPr marL="0" indent="0">
              <a:buNone/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运行结果：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 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请输入第一个数字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2.3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请输入第二个数字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3.4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请输入运算符号，其他符号为退出程序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2.3/3.4=0.7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6674550"/>
      </p:ext>
    </p:extLst>
  </p:cSld>
  <p:clrMapOvr>
    <a:masterClrMapping/>
  </p:clrMapOvr>
  <p:transition>
    <p:zo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D876A0-C430-4B0B-887A-375A6249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0648"/>
            <a:ext cx="8293100" cy="59766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# </a:t>
            </a:r>
            <a:r>
              <a:rPr lang="zh-CN" altLang="en-US" sz="2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利用</a:t>
            </a:r>
            <a:r>
              <a:rPr lang="en-US" altLang="zh-CN" sz="2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eval  </a:t>
            </a:r>
            <a:r>
              <a:rPr lang="zh-CN" altLang="en-US" sz="2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程序更好</a:t>
            </a:r>
            <a:endParaRPr lang="en-US" altLang="zh-CN" sz="2000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tup=('+','-','*','/')   </a:t>
            </a:r>
          </a:p>
          <a:p>
            <a:pPr marL="0" indent="0">
              <a:buNone/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dic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={'+':'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a+b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','-':'a-b','*':'a*b','/':'a/b'}     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while True: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a=float(input('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请输入第一个数字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'))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b=float(input('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请输入第二个数字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'))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t=input('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请输入运算符号，其他符号为退出程序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')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if not  t in tup: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    break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</a:p>
          <a:p>
            <a:pPr marL="0" indent="0"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print(‘%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s%s%s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=%0.1f’ %(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a,t,b,</a:t>
            </a:r>
            <a:r>
              <a:rPr lang="en-US" altLang="zh-CN" sz="2000" dirty="0" err="1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eval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dic.get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(t))))  # 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用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eval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原因是，字典建立的值，是字符串表达式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2414086"/>
      </p:ext>
    </p:extLst>
  </p:cSld>
  <p:clrMapOvr>
    <a:masterClrMapping/>
  </p:clrMapOvr>
  <p:transition>
    <p:zo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建立字典例子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388" y="1022058"/>
            <a:ext cx="8293100" cy="5143246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输入一字符串，统计各字母（大小写字母相同）的数量，构造由以字母为键数量为值的元素构成的一个字典，最后输出字典。</a:t>
            </a:r>
            <a:br>
              <a:rPr lang="en-US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例如，输入</a:t>
            </a:r>
            <a:r>
              <a:rPr lang="en-US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A45BB3E</a:t>
            </a:r>
            <a:r>
              <a:rPr lang="zh-CN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，则字典为：</a:t>
            </a:r>
            <a:r>
              <a:rPr lang="en-US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{“A”:1,“B”:2,“E”:1}</a:t>
            </a:r>
            <a:br>
              <a:rPr lang="en-US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0" kern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思路：</a:t>
            </a:r>
            <a:endParaRPr lang="en-US" altLang="zh-CN" b="0" kern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zh-CN" altLang="en-US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对输入的语句，转大写，遍历字符串每个字符</a:t>
            </a:r>
            <a:endParaRPr lang="en-US" altLang="zh-CN" b="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每遍历一个字符，判断是否是字母，若是，则统计其出现的次数</a:t>
            </a:r>
            <a:r>
              <a:rPr lang="en-US" altLang="zh-CN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6296571"/>
      </p:ext>
    </p:extLst>
  </p:cSld>
  <p:clrMapOvr>
    <a:masterClrMapping/>
  </p:clrMapOvr>
  <p:transition>
    <p:zo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438FF-354C-EC4C-BB94-4C80CF0F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79" y="268807"/>
            <a:ext cx="8275638" cy="868363"/>
          </a:xfrm>
        </p:spPr>
        <p:txBody>
          <a:bodyPr/>
          <a:lstStyle/>
          <a:p>
            <a:r>
              <a:rPr lang="zh-CN" altLang="en-US" dirty="0"/>
              <a:t>建立字典例子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97B88-D260-F179-A7AF-C02435E28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412776"/>
            <a:ext cx="8293100" cy="3468853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s=input('</a:t>
            </a:r>
            <a:r>
              <a:rPr lang="zh-CN" altLang="en-US" b="0" kern="1200" dirty="0">
                <a:solidFill>
                  <a:schemeClr val="dk1"/>
                </a:solidFill>
                <a:latin typeface="+mn-lt"/>
                <a:ea typeface="+mn-ea"/>
              </a:rPr>
              <a:t>请输入一个字符串：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')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s=</a:t>
            </a: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s.upper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()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dic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={}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for </a:t>
            </a: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ch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 in s: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    if </a:t>
            </a: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ch.isalpha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():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        num=</a:t>
            </a: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s.count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(</a:t>
            </a: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ch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        </a:t>
            </a: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dic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[</a:t>
            </a:r>
            <a:r>
              <a:rPr lang="en-US" altLang="zh-CN" b="0" kern="1200" dirty="0" err="1">
                <a:solidFill>
                  <a:schemeClr val="dk1"/>
                </a:solidFill>
                <a:latin typeface="+mn-lt"/>
                <a:ea typeface="+mn-ea"/>
              </a:rPr>
              <a:t>ch</a:t>
            </a:r>
            <a:r>
              <a:rPr lang="en-US" altLang="zh-CN" b="0" kern="1200" dirty="0">
                <a:solidFill>
                  <a:schemeClr val="dk1"/>
                </a:solidFill>
                <a:latin typeface="+mn-lt"/>
                <a:ea typeface="+mn-ea"/>
              </a:rPr>
              <a:t>]=num</a:t>
            </a:r>
            <a:endParaRPr lang="zh-CN" altLang="en-US" b="0" kern="12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242283-C5C6-953E-2375-2FAF2A38DB0D}"/>
              </a:ext>
            </a:extLst>
          </p:cNvPr>
          <p:cNvSpPr txBox="1"/>
          <p:nvPr/>
        </p:nvSpPr>
        <p:spPr>
          <a:xfrm>
            <a:off x="464083" y="4725144"/>
            <a:ext cx="7780325" cy="870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hlink"/>
              </a:buClr>
            </a:pPr>
            <a:r>
              <a:rPr lang="zh-CN" altLang="en-US" sz="2400" dirty="0">
                <a:solidFill>
                  <a:schemeClr val="dk1"/>
                </a:solidFill>
                <a:latin typeface="+mn-lt"/>
                <a:ea typeface="+mn-ea"/>
              </a:rPr>
              <a:t>输入：</a:t>
            </a:r>
            <a:r>
              <a:rPr lang="en-US" altLang="zh-CN" sz="2400" dirty="0">
                <a:solidFill>
                  <a:schemeClr val="dk1"/>
                </a:solidFill>
                <a:latin typeface="+mn-lt"/>
                <a:ea typeface="+mn-ea"/>
              </a:rPr>
              <a:t>a12AAbNYBBxyz123XXX</a:t>
            </a:r>
          </a:p>
          <a:p>
            <a:pPr eaLnBrk="0" hangingPunct="0">
              <a:lnSpc>
                <a:spcPct val="110000"/>
              </a:lnSpc>
              <a:buClr>
                <a:schemeClr val="hlink"/>
              </a:buClr>
            </a:pPr>
            <a:r>
              <a:rPr lang="zh-CN" altLang="en-US" sz="2400" dirty="0">
                <a:solidFill>
                  <a:schemeClr val="dk1"/>
                </a:solidFill>
                <a:latin typeface="+mn-lt"/>
                <a:ea typeface="+mn-ea"/>
              </a:rPr>
              <a:t>结果：</a:t>
            </a:r>
            <a:r>
              <a:rPr lang="en-US" altLang="zh-CN" sz="2400" dirty="0">
                <a:solidFill>
                  <a:schemeClr val="dk1"/>
                </a:solidFill>
                <a:latin typeface="+mn-lt"/>
                <a:ea typeface="+mn-ea"/>
              </a:rPr>
              <a:t>{'A': 3, 'B': 3, 'N': 1, 'Y': 2, 'X': 4, 'Z': 1}</a:t>
            </a:r>
            <a:endParaRPr lang="zh-CN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C993B5-1F19-5770-29E2-96EC78356990}"/>
              </a:ext>
            </a:extLst>
          </p:cNvPr>
          <p:cNvSpPr txBox="1"/>
          <p:nvPr/>
        </p:nvSpPr>
        <p:spPr>
          <a:xfrm>
            <a:off x="5868143" y="1772816"/>
            <a:ext cx="2811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这个程序哪里不好？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6048935"/>
      </p:ext>
    </p:extLst>
  </p:cSld>
  <p:clrMapOvr>
    <a:masterClrMapping/>
  </p:clrMapOvr>
  <p:transition>
    <p:zo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1412776"/>
            <a:ext cx="7416824" cy="31393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/>
              <a:t>def</a:t>
            </a:r>
            <a:r>
              <a:rPr lang="en-US" altLang="zh-CN" dirty="0"/>
              <a:t>  </a:t>
            </a:r>
            <a:r>
              <a:rPr lang="en-US" altLang="zh-CN" dirty="0" err="1"/>
              <a:t>charfreq</a:t>
            </a:r>
            <a:r>
              <a:rPr lang="en-US" altLang="zh-CN" dirty="0"/>
              <a:t>(s):</a:t>
            </a:r>
          </a:p>
          <a:p>
            <a:r>
              <a:rPr lang="en-US" altLang="zh-CN" dirty="0"/>
              <a:t>    chars=list(set(s))   #</a:t>
            </a:r>
            <a:r>
              <a:rPr lang="zh-CN" altLang="en-US" dirty="0"/>
              <a:t>去除重复字符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chars.sort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freq</a:t>
            </a:r>
            <a:r>
              <a:rPr lang="en-US" altLang="zh-CN" dirty="0"/>
              <a:t>={}</a:t>
            </a:r>
          </a:p>
          <a:p>
            <a:r>
              <a:rPr lang="en-US" altLang="zh-CN" dirty="0"/>
              <a:t>    for </a:t>
            </a:r>
            <a:r>
              <a:rPr lang="en-US" altLang="zh-CN" dirty="0" err="1"/>
              <a:t>ch</a:t>
            </a:r>
            <a:r>
              <a:rPr lang="en-US" altLang="zh-CN" dirty="0"/>
              <a:t> in chars:</a:t>
            </a:r>
          </a:p>
          <a:p>
            <a:r>
              <a:rPr lang="en-US" altLang="zh-CN" dirty="0"/>
              <a:t>        times=</a:t>
            </a:r>
            <a:r>
              <a:rPr lang="en-US" altLang="zh-CN" dirty="0" err="1"/>
              <a:t>s.count</a:t>
            </a:r>
            <a:r>
              <a:rPr lang="en-US" altLang="zh-CN" dirty="0"/>
              <a:t>(</a:t>
            </a:r>
            <a:r>
              <a:rPr lang="en-US" altLang="zh-CN" dirty="0" err="1"/>
              <a:t>ch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freq</a:t>
            </a:r>
            <a:r>
              <a:rPr lang="en-US" altLang="zh-CN" dirty="0"/>
              <a:t>[</a:t>
            </a:r>
            <a:r>
              <a:rPr lang="en-US" altLang="zh-CN" dirty="0" err="1"/>
              <a:t>ch</a:t>
            </a:r>
            <a:r>
              <a:rPr lang="en-US" altLang="zh-CN" dirty="0"/>
              <a:t>]=times</a:t>
            </a:r>
          </a:p>
          <a:p>
            <a:r>
              <a:rPr lang="en-US" altLang="zh-CN" dirty="0"/>
              <a:t>    return </a:t>
            </a:r>
            <a:r>
              <a:rPr lang="en-US" altLang="zh-CN" dirty="0" err="1"/>
              <a:t>freq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st</a:t>
            </a:r>
            <a:r>
              <a:rPr lang="en-US" altLang="zh-CN" dirty="0"/>
              <a:t>=input("</a:t>
            </a:r>
            <a:r>
              <a:rPr lang="zh-CN" altLang="en-US" dirty="0"/>
              <a:t>请输入字符串：</a:t>
            </a:r>
            <a:r>
              <a:rPr lang="en-US" altLang="zh-CN" dirty="0"/>
              <a:t>")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charfreq</a:t>
            </a:r>
            <a:r>
              <a:rPr lang="en-US" altLang="zh-CN" dirty="0"/>
              <a:t>(</a:t>
            </a:r>
            <a:r>
              <a:rPr lang="en-US" altLang="zh-CN" dirty="0" err="1"/>
              <a:t>st</a:t>
            </a:r>
            <a:r>
              <a:rPr lang="en-US" altLang="zh-CN" dirty="0"/>
              <a:t>))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18AD550-72D0-783D-9F97-AA20630C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79" y="268807"/>
            <a:ext cx="8275638" cy="868363"/>
          </a:xfrm>
        </p:spPr>
        <p:txBody>
          <a:bodyPr/>
          <a:lstStyle/>
          <a:p>
            <a:r>
              <a:rPr lang="zh-CN" altLang="en-US" dirty="0"/>
              <a:t>改进：</a:t>
            </a:r>
          </a:p>
        </p:txBody>
      </p:sp>
    </p:spTree>
    <p:extLst>
      <p:ext uri="{BB962C8B-B14F-4D97-AF65-F5344CB8AC3E}">
        <p14:creationId xmlns:p14="http://schemas.microsoft.com/office/powerpoint/2010/main" val="3407411576"/>
      </p:ext>
    </p:extLst>
  </p:cSld>
  <p:clrMapOvr>
    <a:masterClrMapping/>
  </p:clrMapOvr>
  <p:transition>
    <p:zo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8189" y="1340768"/>
            <a:ext cx="8042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无序数据序列，无大小之分，元素不重复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函数，可以将元组、列表等转换为集合，可去重。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定义集合，要用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函数，若无参，则定义空集合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A=set()</a:t>
            </a: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450850" y="139700"/>
            <a:ext cx="8275638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dirty="0"/>
              <a:t>集合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692642" y="3356992"/>
            <a:ext cx="804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因为集合元素不重复，所以可用来去重复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727746" y="4221088"/>
            <a:ext cx="8042920" cy="156966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L=[1,1,2,3,4,1,5,2,2,4,5,4,4,4]</a:t>
            </a:r>
          </a:p>
          <a:p>
            <a:r>
              <a:rPr lang="en-US" altLang="zh-CN" sz="2400" dirty="0"/>
              <a:t>Key=set(L)</a:t>
            </a:r>
          </a:p>
          <a:p>
            <a:r>
              <a:rPr lang="en-US" altLang="zh-CN" sz="2400" dirty="0"/>
              <a:t>Key=list(Key)</a:t>
            </a:r>
          </a:p>
          <a:p>
            <a:r>
              <a:rPr lang="en-US" altLang="zh-CN" sz="2400" dirty="0"/>
              <a:t>print(Key)</a:t>
            </a:r>
          </a:p>
        </p:txBody>
      </p:sp>
    </p:spTree>
    <p:extLst>
      <p:ext uri="{BB962C8B-B14F-4D97-AF65-F5344CB8AC3E}">
        <p14:creationId xmlns:p14="http://schemas.microsoft.com/office/powerpoint/2010/main" val="27760509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5.2.3 </a:t>
            </a:r>
            <a:r>
              <a:rPr lang="zh-CN" altLang="en-US" sz="2400" dirty="0"/>
              <a:t>集合运算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993389"/>
              </p:ext>
            </p:extLst>
          </p:nvPr>
        </p:nvGraphicFramePr>
        <p:xfrm>
          <a:off x="827584" y="2780928"/>
          <a:ext cx="7200800" cy="2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686">
                  <a:extLst>
                    <a:ext uri="{9D8B030D-6E8A-4147-A177-3AD203B41FA5}">
                      <a16:colId xmlns:a16="http://schemas.microsoft.com/office/drawing/2014/main" val="666894175"/>
                    </a:ext>
                  </a:extLst>
                </a:gridCol>
                <a:gridCol w="3560835">
                  <a:extLst>
                    <a:ext uri="{9D8B030D-6E8A-4147-A177-3AD203B41FA5}">
                      <a16:colId xmlns:a16="http://schemas.microsoft.com/office/drawing/2014/main" val="4115336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457360260"/>
                    </a:ext>
                  </a:extLst>
                </a:gridCol>
                <a:gridCol w="1503464">
                  <a:extLst>
                    <a:ext uri="{9D8B030D-6E8A-4147-A177-3AD203B41FA5}">
                      <a16:colId xmlns:a16="http://schemas.microsoft.com/office/drawing/2014/main" val="3454495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运算符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941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s1-s2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{1,3,7}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5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&amp;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交集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s1&amp;s2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{8}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05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|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并集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s1|s2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{1,2,3,7,8,10}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36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^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对称差集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sz="1600" dirty="0"/>
                        <a:t>(</a:t>
                      </a:r>
                      <a:r>
                        <a:rPr lang="zh-CN" altLang="en-US" sz="1600" dirty="0"/>
                        <a:t>两个集合中不重复的元素集合</a:t>
                      </a: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s1^s2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{1,2,3,7,10}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14693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295480" y="1035899"/>
            <a:ext cx="3312368" cy="11975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设有如下集合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s1=set((1,3,7,8))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s2=set([2,8,10])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7148372"/>
      </p:ext>
    </p:extLst>
  </p:cSld>
  <p:clrMapOvr>
    <a:masterClrMapping/>
  </p:clrMapOvr>
  <p:transition>
    <p:zo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集合对象的方法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39552" y="1700808"/>
          <a:ext cx="7776864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614">
                  <a:extLst>
                    <a:ext uri="{9D8B030D-6E8A-4147-A177-3AD203B41FA5}">
                      <a16:colId xmlns:a16="http://schemas.microsoft.com/office/drawing/2014/main" val="1253703568"/>
                    </a:ext>
                  </a:extLst>
                </a:gridCol>
                <a:gridCol w="4837250">
                  <a:extLst>
                    <a:ext uri="{9D8B030D-6E8A-4147-A177-3AD203B41FA5}">
                      <a16:colId xmlns:a16="http://schemas.microsoft.com/office/drawing/2014/main" val="4052437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方 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   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36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s.add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增加新元素</a:t>
                      </a:r>
                      <a:r>
                        <a:rPr lang="en-US" altLang="zh-CN" sz="1600" dirty="0"/>
                        <a:t>x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41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s.update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将序列</a:t>
                      </a:r>
                      <a:r>
                        <a:rPr lang="en-US" altLang="zh-CN" sz="1600" dirty="0"/>
                        <a:t>x</a:t>
                      </a:r>
                      <a:r>
                        <a:rPr lang="zh-CN" altLang="en-US" sz="1600" dirty="0"/>
                        <a:t>中的每一项加入集合</a:t>
                      </a:r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1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s.remove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s.discard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从集合</a:t>
                      </a:r>
                      <a:r>
                        <a:rPr lang="en-US" altLang="zh-CN" sz="1600" dirty="0"/>
                        <a:t>s</a:t>
                      </a:r>
                      <a:r>
                        <a:rPr lang="zh-CN" altLang="en-US" sz="1600" dirty="0"/>
                        <a:t>中移除元素</a:t>
                      </a:r>
                      <a:r>
                        <a:rPr lang="en-US" altLang="zh-CN" sz="1600" dirty="0"/>
                        <a:t>x</a:t>
                      </a:r>
                      <a:r>
                        <a:rPr lang="zh-CN" altLang="en-US" sz="1600" dirty="0"/>
                        <a:t>，若</a:t>
                      </a:r>
                      <a:r>
                        <a:rPr lang="en-US" altLang="zh-CN" sz="1600" dirty="0"/>
                        <a:t>x</a:t>
                      </a:r>
                      <a:r>
                        <a:rPr lang="zh-CN" altLang="en-US" sz="1600" dirty="0"/>
                        <a:t>不存在，报错</a:t>
                      </a:r>
                      <a:endParaRPr lang="en-US" altLang="zh-C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从集合</a:t>
                      </a:r>
                      <a:r>
                        <a:rPr lang="en-US" altLang="zh-CN" sz="1600" dirty="0"/>
                        <a:t>s</a:t>
                      </a:r>
                      <a:r>
                        <a:rPr lang="zh-CN" altLang="en-US" sz="1600" dirty="0"/>
                        <a:t>中移除元素</a:t>
                      </a:r>
                      <a:r>
                        <a:rPr lang="en-US" altLang="zh-CN" sz="1600" dirty="0"/>
                        <a:t>x</a:t>
                      </a:r>
                      <a:r>
                        <a:rPr lang="zh-CN" altLang="en-US" sz="1600" dirty="0"/>
                        <a:t>，若</a:t>
                      </a:r>
                      <a:r>
                        <a:rPr lang="en-US" altLang="zh-CN" sz="1600" dirty="0"/>
                        <a:t>x</a:t>
                      </a:r>
                      <a:r>
                        <a:rPr lang="zh-CN" altLang="en-US" sz="1600" dirty="0"/>
                        <a:t>不存在，不报错</a:t>
                      </a:r>
                      <a:endParaRPr lang="en-US" altLang="zh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576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s.clear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清除集合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72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s.difference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差集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32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s.intersection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交集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91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s.issubset</a:t>
                      </a:r>
                      <a:r>
                        <a:rPr lang="en-US" altLang="zh-CN" sz="1600" dirty="0"/>
                        <a:t>(s1)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s1</a:t>
                      </a:r>
                      <a:r>
                        <a:rPr lang="zh-CN" altLang="en-US" sz="1600" dirty="0"/>
                        <a:t>是否是</a:t>
                      </a:r>
                      <a:r>
                        <a:rPr lang="en-US" altLang="zh-CN" sz="1600" dirty="0"/>
                        <a:t>s</a:t>
                      </a:r>
                      <a:r>
                        <a:rPr lang="zh-CN" altLang="en-US" sz="1600" dirty="0"/>
                        <a:t>的子集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0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s.union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并集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25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s.symmetric_difference</a:t>
                      </a:r>
                      <a:r>
                        <a:rPr lang="en-US" altLang="zh-CN" sz="1600" dirty="0"/>
                        <a:t>(x)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对称差集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795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210075"/>
      </p:ext>
    </p:extLst>
  </p:cSld>
  <p:clrMapOvr>
    <a:masterClrMapping/>
  </p:clrMapOvr>
  <p:transition>
    <p:zo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850" y="1196752"/>
            <a:ext cx="4193158" cy="416148"/>
          </a:xfrm>
        </p:spPr>
        <p:txBody>
          <a:bodyPr/>
          <a:lstStyle/>
          <a:p>
            <a:r>
              <a:rPr lang="en-US" altLang="zh-CN" sz="2400" dirty="0"/>
              <a:t>5. </a:t>
            </a:r>
            <a:r>
              <a:rPr lang="zh-CN" altLang="en-US" sz="2400" dirty="0"/>
              <a:t>数据协同过滤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850" y="1772816"/>
            <a:ext cx="8293100" cy="230425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1800" dirty="0">
                <a:solidFill>
                  <a:srgbClr val="C00000"/>
                </a:solidFill>
              </a:rPr>
              <a:t>需求分析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商户将积累的客户营销数据与目标客户进行比对分析，找到与目标客户最相似的客户，将相似客户的喜好产品推介给目标客户。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100" dirty="0"/>
          </a:p>
          <a:p>
            <a:pPr marL="0" indent="0">
              <a:buNone/>
            </a:pPr>
            <a:r>
              <a:rPr lang="zh-CN" altLang="en-US" sz="1600" dirty="0">
                <a:solidFill>
                  <a:srgbClr val="0070C0"/>
                </a:solidFill>
              </a:rPr>
              <a:t>例如 </a:t>
            </a:r>
            <a:r>
              <a:rPr lang="zh-CN" altLang="en-US" sz="1600" dirty="0"/>
              <a:t>某超市积累了一组近两年客户对奶制品的销售数据，包括品牌及其选购次数，现有一新客户，请用数据协同过滤的原理，向新客户推介奶制品。</a:t>
            </a:r>
          </a:p>
        </p:txBody>
      </p:sp>
      <p:sp>
        <p:nvSpPr>
          <p:cNvPr id="4" name="矩形 3"/>
          <p:cNvSpPr/>
          <p:nvPr/>
        </p:nvSpPr>
        <p:spPr>
          <a:xfrm>
            <a:off x="418548" y="4221089"/>
            <a:ext cx="8308536" cy="13234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/>
              <a:t>user_data={'客户1':{'安慕希':3,'蒙牛纯甄':6,'莫斯利安':3,'三元':3,'蒙牛冠益乳':3},\</a:t>
            </a:r>
          </a:p>
          <a:p>
            <a:r>
              <a:rPr lang="zh-CN" altLang="en-US" sz="1600" dirty="0"/>
              <a:t>           '客户2':{'君乐宝':5,'安佳':5,'光明研简':5,'优诺':3,'兰格格':5,'莫斯利安':3},\</a:t>
            </a:r>
          </a:p>
          <a:p>
            <a:r>
              <a:rPr lang="zh-CN" altLang="en-US" sz="1600" dirty="0"/>
              <a:t>           '客户3':{'兰格格':5,'欧德宝':4,'三元':3,'如实':3,'伊利畅轻':5,'安慕希':7},\</a:t>
            </a:r>
          </a:p>
          <a:p>
            <a:r>
              <a:rPr lang="zh-CN" altLang="en-US" sz="1600" dirty="0"/>
              <a:t>           '客户4':{'蒙牛冠益乳':3,'三元':3,'如实':3,'伊利畅轻':5,'光明优倍':7}</a:t>
            </a:r>
          </a:p>
          <a:p>
            <a:r>
              <a:rPr lang="zh-CN" altLang="en-US" sz="1600" dirty="0"/>
              <a:t>           }</a:t>
            </a:r>
          </a:p>
        </p:txBody>
      </p:sp>
    </p:spTree>
    <p:extLst>
      <p:ext uri="{BB962C8B-B14F-4D97-AF65-F5344CB8AC3E}">
        <p14:creationId xmlns:p14="http://schemas.microsoft.com/office/powerpoint/2010/main" val="960149325"/>
      </p:ext>
    </p:extLst>
  </p:cSld>
  <p:clrMapOvr>
    <a:masterClrMapping/>
  </p:clrMapOvr>
  <p:transition>
    <p:zo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1196752"/>
            <a:ext cx="8136904" cy="440633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zh-CN" altLang="en-US" sz="1400" dirty="0"/>
              <a:t>target={'蒙牛冠益乳':3,'三元':3,'安慕希':3,'光明优倍':3}   #目标客户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Maxcommonlen=0                                                          #用于存放共同商品个数最大值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for v in user_data.values():                                             #遍历客户的营销数据</a:t>
            </a:r>
            <a:endParaRPr lang="en-US" altLang="zh-CN" sz="1400" dirty="0"/>
          </a:p>
          <a:p>
            <a:pPr>
              <a:spcAft>
                <a:spcPts val="200"/>
              </a:spcAft>
            </a:pPr>
            <a:r>
              <a:rPr lang="zh-CN" altLang="en-US" sz="1400" dirty="0"/>
              <a:t>    thiscommonMilk=set(v.keys() </a:t>
            </a:r>
            <a:r>
              <a:rPr lang="zh-CN" altLang="en-US" sz="1400" b="1" dirty="0">
                <a:solidFill>
                  <a:srgbClr val="C00000"/>
                </a:solidFill>
              </a:rPr>
              <a:t>&amp;</a:t>
            </a:r>
            <a:r>
              <a:rPr lang="zh-CN" altLang="en-US" sz="1400" dirty="0"/>
              <a:t> target.keys())            #找出与目标客户的共同商品集合（</a:t>
            </a:r>
            <a:r>
              <a:rPr lang="zh-CN" altLang="en-US" sz="1400" dirty="0">
                <a:solidFill>
                  <a:srgbClr val="C00000"/>
                </a:solidFill>
              </a:rPr>
              <a:t>找交集</a:t>
            </a:r>
            <a:r>
              <a:rPr lang="zh-CN" altLang="en-US" sz="1400" dirty="0"/>
              <a:t>）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if Maxcommonlen&lt;len(thiscommonMilk):                    </a:t>
            </a:r>
            <a:r>
              <a:rPr lang="en-US" altLang="zh-CN" sz="1400" dirty="0"/>
              <a:t>#</a:t>
            </a:r>
            <a:r>
              <a:rPr lang="zh-CN" altLang="en-US" sz="1400" dirty="0"/>
              <a:t>找共同商品个数的最大值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    Maxcommonlen=len(thiscommonMilk)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similar={}                                                                        # 用字典存储 “相似用户:共同商品”            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for k,v in user_data.items():                                           </a:t>
            </a:r>
            <a:r>
              <a:rPr lang="en-US" altLang="zh-CN" sz="1400" dirty="0"/>
              <a:t>#</a:t>
            </a:r>
            <a:r>
              <a:rPr lang="zh-CN" altLang="en-US" sz="1400" dirty="0"/>
              <a:t>再次遍历用户数据，定位最相似的客户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thiscommonMilk=set(v.keys()&amp;target.keys())              # 获取共同商品的品牌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if Maxcommonlen==len(thiscommonMilk):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    similar[k]=thiscommonMilk                                      # 找到相似客户，值为共同商品品牌的集合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    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for k,v in similar.items():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print("相似客户:",k)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print("共同商品:",v)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print("推荐商品:",end=" ")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userMilk=user_data[k].keys()-v      #推荐相似客户购买的其他奶制品，需减去相同商品的品牌</a:t>
            </a:r>
          </a:p>
          <a:p>
            <a:pPr>
              <a:spcAft>
                <a:spcPts val="200"/>
              </a:spcAft>
            </a:pPr>
            <a:r>
              <a:rPr lang="zh-CN" altLang="en-US" sz="1400" dirty="0"/>
              <a:t>    print(userMilk)</a:t>
            </a:r>
          </a:p>
        </p:txBody>
      </p:sp>
    </p:spTree>
    <p:extLst>
      <p:ext uri="{BB962C8B-B14F-4D97-AF65-F5344CB8AC3E}">
        <p14:creationId xmlns:p14="http://schemas.microsoft.com/office/powerpoint/2010/main" val="3445451684"/>
      </p:ext>
    </p:extLst>
  </p:cSld>
  <p:clrMapOvr>
    <a:masterClrMapping/>
  </p:clrMapOvr>
  <p:transition>
    <p:zo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5829300" cy="5940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例，求均值、方差和中位数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31540" y="1772816"/>
            <a:ext cx="8280920" cy="208823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 algn="just" eaLnBrk="1" hangingPunct="1">
              <a:buNone/>
            </a:pPr>
            <a:r>
              <a:rPr lang="zh-CN" altLang="en-US" sz="1800" dirty="0"/>
              <a:t>从键盘上</a:t>
            </a:r>
            <a:r>
              <a:rPr lang="zh-CN" altLang="en-US" sz="1800" dirty="0">
                <a:solidFill>
                  <a:srgbClr val="FF0000"/>
                </a:solidFill>
              </a:rPr>
              <a:t>输入一组</a:t>
            </a:r>
            <a:r>
              <a:rPr lang="zh-CN" altLang="en-US" sz="1800" dirty="0"/>
              <a:t>同学的年龄，以</a:t>
            </a:r>
            <a:r>
              <a:rPr lang="en-US" altLang="zh-CN" sz="1800" dirty="0"/>
              <a:t>-1</a:t>
            </a:r>
            <a:r>
              <a:rPr lang="zh-CN" altLang="en-US" sz="1800" dirty="0"/>
              <a:t>结束，求这组数的 </a:t>
            </a:r>
            <a:r>
              <a:rPr lang="zh-CN" altLang="en-US" sz="1800" dirty="0">
                <a:solidFill>
                  <a:srgbClr val="FF0000"/>
                </a:solidFill>
              </a:rPr>
              <a:t>均值、方差和中位数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51197" indent="0" algn="just" eaLnBrk="1" hangingPunct="1">
              <a:buNone/>
            </a:pPr>
            <a:r>
              <a:rPr lang="zh-CN" altLang="en-US" sz="1800" dirty="0"/>
              <a:t>分析：采用模块化程序设计方法，分别用</a:t>
            </a:r>
            <a:r>
              <a:rPr lang="en-US" altLang="zh-CN" sz="1800" dirty="0"/>
              <a:t>4</a:t>
            </a:r>
            <a:r>
              <a:rPr lang="zh-CN" altLang="en-US" sz="1800" dirty="0"/>
              <a:t>个函数</a:t>
            </a:r>
            <a:r>
              <a:rPr lang="en-US" altLang="zh-CN" sz="1800" dirty="0"/>
              <a:t>4</a:t>
            </a:r>
            <a:r>
              <a:rPr lang="zh-CN" altLang="en-US" sz="1800" dirty="0"/>
              <a:t>个功能模块</a:t>
            </a:r>
            <a:endParaRPr lang="en-US" altLang="zh-CN" sz="1800" dirty="0"/>
          </a:p>
          <a:p>
            <a:pPr marL="665559" lvl="1" algn="just" eaLnBrk="1" hangingPunct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1600" dirty="0"/>
              <a:t>函数名 </a:t>
            </a:r>
            <a:r>
              <a:rPr lang="en-US" altLang="zh-CN" sz="1600" dirty="0" err="1"/>
              <a:t>getNumbers</a:t>
            </a:r>
            <a:r>
              <a:rPr lang="zh-CN" altLang="en-US" sz="1600" dirty="0"/>
              <a:t>；返回输入的数据列表</a:t>
            </a:r>
            <a:endParaRPr lang="en-US" altLang="zh-CN" sz="1600" dirty="0"/>
          </a:p>
          <a:p>
            <a:pPr marL="665559" lvl="1" algn="just" eaLnBrk="1" hangingPunct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1600" dirty="0"/>
              <a:t>函数</a:t>
            </a:r>
            <a:r>
              <a:rPr lang="en-US" altLang="zh-CN" sz="1600" dirty="0" err="1"/>
              <a:t>getMean</a:t>
            </a:r>
            <a:r>
              <a:rPr lang="en-US" altLang="zh-CN" sz="1600" dirty="0"/>
              <a:t>  </a:t>
            </a:r>
            <a:r>
              <a:rPr lang="zh-CN" altLang="en-US" sz="1600" dirty="0"/>
              <a:t>给定列表，返回均值</a:t>
            </a:r>
            <a:endParaRPr lang="en-US" altLang="zh-CN" sz="1600" dirty="0"/>
          </a:p>
          <a:p>
            <a:pPr marL="665559" lvl="1" algn="just" eaLnBrk="1" hangingPunct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1600" dirty="0"/>
              <a:t>函数</a:t>
            </a:r>
            <a:r>
              <a:rPr lang="en-US" altLang="zh-CN" sz="1600" dirty="0" err="1"/>
              <a:t>getDev</a:t>
            </a:r>
            <a:r>
              <a:rPr lang="en-US" altLang="zh-CN" sz="1600" dirty="0"/>
              <a:t> ,</a:t>
            </a:r>
            <a:r>
              <a:rPr lang="zh-CN" altLang="en-US" sz="1600" dirty="0"/>
              <a:t>给定列表，返回方差</a:t>
            </a:r>
            <a:endParaRPr lang="en-US" altLang="zh-CN" sz="1600" dirty="0"/>
          </a:p>
          <a:p>
            <a:pPr marL="665559" lvl="1" algn="just" eaLnBrk="1" hangingPunct="1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1600" dirty="0"/>
              <a:t>函数</a:t>
            </a:r>
            <a:r>
              <a:rPr lang="en-US" altLang="zh-CN" sz="1600" dirty="0" err="1"/>
              <a:t>getMed</a:t>
            </a:r>
            <a:r>
              <a:rPr lang="zh-CN" altLang="en-US" sz="1600" dirty="0"/>
              <a:t>，给定列表，返回中位数</a:t>
            </a:r>
            <a:endParaRPr lang="en-US" altLang="zh-CN" sz="1600" dirty="0"/>
          </a:p>
        </p:txBody>
      </p:sp>
      <p:sp>
        <p:nvSpPr>
          <p:cNvPr id="3" name="矩形 2"/>
          <p:cNvSpPr/>
          <p:nvPr/>
        </p:nvSpPr>
        <p:spPr>
          <a:xfrm>
            <a:off x="465603" y="4221088"/>
            <a:ext cx="828092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直接调用统计函数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b="1" dirty="0">
                <a:solidFill>
                  <a:srgbClr val="C00000"/>
                </a:solidFill>
              </a:rPr>
              <a:t>statistics</a:t>
            </a:r>
          </a:p>
          <a:p>
            <a:r>
              <a:rPr lang="en-US" altLang="zh-CN" dirty="0" err="1"/>
              <a:t>av</a:t>
            </a:r>
            <a:r>
              <a:rPr lang="en-US" altLang="zh-CN" dirty="0"/>
              <a:t>=</a:t>
            </a:r>
            <a:r>
              <a:rPr lang="en-US" altLang="zh-CN" dirty="0" err="1"/>
              <a:t>statistics.mean</a:t>
            </a:r>
            <a:r>
              <a:rPr lang="en-US" altLang="zh-CN" dirty="0"/>
              <a:t>(data)          #</a:t>
            </a:r>
            <a:r>
              <a:rPr lang="zh-CN" altLang="en-US" dirty="0"/>
              <a:t>均值</a:t>
            </a:r>
            <a:endParaRPr lang="en-US" altLang="zh-CN" dirty="0"/>
          </a:p>
          <a:p>
            <a:r>
              <a:rPr lang="en-US" altLang="zh-CN" dirty="0"/>
              <a:t>std=</a:t>
            </a:r>
            <a:r>
              <a:rPr lang="en-US" altLang="zh-CN" dirty="0" err="1"/>
              <a:t>statistics.stdev</a:t>
            </a:r>
            <a:r>
              <a:rPr lang="en-US" altLang="zh-CN" dirty="0"/>
              <a:t>(data)         #</a:t>
            </a:r>
            <a:r>
              <a:rPr lang="zh-CN" altLang="en-US" dirty="0"/>
              <a:t>方差</a:t>
            </a:r>
            <a:endParaRPr lang="en-US" altLang="zh-CN" dirty="0"/>
          </a:p>
          <a:p>
            <a:r>
              <a:rPr lang="en-US" altLang="zh-CN" dirty="0"/>
              <a:t>med=</a:t>
            </a:r>
            <a:r>
              <a:rPr lang="en-US" altLang="zh-CN" dirty="0" err="1"/>
              <a:t>statistics.median</a:t>
            </a:r>
            <a:r>
              <a:rPr lang="en-US" altLang="zh-CN" dirty="0"/>
              <a:t>(data)    # </a:t>
            </a:r>
            <a:r>
              <a:rPr lang="zh-CN" altLang="en-US" dirty="0"/>
              <a:t>中位数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6806312"/>
      </p:ext>
    </p:extLst>
  </p:cSld>
  <p:clrMapOvr>
    <a:masterClrMapping/>
  </p:clrMapOvr>
  <p:transition>
    <p:zo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528" y="1844824"/>
            <a:ext cx="3600400" cy="37856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200" dirty="0"/>
              <a:t>import math</a:t>
            </a:r>
          </a:p>
          <a:p>
            <a:r>
              <a:rPr lang="zh-CN" altLang="en-US" sz="1200" dirty="0"/>
              <a:t>def getNumbers(data):         #data是一个空列表</a:t>
            </a:r>
          </a:p>
          <a:p>
            <a:r>
              <a:rPr lang="zh-CN" altLang="en-US" sz="1200" dirty="0"/>
              <a:t>    while True:</a:t>
            </a:r>
          </a:p>
          <a:p>
            <a:r>
              <a:rPr lang="zh-CN" altLang="en-US" sz="1200" dirty="0"/>
              <a:t>        x=eval(input("请输入数据，输入-1时结束："))</a:t>
            </a:r>
          </a:p>
          <a:p>
            <a:r>
              <a:rPr lang="zh-CN" altLang="en-US" sz="1200" dirty="0"/>
              <a:t>        if x==-1:</a:t>
            </a:r>
          </a:p>
          <a:p>
            <a:r>
              <a:rPr lang="zh-CN" altLang="en-US" sz="1200" dirty="0"/>
              <a:t>            break</a:t>
            </a:r>
          </a:p>
          <a:p>
            <a:r>
              <a:rPr lang="zh-CN" altLang="en-US" sz="1200" dirty="0"/>
              <a:t>        else:</a:t>
            </a:r>
          </a:p>
          <a:p>
            <a:r>
              <a:rPr lang="zh-CN" altLang="en-US" sz="1200" dirty="0"/>
              <a:t>            data.append(x)</a:t>
            </a:r>
          </a:p>
          <a:p>
            <a:r>
              <a:rPr lang="zh-CN" altLang="en-US" sz="1200" dirty="0"/>
              <a:t>    return data</a:t>
            </a:r>
          </a:p>
          <a:p>
            <a:endParaRPr lang="zh-CN" altLang="en-US" sz="1200" dirty="0"/>
          </a:p>
          <a:p>
            <a:r>
              <a:rPr lang="zh-CN" altLang="en-US" sz="1200" dirty="0"/>
              <a:t>def getMean(num):</a:t>
            </a:r>
          </a:p>
          <a:p>
            <a:r>
              <a:rPr lang="zh-CN" altLang="en-US" sz="1200" dirty="0"/>
              <a:t>    return sum(num)/len(num)</a:t>
            </a:r>
          </a:p>
          <a:p>
            <a:endParaRPr lang="zh-CN" altLang="en-US" sz="1200" dirty="0"/>
          </a:p>
          <a:p>
            <a:r>
              <a:rPr lang="zh-CN" altLang="en-US" sz="1200" dirty="0"/>
              <a:t>def getDev(num):</a:t>
            </a:r>
          </a:p>
          <a:p>
            <a:r>
              <a:rPr lang="zh-CN" altLang="en-US" sz="1200" dirty="0"/>
              <a:t>    av=getMean(num)</a:t>
            </a:r>
          </a:p>
          <a:p>
            <a:r>
              <a:rPr lang="zh-CN" altLang="en-US" sz="1200" dirty="0"/>
              <a:t>    s=0</a:t>
            </a:r>
          </a:p>
          <a:p>
            <a:r>
              <a:rPr lang="zh-CN" altLang="en-US" sz="1200" dirty="0"/>
              <a:t>    for x in num:</a:t>
            </a:r>
          </a:p>
          <a:p>
            <a:r>
              <a:rPr lang="zh-CN" altLang="en-US" sz="1200" dirty="0"/>
              <a:t>        s += (x-av)**2</a:t>
            </a:r>
          </a:p>
          <a:p>
            <a:r>
              <a:rPr lang="zh-CN" altLang="en-US" sz="1200" dirty="0"/>
              <a:t>    return math.sqrt(s/(len(num)-1))</a:t>
            </a:r>
          </a:p>
          <a:p>
            <a:r>
              <a:rPr lang="zh-CN" altLang="en-US" sz="1200" dirty="0"/>
              <a:t>    </a:t>
            </a:r>
          </a:p>
        </p:txBody>
      </p:sp>
      <p:sp>
        <p:nvSpPr>
          <p:cNvPr id="5" name="矩形 4"/>
          <p:cNvSpPr/>
          <p:nvPr/>
        </p:nvSpPr>
        <p:spPr>
          <a:xfrm>
            <a:off x="4211960" y="1847605"/>
            <a:ext cx="4824536" cy="35394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/>
              <a:t>def getMed(num):</a:t>
            </a:r>
          </a:p>
          <a:p>
            <a:r>
              <a:rPr lang="zh-CN" altLang="en-US" sz="1400" dirty="0"/>
              <a:t>    num.sort()                       #必须先排序，再找中间的数</a:t>
            </a:r>
          </a:p>
          <a:p>
            <a:r>
              <a:rPr lang="zh-CN" altLang="en-US" sz="1400" dirty="0"/>
              <a:t>    n=len(num)</a:t>
            </a:r>
          </a:p>
          <a:p>
            <a:r>
              <a:rPr lang="zh-CN" altLang="en-US" sz="1400" dirty="0"/>
              <a:t>    if n%2==1:</a:t>
            </a:r>
          </a:p>
          <a:p>
            <a:r>
              <a:rPr lang="zh-CN" altLang="en-US" sz="1400" dirty="0"/>
              <a:t>        return(num[n//2])        #奇数个数直接返回中间那个数</a:t>
            </a:r>
          </a:p>
          <a:p>
            <a:r>
              <a:rPr lang="zh-CN" altLang="en-US" sz="1400" dirty="0"/>
              <a:t>    else:</a:t>
            </a:r>
          </a:p>
          <a:p>
            <a:r>
              <a:rPr lang="zh-CN" altLang="en-US" sz="1400" dirty="0"/>
              <a:t>        return((num[n//2-1]+num[n//2])/2)    </a:t>
            </a:r>
            <a:endParaRPr lang="en-US" altLang="zh-CN" sz="1400" dirty="0"/>
          </a:p>
          <a:p>
            <a:r>
              <a:rPr lang="en-US" altLang="zh-CN" sz="1400" dirty="0"/>
              <a:t>                                       </a:t>
            </a:r>
            <a:r>
              <a:rPr lang="zh-CN" altLang="en-US" sz="1400" dirty="0"/>
              <a:t> #偶数个时返回中间两个数的均值</a:t>
            </a:r>
            <a:endParaRPr lang="en-US" altLang="zh-CN" sz="1400" dirty="0"/>
          </a:p>
          <a:p>
            <a:endParaRPr lang="zh-CN" altLang="en-US" sz="1400" dirty="0"/>
          </a:p>
          <a:p>
            <a:r>
              <a:rPr lang="zh-CN" altLang="en-US" sz="1400" dirty="0">
                <a:solidFill>
                  <a:srgbClr val="C00000"/>
                </a:solidFill>
              </a:rPr>
              <a:t>if __name__=='__main__':</a:t>
            </a:r>
          </a:p>
          <a:p>
            <a:r>
              <a:rPr lang="zh-CN" altLang="en-US" sz="1400" dirty="0"/>
              <a:t>    num=[]</a:t>
            </a:r>
          </a:p>
          <a:p>
            <a:r>
              <a:rPr lang="zh-CN" altLang="en-US" sz="1400" dirty="0"/>
              <a:t>    getNumbers(num)</a:t>
            </a:r>
          </a:p>
          <a:p>
            <a:r>
              <a:rPr lang="zh-CN" altLang="en-US" sz="1400" dirty="0"/>
              <a:t>    print("输入数据：",num)</a:t>
            </a:r>
          </a:p>
          <a:p>
            <a:r>
              <a:rPr lang="zh-CN" altLang="en-US" sz="1400" dirty="0"/>
              <a:t>    print('均值为：',getMean(num))</a:t>
            </a:r>
          </a:p>
          <a:p>
            <a:r>
              <a:rPr lang="zh-CN" altLang="en-US" sz="1400" dirty="0"/>
              <a:t>    print("方差为：",getDev(num))</a:t>
            </a:r>
          </a:p>
          <a:p>
            <a:r>
              <a:rPr lang="zh-CN" altLang="en-US" sz="1400" dirty="0"/>
              <a:t>    print("中位数为：",getMed(num))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23528" y="1124744"/>
            <a:ext cx="3456384" cy="594066"/>
          </a:xfr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方法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：自定义函数</a:t>
            </a:r>
          </a:p>
        </p:txBody>
      </p:sp>
    </p:spTree>
    <p:extLst>
      <p:ext uri="{BB962C8B-B14F-4D97-AF65-F5344CB8AC3E}">
        <p14:creationId xmlns:p14="http://schemas.microsoft.com/office/powerpoint/2010/main" val="2179417990"/>
      </p:ext>
    </p:extLst>
  </p:cSld>
  <p:clrMapOvr>
    <a:masterClrMapping/>
  </p:clrMapOvr>
  <p:transition>
    <p:zo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737320" y="1161294"/>
            <a:ext cx="5829300" cy="47799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矩阵相乘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2"/>
              <p:cNvSpPr txBox="1">
                <a:spLocks/>
              </p:cNvSpPr>
              <p:nvPr/>
            </p:nvSpPr>
            <p:spPr bwMode="auto">
              <a:xfrm>
                <a:off x="575556" y="1700808"/>
                <a:ext cx="7992888" cy="23042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lvl1pPr marL="411163" indent="-342900" algn="l" rtl="0" eaLnBrk="0" fontAlgn="base" hangingPunct="0">
                  <a:spcBef>
                    <a:spcPts val="7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"/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39775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itchFamily="2" charset="2"/>
                  <a:buChar char="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95363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itchFamily="18" charset="2"/>
                  <a:buChar char="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6047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EB80A"/>
                  </a:buClr>
                  <a:buFont typeface="Wingdings 3" pitchFamily="18" charset="2"/>
                  <a:buChar char="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81138" indent="-2095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EB80A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09928" indent="-210312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1952" indent="-18288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93976" indent="-18288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68263" indent="0" algn="just" eaLnBrk="1" hangingPunct="1">
                  <a:buNone/>
                </a:pPr>
                <a:r>
                  <a:rPr lang="zh-CN" altLang="en-US" sz="1800" dirty="0"/>
                  <a:t>分析：</a:t>
                </a:r>
                <a:endParaRPr lang="en-US" altLang="zh-CN" sz="1800" dirty="0"/>
              </a:p>
              <a:p>
                <a:pPr algn="just" eaLnBrk="1" hangingPunct="1">
                  <a:buFont typeface="Wingdings" panose="05000000000000000000" pitchFamily="2" charset="2"/>
                  <a:buChar char="u"/>
                </a:pPr>
                <a:r>
                  <a:rPr lang="en-US" altLang="zh-CN" sz="1800" dirty="0"/>
                  <a:t>2</a:t>
                </a:r>
                <a:r>
                  <a:rPr lang="zh-CN" altLang="en-US" sz="1800" dirty="0"/>
                  <a:t>个矩阵相乘，左矩阵的列数等于右矩阵的行数</a:t>
                </a:r>
                <a:endParaRPr lang="en-US" altLang="zh-CN" sz="1800" dirty="0"/>
              </a:p>
              <a:p>
                <a:pPr algn="just" eaLnBrk="1" hangingPunct="1">
                  <a:buFont typeface="Wingdings" panose="05000000000000000000" pitchFamily="2" charset="2"/>
                  <a:buChar char="u"/>
                </a:pPr>
                <a:r>
                  <a:rPr lang="zh-CN" altLang="en-US" sz="1800" dirty="0"/>
                  <a:t>结果矩阵，行数等于左的行数，列数等于右矩阵列数</a:t>
                </a:r>
                <a:endParaRPr lang="en-US" altLang="zh-CN" sz="1800" dirty="0"/>
              </a:p>
              <a:p>
                <a:pPr algn="just" eaLnBrk="1" hangingPunct="1">
                  <a:buFont typeface="Wingdings" panose="05000000000000000000" pitchFamily="2" charset="2"/>
                  <a:buChar char="u"/>
                </a:pPr>
                <a:r>
                  <a:rPr lang="zh-CN" altLang="en-US" sz="1800" dirty="0"/>
                  <a:t>结果矩阵的第</a:t>
                </a:r>
                <a:r>
                  <a:rPr lang="en-US" altLang="zh-CN" sz="1800" dirty="0" err="1"/>
                  <a:t>i</a:t>
                </a:r>
                <a:r>
                  <a:rPr lang="zh-CN" altLang="en-US" sz="1800" dirty="0"/>
                  <a:t>行</a:t>
                </a:r>
                <a:r>
                  <a:rPr lang="en-US" altLang="zh-CN" sz="1800" dirty="0"/>
                  <a:t>j</a:t>
                </a:r>
                <a:r>
                  <a:rPr lang="zh-CN" altLang="en-US" sz="1800" dirty="0"/>
                  <a:t>列的元素，是左矩阵的第</a:t>
                </a:r>
                <a:r>
                  <a:rPr lang="en-US" altLang="zh-CN" sz="1800" dirty="0" err="1"/>
                  <a:t>i</a:t>
                </a:r>
                <a:r>
                  <a:rPr lang="zh-CN" altLang="en-US" sz="1800" dirty="0"/>
                  <a:t>行和右矩阵第</a:t>
                </a:r>
                <a:r>
                  <a:rPr lang="en-US" altLang="zh-CN" sz="1800" dirty="0"/>
                  <a:t>j</a:t>
                </a:r>
                <a:r>
                  <a:rPr lang="zh-CN" altLang="en-US" sz="1800" dirty="0"/>
                  <a:t>列，对应元素相乘的累加和</a:t>
                </a:r>
                <a:endParaRPr lang="en-US" altLang="zh-CN" sz="1800" dirty="0"/>
              </a:p>
              <a:p>
                <a:pPr marL="336947" indent="-285750" algn="just" eaLnBrk="1" hangingPunct="1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endParaRPr lang="en-US" altLang="zh-CN" sz="1800" dirty="0"/>
              </a:p>
            </p:txBody>
          </p:sp>
        </mc:Choice>
        <mc:Fallback>
          <p:sp>
            <p:nvSpPr>
              <p:cNvPr id="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556" y="1700808"/>
                <a:ext cx="7992888" cy="2304256"/>
              </a:xfrm>
              <a:prstGeom prst="rect">
                <a:avLst/>
              </a:prstGeom>
              <a:blipFill>
                <a:blip r:embed="rId2"/>
                <a:stretch>
                  <a:fillRect t="-1579" r="-837" b="-20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709682" y="4408622"/>
            <a:ext cx="1242138" cy="81009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 algn="just" eaLnBrk="1" hangingPunct="1">
              <a:buNone/>
            </a:pPr>
            <a:r>
              <a:rPr lang="en-US" altLang="zh-CN" sz="1800" dirty="0"/>
              <a:t>1    3    4  </a:t>
            </a:r>
          </a:p>
          <a:p>
            <a:pPr marL="51197" indent="0" algn="just" eaLnBrk="1" hangingPunct="1">
              <a:buNone/>
            </a:pPr>
            <a:r>
              <a:rPr lang="en-US" altLang="zh-CN" sz="1800" dirty="0"/>
              <a:t>5    1    0  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3667400" y="4294550"/>
            <a:ext cx="1242138" cy="10295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 algn="just" eaLnBrk="1" hangingPunct="1">
              <a:buNone/>
            </a:pPr>
            <a:r>
              <a:rPr lang="en-US" altLang="zh-CN" sz="1800" dirty="0"/>
              <a:t>3    1   5  </a:t>
            </a:r>
          </a:p>
          <a:p>
            <a:pPr marL="51197" indent="0" algn="just" eaLnBrk="1" hangingPunct="1">
              <a:buNone/>
            </a:pPr>
            <a:r>
              <a:rPr lang="en-US" altLang="zh-CN" sz="1800" dirty="0"/>
              <a:t>7    0   2</a:t>
            </a:r>
          </a:p>
          <a:p>
            <a:pPr marL="51197" indent="0" algn="just" eaLnBrk="1" hangingPunct="1">
              <a:buNone/>
            </a:pPr>
            <a:r>
              <a:rPr lang="en-US" altLang="zh-CN" sz="1800" dirty="0"/>
              <a:t>2    -1    3</a:t>
            </a:r>
          </a:p>
          <a:p>
            <a:pPr marL="51197" indent="0" algn="just" eaLnBrk="1" hangingPunct="1">
              <a:buNone/>
            </a:pPr>
            <a:r>
              <a:rPr lang="en-US" altLang="zh-CN" sz="1800" dirty="0"/>
              <a:t>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58054" y="4678652"/>
            <a:ext cx="59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=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167844" y="4624646"/>
            <a:ext cx="27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5436097" y="4528412"/>
            <a:ext cx="1431159" cy="6698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 algn="just" eaLnBrk="1" hangingPunct="1">
              <a:buNone/>
            </a:pPr>
            <a:r>
              <a:rPr lang="en-US" altLang="zh-CN" sz="1800" dirty="0"/>
              <a:t>32    -3   23  </a:t>
            </a:r>
          </a:p>
          <a:p>
            <a:pPr marL="51197" indent="0" algn="just" eaLnBrk="1" hangingPunct="1">
              <a:buNone/>
            </a:pPr>
            <a:r>
              <a:rPr lang="en-US" altLang="zh-CN" sz="1800" dirty="0"/>
              <a:t>22    5    27  </a:t>
            </a:r>
          </a:p>
        </p:txBody>
      </p:sp>
    </p:spTree>
    <p:extLst>
      <p:ext uri="{BB962C8B-B14F-4D97-AF65-F5344CB8AC3E}">
        <p14:creationId xmlns:p14="http://schemas.microsoft.com/office/powerpoint/2010/main" val="750474250"/>
      </p:ext>
    </p:extLst>
  </p:cSld>
  <p:clrMapOvr>
    <a:masterClrMapping/>
  </p:clrMapOvr>
  <p:transition>
    <p:zo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653369" y="1090521"/>
            <a:ext cx="5829300" cy="48605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5.15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矩阵相乘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83568" y="1592797"/>
            <a:ext cx="8064896" cy="406845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 algn="just" eaLnBrk="1" hangingPunct="1">
              <a:buNone/>
            </a:pPr>
            <a:r>
              <a:rPr lang="en-US" altLang="zh-CN" sz="1350" dirty="0"/>
              <a:t>A=[[1, 3,4],[5,1.0,0]]                     # 2*3 </a:t>
            </a:r>
            <a:r>
              <a:rPr lang="zh-CN" altLang="en-US" sz="1350" dirty="0"/>
              <a:t>的矩阵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B=[[3,1,5,7],[7,0,2,3],[2,-1,3,6]]    # 3*4 </a:t>
            </a:r>
            <a:r>
              <a:rPr lang="zh-CN" altLang="en-US" sz="1350" dirty="0"/>
              <a:t>矩阵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C=[]                                              #</a:t>
            </a:r>
            <a:r>
              <a:rPr lang="zh-CN" altLang="en-US" sz="1350" dirty="0"/>
              <a:t>结果矩阵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row=</a:t>
            </a:r>
            <a:r>
              <a:rPr lang="en-US" altLang="zh-CN" sz="1350" dirty="0" err="1"/>
              <a:t>len</a:t>
            </a:r>
            <a:r>
              <a:rPr lang="en-US" altLang="zh-CN" sz="1350" dirty="0"/>
              <a:t>(A)                                   # </a:t>
            </a:r>
            <a:r>
              <a:rPr lang="zh-CN" altLang="en-US" sz="1350" dirty="0"/>
              <a:t>取 </a:t>
            </a:r>
            <a:r>
              <a:rPr lang="en-US" altLang="zh-CN" sz="1350" dirty="0"/>
              <a:t>A </a:t>
            </a:r>
            <a:r>
              <a:rPr lang="zh-CN" altLang="en-US" sz="1350" dirty="0"/>
              <a:t>矩阵的行数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col=</a:t>
            </a:r>
            <a:r>
              <a:rPr lang="en-US" altLang="zh-CN" sz="1350" dirty="0" err="1"/>
              <a:t>len</a:t>
            </a:r>
            <a:r>
              <a:rPr lang="en-US" altLang="zh-CN" sz="1350" dirty="0"/>
              <a:t>(B[0])                                # </a:t>
            </a:r>
            <a:r>
              <a:rPr lang="zh-CN" altLang="en-US" sz="1350" dirty="0"/>
              <a:t>取 </a:t>
            </a:r>
            <a:r>
              <a:rPr lang="en-US" altLang="zh-CN" sz="1350" dirty="0"/>
              <a:t>B </a:t>
            </a:r>
            <a:r>
              <a:rPr lang="zh-CN" altLang="en-US" sz="1350" dirty="0"/>
              <a:t>矩阵的列数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for </a:t>
            </a:r>
            <a:r>
              <a:rPr lang="en-US" altLang="zh-CN" sz="1350" dirty="0" err="1"/>
              <a:t>i</a:t>
            </a:r>
            <a:r>
              <a:rPr lang="en-US" altLang="zh-CN" sz="1350" dirty="0"/>
              <a:t> in range(row):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    </a:t>
            </a:r>
            <a:r>
              <a:rPr lang="en-US" altLang="zh-CN" sz="1350" dirty="0" err="1"/>
              <a:t>oneRow</a:t>
            </a:r>
            <a:r>
              <a:rPr lang="en-US" altLang="zh-CN" sz="1350" dirty="0"/>
              <a:t>=col*[0]                      # </a:t>
            </a:r>
            <a:r>
              <a:rPr lang="zh-CN" altLang="en-US" sz="1350" dirty="0"/>
              <a:t>结果矩阵的一行，每个元素的值设为</a:t>
            </a:r>
            <a:r>
              <a:rPr lang="en-US" altLang="zh-CN" sz="1350" dirty="0"/>
              <a:t>0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    for j in range(col):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        s=0.0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        for k in range(</a:t>
            </a:r>
            <a:r>
              <a:rPr lang="en-US" altLang="zh-CN" sz="1350" dirty="0" err="1"/>
              <a:t>len</a:t>
            </a:r>
            <a:r>
              <a:rPr lang="en-US" altLang="zh-CN" sz="1350" dirty="0"/>
              <a:t>(B)):           #</a:t>
            </a:r>
            <a:r>
              <a:rPr lang="zh-CN" altLang="en-US" sz="1350" dirty="0"/>
              <a:t>计算结果矩阵的第 </a:t>
            </a:r>
            <a:r>
              <a:rPr lang="en-US" altLang="zh-CN" sz="1350" dirty="0" err="1"/>
              <a:t>i</a:t>
            </a:r>
            <a:r>
              <a:rPr lang="en-US" altLang="zh-CN" sz="1350" dirty="0"/>
              <a:t> </a:t>
            </a:r>
            <a:r>
              <a:rPr lang="zh-CN" altLang="en-US" sz="1350" dirty="0"/>
              <a:t>行第 </a:t>
            </a:r>
            <a:r>
              <a:rPr lang="en-US" altLang="zh-CN" sz="1350" dirty="0"/>
              <a:t>j </a:t>
            </a:r>
            <a:r>
              <a:rPr lang="zh-CN" altLang="en-US" sz="1350" dirty="0"/>
              <a:t>列元素</a:t>
            </a:r>
          </a:p>
          <a:p>
            <a:pPr marL="51197" indent="0" algn="just" eaLnBrk="1" hangingPunct="1">
              <a:buNone/>
            </a:pPr>
            <a:r>
              <a:rPr lang="zh-CN" altLang="en-US" sz="1350" dirty="0"/>
              <a:t>            </a:t>
            </a:r>
            <a:r>
              <a:rPr lang="en-US" altLang="zh-CN" sz="1350" dirty="0"/>
              <a:t>s += A[</a:t>
            </a:r>
            <a:r>
              <a:rPr lang="en-US" altLang="zh-CN" sz="1350" dirty="0" err="1"/>
              <a:t>i</a:t>
            </a:r>
            <a:r>
              <a:rPr lang="en-US" altLang="zh-CN" sz="1350" dirty="0"/>
              <a:t>][k]*B[k][j]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        </a:t>
            </a:r>
            <a:r>
              <a:rPr lang="en-US" altLang="zh-CN" sz="1350" dirty="0" err="1"/>
              <a:t>oneRow</a:t>
            </a:r>
            <a:r>
              <a:rPr lang="en-US" altLang="zh-CN" sz="1350" dirty="0"/>
              <a:t>[j]=s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    </a:t>
            </a:r>
            <a:r>
              <a:rPr lang="en-US" altLang="zh-CN" sz="1350" dirty="0" err="1"/>
              <a:t>C.append</a:t>
            </a:r>
            <a:r>
              <a:rPr lang="en-US" altLang="zh-CN" sz="1350" dirty="0"/>
              <a:t>(</a:t>
            </a:r>
            <a:r>
              <a:rPr lang="en-US" altLang="zh-CN" sz="1350" dirty="0" err="1"/>
              <a:t>oneRow</a:t>
            </a:r>
            <a:r>
              <a:rPr lang="en-US" altLang="zh-CN" sz="1350" dirty="0"/>
              <a:t>)</a:t>
            </a:r>
          </a:p>
          <a:p>
            <a:pPr marL="51197" indent="0" algn="just" eaLnBrk="1" hangingPunct="1">
              <a:buNone/>
            </a:pPr>
            <a:r>
              <a:rPr lang="en-US" altLang="zh-CN" sz="1350" dirty="0"/>
              <a:t>print(C)</a:t>
            </a:r>
          </a:p>
        </p:txBody>
      </p:sp>
    </p:spTree>
    <p:extLst>
      <p:ext uri="{BB962C8B-B14F-4D97-AF65-F5344CB8AC3E}">
        <p14:creationId xmlns:p14="http://schemas.microsoft.com/office/powerpoint/2010/main" val="1214281892"/>
      </p:ext>
    </p:extLst>
  </p:cSld>
  <p:clrMapOvr>
    <a:masterClrMapping/>
  </p:clrMapOvr>
  <p:transition>
    <p:zo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323528" y="1268760"/>
            <a:ext cx="5829300" cy="48605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5.16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矩阵相乘，转置，格式化输出</a:t>
            </a:r>
          </a:p>
        </p:txBody>
      </p:sp>
      <p:sp>
        <p:nvSpPr>
          <p:cNvPr id="2" name="矩形 1"/>
          <p:cNvSpPr/>
          <p:nvPr/>
        </p:nvSpPr>
        <p:spPr>
          <a:xfrm>
            <a:off x="323528" y="1916833"/>
            <a:ext cx="4248472" cy="32932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/>
              <a:t>def matDot(A,B):</a:t>
            </a:r>
          </a:p>
          <a:p>
            <a:r>
              <a:rPr lang="zh-CN" altLang="en-US" sz="1600" dirty="0"/>
              <a:t>    C=[ ]               #结果矩阵</a:t>
            </a:r>
          </a:p>
          <a:p>
            <a:r>
              <a:rPr lang="zh-CN" altLang="en-US" sz="1600" dirty="0"/>
              <a:t>    row=len(A)     # 取A矩阵的行数</a:t>
            </a:r>
          </a:p>
          <a:p>
            <a:r>
              <a:rPr lang="zh-CN" altLang="en-US" sz="1600" dirty="0"/>
              <a:t>    col=len(B[0])  # 取B矩阵的列数</a:t>
            </a:r>
          </a:p>
          <a:p>
            <a:r>
              <a:rPr lang="zh-CN" altLang="en-US" sz="1600" dirty="0"/>
              <a:t>    for i in range(row):</a:t>
            </a:r>
          </a:p>
          <a:p>
            <a:r>
              <a:rPr lang="zh-CN" altLang="en-US" sz="1600" dirty="0"/>
              <a:t>        oneRow=col*[None]  # 结果矩阵的一行</a:t>
            </a:r>
          </a:p>
          <a:p>
            <a:r>
              <a:rPr lang="zh-CN" altLang="en-US" sz="1600" dirty="0"/>
              <a:t>        for j in range(col):</a:t>
            </a:r>
          </a:p>
          <a:p>
            <a:r>
              <a:rPr lang="zh-CN" altLang="en-US" sz="1600" dirty="0"/>
              <a:t>            s=0.0</a:t>
            </a:r>
          </a:p>
          <a:p>
            <a:r>
              <a:rPr lang="zh-CN" altLang="en-US" sz="1600" dirty="0"/>
              <a:t>            for k in range(len(B)):</a:t>
            </a:r>
          </a:p>
          <a:p>
            <a:r>
              <a:rPr lang="zh-CN" altLang="en-US" sz="1600" dirty="0"/>
              <a:t>                s += A[i][k]*B[k][j]</a:t>
            </a:r>
          </a:p>
          <a:p>
            <a:r>
              <a:rPr lang="zh-CN" altLang="en-US" sz="1600" dirty="0"/>
              <a:t>            oneRow[j]=s</a:t>
            </a:r>
          </a:p>
          <a:p>
            <a:r>
              <a:rPr lang="zh-CN" altLang="en-US" sz="1600" dirty="0"/>
              <a:t>        C.append(oneRow)</a:t>
            </a:r>
          </a:p>
          <a:p>
            <a:r>
              <a:rPr lang="zh-CN" altLang="en-US" sz="1600" dirty="0"/>
              <a:t>    return C</a:t>
            </a:r>
          </a:p>
        </p:txBody>
      </p:sp>
      <p:sp>
        <p:nvSpPr>
          <p:cNvPr id="3" name="矩形 2"/>
          <p:cNvSpPr/>
          <p:nvPr/>
        </p:nvSpPr>
        <p:spPr>
          <a:xfrm>
            <a:off x="4716016" y="1922862"/>
            <a:ext cx="4434590" cy="28007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/>
              <a:t>def printMat(A):</a:t>
            </a:r>
          </a:p>
          <a:p>
            <a:r>
              <a:rPr lang="zh-CN" altLang="en-US" sz="1600" dirty="0"/>
              <a:t>    for row in A:</a:t>
            </a:r>
          </a:p>
          <a:p>
            <a:r>
              <a:rPr lang="zh-CN" altLang="en-US" sz="1600" dirty="0"/>
              <a:t>        for item in row:</a:t>
            </a:r>
          </a:p>
          <a:p>
            <a:r>
              <a:rPr lang="zh-CN" altLang="en-US" sz="1600" dirty="0"/>
              <a:t>            print(item,'\t',end='')</a:t>
            </a:r>
          </a:p>
          <a:p>
            <a:r>
              <a:rPr lang="zh-CN" altLang="en-US" sz="1600" dirty="0"/>
              <a:t>        print()</a:t>
            </a:r>
          </a:p>
          <a:p>
            <a:endParaRPr lang="zh-CN" altLang="en-US" sz="1600" dirty="0"/>
          </a:p>
          <a:p>
            <a:r>
              <a:rPr lang="zh-CN" altLang="en-US" sz="1600" b="1" dirty="0">
                <a:solidFill>
                  <a:srgbClr val="C00000"/>
                </a:solidFill>
              </a:rPr>
              <a:t>transpose= lambda X:list(map(list,zip(*X)))</a:t>
            </a:r>
          </a:p>
          <a:p>
            <a:r>
              <a:rPr lang="zh-CN" altLang="en-US" sz="1600" dirty="0"/>
              <a:t>X=[[1,2,3],[4,5,6]]</a:t>
            </a:r>
          </a:p>
          <a:p>
            <a:r>
              <a:rPr lang="zh-CN" altLang="en-US" sz="1600" dirty="0"/>
              <a:t>Xt=transpose(X)</a:t>
            </a:r>
          </a:p>
          <a:p>
            <a:r>
              <a:rPr lang="zh-CN" altLang="en-US" sz="1600" dirty="0"/>
              <a:t>matCoe=matDot(Xt,X)</a:t>
            </a:r>
          </a:p>
          <a:p>
            <a:r>
              <a:rPr lang="zh-CN" altLang="en-US" sz="1600" dirty="0"/>
              <a:t>printMat(matCoe)</a:t>
            </a:r>
          </a:p>
        </p:txBody>
      </p:sp>
    </p:spTree>
    <p:extLst>
      <p:ext uri="{BB962C8B-B14F-4D97-AF65-F5344CB8AC3E}">
        <p14:creationId xmlns:p14="http://schemas.microsoft.com/office/powerpoint/2010/main" val="3145836033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30948</TotalTime>
  <Words>9614</Words>
  <Application>Microsoft Office PowerPoint</Application>
  <PresentationFormat>全屏显示(4:3)</PresentationFormat>
  <Paragraphs>1061</Paragraphs>
  <Slides>103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5" baseType="lpstr">
      <vt:lpstr>Arial Unicode MS</vt:lpstr>
      <vt:lpstr>等线</vt:lpstr>
      <vt:lpstr>黑体</vt:lpstr>
      <vt:lpstr>华文新魏</vt:lpstr>
      <vt:lpstr>微软雅黑</vt:lpstr>
      <vt:lpstr>Arial</vt:lpstr>
      <vt:lpstr>Bodoni MT Black</vt:lpstr>
      <vt:lpstr>Calibri</vt:lpstr>
      <vt:lpstr>Cambria Math</vt:lpstr>
      <vt:lpstr>Times New Roman</vt:lpstr>
      <vt:lpstr>Wingdings</vt:lpstr>
      <vt:lpstr>主题1</vt:lpstr>
      <vt:lpstr>第五章 Python数据结构—序列</vt:lpstr>
      <vt:lpstr>找错题</vt:lpstr>
      <vt:lpstr>本章内容</vt:lpstr>
      <vt:lpstr>引例——学生平均成绩和标准差的计算</vt:lpstr>
      <vt:lpstr>引例——学生成绩</vt:lpstr>
      <vt:lpstr>引例——学生成绩</vt:lpstr>
      <vt:lpstr>列表  List</vt:lpstr>
      <vt:lpstr>列表创建</vt:lpstr>
      <vt:lpstr>列表删除</vt:lpstr>
      <vt:lpstr>列表元素的调用</vt:lpstr>
      <vt:lpstr>列表遍历</vt:lpstr>
      <vt:lpstr>例子 </vt:lpstr>
      <vt:lpstr>方案1—直接枚举 </vt:lpstr>
      <vt:lpstr>方案2—下标索引 </vt:lpstr>
      <vt:lpstr>方案3—enumerate函数</vt:lpstr>
      <vt:lpstr>遍历注意事项</vt:lpstr>
      <vt:lpstr>例子 </vt:lpstr>
      <vt:lpstr>列表分片</vt:lpstr>
      <vt:lpstr>列表运算----分片</vt:lpstr>
      <vt:lpstr>分片步长 </vt:lpstr>
      <vt:lpstr>表的拷贝与赋值之间的差异</vt:lpstr>
      <vt:lpstr>分片赋值 </vt:lpstr>
      <vt:lpstr>列表的加法和乘法</vt:lpstr>
      <vt:lpstr>列表的加法和乘法</vt:lpstr>
      <vt:lpstr>例子，利用列表，求斐波那契数列</vt:lpstr>
      <vt:lpstr>成员资格(成员在表中in运算符)</vt:lpstr>
      <vt:lpstr>例子，列表去重复值</vt:lpstr>
      <vt:lpstr>列表对象方法</vt:lpstr>
      <vt:lpstr>列表对象方法-append</vt:lpstr>
      <vt:lpstr>列表-append</vt:lpstr>
      <vt:lpstr>输出结果是什么？为什么？</vt:lpstr>
      <vt:lpstr>列表对象方法-reverse</vt:lpstr>
      <vt:lpstr>列表对象方法-sort</vt:lpstr>
      <vt:lpstr>列表对象方法-count</vt:lpstr>
      <vt:lpstr>其它常用方法</vt:lpstr>
      <vt:lpstr>例子 信号平滑</vt:lpstr>
      <vt:lpstr>列表对象方法-index</vt:lpstr>
      <vt:lpstr>例子：找出列表最大数所在位置</vt:lpstr>
      <vt:lpstr>列表对象方法-pop</vt:lpstr>
      <vt:lpstr>操作列表的内置函数</vt:lpstr>
      <vt:lpstr>操作列表的内置函数-max、min</vt:lpstr>
      <vt:lpstr>操作列表的内置函数-sum</vt:lpstr>
      <vt:lpstr>内建函数--map</vt:lpstr>
      <vt:lpstr>map函数例</vt:lpstr>
      <vt:lpstr>操作列表的内置函数-len</vt:lpstr>
      <vt:lpstr>例子：从键盘上输入一组数，数间用逗号间隔，计算其均值和标准偏差</vt:lpstr>
      <vt:lpstr>例子</vt:lpstr>
      <vt:lpstr>内建函数--zip</vt:lpstr>
      <vt:lpstr>内建函数—zip例子</vt:lpstr>
      <vt:lpstr>内建函数-- enumerate </vt:lpstr>
      <vt:lpstr>内置函数—filter</vt:lpstr>
      <vt:lpstr>map、filter、enumerate、zip共性：可迭代对象</vt:lpstr>
      <vt:lpstr>列表推导式</vt:lpstr>
      <vt:lpstr>例子</vt:lpstr>
      <vt:lpstr>例子</vt:lpstr>
      <vt:lpstr>例  输出100以内的素数</vt:lpstr>
      <vt:lpstr>鸢尾花数据集处理</vt:lpstr>
      <vt:lpstr>数据过滤的例子</vt:lpstr>
      <vt:lpstr>数据过滤的例子</vt:lpstr>
      <vt:lpstr>遍历多个列表</vt:lpstr>
      <vt:lpstr>二维列表</vt:lpstr>
      <vt:lpstr>矩阵的表达---列表的元素是列表</vt:lpstr>
      <vt:lpstr>二维列表</vt:lpstr>
      <vt:lpstr>二维列表排序</vt:lpstr>
      <vt:lpstr>  矩阵的平铺</vt:lpstr>
      <vt:lpstr>  矩阵转置</vt:lpstr>
      <vt:lpstr>4.2  元组</vt:lpstr>
      <vt:lpstr>PowerPoint 演示文稿</vt:lpstr>
      <vt:lpstr>PowerPoint 演示文稿</vt:lpstr>
      <vt:lpstr>PowerPoint 演示文稿</vt:lpstr>
      <vt:lpstr>3 删除元组</vt:lpstr>
      <vt:lpstr>PowerPoint 演示文稿</vt:lpstr>
      <vt:lpstr>PowerPoint 演示文稿</vt:lpstr>
      <vt:lpstr>4.2.3 内置函数</vt:lpstr>
      <vt:lpstr>PowerPoint 演示文稿</vt:lpstr>
      <vt:lpstr>PowerPoint 演示文稿</vt:lpstr>
      <vt:lpstr>元组对比列表的优势</vt:lpstr>
      <vt:lpstr>4.3  字典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建立字典例子 </vt:lpstr>
      <vt:lpstr>建立字典例子 </vt:lpstr>
      <vt:lpstr>改进：</vt:lpstr>
      <vt:lpstr>PowerPoint 演示文稿</vt:lpstr>
      <vt:lpstr>5.2.3 集合运算</vt:lpstr>
      <vt:lpstr>集合对象的方法</vt:lpstr>
      <vt:lpstr>5. 数据协同过滤</vt:lpstr>
      <vt:lpstr>PowerPoint 演示文稿</vt:lpstr>
      <vt:lpstr>例，求均值、方差和中位数</vt:lpstr>
      <vt:lpstr>方法2：自定义函数</vt:lpstr>
      <vt:lpstr>2.矩阵相乘  </vt:lpstr>
      <vt:lpstr>例5.15 矩阵相乘</vt:lpstr>
      <vt:lpstr>例5.16 矩阵相乘，转置，格式化输出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618</cp:revision>
  <dcterms:created xsi:type="dcterms:W3CDTF">2010-02-28T17:17:53Z</dcterms:created>
  <dcterms:modified xsi:type="dcterms:W3CDTF">2025-03-31T10:23:44Z</dcterms:modified>
</cp:coreProperties>
</file>