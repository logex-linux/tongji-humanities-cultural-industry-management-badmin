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36"/>
  </p:notesMasterIdLst>
  <p:sldIdLst>
    <p:sldId id="256" r:id="rId2"/>
    <p:sldId id="468" r:id="rId3"/>
    <p:sldId id="418" r:id="rId4"/>
    <p:sldId id="471" r:id="rId5"/>
    <p:sldId id="419" r:id="rId6"/>
    <p:sldId id="420" r:id="rId7"/>
    <p:sldId id="489" r:id="rId8"/>
    <p:sldId id="469" r:id="rId9"/>
    <p:sldId id="476" r:id="rId10"/>
    <p:sldId id="477" r:id="rId11"/>
    <p:sldId id="464" r:id="rId12"/>
    <p:sldId id="465" r:id="rId13"/>
    <p:sldId id="466" r:id="rId14"/>
    <p:sldId id="467" r:id="rId15"/>
    <p:sldId id="472" r:id="rId16"/>
    <p:sldId id="494" r:id="rId17"/>
    <p:sldId id="478" r:id="rId18"/>
    <p:sldId id="479" r:id="rId19"/>
    <p:sldId id="481" r:id="rId20"/>
    <p:sldId id="480" r:id="rId21"/>
    <p:sldId id="482" r:id="rId22"/>
    <p:sldId id="426" r:id="rId23"/>
    <p:sldId id="428" r:id="rId24"/>
    <p:sldId id="492" r:id="rId25"/>
    <p:sldId id="429" r:id="rId26"/>
    <p:sldId id="430" r:id="rId27"/>
    <p:sldId id="484" r:id="rId28"/>
    <p:sldId id="485" r:id="rId29"/>
    <p:sldId id="487" r:id="rId30"/>
    <p:sldId id="486" r:id="rId31"/>
    <p:sldId id="493" r:id="rId32"/>
    <p:sldId id="488" r:id="rId33"/>
    <p:sldId id="490" r:id="rId34"/>
    <p:sldId id="491" r:id="rId3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00B4"/>
    <a:srgbClr val="000096"/>
    <a:srgbClr val="00FFA8"/>
    <a:srgbClr val="006699"/>
    <a:srgbClr val="CC0099"/>
    <a:srgbClr val="A7D9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4592A4-E237-4A56-9CB9-39DC0234BDB2}" type="datetimeFigureOut">
              <a:rPr lang="zh-CN" altLang="en-US"/>
              <a:pPr>
                <a:defRPr/>
              </a:pPr>
              <a:t>2024/4/25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941A3E1-9B29-4EC3-8654-927667BFF2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606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A5002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fld id="{059D6396-A773-44DA-97E3-5E2391CCF9F0}" type="slidenum">
              <a:rPr kumimoji="0" lang="en-US" altLang="zh-CN" sz="1200" b="0" smtClean="0">
                <a:solidFill>
                  <a:schemeClr val="tx1"/>
                </a:solidFill>
                <a:ea typeface="宋体" pitchFamily="2" charset="-122"/>
              </a:rPr>
              <a:pPr eaLnBrk="1" hangingPunct="1"/>
              <a:t>9</a:t>
            </a:fld>
            <a:endParaRPr kumimoji="0" lang="en-US" altLang="zh-CN" sz="12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66988" y="1373188"/>
            <a:ext cx="2638425" cy="1978025"/>
          </a:xfrm>
          <a:solidFill>
            <a:srgbClr val="FFFFFF"/>
          </a:solidFill>
          <a:ln w="12700" cap="flat"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4"/>
          <p:cNvSpPr>
            <a:spLocks noChangeArrowheads="1"/>
          </p:cNvSpPr>
          <p:nvPr/>
        </p:nvSpPr>
        <p:spPr bwMode="gray">
          <a:xfrm>
            <a:off x="0" y="3132138"/>
            <a:ext cx="9144000" cy="3725862"/>
          </a:xfrm>
          <a:prstGeom prst="rect">
            <a:avLst/>
          </a:prstGeom>
          <a:gradFill rotWithShape="1">
            <a:gsLst>
              <a:gs pos="0">
                <a:srgbClr val="003569"/>
              </a:gs>
              <a:gs pos="100000">
                <a:srgbClr val="417EB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gray">
          <a:xfrm>
            <a:off x="0" y="3125788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6"/>
          <p:cNvSpPr txBox="1">
            <a:spLocks noChangeArrowheads="1"/>
          </p:cNvSpPr>
          <p:nvPr/>
        </p:nvSpPr>
        <p:spPr bwMode="auto">
          <a:xfrm>
            <a:off x="0" y="6537325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83415D4A-526D-4DC9-BF32-C7B8DBFED9D6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pic>
        <p:nvPicPr>
          <p:cNvPr id="8" name="Picture 8" descr="http://www.rrcap.unep.org/userfiles/image/200px-Tongji_University_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85750"/>
            <a:ext cx="19050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111" name="Rectangle 47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1406525"/>
            <a:ext cx="7508875" cy="1470025"/>
          </a:xfrm>
        </p:spPr>
        <p:txBody>
          <a:bodyPr anchor="ctr"/>
          <a:lstStyle>
            <a:lvl1pPr algn="r">
              <a:defRPr sz="4800"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88112" name="Rectangle 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21063" y="3357562"/>
            <a:ext cx="5205412" cy="1085859"/>
          </a:xfrm>
        </p:spPr>
        <p:txBody>
          <a:bodyPr/>
          <a:lstStyle>
            <a:lvl1pPr marL="0" indent="0" algn="r">
              <a:spcBef>
                <a:spcPct val="20000"/>
              </a:spcBef>
              <a:buClrTx/>
              <a:buFontTx/>
              <a:buNone/>
              <a:defRPr sz="2400">
                <a:solidFill>
                  <a:schemeClr val="bg1"/>
                </a:solidFill>
                <a:latin typeface="Bodoni MT Black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863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8"/>
          <p:cNvCxnSpPr>
            <a:cxnSpLocks noChangeShapeType="1"/>
          </p:cNvCxnSpPr>
          <p:nvPr/>
        </p:nvCxnSpPr>
        <p:spPr bwMode="auto">
          <a:xfrm>
            <a:off x="571500" y="6858000"/>
            <a:ext cx="18573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buClr>
                <a:srgbClr val="FF9900"/>
              </a:buCl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4950253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026131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18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45FD9-2A9F-4ADC-AC9B-CCE7FF1D7D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62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4"/>
          <p:cNvSpPr>
            <a:spLocks noChangeArrowheads="1"/>
          </p:cNvSpPr>
          <p:nvPr/>
        </p:nvSpPr>
        <p:spPr bwMode="gray">
          <a:xfrm>
            <a:off x="0" y="6375400"/>
            <a:ext cx="9144000" cy="4826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Line 56"/>
          <p:cNvSpPr>
            <a:spLocks noChangeShapeType="1"/>
          </p:cNvSpPr>
          <p:nvPr/>
        </p:nvSpPr>
        <p:spPr bwMode="gray">
          <a:xfrm>
            <a:off x="0" y="6369050"/>
            <a:ext cx="9144000" cy="0"/>
          </a:xfrm>
          <a:prstGeom prst="line">
            <a:avLst/>
          </a:prstGeom>
          <a:noFill/>
          <a:ln w="25400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0850" y="1412875"/>
            <a:ext cx="82931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9" name="Text Box 45"/>
          <p:cNvSpPr txBox="1">
            <a:spLocks noChangeArrowheads="1"/>
          </p:cNvSpPr>
          <p:nvPr/>
        </p:nvSpPr>
        <p:spPr bwMode="ltGray">
          <a:xfrm>
            <a:off x="8621713" y="6453188"/>
            <a:ext cx="485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6FD76A5C-5101-48E2-B4FF-7E96E16CB41A}" type="slidenum">
              <a:rPr lang="en-US" altLang="zh-CN" sz="1400" b="1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en-US" altLang="zh-CN" sz="1400" b="1">
              <a:solidFill>
                <a:schemeClr val="bg1"/>
              </a:solidFill>
            </a:endParaRPr>
          </a:p>
        </p:txBody>
      </p:sp>
      <p:sp>
        <p:nvSpPr>
          <p:cNvPr id="1030" name="Rectangle 46"/>
          <p:cNvSpPr>
            <a:spLocks noGrp="1" noChangeArrowheads="1"/>
          </p:cNvSpPr>
          <p:nvPr>
            <p:ph type="title"/>
          </p:nvPr>
        </p:nvSpPr>
        <p:spPr bwMode="auto">
          <a:xfrm>
            <a:off x="450850" y="139700"/>
            <a:ext cx="8275638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1" name="TextBox 6"/>
          <p:cNvSpPr txBox="1">
            <a:spLocks noChangeArrowheads="1"/>
          </p:cNvSpPr>
          <p:nvPr/>
        </p:nvSpPr>
        <p:spPr bwMode="auto">
          <a:xfrm>
            <a:off x="4763" y="6416675"/>
            <a:ext cx="3205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 err="1">
                <a:solidFill>
                  <a:schemeClr val="bg1"/>
                </a:solidFill>
              </a:rPr>
              <a:t>Tongji</a:t>
            </a:r>
            <a:r>
              <a:rPr lang="en-US" altLang="zh-CN" b="1" dirty="0">
                <a:solidFill>
                  <a:schemeClr val="bg1"/>
                </a:solidFill>
              </a:rPr>
              <a:t> University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032" name="Picture 9" descr="tongji university lo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15888"/>
            <a:ext cx="21240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3" r:id="rId3"/>
    <p:sldLayoutId id="2147483925" r:id="rId4"/>
    <p:sldLayoutId id="2147483928" r:id="rId5"/>
  </p:sldLayoutIdLst>
  <p:transition>
    <p:zoom/>
  </p:transition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itchFamily="34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2200">
          <a:solidFill>
            <a:schemeClr val="tx1"/>
          </a:solidFill>
          <a:latin typeface="华文新魏" pitchFamily="2" charset="-122"/>
          <a:ea typeface="华文新魏" pitchFamily="2" charset="-122"/>
        </a:defRPr>
      </a:lvl2pPr>
      <a:lvl3pPr marL="11430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>
          <a:solidFill>
            <a:schemeClr val="tx1"/>
          </a:solidFill>
          <a:latin typeface="华文新魏" pitchFamily="2" charset="-122"/>
          <a:ea typeface="华文新魏" pitchFamily="2" charset="-122"/>
        </a:defRPr>
      </a:lvl3pPr>
      <a:lvl4pPr marL="16002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rgbClr val="FF9900"/>
        </a:buClr>
        <a:buChar char="•"/>
        <a:defRPr sz="1600">
          <a:solidFill>
            <a:schemeClr val="tx1"/>
          </a:solidFill>
          <a:latin typeface="华文新魏" pitchFamily="2" charset="-122"/>
          <a:ea typeface="华文新魏" pitchFamily="2" charset="-122"/>
        </a:defRPr>
      </a:lvl4pPr>
      <a:lvl5pPr marL="2057400" indent="-228600" algn="l" rtl="0" eaLnBrk="0" fontAlgn="base" hangingPunct="0">
        <a:lnSpc>
          <a:spcPct val="110000"/>
        </a:lnSpc>
        <a:spcBef>
          <a:spcPts val="6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  <a:ea typeface="华文新魏" pitchFamily="2" charset="-122"/>
        </a:defRPr>
      </a:lvl5pPr>
      <a:lvl6pPr marL="25146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lnSpc>
          <a:spcPct val="85000"/>
        </a:lnSpc>
        <a:spcBef>
          <a:spcPct val="30000"/>
        </a:spcBef>
        <a:spcAft>
          <a:spcPct val="0"/>
        </a:spcAft>
        <a:buClr>
          <a:schemeClr val="hlink"/>
        </a:buClr>
        <a:buChar char="•"/>
        <a:defRPr sz="2000">
          <a:solidFill>
            <a:srgbClr val="5F5F5F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baike.baidu.cn/view/3601139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>
                <a:solidFill>
                  <a:schemeClr val="tx1"/>
                </a:solidFill>
              </a:rPr>
              <a:t>自定义函数</a:t>
            </a:r>
            <a:r>
              <a:rPr lang="en-US" altLang="zh-CN" dirty="0">
                <a:solidFill>
                  <a:schemeClr val="tx1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递归</a:t>
            </a:r>
            <a:endParaRPr lang="zh-CN" altLang="en-US" dirty="0"/>
          </a:p>
        </p:txBody>
      </p:sp>
      <p:sp>
        <p:nvSpPr>
          <p:cNvPr id="4099" name="副标题 2"/>
          <p:cNvSpPr>
            <a:spLocks noGrp="1"/>
          </p:cNvSpPr>
          <p:nvPr>
            <p:ph type="subTitle" sz="quarter" idx="1"/>
          </p:nvPr>
        </p:nvSpPr>
        <p:spPr>
          <a:xfrm>
            <a:off x="3421063" y="3357563"/>
            <a:ext cx="5205412" cy="108585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Bodoni MT Black"/>
              </a:rPr>
              <a:t>同济大学计算机</a:t>
            </a:r>
            <a:endParaRPr lang="en-US" altLang="zh-CN" sz="4000" dirty="0">
              <a:latin typeface="Bodoni MT Black"/>
            </a:endParaRPr>
          </a:p>
          <a:p>
            <a:pPr eaLnBrk="1" hangingPunct="1"/>
            <a:r>
              <a:rPr lang="zh-CN" altLang="en-US" sz="4000" dirty="0">
                <a:latin typeface="Bodoni MT Black"/>
              </a:rPr>
              <a:t>基础教研室</a:t>
            </a:r>
          </a:p>
          <a:p>
            <a:pPr eaLnBrk="1" hangingPunct="1"/>
            <a:endParaRPr lang="zh-CN" altLang="en-US" sz="4000" dirty="0">
              <a:latin typeface="Bodoni MT Black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02FE8-2683-4F3B-BE79-E9B94C8B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74B33-C5B3-4B71-9A17-D56C5C21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>
                <a:hlinkClick r:id="rId2" action="ppaction://hlinkfile"/>
              </a:rPr>
              <a:t>德罗斯特效应</a:t>
            </a:r>
            <a:r>
              <a:rPr lang="zh-CN" altLang="en-US" dirty="0"/>
              <a:t>   两面镜子中间的你，产生“像中像”，</a:t>
            </a:r>
            <a:endParaRPr lang="en-US" altLang="zh-CN" dirty="0"/>
          </a:p>
          <a:p>
            <a:pPr eaLnBrk="1" hangingPunct="1">
              <a:buClr>
                <a:schemeClr val="tx1"/>
              </a:buClr>
              <a:buFontTx/>
              <a:buNone/>
              <a:defRPr/>
            </a:pPr>
            <a:r>
              <a:rPr lang="zh-CN" altLang="en-US" dirty="0"/>
              <a:t>这就是一种递归现象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4" descr="tu2">
            <a:extLst>
              <a:ext uri="{FF2B5EF4-FFF2-40B4-BE49-F238E27FC236}">
                <a16:creationId xmlns:a16="http://schemas.microsoft.com/office/drawing/2014/main" id="{A48C5784-A0A4-4877-AA6B-85EAA3BA6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780927"/>
            <a:ext cx="4536504" cy="312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004596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611559" y="336170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dirty="0"/>
              <a:t>   </a:t>
            </a:r>
            <a:r>
              <a:rPr lang="zh-CN" altLang="en-US" dirty="0"/>
              <a:t>递归问题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83878" y="1268760"/>
            <a:ext cx="8308602" cy="46805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递归问题的例子：</a:t>
            </a: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求</a:t>
            </a:r>
            <a:r>
              <a:rPr lang="en-US" altLang="zh-CN" sz="2400" b="1" dirty="0" err="1"/>
              <a:t>x</a:t>
            </a:r>
            <a:r>
              <a:rPr lang="en-US" altLang="zh-CN" sz="2400" b="1" baseline="30000" dirty="0" err="1"/>
              <a:t>n</a:t>
            </a:r>
            <a:r>
              <a:rPr lang="en-US" altLang="zh-CN" sz="2400" b="1" dirty="0"/>
              <a:t>,   </a:t>
            </a:r>
            <a:r>
              <a:rPr lang="zh-CN" altLang="en-US" sz="2400" b="1" dirty="0" smtClean="0"/>
              <a:t> </a:t>
            </a:r>
            <a:r>
              <a:rPr lang="en-US" altLang="zh-CN" sz="2400" b="1" dirty="0"/>
              <a:t>x</a:t>
            </a:r>
            <a:r>
              <a:rPr lang="en-US" altLang="zh-CN" sz="2400" b="1" baseline="30000" dirty="0"/>
              <a:t>0</a:t>
            </a:r>
            <a:r>
              <a:rPr lang="en-US" altLang="zh-CN" sz="2400" b="1" dirty="0"/>
              <a:t>=1, </a:t>
            </a:r>
            <a:r>
              <a:rPr lang="en-US" altLang="zh-CN" sz="2400" b="1" dirty="0" err="1"/>
              <a:t>x</a:t>
            </a:r>
            <a:r>
              <a:rPr lang="en-US" altLang="zh-CN" sz="2400" b="1" baseline="30000" dirty="0" err="1"/>
              <a:t>n</a:t>
            </a:r>
            <a:r>
              <a:rPr lang="en-US" altLang="zh-CN" sz="2400" b="1" dirty="0"/>
              <a:t>=x*x</a:t>
            </a:r>
            <a:r>
              <a:rPr lang="en-US" altLang="zh-CN" sz="2400" b="1" baseline="30000" dirty="0"/>
              <a:t>n-1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求阶乘：</a:t>
            </a:r>
            <a:r>
              <a:rPr lang="en-US" altLang="zh-CN" sz="2400" b="1" dirty="0"/>
              <a:t>n!=n*(n-1</a:t>
            </a:r>
            <a:r>
              <a:rPr lang="en-US" altLang="zh-CN" sz="2400" b="1" dirty="0" smtClean="0"/>
              <a:t>)!     1</a:t>
            </a:r>
            <a:r>
              <a:rPr lang="en-US" altLang="zh-CN" sz="2400" b="1" dirty="0"/>
              <a:t>!</a:t>
            </a:r>
            <a:r>
              <a:rPr lang="en-US" altLang="zh-CN" sz="2400" b="1" dirty="0" smtClean="0"/>
              <a:t>=1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</a:pPr>
            <a:endParaRPr lang="en-US" altLang="zh-CN" sz="24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特点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pPr marL="525463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b="1" dirty="0" smtClean="0"/>
              <a:t>一</a:t>
            </a:r>
            <a:r>
              <a:rPr lang="zh-CN" altLang="en-US" sz="2400" b="1" dirty="0"/>
              <a:t>个</a:t>
            </a:r>
            <a:r>
              <a:rPr lang="zh-CN" altLang="en-US" sz="2400" b="1" dirty="0">
                <a:solidFill>
                  <a:srgbClr val="FF0000"/>
                </a:solidFill>
              </a:rPr>
              <a:t>大问题</a:t>
            </a:r>
            <a:r>
              <a:rPr lang="zh-CN" altLang="en-US" sz="2400" b="1" dirty="0"/>
              <a:t>，被分解为可用</a:t>
            </a:r>
            <a:r>
              <a:rPr lang="zh-CN" altLang="en-US" sz="2400" b="1" dirty="0" smtClean="0"/>
              <a:t>自身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规模</a:t>
            </a:r>
            <a:r>
              <a:rPr lang="zh-CN" altLang="en-US" sz="2400" b="1" dirty="0">
                <a:solidFill>
                  <a:srgbClr val="FF0000"/>
                </a:solidFill>
              </a:rPr>
              <a:t>更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小的问题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525463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b="1" dirty="0"/>
              <a:t>递归问题要有一个</a:t>
            </a:r>
            <a:r>
              <a:rPr lang="zh-CN" altLang="en-US" sz="2400" b="1" dirty="0">
                <a:solidFill>
                  <a:srgbClr val="FF0000"/>
                </a:solidFill>
              </a:rPr>
              <a:t>终止条件</a:t>
            </a:r>
            <a:r>
              <a:rPr lang="zh-CN" altLang="en-US" sz="2400" b="1" dirty="0"/>
              <a:t>，例如上述</a:t>
            </a:r>
            <a:r>
              <a:rPr lang="en-US" altLang="zh-CN" sz="2400" b="1" dirty="0"/>
              <a:t>x</a:t>
            </a:r>
            <a:r>
              <a:rPr lang="en-US" altLang="zh-CN" sz="2400" b="1" baseline="30000" dirty="0"/>
              <a:t>0</a:t>
            </a:r>
            <a:r>
              <a:rPr lang="en-US" altLang="zh-CN" sz="2400" b="1" dirty="0"/>
              <a:t>=1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endParaRPr lang="en-US" altLang="zh-CN" sz="2400" b="1" dirty="0" smtClean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400" b="1" dirty="0" smtClean="0"/>
              <a:t>递归</a:t>
            </a:r>
            <a:r>
              <a:rPr lang="zh-CN" altLang="en-US" sz="2400" b="1" dirty="0"/>
              <a:t>反应的思维方式：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大</a:t>
            </a:r>
            <a:r>
              <a:rPr lang="zh-CN" altLang="en-US" sz="2400" b="1" dirty="0" smtClean="0"/>
              <a:t>问题分解</a:t>
            </a:r>
            <a:r>
              <a:rPr lang="zh-CN" altLang="en-US" sz="2400" b="1" dirty="0"/>
              <a:t>为</a:t>
            </a:r>
            <a:r>
              <a:rPr lang="zh-CN" altLang="en-US" sz="2400" b="1" dirty="0">
                <a:solidFill>
                  <a:srgbClr val="FF0000"/>
                </a:solidFill>
              </a:rPr>
              <a:t>相同类型的小问题</a:t>
            </a:r>
            <a:r>
              <a:rPr lang="zh-CN" altLang="en-US" sz="2400" b="1" dirty="0"/>
              <a:t>，直</a:t>
            </a:r>
            <a:r>
              <a:rPr lang="zh-CN" altLang="en-US" sz="2400" b="1" dirty="0" smtClean="0"/>
              <a:t>至最小</a:t>
            </a:r>
            <a:r>
              <a:rPr lang="zh-CN" altLang="en-US" sz="2400" b="1" dirty="0" smtClean="0"/>
              <a:t>化（终止）</a:t>
            </a:r>
            <a:r>
              <a:rPr lang="zh-CN" altLang="en-US" sz="2400" b="1" dirty="0" smtClean="0"/>
              <a:t>，</a:t>
            </a:r>
            <a:r>
              <a:rPr lang="zh-CN" altLang="en-US" sz="2400" b="1" dirty="0"/>
              <a:t>小问题解决了，大问题也就解决了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291043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6316E-109E-478C-B027-B249FE78F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700391-11C8-4B20-9280-7768B3F57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50" y="1008063"/>
            <a:ext cx="8293100" cy="41722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函数内部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调用自己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，称为递归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5390D0E-F890-4A37-9FC6-0FFED97AD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291" y="1481486"/>
            <a:ext cx="7876554" cy="50405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/>
              <a:t>例：求</a:t>
            </a:r>
            <a:r>
              <a:rPr lang="en-US" altLang="zh-CN" sz="2400" b="1" dirty="0" err="1"/>
              <a:t>x</a:t>
            </a:r>
            <a:r>
              <a:rPr lang="en-US" altLang="zh-CN" sz="2400" b="1" baseline="30000" dirty="0" err="1"/>
              <a:t>n</a:t>
            </a:r>
            <a:r>
              <a:rPr lang="en-US" altLang="zh-CN" sz="2400" b="1" dirty="0"/>
              <a:t>,   </a:t>
            </a:r>
            <a:r>
              <a:rPr lang="en-US" altLang="zh-CN" sz="2400" b="1" dirty="0" smtClean="0"/>
              <a:t>x</a:t>
            </a:r>
            <a:r>
              <a:rPr lang="en-US" altLang="zh-CN" sz="2400" b="1" baseline="30000" dirty="0" smtClean="0"/>
              <a:t>0</a:t>
            </a:r>
            <a:r>
              <a:rPr lang="en-US" altLang="zh-CN" sz="2400" b="1" dirty="0" smtClean="0"/>
              <a:t>=1</a:t>
            </a:r>
            <a:r>
              <a:rPr lang="en-US" altLang="zh-CN" sz="2400" b="1" dirty="0"/>
              <a:t>, </a:t>
            </a:r>
            <a:r>
              <a:rPr lang="en-US" altLang="zh-CN" sz="2400" b="1" dirty="0" err="1"/>
              <a:t>x</a:t>
            </a:r>
            <a:r>
              <a:rPr lang="en-US" altLang="zh-CN" sz="2400" b="1" baseline="30000" dirty="0" err="1"/>
              <a:t>n</a:t>
            </a:r>
            <a:r>
              <a:rPr lang="en-US" altLang="zh-CN" sz="2400" b="1" dirty="0"/>
              <a:t>=x*x</a:t>
            </a:r>
            <a:r>
              <a:rPr lang="en-US" altLang="zh-CN" sz="2400" b="1" baseline="30000" dirty="0"/>
              <a:t>n-1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12D01B7-A3EC-4A8D-9F60-87C9CE755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55" y="2546785"/>
            <a:ext cx="4016845" cy="353962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 err="1" smtClean="0"/>
              <a:t>def</a:t>
            </a:r>
            <a:r>
              <a:rPr lang="en-US" altLang="zh-CN" sz="2400" b="1" dirty="0" smtClean="0"/>
              <a:t>  </a:t>
            </a:r>
            <a:r>
              <a:rPr lang="en-US" altLang="zh-CN" sz="2400" b="1" dirty="0">
                <a:solidFill>
                  <a:srgbClr val="FF0000"/>
                </a:solidFill>
              </a:rPr>
              <a:t>power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x,n</a:t>
            </a:r>
            <a:r>
              <a:rPr lang="en-US" altLang="zh-CN" sz="2400" b="1" dirty="0"/>
              <a:t>):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if n</a:t>
            </a:r>
            <a:r>
              <a:rPr lang="en-US" altLang="zh-CN" sz="2400" b="1" dirty="0" smtClean="0"/>
              <a:t>==1:</a:t>
            </a: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    return </a:t>
            </a:r>
            <a:r>
              <a:rPr lang="en-US" altLang="zh-CN" sz="2400" b="1" dirty="0" smtClean="0"/>
              <a:t>x</a:t>
            </a: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else: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    </a:t>
            </a:r>
            <a:r>
              <a:rPr lang="en-US" altLang="zh-CN" sz="2400" b="1" dirty="0" smtClean="0"/>
              <a:t>return x*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power</a:t>
            </a:r>
            <a:r>
              <a:rPr lang="en-US" altLang="zh-CN" sz="2400" b="1" dirty="0" smtClean="0"/>
              <a:t>(x,n-1</a:t>
            </a:r>
            <a:r>
              <a:rPr lang="en-US" altLang="zh-CN" sz="2400" b="1" dirty="0"/>
              <a:t>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y=power(10,3)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print(y)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812BA7-E979-429C-9541-7CAF3990AC9E}"/>
              </a:ext>
            </a:extLst>
          </p:cNvPr>
          <p:cNvSpPr/>
          <p:nvPr/>
        </p:nvSpPr>
        <p:spPr>
          <a:xfrm>
            <a:off x="4996521" y="2546785"/>
            <a:ext cx="3696629" cy="576064"/>
          </a:xfrm>
          <a:prstGeom prst="rect">
            <a:avLst/>
          </a:prstGeom>
          <a:solidFill>
            <a:srgbClr val="CC66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b="1" dirty="0"/>
              <a:t>达到终止条件，递归结束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2567411-CC9E-4BCE-9A90-B14F72336834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716487" y="2834817"/>
            <a:ext cx="2280034" cy="486603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382F41E-03BF-42D5-B050-52E73F330783}"/>
              </a:ext>
            </a:extLst>
          </p:cNvPr>
          <p:cNvSpPr/>
          <p:nvPr/>
        </p:nvSpPr>
        <p:spPr>
          <a:xfrm>
            <a:off x="5124881" y="3533248"/>
            <a:ext cx="3408596" cy="576064"/>
          </a:xfrm>
          <a:prstGeom prst="rect">
            <a:avLst/>
          </a:prstGeom>
          <a:solidFill>
            <a:srgbClr val="CC66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b="1" dirty="0"/>
              <a:t>调用自己，继续递归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3A5CA2D-19FD-41D3-8BD0-162E9D4CF6C3}"/>
              </a:ext>
            </a:extLst>
          </p:cNvPr>
          <p:cNvCxnSpPr>
            <a:stCxn id="15" idx="1"/>
          </p:cNvCxnSpPr>
          <p:nvPr/>
        </p:nvCxnSpPr>
        <p:spPr>
          <a:xfrm flipH="1">
            <a:off x="4717053" y="3821280"/>
            <a:ext cx="407828" cy="288032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">
            <a:extLst>
              <a:ext uri="{FF2B5EF4-FFF2-40B4-BE49-F238E27FC236}">
                <a16:creationId xmlns:a16="http://schemas.microsoft.com/office/drawing/2014/main" id="{8312EBAD-1C78-4C03-A464-3CDCC7AC6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4807743"/>
            <a:ext cx="5944500" cy="112778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zh-CN" altLang="en-US" sz="2000" b="1" dirty="0"/>
              <a:t>编写规则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000" b="1" dirty="0"/>
              <a:t>找到终止条件，如</a:t>
            </a:r>
            <a:r>
              <a:rPr lang="en-US" altLang="zh-CN" sz="2000" b="1" dirty="0"/>
              <a:t>x</a:t>
            </a:r>
            <a:r>
              <a:rPr lang="en-US" altLang="zh-CN" sz="2000" b="1" baseline="30000" dirty="0"/>
              <a:t>0</a:t>
            </a:r>
            <a:r>
              <a:rPr lang="en-US" altLang="zh-CN" sz="2000" b="1" dirty="0"/>
              <a:t>=1, </a:t>
            </a:r>
            <a:r>
              <a:rPr lang="zh-CN" altLang="en-US" sz="2000" b="1" dirty="0"/>
              <a:t>就是结束条件</a:t>
            </a:r>
            <a:endParaRPr lang="en-US" altLang="zh-CN" sz="20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000" b="1" dirty="0"/>
              <a:t>没到终止条件，分解成下一个小问题，调用自身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70495803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611559" y="336170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dirty="0"/>
              <a:t>   </a:t>
            </a:r>
            <a:r>
              <a:rPr lang="zh-CN" altLang="en-US" dirty="0"/>
              <a:t>递归函数</a:t>
            </a:r>
            <a:r>
              <a:rPr lang="en-US" altLang="zh-CN" dirty="0"/>
              <a:t>----</a:t>
            </a:r>
            <a:r>
              <a:rPr lang="zh-CN" altLang="en-US" dirty="0"/>
              <a:t>练习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83878" y="1268760"/>
            <a:ext cx="7876554" cy="50405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/>
              <a:t>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！</a:t>
            </a:r>
            <a:endParaRPr lang="en-US" altLang="zh-CN" sz="2400" b="1" baseline="300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35282" y="1916832"/>
            <a:ext cx="4016845" cy="345638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 err="1" smtClean="0"/>
              <a:t>def</a:t>
            </a:r>
            <a:r>
              <a:rPr lang="en-US" altLang="zh-CN" sz="2400" b="1" dirty="0" smtClean="0"/>
              <a:t>  </a:t>
            </a:r>
            <a:r>
              <a:rPr lang="en-US" altLang="zh-CN" sz="2400" b="1" dirty="0"/>
              <a:t>power(</a:t>
            </a:r>
            <a:r>
              <a:rPr lang="en-US" altLang="zh-CN" sz="2400" b="1" dirty="0" err="1"/>
              <a:t>x,n</a:t>
            </a:r>
            <a:r>
              <a:rPr lang="en-US" altLang="zh-CN" sz="2400" b="1" dirty="0"/>
              <a:t>):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if n</a:t>
            </a:r>
            <a:r>
              <a:rPr lang="en-US" altLang="zh-CN" sz="2400" b="1" dirty="0" smtClean="0"/>
              <a:t>==1:</a:t>
            </a: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    return </a:t>
            </a:r>
            <a:r>
              <a:rPr lang="en-US" altLang="zh-CN" sz="2400" b="1" dirty="0" smtClean="0"/>
              <a:t>x</a:t>
            </a: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else: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    return x*power(x,n-1)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endParaRPr lang="en-US" altLang="zh-CN" sz="2400" b="1" dirty="0"/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y=power(10,3)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print(y)</a:t>
            </a:r>
          </a:p>
        </p:txBody>
      </p:sp>
      <p:sp>
        <p:nvSpPr>
          <p:cNvPr id="12" name="矩形 11"/>
          <p:cNvSpPr/>
          <p:nvPr/>
        </p:nvSpPr>
        <p:spPr>
          <a:xfrm>
            <a:off x="4728390" y="1916832"/>
            <a:ext cx="3878032" cy="2448272"/>
          </a:xfrm>
          <a:prstGeom prst="rect">
            <a:avLst/>
          </a:prstGeom>
          <a:solidFill>
            <a:srgbClr val="CC66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b="1" dirty="0"/>
              <a:t>参照</a:t>
            </a:r>
            <a:r>
              <a:rPr lang="zh-CN" altLang="en-US" sz="2400" b="1" dirty="0" smtClean="0"/>
              <a:t>左边</a:t>
            </a:r>
            <a:r>
              <a:rPr lang="zh-CN" altLang="en-US" sz="2400" b="1" dirty="0"/>
              <a:t>代码，实现</a:t>
            </a:r>
            <a:r>
              <a:rPr lang="en-US" altLang="zh-CN" sz="2400" b="1" dirty="0"/>
              <a:t>N</a:t>
            </a:r>
            <a:r>
              <a:rPr lang="en-US" altLang="zh-CN" sz="2400" b="1" dirty="0" smtClean="0"/>
              <a:t>!</a:t>
            </a:r>
          </a:p>
          <a:p>
            <a:pPr algn="just"/>
            <a:r>
              <a:rPr lang="zh-CN" altLang="en-US" sz="2400" b="1" dirty="0" smtClean="0"/>
              <a:t>阶乘函数定义为 </a:t>
            </a:r>
            <a:r>
              <a:rPr lang="en-US" altLang="zh-CN" sz="2400" b="1" dirty="0" smtClean="0"/>
              <a:t>fact</a:t>
            </a:r>
          </a:p>
          <a:p>
            <a:pPr algn="just"/>
            <a:r>
              <a:rPr lang="zh-CN" altLang="en-US" sz="2400" b="1" dirty="0" smtClean="0"/>
              <a:t>函数值只受</a:t>
            </a:r>
            <a:r>
              <a:rPr lang="en-US" altLang="zh-CN" sz="2400" b="1" dirty="0" smtClean="0"/>
              <a:t>n</a:t>
            </a:r>
            <a:r>
              <a:rPr lang="zh-CN" altLang="en-US" sz="2400" b="1" dirty="0" smtClean="0"/>
              <a:t>影响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pPr algn="just"/>
            <a:r>
              <a:rPr lang="zh-CN" altLang="en-US" sz="2400" b="1" dirty="0"/>
              <a:t>问</a:t>
            </a:r>
            <a:r>
              <a:rPr lang="zh-CN" altLang="en-US" sz="2400" b="1" dirty="0" smtClean="0"/>
              <a:t>题最小化 </a:t>
            </a:r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！</a:t>
            </a:r>
            <a:r>
              <a:rPr lang="en-US" altLang="zh-CN" sz="2400" b="1" dirty="0" smtClean="0"/>
              <a:t>=1</a:t>
            </a:r>
            <a:endParaRPr lang="en-US" altLang="zh-CN" sz="2400" b="1" dirty="0" smtClean="0"/>
          </a:p>
          <a:p>
            <a:pPr algn="just"/>
            <a:r>
              <a:rPr lang="en-US" altLang="zh-CN" sz="2400" b="1" dirty="0" err="1"/>
              <a:t>d</a:t>
            </a:r>
            <a:r>
              <a:rPr lang="en-US" altLang="zh-CN" sz="2400" b="1" dirty="0" err="1" smtClean="0"/>
              <a:t>ef</a:t>
            </a:r>
            <a:r>
              <a:rPr lang="en-US" altLang="zh-CN" sz="2400" b="1" dirty="0" smtClean="0"/>
              <a:t> fact(n):</a:t>
            </a:r>
          </a:p>
          <a:p>
            <a:pPr algn="just"/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9840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eaLnBrk="1" hangingPunct="1"/>
            <a:r>
              <a:rPr lang="zh-CN" altLang="en-US" sz="3200" b="0" dirty="0">
                <a:solidFill>
                  <a:schemeClr val="bg1"/>
                </a:solidFill>
                <a:latin typeface="宋体" panose="02010600030101010101" pitchFamily="2" charset="-122"/>
              </a:rPr>
              <a:t>递归函数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539750" y="836613"/>
            <a:ext cx="8604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3500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ea typeface="宋体" panose="02010600030101010101" pitchFamily="2" charset="-122"/>
              </a:rPr>
              <a:t>    </a:t>
            </a:r>
            <a:endParaRPr lang="en-US" altLang="zh-CN" sz="240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5126" name="Rectangle 17"/>
          <p:cNvSpPr>
            <a:spLocks noChangeArrowheads="1"/>
          </p:cNvSpPr>
          <p:nvPr/>
        </p:nvSpPr>
        <p:spPr bwMode="auto">
          <a:xfrm>
            <a:off x="919604" y="4233742"/>
            <a:ext cx="2160587" cy="1508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solidFill>
                  <a:srgbClr val="000099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000" dirty="0" smtClean="0">
                <a:solidFill>
                  <a:srgbClr val="FF0000"/>
                </a:solidFill>
                <a:ea typeface="宋体" panose="02010600030101010101" pitchFamily="2" charset="-122"/>
              </a:rPr>
              <a:t>fact(n=3):</a:t>
            </a:r>
            <a:endParaRPr lang="en-US" altLang="zh-CN" sz="2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if n==1: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    return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 else: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  return n*fact(n-1</a:t>
            </a: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) </a:t>
            </a:r>
          </a:p>
        </p:txBody>
      </p:sp>
      <p:sp>
        <p:nvSpPr>
          <p:cNvPr id="5127" name="Rectangle 18"/>
          <p:cNvSpPr>
            <a:spLocks noChangeArrowheads="1"/>
          </p:cNvSpPr>
          <p:nvPr/>
        </p:nvSpPr>
        <p:spPr bwMode="auto">
          <a:xfrm>
            <a:off x="3151629" y="4233742"/>
            <a:ext cx="2231579" cy="147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solidFill>
                  <a:srgbClr val="000099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800" dirty="0" smtClean="0">
                <a:solidFill>
                  <a:srgbClr val="000099"/>
                </a:solidFill>
                <a:ea typeface="宋体" panose="02010600030101010101" pitchFamily="2" charset="-122"/>
              </a:rPr>
              <a:t>fact(n=2):</a:t>
            </a:r>
            <a:endParaRPr lang="en-US" altLang="zh-CN" sz="1800" dirty="0">
              <a:solidFill>
                <a:srgbClr val="000099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if n==1: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    return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 else: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   </a:t>
            </a: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return n*fact(n-1) </a:t>
            </a:r>
          </a:p>
        </p:txBody>
      </p:sp>
      <p:sp>
        <p:nvSpPr>
          <p:cNvPr id="5128" name="Rectangle 19"/>
          <p:cNvSpPr>
            <a:spLocks noChangeArrowheads="1"/>
          </p:cNvSpPr>
          <p:nvPr/>
        </p:nvSpPr>
        <p:spPr bwMode="auto">
          <a:xfrm>
            <a:off x="5456109" y="4233742"/>
            <a:ext cx="2231578" cy="147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solidFill>
                  <a:srgbClr val="000099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1800" dirty="0" smtClean="0">
                <a:solidFill>
                  <a:srgbClr val="000099"/>
                </a:solidFill>
                <a:ea typeface="宋体" panose="02010600030101010101" pitchFamily="2" charset="-122"/>
              </a:rPr>
              <a:t>fact(n=1):</a:t>
            </a:r>
            <a:endParaRPr lang="en-US" altLang="zh-CN" sz="1800" dirty="0">
              <a:solidFill>
                <a:srgbClr val="000099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if n==1: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ea typeface="宋体" panose="02010600030101010101" pitchFamily="2" charset="-122"/>
              </a:rPr>
              <a:t>      return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 else: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99"/>
                </a:solidFill>
                <a:ea typeface="宋体" panose="02010600030101010101" pitchFamily="2" charset="-122"/>
              </a:rPr>
              <a:t>     return n*fact(n-1) </a:t>
            </a:r>
          </a:p>
        </p:txBody>
      </p:sp>
      <p:sp>
        <p:nvSpPr>
          <p:cNvPr id="5131" name="Line 27"/>
          <p:cNvSpPr>
            <a:spLocks noChangeShapeType="1"/>
          </p:cNvSpPr>
          <p:nvPr/>
        </p:nvSpPr>
        <p:spPr bwMode="auto">
          <a:xfrm flipH="1" flipV="1">
            <a:off x="683567" y="5711712"/>
            <a:ext cx="522581" cy="275428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132" name="Line 28"/>
          <p:cNvSpPr>
            <a:spLocks noChangeShapeType="1"/>
          </p:cNvSpPr>
          <p:nvPr/>
        </p:nvSpPr>
        <p:spPr bwMode="auto">
          <a:xfrm flipV="1">
            <a:off x="2627783" y="4511554"/>
            <a:ext cx="739747" cy="90497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133" name="Line 29"/>
          <p:cNvSpPr>
            <a:spLocks noChangeShapeType="1"/>
          </p:cNvSpPr>
          <p:nvPr/>
        </p:nvSpPr>
        <p:spPr bwMode="auto">
          <a:xfrm flipH="1" flipV="1">
            <a:off x="2627784" y="5620520"/>
            <a:ext cx="595282" cy="257872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134" name="Line 30"/>
          <p:cNvSpPr>
            <a:spLocks noChangeShapeType="1"/>
          </p:cNvSpPr>
          <p:nvPr/>
        </p:nvSpPr>
        <p:spPr bwMode="auto">
          <a:xfrm flipV="1">
            <a:off x="5076056" y="4443553"/>
            <a:ext cx="648766" cy="92900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5135" name="Line 31"/>
          <p:cNvSpPr>
            <a:spLocks noChangeShapeType="1"/>
          </p:cNvSpPr>
          <p:nvPr/>
        </p:nvSpPr>
        <p:spPr bwMode="auto">
          <a:xfrm flipH="1" flipV="1">
            <a:off x="4668590" y="5609096"/>
            <a:ext cx="786502" cy="269296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62176" name="Text Box 32"/>
          <p:cNvSpPr txBox="1">
            <a:spLocks noChangeArrowheads="1"/>
          </p:cNvSpPr>
          <p:nvPr/>
        </p:nvSpPr>
        <p:spPr bwMode="auto">
          <a:xfrm>
            <a:off x="971600" y="1089000"/>
            <a:ext cx="5219700" cy="27884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 err="1">
                <a:latin typeface="黑体" panose="02010609060101010101" pitchFamily="49" charset="-122"/>
              </a:rPr>
              <a:t>def</a:t>
            </a:r>
            <a:r>
              <a:rPr lang="en-US" altLang="zh-CN" sz="2400" dirty="0">
                <a:latin typeface="黑体" panose="02010609060101010101" pitchFamily="49" charset="-122"/>
              </a:rPr>
              <a:t> fact(n):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    if n==1: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       return 1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    else:  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      return n*fact(n-1) 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endParaRPr lang="en-US" altLang="zh-CN" sz="2400" dirty="0">
              <a:latin typeface="黑体" panose="02010609060101010101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黑体" panose="02010609060101010101" pitchFamily="49" charset="-122"/>
              </a:rPr>
              <a:t>fact(3)=3 * fact(2)</a:t>
            </a:r>
          </a:p>
        </p:txBody>
      </p:sp>
      <p:sp>
        <p:nvSpPr>
          <p:cNvPr id="5138" name="Text Box 38"/>
          <p:cNvSpPr txBox="1">
            <a:spLocks noChangeArrowheads="1"/>
          </p:cNvSpPr>
          <p:nvPr/>
        </p:nvSpPr>
        <p:spPr bwMode="auto">
          <a:xfrm>
            <a:off x="2267744" y="4821985"/>
            <a:ext cx="769734" cy="338554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600" dirty="0">
                <a:solidFill>
                  <a:srgbClr val="A50021"/>
                </a:solidFill>
                <a:ea typeface="宋体" panose="02010600030101010101" pitchFamily="2" charset="-122"/>
              </a:rPr>
              <a:t>传递</a:t>
            </a:r>
            <a:r>
              <a:rPr lang="en-US" altLang="zh-CN" sz="1600" dirty="0">
                <a:solidFill>
                  <a:srgbClr val="A5002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139" name="Text Box 39"/>
          <p:cNvSpPr txBox="1">
            <a:spLocks noChangeArrowheads="1"/>
          </p:cNvSpPr>
          <p:nvPr/>
        </p:nvSpPr>
        <p:spPr bwMode="auto">
          <a:xfrm>
            <a:off x="4668590" y="4791586"/>
            <a:ext cx="717101" cy="338554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600" dirty="0">
                <a:solidFill>
                  <a:srgbClr val="A50021"/>
                </a:solidFill>
                <a:ea typeface="宋体" panose="02010600030101010101" pitchFamily="2" charset="-122"/>
              </a:rPr>
              <a:t>传递</a:t>
            </a:r>
            <a:r>
              <a:rPr lang="en-US" altLang="zh-CN" sz="1600" dirty="0">
                <a:solidFill>
                  <a:srgbClr val="A5002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140" name="Text Box 40"/>
          <p:cNvSpPr txBox="1">
            <a:spLocks noChangeArrowheads="1"/>
          </p:cNvSpPr>
          <p:nvPr/>
        </p:nvSpPr>
        <p:spPr bwMode="auto">
          <a:xfrm>
            <a:off x="323527" y="5872447"/>
            <a:ext cx="669674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</a:rPr>
              <a:t>     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49" charset="-122"/>
              </a:rPr>
              <a:t>返回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</a:rPr>
              <a:t> 6 	       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49" charset="-122"/>
              </a:rPr>
              <a:t>返回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</a:rPr>
              <a:t> 2            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49" charset="-122"/>
              </a:rPr>
              <a:t>返回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</a:rPr>
              <a:t> 1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4320208" y="3634159"/>
            <a:ext cx="1019175" cy="442913"/>
          </a:xfrm>
          <a:prstGeom prst="wedgeRoundRectCallout">
            <a:avLst>
              <a:gd name="adj1" fmla="val -83558"/>
              <a:gd name="adj2" fmla="val -3583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defRPr/>
            </a:pPr>
            <a:r>
              <a:rPr lang="en-US" dirty="0"/>
              <a:t>2*f(1)</a:t>
            </a:r>
          </a:p>
        </p:txBody>
      </p:sp>
      <p:sp>
        <p:nvSpPr>
          <p:cNvPr id="29" name="Text Box 126"/>
          <p:cNvSpPr txBox="1">
            <a:spLocks noChangeArrowheads="1"/>
          </p:cNvSpPr>
          <p:nvPr/>
        </p:nvSpPr>
        <p:spPr bwMode="auto">
          <a:xfrm>
            <a:off x="13410" y="8859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dirty="0"/>
              <a:t>   </a:t>
            </a:r>
            <a:r>
              <a:rPr lang="zh-CN" altLang="en-US" dirty="0"/>
              <a:t>递归函数执行过程</a:t>
            </a: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3080191" y="4233742"/>
            <a:ext cx="0" cy="2035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>
            <a:off x="5383208" y="4233742"/>
            <a:ext cx="0" cy="20352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0003241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611559" y="336170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en-US" altLang="zh-CN" dirty="0"/>
              <a:t>   </a:t>
            </a:r>
            <a:r>
              <a:rPr lang="zh-CN" altLang="en-US" dirty="0"/>
              <a:t>递归函数</a:t>
            </a:r>
            <a:r>
              <a:rPr lang="en-US" altLang="zh-CN" dirty="0" smtClean="0"/>
              <a:t>----</a:t>
            </a:r>
            <a:r>
              <a:rPr lang="zh-CN" altLang="en-US" dirty="0"/>
              <a:t>总结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1520" y="1268760"/>
            <a:ext cx="7876554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25463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b="1" dirty="0" smtClean="0"/>
              <a:t>控制问题的最小解，通过</a:t>
            </a:r>
            <a:r>
              <a:rPr lang="en-US" altLang="zh-CN" sz="2400" b="1" dirty="0" smtClean="0"/>
              <a:t>if</a:t>
            </a:r>
            <a:r>
              <a:rPr lang="zh-CN" altLang="en-US" sz="2400" b="1" dirty="0" smtClean="0"/>
              <a:t>语句，返回最小解的值，</a:t>
            </a:r>
            <a:endParaRPr lang="en-US" altLang="zh-CN" sz="2400" b="1" dirty="0" smtClean="0"/>
          </a:p>
          <a:p>
            <a:pPr marL="525463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zh-CN" altLang="en-US" sz="2400" b="1" dirty="0" smtClean="0"/>
              <a:t>向缩小问题的范围方向发展，调用自身</a:t>
            </a:r>
            <a:endParaRPr lang="en-US" altLang="zh-CN" sz="2400" b="1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573584"/>
            <a:ext cx="3768452" cy="318523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323" y="2573584"/>
            <a:ext cx="3859942" cy="269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7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8157" y="123276"/>
            <a:ext cx="8275638" cy="868363"/>
          </a:xfrm>
        </p:spPr>
        <p:txBody>
          <a:bodyPr/>
          <a:lstStyle/>
          <a:p>
            <a:r>
              <a:rPr lang="zh-CN" altLang="en-US" dirty="0"/>
              <a:t>递归练习： 求斐波那契额数列的第</a:t>
            </a:r>
            <a:r>
              <a:rPr lang="en-US" altLang="zh-CN" dirty="0"/>
              <a:t>n</a:t>
            </a:r>
            <a:r>
              <a:rPr lang="zh-CN" altLang="en-US" dirty="0"/>
              <a:t>项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F4F7F3-D3D8-44A8-8C6E-F7A2D7B1D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835901"/>
            <a:ext cx="4680520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问题：求数列中的第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n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个数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/>
            </a:r>
            <a:b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</a:b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f(n)</a:t>
            </a:r>
            <a:endParaRPr lang="zh-CN" altLang="en-US" sz="2000" b="0" dirty="0">
              <a:solidFill>
                <a:srgbClr val="000066"/>
              </a:solidFill>
              <a:latin typeface="+mj-ea"/>
              <a:ea typeface="+mj-ea"/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7961DC28-D380-4793-9B4E-8D4D7F22E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564904"/>
            <a:ext cx="4104456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子问题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1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：求数列中的第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n-1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个数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/>
            </a:r>
            <a:b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</a:b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f(n-1)</a:t>
            </a:r>
            <a:endParaRPr lang="zh-CN" altLang="en-US" sz="2000" b="0" dirty="0">
              <a:solidFill>
                <a:srgbClr val="000066"/>
              </a:solidFill>
              <a:latin typeface="+mj-ea"/>
              <a:ea typeface="+mj-ea"/>
            </a:endParaRP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D6C1B23F-93E6-4F87-9D13-F65AB7B95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2564904"/>
            <a:ext cx="3816424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子问题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2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：求数列中的第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n-2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个数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/>
            </a:r>
            <a:b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</a:b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f(n-2)</a:t>
            </a:r>
            <a:endParaRPr lang="zh-CN" altLang="en-US" sz="2000" b="0" dirty="0">
              <a:solidFill>
                <a:srgbClr val="000066"/>
              </a:solidFill>
              <a:latin typeface="+mj-ea"/>
              <a:ea typeface="+mj-ea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4D74300-5CC7-485E-85C5-23BA14FEB6D3}"/>
              </a:ext>
            </a:extLst>
          </p:cNvPr>
          <p:cNvCxnSpPr>
            <a:endCxn id="6" idx="0"/>
          </p:cNvCxnSpPr>
          <p:nvPr/>
        </p:nvCxnSpPr>
        <p:spPr>
          <a:xfrm flipH="1">
            <a:off x="2447764" y="1988029"/>
            <a:ext cx="1476164" cy="576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066C54D-1C1C-48C7-8D8D-F3E57ED2FE0E}"/>
              </a:ext>
            </a:extLst>
          </p:cNvPr>
          <p:cNvCxnSpPr>
            <a:endCxn id="7" idx="0"/>
          </p:cNvCxnSpPr>
          <p:nvPr/>
        </p:nvCxnSpPr>
        <p:spPr>
          <a:xfrm>
            <a:off x="5580112" y="1988029"/>
            <a:ext cx="1260140" cy="576875"/>
          </a:xfrm>
          <a:prstGeom prst="straightConnector1">
            <a:avLst/>
          </a:prstGeom>
          <a:ln w="190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4">
            <a:extLst>
              <a:ext uri="{FF2B5EF4-FFF2-40B4-BE49-F238E27FC236}">
                <a16:creationId xmlns:a16="http://schemas.microsoft.com/office/drawing/2014/main" id="{7961DC28-D380-4793-9B4E-8D4D7F22E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111" y="4653136"/>
            <a:ext cx="4104456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问题</a:t>
            </a:r>
            <a:r>
              <a:rPr lang="zh-CN" altLang="en-US" sz="2000" b="0" dirty="0" smtClean="0">
                <a:solidFill>
                  <a:srgbClr val="000066"/>
                </a:solidFill>
                <a:latin typeface="+mj-ea"/>
                <a:ea typeface="+mj-ea"/>
              </a:rPr>
              <a:t>最小化</a:t>
            </a:r>
            <a:endParaRPr lang="en-US" altLang="zh-CN" sz="2000" b="0" dirty="0" smtClean="0">
              <a:solidFill>
                <a:srgbClr val="000066"/>
              </a:solidFill>
              <a:latin typeface="+mj-ea"/>
              <a:ea typeface="+mj-ea"/>
            </a:endParaRPr>
          </a:p>
          <a:p>
            <a:pPr algn="ctr" eaLnBrk="1" hangingPunct="1"/>
            <a:r>
              <a:rPr lang="en-US" altLang="zh-CN" sz="2000" b="0" dirty="0" smtClean="0">
                <a:solidFill>
                  <a:srgbClr val="000066"/>
                </a:solidFill>
                <a:latin typeface="+mj-ea"/>
                <a:ea typeface="+mj-ea"/>
              </a:rPr>
              <a:t>n=1  </a:t>
            </a:r>
            <a:r>
              <a:rPr lang="zh-CN" altLang="en-US" sz="2000" b="0" dirty="0" smtClean="0">
                <a:solidFill>
                  <a:srgbClr val="000066"/>
                </a:solidFill>
                <a:latin typeface="+mj-ea"/>
                <a:ea typeface="+mj-ea"/>
              </a:rPr>
              <a:t>结果为</a:t>
            </a:r>
            <a:r>
              <a:rPr lang="en-US" altLang="zh-CN" sz="2000" b="0" dirty="0" smtClean="0">
                <a:solidFill>
                  <a:srgbClr val="000066"/>
                </a:solidFill>
                <a:latin typeface="+mj-ea"/>
                <a:ea typeface="+mj-ea"/>
              </a:rPr>
              <a:t>0</a:t>
            </a:r>
          </a:p>
          <a:p>
            <a:pPr algn="ctr" eaLnBrk="1" hangingPunct="1"/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n</a:t>
            </a:r>
            <a:r>
              <a:rPr lang="en-US" altLang="zh-CN" sz="2000" b="0" dirty="0" smtClean="0">
                <a:solidFill>
                  <a:srgbClr val="000066"/>
                </a:solidFill>
                <a:latin typeface="+mj-ea"/>
                <a:ea typeface="+mj-ea"/>
              </a:rPr>
              <a:t>=2 </a:t>
            </a:r>
            <a:r>
              <a:rPr lang="zh-CN" altLang="en-US" sz="2000" b="0" dirty="0" smtClean="0">
                <a:solidFill>
                  <a:srgbClr val="000066"/>
                </a:solidFill>
                <a:latin typeface="+mj-ea"/>
                <a:ea typeface="+mj-ea"/>
              </a:rPr>
              <a:t>结果为</a:t>
            </a:r>
            <a:r>
              <a:rPr lang="en-US" altLang="zh-CN" sz="2000" b="0" dirty="0" smtClean="0">
                <a:solidFill>
                  <a:srgbClr val="000066"/>
                </a:solidFill>
                <a:latin typeface="+mj-ea"/>
                <a:ea typeface="+mj-ea"/>
              </a:rPr>
              <a:t>1</a:t>
            </a:r>
            <a:endParaRPr lang="zh-CN" altLang="en-US" sz="2000" b="0" dirty="0">
              <a:solidFill>
                <a:srgbClr val="000066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1118300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674688"/>
            <a:ext cx="8229600" cy="8572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sz="28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zh-CN" altLang="en-US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递归练习：</a:t>
            </a:r>
            <a:r>
              <a:rPr lang="zh-CN" altLang="zh-CN" sz="20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猴子吃桃子问题</a:t>
            </a:r>
            <a:r>
              <a:rPr lang="zh-CN" altLang="zh-CN" sz="2800" dirty="0">
                <a:solidFill>
                  <a:srgbClr val="000066"/>
                </a:solidFill>
              </a:rPr>
              <a:t>。</a:t>
            </a:r>
            <a:endParaRPr lang="zh-CN" altLang="en-US" sz="28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sp>
        <p:nvSpPr>
          <p:cNvPr id="2200579" name="Rectangle 3"/>
          <p:cNvSpPr>
            <a:spLocks noChangeArrowheads="1"/>
          </p:cNvSpPr>
          <p:nvPr/>
        </p:nvSpPr>
        <p:spPr bwMode="auto">
          <a:xfrm>
            <a:off x="141525" y="1628801"/>
            <a:ext cx="9183003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小猴有桃若干，第一天吃掉一半多一个；第二天吃剩下桃子的一半多一个；以后每天都吃尚存桃子的一半多一个，到第</a:t>
            </a:r>
            <a:r>
              <a:rPr lang="en-US" altLang="zh-CN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7</a:t>
            </a:r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天只剩</a:t>
            </a:r>
            <a:r>
              <a:rPr lang="zh-CN" altLang="en-US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</a:t>
            </a:r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个，问小猴原有桃多少？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41524" y="2291269"/>
            <a:ext cx="8964612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分析</a:t>
            </a:r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：用后一天的数推出前一天的桃子数。</a:t>
            </a:r>
            <a:endParaRPr lang="en-US" altLang="zh-CN" dirty="0">
              <a:solidFill>
                <a:srgbClr val="000066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  <a:p>
            <a:pPr eaLnBrk="1" hangingPunct="1"/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设：第</a:t>
            </a:r>
            <a:r>
              <a:rPr lang="en-US" altLang="zh-CN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天的桃子为</a:t>
            </a:r>
            <a:r>
              <a:rPr lang="en-US" altLang="zh-CN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en-US" altLang="zh-CN" baseline="-25000" dirty="0" err="1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</a:t>
            </a:r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，是前一天的桃子的</a:t>
            </a:r>
            <a:r>
              <a:rPr lang="en-US" altLang="zh-CN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n-1</a:t>
            </a:r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一半少</a:t>
            </a:r>
            <a:r>
              <a:rPr lang="en-US" altLang="zh-CN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1</a:t>
            </a:r>
            <a:r>
              <a:rPr lang="zh-CN" altLang="en-US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323529" y="4639344"/>
            <a:ext cx="48245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dirty="0" smtClean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 1        n=7     </a:t>
            </a:r>
          </a:p>
          <a:p>
            <a:pPr eaLnBrk="1" hangingPunct="1"/>
            <a:r>
              <a:rPr lang="en-US" altLang="zh-CN" sz="2400" dirty="0" smtClean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F(n)      </a:t>
            </a:r>
          </a:p>
          <a:p>
            <a:pPr eaLnBrk="1" hangingPunct="1"/>
            <a:r>
              <a:rPr lang="en-US" altLang="zh-CN" sz="2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400" dirty="0" smtClean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(f(n+1)+1)*2</a:t>
            </a:r>
          </a:p>
          <a:p>
            <a:pPr eaLnBrk="1" hangingPunct="1"/>
            <a:r>
              <a:rPr lang="en-US" altLang="zh-CN" sz="2400" dirty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</a:t>
            </a:r>
            <a:r>
              <a:rPr lang="en-US" altLang="zh-CN" sz="2400" dirty="0" smtClean="0">
                <a:solidFill>
                  <a:srgbClr val="000066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         </a:t>
            </a:r>
            <a:endParaRPr lang="en-US" altLang="zh-CN" sz="2400" dirty="0">
              <a:solidFill>
                <a:srgbClr val="C00000"/>
              </a:solidFill>
              <a:latin typeface="Courier New" pitchFamily="49" charset="0"/>
              <a:ea typeface="微软雅黑" pitchFamily="34" charset="-122"/>
              <a:cs typeface="Courier New" pitchFamily="49" charset="0"/>
            </a:endParaRPr>
          </a:p>
        </p:txBody>
      </p:sp>
      <p:pic>
        <p:nvPicPr>
          <p:cNvPr id="30764" name="Picture 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94" y="3019922"/>
            <a:ext cx="19716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3603126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0066"/>
                </a:solidFill>
              </a:rPr>
              <a:t>得：</a:t>
            </a:r>
          </a:p>
        </p:txBody>
      </p:sp>
      <p:pic>
        <p:nvPicPr>
          <p:cNvPr id="30765" name="Picture 4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59" y="3609206"/>
            <a:ext cx="18954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 bwMode="auto">
          <a:xfrm>
            <a:off x="8820473" y="4291488"/>
            <a:ext cx="285665" cy="695713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kumimoji="1" lang="zh-CN" altLang="en-US" sz="2400" b="1">
              <a:solidFill>
                <a:srgbClr val="A50021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8820472" y="4291488"/>
            <a:ext cx="180000" cy="695713"/>
          </a:xfrm>
          <a:prstGeom prst="ellipse">
            <a:avLst/>
          </a:prstGeom>
          <a:solidFill>
            <a:srgbClr val="CCEC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kumimoji="1" lang="zh-CN" altLang="en-US" sz="2400" b="1">
              <a:solidFill>
                <a:srgbClr val="A50021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2" name="AutoShape 44"/>
          <p:cNvSpPr>
            <a:spLocks noChangeArrowheads="1"/>
          </p:cNvSpPr>
          <p:nvPr/>
        </p:nvSpPr>
        <p:spPr bwMode="gray">
          <a:xfrm>
            <a:off x="3456384" y="3064205"/>
            <a:ext cx="5364088" cy="1213571"/>
          </a:xfrm>
          <a:prstGeom prst="roundRect">
            <a:avLst>
              <a:gd name="adj" fmla="val 8014"/>
            </a:avLst>
          </a:prstGeom>
          <a:solidFill>
            <a:srgbClr val="F8F8F8"/>
          </a:solidFill>
          <a:ln w="9525">
            <a:solidFill>
              <a:srgbClr val="8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x=1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for i in range(6,0,-1):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x=(x+1)*2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   print("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第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%d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天的桃子数为：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 %d </a:t>
            </a:r>
            <a:r>
              <a:rPr lang="zh-CN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只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"%(</a:t>
            </a:r>
            <a:r>
              <a:rPr lang="en-US" altLang="zh-CN" sz="1600" dirty="0" err="1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i,x</a:t>
            </a:r>
            <a:r>
              <a:rPr lang="en-US" altLang="zh-CN" sz="1600" dirty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))</a:t>
            </a:r>
            <a:endParaRPr lang="zh-CN" altLang="zh-CN" sz="1600" dirty="0">
              <a:solidFill>
                <a:srgbClr val="000066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318224"/>
            <a:ext cx="3240360" cy="15278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左大括号 1"/>
          <p:cNvSpPr/>
          <p:nvPr/>
        </p:nvSpPr>
        <p:spPr bwMode="auto">
          <a:xfrm>
            <a:off x="1115616" y="4604020"/>
            <a:ext cx="856284" cy="1368152"/>
          </a:xfrm>
          <a:prstGeom prst="leftBrac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10589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0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0579" grpId="0"/>
      <p:bldP spid="11" grpId="0"/>
      <p:bldP spid="3" grpId="0"/>
      <p:bldP spid="4" grpId="0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FE601-D512-494E-A163-71CB2805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F8B333-F459-49F4-9594-56D9F9283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124744"/>
            <a:ext cx="8293100" cy="482453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/>
              <a:t>def</a:t>
            </a:r>
            <a:r>
              <a:rPr lang="en-US" altLang="zh-CN" dirty="0"/>
              <a:t>   </a:t>
            </a:r>
            <a:r>
              <a:rPr lang="zh-CN" altLang="en-US" dirty="0"/>
              <a:t>桃子</a:t>
            </a:r>
            <a:r>
              <a:rPr lang="en-US" altLang="zh-CN" dirty="0" smtClean="0"/>
              <a:t>(n</a:t>
            </a:r>
            <a:r>
              <a:rPr lang="en-US" altLang="zh-CN" dirty="0"/>
              <a:t>):</a:t>
            </a:r>
          </a:p>
          <a:p>
            <a:pPr marL="0" indent="0">
              <a:buNone/>
            </a:pPr>
            <a:r>
              <a:rPr lang="en-US" altLang="zh-CN" dirty="0"/>
              <a:t>    if n==7 :</a:t>
            </a:r>
          </a:p>
          <a:p>
            <a:pPr marL="0" indent="0">
              <a:buNone/>
            </a:pPr>
            <a:r>
              <a:rPr lang="en-US" altLang="zh-CN" dirty="0"/>
              <a:t>        print('</a:t>
            </a:r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天的桃子数</a:t>
            </a:r>
            <a:r>
              <a:rPr lang="en-US" altLang="zh-CN" dirty="0"/>
              <a:t>1')</a:t>
            </a:r>
          </a:p>
          <a:p>
            <a:pPr marL="0" indent="0">
              <a:buNone/>
            </a:pPr>
            <a:r>
              <a:rPr lang="en-US" altLang="zh-CN" dirty="0"/>
              <a:t>        return 1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k</a:t>
            </a:r>
            <a:r>
              <a:rPr lang="en-US" altLang="zh-CN" dirty="0" smtClean="0"/>
              <a:t>=(</a:t>
            </a:r>
            <a:r>
              <a:rPr lang="zh-CN" altLang="en-US" dirty="0" smtClean="0"/>
              <a:t>桃子</a:t>
            </a:r>
            <a:r>
              <a:rPr lang="en-US" altLang="zh-CN" dirty="0" smtClean="0"/>
              <a:t>(n+1</a:t>
            </a:r>
            <a:r>
              <a:rPr lang="en-US" altLang="zh-CN" dirty="0"/>
              <a:t>)+1)*2</a:t>
            </a:r>
          </a:p>
          <a:p>
            <a:pPr marL="0" indent="0">
              <a:buNone/>
            </a:pPr>
            <a:r>
              <a:rPr lang="en-US" altLang="zh-CN" dirty="0"/>
              <a:t>        print('</a:t>
            </a:r>
            <a:r>
              <a:rPr lang="zh-CN" altLang="en-US" dirty="0"/>
              <a:t>第</a:t>
            </a:r>
            <a:r>
              <a:rPr lang="en-US" altLang="zh-CN" dirty="0"/>
              <a:t>%d</a:t>
            </a:r>
            <a:r>
              <a:rPr lang="zh-CN" altLang="en-US" dirty="0"/>
              <a:t>天的桃子数</a:t>
            </a:r>
            <a:r>
              <a:rPr lang="en-US" altLang="zh-CN" dirty="0"/>
              <a:t>%d'%(</a:t>
            </a:r>
            <a:r>
              <a:rPr lang="en-US" altLang="zh-CN" dirty="0" err="1"/>
              <a:t>n,k</a:t>
            </a:r>
            <a:r>
              <a:rPr lang="en-US" altLang="zh-CN" dirty="0"/>
              <a:t>))</a:t>
            </a:r>
          </a:p>
          <a:p>
            <a:pPr marL="0" indent="0">
              <a:buNone/>
            </a:pPr>
            <a:r>
              <a:rPr lang="en-US" altLang="zh-CN" dirty="0"/>
              <a:t>        return k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桃子</a:t>
            </a:r>
            <a:r>
              <a:rPr lang="en-US" altLang="zh-CN" dirty="0" smtClean="0"/>
              <a:t>(1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0769456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-13785"/>
            <a:ext cx="8275638" cy="868363"/>
          </a:xfrm>
        </p:spPr>
        <p:txBody>
          <a:bodyPr/>
          <a:lstStyle/>
          <a:p>
            <a:r>
              <a:rPr lang="zh-CN" altLang="en-US" dirty="0"/>
              <a:t>最大公约数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68313" y="1124744"/>
            <a:ext cx="7632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C00000"/>
                </a:solidFill>
                <a:latin typeface="+mn-lt"/>
                <a:ea typeface="黑体" panose="02010609060101010101" pitchFamily="49" charset="-122"/>
              </a:rPr>
              <a:t>问题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：求两数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m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m&gt;n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）的最大公约数</a:t>
            </a:r>
            <a:endParaRPr kumimoji="0" lang="en-US" altLang="zh-CN" dirty="0">
              <a:solidFill>
                <a:srgbClr val="000066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14" name="AutoShape 4"/>
          <p:cNvSpPr>
            <a:spLocks/>
          </p:cNvSpPr>
          <p:nvPr/>
        </p:nvSpPr>
        <p:spPr bwMode="auto">
          <a:xfrm>
            <a:off x="2628032" y="3558207"/>
            <a:ext cx="287784" cy="734889"/>
          </a:xfrm>
          <a:prstGeom prst="leftBrace">
            <a:avLst>
              <a:gd name="adj1" fmla="val 22243"/>
              <a:gd name="adj2" fmla="val 50000"/>
            </a:avLst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b="1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892904" y="3334381"/>
            <a:ext cx="540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n                       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宋体" pitchFamily="2" charset="-122"/>
              </a:rPr>
              <a:t>m % n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= 0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 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2892904" y="3796046"/>
            <a:ext cx="55675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gcd(n , m % n)         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宋体" pitchFamily="2" charset="-122"/>
              </a:rPr>
              <a:t>m % n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!= 0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1044625" y="3694421"/>
            <a:ext cx="16551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dirty="0" err="1">
                <a:solidFill>
                  <a:srgbClr val="000066"/>
                </a:solidFill>
                <a:ea typeface="黑体" panose="02010609060101010101" pitchFamily="49" charset="-122"/>
              </a:rPr>
              <a:t>gcd</a:t>
            </a:r>
            <a:r>
              <a:rPr kumimoji="0" lang="en-US" altLang="zh-CN" dirty="0">
                <a:solidFill>
                  <a:srgbClr val="000066"/>
                </a:solidFill>
                <a:ea typeface="黑体" panose="02010609060101010101" pitchFamily="49" charset="-122"/>
              </a:rPr>
              <a:t>(</a:t>
            </a:r>
            <a:r>
              <a:rPr kumimoji="0" lang="en-US" altLang="zh-CN" dirty="0" err="1">
                <a:solidFill>
                  <a:srgbClr val="000066"/>
                </a:solidFill>
                <a:ea typeface="黑体" panose="02010609060101010101" pitchFamily="49" charset="-122"/>
              </a:rPr>
              <a:t>m,n</a:t>
            </a:r>
            <a:r>
              <a:rPr kumimoji="0" lang="en-US" altLang="zh-CN" dirty="0">
                <a:solidFill>
                  <a:srgbClr val="000066"/>
                </a:solidFill>
                <a:ea typeface="黑体" panose="02010609060101010101" pitchFamily="49" charset="-122"/>
              </a:rPr>
              <a:t>)=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467544" y="1600050"/>
            <a:ext cx="84969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rgbClr val="C00000"/>
                </a:solidFill>
                <a:latin typeface="+mn-lt"/>
                <a:ea typeface="黑体" panose="02010609060101010101" pitchFamily="49" charset="-122"/>
              </a:rPr>
              <a:t>算法</a:t>
            </a:r>
            <a:r>
              <a:rPr kumimoji="0" lang="zh-CN" altLang="en-US" dirty="0" smtClean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：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辗转相除法：</a:t>
            </a:r>
            <a:r>
              <a:rPr kumimoji="0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m 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kumimoji="0" lang="zh-CN" altLang="en-US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余数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0" lang="en-US" altLang="zh-CN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rPr>
              <a:t>r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= m  %  n</a:t>
            </a:r>
          </a:p>
          <a:p>
            <a:pPr eaLnBrk="1" hangingPunct="1"/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                         </a:t>
            </a:r>
            <a:r>
              <a:rPr kumimoji="0" lang="zh-CN" altLang="en-US" dirty="0" smtClean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当  </a:t>
            </a:r>
            <a:r>
              <a:rPr kumimoji="0" lang="en-US" altLang="zh-CN" dirty="0" smtClean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r  =  0          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最大公约数为 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n</a:t>
            </a:r>
          </a:p>
          <a:p>
            <a:pPr eaLnBrk="1" hangingPunct="1"/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                           </a:t>
            </a:r>
            <a:r>
              <a:rPr kumimoji="0" lang="en-US" altLang="zh-CN" dirty="0" smtClean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r  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!= 0         </a:t>
            </a:r>
            <a:r>
              <a:rPr kumimoji="0" lang="en-US" altLang="zh-CN" dirty="0" smtClean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kumimoji="0" lang="zh-CN" altLang="en-US" dirty="0" smtClean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则 求 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n 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和 </a:t>
            </a:r>
            <a:r>
              <a:rPr kumimoji="0" lang="en-US" altLang="zh-CN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r 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的最大公约数 </a:t>
            </a:r>
            <a:endParaRPr kumimoji="0" lang="en-US" altLang="zh-CN" dirty="0">
              <a:solidFill>
                <a:srgbClr val="000066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7544" y="2492896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递归公式</a:t>
            </a:r>
            <a:r>
              <a:rPr kumimoji="0" lang="zh-CN" altLang="en-US" dirty="0">
                <a:solidFill>
                  <a:srgbClr val="000066"/>
                </a:solidFill>
                <a:latin typeface="+mn-lt"/>
                <a:ea typeface="黑体" panose="02010609060101010101" pitchFamily="49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40354075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20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-13785"/>
            <a:ext cx="8275638" cy="868363"/>
          </a:xfrm>
        </p:spPr>
        <p:txBody>
          <a:bodyPr/>
          <a:lstStyle/>
          <a:p>
            <a:r>
              <a:rPr lang="zh-CN" altLang="en-US" dirty="0"/>
              <a:t>最大公约数</a:t>
            </a:r>
          </a:p>
        </p:txBody>
      </p:sp>
      <p:sp>
        <p:nvSpPr>
          <p:cNvPr id="19" name="灯片编号占位符 3"/>
          <p:cNvSpPr txBox="1">
            <a:spLocks/>
          </p:cNvSpPr>
          <p:nvPr/>
        </p:nvSpPr>
        <p:spPr>
          <a:xfrm>
            <a:off x="8671175" y="6831389"/>
            <a:ext cx="733425" cy="381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9F3FBA26-7D7C-4155-8BC4-B763356201B6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12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3" name="Oval 4">
            <a:extLst>
              <a:ext uri="{FF2B5EF4-FFF2-40B4-BE49-F238E27FC236}">
                <a16:creationId xmlns:a16="http://schemas.microsoft.com/office/drawing/2014/main" id="{A6F4F7F3-D3D8-44A8-8C6E-F7A2D7B1D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784" y="831061"/>
            <a:ext cx="4680520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问题：</a:t>
            </a:r>
            <a:r>
              <a:rPr lang="en-US" altLang="zh-CN" sz="2000" b="0" dirty="0" err="1">
                <a:solidFill>
                  <a:srgbClr val="000066"/>
                </a:solidFill>
                <a:latin typeface="+mj-ea"/>
                <a:ea typeface="+mj-ea"/>
              </a:rPr>
              <a:t>m,n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的最大公约数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/>
            </a:r>
            <a:b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</a:br>
            <a:r>
              <a:rPr lang="en-US" altLang="zh-CN" sz="2000" b="0" dirty="0" err="1">
                <a:solidFill>
                  <a:srgbClr val="000066"/>
                </a:solidFill>
                <a:latin typeface="+mj-ea"/>
                <a:ea typeface="+mj-ea"/>
              </a:rPr>
              <a:t>gcd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(</a:t>
            </a:r>
            <a:r>
              <a:rPr lang="en-US" altLang="zh-CN" sz="2000" b="0" dirty="0" err="1">
                <a:solidFill>
                  <a:srgbClr val="000066"/>
                </a:solidFill>
                <a:latin typeface="+mj-ea"/>
                <a:ea typeface="+mj-ea"/>
              </a:rPr>
              <a:t>m,n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)</a:t>
            </a:r>
            <a:endParaRPr lang="zh-CN" altLang="en-US" sz="2000" b="0" dirty="0">
              <a:solidFill>
                <a:srgbClr val="000066"/>
              </a:solidFill>
              <a:latin typeface="+mj-ea"/>
              <a:ea typeface="+mj-ea"/>
            </a:endParaRPr>
          </a:p>
        </p:txBody>
      </p:sp>
      <p:sp>
        <p:nvSpPr>
          <p:cNvPr id="24" name="Oval 4">
            <a:extLst>
              <a:ext uri="{FF2B5EF4-FFF2-40B4-BE49-F238E27FC236}">
                <a16:creationId xmlns:a16="http://schemas.microsoft.com/office/drawing/2014/main" id="{7961DC28-D380-4793-9B4E-8D4D7F22E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784" y="2595104"/>
            <a:ext cx="4752528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子问题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1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：求</a:t>
            </a:r>
            <a:r>
              <a:rPr lang="en-US" altLang="zh-CN" sz="2000" b="0" dirty="0" err="1">
                <a:solidFill>
                  <a:srgbClr val="000066"/>
                </a:solidFill>
                <a:latin typeface="+mj-ea"/>
                <a:ea typeface="+mj-ea"/>
              </a:rPr>
              <a:t>n,m%n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</a:rPr>
              <a:t>的最大公约数</a:t>
            </a:r>
            <a:endParaRPr lang="en-US" altLang="zh-CN" sz="2000" b="0" dirty="0">
              <a:solidFill>
                <a:srgbClr val="000066"/>
              </a:solidFill>
              <a:latin typeface="+mj-ea"/>
            </a:endParaRPr>
          </a:p>
          <a:p>
            <a:pPr algn="ctr"/>
            <a:r>
              <a:rPr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gcd(n, m % n)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4D74300-5CC7-485E-85C5-23BA14FEB6D3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5004048" y="1983189"/>
            <a:ext cx="0" cy="6119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5">
            <a:extLst>
              <a:ext uri="{FF2B5EF4-FFF2-40B4-BE49-F238E27FC236}">
                <a16:creationId xmlns:a16="http://schemas.microsoft.com/office/drawing/2014/main" id="{69283471-D3FA-401D-80C6-52361E33D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1850" y="3933056"/>
            <a:ext cx="3492388" cy="2246769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def gcd(m, n):</a:t>
            </a: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   if m % n==0:</a:t>
            </a: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       return n</a:t>
            </a: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   else:</a:t>
            </a: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       return  gcd(n, m % n)</a:t>
            </a:r>
          </a:p>
          <a:p>
            <a:pPr eaLnBrk="1" hangingPunct="1"/>
            <a:endParaRPr kumimoji="0" lang="en-US" altLang="zh-CN" sz="2000" noProof="1">
              <a:solidFill>
                <a:srgbClr val="000066"/>
              </a:solidFill>
              <a:latin typeface="Times New Roman"/>
              <a:ea typeface="华文仿宋" pitchFamily="2" charset="-122"/>
            </a:endParaRPr>
          </a:p>
          <a:p>
            <a:pPr eaLnBrk="1" hangingPunct="1"/>
            <a:r>
              <a:rPr kumimoji="0" lang="en-US" altLang="zh-CN" sz="2000" noProof="1" smtClean="0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print(gcd(18,12))</a:t>
            </a:r>
            <a:endParaRPr kumimoji="0" lang="en-US" altLang="zh-CN" sz="2000" dirty="0">
              <a:solidFill>
                <a:srgbClr val="000066"/>
              </a:solidFill>
              <a:latin typeface="Times New Roman"/>
              <a:ea typeface="华文仿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455941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-13785"/>
            <a:ext cx="8275638" cy="868363"/>
          </a:xfrm>
        </p:spPr>
        <p:txBody>
          <a:bodyPr/>
          <a:lstStyle/>
          <a:p>
            <a:r>
              <a:rPr lang="zh-CN" altLang="en-US" dirty="0"/>
              <a:t>数制转换</a:t>
            </a:r>
          </a:p>
        </p:txBody>
      </p:sp>
      <p:sp>
        <p:nvSpPr>
          <p:cNvPr id="19" name="灯片编号占位符 3"/>
          <p:cNvSpPr txBox="1">
            <a:spLocks/>
          </p:cNvSpPr>
          <p:nvPr/>
        </p:nvSpPr>
        <p:spPr>
          <a:xfrm>
            <a:off x="8671175" y="6831389"/>
            <a:ext cx="733425" cy="381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9F3FBA26-7D7C-4155-8BC4-B763356201B6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13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ph idx="1"/>
          </p:nvPr>
        </p:nvSpPr>
        <p:spPr>
          <a:xfrm>
            <a:off x="539552" y="1052736"/>
            <a:ext cx="8229600" cy="2852421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 sz="2400" b="1" dirty="0">
                <a:ea typeface="黑体" panose="02010609060101010101" pitchFamily="49" charset="-122"/>
              </a:rPr>
              <a:t>：将十进制正整数</a:t>
            </a:r>
            <a:r>
              <a:rPr lang="en-US" altLang="zh-CN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d</a:t>
            </a:r>
            <a:r>
              <a:rPr lang="zh-CN" altLang="en-US" sz="2400" b="1" dirty="0">
                <a:ea typeface="黑体" panose="02010609060101010101" pitchFamily="49" charset="-122"/>
              </a:rPr>
              <a:t>转换成</a:t>
            </a:r>
            <a:r>
              <a:rPr lang="en-US" altLang="zh-CN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r</a:t>
            </a:r>
            <a:r>
              <a:rPr lang="zh-CN" altLang="en-US" sz="2400" b="1" dirty="0">
                <a:ea typeface="黑体" panose="02010609060101010101" pitchFamily="49" charset="-122"/>
              </a:rPr>
              <a:t>进制（</a:t>
            </a:r>
            <a:r>
              <a:rPr lang="en-US" altLang="zh-CN" sz="2400" b="1" dirty="0"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ea typeface="黑体" panose="02010609060101010101" pitchFamily="49" charset="-122"/>
              </a:rPr>
              <a:t>～</a:t>
            </a:r>
            <a:r>
              <a:rPr lang="en-US" altLang="zh-CN" sz="2400" b="1" dirty="0">
                <a:ea typeface="黑体" panose="02010609060101010101" pitchFamily="49" charset="-122"/>
              </a:rPr>
              <a:t>8</a:t>
            </a:r>
            <a:r>
              <a:rPr lang="zh-CN" altLang="en-US" sz="2400" b="1" dirty="0">
                <a:ea typeface="黑体" panose="02010609060101010101" pitchFamily="49" charset="-122"/>
              </a:rPr>
              <a:t>）的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字符串</a:t>
            </a:r>
            <a:r>
              <a:rPr lang="zh-CN" altLang="en-US" sz="2400" b="1" dirty="0">
                <a:ea typeface="黑体" panose="02010609060101010101" pitchFamily="49" charset="-122"/>
              </a:rPr>
              <a:t>。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算法</a:t>
            </a:r>
            <a:r>
              <a:rPr lang="zh-CN" altLang="en-US" sz="2400" b="1" dirty="0" smtClean="0">
                <a:ea typeface="黑体" panose="02010609060101010101" pitchFamily="49" charset="-122"/>
              </a:rPr>
              <a:t>：</a:t>
            </a:r>
            <a:endParaRPr lang="en-US" altLang="zh-CN" sz="2400" b="1" dirty="0" smtClean="0">
              <a:ea typeface="黑体" panose="02010609060101010101" pitchFamily="49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sz="2400" b="1" dirty="0" smtClean="0">
                <a:ea typeface="黑体" panose="02010609060101010101" pitchFamily="49" charset="-122"/>
              </a:rPr>
              <a:t>1 d&gt;0</a:t>
            </a:r>
            <a:r>
              <a:rPr lang="zh-CN" altLang="en-US" sz="2400" b="1" dirty="0">
                <a:ea typeface="黑体" panose="02010609060101010101" pitchFamily="49" charset="-122"/>
              </a:rPr>
              <a:t>时，</a:t>
            </a:r>
            <a:r>
              <a:rPr lang="en-US" altLang="zh-CN" sz="2400" b="1" dirty="0">
                <a:ea typeface="黑体" panose="02010609060101010101" pitchFamily="49" charset="-122"/>
              </a:rPr>
              <a:t>d//r </a:t>
            </a:r>
            <a:r>
              <a:rPr lang="zh-CN" altLang="en-US" sz="2400" b="1" dirty="0">
                <a:ea typeface="黑体" panose="02010609060101010101" pitchFamily="49" charset="-122"/>
              </a:rPr>
              <a:t>得商</a:t>
            </a:r>
            <a:r>
              <a:rPr lang="en-US" altLang="zh-CN" sz="2400" b="1" dirty="0">
                <a:ea typeface="黑体" panose="02010609060101010101" pitchFamily="49" charset="-122"/>
              </a:rPr>
              <a:t>d</a:t>
            </a:r>
            <a:r>
              <a:rPr lang="zh-CN" altLang="en-US" sz="2400" b="1" dirty="0" smtClean="0">
                <a:ea typeface="黑体" panose="02010609060101010101" pitchFamily="49" charset="-122"/>
              </a:rPr>
              <a:t>，计算</a:t>
            </a:r>
            <a:r>
              <a:rPr lang="en-US" altLang="zh-CN" sz="2400" b="1" dirty="0" smtClean="0">
                <a:ea typeface="黑体" panose="02010609060101010101" pitchFamily="49" charset="-122"/>
              </a:rPr>
              <a:t>d </a:t>
            </a:r>
            <a:r>
              <a:rPr lang="en-US" altLang="zh-CN" sz="2400" b="1" dirty="0">
                <a:ea typeface="黑体" panose="02010609060101010101" pitchFamily="49" charset="-122"/>
              </a:rPr>
              <a:t>% r </a:t>
            </a:r>
            <a:r>
              <a:rPr lang="zh-CN" altLang="en-US" sz="2400" b="1" dirty="0">
                <a:ea typeface="黑体" panose="02010609060101010101" pitchFamily="49" charset="-122"/>
              </a:rPr>
              <a:t>获得</a:t>
            </a:r>
            <a:r>
              <a:rPr lang="zh-CN" altLang="en-US" sz="2400" b="1" dirty="0" smtClean="0">
                <a:ea typeface="黑体" panose="02010609060101010101" pitchFamily="49" charset="-122"/>
              </a:rPr>
              <a:t>余</a:t>
            </a:r>
            <a:r>
              <a:rPr lang="zh-CN" altLang="en-US" sz="2400" b="1" dirty="0" smtClean="0">
                <a:ea typeface="黑体" panose="02010609060101010101" pitchFamily="49" charset="-122"/>
              </a:rPr>
              <a:t>数</a:t>
            </a:r>
            <a:r>
              <a:rPr lang="en-US" altLang="zh-CN" sz="2400" b="1" dirty="0" smtClean="0">
                <a:ea typeface="黑体" panose="02010609060101010101" pitchFamily="49" charset="-122"/>
              </a:rPr>
              <a:t>a, </a:t>
            </a:r>
            <a:r>
              <a:rPr lang="zh-CN" altLang="en-US" sz="2400" b="1" dirty="0" smtClean="0">
                <a:ea typeface="黑体" panose="02010609060101010101" pitchFamily="49" charset="-122"/>
              </a:rPr>
              <a:t>将</a:t>
            </a:r>
            <a:r>
              <a:rPr lang="en-US" altLang="zh-CN" sz="2400" b="1" dirty="0" smtClean="0">
                <a:ea typeface="黑体" panose="02010609060101010101" pitchFamily="49" charset="-122"/>
              </a:rPr>
              <a:t>a</a:t>
            </a: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作</a:t>
            </a: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为字符</a:t>
            </a: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串最后一位，</a:t>
            </a: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记录下</a:t>
            </a:r>
            <a:r>
              <a:rPr lang="zh-CN" altLang="en-US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来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2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将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中得到的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d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，继续用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处理，</a:t>
            </a:r>
            <a:r>
              <a:rPr lang="en-US" altLang="zh-CN" sz="2400" b="1" dirty="0" smtClean="0">
                <a:ea typeface="黑体" panose="02010609060101010101" pitchFamily="49" charset="-122"/>
              </a:rPr>
              <a:t>d=0</a:t>
            </a:r>
            <a:r>
              <a:rPr lang="zh-CN" altLang="en-US" sz="2400" b="1" dirty="0">
                <a:ea typeface="黑体" panose="02010609060101010101" pitchFamily="49" charset="-122"/>
              </a:rPr>
              <a:t>时，分解过程结</a:t>
            </a:r>
            <a:r>
              <a:rPr lang="zh-CN" altLang="en-US" sz="2400" b="1" dirty="0" smtClean="0">
                <a:ea typeface="黑体" panose="02010609060101010101" pitchFamily="49" charset="-122"/>
              </a:rPr>
              <a:t>束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318444" y="4438788"/>
                <a:ext cx="6619455" cy="7101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b="1" i="1" kern="0" smtClean="0">
                          <a:solidFill>
                            <a:srgbClr val="000000"/>
                          </a:solidFill>
                          <a:latin typeface="Cambria Math"/>
                          <a:ea typeface="黑体" panose="02010609060101010101" pitchFamily="49" charset="-122"/>
                        </a:rPr>
                        <m:t>𝑻𝒓𝒂𝒏</m:t>
                      </m:r>
                      <m:d>
                        <m:dPr>
                          <m:ctrlPr>
                            <a:rPr kumimoji="0" lang="en-US" altLang="zh-CN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0" lang="en-US" altLang="zh-CN" b="1" i="1" kern="0" smtClean="0">
                              <a:solidFill>
                                <a:srgbClr val="000000"/>
                              </a:solidFill>
                              <a:latin typeface="Cambria Math"/>
                              <a:ea typeface="黑体" panose="02010609060101010101" pitchFamily="49" charset="-122"/>
                            </a:rPr>
                            <m:t>𝒅</m:t>
                          </m:r>
                          <m:r>
                            <a:rPr kumimoji="0" lang="en-US" altLang="zh-CN" b="1" i="1" kern="0" smtClean="0">
                              <a:solidFill>
                                <a:srgbClr val="000000"/>
                              </a:solidFill>
                              <a:latin typeface="Cambria Math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0" lang="en-US" altLang="zh-CN" b="1" i="1" kern="0" smtClean="0">
                              <a:solidFill>
                                <a:srgbClr val="000000"/>
                              </a:solidFill>
                              <a:latin typeface="Cambria Math"/>
                              <a:ea typeface="黑体" panose="02010609060101010101" pitchFamily="49" charset="-122"/>
                            </a:rPr>
                            <m:t>𝒓</m:t>
                          </m:r>
                        </m:e>
                      </m:d>
                      <m:r>
                        <a:rPr kumimoji="0" lang="en-US" altLang="zh-CN" i="1" kern="0">
                          <a:solidFill>
                            <a:srgbClr val="000000"/>
                          </a:solidFill>
                          <a:latin typeface="Cambria Math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altLang="zh-CN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altLang="zh-CN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0" lang="zh-CN" altLang="en-US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结束</m:t>
                              </m:r>
                              <m:r>
                                <a:rPr kumimoji="0" lang="en-US" altLang="zh-CN" i="1" ker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kumimoji="0" lang="en-US" altLang="zh-CN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返回</m:t>
                              </m:r>
                              <m:r>
                                <a:rPr lang="zh-CN" altLang="en-US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空串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                     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    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𝒅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=</m:t>
                              </m:r>
                              <m:r>
                                <a:rPr kumimoji="0" lang="en-US" altLang="zh-CN" i="1" ker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e>
                            <m:e>
                              <m:r>
                                <a:rPr kumimoji="0" lang="en-US" altLang="zh-CN" i="1" ker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altLang="zh-CN" noProof="1">
                                  <a:solidFill>
                                    <a:srgbClr val="000066"/>
                                  </a:solidFill>
                                  <a:latin typeface="Times New Roman"/>
                                  <a:ea typeface="华文仿宋" pitchFamily="2" charset="-122"/>
                                </a:rPr>
                                <m:t>Tran</m:t>
                              </m:r>
                              <m:r>
                                <m:rPr>
                                  <m:nor/>
                                </m:rPr>
                                <a:rPr lang="en-US" altLang="zh-CN" noProof="1">
                                  <a:solidFill>
                                    <a:srgbClr val="000066"/>
                                  </a:solidFill>
                                  <a:latin typeface="Times New Roman"/>
                                  <a:ea typeface="华文仿宋" pitchFamily="2" charset="-122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CN" noProof="1">
                                  <a:solidFill>
                                    <a:srgbClr val="000066"/>
                                  </a:solidFill>
                                  <a:latin typeface="Times New Roman"/>
                                  <a:ea typeface="华文仿宋" pitchFamily="2" charset="-122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noProof="1">
                                  <a:solidFill>
                                    <a:srgbClr val="000066"/>
                                  </a:solidFill>
                                  <a:latin typeface="Times New Roman"/>
                                  <a:ea typeface="华文仿宋" pitchFamily="2" charset="-122"/>
                                </a:rPr>
                                <m:t> // </m:t>
                              </m:r>
                              <m:r>
                                <m:rPr>
                                  <m:nor/>
                                </m:rPr>
                                <a:rPr lang="en-US" altLang="zh-CN" noProof="1">
                                  <a:solidFill>
                                    <a:srgbClr val="000066"/>
                                  </a:solidFill>
                                  <a:latin typeface="Times New Roman"/>
                                  <a:ea typeface="华文仿宋" pitchFamily="2" charset="-122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CN" noProof="1">
                                  <a:solidFill>
                                    <a:srgbClr val="000066"/>
                                  </a:solidFill>
                                  <a:latin typeface="Times New Roman"/>
                                  <a:ea typeface="华文仿宋" pitchFamily="2" charset="-122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CN" noProof="1">
                                  <a:solidFill>
                                    <a:srgbClr val="000066"/>
                                  </a:solidFill>
                                  <a:latin typeface="Times New Roman"/>
                                  <a:ea typeface="华文仿宋" pitchFamily="2" charset="-122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zh-CN" b="1" i="0" noProof="1" smtClean="0">
                                  <a:solidFill>
                                    <a:srgbClr val="000066"/>
                                  </a:solidFill>
                                  <a:latin typeface="Times New Roman"/>
                                  <a:ea typeface="华文仿宋" pitchFamily="2" charset="-122"/>
                                </a:rPr>
                                <m:t>)  +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b="1" i="0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 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𝒔𝒕𝒓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𝒅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 % 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𝒓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)</m:t>
                              </m:r>
                              <m:r>
                                <a:rPr kumimoji="0" lang="en-US" altLang="zh-CN" i="1" ker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  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     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𝒅</m:t>
                              </m:r>
                              <m:r>
                                <a:rPr kumimoji="0" lang="en-US" altLang="zh-CN" b="1" i="1" kern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&gt;</m:t>
                              </m:r>
                              <m:r>
                                <a:rPr kumimoji="0" lang="en-US" altLang="zh-CN" i="1" ker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黑体" panose="02010609060101010101" pitchFamily="49" charset="-122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444" y="4438788"/>
                <a:ext cx="6619455" cy="710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538740" y="4438788"/>
            <a:ext cx="163487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zh-CN" altLang="en-US" sz="2800" b="1" dirty="0">
                <a:solidFill>
                  <a:srgbClr val="C00000"/>
                </a:solidFill>
                <a:ea typeface="黑体" panose="02010609060101010101" pitchFamily="49" charset="-122"/>
              </a:rPr>
              <a:t>递归公式</a:t>
            </a:r>
            <a:r>
              <a:rPr lang="zh-CN" altLang="en-US" sz="2800" b="1" dirty="0">
                <a:ea typeface="黑体" panose="02010609060101010101" pitchFamily="49" charset="-122"/>
              </a:rPr>
              <a:t>：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709011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-13785"/>
            <a:ext cx="8275638" cy="868363"/>
          </a:xfrm>
        </p:spPr>
        <p:txBody>
          <a:bodyPr/>
          <a:lstStyle/>
          <a:p>
            <a:r>
              <a:rPr lang="zh-CN" altLang="en-US" dirty="0"/>
              <a:t>数制转换</a:t>
            </a:r>
          </a:p>
        </p:txBody>
      </p:sp>
      <p:sp>
        <p:nvSpPr>
          <p:cNvPr id="19" name="灯片编号占位符 3"/>
          <p:cNvSpPr txBox="1">
            <a:spLocks/>
          </p:cNvSpPr>
          <p:nvPr/>
        </p:nvSpPr>
        <p:spPr>
          <a:xfrm>
            <a:off x="8671175" y="6831389"/>
            <a:ext cx="733425" cy="38100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9F3FBA26-7D7C-4155-8BC4-B763356201B6}" type="slidenum">
              <a:rPr lang="en-US" altLang="zh-CN" smtClean="0">
                <a:solidFill>
                  <a:srgbClr val="FFFFFF"/>
                </a:solidFill>
              </a:rPr>
              <a:pPr>
                <a:defRPr/>
              </a:pPr>
              <a:t>14</a:t>
            </a:fld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18" name="Oval 4">
            <a:extLst>
              <a:ext uri="{FF2B5EF4-FFF2-40B4-BE49-F238E27FC236}">
                <a16:creationId xmlns:a16="http://schemas.microsoft.com/office/drawing/2014/main" id="{A6F4F7F3-D3D8-44A8-8C6E-F7A2D7B1D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2278" y="639744"/>
            <a:ext cx="4680520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问题</a:t>
            </a:r>
            <a:r>
              <a:rPr lang="zh-CN" altLang="en-US" sz="2000" b="0">
                <a:solidFill>
                  <a:srgbClr val="000066"/>
                </a:solidFill>
                <a:latin typeface="+mj-ea"/>
                <a:ea typeface="+mj-ea"/>
              </a:rPr>
              <a:t>：</a:t>
            </a:r>
            <a:r>
              <a:rPr lang="en-US" altLang="zh-CN" sz="200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000" smtClean="0">
                <a:solidFill>
                  <a:srgbClr val="0000FF"/>
                </a:solidFill>
                <a:ea typeface="黑体" panose="02010609060101010101" pitchFamily="49" charset="-122"/>
              </a:rPr>
              <a:t>10</a:t>
            </a:r>
            <a:r>
              <a:rPr lang="zh-CN" altLang="en-US" sz="2000" smtClean="0">
                <a:solidFill>
                  <a:srgbClr val="0000FF"/>
                </a:solidFill>
                <a:ea typeface="黑体" panose="02010609060101010101" pitchFamily="49" charset="-122"/>
              </a:rPr>
              <a:t>进制</a:t>
            </a:r>
            <a:r>
              <a:rPr lang="zh-CN" altLang="en-US" sz="2000" smtClean="0">
                <a:ea typeface="黑体" panose="02010609060101010101" pitchFamily="49" charset="-122"/>
              </a:rPr>
              <a:t>转换</a:t>
            </a:r>
            <a:r>
              <a:rPr lang="zh-CN" altLang="en-US" sz="2000" dirty="0">
                <a:ea typeface="黑体" panose="02010609060101010101" pitchFamily="49" charset="-122"/>
              </a:rPr>
              <a:t>成</a:t>
            </a:r>
            <a:r>
              <a:rPr lang="en-US" altLang="zh-CN" sz="2000" dirty="0">
                <a:solidFill>
                  <a:srgbClr val="0000FF"/>
                </a:solidFill>
                <a:ea typeface="黑体" panose="02010609060101010101" pitchFamily="49" charset="-122"/>
              </a:rPr>
              <a:t>r</a:t>
            </a:r>
            <a:r>
              <a:rPr lang="zh-CN" altLang="en-US" sz="2000" dirty="0">
                <a:ea typeface="黑体" panose="02010609060101010101" pitchFamily="49" charset="-122"/>
              </a:rPr>
              <a:t>进制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/>
            </a:r>
            <a:b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</a:br>
            <a:r>
              <a:rPr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Tran(d,r)</a:t>
            </a:r>
            <a:endParaRPr lang="zh-CN" altLang="en-US" sz="2000" b="0" dirty="0">
              <a:solidFill>
                <a:srgbClr val="000066"/>
              </a:solidFill>
              <a:latin typeface="+mj-ea"/>
              <a:ea typeface="+mj-ea"/>
            </a:endParaRPr>
          </a:p>
        </p:txBody>
      </p:sp>
      <p:sp>
        <p:nvSpPr>
          <p:cNvPr id="20" name="Oval 4">
            <a:extLst>
              <a:ext uri="{FF2B5EF4-FFF2-40B4-BE49-F238E27FC236}">
                <a16:creationId xmlns:a16="http://schemas.microsoft.com/office/drawing/2014/main" id="{7961DC28-D380-4793-9B4E-8D4D7F22E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62" y="2583960"/>
            <a:ext cx="3672408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/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子问题</a:t>
            </a:r>
            <a:r>
              <a:rPr lang="en-US" altLang="zh-CN" sz="2000" b="0" dirty="0">
                <a:solidFill>
                  <a:srgbClr val="000066"/>
                </a:solidFill>
                <a:latin typeface="+mj-ea"/>
                <a:ea typeface="+mj-ea"/>
              </a:rPr>
              <a:t>1</a:t>
            </a:r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：</a:t>
            </a:r>
            <a:r>
              <a:rPr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Tran(d // r,r)</a:t>
            </a:r>
            <a:endParaRPr lang="en-US" altLang="zh-CN" sz="2000" b="0" dirty="0">
              <a:solidFill>
                <a:srgbClr val="000066"/>
              </a:solidFill>
              <a:latin typeface="+mj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4D74300-5CC7-485E-85C5-23BA14FEB6D3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2434266" y="1791872"/>
            <a:ext cx="1620180" cy="7920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5">
            <a:extLst>
              <a:ext uri="{FF2B5EF4-FFF2-40B4-BE49-F238E27FC236}">
                <a16:creationId xmlns:a16="http://schemas.microsoft.com/office/drawing/2014/main" id="{69283471-D3FA-401D-80C6-52361E33D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2378" y="4005064"/>
            <a:ext cx="4680520" cy="2246769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def Tran(d,r):</a:t>
            </a: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   if d==0:</a:t>
            </a: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       return ""</a:t>
            </a: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   else:</a:t>
            </a: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       return Tran(d // r,r) + str(d % r)</a:t>
            </a:r>
          </a:p>
          <a:p>
            <a:pPr eaLnBrk="1" hangingPunct="1"/>
            <a:endParaRPr kumimoji="0" lang="en-US" altLang="zh-CN" sz="2000" noProof="1">
              <a:solidFill>
                <a:srgbClr val="000066"/>
              </a:solidFill>
              <a:latin typeface="Times New Roman"/>
              <a:ea typeface="华文仿宋" pitchFamily="2" charset="-122"/>
            </a:endParaRPr>
          </a:p>
          <a:p>
            <a:pPr eaLnBrk="1" hangingPunct="1"/>
            <a:r>
              <a:rPr kumimoji="0"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print(Tran(12,8))</a:t>
            </a:r>
            <a:endParaRPr kumimoji="0" lang="en-US" altLang="zh-CN" sz="2000" dirty="0">
              <a:solidFill>
                <a:srgbClr val="000066"/>
              </a:solidFill>
              <a:latin typeface="Times New Roman"/>
              <a:ea typeface="华文仿宋" pitchFamily="2" charset="-122"/>
            </a:endParaRPr>
          </a:p>
        </p:txBody>
      </p:sp>
      <p:sp>
        <p:nvSpPr>
          <p:cNvPr id="23" name="Oval 4">
            <a:extLst>
              <a:ext uri="{FF2B5EF4-FFF2-40B4-BE49-F238E27FC236}">
                <a16:creationId xmlns:a16="http://schemas.microsoft.com/office/drawing/2014/main" id="{7DB9EE2E-8980-4B11-B4B1-C5231F898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526" y="2651655"/>
            <a:ext cx="3672408" cy="1152128"/>
          </a:xfrm>
          <a:prstGeom prst="ellips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 sz="2000" b="0" dirty="0">
                <a:solidFill>
                  <a:srgbClr val="000066"/>
                </a:solidFill>
                <a:latin typeface="+mj-ea"/>
                <a:ea typeface="+mj-ea"/>
              </a:rPr>
              <a:t>子</a:t>
            </a:r>
            <a:r>
              <a:rPr lang="zh-CN" altLang="en-US" sz="2000" b="0" dirty="0" smtClean="0">
                <a:solidFill>
                  <a:srgbClr val="000066"/>
                </a:solidFill>
                <a:latin typeface="+mj-ea"/>
                <a:ea typeface="+mj-ea"/>
              </a:rPr>
              <a:t>问题</a:t>
            </a:r>
            <a:r>
              <a:rPr lang="en-US" altLang="zh-CN" sz="2000" b="0" dirty="0" smtClean="0">
                <a:solidFill>
                  <a:srgbClr val="000066"/>
                </a:solidFill>
                <a:latin typeface="+mj-ea"/>
                <a:ea typeface="+mj-ea"/>
              </a:rPr>
              <a:t>2</a:t>
            </a:r>
            <a:r>
              <a:rPr lang="zh-CN" altLang="en-US" sz="2000" b="0" dirty="0" smtClean="0">
                <a:solidFill>
                  <a:srgbClr val="000066"/>
                </a:solidFill>
                <a:latin typeface="+mj-ea"/>
                <a:ea typeface="+mj-ea"/>
              </a:rPr>
              <a:t>：</a:t>
            </a:r>
            <a:r>
              <a:rPr lang="en-US" altLang="zh-CN" sz="2000" noProof="1" smtClean="0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 </a:t>
            </a:r>
            <a:r>
              <a:rPr lang="en-US" altLang="zh-CN" sz="2000" noProof="1">
                <a:solidFill>
                  <a:srgbClr val="000066"/>
                </a:solidFill>
                <a:latin typeface="Times New Roman"/>
                <a:ea typeface="华文仿宋" pitchFamily="2" charset="-122"/>
              </a:rPr>
              <a:t>str(d % r)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ADE4187-2DF3-4DCB-9E89-7287866E48A8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782638" y="1749057"/>
            <a:ext cx="828092" cy="9025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82EFC44-73EC-40DE-9E9F-BB6C66B6C312}"/>
              </a:ext>
            </a:extLst>
          </p:cNvPr>
          <p:cNvSpPr txBox="1"/>
          <p:nvPr/>
        </p:nvSpPr>
        <p:spPr>
          <a:xfrm>
            <a:off x="556744" y="1361565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66"/>
                </a:solidFill>
              </a:rPr>
              <a:t>d=23</a:t>
            </a:r>
          </a:p>
          <a:p>
            <a:r>
              <a:rPr lang="en-US" altLang="zh-CN" dirty="0">
                <a:solidFill>
                  <a:srgbClr val="000066"/>
                </a:solidFill>
              </a:rPr>
              <a:t>  =2</a:t>
            </a:r>
            <a:r>
              <a:rPr lang="en-US" altLang="zh-CN" baseline="30000" dirty="0">
                <a:solidFill>
                  <a:srgbClr val="000066"/>
                </a:solidFill>
              </a:rPr>
              <a:t>4</a:t>
            </a:r>
            <a:r>
              <a:rPr lang="en-US" altLang="zh-CN" dirty="0">
                <a:solidFill>
                  <a:srgbClr val="000066"/>
                </a:solidFill>
              </a:rPr>
              <a:t>+2</a:t>
            </a:r>
            <a:r>
              <a:rPr lang="en-US" altLang="zh-CN" baseline="30000" dirty="0">
                <a:solidFill>
                  <a:srgbClr val="000066"/>
                </a:solidFill>
              </a:rPr>
              <a:t>2</a:t>
            </a:r>
            <a:r>
              <a:rPr lang="en-US" altLang="zh-CN" dirty="0">
                <a:solidFill>
                  <a:srgbClr val="000066"/>
                </a:solidFill>
              </a:rPr>
              <a:t>+2</a:t>
            </a:r>
            <a:r>
              <a:rPr lang="en-US" altLang="zh-CN" baseline="30000" dirty="0">
                <a:solidFill>
                  <a:srgbClr val="000066"/>
                </a:solidFill>
              </a:rPr>
              <a:t>1</a:t>
            </a:r>
            <a:r>
              <a:rPr lang="en-US" altLang="zh-CN" dirty="0">
                <a:solidFill>
                  <a:srgbClr val="000066"/>
                </a:solidFill>
              </a:rPr>
              <a:t>+2</a:t>
            </a:r>
            <a:r>
              <a:rPr lang="en-US" altLang="zh-CN" baseline="30000" dirty="0">
                <a:solidFill>
                  <a:srgbClr val="000066"/>
                </a:solidFill>
              </a:rPr>
              <a:t>0</a:t>
            </a:r>
            <a:endParaRPr lang="zh-CN" altLang="en-US" baseline="3000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80771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11990-7B4A-47A2-9968-49F5F171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进制转</a:t>
            </a:r>
            <a:r>
              <a:rPr lang="en-US" altLang="zh-CN" dirty="0" smtClean="0"/>
              <a:t>16</a:t>
            </a:r>
            <a:r>
              <a:rPr lang="zh-CN" altLang="en-US" dirty="0"/>
              <a:t>进制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804B09-C8F4-4D9C-B7FA-1CED4A382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50" y="1196753"/>
            <a:ext cx="8293100" cy="388843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16</a:t>
            </a:r>
            <a:r>
              <a:rPr lang="zh-CN" altLang="en-US" dirty="0" smtClean="0"/>
              <a:t>进制的</a:t>
            </a:r>
            <a:r>
              <a:rPr lang="en-US" altLang="zh-CN" dirty="0" smtClean="0"/>
              <a:t>16</a:t>
            </a:r>
            <a:r>
              <a:rPr lang="zh-CN" altLang="en-US" dirty="0" smtClean="0"/>
              <a:t>个字符</a:t>
            </a:r>
            <a:r>
              <a:rPr lang="en-US" altLang="zh-CN" dirty="0" smtClean="0"/>
              <a:t>s=[</a:t>
            </a:r>
            <a:r>
              <a:rPr lang="en-US" altLang="zh-CN" dirty="0"/>
              <a:t>'0','1','2','3','4','5','6','7','8','9','A','B','C','D','E','F']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31  </a:t>
            </a:r>
            <a:r>
              <a:rPr lang="zh-CN" altLang="en-US" dirty="0" smtClean="0"/>
              <a:t>与</a:t>
            </a:r>
            <a:r>
              <a:rPr lang="en-US" altLang="zh-CN" dirty="0" smtClean="0"/>
              <a:t>16</a:t>
            </a:r>
            <a:r>
              <a:rPr lang="zh-CN" altLang="en-US" dirty="0" smtClean="0"/>
              <a:t>的余数  </a:t>
            </a:r>
            <a:r>
              <a:rPr lang="en-US" altLang="zh-CN" dirty="0" smtClean="0"/>
              <a:t>15  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15 </a:t>
            </a:r>
            <a:r>
              <a:rPr lang="zh-CN" altLang="en-US" dirty="0" smtClean="0"/>
              <a:t>对应的</a:t>
            </a:r>
            <a:r>
              <a:rPr lang="en-US" altLang="zh-CN" dirty="0" smtClean="0"/>
              <a:t>F</a:t>
            </a:r>
            <a:r>
              <a:rPr lang="zh-CN" altLang="en-US" dirty="0" smtClean="0"/>
              <a:t>怎么获得？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它是</a:t>
            </a:r>
            <a:r>
              <a:rPr lang="en-US" altLang="zh-CN" dirty="0" smtClean="0"/>
              <a:t>s[15]</a:t>
            </a:r>
            <a:endParaRPr lang="zh-CN" altLang="en-US" dirty="0"/>
          </a:p>
          <a:p>
            <a:pPr marL="0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0420311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11990-7B4A-47A2-9968-49F5F171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进制转</a:t>
            </a:r>
            <a:r>
              <a:rPr lang="en-US" altLang="zh-CN" dirty="0" smtClean="0"/>
              <a:t>16</a:t>
            </a:r>
            <a:r>
              <a:rPr lang="zh-CN" altLang="en-US" dirty="0"/>
              <a:t>进制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804B09-C8F4-4D9C-B7FA-1CED4A382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50" y="1196752"/>
            <a:ext cx="8293100" cy="489654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s=['0','1','2','3','4','5','6','7','8','9','A','B','C','D','E','F']</a:t>
            </a:r>
          </a:p>
          <a:p>
            <a:pPr marL="0" indent="0">
              <a:buNone/>
            </a:pPr>
            <a:r>
              <a:rPr lang="en-US" altLang="zh-CN" dirty="0" err="1"/>
              <a:t>def</a:t>
            </a:r>
            <a:r>
              <a:rPr lang="en-US" altLang="zh-CN" dirty="0"/>
              <a:t> Tran(</a:t>
            </a:r>
            <a:r>
              <a:rPr lang="en-US" altLang="zh-CN" dirty="0" err="1"/>
              <a:t>d,r</a:t>
            </a:r>
            <a:r>
              <a:rPr lang="en-US" altLang="zh-CN" dirty="0"/>
              <a:t>):</a:t>
            </a:r>
          </a:p>
          <a:p>
            <a:pPr marL="0" indent="0">
              <a:buNone/>
            </a:pPr>
            <a:r>
              <a:rPr lang="en-US" altLang="zh-CN" dirty="0"/>
              <a:t>    if d==0:</a:t>
            </a:r>
          </a:p>
          <a:p>
            <a:pPr marL="0" indent="0">
              <a:buNone/>
            </a:pPr>
            <a:r>
              <a:rPr lang="en-US" altLang="zh-CN" dirty="0"/>
              <a:t>        return ""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x=</a:t>
            </a:r>
            <a:r>
              <a:rPr lang="en-US" altLang="zh-CN" dirty="0" err="1"/>
              <a:t>d%r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return Tran(d // </a:t>
            </a:r>
            <a:r>
              <a:rPr lang="en-US" altLang="zh-CN" dirty="0" err="1"/>
              <a:t>r,r</a:t>
            </a:r>
            <a:r>
              <a:rPr lang="en-US" altLang="zh-CN" dirty="0"/>
              <a:t>) + s[x]   #</a:t>
            </a:r>
            <a:r>
              <a:rPr lang="zh-CN" altLang="en-US" dirty="0"/>
              <a:t>根据下标转换为</a:t>
            </a:r>
            <a:r>
              <a:rPr lang="en-US" altLang="zh-CN" dirty="0"/>
              <a:t>16</a:t>
            </a:r>
            <a:r>
              <a:rPr lang="zh-CN" altLang="en-US" dirty="0"/>
              <a:t>进制数码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print(Tran(31,16))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9771666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递归函数练习</a:t>
            </a:r>
            <a:r>
              <a:rPr lang="en-US" altLang="zh-CN" dirty="0"/>
              <a:t>--</a:t>
            </a:r>
            <a:r>
              <a:rPr lang="zh-CN" altLang="en-US" dirty="0"/>
              <a:t>字符串逆转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39552" y="1052736"/>
            <a:ext cx="787655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s="ABCD"   </a:t>
            </a:r>
            <a:r>
              <a:rPr lang="zh-CN" altLang="en-US" sz="2800" b="1" dirty="0"/>
              <a:t>转化为  </a:t>
            </a:r>
            <a:r>
              <a:rPr lang="en-US" altLang="zh-CN" sz="2800" b="1" dirty="0"/>
              <a:t>"DCBA"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514660" y="1789063"/>
            <a:ext cx="787655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"BCDA" </a:t>
            </a:r>
            <a:r>
              <a:rPr lang="zh-CN" altLang="en-US" sz="2800" b="1" dirty="0"/>
              <a:t>是</a:t>
            </a:r>
            <a:r>
              <a:rPr lang="en-US" altLang="zh-CN" sz="2800" b="1" dirty="0"/>
              <a:t>s[1</a:t>
            </a:r>
            <a:r>
              <a:rPr lang="en-US" altLang="zh-CN" sz="2800" b="1" dirty="0" smtClean="0"/>
              <a:t>:]</a:t>
            </a:r>
            <a:r>
              <a:rPr lang="en-US" altLang="zh-CN" sz="2800" b="1" dirty="0"/>
              <a:t>+</a:t>
            </a:r>
            <a:r>
              <a:rPr lang="en-US" altLang="zh-CN" sz="2800" b="1" dirty="0" smtClean="0"/>
              <a:t>s[0</a:t>
            </a:r>
            <a:r>
              <a:rPr lang="en-US" altLang="zh-CN" sz="2800" b="1" dirty="0"/>
              <a:t>] 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14660" y="2685652"/>
            <a:ext cx="7876554" cy="5760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s="BCD"   "CDB"  </a:t>
            </a:r>
            <a:r>
              <a:rPr lang="zh-CN" altLang="en-US" sz="2800" b="1" dirty="0"/>
              <a:t>是</a:t>
            </a:r>
            <a:r>
              <a:rPr lang="en-US" altLang="zh-CN" sz="2800" b="1" dirty="0"/>
              <a:t>s[1</a:t>
            </a:r>
            <a:r>
              <a:rPr lang="en-US" altLang="zh-CN" sz="2800" b="1" dirty="0" smtClean="0"/>
              <a:t>:]</a:t>
            </a:r>
            <a:r>
              <a:rPr lang="en-US" altLang="zh-CN" sz="2800" b="1" dirty="0"/>
              <a:t>+</a:t>
            </a:r>
            <a:r>
              <a:rPr lang="en-US" altLang="zh-CN" sz="2800" b="1" dirty="0" smtClean="0"/>
              <a:t>s[0</a:t>
            </a:r>
            <a:r>
              <a:rPr lang="en-US" altLang="zh-CN" sz="2800" b="1" dirty="0"/>
              <a:t>] </a:t>
            </a: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531703" y="3429000"/>
            <a:ext cx="7876554" cy="5760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s="CD"   "DC"  </a:t>
            </a:r>
            <a:r>
              <a:rPr lang="zh-CN" altLang="en-US" sz="2800" b="1" dirty="0"/>
              <a:t>是</a:t>
            </a:r>
            <a:r>
              <a:rPr lang="en-US" altLang="zh-CN" sz="2800" b="1" dirty="0"/>
              <a:t>s[1</a:t>
            </a:r>
            <a:r>
              <a:rPr lang="en-US" altLang="zh-CN" sz="2800" b="1" dirty="0" smtClean="0"/>
              <a:t>:]</a:t>
            </a:r>
            <a:r>
              <a:rPr lang="en-US" altLang="zh-CN" sz="2800" b="1" dirty="0"/>
              <a:t>+</a:t>
            </a:r>
            <a:r>
              <a:rPr lang="en-US" altLang="zh-CN" sz="2800" b="1" dirty="0" smtClean="0"/>
              <a:t>s[0</a:t>
            </a:r>
            <a:r>
              <a:rPr lang="en-US" altLang="zh-CN" sz="2800" b="1" dirty="0"/>
              <a:t>] 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514660" y="4300011"/>
            <a:ext cx="7876554" cy="5760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/>
              <a:t>s=“D”    </a:t>
            </a:r>
            <a:r>
              <a:rPr lang="zh-CN" altLang="en-US" sz="2800" b="1" dirty="0"/>
              <a:t>长度为</a:t>
            </a:r>
            <a:r>
              <a:rPr lang="en-US" altLang="zh-CN" sz="2800" b="1" dirty="0"/>
              <a:t>1  </a:t>
            </a:r>
            <a:r>
              <a:rPr lang="zh-CN" altLang="en-US" sz="2800" b="1" dirty="0"/>
              <a:t>无需转换     </a:t>
            </a:r>
            <a:r>
              <a:rPr lang="zh-CN" altLang="en-US" sz="2800" b="1" dirty="0">
                <a:solidFill>
                  <a:srgbClr val="FF0000"/>
                </a:solidFill>
              </a:rPr>
              <a:t>终止条件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977E38-440E-4B63-989D-4A1C652AEC9A}"/>
              </a:ext>
            </a:extLst>
          </p:cNvPr>
          <p:cNvSpPr txBox="1"/>
          <p:nvPr/>
        </p:nvSpPr>
        <p:spPr>
          <a:xfrm>
            <a:off x="251520" y="5157192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总结规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则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：每次都是：</a:t>
            </a:r>
            <a:r>
              <a:rPr lang="zh-CN" altLang="en-US" sz="2800" b="1" dirty="0" smtClean="0"/>
              <a:t>将</a:t>
            </a:r>
            <a:r>
              <a:rPr lang="en-US" altLang="zh-CN" sz="2800" b="1" dirty="0"/>
              <a:t>s[1:]</a:t>
            </a:r>
            <a:r>
              <a:rPr lang="zh-CN" altLang="en-US" sz="2800" b="1" dirty="0"/>
              <a:t>逆转后，连接上</a:t>
            </a:r>
            <a:r>
              <a:rPr lang="en-US" altLang="zh-CN" sz="2800" b="1" dirty="0"/>
              <a:t>s[0]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949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 smtClean="0"/>
              <a:t>字符串</a:t>
            </a:r>
            <a:r>
              <a:rPr lang="zh-CN" altLang="en-US" dirty="0"/>
              <a:t>递</a:t>
            </a:r>
            <a:r>
              <a:rPr lang="zh-CN" altLang="en-US" dirty="0" smtClean="0"/>
              <a:t>推公式</a:t>
            </a:r>
            <a:endParaRPr lang="zh-CN" altLang="en-US" dirty="0"/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>
            <a:off x="2588835" y="3076762"/>
            <a:ext cx="287784" cy="734889"/>
          </a:xfrm>
          <a:prstGeom prst="leftBrace">
            <a:avLst>
              <a:gd name="adj1" fmla="val 22243"/>
              <a:gd name="adj2" fmla="val 50000"/>
            </a:avLst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b="1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853707" y="2852936"/>
            <a:ext cx="540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kern="0" dirty="0">
                <a:solidFill>
                  <a:srgbClr val="000066"/>
                </a:solidFill>
                <a:latin typeface="Times New Roman"/>
              </a:rPr>
              <a:t>s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               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</a:t>
            </a:r>
            <a:r>
              <a:rPr kumimoji="0" lang="en-US" altLang="zh-CN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宋体" pitchFamily="2" charset="-122"/>
              </a:rPr>
              <a:t>len</a:t>
            </a:r>
            <a:r>
              <a:rPr kumimoji="0" lang="en-US" altLang="zh-CN" kern="0" dirty="0" smtClean="0">
                <a:solidFill>
                  <a:srgbClr val="000066"/>
                </a:solidFill>
              </a:rPr>
              <a:t>(s</a:t>
            </a:r>
            <a:r>
              <a:rPr kumimoji="0" lang="en-US" altLang="zh-CN" kern="0" dirty="0" smtClean="0">
                <a:solidFill>
                  <a:srgbClr val="000066"/>
                </a:solidFill>
              </a:rPr>
              <a:t>)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= </a:t>
            </a:r>
            <a:r>
              <a:rPr kumimoji="0" lang="en-US" altLang="zh-CN" kern="0" dirty="0">
                <a:solidFill>
                  <a:srgbClr val="000066"/>
                </a:solidFill>
                <a:latin typeface="Times New Roman"/>
              </a:rPr>
              <a:t>1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853707" y="3314601"/>
            <a:ext cx="55675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kern="0" dirty="0" smtClean="0">
                <a:solidFill>
                  <a:srgbClr val="000066"/>
                </a:solidFill>
                <a:latin typeface="Times New Roman"/>
              </a:rPr>
              <a:t>r</a:t>
            </a:r>
            <a:r>
              <a:rPr kumimoji="0" lang="en-US" altLang="zh-CN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ev</a:t>
            </a:r>
            <a:r>
              <a:rPr kumimoji="0" lang="en-US" altLang="zh-CN" kern="0" dirty="0" smtClean="0">
                <a:solidFill>
                  <a:srgbClr val="000066"/>
                </a:solidFill>
                <a:latin typeface="Times New Roman"/>
              </a:rPr>
              <a:t>(s[1:]) +s[0]       </a:t>
            </a:r>
            <a:r>
              <a:rPr kumimoji="0" lang="en-US" altLang="zh-CN" kern="0" dirty="0" smtClean="0">
                <a:solidFill>
                  <a:srgbClr val="000066"/>
                </a:solidFill>
                <a:latin typeface="Times New Roman"/>
              </a:rPr>
              <a:t> </a:t>
            </a:r>
            <a:r>
              <a:rPr kumimoji="0" lang="zh-CN" altLang="en-US" kern="0" dirty="0" smtClean="0">
                <a:solidFill>
                  <a:srgbClr val="000066"/>
                </a:solidFill>
                <a:latin typeface="Times New Roman"/>
              </a:rPr>
              <a:t>其</a:t>
            </a:r>
            <a:r>
              <a:rPr kumimoji="0" lang="zh-CN" altLang="en-US" kern="0" dirty="0" smtClean="0">
                <a:solidFill>
                  <a:srgbClr val="000066"/>
                </a:solidFill>
                <a:latin typeface="Times New Roman"/>
              </a:rPr>
              <a:t>他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005428" y="3212976"/>
            <a:ext cx="16551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dirty="0" smtClean="0">
                <a:solidFill>
                  <a:srgbClr val="000066"/>
                </a:solidFill>
                <a:ea typeface="黑体" panose="02010609060101010101" pitchFamily="49" charset="-122"/>
              </a:rPr>
              <a:t>rev(s)=</a:t>
            </a:r>
            <a:endParaRPr kumimoji="0" lang="en-US" altLang="zh-CN" dirty="0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090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字符串逆转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10247" y="1030839"/>
            <a:ext cx="7876554" cy="309634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800" b="1" dirty="0" err="1"/>
              <a:t>def</a:t>
            </a:r>
            <a:r>
              <a:rPr lang="en-US" altLang="zh-CN" sz="2800" b="1" dirty="0"/>
              <a:t> rev(s):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if </a:t>
            </a:r>
            <a:r>
              <a:rPr lang="en-US" altLang="zh-CN" sz="2800" b="1" dirty="0" err="1"/>
              <a:t>len</a:t>
            </a:r>
            <a:r>
              <a:rPr lang="en-US" altLang="zh-CN" sz="2800" b="1" dirty="0"/>
              <a:t>(s)==1: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    return s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else: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        return rev(s[1:])+s[0]</a:t>
            </a:r>
          </a:p>
          <a:p>
            <a:pPr marL="68263" indent="0" eaLnBrk="1" hangingPunct="1">
              <a:lnSpc>
                <a:spcPct val="90000"/>
              </a:lnSpc>
              <a:buNone/>
            </a:pPr>
            <a:r>
              <a:rPr lang="en-US" altLang="zh-CN" sz="2800" b="1" dirty="0"/>
              <a:t>print(rev("ABCDEF"))</a:t>
            </a:r>
          </a:p>
        </p:txBody>
      </p:sp>
    </p:spTree>
    <p:extLst>
      <p:ext uri="{BB962C8B-B14F-4D97-AF65-F5344CB8AC3E}">
        <p14:creationId xmlns:p14="http://schemas.microsoft.com/office/powerpoint/2010/main" val="378978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71EA8-0F2E-4808-9A95-4D4F5D1E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8640"/>
            <a:ext cx="8275638" cy="675407"/>
          </a:xfrm>
        </p:spPr>
        <p:txBody>
          <a:bodyPr/>
          <a:lstStyle/>
          <a:p>
            <a:r>
              <a:rPr lang="zh-CN" altLang="en-US" dirty="0"/>
              <a:t>递归函数</a:t>
            </a:r>
            <a:r>
              <a:rPr lang="zh-CN" altLang="en-US" dirty="0" smtClean="0"/>
              <a:t>练习，判断</a:t>
            </a:r>
            <a:r>
              <a:rPr lang="zh-CN" altLang="en-US" dirty="0" smtClean="0">
                <a:solidFill>
                  <a:srgbClr val="FF0000"/>
                </a:solidFill>
              </a:rPr>
              <a:t>字符串回文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C7586F9-DF26-4907-8F06-751DE4FDC04F}"/>
              </a:ext>
            </a:extLst>
          </p:cNvPr>
          <p:cNvSpPr txBox="1">
            <a:spLocks/>
          </p:cNvSpPr>
          <p:nvPr/>
        </p:nvSpPr>
        <p:spPr bwMode="auto">
          <a:xfrm>
            <a:off x="395536" y="1052736"/>
            <a:ext cx="3798962" cy="69340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en-US" sz="3600" kern="0" dirty="0" smtClean="0"/>
              <a:t>“</a:t>
            </a:r>
            <a:r>
              <a:rPr lang="en-US" altLang="zh-CN" sz="3600" kern="0" dirty="0" smtClean="0">
                <a:solidFill>
                  <a:srgbClr val="FF0000"/>
                </a:solidFill>
              </a:rPr>
              <a:t>123455321</a:t>
            </a:r>
            <a:r>
              <a:rPr lang="zh-CN" altLang="en-US" sz="3600" kern="0" dirty="0" smtClean="0"/>
              <a:t>”</a:t>
            </a:r>
            <a:endParaRPr lang="zh-CN" altLang="en-US" sz="3600" kern="0" dirty="0"/>
          </a:p>
        </p:txBody>
      </p:sp>
      <p:cxnSp>
        <p:nvCxnSpPr>
          <p:cNvPr id="6" name="直接箭头连接符 5"/>
          <p:cNvCxnSpPr>
            <a:stCxn id="9" idx="0"/>
          </p:cNvCxnSpPr>
          <p:nvPr/>
        </p:nvCxnSpPr>
        <p:spPr bwMode="auto">
          <a:xfrm flipH="1" flipV="1">
            <a:off x="1043608" y="1700808"/>
            <a:ext cx="12946" cy="360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接箭头连接符 7"/>
          <p:cNvCxnSpPr/>
          <p:nvPr/>
        </p:nvCxnSpPr>
        <p:spPr bwMode="auto">
          <a:xfrm flipV="1">
            <a:off x="3131840" y="1700808"/>
            <a:ext cx="0" cy="360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611560" y="206084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i</a:t>
            </a:r>
            <a:r>
              <a:rPr lang="zh-CN" altLang="en-US" dirty="0" smtClean="0"/>
              <a:t>索引 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744554" y="2097035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j</a:t>
            </a:r>
            <a:r>
              <a:rPr lang="zh-CN" altLang="en-US" dirty="0" smtClean="0"/>
              <a:t>索引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(s)-1</a:t>
            </a:r>
            <a:endParaRPr lang="zh-CN" altLang="en-US" dirty="0"/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DC7586F9-DF26-4907-8F06-751DE4FDC04F}"/>
              </a:ext>
            </a:extLst>
          </p:cNvPr>
          <p:cNvSpPr txBox="1">
            <a:spLocks/>
          </p:cNvSpPr>
          <p:nvPr/>
        </p:nvSpPr>
        <p:spPr bwMode="auto">
          <a:xfrm>
            <a:off x="107504" y="3726690"/>
            <a:ext cx="5721995" cy="218676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en-US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判断  </a:t>
            </a:r>
            <a:r>
              <a:rPr lang="en-US" altLang="zh-CN" sz="2800" kern="0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r>
              <a:rPr lang="en-US" altLang="zh-CN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[</a:t>
            </a:r>
            <a:r>
              <a:rPr lang="en-US" altLang="zh-CN" sz="2800" kern="0" dirty="0" err="1" smtClean="0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]==s[j]</a:t>
            </a:r>
          </a:p>
          <a:p>
            <a:pPr marL="0" indent="0">
              <a:buNone/>
            </a:pPr>
            <a:r>
              <a:rPr lang="zh-CN" altLang="en-US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上式相等时</a:t>
            </a:r>
            <a:r>
              <a:rPr lang="en-US" altLang="zh-CN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去判断  </a:t>
            </a:r>
            <a:r>
              <a:rPr lang="en-US" altLang="zh-CN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i+1 </a:t>
            </a:r>
            <a:r>
              <a:rPr lang="zh-CN" altLang="en-US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 j-1 </a:t>
            </a:r>
            <a:r>
              <a:rPr lang="zh-CN" altLang="en-US" sz="2800" kern="0" dirty="0">
                <a:latin typeface="等线" panose="02010600030101010101" pitchFamily="2" charset="-122"/>
                <a:ea typeface="等线" panose="02010600030101010101" pitchFamily="2" charset="-122"/>
              </a:rPr>
              <a:t>字符</a:t>
            </a:r>
            <a:endParaRPr lang="en-US" altLang="zh-CN" sz="2800" kern="0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能走到  </a:t>
            </a:r>
            <a:r>
              <a:rPr lang="en-US" altLang="zh-CN" sz="2800" kern="0" dirty="0" err="1" smtClean="0">
                <a:latin typeface="等线" panose="02010600030101010101" pitchFamily="2" charset="-122"/>
                <a:ea typeface="等线" panose="02010600030101010101" pitchFamily="2" charset="-122"/>
              </a:rPr>
              <a:t>i</a:t>
            </a:r>
            <a:r>
              <a:rPr lang="en-US" altLang="zh-CN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&gt;=j </a:t>
            </a:r>
            <a:r>
              <a:rPr lang="zh-CN" altLang="en-US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时  返回真</a:t>
            </a:r>
            <a:endParaRPr lang="en-US" altLang="zh-CN" sz="2800" kern="0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否则  去判断  </a:t>
            </a:r>
            <a:r>
              <a:rPr lang="en-US" altLang="zh-CN" sz="2800" kern="0" dirty="0" smtClean="0">
                <a:latin typeface="等线" panose="02010600030101010101" pitchFamily="2" charset="-122"/>
                <a:ea typeface="等线" panose="02010600030101010101" pitchFamily="2" charset="-122"/>
              </a:rPr>
              <a:t>i+1   </a:t>
            </a:r>
            <a:endParaRPr lang="zh-CN" altLang="en-US" sz="2800" kern="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AutoShape 4"/>
          <p:cNvSpPr>
            <a:spLocks/>
          </p:cNvSpPr>
          <p:nvPr/>
        </p:nvSpPr>
        <p:spPr bwMode="auto">
          <a:xfrm>
            <a:off x="2074880" y="2774509"/>
            <a:ext cx="287784" cy="734889"/>
          </a:xfrm>
          <a:prstGeom prst="leftBrace">
            <a:avLst>
              <a:gd name="adj1" fmla="val 22243"/>
              <a:gd name="adj2" fmla="val 50000"/>
            </a:avLst>
          </a:prstGeom>
          <a:noFill/>
          <a:ln w="952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b="1" i="0" u="none" strike="noStrike" kern="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2339752" y="2550683"/>
            <a:ext cx="540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kern="0" noProof="0" dirty="0" smtClean="0">
                <a:solidFill>
                  <a:srgbClr val="000066"/>
                </a:solidFill>
                <a:latin typeface="Times New Roman"/>
              </a:rPr>
              <a:t>true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                      </a:t>
            </a:r>
            <a:r>
              <a:rPr kumimoji="0" lang="en-US" altLang="zh-CN" kern="0" dirty="0" err="1" smtClean="0">
                <a:solidFill>
                  <a:srgbClr val="000066"/>
                </a:solidFill>
              </a:rPr>
              <a:t>i</a:t>
            </a:r>
            <a:r>
              <a:rPr kumimoji="0" lang="en-US" altLang="zh-CN" kern="0" dirty="0" smtClean="0">
                <a:solidFill>
                  <a:srgbClr val="000066"/>
                </a:solidFill>
              </a:rPr>
              <a:t>&gt;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= </a:t>
            </a:r>
            <a:r>
              <a:rPr kumimoji="0" lang="en-US" altLang="zh-CN" kern="0" noProof="0" dirty="0">
                <a:solidFill>
                  <a:srgbClr val="000066"/>
                </a:solidFill>
                <a:latin typeface="Times New Roman"/>
              </a:rPr>
              <a:t>j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 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2339752" y="3270912"/>
            <a:ext cx="45365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kern="0" dirty="0" err="1" smtClean="0">
                <a:solidFill>
                  <a:srgbClr val="000066"/>
                </a:solidFill>
                <a:latin typeface="Times New Roman"/>
              </a:rPr>
              <a:t>hw</a:t>
            </a:r>
            <a:r>
              <a:rPr kumimoji="0" lang="en-US" altLang="zh-CN" kern="0" dirty="0" smtClean="0">
                <a:solidFill>
                  <a:srgbClr val="000066"/>
                </a:solidFill>
                <a:latin typeface="Times New Roman"/>
              </a:rPr>
              <a:t>(s,i+1,j-1)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       </a:t>
            </a:r>
            <a:r>
              <a:rPr kumimoji="0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其它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491473" y="2910723"/>
            <a:ext cx="16551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dirty="0" err="1" smtClean="0">
                <a:solidFill>
                  <a:srgbClr val="000066"/>
                </a:solidFill>
                <a:ea typeface="黑体" panose="02010609060101010101" pitchFamily="49" charset="-122"/>
              </a:rPr>
              <a:t>hw</a:t>
            </a:r>
            <a:r>
              <a:rPr kumimoji="0" lang="en-US" altLang="zh-CN" dirty="0" smtClean="0">
                <a:solidFill>
                  <a:srgbClr val="000066"/>
                </a:solidFill>
                <a:ea typeface="黑体" panose="02010609060101010101" pitchFamily="49" charset="-122"/>
              </a:rPr>
              <a:t>(</a:t>
            </a:r>
            <a:r>
              <a:rPr kumimoji="0" lang="en-US" altLang="zh-CN" dirty="0" err="1" smtClean="0">
                <a:solidFill>
                  <a:srgbClr val="000066"/>
                </a:solidFill>
                <a:ea typeface="黑体" panose="02010609060101010101" pitchFamily="49" charset="-122"/>
              </a:rPr>
              <a:t>s,i,j</a:t>
            </a:r>
            <a:r>
              <a:rPr kumimoji="0" lang="en-US" altLang="zh-CN" dirty="0" smtClean="0">
                <a:solidFill>
                  <a:srgbClr val="000066"/>
                </a:solidFill>
                <a:ea typeface="黑体" panose="02010609060101010101" pitchFamily="49" charset="-122"/>
              </a:rPr>
              <a:t>)=</a:t>
            </a:r>
            <a:endParaRPr kumimoji="0" lang="en-US" altLang="zh-CN" dirty="0">
              <a:solidFill>
                <a:srgbClr val="000066"/>
              </a:solidFill>
              <a:ea typeface="黑体" panose="02010609060101010101" pitchFamily="49" charset="-122"/>
            </a:endParaRPr>
          </a:p>
        </p:txBody>
      </p:sp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2351208" y="2905449"/>
            <a:ext cx="45365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kern="0" noProof="0" dirty="0" smtClean="0">
                <a:solidFill>
                  <a:srgbClr val="000066"/>
                </a:solidFill>
                <a:latin typeface="Times New Roman"/>
              </a:rPr>
              <a:t>false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                     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宋体" pitchFamily="2" charset="-122"/>
              </a:rPr>
              <a:t>s[</a:t>
            </a:r>
            <a:r>
              <a:rPr kumimoji="0" lang="en-US" altLang="zh-CN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宋体" pitchFamily="2" charset="-122"/>
              </a:rPr>
              <a:t>i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ea typeface="宋体" pitchFamily="2" charset="-122"/>
              </a:rPr>
              <a:t>]</a:t>
            </a:r>
            <a:r>
              <a:rPr kumimoji="0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!= </a:t>
            </a:r>
            <a:r>
              <a:rPr kumimoji="0" lang="en-US" altLang="zh-CN" kern="0" dirty="0" smtClean="0">
                <a:solidFill>
                  <a:srgbClr val="000066"/>
                </a:solidFill>
                <a:latin typeface="Times New Roman"/>
              </a:rPr>
              <a:t>s[j]</a:t>
            </a:r>
            <a:r>
              <a:rPr kumimoji="0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 pitchFamily="2" charset="-122"/>
              </a:rPr>
              <a:t>          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70430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71EA8-0F2E-4808-9A95-4D4F5D1EC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8640"/>
            <a:ext cx="8275638" cy="675407"/>
          </a:xfrm>
        </p:spPr>
        <p:txBody>
          <a:bodyPr/>
          <a:lstStyle/>
          <a:p>
            <a:r>
              <a:rPr lang="zh-CN" altLang="en-US" dirty="0"/>
              <a:t>递归函数练习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7586F9-DF26-4907-8F06-751DE4FDC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63390"/>
            <a:ext cx="4697982" cy="5400600"/>
          </a:xfrm>
          <a:ln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r>
              <a:rPr lang="zh-CN" altLang="en-US" dirty="0"/>
              <a:t>判断一个字符串是否是回文串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s=input("</a:t>
            </a:r>
            <a:r>
              <a:rPr lang="zh-CN" altLang="en-US" sz="2000" dirty="0"/>
              <a:t>请输入字符串</a:t>
            </a:r>
            <a:r>
              <a:rPr lang="en-US" altLang="zh-CN" sz="2000" dirty="0"/>
              <a:t>")</a:t>
            </a:r>
          </a:p>
          <a:p>
            <a:pPr marL="0" indent="0">
              <a:buNone/>
            </a:pPr>
            <a:r>
              <a:rPr lang="en-US" altLang="zh-CN" sz="2000" dirty="0"/>
              <a:t>def </a:t>
            </a:r>
            <a:r>
              <a:rPr lang="en-US" altLang="zh-CN" sz="2000" dirty="0" err="1"/>
              <a:t>huiwen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s,i,j</a:t>
            </a:r>
            <a:r>
              <a:rPr lang="en-US" altLang="zh-CN" sz="2000" dirty="0"/>
              <a:t>):</a:t>
            </a:r>
          </a:p>
          <a:p>
            <a:pPr marL="0" indent="0">
              <a:buNone/>
            </a:pPr>
            <a:r>
              <a:rPr lang="en-US" altLang="zh-CN" sz="2000" dirty="0"/>
              <a:t>    if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&gt;=j:</a:t>
            </a:r>
          </a:p>
          <a:p>
            <a:pPr marL="0" indent="0">
              <a:buNone/>
            </a:pPr>
            <a:r>
              <a:rPr lang="en-US" altLang="zh-CN" sz="2000" dirty="0"/>
              <a:t>        return True</a:t>
            </a:r>
          </a:p>
          <a:p>
            <a:pPr marL="0" indent="0"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 s[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]!=s[j]:</a:t>
            </a:r>
          </a:p>
          <a:p>
            <a:pPr marL="0" indent="0">
              <a:buNone/>
            </a:pPr>
            <a:r>
              <a:rPr lang="en-US" altLang="zh-CN" sz="2000" dirty="0"/>
              <a:t>        return False</a:t>
            </a:r>
          </a:p>
          <a:p>
            <a:pPr marL="0" indent="0">
              <a:buNone/>
            </a:pPr>
            <a:r>
              <a:rPr lang="en-US" altLang="zh-CN" sz="2000" dirty="0"/>
              <a:t>    else:</a:t>
            </a:r>
          </a:p>
          <a:p>
            <a:pPr marL="0" indent="0">
              <a:buNone/>
            </a:pPr>
            <a:r>
              <a:rPr lang="en-US" altLang="zh-CN" sz="2000" dirty="0"/>
              <a:t>        return </a:t>
            </a:r>
            <a:r>
              <a:rPr lang="en-US" altLang="zh-CN" sz="2000" dirty="0" err="1"/>
              <a:t>huiwen</a:t>
            </a:r>
            <a:r>
              <a:rPr lang="en-US" altLang="zh-CN" sz="2000" dirty="0"/>
              <a:t>(s,i+1,j-1)</a:t>
            </a:r>
          </a:p>
          <a:p>
            <a:pPr marL="0" indent="0">
              <a:buNone/>
            </a:pPr>
            <a:r>
              <a:rPr lang="en-US" altLang="zh-CN" sz="2000" dirty="0"/>
              <a:t>if  </a:t>
            </a:r>
            <a:r>
              <a:rPr lang="en-US" altLang="zh-CN" sz="2000" dirty="0" err="1"/>
              <a:t>huiwen</a:t>
            </a:r>
            <a:r>
              <a:rPr lang="en-US" altLang="zh-CN" sz="2000" dirty="0"/>
              <a:t>(s,0,len(s)-1):</a:t>
            </a:r>
          </a:p>
          <a:p>
            <a:pPr marL="0" indent="0">
              <a:buNone/>
            </a:pPr>
            <a:r>
              <a:rPr lang="en-US" altLang="zh-CN" sz="2000" dirty="0"/>
              <a:t>     print(s+"</a:t>
            </a:r>
            <a:r>
              <a:rPr lang="zh-CN" altLang="en-US" sz="2000" dirty="0"/>
              <a:t>是回文串</a:t>
            </a:r>
            <a:r>
              <a:rPr lang="en-US" altLang="zh-CN" sz="2000" dirty="0"/>
              <a:t>")</a:t>
            </a:r>
          </a:p>
          <a:p>
            <a:pPr marL="0" indent="0">
              <a:buNone/>
            </a:pPr>
            <a:r>
              <a:rPr lang="en-US" altLang="zh-CN" sz="2000" dirty="0"/>
              <a:t>else:</a:t>
            </a:r>
          </a:p>
          <a:p>
            <a:pPr marL="0" indent="0">
              <a:buNone/>
            </a:pPr>
            <a:r>
              <a:rPr lang="en-US" altLang="zh-CN" sz="2000" dirty="0"/>
              <a:t>    print(s+"</a:t>
            </a:r>
            <a:r>
              <a:rPr lang="zh-CN" altLang="en-US" sz="2000" dirty="0"/>
              <a:t>不是回文串</a:t>
            </a:r>
            <a:r>
              <a:rPr lang="en-US" altLang="zh-CN" sz="2000" dirty="0"/>
              <a:t>")</a:t>
            </a:r>
          </a:p>
          <a:p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C7586F9-DF26-4907-8F06-751DE4FDC04F}"/>
              </a:ext>
            </a:extLst>
          </p:cNvPr>
          <p:cNvSpPr txBox="1">
            <a:spLocks/>
          </p:cNvSpPr>
          <p:nvPr/>
        </p:nvSpPr>
        <p:spPr bwMode="auto">
          <a:xfrm>
            <a:off x="5076056" y="908720"/>
            <a:ext cx="3798962" cy="69340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2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FF9900"/>
              </a:buClr>
              <a:buChar char="•"/>
              <a:defRPr sz="1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6pPr>
            <a:lvl7pPr marL="29718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7pPr>
            <a:lvl8pPr marL="34290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8pPr>
            <a:lvl9pPr marL="3886200" indent="-228600" algn="l" rtl="0" eaLnBrk="1" fontAlgn="base" hangingPunct="1">
              <a:lnSpc>
                <a:spcPct val="85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rgbClr val="5F5F5F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zh-CN" altLang="en-US" sz="3600" kern="0" dirty="0" smtClean="0"/>
              <a:t>“</a:t>
            </a:r>
            <a:r>
              <a:rPr lang="en-US" altLang="zh-CN" sz="3600" kern="0" dirty="0" smtClean="0">
                <a:solidFill>
                  <a:srgbClr val="FF0000"/>
                </a:solidFill>
              </a:rPr>
              <a:t>123454321</a:t>
            </a:r>
            <a:r>
              <a:rPr lang="zh-CN" altLang="en-US" sz="3600" kern="0" dirty="0" smtClean="0"/>
              <a:t>”</a:t>
            </a:r>
            <a:endParaRPr lang="zh-CN" altLang="en-US" sz="3600" kern="0" dirty="0"/>
          </a:p>
        </p:txBody>
      </p:sp>
      <p:cxnSp>
        <p:nvCxnSpPr>
          <p:cNvPr id="6" name="直接箭头连接符 5"/>
          <p:cNvCxnSpPr/>
          <p:nvPr/>
        </p:nvCxnSpPr>
        <p:spPr bwMode="auto">
          <a:xfrm flipV="1">
            <a:off x="5724128" y="1556792"/>
            <a:ext cx="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直接箭头连接符 7"/>
          <p:cNvCxnSpPr/>
          <p:nvPr/>
        </p:nvCxnSpPr>
        <p:spPr bwMode="auto">
          <a:xfrm flipV="1">
            <a:off x="7812360" y="1556792"/>
            <a:ext cx="0" cy="792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5292080" y="2564904"/>
            <a:ext cx="774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索引</a:t>
            </a:r>
            <a:r>
              <a:rPr lang="en-US" altLang="zh-CN" dirty="0" smtClean="0"/>
              <a:t>0</a:t>
            </a:r>
          </a:p>
          <a:p>
            <a:r>
              <a:rPr lang="en-US" altLang="zh-CN" dirty="0" err="1"/>
              <a:t>i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425074" y="2601091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索引</a:t>
            </a:r>
            <a:r>
              <a:rPr lang="en-US" altLang="zh-CN" dirty="0"/>
              <a:t> </a:t>
            </a:r>
            <a:r>
              <a:rPr lang="en-US" altLang="zh-CN" dirty="0" err="1" smtClean="0"/>
              <a:t>len</a:t>
            </a:r>
            <a:r>
              <a:rPr lang="en-US" altLang="zh-CN" dirty="0" smtClean="0"/>
              <a:t>(s)-1</a:t>
            </a:r>
          </a:p>
          <a:p>
            <a:r>
              <a:rPr lang="en-US" altLang="zh-CN" dirty="0"/>
              <a:t>j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7828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377746" y="272842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世界末日问题（ 梵塔问题  汉诺塔 ）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51862" y="1052736"/>
            <a:ext cx="7876554" cy="237626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有两个柱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个从大到小排列的金盘，要将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上的盘移动到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规则：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每次移动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个；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任何时候大的下，小的在上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操作：借助于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ea typeface="宋体" panose="02010600030101010101" pitchFamily="2" charset="-122"/>
              </a:rPr>
              <a:t>柱，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按照每秒移动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个，全部移完需要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baseline="30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64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-1≈5849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亿年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464012"/>
            <a:ext cx="6389205" cy="27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0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377746" y="272842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世界末日问题（ 梵塔问题  汉诺塔 ）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95936" y="2442738"/>
            <a:ext cx="2773135" cy="48220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spcBef>
                <a:spcPct val="500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借助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移动到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72" y="1340768"/>
            <a:ext cx="3312368" cy="313234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51920" y="3923638"/>
            <a:ext cx="2773135" cy="48220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spcBef>
                <a:spcPct val="50000"/>
              </a:spcBef>
              <a:buNone/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借助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移动到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75008" y="3164999"/>
            <a:ext cx="2773135" cy="48220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>
              <a:spcBef>
                <a:spcPct val="50000"/>
              </a:spcBef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块，</a:t>
            </a:r>
            <a:r>
              <a:rPr lang="en-US" altLang="zh-CN" sz="20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A-&gt;C</a:t>
            </a:r>
            <a:endParaRPr lang="zh-CN" altLang="en-US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979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377746" y="272842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世界末日问题（ 梵塔问题  汉诺塔 ）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51862" y="1052736"/>
            <a:ext cx="787655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spcBef>
                <a:spcPct val="50000"/>
              </a:spcBef>
            </a:pPr>
            <a:r>
              <a:rPr lang="zh-CN" altLang="en-US" sz="24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问题的递归分解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708920"/>
            <a:ext cx="6955900" cy="301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2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汉诺塔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1692" y="914324"/>
            <a:ext cx="7876554" cy="517897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en-US" altLang="zh-CN" sz="2000" dirty="0" err="1"/>
              <a:t>def</a:t>
            </a:r>
            <a:r>
              <a:rPr lang="en-US" altLang="zh-CN" sz="2000" dirty="0"/>
              <a:t> Hanoi(n, A, B , C, t): # </a:t>
            </a:r>
            <a:r>
              <a:rPr lang="zh-CN" altLang="en-US" sz="2000" dirty="0"/>
              <a:t>借助</a:t>
            </a:r>
            <a:r>
              <a:rPr lang="en-US" altLang="zh-CN" sz="2000" dirty="0"/>
              <a:t>B</a:t>
            </a:r>
            <a:r>
              <a:rPr lang="zh-CN" altLang="en-US" sz="2000" dirty="0"/>
              <a:t>移动到</a:t>
            </a:r>
            <a:r>
              <a:rPr lang="en-US" altLang="zh-CN" sz="2000" dirty="0"/>
              <a:t>C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    if n == 1: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        print(A+"→"+C)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        t[0] +=  1;  #</a:t>
            </a:r>
            <a:r>
              <a:rPr lang="zh-CN" altLang="en-US" sz="2000" dirty="0"/>
              <a:t>增加变量</a:t>
            </a:r>
            <a:r>
              <a:rPr lang="en-US" altLang="zh-CN" sz="2000" dirty="0"/>
              <a:t>t</a:t>
            </a:r>
            <a:r>
              <a:rPr lang="zh-CN" altLang="en-US" sz="2000" dirty="0"/>
              <a:t>用来统计移动次数 </a:t>
            </a:r>
          </a:p>
          <a:p>
            <a:pPr marL="68263" indent="0" eaLnBrk="1" hangingPunct="1">
              <a:buNone/>
            </a:pPr>
            <a:r>
              <a:rPr lang="zh-CN" altLang="en-US" sz="2000" dirty="0"/>
              <a:t>        </a:t>
            </a:r>
            <a:r>
              <a:rPr lang="en-US" altLang="zh-CN" sz="2000" dirty="0"/>
              <a:t>return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    else: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        Hanoi(n - 1, A, C, B, t) #A</a:t>
            </a:r>
            <a:r>
              <a:rPr lang="zh-CN" altLang="en-US" sz="2000" dirty="0"/>
              <a:t>移到</a:t>
            </a:r>
            <a:r>
              <a:rPr lang="en-US" altLang="zh-CN" sz="2000" dirty="0"/>
              <a:t>B </a:t>
            </a:r>
            <a:r>
              <a:rPr lang="zh-CN" altLang="en-US" sz="2000" dirty="0"/>
              <a:t>，借助于</a:t>
            </a:r>
            <a:r>
              <a:rPr lang="en-US" altLang="zh-CN" sz="2000" dirty="0"/>
              <a:t>C 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        print(A + "→" + C)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        t[0] +=  + 1;  #</a:t>
            </a:r>
            <a:r>
              <a:rPr lang="zh-CN" altLang="en-US" sz="2000" dirty="0"/>
              <a:t>增加变量</a:t>
            </a:r>
            <a:r>
              <a:rPr lang="en-US" altLang="zh-CN" sz="2000" dirty="0"/>
              <a:t>t</a:t>
            </a:r>
            <a:r>
              <a:rPr lang="zh-CN" altLang="en-US" sz="2000" dirty="0"/>
              <a:t>用来统计移动次数 </a:t>
            </a:r>
          </a:p>
          <a:p>
            <a:pPr marL="68263" indent="0" eaLnBrk="1" hangingPunct="1">
              <a:buNone/>
            </a:pPr>
            <a:r>
              <a:rPr lang="zh-CN" altLang="en-US" sz="2000" dirty="0"/>
              <a:t>        </a:t>
            </a:r>
            <a:r>
              <a:rPr lang="en-US" altLang="zh-CN" sz="2000" dirty="0"/>
              <a:t>Hanoi(n - 1, B, A ,C, t)  #B</a:t>
            </a:r>
            <a:r>
              <a:rPr lang="zh-CN" altLang="en-US" sz="2000" dirty="0"/>
              <a:t>移到</a:t>
            </a:r>
            <a:r>
              <a:rPr lang="en-US" altLang="zh-CN" sz="2000" dirty="0"/>
              <a:t>C </a:t>
            </a:r>
            <a:r>
              <a:rPr lang="zh-CN" altLang="en-US" sz="2000" dirty="0"/>
              <a:t>，借助于</a:t>
            </a:r>
            <a:r>
              <a:rPr lang="en-US" altLang="zh-CN" sz="2000" dirty="0"/>
              <a:t>A 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t=[0]</a:t>
            </a:r>
          </a:p>
          <a:p>
            <a:pPr marL="68263" indent="0" eaLnBrk="1" hangingPunct="1">
              <a:buNone/>
            </a:pPr>
            <a:r>
              <a:rPr lang="en-US" altLang="zh-CN" sz="2000" dirty="0"/>
              <a:t>Hanoi(4,"A","B","C",t)   # </a:t>
            </a:r>
            <a:r>
              <a:rPr lang="zh-CN" altLang="en-US" sz="2000" dirty="0"/>
              <a:t>借助列表的值，函数中改变可传递回来</a:t>
            </a:r>
            <a:endParaRPr lang="en-US" altLang="zh-CN" sz="2000" dirty="0"/>
          </a:p>
          <a:p>
            <a:pPr marL="68263" indent="0" eaLnBrk="1" hangingPunct="1">
              <a:buNone/>
            </a:pPr>
            <a:r>
              <a:rPr lang="en-US" altLang="zh-CN" sz="2000" dirty="0"/>
              <a:t>print(t[0])  #</a:t>
            </a:r>
            <a:r>
              <a:rPr lang="zh-CN" altLang="en-US" sz="2000" dirty="0"/>
              <a:t>移动多少次</a:t>
            </a:r>
          </a:p>
        </p:txBody>
      </p:sp>
    </p:spTree>
    <p:extLst>
      <p:ext uri="{BB962C8B-B14F-4D97-AF65-F5344CB8AC3E}">
        <p14:creationId xmlns:p14="http://schemas.microsoft.com/office/powerpoint/2010/main" val="25197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递归制图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1692" y="914324"/>
            <a:ext cx="7876554" cy="114652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观察三种图形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从中找出递归的规律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96952"/>
            <a:ext cx="2771800" cy="2758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301" y="2996952"/>
            <a:ext cx="1728192" cy="2563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2996952"/>
            <a:ext cx="3355954" cy="22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8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递归制图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79512" y="1124744"/>
            <a:ext cx="6467531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/>
            <a:r>
              <a:rPr lang="zh-CN" altLang="en-US" sz="2400" dirty="0" smtClean="0"/>
              <a:t>图元</a:t>
            </a:r>
            <a:r>
              <a:rPr lang="zh-CN" altLang="en-US" sz="2400" dirty="0"/>
              <a:t>由一个主树干和树干上生长的 </a:t>
            </a:r>
            <a:r>
              <a:rPr lang="en-US" altLang="zh-CN" sz="2400" dirty="0"/>
              <a:t>3 </a:t>
            </a:r>
            <a:r>
              <a:rPr lang="zh-CN" altLang="en-US" sz="2400" dirty="0"/>
              <a:t>个子枝</a:t>
            </a:r>
            <a:r>
              <a:rPr lang="zh-CN" altLang="en-US" sz="2400" dirty="0" smtClean="0"/>
              <a:t>形成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/>
              <a:t>从主干底部计算，分别在 </a:t>
            </a:r>
            <a:r>
              <a:rPr lang="en-US" altLang="zh-CN" sz="2400" dirty="0"/>
              <a:t>1/3</a:t>
            </a:r>
            <a:r>
              <a:rPr lang="zh-CN" altLang="en-US" sz="2400" dirty="0"/>
              <a:t>，</a:t>
            </a:r>
            <a:r>
              <a:rPr lang="en-US" altLang="zh-CN" sz="2400" dirty="0"/>
              <a:t>1/2</a:t>
            </a:r>
            <a:r>
              <a:rPr lang="zh-CN" altLang="en-US" sz="2400" dirty="0"/>
              <a:t>，</a:t>
            </a:r>
            <a:r>
              <a:rPr lang="en-US" altLang="zh-CN" sz="2400" dirty="0"/>
              <a:t>2/3 </a:t>
            </a:r>
            <a:r>
              <a:rPr lang="zh-CN" altLang="en-US" sz="2400" dirty="0"/>
              <a:t>的位置上，以左转 </a:t>
            </a:r>
            <a:r>
              <a:rPr lang="en-US" altLang="zh-CN" sz="2400" dirty="0"/>
              <a:t>30 </a:t>
            </a:r>
            <a:r>
              <a:rPr lang="zh-CN" altLang="en-US" sz="2400" dirty="0"/>
              <a:t>度、 右转 </a:t>
            </a:r>
            <a:r>
              <a:rPr lang="en-US" altLang="zh-CN" sz="2400" dirty="0"/>
              <a:t>30 </a:t>
            </a:r>
            <a:r>
              <a:rPr lang="zh-CN" altLang="en-US" sz="2400" dirty="0"/>
              <a:t>度、左转 </a:t>
            </a:r>
            <a:r>
              <a:rPr lang="en-US" altLang="zh-CN" sz="2400" dirty="0"/>
              <a:t>30 </a:t>
            </a:r>
            <a:r>
              <a:rPr lang="zh-CN" altLang="en-US" sz="2400" dirty="0"/>
              <a:t>度的角度，分别绘制树枝 </a:t>
            </a:r>
            <a:r>
              <a:rPr lang="en-US" altLang="zh-CN" sz="2400" dirty="0"/>
              <a:t>A1B1</a:t>
            </a:r>
            <a:r>
              <a:rPr lang="zh-CN" altLang="en-US" sz="2400" dirty="0"/>
              <a:t>、</a:t>
            </a:r>
            <a:r>
              <a:rPr lang="en-US" altLang="zh-CN" sz="2400" dirty="0"/>
              <a:t>A2B2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A3B3</a:t>
            </a:r>
            <a:r>
              <a:rPr lang="zh-CN" altLang="en-US" sz="2400" dirty="0" smtClean="0"/>
              <a:t>，三</a:t>
            </a:r>
            <a:r>
              <a:rPr lang="zh-CN" altLang="en-US" sz="2400" dirty="0"/>
              <a:t>个树枝 的长度分别为主干的 </a:t>
            </a:r>
            <a:r>
              <a:rPr lang="en-US" altLang="zh-CN" sz="2400" dirty="0"/>
              <a:t>0.5</a:t>
            </a:r>
            <a:r>
              <a:rPr lang="zh-CN" altLang="en-US" sz="2400" dirty="0"/>
              <a:t>、</a:t>
            </a:r>
            <a:r>
              <a:rPr lang="en-US" altLang="zh-CN" sz="2400" dirty="0"/>
              <a:t>0.5</a:t>
            </a:r>
            <a:r>
              <a:rPr lang="zh-CN" altLang="en-US" sz="2400" dirty="0"/>
              <a:t>、</a:t>
            </a:r>
            <a:r>
              <a:rPr lang="en-US" altLang="zh-CN" sz="2400" dirty="0" smtClean="0"/>
              <a:t>0.5</a:t>
            </a:r>
          </a:p>
          <a:p>
            <a:pPr eaLnBrk="1" hangingPunct="1"/>
            <a:r>
              <a:rPr lang="zh-CN" altLang="en-US" sz="2400" dirty="0" smtClean="0"/>
              <a:t>将</a:t>
            </a:r>
            <a:r>
              <a:rPr lang="zh-CN" altLang="en-US" sz="2400" dirty="0"/>
              <a:t>每个树枝作为主树干，重复上述步骤 </a:t>
            </a:r>
            <a:r>
              <a:rPr lang="en-US" altLang="zh-CN" sz="2400" dirty="0"/>
              <a:t>1 </a:t>
            </a:r>
            <a:r>
              <a:rPr lang="zh-CN" altLang="en-US" sz="2400" dirty="0"/>
              <a:t>的工作。 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终止</a:t>
            </a:r>
            <a:r>
              <a:rPr lang="zh-CN" altLang="en-US" sz="2400" dirty="0"/>
              <a:t>条件：当树干的长度小于 </a:t>
            </a:r>
            <a:r>
              <a:rPr lang="en-US" altLang="zh-CN" sz="2400" dirty="0"/>
              <a:t>20 </a:t>
            </a:r>
            <a:r>
              <a:rPr lang="zh-CN" altLang="en-US" sz="2400" dirty="0"/>
              <a:t>时，递归终止</a:t>
            </a:r>
            <a:endParaRPr lang="en-US" altLang="zh-CN" sz="2400" dirty="0" smtClean="0"/>
          </a:p>
          <a:p>
            <a:pPr eaLnBrk="1" hangingPunct="1"/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72" y="1628800"/>
            <a:ext cx="1970101" cy="328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6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 smtClean="0"/>
              <a:t>小乌龟轨迹图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00301" y="980728"/>
            <a:ext cx="885698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/>
            <a:r>
              <a:rPr lang="en-US" altLang="zh-CN" sz="2400" dirty="0"/>
              <a:t>turtle </a:t>
            </a:r>
            <a:r>
              <a:rPr lang="zh-CN" altLang="en-US" sz="2400" dirty="0"/>
              <a:t>以一个小海龟的爬行轨迹来完成制图，小海龟的初始状态为头向右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通过</a:t>
            </a:r>
            <a:r>
              <a:rPr lang="zh-CN" altLang="en-US" sz="2400" dirty="0"/>
              <a:t>旋转、前进、后退、提笔、落笔等函数实现</a:t>
            </a:r>
            <a:r>
              <a:rPr lang="zh-CN" altLang="en-US" sz="2400" dirty="0" smtClean="0"/>
              <a:t>制图</a:t>
            </a:r>
            <a:endParaRPr lang="en-US" altLang="zh-CN" sz="2400" dirty="0" smtClean="0"/>
          </a:p>
          <a:p>
            <a:pPr eaLnBrk="1" hangingPunct="1"/>
            <a:r>
              <a:rPr lang="en-US" altLang="zh-CN" sz="2400" dirty="0"/>
              <a:t>t</a:t>
            </a:r>
            <a:r>
              <a:rPr lang="en-US" altLang="zh-CN" sz="2400" dirty="0" smtClean="0"/>
              <a:t>urtle</a:t>
            </a:r>
            <a:r>
              <a:rPr lang="zh-CN" altLang="en-US" sz="2400" dirty="0" smtClean="0"/>
              <a:t>的函数</a:t>
            </a:r>
            <a:endParaRPr lang="en-US" altLang="zh-CN" sz="2400" dirty="0" smtClean="0"/>
          </a:p>
          <a:p>
            <a:pPr eaLnBrk="1" hangingPunct="1"/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8" y="2780928"/>
            <a:ext cx="7842549" cy="343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</a:t>
            </a:r>
            <a:r>
              <a:rPr lang="zh-CN" altLang="en-US" dirty="0" smtClean="0"/>
              <a:t>制图简单语句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79512" y="1124744"/>
            <a:ext cx="6467531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import turtle</a:t>
            </a:r>
          </a:p>
          <a:p>
            <a:pPr marL="68263" indent="0" eaLnBrk="1" hangingPunct="1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turtle.left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(90) #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本来向右，改为向上，位置屏幕中央</a:t>
            </a:r>
          </a:p>
          <a:p>
            <a:pPr marL="68263" indent="0" eaLnBrk="1" hangingPunct="1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turtle.penup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() #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提笔</a:t>
            </a: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,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不留轨迹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turtle.backward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(150) #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向下退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150 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像素</a:t>
            </a:r>
          </a:p>
          <a:p>
            <a:pPr marL="68263" indent="0" eaLnBrk="1" hangingPunct="1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turtle.pendown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() #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落笔</a:t>
            </a:r>
          </a:p>
          <a:p>
            <a:pPr marL="68263" indent="0" eaLnBrk="1" hangingPunct="1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turtle.color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('red')</a:t>
            </a:r>
          </a:p>
          <a:p>
            <a:pPr marL="68263" indent="0" eaLnBrk="1" hangingPunct="1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turtle.forward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(300) </a:t>
            </a: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  # 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红色的向上直线轨迹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buNone/>
            </a:pPr>
            <a:r>
              <a:rPr lang="en-US" altLang="zh-CN" sz="2400" dirty="0" err="1">
                <a:latin typeface="等线" panose="02010600030101010101" pitchFamily="2" charset="-122"/>
                <a:ea typeface="等线" panose="02010600030101010101" pitchFamily="2" charset="-122"/>
              </a:rPr>
              <a:t>turtle.exitonclick</a:t>
            </a: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()  # 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单击鼠标退出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147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</a:t>
            </a:r>
            <a:r>
              <a:rPr lang="zh-CN" altLang="en-US" dirty="0" smtClean="0"/>
              <a:t>制图</a:t>
            </a:r>
            <a:r>
              <a:rPr lang="en-US" altLang="zh-CN" dirty="0" smtClean="0"/>
              <a:t>-</a:t>
            </a:r>
            <a:r>
              <a:rPr lang="zh-CN" altLang="en-US" dirty="0" smtClean="0"/>
              <a:t>树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79512" y="1124744"/>
            <a:ext cx="8424936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eaLnBrk="1" hangingPunct="1"/>
            <a:r>
              <a:rPr lang="zh-CN" altLang="en-US" sz="2400" dirty="0"/>
              <a:t>为简单起见，每制 作一个子枝时，都采取回到当前主干的底部再制作其他子枝的方案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画</a:t>
            </a:r>
            <a:r>
              <a:rPr lang="zh-CN" altLang="en-US" sz="2400" dirty="0"/>
              <a:t>当前 </a:t>
            </a:r>
            <a:r>
              <a:rPr lang="en-US" altLang="zh-CN" sz="2400" dirty="0"/>
              <a:t>AB </a:t>
            </a:r>
            <a:r>
              <a:rPr lang="zh-CN" altLang="en-US" sz="2400" dirty="0"/>
              <a:t>主干，回到主干底部 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前进 </a:t>
            </a:r>
            <a:r>
              <a:rPr lang="en-US" altLang="zh-CN" sz="2400" dirty="0"/>
              <a:t>1/3</a:t>
            </a:r>
            <a:r>
              <a:rPr lang="zh-CN" altLang="en-US" sz="2400" dirty="0"/>
              <a:t>，左转 </a:t>
            </a:r>
            <a:r>
              <a:rPr lang="en-US" altLang="zh-CN" sz="2400" dirty="0"/>
              <a:t>30°</a:t>
            </a:r>
            <a:r>
              <a:rPr lang="zh-CN" altLang="en-US" sz="2400" dirty="0"/>
              <a:t>，画 </a:t>
            </a:r>
            <a:r>
              <a:rPr lang="en-US" altLang="zh-CN" sz="2400" dirty="0"/>
              <a:t>A1B1</a:t>
            </a:r>
            <a:r>
              <a:rPr lang="zh-CN" altLang="en-US" sz="2400" dirty="0"/>
              <a:t>树枝，长度为主干的 </a:t>
            </a:r>
            <a:r>
              <a:rPr lang="en-US" altLang="zh-CN" sz="2400" dirty="0"/>
              <a:t>0.5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再</a:t>
            </a:r>
            <a:r>
              <a:rPr lang="zh-CN" altLang="en-US" sz="2400" dirty="0"/>
              <a:t>右转 </a:t>
            </a:r>
            <a:r>
              <a:rPr lang="en-US" altLang="zh-CN" sz="2400" dirty="0"/>
              <a:t>30°</a:t>
            </a:r>
            <a:r>
              <a:rPr lang="zh-CN" altLang="en-US" sz="2400" dirty="0"/>
              <a:t>，退 </a:t>
            </a:r>
            <a:r>
              <a:rPr lang="en-US" altLang="zh-CN" sz="2400" dirty="0"/>
              <a:t>1/3</a:t>
            </a:r>
            <a:r>
              <a:rPr lang="zh-CN" altLang="en-US" sz="2400" dirty="0"/>
              <a:t>，回树干 底部 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前进 </a:t>
            </a:r>
            <a:r>
              <a:rPr lang="en-US" altLang="zh-CN" sz="2400" dirty="0"/>
              <a:t>1/2</a:t>
            </a:r>
            <a:r>
              <a:rPr lang="zh-CN" altLang="en-US" sz="2400" dirty="0"/>
              <a:t>，右转 </a:t>
            </a:r>
            <a:r>
              <a:rPr lang="en-US" altLang="zh-CN" sz="2400" dirty="0"/>
              <a:t>30°</a:t>
            </a:r>
            <a:r>
              <a:rPr lang="zh-CN" altLang="en-US" sz="2400" dirty="0"/>
              <a:t>，画 </a:t>
            </a:r>
            <a:r>
              <a:rPr lang="en-US" altLang="zh-CN" sz="2400" dirty="0"/>
              <a:t>A2B2, </a:t>
            </a:r>
            <a:r>
              <a:rPr lang="zh-CN" altLang="en-US" sz="2400" dirty="0"/>
              <a:t>长度为主干的 </a:t>
            </a:r>
            <a:r>
              <a:rPr lang="en-US" altLang="zh-CN" sz="2400" dirty="0"/>
              <a:t>0.5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再</a:t>
            </a:r>
            <a:r>
              <a:rPr lang="zh-CN" altLang="en-US" sz="2400" dirty="0"/>
              <a:t>左转 </a:t>
            </a:r>
            <a:r>
              <a:rPr lang="en-US" altLang="zh-CN" sz="2400" dirty="0"/>
              <a:t>30°</a:t>
            </a:r>
            <a:r>
              <a:rPr lang="zh-CN" altLang="en-US" sz="2400" dirty="0"/>
              <a:t>，退 </a:t>
            </a:r>
            <a:r>
              <a:rPr lang="en-US" altLang="zh-CN" sz="2400" dirty="0"/>
              <a:t>1/2</a:t>
            </a:r>
            <a:r>
              <a:rPr lang="zh-CN" altLang="en-US" sz="2400" dirty="0"/>
              <a:t>，回到树干底 部 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前进 </a:t>
            </a:r>
            <a:r>
              <a:rPr lang="en-US" altLang="zh-CN" sz="2400" dirty="0"/>
              <a:t>2/3</a:t>
            </a:r>
            <a:r>
              <a:rPr lang="zh-CN" altLang="en-US" sz="2400" dirty="0"/>
              <a:t>，左转 </a:t>
            </a:r>
            <a:r>
              <a:rPr lang="en-US" altLang="zh-CN" sz="2400" dirty="0"/>
              <a:t>30°</a:t>
            </a:r>
            <a:r>
              <a:rPr lang="zh-CN" altLang="en-US" sz="2400" dirty="0"/>
              <a:t>，画 </a:t>
            </a:r>
            <a:r>
              <a:rPr lang="en-US" altLang="zh-CN" sz="2400" dirty="0"/>
              <a:t>A3B3, </a:t>
            </a:r>
            <a:r>
              <a:rPr lang="zh-CN" altLang="en-US" sz="2400" dirty="0"/>
              <a:t>长度为主干的 </a:t>
            </a:r>
            <a:r>
              <a:rPr lang="en-US" altLang="zh-CN" sz="2400" dirty="0"/>
              <a:t>0.5</a:t>
            </a:r>
            <a:r>
              <a:rPr lang="zh-CN" altLang="en-US" sz="2400" dirty="0" smtClean="0"/>
              <a:t>，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再</a:t>
            </a:r>
            <a:r>
              <a:rPr lang="zh-CN" altLang="en-US" sz="2400" dirty="0"/>
              <a:t>右转 </a:t>
            </a:r>
            <a:r>
              <a:rPr lang="en-US" altLang="zh-CN" sz="2400" dirty="0"/>
              <a:t>30°</a:t>
            </a:r>
            <a:r>
              <a:rPr lang="zh-CN" altLang="en-US" sz="2400" dirty="0"/>
              <a:t>，退 </a:t>
            </a:r>
            <a:r>
              <a:rPr lang="en-US" altLang="zh-CN" sz="2400" dirty="0"/>
              <a:t>1/2</a:t>
            </a:r>
            <a:r>
              <a:rPr lang="zh-CN" altLang="en-US" sz="2400" dirty="0"/>
              <a:t>，回到树干底 </a:t>
            </a:r>
            <a:r>
              <a:rPr lang="zh-CN" altLang="en-US" sz="2400" dirty="0" smtClean="0"/>
              <a:t>部</a:t>
            </a:r>
            <a:endParaRPr lang="en-US" altLang="zh-CN" sz="2400" dirty="0"/>
          </a:p>
          <a:p>
            <a:pPr eaLnBrk="1" hangingPunct="1"/>
            <a:r>
              <a:rPr lang="zh-CN" altLang="en-US" sz="2400" dirty="0" smtClean="0"/>
              <a:t>树干</a:t>
            </a:r>
            <a:r>
              <a:rPr lang="zh-CN" altLang="en-US" sz="2400" dirty="0"/>
              <a:t>长度小于 </a:t>
            </a:r>
            <a:r>
              <a:rPr lang="en-US" altLang="zh-CN" sz="2400" dirty="0"/>
              <a:t>20 </a:t>
            </a:r>
            <a:r>
              <a:rPr lang="zh-CN" altLang="en-US" sz="2400" dirty="0"/>
              <a:t>时，停止递归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045" y="3356992"/>
            <a:ext cx="1278337" cy="212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19524" y="116632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</a:t>
            </a:r>
            <a:r>
              <a:rPr lang="zh-CN" altLang="en-US" dirty="0" smtClean="0"/>
              <a:t>制图</a:t>
            </a:r>
            <a:r>
              <a:rPr lang="en-US" altLang="zh-CN" dirty="0" smtClean="0"/>
              <a:t>-</a:t>
            </a:r>
            <a:r>
              <a:rPr lang="zh-CN" altLang="en-US" dirty="0" smtClean="0"/>
              <a:t>树</a:t>
            </a:r>
            <a:r>
              <a:rPr lang="en-US" altLang="zh-CN" dirty="0" smtClean="0"/>
              <a:t>—</a:t>
            </a:r>
            <a:r>
              <a:rPr lang="zh-CN" altLang="en-US" dirty="0" smtClean="0"/>
              <a:t>下面语句，翻译成代码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87501" y="918258"/>
            <a:ext cx="8424936" cy="567909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zh-CN" altLang="en-US" sz="2400" dirty="0" smtClean="0"/>
              <a:t>简单图：主树干长    </a:t>
            </a:r>
            <a:r>
              <a:rPr lang="en-US" altLang="zh-CN" sz="2400" dirty="0" smtClean="0"/>
              <a:t>L=300</a:t>
            </a:r>
          </a:p>
          <a:p>
            <a:pPr eaLnBrk="1" hangingPunct="1"/>
            <a:r>
              <a:rPr lang="zh-CN" altLang="en-US" sz="2400" dirty="0" smtClean="0"/>
              <a:t>画</a:t>
            </a:r>
            <a:r>
              <a:rPr lang="zh-CN" altLang="en-US" sz="2400" dirty="0"/>
              <a:t>当前 </a:t>
            </a:r>
            <a:r>
              <a:rPr lang="en-US" altLang="zh-CN" sz="2400" dirty="0"/>
              <a:t>AB </a:t>
            </a:r>
            <a:r>
              <a:rPr lang="zh-CN" altLang="en-US" sz="2400" dirty="0"/>
              <a:t>主干，回到主干底部 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 smtClean="0"/>
              <a:t>前进 </a:t>
            </a:r>
            <a:r>
              <a:rPr lang="en-US" altLang="zh-CN" sz="2400" dirty="0"/>
              <a:t>1/3</a:t>
            </a:r>
            <a:r>
              <a:rPr lang="zh-CN" altLang="en-US" sz="2400" dirty="0"/>
              <a:t>，左转 </a:t>
            </a:r>
            <a:r>
              <a:rPr lang="en-US" altLang="zh-CN" sz="2400" dirty="0"/>
              <a:t>30°</a:t>
            </a:r>
            <a:r>
              <a:rPr lang="zh-CN" altLang="en-US" sz="2400" dirty="0"/>
              <a:t>，画 </a:t>
            </a:r>
            <a:r>
              <a:rPr lang="en-US" altLang="zh-CN" sz="2400" dirty="0"/>
              <a:t>A1B1</a:t>
            </a:r>
            <a:r>
              <a:rPr lang="zh-CN" altLang="en-US" sz="2400" dirty="0"/>
              <a:t>树枝，长度为主干的 </a:t>
            </a:r>
            <a:r>
              <a:rPr lang="en-US" altLang="zh-CN" sz="2400" dirty="0" smtClean="0"/>
              <a:t>0.5</a:t>
            </a:r>
            <a:endParaRPr lang="en-US" altLang="zh-CN" sz="2400" dirty="0"/>
          </a:p>
          <a:p>
            <a:pPr marL="68263" indent="0" eaLnBrk="1" hangingPunct="1">
              <a:buNone/>
            </a:pPr>
            <a:r>
              <a:rPr lang="en-US" altLang="zh-CN" sz="1600" dirty="0"/>
              <a:t>import turtle as T</a:t>
            </a:r>
          </a:p>
          <a:p>
            <a:pPr marL="68263" indent="0" eaLnBrk="1" hangingPunct="1">
              <a:buNone/>
            </a:pPr>
            <a:r>
              <a:rPr lang="en-US" altLang="zh-CN" sz="1600" dirty="0"/>
              <a:t>L=300</a:t>
            </a:r>
          </a:p>
          <a:p>
            <a:pPr marL="68263" indent="0" eaLnBrk="1" hangingPunct="1">
              <a:buNone/>
            </a:pPr>
            <a:r>
              <a:rPr lang="en-US" altLang="zh-CN" sz="1600" dirty="0" err="1"/>
              <a:t>T.left</a:t>
            </a:r>
            <a:r>
              <a:rPr lang="en-US" altLang="zh-CN" sz="1600" dirty="0"/>
              <a:t>(90) </a:t>
            </a:r>
            <a:r>
              <a:rPr lang="en-US" altLang="zh-CN" sz="1600" dirty="0" smtClean="0"/>
              <a:t>    # </a:t>
            </a:r>
            <a:r>
              <a:rPr lang="zh-CN" altLang="en-US" sz="1600" dirty="0" smtClean="0"/>
              <a:t>小龟本来</a:t>
            </a:r>
            <a:r>
              <a:rPr lang="zh-CN" altLang="en-US" sz="1600" dirty="0"/>
              <a:t>向右，改为向上，位置屏幕中央</a:t>
            </a:r>
          </a:p>
          <a:p>
            <a:pPr marL="68263" indent="0" eaLnBrk="1" hangingPunct="1">
              <a:buNone/>
            </a:pPr>
            <a:r>
              <a:rPr lang="en-US" altLang="zh-CN" sz="1600" dirty="0" err="1"/>
              <a:t>T.penup</a:t>
            </a:r>
            <a:r>
              <a:rPr lang="en-US" altLang="zh-CN" sz="1600" dirty="0"/>
              <a:t>() #</a:t>
            </a:r>
            <a:r>
              <a:rPr lang="zh-CN" altLang="en-US" sz="1600" dirty="0"/>
              <a:t>提笔</a:t>
            </a:r>
          </a:p>
          <a:p>
            <a:pPr marL="68263" indent="0" eaLnBrk="1" hangingPunct="1">
              <a:buNone/>
            </a:pPr>
            <a:r>
              <a:rPr lang="en-US" altLang="zh-CN" sz="1600" dirty="0" err="1"/>
              <a:t>T.backward</a:t>
            </a:r>
            <a:r>
              <a:rPr lang="en-US" altLang="zh-CN" sz="1600" dirty="0"/>
              <a:t>(150) #</a:t>
            </a:r>
            <a:r>
              <a:rPr lang="zh-CN" altLang="en-US" sz="1600" dirty="0"/>
              <a:t>向下退 </a:t>
            </a:r>
            <a:r>
              <a:rPr lang="en-US" altLang="zh-CN" sz="1600" dirty="0"/>
              <a:t>150 </a:t>
            </a:r>
            <a:r>
              <a:rPr lang="zh-CN" altLang="en-US" sz="1600" dirty="0"/>
              <a:t>像素</a:t>
            </a:r>
            <a:r>
              <a:rPr lang="en-US" altLang="zh-CN" sz="1600" dirty="0"/>
              <a:t>,</a:t>
            </a:r>
            <a:r>
              <a:rPr lang="zh-CN" altLang="en-US" sz="1600" dirty="0"/>
              <a:t>因为小龟开始在屏幕中央</a:t>
            </a:r>
          </a:p>
          <a:p>
            <a:pPr marL="68263" indent="0" eaLnBrk="1" hangingPunct="1">
              <a:buNone/>
            </a:pPr>
            <a:r>
              <a:rPr lang="en-US" altLang="zh-CN" sz="1600" dirty="0" err="1"/>
              <a:t>T.pendown</a:t>
            </a:r>
            <a:r>
              <a:rPr lang="en-US" altLang="zh-CN" sz="1600" dirty="0"/>
              <a:t>() #</a:t>
            </a:r>
            <a:r>
              <a:rPr lang="zh-CN" altLang="en-US" sz="1600" dirty="0"/>
              <a:t>落笔</a:t>
            </a:r>
          </a:p>
          <a:p>
            <a:pPr marL="68263" indent="0" eaLnBrk="1" hangingPunct="1">
              <a:buNone/>
            </a:pPr>
            <a:r>
              <a:rPr lang="en-US" altLang="zh-CN" sz="1600" dirty="0" err="1"/>
              <a:t>T.color</a:t>
            </a:r>
            <a:r>
              <a:rPr lang="en-US" altLang="zh-CN" sz="1600" dirty="0"/>
              <a:t>('green')</a:t>
            </a:r>
          </a:p>
          <a:p>
            <a:pPr marL="68263" indent="0" eaLnBrk="1" hangingPunct="1">
              <a:buNone/>
            </a:pPr>
            <a:r>
              <a:rPr lang="en-US" altLang="zh-CN" sz="1600" dirty="0" err="1"/>
              <a:t>T.forward</a:t>
            </a:r>
            <a:r>
              <a:rPr lang="en-US" altLang="zh-CN" sz="1600" dirty="0"/>
              <a:t>(L) </a:t>
            </a:r>
            <a:r>
              <a:rPr lang="en-US" altLang="zh-CN" sz="1600" dirty="0" smtClean="0"/>
              <a:t>   #    </a:t>
            </a:r>
            <a:r>
              <a:rPr lang="zh-CN" altLang="en-US" sz="1600" dirty="0" smtClean="0"/>
              <a:t>画主</a:t>
            </a:r>
            <a:r>
              <a:rPr lang="zh-CN" altLang="en-US" sz="1600" dirty="0"/>
              <a:t>树干 </a:t>
            </a:r>
            <a:r>
              <a:rPr lang="en-US" altLang="zh-CN" sz="1600" dirty="0"/>
              <a:t>400 </a:t>
            </a:r>
            <a:r>
              <a:rPr lang="zh-CN" altLang="en-US" sz="1600" dirty="0"/>
              <a:t>像素</a:t>
            </a:r>
          </a:p>
          <a:p>
            <a:pPr marL="68263" indent="0" eaLnBrk="1" hangingPunct="1">
              <a:buNone/>
            </a:pPr>
            <a:r>
              <a:rPr lang="en-US" altLang="zh-CN" sz="1600" dirty="0" err="1"/>
              <a:t>T.backward</a:t>
            </a:r>
            <a:r>
              <a:rPr lang="en-US" altLang="zh-CN" sz="1600" dirty="0"/>
              <a:t>(L</a:t>
            </a:r>
            <a:r>
              <a:rPr lang="en-US" altLang="zh-CN" sz="1600" dirty="0" smtClean="0"/>
              <a:t>)   # </a:t>
            </a:r>
            <a:r>
              <a:rPr lang="zh-CN" altLang="en-US" sz="1600" dirty="0" smtClean="0"/>
              <a:t>回到主干底部</a:t>
            </a:r>
            <a:endParaRPr lang="en-US" altLang="zh-CN" sz="1600" dirty="0"/>
          </a:p>
          <a:p>
            <a:pPr marL="68263" indent="0" eaLnBrk="1" hangingPunct="1">
              <a:buNone/>
            </a:pPr>
            <a:r>
              <a:rPr lang="en-US" altLang="zh-CN" sz="1600" dirty="0" err="1"/>
              <a:t>T.forward</a:t>
            </a:r>
            <a:r>
              <a:rPr lang="en-US" altLang="zh-CN" sz="1600" dirty="0"/>
              <a:t>(L//3) </a:t>
            </a:r>
            <a:r>
              <a:rPr lang="en-US" altLang="zh-CN" sz="1600" dirty="0" smtClean="0"/>
              <a:t>  # </a:t>
            </a:r>
            <a:r>
              <a:rPr lang="zh-CN" altLang="en-US" sz="1600" dirty="0" smtClean="0"/>
              <a:t>前进</a:t>
            </a:r>
            <a:r>
              <a:rPr lang="en-US" altLang="zh-CN" sz="1600" dirty="0" smtClean="0"/>
              <a:t>1/3</a:t>
            </a:r>
            <a:r>
              <a:rPr lang="zh-CN" altLang="en-US" sz="1600" dirty="0" smtClean="0"/>
              <a:t>处</a:t>
            </a:r>
            <a:endParaRPr lang="en-US" altLang="zh-CN" sz="1600" dirty="0"/>
          </a:p>
          <a:p>
            <a:pPr marL="68263" indent="0" eaLnBrk="1" hangingPunct="1">
              <a:buNone/>
            </a:pPr>
            <a:r>
              <a:rPr lang="en-US" altLang="zh-CN" sz="1600" dirty="0" err="1"/>
              <a:t>T.left</a:t>
            </a:r>
            <a:r>
              <a:rPr lang="en-US" altLang="zh-CN" sz="1600" dirty="0"/>
              <a:t>(30</a:t>
            </a:r>
            <a:r>
              <a:rPr lang="en-US" altLang="zh-CN" sz="1600" dirty="0" smtClean="0"/>
              <a:t>)           # </a:t>
            </a:r>
            <a:r>
              <a:rPr lang="zh-CN" altLang="en-US" sz="1600" dirty="0" smtClean="0"/>
              <a:t>左转</a:t>
            </a:r>
            <a:r>
              <a:rPr lang="en-US" altLang="zh-CN" sz="1600" dirty="0" smtClean="0"/>
              <a:t>30</a:t>
            </a:r>
            <a:endParaRPr lang="en-US" altLang="zh-CN" sz="1600" dirty="0"/>
          </a:p>
          <a:p>
            <a:pPr marL="68263" indent="0" eaLnBrk="1" hangingPunct="1">
              <a:buNone/>
            </a:pPr>
            <a:r>
              <a:rPr lang="en-US" altLang="zh-CN" sz="1600" dirty="0" err="1"/>
              <a:t>T.forward</a:t>
            </a:r>
            <a:r>
              <a:rPr lang="en-US" altLang="zh-CN" sz="1600" dirty="0"/>
              <a:t>(L//2</a:t>
            </a:r>
            <a:r>
              <a:rPr lang="en-US" altLang="zh-CN" sz="1600" dirty="0" smtClean="0"/>
              <a:t>)   # </a:t>
            </a:r>
            <a:r>
              <a:rPr lang="zh-CN" altLang="en-US" sz="1600" dirty="0" smtClean="0"/>
              <a:t>画</a:t>
            </a:r>
            <a:r>
              <a:rPr lang="en-US" altLang="zh-CN" sz="1600" dirty="0" smtClean="0"/>
              <a:t>A1B1</a:t>
            </a:r>
            <a:r>
              <a:rPr lang="zh-CN" altLang="en-US" sz="1600" dirty="0" smtClean="0"/>
              <a:t>，是主干的 </a:t>
            </a:r>
            <a:r>
              <a:rPr lang="en-US" altLang="zh-CN" sz="1600" dirty="0" smtClean="0"/>
              <a:t>0.5</a:t>
            </a:r>
            <a:endParaRPr lang="en-US" altLang="zh-CN" sz="1600" dirty="0"/>
          </a:p>
          <a:p>
            <a:pPr marL="68263" indent="0" eaLnBrk="1" hangingPunct="1">
              <a:buNone/>
            </a:pPr>
            <a:r>
              <a:rPr lang="en-US" altLang="zh-CN" sz="1600" dirty="0" err="1"/>
              <a:t>T.exitonclick</a:t>
            </a:r>
            <a:r>
              <a:rPr lang="en-US" altLang="zh-CN" sz="1600" dirty="0"/>
              <a:t>()</a:t>
            </a:r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358353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</a:t>
            </a:r>
            <a:r>
              <a:rPr lang="zh-CN" altLang="en-US" dirty="0" smtClean="0"/>
              <a:t>制图</a:t>
            </a:r>
            <a:r>
              <a:rPr lang="en-US" altLang="zh-CN" dirty="0" smtClean="0"/>
              <a:t>-</a:t>
            </a:r>
            <a:r>
              <a:rPr lang="zh-CN" altLang="en-US" dirty="0" smtClean="0"/>
              <a:t>树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87501" y="893092"/>
            <a:ext cx="8424936" cy="49685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import turtle as T</a:t>
            </a:r>
          </a:p>
          <a:p>
            <a:pPr marL="68263" indent="0" eaLnBrk="1" hangingPunct="1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def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draw_brach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):</a:t>
            </a:r>
          </a:p>
          <a:p>
            <a:pPr marL="68263" indent="0" eaLnBrk="1" hangingPunct="1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if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&gt;20:</a:t>
            </a:r>
          </a:p>
          <a:p>
            <a:pPr marL="68263" indent="0" eaLnBrk="1" hangingPunct="1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#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画树主干</a:t>
            </a:r>
          </a:p>
          <a:p>
            <a:pPr marL="68263" indent="0" eaLnBrk="1" hangingPunct="1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T.forward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68263" indent="0" eaLnBrk="1" hangingPunct="1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T.backward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) #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返回底部</a:t>
            </a:r>
          </a:p>
          <a:p>
            <a:pPr marL="68263" indent="0" eaLnBrk="1" hangingPunct="1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</a:p>
          <a:p>
            <a:pPr marL="68263" indent="0" eaLnBrk="1" hangingPunct="1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#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画低位树枝</a:t>
            </a:r>
          </a:p>
          <a:p>
            <a:pPr marL="68263" indent="0" eaLnBrk="1" hangingPunct="1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T.forward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800" dirty="0" smtClean="0">
                <a:latin typeface="等线" panose="02010600030101010101" pitchFamily="2" charset="-122"/>
                <a:ea typeface="等线" panose="02010600030101010101" pitchFamily="2" charset="-122"/>
              </a:rPr>
              <a:t>//3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68263" indent="0" eaLnBrk="1" hangingPunct="1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T.left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(30)</a:t>
            </a:r>
          </a:p>
          <a:p>
            <a:pPr marL="68263" indent="0" eaLnBrk="1" hangingPunct="1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draw_brach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*0.5)</a:t>
            </a:r>
          </a:p>
          <a:p>
            <a:pPr marL="68263" indent="0" eaLnBrk="1" hangingPunct="1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T.right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(30)</a:t>
            </a:r>
          </a:p>
          <a:p>
            <a:pPr marL="68263" indent="0" eaLnBrk="1" hangingPunct="1">
              <a:buNone/>
            </a:pP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T.backward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/3) #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回树枝最底部</a:t>
            </a:r>
          </a:p>
          <a:p>
            <a:pPr marL="68263" indent="0" eaLnBrk="1" hangingPunct="1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#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绘中枝</a:t>
            </a:r>
          </a:p>
          <a:p>
            <a:pPr marL="68263" indent="0" eaLnBrk="1" hangingPunct="1">
              <a:buNone/>
            </a:pP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167827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</a:t>
            </a:r>
            <a:r>
              <a:rPr lang="zh-CN" altLang="en-US" dirty="0" smtClean="0"/>
              <a:t>制图</a:t>
            </a:r>
            <a:r>
              <a:rPr lang="en-US" altLang="zh-CN" dirty="0" smtClean="0"/>
              <a:t>-</a:t>
            </a:r>
            <a:r>
              <a:rPr lang="zh-CN" altLang="en-US" dirty="0" smtClean="0"/>
              <a:t>树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08725" y="1052736"/>
            <a:ext cx="8424936" cy="541622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en-US" altLang="zh-CN" sz="1600" dirty="0" smtClean="0">
                <a:latin typeface="等线" panose="02010600030101010101" pitchFamily="2" charset="-122"/>
                <a:ea typeface="等线" panose="02010600030101010101" pitchFamily="2" charset="-122"/>
              </a:rPr>
              <a:t>       #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绘中枝</a:t>
            </a:r>
          </a:p>
          <a:p>
            <a:pPr marL="68263" indent="0" eaLnBrk="1" hangingPunct="1">
              <a:buNone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T.forward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*0.5)</a:t>
            </a:r>
          </a:p>
          <a:p>
            <a:pPr marL="68263" indent="0" eaLnBrk="1" hangingPunct="1"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T.right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(30)</a:t>
            </a:r>
          </a:p>
          <a:p>
            <a:pPr marL="68263" indent="0" eaLnBrk="1" hangingPunct="1"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draw_brach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*0.5)</a:t>
            </a:r>
          </a:p>
          <a:p>
            <a:pPr marL="68263" indent="0" eaLnBrk="1" hangingPunct="1"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T.left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(30) #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返回</a:t>
            </a:r>
          </a:p>
          <a:p>
            <a:pPr marL="68263" indent="0" eaLnBrk="1" hangingPunct="1">
              <a:buNone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T.backward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*0.5) #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回树枝最底部</a:t>
            </a:r>
          </a:p>
          <a:p>
            <a:pPr marL="68263" indent="0" eaLnBrk="1" hangingPunct="1">
              <a:buNone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# 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绘上枝</a:t>
            </a:r>
          </a:p>
          <a:p>
            <a:pPr marL="68263" indent="0" eaLnBrk="1" hangingPunct="1">
              <a:buNone/>
            </a:pP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T.forward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*2/3)</a:t>
            </a:r>
          </a:p>
          <a:p>
            <a:pPr marL="68263" indent="0" eaLnBrk="1" hangingPunct="1"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T.left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(30)</a:t>
            </a:r>
          </a:p>
          <a:p>
            <a:pPr marL="68263" indent="0" eaLnBrk="1" hangingPunct="1"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draw_brach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*0.5)</a:t>
            </a:r>
          </a:p>
          <a:p>
            <a:pPr marL="68263" indent="0" eaLnBrk="1" hangingPunct="1"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T.right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(30)</a:t>
            </a:r>
          </a:p>
          <a:p>
            <a:pPr marL="68263" indent="0" eaLnBrk="1" hangingPunct="1">
              <a:buNone/>
            </a:pP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        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T.backward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(</a:t>
            </a:r>
            <a:r>
              <a:rPr lang="en-US" altLang="zh-CN" sz="1600" dirty="0" err="1">
                <a:latin typeface="等线" panose="02010600030101010101" pitchFamily="2" charset="-122"/>
                <a:ea typeface="等线" panose="02010600030101010101" pitchFamily="2" charset="-122"/>
              </a:rPr>
              <a:t>brach_length</a:t>
            </a:r>
            <a:r>
              <a:rPr lang="en-US" altLang="zh-CN" sz="1600" dirty="0">
                <a:latin typeface="等线" panose="02010600030101010101" pitchFamily="2" charset="-122"/>
                <a:ea typeface="等线" panose="02010600030101010101" pitchFamily="2" charset="-122"/>
              </a:rPr>
              <a:t>*2/3) #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回树枝最</a:t>
            </a:r>
            <a:r>
              <a:rPr lang="zh-CN" altLang="en-US" sz="16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底部</a:t>
            </a:r>
            <a:endParaRPr lang="zh-CN" altLang="en-US" sz="16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54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126"/>
          <p:cNvSpPr txBox="1">
            <a:spLocks noChangeArrowheads="1"/>
          </p:cNvSpPr>
          <p:nvPr/>
        </p:nvSpPr>
        <p:spPr bwMode="auto">
          <a:xfrm>
            <a:off x="408725" y="184587"/>
            <a:ext cx="79824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2pPr>
            <a:lvl3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3pPr>
            <a:lvl4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4pPr>
            <a:lvl5pPr eaLnBrk="0" hangingPunct="0">
              <a:lnSpc>
                <a:spcPct val="95000"/>
              </a:lnSpc>
              <a:defRPr sz="3600" b="1">
                <a:solidFill>
                  <a:schemeClr val="accent1"/>
                </a:solidFill>
              </a:defRPr>
            </a:lvl5pPr>
            <a:lvl6pPr marL="4572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6pPr>
            <a:lvl7pPr marL="9144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7pPr>
            <a:lvl8pPr marL="13716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8pPr>
            <a:lvl9pPr marL="1828800" fontAlgn="base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</a:defRPr>
            </a:lvl9pPr>
          </a:lstStyle>
          <a:p>
            <a:r>
              <a:rPr lang="zh-CN" altLang="en-US" dirty="0"/>
              <a:t>递归</a:t>
            </a:r>
            <a:r>
              <a:rPr lang="zh-CN" altLang="en-US" dirty="0" smtClean="0"/>
              <a:t>制图</a:t>
            </a:r>
            <a:r>
              <a:rPr lang="en-US" altLang="zh-CN" dirty="0" smtClean="0"/>
              <a:t>-</a:t>
            </a:r>
            <a:r>
              <a:rPr lang="zh-CN" altLang="en-US" dirty="0" smtClean="0"/>
              <a:t>树</a:t>
            </a:r>
            <a:endParaRPr lang="zh-CN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1520" y="1340768"/>
            <a:ext cx="8424936" cy="42641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11163" indent="-342900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itchFamily="2" charset="2"/>
              <a:buChar char="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itchFamily="2" charset="2"/>
              <a:buChar char="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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04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3" pitchFamily="18" charset="2"/>
              <a:buChar char="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13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B80A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68263" indent="0" eaLnBrk="1" hangingPunct="1">
              <a:buNone/>
            </a:pPr>
            <a:r>
              <a:rPr lang="en-US" altLang="zh-CN" sz="1800" dirty="0" smtClean="0">
                <a:latin typeface="等线" panose="02010600030101010101" pitchFamily="2" charset="-122"/>
                <a:ea typeface="等线" panose="02010600030101010101" pitchFamily="2" charset="-122"/>
              </a:rPr>
              <a:t>#</a:t>
            </a:r>
            <a:r>
              <a:rPr lang="zh-CN" altLang="en-US" sz="1800" dirty="0" smtClean="0">
                <a:latin typeface="等线" panose="02010600030101010101" pitchFamily="2" charset="-122"/>
                <a:ea typeface="等线" panose="02010600030101010101" pitchFamily="2" charset="-122"/>
              </a:rPr>
              <a:t>主程序部分</a:t>
            </a:r>
            <a:endParaRPr lang="en-US" altLang="zh-CN" sz="1800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68263" indent="0" eaLnBrk="1" hangingPunct="1">
              <a:buNone/>
            </a:pPr>
            <a:r>
              <a:rPr lang="en-US" altLang="zh-CN" sz="1800" dirty="0" err="1" smtClean="0">
                <a:latin typeface="等线" panose="02010600030101010101" pitchFamily="2" charset="-122"/>
                <a:ea typeface="等线" panose="02010600030101010101" pitchFamily="2" charset="-122"/>
              </a:rPr>
              <a:t>T.left</a:t>
            </a:r>
            <a:r>
              <a:rPr lang="en-US" altLang="zh-CN" sz="1800" dirty="0" smtClean="0">
                <a:latin typeface="等线" panose="02010600030101010101" pitchFamily="2" charset="-122"/>
                <a:ea typeface="等线" panose="02010600030101010101" pitchFamily="2" charset="-122"/>
              </a:rPr>
              <a:t>(90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) #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本来向右，改为向上，位置屏幕中央</a:t>
            </a:r>
          </a:p>
          <a:p>
            <a:pPr marL="68263" indent="0" eaLnBrk="1" hangingPunct="1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T.penup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() #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提笔</a:t>
            </a:r>
          </a:p>
          <a:p>
            <a:pPr marL="68263" indent="0" eaLnBrk="1" hangingPunct="1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T.backward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(150) #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向下退 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150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像素</a:t>
            </a:r>
          </a:p>
          <a:p>
            <a:pPr marL="68263" indent="0" eaLnBrk="1" hangingPunct="1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T.pendown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() #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落笔</a:t>
            </a:r>
          </a:p>
          <a:p>
            <a:pPr marL="68263" indent="0" eaLnBrk="1" hangingPunct="1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T.color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('green')</a:t>
            </a:r>
          </a:p>
          <a:p>
            <a:pPr marL="68263" indent="0" eaLnBrk="1" hangingPunct="1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draw_brach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(400) #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主树干 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400 </a:t>
            </a:r>
            <a:r>
              <a:rPr lang="zh-CN" altLang="en-US" sz="1800" dirty="0">
                <a:latin typeface="等线" panose="02010600030101010101" pitchFamily="2" charset="-122"/>
                <a:ea typeface="等线" panose="02010600030101010101" pitchFamily="2" charset="-122"/>
              </a:rPr>
              <a:t>像素</a:t>
            </a:r>
          </a:p>
          <a:p>
            <a:pPr marL="68263" indent="0" eaLnBrk="1" hangingPunct="1">
              <a:buNone/>
            </a:pPr>
            <a:r>
              <a:rPr lang="en-US" altLang="zh-CN" sz="1800" dirty="0" err="1">
                <a:latin typeface="等线" panose="02010600030101010101" pitchFamily="2" charset="-122"/>
                <a:ea typeface="等线" panose="02010600030101010101" pitchFamily="2" charset="-122"/>
              </a:rPr>
              <a:t>T.exitonclick</a:t>
            </a:r>
            <a:r>
              <a:rPr lang="en-US" altLang="zh-CN" sz="1800" dirty="0"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endParaRPr lang="zh-CN" altLang="en-US" sz="18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521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1">
  <a:themeElements>
    <a:clrScheme name="Blank Presentation 12">
      <a:dk1>
        <a:srgbClr val="000000"/>
      </a:dk1>
      <a:lt1>
        <a:srgbClr val="FFFFFF"/>
      </a:lt1>
      <a:dk2>
        <a:srgbClr val="BF311A"/>
      </a:dk2>
      <a:lt2>
        <a:srgbClr val="808285"/>
      </a:lt2>
      <a:accent1>
        <a:srgbClr val="005595"/>
      </a:accent1>
      <a:accent2>
        <a:srgbClr val="BEC0C2"/>
      </a:accent2>
      <a:accent3>
        <a:srgbClr val="FFFFFF"/>
      </a:accent3>
      <a:accent4>
        <a:srgbClr val="000000"/>
      </a:accent4>
      <a:accent5>
        <a:srgbClr val="AAB4C8"/>
      </a:accent5>
      <a:accent6>
        <a:srgbClr val="ACAEB0"/>
      </a:accent6>
      <a:hlink>
        <a:srgbClr val="5C8727"/>
      </a:hlink>
      <a:folHlink>
        <a:srgbClr val="EC891D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4577A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000000"/>
        </a:dk1>
        <a:lt1>
          <a:srgbClr val="FFFFFF"/>
        </a:lt1>
        <a:dk2>
          <a:srgbClr val="5C8727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EC891D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000000"/>
        </a:dk1>
        <a:lt1>
          <a:srgbClr val="FFFFFF"/>
        </a:lt1>
        <a:dk2>
          <a:srgbClr val="EC891D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BF311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000000"/>
        </a:dk1>
        <a:lt1>
          <a:srgbClr val="FFFFFF"/>
        </a:lt1>
        <a:dk2>
          <a:srgbClr val="BF311A"/>
        </a:dk2>
        <a:lt2>
          <a:srgbClr val="919195"/>
        </a:lt2>
        <a:accent1>
          <a:srgbClr val="005595"/>
        </a:accent1>
        <a:accent2>
          <a:srgbClr val="BABCBE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8AAAC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000000"/>
        </a:dk1>
        <a:lt1>
          <a:srgbClr val="FFFFFF"/>
        </a:lt1>
        <a:dk2>
          <a:srgbClr val="BF311A"/>
        </a:dk2>
        <a:lt2>
          <a:srgbClr val="808285"/>
        </a:lt2>
        <a:accent1>
          <a:srgbClr val="005595"/>
        </a:accent1>
        <a:accent2>
          <a:srgbClr val="BEC0C2"/>
        </a:accent2>
        <a:accent3>
          <a:srgbClr val="FFFFFF"/>
        </a:accent3>
        <a:accent4>
          <a:srgbClr val="000000"/>
        </a:accent4>
        <a:accent5>
          <a:srgbClr val="AAB4C8"/>
        </a:accent5>
        <a:accent6>
          <a:srgbClr val="ACAEB0"/>
        </a:accent6>
        <a:hlink>
          <a:srgbClr val="5C8727"/>
        </a:hlink>
        <a:folHlink>
          <a:srgbClr val="EC89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11116</TotalTime>
  <Words>2866</Words>
  <Application>Microsoft Office PowerPoint</Application>
  <PresentationFormat>全屏显示(4:3)</PresentationFormat>
  <Paragraphs>327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Bodoni MT Black</vt:lpstr>
      <vt:lpstr>等线</vt:lpstr>
      <vt:lpstr>黑体</vt:lpstr>
      <vt:lpstr>华文仿宋</vt:lpstr>
      <vt:lpstr>华文新魏</vt:lpstr>
      <vt:lpstr>楷体_GB2312</vt:lpstr>
      <vt:lpstr>宋体</vt:lpstr>
      <vt:lpstr>微软雅黑</vt:lpstr>
      <vt:lpstr>Arial</vt:lpstr>
      <vt:lpstr>Calibri</vt:lpstr>
      <vt:lpstr>Cambria Math</vt:lpstr>
      <vt:lpstr>Courier New</vt:lpstr>
      <vt:lpstr>Times New Roman</vt:lpstr>
      <vt:lpstr>Wingdings</vt:lpstr>
      <vt:lpstr>主题1</vt:lpstr>
      <vt:lpstr>自定义函数—递归</vt:lpstr>
      <vt:lpstr>PowerPoint 演示文稿</vt:lpstr>
      <vt:lpstr>PowerPoint 演示文稿</vt:lpstr>
      <vt:lpstr>递归函数</vt:lpstr>
      <vt:lpstr>PowerPoint 演示文稿</vt:lpstr>
      <vt:lpstr>递归函数 </vt:lpstr>
      <vt:lpstr>PowerPoint 演示文稿</vt:lpstr>
      <vt:lpstr>递归练习： 求斐波那契额数列的第n项</vt:lpstr>
      <vt:lpstr> 递归练习：猴子吃桃子问题。</vt:lpstr>
      <vt:lpstr>PowerPoint 演示文稿</vt:lpstr>
      <vt:lpstr>最大公约数</vt:lpstr>
      <vt:lpstr>最大公约数</vt:lpstr>
      <vt:lpstr>数制转换</vt:lpstr>
      <vt:lpstr>数制转换</vt:lpstr>
      <vt:lpstr>10进制转16进制</vt:lpstr>
      <vt:lpstr>10进制转16进制</vt:lpstr>
      <vt:lpstr>PowerPoint 演示文稿</vt:lpstr>
      <vt:lpstr>PowerPoint 演示文稿</vt:lpstr>
      <vt:lpstr>PowerPoint 演示文稿</vt:lpstr>
      <vt:lpstr>递归函数练习，判断字符串回文</vt:lpstr>
      <vt:lpstr>递归函数练习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软件技术基础</dc:title>
  <dc:creator/>
  <cp:revision>516</cp:revision>
  <dcterms:created xsi:type="dcterms:W3CDTF">2010-02-28T17:17:53Z</dcterms:created>
  <dcterms:modified xsi:type="dcterms:W3CDTF">2024-04-25T02:46:33Z</dcterms:modified>
</cp:coreProperties>
</file>