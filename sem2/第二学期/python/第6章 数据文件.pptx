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63"/>
  </p:notesMasterIdLst>
  <p:sldIdLst>
    <p:sldId id="256" r:id="rId2"/>
    <p:sldId id="442" r:id="rId3"/>
    <p:sldId id="1120" r:id="rId4"/>
    <p:sldId id="536" r:id="rId5"/>
    <p:sldId id="1119" r:id="rId6"/>
    <p:sldId id="475" r:id="rId7"/>
    <p:sldId id="446" r:id="rId8"/>
    <p:sldId id="466" r:id="rId9"/>
    <p:sldId id="1121" r:id="rId10"/>
    <p:sldId id="537" r:id="rId11"/>
    <p:sldId id="1108" r:id="rId12"/>
    <p:sldId id="468" r:id="rId13"/>
    <p:sldId id="1122" r:id="rId14"/>
    <p:sldId id="448" r:id="rId15"/>
    <p:sldId id="449" r:id="rId16"/>
    <p:sldId id="470" r:id="rId17"/>
    <p:sldId id="1069" r:id="rId18"/>
    <p:sldId id="366" r:id="rId19"/>
    <p:sldId id="1093" r:id="rId20"/>
    <p:sldId id="389" r:id="rId21"/>
    <p:sldId id="390" r:id="rId22"/>
    <p:sldId id="393" r:id="rId23"/>
    <p:sldId id="1078" r:id="rId24"/>
    <p:sldId id="1079" r:id="rId25"/>
    <p:sldId id="1109" r:id="rId26"/>
    <p:sldId id="1070" r:id="rId27"/>
    <p:sldId id="1114" r:id="rId28"/>
    <p:sldId id="1110" r:id="rId29"/>
    <p:sldId id="1102" r:id="rId30"/>
    <p:sldId id="1074" r:id="rId31"/>
    <p:sldId id="1075" r:id="rId32"/>
    <p:sldId id="454" r:id="rId33"/>
    <p:sldId id="1077" r:id="rId34"/>
    <p:sldId id="1111" r:id="rId35"/>
    <p:sldId id="1113" r:id="rId36"/>
    <p:sldId id="1112" r:id="rId37"/>
    <p:sldId id="1082" r:id="rId38"/>
    <p:sldId id="1083" r:id="rId39"/>
    <p:sldId id="1094" r:id="rId40"/>
    <p:sldId id="459" r:id="rId41"/>
    <p:sldId id="460" r:id="rId42"/>
    <p:sldId id="455" r:id="rId43"/>
    <p:sldId id="1118" r:id="rId44"/>
    <p:sldId id="1088" r:id="rId45"/>
    <p:sldId id="1116" r:id="rId46"/>
    <p:sldId id="1089" r:id="rId47"/>
    <p:sldId id="1090" r:id="rId48"/>
    <p:sldId id="1091" r:id="rId49"/>
    <p:sldId id="1117" r:id="rId50"/>
    <p:sldId id="380" r:id="rId51"/>
    <p:sldId id="381" r:id="rId52"/>
    <p:sldId id="382" r:id="rId53"/>
    <p:sldId id="383" r:id="rId54"/>
    <p:sldId id="1096" r:id="rId55"/>
    <p:sldId id="1097" r:id="rId56"/>
    <p:sldId id="1098" r:id="rId57"/>
    <p:sldId id="1099" r:id="rId58"/>
    <p:sldId id="1100" r:id="rId59"/>
    <p:sldId id="1101" r:id="rId60"/>
    <p:sldId id="1103" r:id="rId61"/>
    <p:sldId id="1104" r:id="rId6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6"/>
    <a:srgbClr val="000066"/>
    <a:srgbClr val="A50021"/>
    <a:srgbClr val="0000B4"/>
    <a:srgbClr val="0000A8"/>
    <a:srgbClr val="00FFA8"/>
    <a:srgbClr val="006699"/>
    <a:srgbClr val="CC0099"/>
    <a:srgbClr val="A7D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>
      <p:cViewPr varScale="1">
        <p:scale>
          <a:sx n="108" d="100"/>
          <a:sy n="108" d="100"/>
        </p:scale>
        <p:origin x="8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805E22-AB1D-4E99-8B70-266F54B03E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0829010-F4D2-4AC3-AA52-4B51308D8431}">
      <dgm:prSet phldrT="[文本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一般来说，访问数据文件的程序由三部分组成：</a:t>
          </a:r>
        </a:p>
      </dgm:t>
    </dgm:pt>
    <dgm:pt modelId="{10522EE7-3A1A-4ECD-BCBD-89B215BC81C6}" type="parTrans" cxnId="{8EC241B3-3223-4DCE-A4DC-C71CB87A551B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4715B48-0B37-4BD8-A952-3B612F8A7BA2}" type="sibTrans" cxnId="{8EC241B3-3223-4DCE-A4DC-C71CB87A551B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3F3070E-3DD2-4408-9299-12D48A478E2B}">
      <dgm:prSet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zh-CN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首先要创建流对象</a:t>
          </a:r>
          <a:r>
            <a: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，</a:t>
          </a:r>
          <a:r>
            <a:rPr lang="zh-CN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然后通过流对象进行读写等操作，最后要关闭流对象。</a:t>
          </a:r>
          <a:endParaRPr lang="en-US" altLang="zh-CN" sz="20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37A97C5-45B9-4D97-B077-5A1A301D3FB1}" type="parTrans" cxnId="{49489BBE-AB1B-4952-B04D-E0923878D936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6836E8C9-A466-48D5-A8B1-8DD96A6D4669}" type="sibTrans" cxnId="{49489BBE-AB1B-4952-B04D-E0923878D936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87644B0D-8810-4CBC-A0E4-1C1A0512FE4C}">
      <dgm:prSet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zh-CN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这三步相当于打开文件，读写文件，关闭文件。</a:t>
          </a:r>
        </a:p>
      </dgm:t>
    </dgm:pt>
    <dgm:pt modelId="{1F02D02D-ABB8-4F7F-B3BC-38CAEC266B7C}" type="parTrans" cxnId="{00B2C86C-AFC4-4BF6-A71E-1188A83F46E7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23E86FB-B909-4D70-B0DB-FDB3B0F98847}" type="sibTrans" cxnId="{00B2C86C-AFC4-4BF6-A71E-1188A83F46E7}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CE47E94-FA28-4276-BE27-144C0229D290}" type="pres">
      <dgm:prSet presAssocID="{0E805E22-AB1D-4E99-8B70-266F54B03E48}" presName="linear" presStyleCnt="0">
        <dgm:presLayoutVars>
          <dgm:animLvl val="lvl"/>
          <dgm:resizeHandles val="exact"/>
        </dgm:presLayoutVars>
      </dgm:prSet>
      <dgm:spPr/>
    </dgm:pt>
    <dgm:pt modelId="{54C19F2B-AD82-4C45-A895-CB8D36C9ECCD}" type="pres">
      <dgm:prSet presAssocID="{B0829010-F4D2-4AC3-AA52-4B51308D8431}" presName="parentText" presStyleLbl="node1" presStyleIdx="0" presStyleCnt="3" custScaleY="86735" custLinFactNeighborX="-22615" custLinFactNeighborY="-68368">
        <dgm:presLayoutVars>
          <dgm:chMax val="0"/>
          <dgm:bulletEnabled val="1"/>
        </dgm:presLayoutVars>
      </dgm:prSet>
      <dgm:spPr/>
    </dgm:pt>
    <dgm:pt modelId="{931B3E63-DD49-4CD9-B548-CA3CF3768B50}" type="pres">
      <dgm:prSet presAssocID="{14715B48-0B37-4BD8-A952-3B612F8A7BA2}" presName="spacer" presStyleCnt="0"/>
      <dgm:spPr/>
    </dgm:pt>
    <dgm:pt modelId="{6C17FBCA-86D8-43EE-A5CE-BE66C1775A02}" type="pres">
      <dgm:prSet presAssocID="{53F3070E-3DD2-4408-9299-12D48A478E2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855BEF7-1AB2-4B3B-B204-A69EBDB0B487}" type="pres">
      <dgm:prSet presAssocID="{6836E8C9-A466-48D5-A8B1-8DD96A6D4669}" presName="spacer" presStyleCnt="0"/>
      <dgm:spPr/>
    </dgm:pt>
    <dgm:pt modelId="{F024EC3B-DF4A-455A-B7FC-1A03C5374230}" type="pres">
      <dgm:prSet presAssocID="{87644B0D-8810-4CBC-A0E4-1C1A0512FE4C}" presName="parentText" presStyleLbl="node1" presStyleIdx="2" presStyleCnt="3" custScaleY="106132">
        <dgm:presLayoutVars>
          <dgm:chMax val="0"/>
          <dgm:bulletEnabled val="1"/>
        </dgm:presLayoutVars>
      </dgm:prSet>
      <dgm:spPr/>
    </dgm:pt>
  </dgm:ptLst>
  <dgm:cxnLst>
    <dgm:cxn modelId="{1A077F17-86B2-4CE8-A3F7-41A42DF5DCA6}" type="presOf" srcId="{87644B0D-8810-4CBC-A0E4-1C1A0512FE4C}" destId="{F024EC3B-DF4A-455A-B7FC-1A03C5374230}" srcOrd="0" destOrd="0" presId="urn:microsoft.com/office/officeart/2005/8/layout/vList2"/>
    <dgm:cxn modelId="{6B35C04A-F160-4260-BFD9-D4699F597655}" type="presOf" srcId="{53F3070E-3DD2-4408-9299-12D48A478E2B}" destId="{6C17FBCA-86D8-43EE-A5CE-BE66C1775A02}" srcOrd="0" destOrd="0" presId="urn:microsoft.com/office/officeart/2005/8/layout/vList2"/>
    <dgm:cxn modelId="{C34C224E-58CF-4592-9F78-DF88DC80C1E4}" type="presOf" srcId="{0E805E22-AB1D-4E99-8B70-266F54B03E48}" destId="{4CE47E94-FA28-4276-BE27-144C0229D290}" srcOrd="0" destOrd="0" presId="urn:microsoft.com/office/officeart/2005/8/layout/vList2"/>
    <dgm:cxn modelId="{00B2C86C-AFC4-4BF6-A71E-1188A83F46E7}" srcId="{0E805E22-AB1D-4E99-8B70-266F54B03E48}" destId="{87644B0D-8810-4CBC-A0E4-1C1A0512FE4C}" srcOrd="2" destOrd="0" parTransId="{1F02D02D-ABB8-4F7F-B3BC-38CAEC266B7C}" sibTransId="{523E86FB-B909-4D70-B0DB-FDB3B0F98847}"/>
    <dgm:cxn modelId="{8EC241B3-3223-4DCE-A4DC-C71CB87A551B}" srcId="{0E805E22-AB1D-4E99-8B70-266F54B03E48}" destId="{B0829010-F4D2-4AC3-AA52-4B51308D8431}" srcOrd="0" destOrd="0" parTransId="{10522EE7-3A1A-4ECD-BCBD-89B215BC81C6}" sibTransId="{14715B48-0B37-4BD8-A952-3B612F8A7BA2}"/>
    <dgm:cxn modelId="{E72D2CB5-CE42-4D15-94C6-1BF7D1E7EAD0}" type="presOf" srcId="{B0829010-F4D2-4AC3-AA52-4B51308D8431}" destId="{54C19F2B-AD82-4C45-A895-CB8D36C9ECCD}" srcOrd="0" destOrd="0" presId="urn:microsoft.com/office/officeart/2005/8/layout/vList2"/>
    <dgm:cxn modelId="{49489BBE-AB1B-4952-B04D-E0923878D936}" srcId="{0E805E22-AB1D-4E99-8B70-266F54B03E48}" destId="{53F3070E-3DD2-4408-9299-12D48A478E2B}" srcOrd="1" destOrd="0" parTransId="{D37A97C5-45B9-4D97-B077-5A1A301D3FB1}" sibTransId="{6836E8C9-A466-48D5-A8B1-8DD96A6D4669}"/>
    <dgm:cxn modelId="{E8949A62-9C15-4027-B1F4-DCFB25014364}" type="presParOf" srcId="{4CE47E94-FA28-4276-BE27-144C0229D290}" destId="{54C19F2B-AD82-4C45-A895-CB8D36C9ECCD}" srcOrd="0" destOrd="0" presId="urn:microsoft.com/office/officeart/2005/8/layout/vList2"/>
    <dgm:cxn modelId="{771DC9F3-4D1C-468C-8DDF-C0D8B9D25987}" type="presParOf" srcId="{4CE47E94-FA28-4276-BE27-144C0229D290}" destId="{931B3E63-DD49-4CD9-B548-CA3CF3768B50}" srcOrd="1" destOrd="0" presId="urn:microsoft.com/office/officeart/2005/8/layout/vList2"/>
    <dgm:cxn modelId="{2E0C32C9-FC8D-4AC3-BF51-3718D2E6B3DF}" type="presParOf" srcId="{4CE47E94-FA28-4276-BE27-144C0229D290}" destId="{6C17FBCA-86D8-43EE-A5CE-BE66C1775A02}" srcOrd="2" destOrd="0" presId="urn:microsoft.com/office/officeart/2005/8/layout/vList2"/>
    <dgm:cxn modelId="{E3B7F065-E7AE-4737-98D7-C76A4CF0E866}" type="presParOf" srcId="{4CE47E94-FA28-4276-BE27-144C0229D290}" destId="{2855BEF7-1AB2-4B3B-B204-A69EBDB0B487}" srcOrd="3" destOrd="0" presId="urn:microsoft.com/office/officeart/2005/8/layout/vList2"/>
    <dgm:cxn modelId="{2A51AEA8-0A60-4830-A979-C24407CCFCB6}" type="presParOf" srcId="{4CE47E94-FA28-4276-BE27-144C0229D290}" destId="{F024EC3B-DF4A-455A-B7FC-1A03C537423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19F2B-AD82-4C45-A895-CB8D36C9ECCD}">
      <dsp:nvSpPr>
        <dsp:cNvPr id="0" name=""/>
        <dsp:cNvSpPr/>
      </dsp:nvSpPr>
      <dsp:spPr>
        <a:xfrm>
          <a:off x="0" y="58494"/>
          <a:ext cx="4760015" cy="64877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一般来说，访问数据文件的程序由三部分组成：</a:t>
          </a:r>
        </a:p>
      </dsp:txBody>
      <dsp:txXfrm>
        <a:off x="31671" y="90165"/>
        <a:ext cx="4696673" cy="585432"/>
      </dsp:txXfrm>
    </dsp:sp>
    <dsp:sp modelId="{6C17FBCA-86D8-43EE-A5CE-BE66C1775A02}">
      <dsp:nvSpPr>
        <dsp:cNvPr id="0" name=""/>
        <dsp:cNvSpPr/>
      </dsp:nvSpPr>
      <dsp:spPr>
        <a:xfrm>
          <a:off x="0" y="730117"/>
          <a:ext cx="4760015" cy="747996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首先要创建流对象</a:t>
          </a:r>
          <a:r>
            <a:rPr lang="zh-CN" altLang="en-US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，</a:t>
          </a:r>
          <a:r>
            <a:rPr lang="zh-CN" altLang="zh-CN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然后通过流对象进行读写等操作，最后要关闭流对象。</a:t>
          </a:r>
          <a:endParaRPr lang="en-US" altLang="zh-CN" sz="2000" kern="12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6514" y="766631"/>
        <a:ext cx="4686987" cy="674968"/>
      </dsp:txXfrm>
    </dsp:sp>
    <dsp:sp modelId="{F024EC3B-DF4A-455A-B7FC-1A03C5374230}">
      <dsp:nvSpPr>
        <dsp:cNvPr id="0" name=""/>
        <dsp:cNvSpPr/>
      </dsp:nvSpPr>
      <dsp:spPr>
        <a:xfrm>
          <a:off x="0" y="1491683"/>
          <a:ext cx="4760015" cy="793863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000" kern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这三步相当于打开文件，读写文件，关闭文件。</a:t>
          </a:r>
        </a:p>
      </dsp:txBody>
      <dsp:txXfrm>
        <a:off x="38753" y="1530436"/>
        <a:ext cx="4682509" cy="716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4592A4-E237-4A56-9CB9-39DC0234BDB2}" type="datetimeFigureOut">
              <a:rPr lang="zh-CN" altLang="en-US"/>
              <a:pPr>
                <a:defRPr/>
              </a:pPr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41A3E1-9B29-4EC3-8654-927667BFF2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980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读写文件是最常见的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操作。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读写文件前，先了解一下，在磁盘上读写文件的功能都是由操作系统提供的，现代操作系统不允许普通的程序直接操作磁盘，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所以，读写文件就是请求操作系统打开一个文件对象，然后通过操作系统提供的接口从这个文件对象中读取数据（读文件），或者把数据写入这个文件对象（写文件）。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675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要以读文件的模式打开一个文件对象，使用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内置的</a:t>
            </a:r>
            <a:r>
              <a:rPr lang="en-US" altLang="zh-CN" dirty="0"/>
              <a:t>open()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函数，传入文件名和模式标示符：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标示符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'r'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表示读，这样，我们就成功地打开了一个文件。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如果文件不存在，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函数就会抛出一个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IOError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的错误，并且给出错误码和详细的信息告诉你文件不存在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fs=open(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r‘d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:\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scores.txt’,“x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”)    #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以写模式打开已经存在的文件，抛出异常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FileExistsError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Errno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17] File exists: 'd:\\scores.txt'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30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最后一步是调用</a:t>
            </a:r>
            <a:r>
              <a:rPr lang="en-US" altLang="zh-CN" dirty="0"/>
              <a:t>close()</a:t>
            </a:r>
            <a:r>
              <a:rPr lang="zh-CN" altLang="en-US" dirty="0"/>
              <a:t>方法关闭文件。文件使用完毕后必须关闭，因为文件对象会占用操作系统的资源，并且操作系统同一时间能打开的文件数量也是有限的。</a:t>
            </a:r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当我们写文件时，操作系统往往不会立刻把数据写入磁盘，而是放到内存缓存起来，空闲的时候再慢慢写入。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只有调用</a:t>
            </a:r>
            <a:r>
              <a:rPr lang="en-US" altLang="zh-CN" dirty="0"/>
              <a:t>close()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方法时，操作系统才保证把没有写入的数据全部写入磁盘。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忘记调用</a:t>
            </a:r>
            <a:r>
              <a:rPr lang="en-US" altLang="zh-CN" dirty="0"/>
              <a:t>close()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的后果是数据可能只写了一部分到磁盘，剩下的丢失了。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944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如果文件打开成功，接下来，调用</a:t>
            </a:r>
            <a:r>
              <a:rPr lang="en-US" altLang="zh-CN" dirty="0"/>
              <a:t>read()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方法可以一次读取文件的全部内容，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把内容读到内存，用一个</a:t>
            </a:r>
            <a:r>
              <a:rPr lang="en-US" altLang="zh-CN" dirty="0" err="1"/>
              <a:t>str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最后一步是调用</a:t>
            </a:r>
            <a:r>
              <a:rPr lang="en-US" altLang="zh-CN" dirty="0"/>
              <a:t>close()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方法关闭文件。文件使用完毕后必须关闭，因为文件对象会占用操作系统的资源，并且操作系统同一时间能打开的文件数量也是有限的：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128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调用</a:t>
            </a:r>
            <a:r>
              <a:rPr lang="en-US" altLang="zh-CN" dirty="0"/>
              <a:t>read()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会一次性读取文件的全部内容，如果文件有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，内存就爆了，所以，要保险起见，可以反复调用</a:t>
            </a:r>
            <a:r>
              <a:rPr lang="en-US" altLang="zh-CN" dirty="0"/>
              <a:t>read(size)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读取</a:t>
            </a:r>
            <a:r>
              <a:rPr lang="en-US" altLang="zh-CN" dirty="0"/>
              <a:t>source.txt</a:t>
            </a:r>
          </a:p>
          <a:p>
            <a:r>
              <a:rPr lang="en-US" altLang="zh-CN" dirty="0"/>
              <a:t>fs=open(</a:t>
            </a:r>
            <a:r>
              <a:rPr lang="en-US" altLang="zh-CN" dirty="0" err="1"/>
              <a:t>r'd</a:t>
            </a:r>
            <a:r>
              <a:rPr lang="en-US" altLang="zh-CN" dirty="0"/>
              <a:t>:\data\</a:t>
            </a:r>
            <a:r>
              <a:rPr lang="en-US" altLang="zh-CN" dirty="0" err="1"/>
              <a:t>source.txt',"r</a:t>
            </a:r>
            <a:r>
              <a:rPr lang="en-US" altLang="zh-CN" dirty="0"/>
              <a:t>")</a:t>
            </a:r>
          </a:p>
          <a:p>
            <a:r>
              <a:rPr lang="en-US" altLang="zh-CN" dirty="0"/>
              <a:t>x=</a:t>
            </a:r>
            <a:r>
              <a:rPr lang="en-US" altLang="zh-CN" dirty="0" err="1"/>
              <a:t>fs.read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print(x)</a:t>
            </a:r>
          </a:p>
          <a:p>
            <a:r>
              <a:rPr lang="en-US" altLang="zh-CN" dirty="0" err="1"/>
              <a:t>fs.close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中的内容如下：</a:t>
            </a:r>
            <a:endParaRPr lang="en-US" altLang="zh-CN" dirty="0"/>
          </a:p>
          <a:p>
            <a:r>
              <a:rPr lang="en-US" altLang="zh-CN" dirty="0"/>
              <a:t> 'How are you! I am fine. Thank you!\</a:t>
            </a:r>
            <a:r>
              <a:rPr lang="en-US" altLang="zh-CN" dirty="0" err="1"/>
              <a:t>nWhat</a:t>
            </a:r>
            <a:r>
              <a:rPr lang="en-US" altLang="zh-CN" dirty="0"/>
              <a:t> day is today?\</a:t>
            </a:r>
            <a:r>
              <a:rPr lang="en-US" altLang="zh-CN" dirty="0" err="1"/>
              <a:t>nToday</a:t>
            </a:r>
            <a:r>
              <a:rPr lang="en-US" altLang="zh-CN" dirty="0"/>
              <a:t> is Sunday.\</a:t>
            </a:r>
            <a:r>
              <a:rPr lang="en-US" altLang="zh-CN" dirty="0" err="1"/>
              <a:t>nWhen</a:t>
            </a:r>
            <a:r>
              <a:rPr lang="en-US" altLang="zh-CN" dirty="0"/>
              <a:t> do you go to </a:t>
            </a:r>
            <a:r>
              <a:rPr lang="en-US" altLang="zh-CN" dirty="0" err="1"/>
              <a:t>shcool</a:t>
            </a:r>
            <a:r>
              <a:rPr lang="en-US" altLang="zh-CN" dirty="0"/>
              <a:t>?'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28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3132138"/>
            <a:ext cx="9144000" cy="3725862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3125788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325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3415D4A-526D-4DC9-BF32-C7B8DBFED9D6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85750"/>
            <a:ext cx="19050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406525"/>
            <a:ext cx="7508875" cy="1470025"/>
          </a:xfrm>
        </p:spPr>
        <p:txBody>
          <a:bodyPr anchor="ctr"/>
          <a:lstStyle>
            <a:lvl1pPr algn="r">
              <a:defRPr sz="48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1063" y="3357562"/>
            <a:ext cx="5205412" cy="1085859"/>
          </a:xfrm>
        </p:spPr>
        <p:txBody>
          <a:bodyPr/>
          <a:lstStyle>
            <a:lvl1pPr marL="0" indent="0" algn="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6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68580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5025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02613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18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45FD9-2A9F-4ADC-AC9B-CCE7FF1D7D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24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375400"/>
            <a:ext cx="9144000" cy="482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369050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412875"/>
            <a:ext cx="82931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8621713" y="6453188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6FD76A5C-5101-48E2-B4FF-7E96E16CB41A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39700"/>
            <a:ext cx="8275638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TextBox 6"/>
          <p:cNvSpPr txBox="1">
            <a:spLocks noChangeArrowheads="1"/>
          </p:cNvSpPr>
          <p:nvPr/>
        </p:nvSpPr>
        <p:spPr bwMode="auto">
          <a:xfrm>
            <a:off x="4763" y="6416675"/>
            <a:ext cx="3205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 err="1">
                <a:solidFill>
                  <a:schemeClr val="bg1"/>
                </a:solidFill>
              </a:rPr>
              <a:t>Tongji</a:t>
            </a:r>
            <a:r>
              <a:rPr lang="en-US" altLang="zh-CN" b="1" dirty="0">
                <a:solidFill>
                  <a:schemeClr val="bg1"/>
                </a:solidFill>
              </a:rPr>
              <a:t> University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032" name="Picture 9" descr="tongji university lo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15888"/>
            <a:ext cx="2124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3" r:id="rId3"/>
    <p:sldLayoutId id="2147483925" r:id="rId4"/>
    <p:sldLayoutId id="2147483928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数据文件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副标题 2"/>
          <p:cNvSpPr>
            <a:spLocks noGrp="1"/>
          </p:cNvSpPr>
          <p:nvPr>
            <p:ph type="subTitle" sz="quarter" idx="1"/>
          </p:nvPr>
        </p:nvSpPr>
        <p:spPr>
          <a:xfrm>
            <a:off x="3421063" y="3357562"/>
            <a:ext cx="5205412" cy="1439589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Bodoni MT Black"/>
              </a:rPr>
              <a:t>同济大学计算机</a:t>
            </a:r>
            <a:endParaRPr lang="en-US" altLang="zh-CN" sz="4000" dirty="0">
              <a:latin typeface="Bodoni MT Black"/>
            </a:endParaRPr>
          </a:p>
          <a:p>
            <a:pPr eaLnBrk="1" hangingPunct="1"/>
            <a:r>
              <a:rPr lang="zh-CN" altLang="en-US" sz="4000" dirty="0">
                <a:latin typeface="Bodoni MT Black"/>
              </a:rPr>
              <a:t>基础教研室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一、数据文件概述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444" y="1124744"/>
            <a:ext cx="8191020" cy="44012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、列表、元组中的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数组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不能长久保存</a:t>
            </a:r>
            <a:b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程序运行结束，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、列表、元组不存在了</a:t>
            </a: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文件或数据库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中数据能够永久保存</a:t>
            </a: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endParaRPr kumimoji="1" lang="en-US" altLang="zh-CN" sz="28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zh-CN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kumimoji="1"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储在外存储器（如磁盘）上</a:t>
            </a:r>
            <a:b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用文件名标识的数据集合</a:t>
            </a: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文件有文件名，带路径。</a:t>
            </a: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 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d:\11\we.txt</a:t>
            </a:r>
            <a:endParaRPr kumimoji="1" lang="en-US" altLang="zh-CN" sz="23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45851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50" y="764704"/>
            <a:ext cx="8262918" cy="75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</a:t>
            </a:r>
            <a:r>
              <a:rPr kumimoji="1" lang="zh-CN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6.1  </a:t>
            </a:r>
            <a:r>
              <a:rPr kumimoji="1" lang="zh-CN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输入一批学生的学号、姓名和成绩，长期保存起来，在以后某个时候再从中读出数据统计学生人数、总成绩和平均成绩。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</a:t>
            </a:r>
          </a:p>
        </p:txBody>
      </p:sp>
      <p:sp>
        <p:nvSpPr>
          <p:cNvPr id="2" name="矩形 1"/>
          <p:cNvSpPr/>
          <p:nvPr/>
        </p:nvSpPr>
        <p:spPr>
          <a:xfrm>
            <a:off x="560389" y="2050289"/>
            <a:ext cx="3726414" cy="378565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# </a:t>
            </a:r>
            <a:r>
              <a:rPr lang="zh-CN" altLang="en-US" sz="1500" dirty="0">
                <a:latin typeface="+mn-ea"/>
                <a:cs typeface="Times New Roman" panose="02020603050405020304" pitchFamily="18" charset="0"/>
              </a:rPr>
              <a:t>方法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15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学生成绩存储在列表中</a:t>
            </a:r>
          </a:p>
          <a:p>
            <a:pPr lvl="1"/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stuList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=[]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n=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int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(input("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请学生人数：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"))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for 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 in range(n):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    No=input("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请输入学号：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")	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    Name=input("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请输入姓名：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")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    Mark=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int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(input("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请输入成绩：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"))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stuList.append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([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No,Name,Mark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])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Total=0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for 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 in range(n):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    Total=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Total+stuList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[</a:t>
            </a:r>
            <a:r>
              <a:rPr lang="en-US" altLang="zh-CN" sz="1500" dirty="0" err="1"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][2]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Average=Total/n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print("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人数：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",n)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print("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总成绩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",Total)</a:t>
            </a:r>
            <a:endParaRPr lang="zh-CN" altLang="zh-CN" sz="1500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print("</a:t>
            </a:r>
            <a:r>
              <a:rPr lang="zh-CN" altLang="zh-CN" sz="1500" dirty="0">
                <a:latin typeface="+mn-ea"/>
                <a:cs typeface="Times New Roman" panose="02020603050405020304" pitchFamily="18" charset="0"/>
              </a:rPr>
              <a:t>平均成绩</a:t>
            </a:r>
            <a:r>
              <a:rPr lang="en-US" altLang="zh-CN" sz="1500" dirty="0">
                <a:latin typeface="+mn-ea"/>
                <a:cs typeface="Times New Roman" panose="02020603050405020304" pitchFamily="18" charset="0"/>
              </a:rPr>
              <a:t>",Average)</a:t>
            </a:r>
            <a:endParaRPr kumimoji="1" lang="en-US" altLang="zh-CN" sz="1500" dirty="0">
              <a:latin typeface="+mn-ea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7994" y="2050289"/>
            <a:ext cx="4266474" cy="12738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问题：</a:t>
            </a:r>
            <a:r>
              <a:rPr kumimoji="1"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程序运行结束，</a:t>
            </a:r>
            <a:r>
              <a:rPr kumimoji="1"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输入的数据</a:t>
            </a:r>
            <a:r>
              <a:rPr kumimoji="1"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丢失</a:t>
            </a: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解决办法：</a:t>
            </a:r>
            <a:r>
              <a:rPr kumimoji="1"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保存在文件</a:t>
            </a:r>
            <a:r>
              <a:rPr kumimoji="1"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或者保存在</a:t>
            </a:r>
            <a:r>
              <a:rPr kumimoji="1"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数据库</a:t>
            </a:r>
            <a:endParaRPr kumimoji="1" lang="en-US" altLang="zh-CN" sz="15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1CAC59B5-A6C5-493F-9304-14BCC1CEB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081" y="3483006"/>
            <a:ext cx="2700300" cy="1584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380388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440" y="638968"/>
            <a:ext cx="7794612" cy="8633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使用文件更方便</a:t>
            </a:r>
            <a:endParaRPr kumimoji="1" lang="en-US" altLang="zh-CN" sz="21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先输入数据，写入文件，再从文件中读出数据并处理</a:t>
            </a:r>
            <a:endParaRPr kumimoji="1"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64088" y="1502281"/>
            <a:ext cx="3294366" cy="503214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rgbClr val="0070C0"/>
                </a:solidFill>
              </a:rPr>
              <a:t>#</a:t>
            </a:r>
            <a:r>
              <a:rPr lang="zh-CN" altLang="en-US" sz="1500" b="1" dirty="0">
                <a:solidFill>
                  <a:srgbClr val="0070C0"/>
                </a:solidFill>
              </a:rPr>
              <a:t>读入文件中的数据再处理</a:t>
            </a:r>
            <a:endParaRPr lang="en-US" altLang="zh-CN" sz="1500" b="1" dirty="0">
              <a:solidFill>
                <a:srgbClr val="0070C0"/>
              </a:solidFill>
            </a:endParaRPr>
          </a:p>
          <a:p>
            <a:r>
              <a:rPr lang="zh-CN" altLang="en-US" dirty="0"/>
              <a:t>fp=open(r"</a:t>
            </a:r>
            <a:r>
              <a:rPr lang="en-US" altLang="zh-CN" dirty="0"/>
              <a:t>d</a:t>
            </a:r>
            <a:r>
              <a:rPr lang="zh-CN" altLang="en-US" dirty="0"/>
              <a:t>:\scores.txt","r")</a:t>
            </a:r>
          </a:p>
          <a:p>
            <a:r>
              <a:rPr lang="zh-CN" altLang="en-US" dirty="0"/>
              <a:t>n=0</a:t>
            </a:r>
          </a:p>
          <a:p>
            <a:r>
              <a:rPr lang="zh-CN" altLang="en-US" dirty="0"/>
              <a:t>Total=0</a:t>
            </a:r>
          </a:p>
          <a:p>
            <a:r>
              <a:rPr lang="zh-CN" altLang="en-US" dirty="0"/>
              <a:t>while True:	</a:t>
            </a:r>
          </a:p>
          <a:p>
            <a:r>
              <a:rPr lang="zh-CN" altLang="en-US" dirty="0"/>
              <a:t>    Student=fp.readline()</a:t>
            </a:r>
          </a:p>
          <a:p>
            <a:r>
              <a:rPr lang="zh-CN" altLang="en-US" dirty="0"/>
              <a:t>    if not Student:          </a:t>
            </a:r>
            <a:r>
              <a:rPr lang="en-US" altLang="zh-CN" dirty="0"/>
              <a:t>#</a:t>
            </a:r>
            <a:r>
              <a:rPr lang="zh-CN" altLang="en-US" dirty="0"/>
              <a:t>即</a:t>
            </a:r>
            <a:r>
              <a:rPr lang="en-US" altLang="zh-CN" dirty="0"/>
              <a:t>Student==""</a:t>
            </a:r>
            <a:endParaRPr lang="zh-CN" altLang="en-US" dirty="0"/>
          </a:p>
          <a:p>
            <a:r>
              <a:rPr lang="zh-CN" altLang="en-US" dirty="0"/>
              <a:t>        break</a:t>
            </a:r>
          </a:p>
          <a:p>
            <a:r>
              <a:rPr lang="zh-CN" altLang="en-US" dirty="0"/>
              <a:t>    n=n+1</a:t>
            </a:r>
          </a:p>
          <a:p>
            <a:r>
              <a:rPr lang="zh-CN" altLang="en-US" dirty="0"/>
              <a:t>    Temp=Student.split(",")	</a:t>
            </a:r>
          </a:p>
          <a:p>
            <a:r>
              <a:rPr lang="zh-CN" altLang="en-US" dirty="0"/>
              <a:t>    Mark=int(Temp[2])</a:t>
            </a:r>
          </a:p>
          <a:p>
            <a:r>
              <a:rPr lang="zh-CN" altLang="en-US" dirty="0"/>
              <a:t>    Total=Total+Mark</a:t>
            </a:r>
          </a:p>
          <a:p>
            <a:r>
              <a:rPr lang="zh-CN" altLang="en-US" dirty="0"/>
              <a:t>Average=Total/n	</a:t>
            </a:r>
          </a:p>
          <a:p>
            <a:r>
              <a:rPr lang="zh-CN" altLang="en-US" dirty="0"/>
              <a:t>print("人数：",n)</a:t>
            </a:r>
          </a:p>
          <a:p>
            <a:r>
              <a:rPr lang="zh-CN" altLang="en-US" dirty="0"/>
              <a:t>print("总成绩",Total)</a:t>
            </a:r>
          </a:p>
          <a:p>
            <a:r>
              <a:rPr lang="zh-CN" altLang="en-US" dirty="0"/>
              <a:t>print("平均成绩",Average)</a:t>
            </a:r>
          </a:p>
          <a:p>
            <a:r>
              <a:rPr lang="zh-CN" altLang="en-US" dirty="0"/>
              <a:t>fp.close()</a:t>
            </a:r>
          </a:p>
        </p:txBody>
      </p:sp>
      <p:sp>
        <p:nvSpPr>
          <p:cNvPr id="8" name="矩形 7"/>
          <p:cNvSpPr/>
          <p:nvPr/>
        </p:nvSpPr>
        <p:spPr>
          <a:xfrm>
            <a:off x="575556" y="2075807"/>
            <a:ext cx="4104456" cy="41267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srgbClr val="0070C0"/>
                </a:solidFill>
              </a:rPr>
              <a:t>#</a:t>
            </a:r>
            <a:r>
              <a:rPr lang="zh-CN" altLang="en-US" sz="1500" b="1" dirty="0">
                <a:solidFill>
                  <a:srgbClr val="0070C0"/>
                </a:solidFill>
              </a:rPr>
              <a:t>方法</a:t>
            </a:r>
            <a:r>
              <a:rPr lang="en-US" altLang="zh-CN" sz="1500" b="1" dirty="0">
                <a:solidFill>
                  <a:srgbClr val="0070C0"/>
                </a:solidFill>
              </a:rPr>
              <a:t>2</a:t>
            </a:r>
            <a:r>
              <a:rPr lang="zh-CN" altLang="en-US" sz="1500" b="1" dirty="0">
                <a:solidFill>
                  <a:srgbClr val="0070C0"/>
                </a:solidFill>
              </a:rPr>
              <a:t>：输入数据，写入文件</a:t>
            </a:r>
            <a:endParaRPr lang="en-US" altLang="zh-CN" sz="15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n=</a:t>
            </a:r>
            <a:r>
              <a:rPr lang="en-US" altLang="zh-CN" dirty="0" err="1"/>
              <a:t>int</a:t>
            </a:r>
            <a:r>
              <a:rPr lang="en-US" altLang="zh-CN" dirty="0"/>
              <a:t>(input("</a:t>
            </a:r>
            <a:r>
              <a:rPr lang="zh-CN" altLang="en-US" dirty="0"/>
              <a:t>请学生人数：</a:t>
            </a:r>
            <a:r>
              <a:rPr lang="en-US" altLang="zh-CN" dirty="0"/>
              <a:t>"))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fs=open(</a:t>
            </a:r>
            <a:r>
              <a:rPr lang="en-US" altLang="zh-CN" dirty="0" err="1"/>
              <a:t>r'd</a:t>
            </a:r>
            <a:r>
              <a:rPr lang="en-US" altLang="zh-CN" dirty="0"/>
              <a:t>:\</a:t>
            </a:r>
            <a:r>
              <a:rPr lang="en-US" altLang="zh-CN" dirty="0" err="1"/>
              <a:t>scores.txt',"w</a:t>
            </a:r>
            <a:r>
              <a:rPr lang="en-US" altLang="zh-CN" dirty="0"/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range(n):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No=input("</a:t>
            </a:r>
            <a:r>
              <a:rPr lang="zh-CN" altLang="en-US" dirty="0"/>
              <a:t>请输入学号：</a:t>
            </a:r>
            <a:r>
              <a:rPr lang="en-US" altLang="zh-CN" dirty="0"/>
              <a:t>")	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Name=input("</a:t>
            </a:r>
            <a:r>
              <a:rPr lang="zh-CN" altLang="en-US" dirty="0"/>
              <a:t>请输入姓名：</a:t>
            </a:r>
            <a:r>
              <a:rPr lang="en-US" altLang="zh-CN" dirty="0"/>
              <a:t>")	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Mark=</a:t>
            </a:r>
            <a:r>
              <a:rPr lang="en-US" altLang="zh-CN" dirty="0" err="1"/>
              <a:t>int</a:t>
            </a:r>
            <a:r>
              <a:rPr lang="en-US" altLang="zh-CN" dirty="0"/>
              <a:t>(input("</a:t>
            </a:r>
            <a:r>
              <a:rPr lang="zh-CN" altLang="en-US" dirty="0"/>
              <a:t>请输入成绩：</a:t>
            </a:r>
            <a:r>
              <a:rPr lang="en-US" altLang="zh-CN" dirty="0"/>
              <a:t>"))	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fs.write</a:t>
            </a:r>
            <a:r>
              <a:rPr lang="en-US" altLang="zh-CN" dirty="0"/>
              <a:t>(No + "," + Name +"," + </a:t>
            </a:r>
            <a:r>
              <a:rPr lang="en-US" altLang="zh-CN" dirty="0" err="1"/>
              <a:t>str</a:t>
            </a:r>
            <a:r>
              <a:rPr lang="en-US" altLang="zh-CN" dirty="0"/>
              <a:t>(Mark) + "\n")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fs.close</a:t>
            </a:r>
            <a:r>
              <a:rPr lang="en-US" altLang="zh-C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8311125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188" y="404664"/>
            <a:ext cx="7668852" cy="1466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文件分类</a:t>
            </a:r>
            <a:endParaRPr kumimoji="1"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kumimoji="1" lang="zh-CN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按文件的内容分类</a:t>
            </a:r>
            <a:r>
              <a:rPr kumimoji="1" lang="zh-CN" altLang="en-US" sz="21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应用程序文件和数据文件</a:t>
            </a:r>
            <a:endParaRPr kumimoji="1"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kumimoji="1" lang="zh-CN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按存储信息的形式分类</a:t>
            </a: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zh-CN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文本文件和二进制文件</a:t>
            </a:r>
            <a:endParaRPr kumimoji="1"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38">
            <a:extLst>
              <a:ext uri="{FF2B5EF4-FFF2-40B4-BE49-F238E27FC236}">
                <a16:creationId xmlns:a16="http://schemas.microsoft.com/office/drawing/2014/main" id="{00204423-BD52-45FD-9E09-A0A5A3EB6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049180"/>
            <a:ext cx="5035799" cy="59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59C07DB3-F168-438D-9634-0EE9FFE8B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53" y="2204864"/>
            <a:ext cx="8046894" cy="231396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文本文件：</a:t>
            </a:r>
            <a:r>
              <a:rPr kumimoji="1" lang="zh-CN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存放数据的</a:t>
            </a:r>
            <a:r>
              <a:rPr kumimoji="1" lang="en-US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ASCII</a:t>
            </a:r>
            <a:r>
              <a:rPr kumimoji="1" lang="zh-CN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</a:t>
            </a:r>
            <a:endParaRPr kumimoji="1"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以常规字符串进行存储，可用记事本打开</a:t>
            </a:r>
            <a:endParaRPr kumimoji="1"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二进制文件：存储各种</a:t>
            </a:r>
            <a:r>
              <a:rPr kumimoji="1" lang="zh-CN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数据的</a:t>
            </a:r>
            <a:r>
              <a:rPr kumimoji="1" lang="zh-CN" altLang="zh-CN" sz="2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</a:t>
            </a:r>
            <a:r>
              <a:rPr kumimoji="1" lang="zh-CN" altLang="zh-CN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r>
              <a:rPr kumimoji="1"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，以字节形式存储，</a:t>
            </a:r>
            <a:endParaRPr kumimoji="1"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记事本打不开，专用软件解码打开</a:t>
            </a:r>
            <a:endParaRPr kumimoji="1" lang="en-US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16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如图形图像文件、音视频文件、可执行文件、</a:t>
            </a:r>
            <a:r>
              <a:rPr kumimoji="1" lang="en-US" altLang="zh-CN" sz="16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office</a:t>
            </a:r>
            <a:r>
              <a:rPr kumimoji="1" lang="zh-CN" altLang="en-US" sz="16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文档、数据库文件</a:t>
            </a:r>
            <a:endParaRPr kumimoji="1" lang="en-US" altLang="zh-CN" sz="16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3353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3814139449"/>
              </p:ext>
            </p:extLst>
          </p:nvPr>
        </p:nvGraphicFramePr>
        <p:xfrm>
          <a:off x="2896294" y="1052736"/>
          <a:ext cx="4760015" cy="235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圆角矩形 10"/>
          <p:cNvSpPr/>
          <p:nvPr/>
        </p:nvSpPr>
        <p:spPr>
          <a:xfrm>
            <a:off x="1061610" y="4948841"/>
            <a:ext cx="2862263" cy="73580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zh-CN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读操作，</a:t>
            </a:r>
            <a:r>
              <a:rPr lang="zh-CN" altLang="en-US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zh-CN" altLang="zh-CN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输入，将数据从文件读入到变量供程序使用</a:t>
            </a:r>
            <a:endParaRPr lang="zh-CN" altLang="en-US" sz="16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93958" y="4979326"/>
            <a:ext cx="3996444" cy="73580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写操作，即输出，将数据写入文件。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061610" y="1412776"/>
            <a:ext cx="927147" cy="2148698"/>
            <a:chOff x="1763458" y="1988840"/>
            <a:chExt cx="1236197" cy="2864931"/>
          </a:xfrm>
        </p:grpSpPr>
        <p:sp>
          <p:nvSpPr>
            <p:cNvPr id="4" name="矩形 3"/>
            <p:cNvSpPr/>
            <p:nvPr/>
          </p:nvSpPr>
          <p:spPr bwMode="auto">
            <a:xfrm>
              <a:off x="1782297" y="2370263"/>
              <a:ext cx="1210588" cy="40010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685800"/>
              <a:r>
                <a:rPr lang="zh-CN" altLang="en-US" sz="15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打开文件</a:t>
              </a: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1763458" y="3204357"/>
              <a:ext cx="1210588" cy="40010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685800"/>
              <a:r>
                <a:rPr lang="zh-CN" altLang="en-US" sz="15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读写文件</a:t>
              </a: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1789067" y="4093622"/>
              <a:ext cx="1210588" cy="40010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685800"/>
              <a:r>
                <a:rPr lang="zh-CN" altLang="en-US" sz="15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关闭文件</a:t>
              </a:r>
            </a:p>
          </p:txBody>
        </p:sp>
        <p:cxnSp>
          <p:nvCxnSpPr>
            <p:cNvPr id="6" name="直接箭头连接符 5"/>
            <p:cNvCxnSpPr/>
            <p:nvPr/>
          </p:nvCxnSpPr>
          <p:spPr bwMode="auto">
            <a:xfrm>
              <a:off x="2351584" y="1988840"/>
              <a:ext cx="0" cy="366035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 bwMode="auto">
            <a:xfrm>
              <a:off x="2351584" y="2785762"/>
              <a:ext cx="0" cy="37703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 bwMode="auto">
            <a:xfrm>
              <a:off x="2351583" y="3619856"/>
              <a:ext cx="0" cy="43204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 bwMode="auto">
            <a:xfrm>
              <a:off x="2351583" y="4493731"/>
              <a:ext cx="0" cy="36004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7426" y="3432952"/>
            <a:ext cx="4857750" cy="1328738"/>
          </a:xfrm>
          <a:prstGeom prst="rect">
            <a:avLst/>
          </a:prstGeom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53" y="116632"/>
            <a:ext cx="7290810" cy="581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文件访问流程</a:t>
            </a:r>
          </a:p>
        </p:txBody>
      </p:sp>
    </p:spTree>
    <p:extLst>
      <p:ext uri="{BB962C8B-B14F-4D97-AF65-F5344CB8AC3E}">
        <p14:creationId xmlns:p14="http://schemas.microsoft.com/office/powerpoint/2010/main" val="57378073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文件访问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444" y="1048095"/>
            <a:ext cx="8568952" cy="4616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二进制文件使用专用的库</a:t>
            </a:r>
            <a:b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图像文件处理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库。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二进制流的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pickle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文本</a:t>
            </a:r>
            <a:r>
              <a:rPr kumimoji="1" lang="zh-CN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：（本章重点）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文本文件具有</a:t>
            </a:r>
            <a:r>
              <a:rPr kumimoji="1"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行结构</a:t>
            </a:r>
            <a:endParaRPr kumimoji="1" lang="en-US" altLang="zh-C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每一行的结束都有换行符：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Python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读写文本文件：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一次性地读写文件的所有内容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kumimoji="1"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为单位，一行一行地按顺序进行读写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读出时从头到尾按顺序一行一行地读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写入时从头到尾按顺序一行一行地写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                                       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5BB664-4E7A-1C18-BB93-F07A774BA6EE}"/>
              </a:ext>
            </a:extLst>
          </p:cNvPr>
          <p:cNvGrpSpPr/>
          <p:nvPr/>
        </p:nvGrpSpPr>
        <p:grpSpPr>
          <a:xfrm>
            <a:off x="5508104" y="2276872"/>
            <a:ext cx="2737214" cy="1976264"/>
            <a:chOff x="7967753" y="1746425"/>
            <a:chExt cx="2737214" cy="19762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55FD88-E228-6000-358B-DE930A4810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753" y="1746425"/>
              <a:ext cx="2737214" cy="1584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F4922E7-3E38-D58A-0A04-11A9B7633974}"/>
                </a:ext>
              </a:extLst>
            </p:cNvPr>
            <p:cNvSpPr txBox="1"/>
            <p:nvPr/>
          </p:nvSpPr>
          <p:spPr>
            <a:xfrm>
              <a:off x="8292244" y="3353357"/>
              <a:ext cx="2088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顺序文件的结构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913194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</a:rPr>
              <a:t>6.2.1  </a:t>
            </a:r>
            <a:r>
              <a:rPr lang="zh-CN" altLang="zh-CN" dirty="0">
                <a:solidFill>
                  <a:schemeClr val="tx2"/>
                </a:solidFill>
              </a:rPr>
              <a:t>文本文件的打开与关闭</a:t>
            </a:r>
            <a:endParaRPr lang="zh-CN" altLang="en-US" sz="2100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4577" y="1230514"/>
            <a:ext cx="7614846" cy="85536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打开文件</a:t>
            </a:r>
            <a:endParaRPr kumimoji="1" lang="en-US" altLang="zh-CN" dirty="0">
              <a:solidFill>
                <a:srgbClr val="000066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fp</a:t>
            </a:r>
            <a:r>
              <a:rPr lang="en-US" altLang="zh-CN" dirty="0"/>
              <a:t> = open(filename, mode='r', encoding='utf-8')</a:t>
            </a:r>
            <a:endParaRPr lang="zh-CN" altLang="zh-CN" dirty="0"/>
          </a:p>
        </p:txBody>
      </p:sp>
      <p:sp>
        <p:nvSpPr>
          <p:cNvPr id="7" name="矩形 6"/>
          <p:cNvSpPr/>
          <p:nvPr/>
        </p:nvSpPr>
        <p:spPr>
          <a:xfrm>
            <a:off x="677359" y="2559046"/>
            <a:ext cx="2047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文件对象的属性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36201" y="2962250"/>
          <a:ext cx="3143514" cy="1409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469">
                  <a:extLst>
                    <a:ext uri="{9D8B030D-6E8A-4147-A177-3AD203B41FA5}">
                      <a16:colId xmlns:a16="http://schemas.microsoft.com/office/drawing/2014/main" val="3716126505"/>
                    </a:ext>
                  </a:extLst>
                </a:gridCol>
                <a:gridCol w="2278045">
                  <a:extLst>
                    <a:ext uri="{9D8B030D-6E8A-4147-A177-3AD203B41FA5}">
                      <a16:colId xmlns:a16="http://schemas.microsoft.com/office/drawing/2014/main" val="3137966718"/>
                    </a:ext>
                  </a:extLst>
                </a:gridCol>
              </a:tblGrid>
              <a:tr h="248603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dirty="0">
                          <a:effectLst/>
                        </a:rPr>
                        <a:t>属性</a:t>
                      </a:r>
                      <a:endParaRPr lang="zh-CN" altLang="en-US" sz="14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1431" marR="21431" marT="21431" marB="21431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dirty="0">
                          <a:effectLst/>
                        </a:rPr>
                        <a:t>描述</a:t>
                      </a:r>
                      <a:endParaRPr lang="zh-CN" altLang="en-US" sz="14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1431" marR="21431" marT="21431" marB="21431" anchor="ctr"/>
                </a:tc>
                <a:extLst>
                  <a:ext uri="{0D108BD9-81ED-4DB2-BD59-A6C34878D82A}">
                    <a16:rowId xmlns:a16="http://schemas.microsoft.com/office/drawing/2014/main" val="2964668369"/>
                  </a:ext>
                </a:extLst>
              </a:tr>
              <a:tr h="5114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 err="1">
                          <a:effectLst/>
                        </a:rPr>
                        <a:t>fp.closed</a:t>
                      </a:r>
                      <a:endParaRPr lang="en-US" sz="1400" dirty="0">
                        <a:effectLst/>
                      </a:endParaRPr>
                    </a:p>
                  </a:txBody>
                  <a:tcPr marL="35719" marR="35719" marT="50006" marB="50006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dirty="0">
                          <a:effectLst/>
                        </a:rPr>
                        <a:t>如果文件已被关闭返回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，否则返回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Flase</a:t>
                      </a:r>
                      <a:r>
                        <a:rPr lang="zh-CN" altLang="en-US" sz="1400" dirty="0">
                          <a:effectLst/>
                        </a:rPr>
                        <a:t>。</a:t>
                      </a:r>
                    </a:p>
                  </a:txBody>
                  <a:tcPr marL="35719" marR="35719" marT="50006" marB="50006" anchor="ctr"/>
                </a:tc>
                <a:extLst>
                  <a:ext uri="{0D108BD9-81ED-4DB2-BD59-A6C34878D82A}">
                    <a16:rowId xmlns:a16="http://schemas.microsoft.com/office/drawing/2014/main" val="2468590381"/>
                  </a:ext>
                </a:extLst>
              </a:tr>
              <a:tr h="305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 err="1">
                          <a:effectLst/>
                        </a:rPr>
                        <a:t>fp.mode</a:t>
                      </a:r>
                      <a:endParaRPr lang="en-US" sz="1400" dirty="0">
                        <a:effectLst/>
                      </a:endParaRPr>
                    </a:p>
                  </a:txBody>
                  <a:tcPr marL="35719" marR="35719" marT="50006" marB="50006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dirty="0">
                          <a:effectLst/>
                        </a:rPr>
                        <a:t>返回被打开文件的访问模式。</a:t>
                      </a:r>
                    </a:p>
                  </a:txBody>
                  <a:tcPr marL="35719" marR="35719" marT="50006" marB="50006" anchor="ctr"/>
                </a:tc>
                <a:extLst>
                  <a:ext uri="{0D108BD9-81ED-4DB2-BD59-A6C34878D82A}">
                    <a16:rowId xmlns:a16="http://schemas.microsoft.com/office/drawing/2014/main" val="157031428"/>
                  </a:ext>
                </a:extLst>
              </a:tr>
              <a:tr h="305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fp.name</a:t>
                      </a:r>
                    </a:p>
                  </a:txBody>
                  <a:tcPr marL="35719" marR="35719" marT="50006" marB="50006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dirty="0">
                          <a:effectLst/>
                        </a:rPr>
                        <a:t>返回文件的名称。</a:t>
                      </a:r>
                    </a:p>
                  </a:txBody>
                  <a:tcPr marL="35719" marR="35719" marT="50006" marB="50006" anchor="ctr"/>
                </a:tc>
                <a:extLst>
                  <a:ext uri="{0D108BD9-81ED-4DB2-BD59-A6C34878D82A}">
                    <a16:rowId xmlns:a16="http://schemas.microsoft.com/office/drawing/2014/main" val="79084831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16142" y="4594399"/>
            <a:ext cx="3429563" cy="1791131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lvl="2" indent="-620316">
              <a:lnSpc>
                <a:spcPct val="125000"/>
              </a:lnSpc>
            </a:pP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=open("d:\\data\\gc-4-1.py","r")</a:t>
            </a:r>
          </a:p>
          <a:p>
            <a:pPr lvl="2" indent="-620316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print(fp.name)</a:t>
            </a:r>
          </a:p>
          <a:p>
            <a:pPr lvl="2" indent="-620316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fp.closed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indent="-620316">
              <a:lnSpc>
                <a:spcPct val="125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fp.mode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zh-CN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27A48E-79EA-4AFB-B23C-BCA574340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988" y="4635166"/>
            <a:ext cx="3348372" cy="10572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2B89C7-1D10-4AF4-BAF2-460559194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2960467"/>
            <a:ext cx="4111259" cy="70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71926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698229"/>
            <a:ext cx="5969726" cy="52378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文件的读写模式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460178"/>
              </p:ext>
            </p:extLst>
          </p:nvPr>
        </p:nvGraphicFramePr>
        <p:xfrm>
          <a:off x="1475656" y="2777609"/>
          <a:ext cx="610267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113361997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978639883"/>
                    </a:ext>
                  </a:extLst>
                </a:gridCol>
                <a:gridCol w="4104455">
                  <a:extLst>
                    <a:ext uri="{9D8B030D-6E8A-4147-A177-3AD203B41FA5}">
                      <a16:colId xmlns:a16="http://schemas.microsoft.com/office/drawing/2014/main" val="205187709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Mode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作用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说明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070519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读模式（默认）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文件不存在则异常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214003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写模式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文件不存在则创建；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</a:rPr>
                        <a:t>文件存在则清空内容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355237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x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写模式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创建新文件，文件存在则异常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92850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追加模式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文件存在则追加；文件不存在则创建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09753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二进制模式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可与其他模式组合使用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875618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文本模式（默认）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可与其他模式组合使用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433523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+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读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写模式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打开文件进行更新，可以其他模式组合使用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2117258"/>
                  </a:ext>
                </a:extLst>
              </a:tr>
            </a:tbl>
          </a:graphicData>
        </a:graphic>
      </p:graphicFrame>
      <p:sp>
        <p:nvSpPr>
          <p:cNvPr id="7" name="圆角矩形 6"/>
          <p:cNvSpPr/>
          <p:nvPr/>
        </p:nvSpPr>
        <p:spPr bwMode="auto">
          <a:xfrm>
            <a:off x="791580" y="1628800"/>
            <a:ext cx="7560840" cy="93784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 = open("d:\\abc.txt" ,"r")                                    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以读模式打开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fp2 = open(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D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:\jsjjc\student.txt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w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)                  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#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以写模式打开</a:t>
            </a:r>
            <a:endParaRPr kumimoji="1" lang="zh-CN" altLang="zh-CN" b="1" dirty="0">
              <a:solidFill>
                <a:srgbClr val="C00000"/>
              </a:solidFill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0C2D2A-D595-34EC-DFB1-7682E99B7594}"/>
              </a:ext>
            </a:extLst>
          </p:cNvPr>
          <p:cNvSpPr txBox="1"/>
          <p:nvPr/>
        </p:nvSpPr>
        <p:spPr>
          <a:xfrm>
            <a:off x="1835696" y="5457453"/>
            <a:ext cx="4602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模式间合并，如</a:t>
            </a:r>
            <a:r>
              <a:rPr kumimoji="1" lang="en-US" altLang="zh-CN" sz="1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</a:t>
            </a:r>
            <a:r>
              <a:rPr kumimoji="1" lang="en-US" altLang="zh-CN" sz="1800" b="1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rb</a:t>
            </a:r>
            <a:r>
              <a:rPr kumimoji="1" lang="en-US" altLang="zh-CN" sz="1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</a:t>
            </a:r>
            <a:r>
              <a:rPr kumimoji="1" lang="zh-CN" altLang="en-US" sz="1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，二进制读</a:t>
            </a:r>
            <a:endParaRPr kumimoji="1" lang="en-US" altLang="zh-CN" sz="1800" b="1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13747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文件与文件路径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716" y="3886362"/>
            <a:ext cx="3344398" cy="151306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29623" y="1209178"/>
            <a:ext cx="8411958" cy="17827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文件路径分有两种： </a:t>
            </a: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5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绝对路径：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从根目录开始到某个文件的路径。例如，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Notepad.exe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Test.doc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文件的绝对路径分别为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C:\Windows\System32\Notepad.exe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或和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C:\Users\Test.doc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5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相对路径：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从当前目录开始到到某个文件的路径。如果当前目录为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System32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Data.accdb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文件的相对路径为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..\..\User\Data.accdb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（用“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”表示上一级目录）。</a:t>
            </a:r>
          </a:p>
        </p:txBody>
      </p:sp>
      <p:sp>
        <p:nvSpPr>
          <p:cNvPr id="6" name="矩形 5"/>
          <p:cNvSpPr/>
          <p:nvPr/>
        </p:nvSpPr>
        <p:spPr>
          <a:xfrm>
            <a:off x="485332" y="3856146"/>
            <a:ext cx="5004770" cy="15134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00025" algn="just">
              <a:lnSpc>
                <a:spcPct val="150000"/>
              </a:lnSpc>
              <a:spcAft>
                <a:spcPts val="225"/>
              </a:spcAft>
            </a:pP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C:\Users\Test.doc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的访问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</a:p>
          <a:p>
            <a:pPr marL="257175" indent="-257175" algn="just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u"/>
            </a:pP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用“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”作为分隔符，如</a:t>
            </a:r>
            <a:r>
              <a:rPr lang="en-US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C:/Users/Test.doc</a:t>
            </a:r>
            <a:endParaRPr lang="en-US" altLang="zh-CN" sz="15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u"/>
            </a:pP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用“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\\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”表示一个“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C:\\Users\\Test.doc</a:t>
            </a:r>
          </a:p>
          <a:p>
            <a:pPr marL="257175" indent="-257175" algn="just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u"/>
            </a:pP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字符串前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取消转义，如</a:t>
            </a:r>
            <a:r>
              <a:rPr lang="en-US" altLang="zh-CN" sz="1500" b="1" kern="1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r"C</a:t>
            </a:r>
            <a:r>
              <a:rPr lang="en-US" altLang="zh-CN" sz="15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:\Users\Test.doc"</a:t>
            </a:r>
            <a:endParaRPr lang="zh-CN" altLang="en-US" sz="1500" b="1" kern="1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0597102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59A5B-C2CB-4CDD-AF3E-45947711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  <a:r>
              <a:rPr lang="en-US" altLang="zh-CN" dirty="0"/>
              <a:t>—</a:t>
            </a:r>
            <a:r>
              <a:rPr lang="zh-CN" altLang="en-US" dirty="0"/>
              <a:t>文件的编码问题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1C008-4BC2-47A5-BD11-C566F1A47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412776"/>
            <a:ext cx="8441630" cy="4094163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有</a:t>
            </a:r>
            <a:r>
              <a:rPr kumimoji="1" lang="zh-CN" altLang="en-US" sz="2800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汉字的文件</a:t>
            </a: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，经常用  </a:t>
            </a:r>
            <a:r>
              <a:rPr kumimoji="1" lang="en-US" altLang="zh-CN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utf-8 </a:t>
            </a: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编码，打开时需要指定编码</a:t>
            </a:r>
            <a:endParaRPr kumimoji="1" lang="en-US" altLang="zh-CN" sz="280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800" kern="1200" dirty="0">
                <a:latin typeface="等线" panose="02010600030101010101" pitchFamily="2" charset="-122"/>
                <a:ea typeface="等线" panose="02010600030101010101" pitchFamily="2" charset="-122"/>
              </a:rPr>
              <a:t>例子</a:t>
            </a:r>
            <a:endParaRPr kumimoji="1" lang="en-US" altLang="zh-CN" sz="2800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f=open('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学生成绩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.txt',  'r',  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encoding='utf-8'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76" y="4077072"/>
            <a:ext cx="6532215" cy="338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1963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0269" y="836712"/>
            <a:ext cx="8275638" cy="651272"/>
          </a:xfrm>
        </p:spPr>
        <p:txBody>
          <a:bodyPr/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文件关闭：</a:t>
            </a:r>
            <a:r>
              <a:rPr lang="en-US" altLang="zh-CN" sz="2400" dirty="0"/>
              <a:t>close()</a:t>
            </a:r>
            <a:r>
              <a:rPr lang="zh-CN" altLang="en-US" sz="2400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9450" y="2402886"/>
            <a:ext cx="7785596" cy="21602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通常数据是被送到缓冲区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关闭文件时才将缓冲区中数据全部写入文件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关闭文件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对象：文件操作完以后一定要关闭</a:t>
            </a:r>
            <a:endParaRPr kumimoji="1"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kumimoji="1" lang="en-US" altLang="zh-CN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.close()  </a:t>
            </a:r>
            <a:endParaRPr kumimoji="1" lang="zh-CN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fp.close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0584998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75C2F-B9CE-4A44-BC0D-FE8534678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645077"/>
            <a:ext cx="7992888" cy="3510390"/>
          </a:xfrm>
        </p:spPr>
        <p:txBody>
          <a:bodyPr/>
          <a:lstStyle/>
          <a:p>
            <a:r>
              <a:rPr kumimoji="1" lang="zh-CN" altLang="en-US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前提   </a:t>
            </a:r>
            <a:r>
              <a:rPr kumimoji="1" lang="en-US" altLang="zh-CN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kumimoji="1" lang="zh-CN" altLang="en-US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‘文件名’</a:t>
            </a:r>
            <a:r>
              <a:rPr kumimoji="1" lang="en-US" altLang="zh-CN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,’r’, encoding=‘utf-8’)</a:t>
            </a:r>
          </a:p>
          <a:p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常用四种方式：</a:t>
            </a:r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+mj-lt"/>
              <a:buAutoNum type="arabicPeriod"/>
            </a:pP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将文件看作一个列表，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for line in f:     line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是一个字符串</a:t>
            </a:r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+mj-lt"/>
              <a:buAutoNum type="arabicPeriod"/>
            </a:pP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read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方法：一次读取全部文件内容，整个文件形成一个字符串  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txt=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>
              <a:buFont typeface="+mj-lt"/>
              <a:buAutoNum type="arabicPeriod"/>
            </a:pP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方法：一次读取文件中的一行，一行形成一个字符串   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line=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>
              <a:buFont typeface="+mj-lt"/>
              <a:buAutoNum type="arabicPeriod"/>
            </a:pP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readlines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方法：一次读取文件中的所有行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kumimoji="1"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以行为单位形成列表，即列表中的每个元素，是文件的一行</a:t>
            </a:r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allLinie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kumimoji="1"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kumimoji="1"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endParaRPr kumimoji="1"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089922D-F8BA-07DD-A7A2-E2C148932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76672"/>
            <a:ext cx="3564396" cy="523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kumimoji="1"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6.2.2  </a:t>
            </a:r>
            <a:r>
              <a:rPr kumimoji="1"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文件的读写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976B3D-9C39-AE23-A053-A6F69ED96F58}"/>
              </a:ext>
            </a:extLst>
          </p:cNvPr>
          <p:cNvSpPr/>
          <p:nvPr/>
        </p:nvSpPr>
        <p:spPr>
          <a:xfrm>
            <a:off x="509909" y="1062790"/>
            <a:ext cx="8124181" cy="51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0025">
              <a:lnSpc>
                <a:spcPct val="150000"/>
              </a:lnSpc>
              <a:spcBef>
                <a:spcPts val="225"/>
              </a:spcBef>
              <a:spcAft>
                <a:spcPts val="0"/>
              </a:spcAft>
            </a:pP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．读文件</a:t>
            </a:r>
          </a:p>
        </p:txBody>
      </p:sp>
    </p:spTree>
    <p:extLst>
      <p:ext uri="{BB962C8B-B14F-4D97-AF65-F5344CB8AC3E}">
        <p14:creationId xmlns:p14="http://schemas.microsoft.com/office/powerpoint/2010/main" val="119599283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64704" y="1106742"/>
            <a:ext cx="3564396" cy="52378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6.2.2 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文件的读写</a:t>
            </a:r>
          </a:p>
        </p:txBody>
      </p:sp>
      <p:sp>
        <p:nvSpPr>
          <p:cNvPr id="7" name="矩形 6"/>
          <p:cNvSpPr/>
          <p:nvPr/>
        </p:nvSpPr>
        <p:spPr>
          <a:xfrm>
            <a:off x="342672" y="2578617"/>
            <a:ext cx="3479006" cy="1506695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lvl="2" indent="-621506">
              <a:lnSpc>
                <a:spcPct val="125000"/>
              </a:lnSpc>
            </a:pPr>
            <a:r>
              <a:rPr kumimoji="1" lang="en-US" altLang="zh-CN" sz="15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5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直接遍历可迭代的文件对象</a:t>
            </a:r>
            <a:endParaRPr kumimoji="1" lang="en-US" altLang="zh-CN" sz="15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indent="-621506">
              <a:lnSpc>
                <a:spcPct val="125000"/>
              </a:lnSpc>
            </a:pP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f=open(</a:t>
            </a:r>
            <a:r>
              <a:rPr kumimoji="1" lang="en-US" altLang="zh-CN" sz="1500" dirty="0" err="1">
                <a:latin typeface="+mn-ea"/>
                <a:ea typeface="+mn-ea"/>
                <a:cs typeface="Times New Roman" panose="02020603050405020304" pitchFamily="18" charset="0"/>
              </a:rPr>
              <a:t>r</a:t>
            </a:r>
            <a:r>
              <a:rPr kumimoji="1" lang="en-US" altLang="zh-CN" sz="1500" dirty="0" err="1">
                <a:latin typeface="+mn-ea"/>
                <a:cs typeface="Times New Roman" panose="02020603050405020304" pitchFamily="18" charset="0"/>
              </a:rPr>
              <a:t>"</a:t>
            </a:r>
            <a:r>
              <a:rPr kumimoji="1" lang="en-US" altLang="zh-CN" sz="1500" dirty="0" err="1">
                <a:latin typeface="+mn-ea"/>
                <a:ea typeface="+mn-ea"/>
                <a:cs typeface="Times New Roman" panose="02020603050405020304" pitchFamily="18" charset="0"/>
              </a:rPr>
              <a:t>d</a:t>
            </a: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:\data\ </a:t>
            </a:r>
            <a:r>
              <a:rPr kumimoji="1" lang="en-US" altLang="zh-CN" sz="1500" dirty="0" err="1">
                <a:latin typeface="+mn-ea"/>
                <a:ea typeface="+mn-ea"/>
                <a:cs typeface="Times New Roman" panose="02020603050405020304" pitchFamily="18" charset="0"/>
              </a:rPr>
              <a:t>source.txt","r</a:t>
            </a: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")</a:t>
            </a:r>
          </a:p>
          <a:p>
            <a:pPr lvl="2" indent="-621506">
              <a:lnSpc>
                <a:spcPct val="125000"/>
              </a:lnSpc>
            </a:pPr>
            <a:r>
              <a:rPr kumimoji="1" lang="en-US" altLang="zh-CN" sz="1500" b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for line in f</a:t>
            </a: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:</a:t>
            </a:r>
          </a:p>
          <a:p>
            <a:pPr lvl="2" indent="-621506">
              <a:lnSpc>
                <a:spcPct val="125000"/>
              </a:lnSpc>
            </a:pP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    print(line, end="")</a:t>
            </a:r>
          </a:p>
          <a:p>
            <a:pPr lvl="2" indent="-621506">
              <a:lnSpc>
                <a:spcPct val="125000"/>
              </a:lnSpc>
            </a:pPr>
            <a:r>
              <a:rPr kumimoji="1" lang="en-US" altLang="zh-CN" sz="1500" dirty="0" err="1">
                <a:latin typeface="+mn-ea"/>
                <a:ea typeface="+mn-ea"/>
                <a:cs typeface="Times New Roman" panose="02020603050405020304" pitchFamily="18" charset="0"/>
              </a:rPr>
              <a:t>f.close</a:t>
            </a: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endParaRPr kumimoji="1" lang="zh-CN" altLang="zh-CN" sz="15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78055" y="2672916"/>
            <a:ext cx="4814888" cy="1216102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lvl="2" indent="-621506">
              <a:lnSpc>
                <a:spcPct val="125000"/>
              </a:lnSpc>
            </a:pP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#</a:t>
            </a:r>
            <a:r>
              <a:rPr kumimoji="1" lang="zh-CN" altLang="en-US" sz="1500" dirty="0">
                <a:latin typeface="+mn-ea"/>
                <a:ea typeface="+mn-ea"/>
                <a:cs typeface="Times New Roman" panose="02020603050405020304" pitchFamily="18" charset="0"/>
              </a:rPr>
              <a:t>用</a:t>
            </a: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read</a:t>
            </a:r>
            <a:r>
              <a:rPr kumimoji="1" lang="zh-CN" altLang="en-US" sz="1500" dirty="0">
                <a:latin typeface="+mn-ea"/>
                <a:ea typeface="+mn-ea"/>
                <a:cs typeface="Times New Roman" panose="02020603050405020304" pitchFamily="18" charset="0"/>
              </a:rPr>
              <a:t>读取中文文本文件，指定编码方式</a:t>
            </a:r>
            <a:endParaRPr kumimoji="1" lang="en-US" altLang="zh-CN" sz="15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lvl="2" indent="-621506">
              <a:lnSpc>
                <a:spcPct val="125000"/>
              </a:lnSpc>
            </a:pP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all=open(</a:t>
            </a:r>
            <a:r>
              <a:rPr kumimoji="1" lang="en-US" altLang="zh-CN" sz="1500" dirty="0" err="1">
                <a:latin typeface="+mn-ea"/>
                <a:ea typeface="+mn-ea"/>
                <a:cs typeface="Times New Roman" panose="02020603050405020304" pitchFamily="18" charset="0"/>
              </a:rPr>
              <a:t>r</a:t>
            </a:r>
            <a:r>
              <a:rPr kumimoji="1" lang="en-US" altLang="zh-CN" sz="1500" dirty="0" err="1">
                <a:latin typeface="+mn-ea"/>
                <a:cs typeface="Times New Roman" panose="02020603050405020304" pitchFamily="18" charset="0"/>
              </a:rPr>
              <a:t>"</a:t>
            </a:r>
            <a:r>
              <a:rPr kumimoji="1" lang="en-US" altLang="zh-CN" sz="1500" dirty="0" err="1">
                <a:latin typeface="+mn-ea"/>
                <a:ea typeface="+mn-ea"/>
                <a:cs typeface="Times New Roman" panose="02020603050405020304" pitchFamily="18" charset="0"/>
              </a:rPr>
              <a:t>d</a:t>
            </a: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:\data\drunks.txt", encoding="utf-8")</a:t>
            </a:r>
            <a:r>
              <a:rPr kumimoji="1" lang="en-US" altLang="zh-CN" sz="1500" b="1" dirty="0">
                <a:solidFill>
                  <a:srgbClr val="00B050"/>
                </a:solidFill>
                <a:latin typeface="+mn-ea"/>
                <a:ea typeface="+mn-ea"/>
                <a:cs typeface="Times New Roman" panose="02020603050405020304" pitchFamily="18" charset="0"/>
              </a:rPr>
              <a:t>.read()</a:t>
            </a:r>
          </a:p>
          <a:p>
            <a:pPr lvl="2" indent="-621506">
              <a:lnSpc>
                <a:spcPct val="125000"/>
              </a:lnSpc>
            </a:pPr>
            <a:r>
              <a:rPr kumimoji="1" lang="en-US" altLang="zh-CN" sz="1500" dirty="0">
                <a:latin typeface="+mn-ea"/>
                <a:ea typeface="+mn-ea"/>
                <a:cs typeface="Times New Roman" panose="02020603050405020304" pitchFamily="18" charset="0"/>
              </a:rPr>
              <a:t>print(all)   #all</a:t>
            </a:r>
            <a:r>
              <a:rPr kumimoji="1" lang="zh-CN" altLang="en-US" sz="1500" dirty="0">
                <a:latin typeface="+mn-ea"/>
                <a:ea typeface="+mn-ea"/>
                <a:cs typeface="Times New Roman" panose="02020603050405020304" pitchFamily="18" charset="0"/>
              </a:rPr>
              <a:t>中存放的是一个字符串</a:t>
            </a:r>
            <a:endParaRPr kumimoji="1" lang="zh-CN" altLang="zh-CN" sz="15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4704" y="1556862"/>
            <a:ext cx="8124181" cy="51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0025">
              <a:lnSpc>
                <a:spcPct val="150000"/>
              </a:lnSpc>
              <a:spcBef>
                <a:spcPts val="225"/>
              </a:spcBef>
              <a:spcAft>
                <a:spcPts val="0"/>
              </a:spcAft>
            </a:pP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．读文件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C29BAE-4127-4F4D-B643-B650D1A8A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347102"/>
            <a:ext cx="2493187" cy="6572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0005B91-E75D-418B-8A82-6E013E1D1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055" y="3861048"/>
            <a:ext cx="3246858" cy="173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77342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66" y="1700809"/>
            <a:ext cx="8473720" cy="445506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900113" lvl="1" indent="-3429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Ø"/>
            </a:pP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字符串变量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zh-CN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read()                   </a:t>
            </a:r>
            <a:r>
              <a:rPr kumimoji="1" lang="en-US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kumimoji="1" lang="en-US" altLang="zh-CN" sz="13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返回</a:t>
            </a:r>
            <a:r>
              <a:rPr kumimoji="1"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文件的</a:t>
            </a:r>
            <a:r>
              <a:rPr kumimoji="1" lang="zh-CN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所有内容</a:t>
            </a:r>
            <a:endParaRPr kumimoji="1" lang="zh-CN" altLang="zh-CN" sz="2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kumimoji="1" lang="zh-CN" altLang="en-US" sz="15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例：  </a:t>
            </a:r>
            <a:r>
              <a:rPr kumimoji="1" lang="en-US" altLang="zh-CN" sz="1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=open(</a:t>
            </a:r>
            <a:r>
              <a:rPr kumimoji="1" lang="en-US" altLang="zh-CN" sz="1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r"d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:\data\scores.txt", "r")     </a:t>
            </a:r>
            <a:r>
              <a:rPr kumimoji="1" lang="en-US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kumimoji="1" lang="en-US" altLang="zh-CN" sz="13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135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kumimoji="1"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是一个文件对象</a:t>
            </a:r>
            <a:endParaRPr kumimoji="1" lang="zh-CN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all=</a:t>
            </a:r>
            <a:r>
              <a:rPr kumimoji="1" lang="en-US" altLang="zh-CN" sz="1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fp.read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                                      </a:t>
            </a:r>
            <a:r>
              <a:rPr kumimoji="1" lang="en-US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all</a:t>
            </a:r>
            <a:r>
              <a:rPr kumimoji="1"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是一个字符串变量</a:t>
            </a:r>
            <a:endParaRPr kumimoji="1" lang="zh-CN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print(all)</a:t>
            </a:r>
          </a:p>
          <a:p>
            <a:pPr marL="900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字符串变量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zh-CN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.read(size)        </a:t>
            </a:r>
            <a:r>
              <a:rPr kumimoji="1" lang="en-US" altLang="zh-CN" sz="13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读取指定字符数（中英文都按</a:t>
            </a:r>
            <a:r>
              <a:rPr lang="en-US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个计数）</a:t>
            </a:r>
            <a:endParaRPr lang="en-US" altLang="zh-CN" sz="13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00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位置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zh-CN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.tell()                           </a:t>
            </a:r>
            <a:r>
              <a:rPr kumimoji="1" lang="en-US" altLang="zh-CN" sz="13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kumimoji="1"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返回文件读写的</a:t>
            </a:r>
            <a:r>
              <a:rPr lang="zh-CN" altLang="en-US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当前位置，按字节计数</a:t>
            </a:r>
            <a:endParaRPr kumimoji="1" lang="zh-CN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0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位置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zh-CN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.seek(offset[,from]) </a:t>
            </a:r>
            <a:r>
              <a:rPr lang="en-US" altLang="zh-CN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 </a:t>
            </a:r>
            <a:r>
              <a:rPr lang="zh-CN" altLang="en-US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改变当前文件的位置</a:t>
            </a:r>
            <a:endParaRPr lang="en-US" altLang="zh-CN" sz="18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offset:</a:t>
            </a:r>
            <a:r>
              <a:rPr lang="zh-CN" altLang="en-US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表示要移动的字节数        </a:t>
            </a:r>
            <a:r>
              <a:rPr lang="en-US" altLang="zh-CN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汉字按</a:t>
            </a:r>
            <a:r>
              <a:rPr lang="en-US" altLang="zh-CN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个字节计数</a:t>
            </a:r>
            <a:endParaRPr lang="en-US" altLang="zh-CN" sz="1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from:</a:t>
            </a:r>
            <a:r>
              <a:rPr lang="zh-CN" altLang="en-US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指定开始移动的参考位置</a:t>
            </a:r>
            <a:r>
              <a:rPr lang="zh-CN" altLang="en-US" sz="1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偏移为非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时，打开方式必须用</a:t>
            </a:r>
            <a:r>
              <a:rPr kumimoji="1" lang="en-US" altLang="zh-CN" sz="1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rb</a:t>
            </a:r>
            <a:r>
              <a:rPr kumimoji="1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8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spcBef>
                <a:spcPts val="0"/>
              </a:spcBef>
            </a:pPr>
            <a:r>
              <a:rPr lang="en-US" altLang="zh-CN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</a:t>
            </a:r>
            <a:r>
              <a:rPr lang="zh-CN" altLang="en-US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：表示文件开头</a:t>
            </a:r>
            <a:endParaRPr lang="en-US" altLang="zh-CN" sz="135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spcBef>
                <a:spcPts val="0"/>
              </a:spcBef>
            </a:pPr>
            <a:r>
              <a:rPr lang="en-US" altLang="zh-CN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r>
              <a:rPr lang="zh-CN" altLang="en-US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：表示当前位置</a:t>
            </a:r>
            <a:endParaRPr lang="en-US" altLang="zh-CN" sz="135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spcBef>
                <a:spcPts val="0"/>
              </a:spcBef>
            </a:pPr>
            <a:r>
              <a:rPr lang="en-US" altLang="zh-CN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r>
              <a:rPr lang="zh-CN" altLang="en-US" sz="135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：表示文件末尾</a:t>
            </a:r>
            <a:endParaRPr kumimoji="1" lang="zh-CN" altLang="zh-CN" sz="13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728" y="1160748"/>
            <a:ext cx="8275638" cy="452550"/>
          </a:xfrm>
          <a:ln>
            <a:noFill/>
          </a:ln>
        </p:spPr>
        <p:txBody>
          <a:bodyPr/>
          <a:lstStyle/>
          <a:p>
            <a:r>
              <a:rPr kumimoji="1" lang="en-US" altLang="zh-CN" sz="2400" dirty="0">
                <a:cs typeface="Times New Roman" panose="02020603050405020304" pitchFamily="18" charset="0"/>
              </a:rPr>
              <a:t>(1) read</a:t>
            </a:r>
            <a:r>
              <a:rPr kumimoji="1" lang="zh-CN" altLang="zh-CN" sz="2400" dirty="0">
                <a:cs typeface="Times New Roman" panose="02020603050405020304" pitchFamily="18" charset="0"/>
              </a:rPr>
              <a:t>方法</a:t>
            </a:r>
            <a:r>
              <a:rPr kumimoji="1" lang="zh-CN" altLang="en-US" sz="2400" dirty="0">
                <a:cs typeface="Times New Roman" panose="02020603050405020304" pitchFamily="18" charset="0"/>
              </a:rPr>
              <a:t>：从一个打开的文件中读取字符串</a:t>
            </a:r>
            <a:endParaRPr kumimoji="1" lang="zh-CN" altLang="zh-CN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02585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562" y="1646802"/>
            <a:ext cx="7776864" cy="3834426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=open(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r"D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:\data\tt.txt","r")                 # 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注意：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是一个可迭代对象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str = 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fp.read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(10)                                     # 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读取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10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个字符</a:t>
            </a:r>
            <a:endParaRPr lang="en-US" altLang="zh-CN" sz="165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print( "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读取的字符串是 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", 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str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position = 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fp.tell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()                                 # 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查找当前位置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print( “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当前文件位置 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”, position)      # 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显示当前位置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position = 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fp.seek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(0, 0)                        # 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把指针再次重新定位到文件开头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str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= 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fp.read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(10)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print( "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重新读取字符串 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", </a:t>
            </a: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str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5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fp.close</a:t>
            </a:r>
            <a:r>
              <a:rPr lang="en-US" altLang="zh-CN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()                                              # </a:t>
            </a:r>
            <a:r>
              <a:rPr lang="zh-CN" altLang="en-US" sz="16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关闭打开的文件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29562" y="944725"/>
            <a:ext cx="8275638" cy="651272"/>
          </a:xfrm>
        </p:spPr>
        <p:txBody>
          <a:bodyPr/>
          <a:lstStyle/>
          <a:p>
            <a:r>
              <a:rPr kumimoji="1" lang="zh-CN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读文件例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469888397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86F16-E3C2-4A2F-A7D4-7674357C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450641"/>
            <a:ext cx="8275638" cy="868363"/>
          </a:xfrm>
        </p:spPr>
        <p:txBody>
          <a:bodyPr/>
          <a:lstStyle/>
          <a:p>
            <a:r>
              <a:rPr lang="zh-CN" altLang="en-US" dirty="0"/>
              <a:t>读文件示例：读入文件内容，查找其中单词 </a:t>
            </a:r>
            <a:r>
              <a:rPr lang="en-US" altLang="zh-CN" dirty="0"/>
              <a:t>window  </a:t>
            </a:r>
            <a:r>
              <a:rPr lang="zh-CN" altLang="en-US" dirty="0"/>
              <a:t>出现的次数。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C5D7A-635A-4378-A6D8-1AB3E9B82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8" y="3935489"/>
            <a:ext cx="8293100" cy="208813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en-US" altLang="zh-CN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r'd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:\python\data-ex\</a:t>
            </a:r>
            <a:r>
              <a:rPr lang="en-US" altLang="zh-CN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window.txt','r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s=</a:t>
            </a:r>
            <a:r>
              <a:rPr lang="en-US" altLang="zh-CN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f.read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print(</a:t>
            </a:r>
            <a:r>
              <a:rPr lang="en-US" altLang="zh-CN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s.count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('window'))</a:t>
            </a:r>
          </a:p>
          <a:p>
            <a:pPr marL="0" indent="0">
              <a:buNone/>
            </a:pPr>
            <a:r>
              <a:rPr lang="en-US" altLang="zh-CN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CBC5D7A-635A-4378-A6D8-1AB3E9B82ABD}"/>
              </a:ext>
            </a:extLst>
          </p:cNvPr>
          <p:cNvSpPr txBox="1">
            <a:spLocks/>
          </p:cNvSpPr>
          <p:nvPr/>
        </p:nvSpPr>
        <p:spPr bwMode="auto">
          <a:xfrm>
            <a:off x="415133" y="1527451"/>
            <a:ext cx="8293100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分析：打开文件，将文件内容全部读入一个字符串中，然后用字符串对象的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count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函数统计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window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出现的次数</a:t>
            </a:r>
            <a:endParaRPr lang="en-US" altLang="zh-CN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FontTx/>
              <a:buNone/>
            </a:pPr>
            <a:r>
              <a:rPr lang="zh-CN" altLang="en-US" kern="0" dirty="0"/>
              <a:t>文件内容如下：</a:t>
            </a:r>
            <a:r>
              <a:rPr lang="en-US" altLang="zh-CN" kern="0" dirty="0"/>
              <a:t>window.txt</a:t>
            </a:r>
          </a:p>
          <a:p>
            <a:pPr marL="0" indent="0">
              <a:buFontTx/>
              <a:buNone/>
            </a:pPr>
            <a:r>
              <a:rPr lang="en-US" altLang="zh-CN" kern="0" dirty="0"/>
              <a:t>Open the window. Listen, The sea wind is calling now. </a:t>
            </a:r>
            <a:r>
              <a:rPr lang="en-US" altLang="zh-CN" kern="0" dirty="0" err="1"/>
              <a:t>Colse</a:t>
            </a:r>
            <a:r>
              <a:rPr lang="en-US" altLang="zh-CN" kern="0" dirty="0"/>
              <a:t> the window at once.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1206259990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79422" y="852963"/>
            <a:ext cx="8074516" cy="1847521"/>
          </a:xfr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变量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文件对象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zh-CN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返回值是字符串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文件中的一行（当前行）</a:t>
            </a:r>
            <a:endParaRPr lang="en-US" altLang="zh-CN" kern="12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执行一次，读当前一行，自动转下一行，备读</a:t>
            </a:r>
            <a:endParaRPr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到</a:t>
            </a:r>
            <a:r>
              <a:rPr lang="zh-CN" altLang="en-US" kern="1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文件结尾，返回空字符串   </a:t>
            </a:r>
            <a:endParaRPr lang="en-US" altLang="zh-CN" kern="12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kumimoji="1" lang="zh-CN" altLang="zh-CN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3" indent="0" eaLnBrk="1" hangingPunct="1">
              <a:lnSpc>
                <a:spcPct val="90000"/>
              </a:lnSpc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endParaRPr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lnSpc>
                <a:spcPct val="90000"/>
              </a:lnSpc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</a:pPr>
            <a:r>
              <a:rPr lang="en-US" altLang="zh-CN" kern="1200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</a:t>
            </a:r>
            <a:r>
              <a:rPr lang="en-US" altLang="zh-CN" kern="1200" dirty="0">
                <a:latin typeface="等线" panose="02010600030101010101" pitchFamily="2" charset="-122"/>
                <a:ea typeface="等线" panose="02010600030101010101" pitchFamily="2" charset="-122"/>
              </a:rPr>
              <a:t>()   </a:t>
            </a:r>
            <a:r>
              <a:rPr lang="zh-CN" altLang="en-US" kern="1200" dirty="0">
                <a:latin typeface="等线" panose="02010600030101010101" pitchFamily="2" charset="-122"/>
                <a:ea typeface="等线" panose="02010600030101010101" pitchFamily="2" charset="-122"/>
              </a:rPr>
              <a:t>从文件中读一行，用一个字符串返回</a:t>
            </a:r>
            <a:endParaRPr lang="en-US" altLang="zh-CN" kern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537169" y="188640"/>
            <a:ext cx="7982489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3 </a:t>
            </a:r>
            <a:r>
              <a:rPr lang="en-US" altLang="zh-CN" dirty="0" err="1"/>
              <a:t>readline</a:t>
            </a:r>
            <a:r>
              <a:rPr lang="zh-CN" altLang="en-US" dirty="0"/>
              <a:t>方法</a:t>
            </a:r>
            <a:endParaRPr lang="en-US" altLang="zh-CN" dirty="0"/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470860" y="2780928"/>
            <a:ext cx="7678221" cy="186377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例如  打开指定文件读一行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f=open('d:\\python\\data-ex\\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student.txt','r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  <a:endParaRPr lang="zh-CN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str =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() #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读文件的一行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b="1" dirty="0" err="1"/>
              <a:t>f.close</a:t>
            </a:r>
            <a:r>
              <a:rPr lang="en-US" altLang="zh-CN" sz="2400" b="1" dirty="0"/>
              <a:t> ()</a:t>
            </a:r>
            <a:endParaRPr lang="zh-CN" altLang="zh-CN" sz="2400" b="1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70860" y="4725144"/>
            <a:ext cx="8431764" cy="15481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68263">
              <a:lnSpc>
                <a:spcPct val="90000"/>
              </a:lnSpc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 sz="2400" b="1">
                <a:latin typeface="+mn-lt"/>
                <a:ea typeface="+mn-ea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注意：</a:t>
            </a:r>
            <a:endParaRPr lang="en-US" altLang="zh-CN" dirty="0">
              <a:solidFill>
                <a:srgbClr val="C00000"/>
              </a:solidFill>
            </a:endParaRPr>
          </a:p>
          <a:p>
            <a:pPr marL="411163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读出的内容中，</a:t>
            </a:r>
            <a:r>
              <a:rPr lang="zh-CN" altLang="en-US" dirty="0">
                <a:solidFill>
                  <a:srgbClr val="FF0000"/>
                </a:solidFill>
              </a:rPr>
              <a:t>最后有换行符</a:t>
            </a:r>
            <a:endParaRPr lang="en-US" altLang="zh-CN" dirty="0">
              <a:solidFill>
                <a:srgbClr val="FF0000"/>
              </a:solidFill>
            </a:endParaRPr>
          </a:p>
          <a:p>
            <a:pPr marL="411163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读到文件结尾时，</a:t>
            </a:r>
            <a:r>
              <a:rPr lang="zh-CN" altLang="en-US" dirty="0">
                <a:solidFill>
                  <a:srgbClr val="FF0000"/>
                </a:solidFill>
              </a:rPr>
              <a:t>得到空串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用来判断是否已读到文件结尾）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2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F687BBC-5CB6-4136-A8B4-D5C20150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22065"/>
            <a:ext cx="8275638" cy="1259160"/>
          </a:xfrm>
        </p:spPr>
        <p:txBody>
          <a:bodyPr/>
          <a:lstStyle/>
          <a:p>
            <a:r>
              <a:rPr lang="en-US" altLang="zh-CN" dirty="0" err="1">
                <a:solidFill>
                  <a:srgbClr val="FF0000"/>
                </a:solidFill>
              </a:rPr>
              <a:t>readline</a:t>
            </a:r>
            <a:r>
              <a:rPr lang="zh-CN" altLang="en-US" dirty="0">
                <a:solidFill>
                  <a:srgbClr val="FF0000"/>
                </a:solidFill>
              </a:rPr>
              <a:t>的典型例子，判断文件结尾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例子 读学生成绩文件，直到最后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7AAAD8-90EA-4BF9-9828-27DA22E3E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772816"/>
            <a:ext cx="9036496" cy="4094163"/>
          </a:xfrm>
        </p:spPr>
        <p:txBody>
          <a:bodyPr/>
          <a:lstStyle/>
          <a:p>
            <a:pPr marL="68263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=open(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’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d:\\python\\data-ex\\student.txt','r')</a:t>
            </a:r>
            <a:endParaRPr lang="zh-CN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lvl="1" indent="0">
              <a:buNone/>
            </a:pPr>
            <a:r>
              <a:rPr kumimoji="1" lang="en-US" altLang="zh-CN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 True:</a:t>
            </a:r>
            <a:endParaRPr kumimoji="1" lang="zh-CN" altLang="zh-CN" sz="2400" b="1" dirty="0">
              <a:solidFill>
                <a:srgbClr val="000066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kumimoji="1" lang="en-US" altLang="zh-CN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</a:t>
            </a:r>
            <a:r>
              <a:rPr kumimoji="1"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fp.readline</a:t>
            </a:r>
            <a:r>
              <a:rPr kumimoji="1"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kumimoji="1" lang="zh-CN" altLang="zh-CN" sz="24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if not 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</a:t>
            </a:r>
            <a:r>
              <a:rPr kumimoji="1"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zh-CN" sz="24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break</a:t>
            </a:r>
            <a:endParaRPr kumimoji="1" lang="zh-CN" altLang="zh-CN" sz="24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kumimoji="1" lang="en-US" altLang="zh-CN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print(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</a:t>
            </a:r>
            <a:r>
              <a:rPr kumimoji="1" lang="en-US" altLang="zh-CN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end=“”)  #   </a:t>
            </a:r>
            <a:r>
              <a:rPr kumimoji="1" lang="zh-CN" altLang="en-US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测试  如果不管 </a:t>
            </a:r>
            <a:r>
              <a:rPr kumimoji="1" lang="en-US" altLang="zh-CN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end,</a:t>
            </a:r>
            <a:r>
              <a:rPr kumimoji="1" lang="zh-CN" altLang="en-US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结果是什么？</a:t>
            </a:r>
            <a:endParaRPr kumimoji="1" lang="zh-CN" altLang="zh-CN" sz="2400" b="1" dirty="0">
              <a:solidFill>
                <a:srgbClr val="000066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kumimoji="1" lang="en-US" altLang="zh-CN" sz="2400" b="1" dirty="0" err="1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fp.close</a:t>
            </a:r>
            <a:r>
              <a:rPr kumimoji="1" lang="en-US" altLang="zh-CN" sz="2400" b="1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kumimoji="1" lang="zh-CN" altLang="zh-CN" sz="2400" b="1" dirty="0">
              <a:solidFill>
                <a:srgbClr val="000066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601711-2B12-4940-9CBC-0D85AC28AF9B}"/>
              </a:ext>
            </a:extLst>
          </p:cNvPr>
          <p:cNvSpPr txBox="1"/>
          <p:nvPr/>
        </p:nvSpPr>
        <p:spPr>
          <a:xfrm>
            <a:off x="3491880" y="2879626"/>
            <a:ext cx="5256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先判断是否到达文件结尾，三个关键语句，</a:t>
            </a:r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>
                <a:solidFill>
                  <a:srgbClr val="FF0000"/>
                </a:solidFill>
              </a:rPr>
              <a:t>判断 ，串非空就是真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A725D96-9944-4AFE-884C-F05B092B6EF3}"/>
              </a:ext>
            </a:extLst>
          </p:cNvPr>
          <p:cNvCxnSpPr>
            <a:stCxn id="8" idx="1"/>
          </p:cNvCxnSpPr>
          <p:nvPr/>
        </p:nvCxnSpPr>
        <p:spPr bwMode="auto">
          <a:xfrm flipH="1">
            <a:off x="2195736" y="3295125"/>
            <a:ext cx="1296144" cy="2058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21991040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6566" y="1146245"/>
            <a:ext cx="8507922" cy="2880320"/>
          </a:xfr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f=open('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学生成绩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txt','r',encoding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='utf-8')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while True: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()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if not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	break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print 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612201" y="349680"/>
            <a:ext cx="7982489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例子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661" y="1989146"/>
            <a:ext cx="4928036" cy="2016224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26714" y="4437112"/>
            <a:ext cx="8326938" cy="5822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为何出现空行？</a:t>
            </a:r>
            <a:endParaRPr lang="zh-CN" altLang="zh-CN" sz="2400" b="1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93534" y="5451082"/>
            <a:ext cx="8326938" cy="5822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读入时，每行后面的</a:t>
            </a:r>
            <a:r>
              <a:rPr lang="en-US" altLang="zh-CN" sz="2400" b="1" dirty="0"/>
              <a:t>\n</a:t>
            </a:r>
            <a:r>
              <a:rPr lang="zh-CN" altLang="en-US" sz="2400" b="1" dirty="0"/>
              <a:t>也读入了，怎么改？分片</a:t>
            </a:r>
            <a:endParaRPr lang="zh-CN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62383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26714" y="1124744"/>
            <a:ext cx="8293758" cy="2880320"/>
          </a:xfr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’d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:\python\data-ex\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学生对象表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txt','r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while True: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()  #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或直接分片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[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:-1]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if not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	break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print 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[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:-1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])    #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去回车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en-US" altLang="zh-CN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612201" y="349680"/>
            <a:ext cx="7982489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例子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1" y="4365104"/>
            <a:ext cx="7692055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21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58854"/>
            <a:ext cx="828092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readlines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方法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23528" y="2739928"/>
            <a:ext cx="8640960" cy="22322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f=open(‘D:/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学生成绩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txt’,‘r’,encoding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=‘utf-8’)   # 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文件有汉字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lines=</a:t>
            </a:r>
            <a:r>
              <a:rPr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()   # lines</a:t>
            </a:r>
            <a:r>
              <a:rPr lang="zh-CN" altLang="en-US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是一个列表</a:t>
            </a:r>
            <a:endParaRPr lang="en-US" altLang="zh-CN" sz="24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for line in lines: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   print (line[:-1])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zh-CN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97230" y="5013176"/>
            <a:ext cx="8280920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说明：</a:t>
            </a:r>
            <a:endParaRPr lang="en-US" altLang="zh-CN" sz="24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lines=</a:t>
            </a:r>
            <a:r>
              <a:rPr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();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lines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是一个列表，每个元素是文件的一行</a:t>
            </a:r>
            <a:endParaRPr lang="zh-CN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73C8FA-CCD6-41AE-B42C-587F067DD52B}"/>
              </a:ext>
            </a:extLst>
          </p:cNvPr>
          <p:cNvSpPr txBox="1"/>
          <p:nvPr/>
        </p:nvSpPr>
        <p:spPr>
          <a:xfrm>
            <a:off x="323528" y="1196752"/>
            <a:ext cx="8352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readlines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文件对象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readlines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把文件中的多行数据一次性读入</a:t>
            </a:r>
            <a:r>
              <a:rPr lang="en-US" altLang="zh-CN" sz="2400" b="1" dirty="0"/>
              <a:t>,</a:t>
            </a:r>
            <a:r>
              <a:rPr kumimoji="1"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返回值是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列表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每一行是列表的一个元素</a:t>
            </a:r>
          </a:p>
        </p:txBody>
      </p:sp>
    </p:spTree>
    <p:extLst>
      <p:ext uri="{BB962C8B-B14F-4D97-AF65-F5344CB8AC3E}">
        <p14:creationId xmlns:p14="http://schemas.microsoft.com/office/powerpoint/2010/main" val="112472466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75F0F-B0A7-488C-870B-7E1F1240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读文件示例：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15C25C-D6A5-47F0-8A32-67800E7BF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31998"/>
            <a:ext cx="8892480" cy="51333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读入文件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file2.txt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内容，统计文件行数，并将字母大小写转换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非字母不转换。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readlines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读文件到列表，对列表遍历，一次一行（外循环）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每行是个字符串，遍历它的每个字符，逐字符转换（内循环）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由于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字符串的元素不允许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更改，所以需要用新的变量记录结果，通过字符串的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+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运算实现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如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s=‘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aBcdK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’    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s[0]=s[0].upper()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错误。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转换逻辑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  ‘a’&lt;=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&lt;='z’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)-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(‘a’)+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(‘A’))  #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或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ch.upper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5163018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26161-A36A-475B-BDD4-FCDDA95B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readlines</a:t>
            </a:r>
            <a:r>
              <a:rPr lang="zh-CN" altLang="en-US" dirty="0"/>
              <a:t>方法：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D9A5F-B4C9-444D-A7F2-A8D9409DB22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A7D9FF"/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f=open(</a:t>
            </a:r>
            <a:r>
              <a:rPr lang="en-US" altLang="zh-CN" dirty="0" err="1"/>
              <a:t>r'd</a:t>
            </a:r>
            <a:r>
              <a:rPr lang="en-US" altLang="zh-CN" dirty="0"/>
              <a:t>:\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python\data-ex\file2.txt</a:t>
            </a:r>
            <a:r>
              <a:rPr lang="en-US" altLang="zh-CN" dirty="0"/>
              <a:t>','r')</a:t>
            </a:r>
          </a:p>
          <a:p>
            <a:pPr marL="0" indent="0">
              <a:buNone/>
            </a:pPr>
            <a:r>
              <a:rPr lang="en-US" altLang="zh-CN" dirty="0"/>
              <a:t>lines=</a:t>
            </a:r>
            <a:r>
              <a:rPr lang="en-US" altLang="zh-CN" dirty="0" err="1"/>
              <a:t>f.readlines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str1=""</a:t>
            </a:r>
          </a:p>
          <a:p>
            <a:pPr marL="0" indent="0">
              <a:buNone/>
            </a:pPr>
            <a:r>
              <a:rPr lang="en-US" altLang="zh-CN" dirty="0"/>
              <a:t>n=</a:t>
            </a:r>
            <a:r>
              <a:rPr lang="en-US" altLang="zh-CN" dirty="0" err="1"/>
              <a:t>len</a:t>
            </a:r>
            <a:r>
              <a:rPr lang="en-US" altLang="zh-CN" dirty="0"/>
              <a:t>(lines)</a:t>
            </a:r>
          </a:p>
          <a:p>
            <a:pPr marL="0" indent="0">
              <a:buNone/>
            </a:pPr>
            <a:r>
              <a:rPr lang="en-US" altLang="zh-CN" dirty="0"/>
              <a:t>for s in lines:    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548540-B314-447B-890A-CAB0868D2EBD}"/>
              </a:ext>
            </a:extLst>
          </p:cNvPr>
          <p:cNvSpPr txBox="1"/>
          <p:nvPr/>
        </p:nvSpPr>
        <p:spPr>
          <a:xfrm>
            <a:off x="3203848" y="1824652"/>
            <a:ext cx="5735240" cy="3477875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2000" dirty="0"/>
              <a:t> for 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 in s:</a:t>
            </a:r>
          </a:p>
          <a:p>
            <a:pPr marL="0" indent="0">
              <a:buNone/>
            </a:pPr>
            <a:r>
              <a:rPr lang="en-US" altLang="zh-CN" sz="2000" dirty="0"/>
              <a:t>        if 'A'&lt;=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&lt;='Z':</a:t>
            </a:r>
          </a:p>
          <a:p>
            <a:pPr marL="0" indent="0">
              <a:buNone/>
            </a:pPr>
            <a:r>
              <a:rPr lang="en-US" altLang="zh-CN" sz="2000" dirty="0"/>
              <a:t>            str1=str1+ </a:t>
            </a:r>
            <a:r>
              <a:rPr lang="en-US" altLang="zh-CN" sz="2000" dirty="0" err="1"/>
              <a:t>ch.lower</a:t>
            </a:r>
            <a:r>
              <a:rPr lang="en-US" altLang="zh-CN" sz="2000" dirty="0"/>
              <a:t>()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'a'&lt;=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&lt;='z':</a:t>
            </a:r>
          </a:p>
          <a:p>
            <a:pPr marL="0" indent="0">
              <a:buNone/>
            </a:pPr>
            <a:r>
              <a:rPr lang="en-US" altLang="zh-CN" sz="2000" dirty="0"/>
              <a:t>            str1=str1+ch.upper()</a:t>
            </a:r>
          </a:p>
          <a:p>
            <a:pPr marL="0" indent="0">
              <a:buNone/>
            </a:pPr>
            <a:r>
              <a:rPr lang="en-US" altLang="zh-CN" sz="2000" dirty="0"/>
              <a:t>        else:</a:t>
            </a:r>
          </a:p>
          <a:p>
            <a:pPr marL="0" indent="0">
              <a:buNone/>
            </a:pPr>
            <a:r>
              <a:rPr lang="en-US" altLang="zh-CN" sz="2000" dirty="0"/>
              <a:t>            str1+=</a:t>
            </a:r>
            <a:r>
              <a:rPr lang="en-US" altLang="zh-CN" sz="2000" dirty="0" err="1"/>
              <a:t>ch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print(“</a:t>
            </a:r>
            <a:r>
              <a:rPr lang="zh-CN" altLang="en-US" sz="2000" dirty="0"/>
              <a:t>共有</a:t>
            </a:r>
            <a:r>
              <a:rPr lang="en-US" altLang="zh-CN" sz="2000" dirty="0"/>
              <a:t>{}</a:t>
            </a:r>
            <a:r>
              <a:rPr lang="zh-CN" altLang="en-US" sz="2000" dirty="0"/>
              <a:t>行</a:t>
            </a:r>
            <a:r>
              <a:rPr lang="en-US" altLang="zh-CN" sz="2000" dirty="0"/>
              <a:t>”.format(n))</a:t>
            </a:r>
          </a:p>
          <a:p>
            <a:pPr marL="0" indent="0">
              <a:buNone/>
            </a:pPr>
            <a:r>
              <a:rPr lang="en-US" altLang="zh-CN" sz="2000" dirty="0"/>
              <a:t>print("</a:t>
            </a:r>
            <a:r>
              <a:rPr lang="zh-CN" altLang="en-US" sz="2000" dirty="0"/>
              <a:t>转换后</a:t>
            </a:r>
            <a:r>
              <a:rPr lang="en-US" altLang="zh-CN" sz="2000" dirty="0"/>
              <a:t>:")</a:t>
            </a:r>
          </a:p>
          <a:p>
            <a:pPr marL="0" indent="0">
              <a:buNone/>
            </a:pPr>
            <a:r>
              <a:rPr lang="en-US" altLang="zh-CN" sz="2000" dirty="0"/>
              <a:t>print(str1)</a:t>
            </a:r>
          </a:p>
          <a:p>
            <a:pPr marL="0" indent="0">
              <a:buNone/>
            </a:pPr>
            <a:r>
              <a:rPr lang="en-US" altLang="zh-CN" sz="2000" dirty="0" err="1"/>
              <a:t>f.close</a:t>
            </a:r>
            <a:r>
              <a:rPr lang="en-US" altLang="zh-CN" sz="2000" dirty="0"/>
              <a:t>()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8427A4-FD43-4CDD-9718-1B1C1EECA8AD}"/>
              </a:ext>
            </a:extLst>
          </p:cNvPr>
          <p:cNvSpPr txBox="1"/>
          <p:nvPr/>
        </p:nvSpPr>
        <p:spPr>
          <a:xfrm>
            <a:off x="204912" y="5610304"/>
            <a:ext cx="87849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思考：</a:t>
            </a:r>
            <a:r>
              <a:rPr lang="zh-CN" altLang="en-US" sz="2400" dirty="0"/>
              <a:t>不使用</a:t>
            </a:r>
            <a:r>
              <a:rPr lang="en-US" altLang="zh-CN" sz="2400" dirty="0"/>
              <a:t>str1</a:t>
            </a:r>
            <a:r>
              <a:rPr lang="zh-CN" altLang="en-US" sz="2400" dirty="0"/>
              <a:t>，直接修改字符串的对应字符，即：</a:t>
            </a:r>
            <a:endParaRPr lang="en-US" altLang="zh-CN" sz="2400" dirty="0"/>
          </a:p>
          <a:p>
            <a:r>
              <a:rPr lang="en-US" altLang="zh-CN" sz="2400" dirty="0"/>
              <a:t>s[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]=</a:t>
            </a:r>
            <a:r>
              <a:rPr lang="en-US" altLang="zh-CN" sz="2400" dirty="0" err="1"/>
              <a:t>chr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ord</a:t>
            </a:r>
            <a:r>
              <a:rPr lang="en-US" altLang="zh-CN" sz="2400" dirty="0"/>
              <a:t>(s[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])-</a:t>
            </a:r>
            <a:r>
              <a:rPr lang="en-US" altLang="zh-CN" sz="2400" dirty="0" err="1"/>
              <a:t>ord</a:t>
            </a:r>
            <a:r>
              <a:rPr lang="en-US" altLang="zh-CN" sz="2400" dirty="0"/>
              <a:t>(‘A’)+97)</a:t>
            </a:r>
            <a:r>
              <a:rPr lang="zh-CN" altLang="en-US" sz="2400" dirty="0"/>
              <a:t>，可以吗？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0232485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06A31-56EB-4016-A834-BDE7CAF1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回顾</a:t>
            </a:r>
            <a:r>
              <a:rPr lang="en-US" altLang="zh-CN">
                <a:solidFill>
                  <a:srgbClr val="FF0000"/>
                </a:solidFill>
              </a:rPr>
              <a:t>-</a:t>
            </a:r>
            <a:r>
              <a:rPr lang="zh-CN" altLang="en-US">
                <a:solidFill>
                  <a:srgbClr val="FF0000"/>
                </a:solidFill>
              </a:rPr>
              <a:t>读文件总结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E6DCD9-6745-42A1-BC71-A7FD553B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83" y="1124744"/>
            <a:ext cx="3891093" cy="487139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en-US" altLang="zh-CN" sz="2400" b="1" dirty="0"/>
              <a:t>f=open('</a:t>
            </a:r>
            <a:r>
              <a:rPr lang="zh-CN" altLang="en-US" sz="2400" b="1" dirty="0"/>
              <a:t>文件名</a:t>
            </a:r>
            <a:r>
              <a:rPr lang="en-US" altLang="zh-CN" sz="2400" b="1" dirty="0"/>
              <a:t>','r')</a:t>
            </a:r>
          </a:p>
          <a:p>
            <a:pPr marL="68263" indent="0" eaLnBrk="1" hangingPunct="1">
              <a:buNone/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种方式</a:t>
            </a:r>
            <a:endParaRPr lang="en-US" altLang="zh-CN" sz="2400" b="1" dirty="0"/>
          </a:p>
          <a:p>
            <a:pPr marL="525463" indent="-457200" eaLnBrk="1" hangingPunct="1">
              <a:buFont typeface="+mj-lt"/>
              <a:buAutoNum type="arabicPeriod"/>
            </a:pPr>
            <a:r>
              <a:rPr lang="en-US" altLang="zh-CN" sz="2400" b="1" dirty="0"/>
              <a:t>all=</a:t>
            </a:r>
            <a:r>
              <a:rPr lang="en-US" altLang="zh-CN" sz="2400" b="1" dirty="0" err="1"/>
              <a:t>f.read</a:t>
            </a:r>
            <a:r>
              <a:rPr lang="en-US" altLang="zh-CN" sz="2400" b="1" dirty="0"/>
              <a:t>()</a:t>
            </a:r>
          </a:p>
          <a:p>
            <a:pPr marL="525463" indent="-457200" eaLnBrk="1" hangingPunct="1">
              <a:buFont typeface="+mj-lt"/>
              <a:buAutoNum type="arabicPeriod"/>
            </a:pPr>
            <a:r>
              <a:rPr lang="en-US" altLang="zh-CN" sz="2400" b="1" dirty="0"/>
              <a:t>lines=</a:t>
            </a:r>
            <a:r>
              <a:rPr lang="en-US" altLang="zh-CN" sz="2400" b="1" dirty="0" err="1"/>
              <a:t>f.readlines</a:t>
            </a:r>
            <a:r>
              <a:rPr lang="en-US" altLang="zh-CN" sz="2400" b="1" dirty="0"/>
              <a:t>()</a:t>
            </a:r>
          </a:p>
          <a:p>
            <a:pPr marL="525463" indent="-457200" eaLnBrk="1" hangingPunct="1">
              <a:buFont typeface="+mj-lt"/>
              <a:buAutoNum type="arabicPeriod"/>
            </a:pPr>
            <a:r>
              <a:rPr lang="en-US" altLang="zh-CN" sz="2400" b="1" dirty="0" err="1"/>
              <a:t>oneLine</a:t>
            </a:r>
            <a:r>
              <a:rPr lang="en-US" altLang="zh-CN" sz="2400" b="1" dirty="0"/>
              <a:t>=</a:t>
            </a:r>
            <a:r>
              <a:rPr lang="en-US" altLang="zh-CN" sz="2400" b="1" dirty="0" err="1"/>
              <a:t>f.readline</a:t>
            </a:r>
            <a:r>
              <a:rPr lang="zh-CN" altLang="en-US" sz="2400" b="1" dirty="0"/>
              <a:t>（）</a:t>
            </a:r>
            <a:endParaRPr lang="en-US" altLang="zh-CN" sz="2400" b="1" dirty="0"/>
          </a:p>
          <a:p>
            <a:pPr marL="525463" indent="-457200" eaLnBrk="1" hangingPunct="1">
              <a:buFont typeface="+mj-lt"/>
              <a:buAutoNum type="arabicPeriod"/>
            </a:pPr>
            <a:r>
              <a:rPr lang="en-US" altLang="zh-CN" sz="2400" b="1" dirty="0"/>
              <a:t>for line in f:</a:t>
            </a:r>
          </a:p>
          <a:p>
            <a:pPr marL="68263" indent="0" eaLnBrk="1" hangingPunct="1">
              <a:buNone/>
            </a:pPr>
            <a:endParaRPr lang="en-US" altLang="zh-CN" sz="2400" b="1" dirty="0"/>
          </a:p>
          <a:p>
            <a:pPr marL="68263" indent="0" eaLnBrk="1" hangingPunct="1">
              <a:buNone/>
            </a:pPr>
            <a:endParaRPr lang="en-US" altLang="zh-CN" sz="24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E6DCD9-6745-42A1-BC71-A7FD553B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669" y="1008063"/>
            <a:ext cx="4303811" cy="37170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种读法，读到的各是什么</a:t>
            </a:r>
            <a:r>
              <a:rPr lang="zh-CN" altLang="en-US" sz="2400" b="1" dirty="0">
                <a:solidFill>
                  <a:srgbClr val="FF0000"/>
                </a:solidFill>
              </a:rPr>
              <a:t>数据类型</a:t>
            </a:r>
            <a:r>
              <a:rPr lang="zh-CN" altLang="en-US" sz="2400" b="1" dirty="0"/>
              <a:t>？  写纸条</a:t>
            </a:r>
            <a:endParaRPr lang="en-US" altLang="zh-CN" sz="2400" b="1" dirty="0"/>
          </a:p>
          <a:p>
            <a:pPr marL="68263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1  all</a:t>
            </a:r>
            <a:r>
              <a:rPr lang="zh-CN" altLang="en-US" sz="2400" b="1" dirty="0"/>
              <a:t>是</a:t>
            </a:r>
            <a:endParaRPr lang="en-US" altLang="zh-CN" sz="2400" b="1" dirty="0"/>
          </a:p>
          <a:p>
            <a:pPr marL="68263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2   lines</a:t>
            </a:r>
            <a:r>
              <a:rPr lang="zh-CN" altLang="en-US" sz="2400" b="1" dirty="0"/>
              <a:t>是</a:t>
            </a:r>
            <a:endParaRPr lang="en-US" altLang="zh-CN" sz="2400" b="1" dirty="0"/>
          </a:p>
          <a:p>
            <a:pPr marL="68263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3   </a:t>
            </a:r>
            <a:r>
              <a:rPr lang="en-US" altLang="zh-CN" sz="2400" b="1" dirty="0" err="1"/>
              <a:t>oneLine</a:t>
            </a:r>
            <a:r>
              <a:rPr lang="zh-CN" altLang="en-US" sz="2400" b="1" dirty="0"/>
              <a:t>是</a:t>
            </a:r>
            <a:endParaRPr lang="en-US" altLang="zh-CN" sz="2400" b="1" dirty="0"/>
          </a:p>
          <a:p>
            <a:pPr marL="68263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4   line</a:t>
            </a:r>
            <a:r>
              <a:rPr lang="zh-CN" altLang="en-US" sz="2400" b="1" dirty="0"/>
              <a:t>是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989625522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06A31-56EB-4016-A834-BDE7CAF1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文件例子   随堂编程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E6DCD9-6745-42A1-BC71-A7FD553B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70" y="4293096"/>
            <a:ext cx="8427597" cy="194421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zh-CN" altLang="en-US" sz="2400" b="1" dirty="0"/>
              <a:t>要求：根据文件内容，建立如下列表</a:t>
            </a:r>
            <a:endParaRPr lang="en-US" altLang="zh-CN" sz="2400" b="1" dirty="0"/>
          </a:p>
          <a:p>
            <a:pPr marL="68263" indent="0" eaLnBrk="1" hangingPunct="1">
              <a:buNone/>
            </a:pPr>
            <a:r>
              <a:rPr lang="en-US" altLang="zh-CN" sz="2400" b="1" dirty="0"/>
              <a:t>Student=[['1950001','</a:t>
            </a:r>
            <a:r>
              <a:rPr lang="zh-CN" altLang="en-US" sz="2400" b="1" dirty="0"/>
              <a:t>张三</a:t>
            </a:r>
            <a:r>
              <a:rPr lang="en-US" altLang="zh-CN" sz="2400" b="1" dirty="0"/>
              <a:t>',	90,	95,	80],</a:t>
            </a:r>
          </a:p>
          <a:p>
            <a:pPr marL="68263" indent="0" eaLnBrk="1" hangingPunct="1">
              <a:buNone/>
            </a:pPr>
            <a:r>
              <a:rPr lang="en-US" altLang="zh-CN" sz="2400" b="1" dirty="0"/>
              <a:t>['1950002',	'</a:t>
            </a:r>
            <a:r>
              <a:rPr lang="zh-CN" altLang="en-US" sz="2400" b="1" dirty="0"/>
              <a:t>李四</a:t>
            </a:r>
            <a:r>
              <a:rPr lang="en-US" altLang="zh-CN" sz="2400" b="1" dirty="0"/>
              <a:t>',	88,	70,	92],</a:t>
            </a:r>
          </a:p>
          <a:p>
            <a:pPr marL="68263" indent="0" eaLnBrk="1" hangingPunct="1">
              <a:buNone/>
            </a:pPr>
            <a:r>
              <a:rPr lang="en-US" altLang="zh-CN" sz="2400" b="1" dirty="0"/>
              <a:t>['1950003',	'</a:t>
            </a:r>
            <a:r>
              <a:rPr lang="zh-CN" altLang="en-US" sz="2400" b="1" dirty="0"/>
              <a:t>王五</a:t>
            </a:r>
            <a:r>
              <a:rPr lang="en-US" altLang="zh-CN" sz="2400" b="1" dirty="0"/>
              <a:t>',	77,	90,	82]]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844824"/>
            <a:ext cx="6852482" cy="2232248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CE6DCD9-6745-42A1-BC71-A7FD553B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56" y="1008063"/>
            <a:ext cx="8427597" cy="62073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150000"/>
              </a:lnSpc>
              <a:buNone/>
            </a:pPr>
            <a:r>
              <a:rPr lang="zh-CN" altLang="en-US" sz="2400" b="1" dirty="0"/>
              <a:t>已知文件内容如下，列间以逗号间隔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943249794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06A31-56EB-4016-A834-BDE7CAF1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文件例子</a:t>
            </a:r>
            <a:r>
              <a:rPr lang="en-US" altLang="zh-CN" dirty="0">
                <a:solidFill>
                  <a:srgbClr val="FF0000"/>
                </a:solidFill>
              </a:rPr>
              <a:t>—</a:t>
            </a:r>
            <a:r>
              <a:rPr lang="zh-CN" altLang="en-US" dirty="0">
                <a:solidFill>
                  <a:srgbClr val="FF0000"/>
                </a:solidFill>
              </a:rPr>
              <a:t>重要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3933056"/>
            <a:ext cx="6852482" cy="2232248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CE6DCD9-6745-42A1-BC71-A7FD553B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75" y="1008063"/>
            <a:ext cx="8427597" cy="27809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zh-CN" altLang="en-US" sz="2400" b="1" dirty="0"/>
              <a:t>分析：读进来的每一行，内容为一个字符串，如下</a:t>
            </a:r>
            <a:endParaRPr lang="en-US" altLang="zh-CN" sz="2400" b="1" dirty="0"/>
          </a:p>
          <a:p>
            <a:pPr marL="68263" indent="0"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line=</a:t>
            </a:r>
            <a:r>
              <a:rPr lang="zh-CN" altLang="en-US" sz="2400" b="1" dirty="0">
                <a:solidFill>
                  <a:srgbClr val="FF0000"/>
                </a:solidFill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</a:rPr>
              <a:t>1950001,	</a:t>
            </a:r>
            <a:r>
              <a:rPr lang="zh-CN" altLang="en-US" sz="2400" b="1" dirty="0">
                <a:solidFill>
                  <a:srgbClr val="FF0000"/>
                </a:solidFill>
              </a:rPr>
              <a:t>张三</a:t>
            </a:r>
            <a:r>
              <a:rPr lang="en-US" altLang="zh-CN" sz="2400" b="1" dirty="0">
                <a:solidFill>
                  <a:srgbClr val="FF0000"/>
                </a:solidFill>
              </a:rPr>
              <a:t>,	90,	95,	80</a:t>
            </a:r>
            <a:r>
              <a:rPr lang="zh-CN" altLang="en-US" sz="2400" b="1" dirty="0">
                <a:solidFill>
                  <a:srgbClr val="FF0000"/>
                </a:solidFill>
              </a:rPr>
              <a:t>”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68263" indent="0" eaLnBrk="1" hangingPunct="1">
              <a:buNone/>
            </a:pPr>
            <a:r>
              <a:rPr lang="zh-CN" altLang="en-US" sz="2400" b="1" dirty="0"/>
              <a:t>逗号间隔，需要 </a:t>
            </a:r>
            <a:r>
              <a:rPr lang="en-US" altLang="zh-CN" sz="2400" b="1" dirty="0" err="1"/>
              <a:t>line.split</a:t>
            </a:r>
            <a:r>
              <a:rPr lang="en-US" altLang="zh-CN" sz="2400" b="1" dirty="0"/>
              <a:t>(‘,’),  </a:t>
            </a:r>
            <a:r>
              <a:rPr lang="zh-CN" altLang="en-US" sz="2400" b="1" dirty="0"/>
              <a:t>分割后，得到列表</a:t>
            </a:r>
            <a:endParaRPr lang="en-US" altLang="zh-CN" sz="2400" b="1" dirty="0"/>
          </a:p>
          <a:p>
            <a:pPr marL="68263" indent="0" eaLnBrk="1" hangingPunct="1">
              <a:buNone/>
            </a:pPr>
            <a:r>
              <a:rPr lang="en-US" altLang="zh-CN" sz="2400" b="1" dirty="0"/>
              <a:t>res=[</a:t>
            </a:r>
            <a:r>
              <a:rPr lang="zh-CN" altLang="en-US" sz="2400" b="1" dirty="0"/>
              <a:t>“</a:t>
            </a:r>
            <a:r>
              <a:rPr lang="en-US" altLang="zh-CN" sz="2400" b="1" dirty="0"/>
              <a:t>1950001</a:t>
            </a:r>
            <a:r>
              <a:rPr lang="zh-CN" altLang="en-US" sz="2400" b="1" dirty="0"/>
              <a:t>”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“张三”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“</a:t>
            </a:r>
            <a:r>
              <a:rPr lang="en-US" altLang="zh-CN" sz="2400" b="1" dirty="0"/>
              <a:t>90</a:t>
            </a:r>
            <a:r>
              <a:rPr lang="zh-CN" altLang="en-US" sz="2400" b="1" dirty="0"/>
              <a:t>”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“</a:t>
            </a:r>
            <a:r>
              <a:rPr lang="en-US" altLang="zh-CN" sz="2400" b="1" dirty="0"/>
              <a:t>95</a:t>
            </a:r>
            <a:r>
              <a:rPr lang="zh-CN" altLang="en-US" sz="2400" b="1" dirty="0"/>
              <a:t>”</a:t>
            </a:r>
            <a:r>
              <a:rPr lang="en-US" altLang="zh-CN" sz="2400" b="1" dirty="0"/>
              <a:t>,	</a:t>
            </a:r>
            <a:r>
              <a:rPr lang="zh-CN" altLang="en-US" sz="2400" b="1" dirty="0"/>
              <a:t>“</a:t>
            </a:r>
            <a:r>
              <a:rPr lang="en-US" altLang="zh-CN" sz="2400" b="1" dirty="0"/>
              <a:t>80</a:t>
            </a:r>
            <a:r>
              <a:rPr lang="zh-CN" altLang="en-US" sz="2400" b="1" dirty="0"/>
              <a:t>”</a:t>
            </a:r>
            <a:r>
              <a:rPr lang="en-US" altLang="zh-CN" sz="2400" b="1" dirty="0"/>
              <a:t>]</a:t>
            </a:r>
          </a:p>
          <a:p>
            <a:pPr marL="68263" indent="0" eaLnBrk="1" hangingPunct="1">
              <a:buNone/>
            </a:pPr>
            <a:r>
              <a:rPr lang="zh-CN" altLang="en-US" sz="2400" b="1" dirty="0"/>
              <a:t>再转化为 </a:t>
            </a:r>
            <a:r>
              <a:rPr lang="en-US" altLang="zh-CN" sz="2400" b="1" dirty="0"/>
              <a:t>  [</a:t>
            </a:r>
            <a:r>
              <a:rPr lang="zh-CN" altLang="en-US" sz="2400" b="1" dirty="0"/>
              <a:t>“</a:t>
            </a:r>
            <a:r>
              <a:rPr lang="en-US" altLang="zh-CN" sz="2400" b="1" dirty="0"/>
              <a:t>1950001</a:t>
            </a:r>
            <a:r>
              <a:rPr lang="zh-CN" altLang="en-US" sz="2400" b="1" dirty="0"/>
              <a:t>”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“张三”</a:t>
            </a:r>
            <a:r>
              <a:rPr lang="en-US" altLang="zh-CN" sz="2400" b="1" dirty="0"/>
              <a:t>, 90, 95,	80]</a:t>
            </a:r>
          </a:p>
          <a:p>
            <a:pPr marL="68263" indent="0" eaLnBrk="1" hangingPunct="1">
              <a:buNone/>
            </a:pPr>
            <a:r>
              <a:rPr lang="zh-CN" altLang="en-US" sz="2400" b="1" dirty="0"/>
              <a:t>每整理一行，就追加到一个新列表里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878148094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77464-9944-4716-892A-AFA7FA1A670B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ctr"/>
            <a:r>
              <a:rPr lang="zh-CN" altLang="en-US" dirty="0"/>
              <a:t>写文件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133C6D-880B-475F-95D5-26430B95469D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304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06A31-56EB-4016-A834-BDE7CAF1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写文件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E6DCD9-6745-42A1-BC71-A7FD553B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1033291"/>
            <a:ext cx="7632848" cy="254084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/>
            <a:r>
              <a:rPr lang="zh-CN" altLang="en-US" sz="2400" b="1" dirty="0"/>
              <a:t>将程序计算结果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内</a:t>
            </a:r>
            <a:r>
              <a:rPr lang="zh-CN" altLang="en-US" sz="2400" b="1" dirty="0">
                <a:solidFill>
                  <a:srgbClr val="FF0000"/>
                </a:solidFill>
              </a:rPr>
              <a:t>存中的内容</a:t>
            </a:r>
            <a:r>
              <a:rPr lang="en-US" altLang="zh-CN" sz="2400" b="1" dirty="0">
                <a:solidFill>
                  <a:srgbClr val="FF0000"/>
                </a:solidFill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</a:rPr>
              <a:t>即变量中的值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，保存到文件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/>
              <a:t>文件要以</a:t>
            </a:r>
            <a:r>
              <a:rPr lang="en-US" altLang="zh-CN" sz="2400" b="1" dirty="0"/>
              <a:t>'</a:t>
            </a:r>
            <a:r>
              <a:rPr lang="en-US" altLang="zh-CN" sz="3200" b="1" dirty="0">
                <a:solidFill>
                  <a:srgbClr val="FF0000"/>
                </a:solidFill>
              </a:rPr>
              <a:t>w</a:t>
            </a:r>
            <a:r>
              <a:rPr lang="en-US" altLang="zh-CN" sz="2400" b="1" dirty="0"/>
              <a:t>'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'x'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'a'</a:t>
            </a:r>
            <a:r>
              <a:rPr lang="zh-CN" altLang="en-US" sz="2400" b="1" dirty="0"/>
              <a:t>模式打开</a:t>
            </a:r>
            <a:endParaRPr lang="en-US" altLang="zh-CN" sz="2400" b="1" dirty="0"/>
          </a:p>
          <a:p>
            <a:pPr marL="68263" indent="0" eaLnBrk="1" hangingPunct="1">
              <a:buNone/>
            </a:pPr>
            <a:r>
              <a:rPr lang="en-US" altLang="zh-CN" sz="2400" b="1" dirty="0"/>
              <a:t>  f=open(‘</a:t>
            </a:r>
            <a:r>
              <a:rPr lang="zh-CN" altLang="en-US" sz="2400" b="1" dirty="0"/>
              <a:t>文件名</a:t>
            </a:r>
            <a:r>
              <a:rPr lang="en-US" altLang="zh-CN" sz="2400" b="1" dirty="0"/>
              <a:t>’,’w’)</a:t>
            </a:r>
          </a:p>
          <a:p>
            <a:pPr marL="68263" indent="0" eaLnBrk="1" hangingPunct="1">
              <a:buNone/>
            </a:pPr>
            <a:r>
              <a:rPr lang="zh-CN" altLang="en-US" sz="2400" b="1" dirty="0"/>
              <a:t>文件已经存在时，内容清零，不存在时，则创建</a:t>
            </a:r>
            <a:endParaRPr lang="en-US" altLang="zh-CN" sz="24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D24BEB-F938-45C4-BF7C-AC6520383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3599360"/>
            <a:ext cx="7632848" cy="26379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/>
            <a:r>
              <a:rPr lang="zh-CN" altLang="en-US" sz="2400" b="1" dirty="0"/>
              <a:t>常用的两种写文件方法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 err="1">
                <a:solidFill>
                  <a:srgbClr val="FF0000"/>
                </a:solidFill>
              </a:rPr>
              <a:t>f.write</a:t>
            </a:r>
            <a:r>
              <a:rPr lang="en-US" altLang="zh-CN" sz="2400" b="1" dirty="0">
                <a:solidFill>
                  <a:srgbClr val="FF0000"/>
                </a:solidFill>
              </a:rPr>
              <a:t>(x)</a:t>
            </a:r>
            <a:r>
              <a:rPr lang="en-US" altLang="zh-CN" sz="2400" b="1" dirty="0"/>
              <a:t>: </a:t>
            </a:r>
            <a:r>
              <a:rPr lang="zh-CN" altLang="en-US" sz="2400" b="1" dirty="0"/>
              <a:t>变量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写入文件，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必须是</a:t>
            </a:r>
            <a:r>
              <a:rPr lang="en-US" altLang="zh-CN" sz="2400" b="1" dirty="0" err="1">
                <a:solidFill>
                  <a:srgbClr val="FF0000"/>
                </a:solidFill>
              </a:rPr>
              <a:t>str</a:t>
            </a:r>
            <a:r>
              <a:rPr lang="zh-CN" altLang="en-US" sz="2400" b="1" dirty="0">
                <a:solidFill>
                  <a:srgbClr val="FF0000"/>
                </a:solidFill>
              </a:rPr>
              <a:t>类</a:t>
            </a:r>
            <a:r>
              <a:rPr lang="zh-CN" altLang="en-US" sz="2400" b="1" dirty="0"/>
              <a:t>型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不是字符串，则用</a:t>
            </a:r>
            <a:r>
              <a:rPr lang="en-US" altLang="zh-CN" sz="2400" b="1" dirty="0" err="1"/>
              <a:t>str</a:t>
            </a:r>
            <a:r>
              <a:rPr lang="zh-CN" altLang="en-US" sz="2400" b="1" dirty="0"/>
              <a:t>函数转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 err="1"/>
              <a:t>f.writelines</a:t>
            </a:r>
            <a:r>
              <a:rPr lang="en-US" altLang="zh-CN" sz="2400" b="1" dirty="0"/>
              <a:t>(x)</a:t>
            </a:r>
            <a:r>
              <a:rPr lang="zh-CN" altLang="en-US" sz="2400" b="1" dirty="0"/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是列表或字符串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元素必须是</a:t>
            </a:r>
            <a:r>
              <a:rPr lang="en-US" altLang="zh-CN" sz="2400" b="1" dirty="0" err="1">
                <a:solidFill>
                  <a:srgbClr val="FF0000"/>
                </a:solidFill>
              </a:rPr>
              <a:t>str</a:t>
            </a:r>
            <a:r>
              <a:rPr lang="zh-CN" altLang="en-US" sz="2400" b="1" dirty="0"/>
              <a:t>类型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/>
              <a:t>总结：</a:t>
            </a:r>
            <a:r>
              <a:rPr lang="zh-CN" altLang="en-US" sz="2800" b="1" dirty="0">
                <a:solidFill>
                  <a:srgbClr val="FF0000"/>
                </a:solidFill>
              </a:rPr>
              <a:t>字符串、字符串、字符串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71744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84768-3791-4278-A058-BC387E10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write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C9799-D732-473E-82D9-52A62E2A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64" y="1052785"/>
            <a:ext cx="5541588" cy="525653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形式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说明：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、一次只能写一个字符串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若写入多个数据，只能使用多个语句：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例如：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('1850001',"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张杰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",'90')      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❌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要写成：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('1850001')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张杰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('90')</a:t>
            </a: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00192" y="5229200"/>
            <a:ext cx="25172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1850001张杰90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行不行？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V="1">
            <a:off x="3059832" y="5445224"/>
            <a:ext cx="3096344" cy="1440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矩形 6"/>
          <p:cNvSpPr/>
          <p:nvPr/>
        </p:nvSpPr>
        <p:spPr bwMode="auto">
          <a:xfrm>
            <a:off x="4996788" y="4969615"/>
            <a:ext cx="748923" cy="43088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1415034864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E02B0-D88B-4C17-BCF8-7B5AE72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write</a:t>
            </a:r>
            <a:r>
              <a:rPr lang="zh-CN" altLang="en-US" dirty="0"/>
              <a:t>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D03C3-B8CB-4EC3-BBFE-72873F6F9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8" y="1340768"/>
            <a:ext cx="8293100" cy="40941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、 参数只能是字符串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“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90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 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✔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(90)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❌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、写数据时不会自动换行，若要换行，加入</a:t>
            </a: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’\n’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、字符串写入文件不会自动添加双引号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可以 用字符串的</a:t>
            </a:r>
            <a:r>
              <a:rPr lang="en-US" altLang="zh-CN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</a:t>
            </a:r>
            <a:r>
              <a:rPr lang="zh-CN" altLang="en-US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运算，如</a:t>
            </a:r>
            <a:endParaRPr lang="en-US" altLang="zh-CN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('1850001\t'+'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张杰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\t'+'90\n')</a:t>
            </a: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6538439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写文件示例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704" y="1124744"/>
            <a:ext cx="8568952" cy="2893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=open(</a:t>
            </a:r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r"D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:\python\</a:t>
            </a:r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Sushi.txt","w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lines=</a:t>
            </a:r>
            <a:r>
              <a:rPr kumimoji="1" lang="en-US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</a:t>
            </a:r>
            <a:r>
              <a:rPr kumimoji="1" lang="zh-CN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竹外桃花三两枝，</a:t>
            </a:r>
            <a:r>
              <a:rPr kumimoji="1" lang="en-US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kumimoji="1" lang="zh-CN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春江水暖鸭先知。</a:t>
            </a:r>
            <a:r>
              <a:rPr kumimoji="1" lang="en-US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kumimoji="1" lang="zh-CN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蒌蒿满地芦芽短，</a:t>
            </a:r>
            <a:r>
              <a:rPr kumimoji="1" lang="en-US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kumimoji="1" lang="zh-CN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正是河豚欲上时。</a:t>
            </a:r>
            <a:r>
              <a:rPr kumimoji="1" lang="en-US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endParaRPr kumimoji="1" lang="zh-CN" altLang="zh-CN" sz="1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line in lines: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fp.write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(line+"\n")  # lines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的每个元素是</a:t>
            </a:r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fp.close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098" name="图片 1">
            <a:extLst>
              <a:ext uri="{FF2B5EF4-FFF2-40B4-BE49-F238E27FC236}">
                <a16:creationId xmlns:a16="http://schemas.microsoft.com/office/drawing/2014/main" id="{593DCFBE-49EB-40A0-B598-6D9C18ADF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17032"/>
            <a:ext cx="3278662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381E4CA-332E-4CA2-AC26-D1DDF77CABB1}"/>
              </a:ext>
            </a:extLst>
          </p:cNvPr>
          <p:cNvSpPr txBox="1"/>
          <p:nvPr/>
        </p:nvSpPr>
        <p:spPr>
          <a:xfrm>
            <a:off x="4211960" y="3415228"/>
            <a:ext cx="3888432" cy="181588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写文件三部曲：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、用</a:t>
            </a:r>
            <a:r>
              <a:rPr lang="en-US" altLang="zh-CN" sz="2800" b="1" dirty="0">
                <a:solidFill>
                  <a:schemeClr val="bg1"/>
                </a:solidFill>
              </a:rPr>
              <a:t>w</a:t>
            </a:r>
            <a:r>
              <a:rPr lang="zh-CN" altLang="en-US" sz="2800" b="1" dirty="0">
                <a:solidFill>
                  <a:schemeClr val="bg1"/>
                </a:solidFill>
              </a:rPr>
              <a:t>模式打开文件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</a:rPr>
              <a:t>、写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</a:rPr>
              <a:t>、关闭文件</a:t>
            </a:r>
          </a:p>
        </p:txBody>
      </p:sp>
    </p:spTree>
    <p:extLst>
      <p:ext uri="{BB962C8B-B14F-4D97-AF65-F5344CB8AC3E}">
        <p14:creationId xmlns:p14="http://schemas.microsoft.com/office/powerpoint/2010/main" val="1018486597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1891E-34CC-4336-87EB-5E744907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 err="1"/>
              <a:t>writelines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4DCA13-FA48-4D2C-A2FF-CBFBA202A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512" y="1088952"/>
            <a:ext cx="8293100" cy="5148360"/>
          </a:xfrm>
        </p:spPr>
        <p:txBody>
          <a:bodyPr/>
          <a:lstStyle/>
          <a:p>
            <a:r>
              <a:rPr kumimoji="1" lang="zh-CN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文件对象</a:t>
            </a:r>
            <a:r>
              <a:rPr kumimoji="1" lang="en-US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en-US" altLang="zh-CN" dirty="0" err="1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writelines</a:t>
            </a:r>
            <a:r>
              <a:rPr kumimoji="1" lang="en-US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元素是</a:t>
            </a:r>
            <a:r>
              <a:rPr kumimoji="1" lang="zh-CN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字符串</a:t>
            </a:r>
            <a:r>
              <a:rPr kumimoji="1"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列表</a:t>
            </a:r>
            <a:r>
              <a:rPr kumimoji="1" lang="en-US" altLang="zh-CN" dirty="0">
                <a:solidFill>
                  <a:srgbClr val="00006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 algn="ctr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fp.writelines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字符串构成的列表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将存放在列表中的多行数据一次性写入文件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若要换行，在列表元素的末尾添加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\n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CF414-28C8-461F-B756-A4BCAC3078F0}"/>
              </a:ext>
            </a:extLst>
          </p:cNvPr>
          <p:cNvSpPr/>
          <p:nvPr/>
        </p:nvSpPr>
        <p:spPr>
          <a:xfrm>
            <a:off x="251520" y="3296499"/>
            <a:ext cx="5489302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=open(</a:t>
            </a:r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r"D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:\python\Sushi.txt","w")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=["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竹外桃花三两枝，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\n","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春江水暖鸭先知。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\n","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蒌蒿满地芦芽短，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\n","</a:t>
            </a:r>
            <a:r>
              <a:rPr kumimoji="1" lang="zh-CN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正是河豚欲上时。</a:t>
            </a:r>
            <a:r>
              <a:rPr kumimoji="1" lang="en-US" altLang="zh-CN" sz="13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\n"]</a:t>
            </a:r>
            <a:endParaRPr kumimoji="1" lang="zh-CN" altLang="zh-CN" sz="13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fp.writelines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(lines)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fp.close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2642FAC7-C23A-4BAF-AE2B-11A4CE5A3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829" y="2824708"/>
            <a:ext cx="3341197" cy="20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DED19A4-C745-4EE4-B2FA-5047BD5A5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329769"/>
            <a:ext cx="8136578" cy="524245"/>
          </a:xfrm>
          <a:prstGeom prst="rect">
            <a:avLst/>
          </a:prstGeom>
          <a:solidFill>
            <a:srgbClr val="CC3300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将列表写入文件，不分行，若要换行，用户自己控制</a:t>
            </a:r>
            <a:r>
              <a:rPr lang="en-US" altLang="zh-CN" sz="2000" b="1" dirty="0">
                <a:solidFill>
                  <a:schemeClr val="bg1"/>
                </a:solidFill>
              </a:rPr>
              <a:t>\n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26515D-2696-5B7B-1BC2-5E96D1D9E4E3}"/>
              </a:ext>
            </a:extLst>
          </p:cNvPr>
          <p:cNvSpPr txBox="1"/>
          <p:nvPr/>
        </p:nvSpPr>
        <p:spPr>
          <a:xfrm>
            <a:off x="4195484" y="5089865"/>
            <a:ext cx="4948516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/>
              <a:t>#</a:t>
            </a:r>
            <a:r>
              <a:rPr lang="zh-CN" altLang="en-US" sz="1800" dirty="0"/>
              <a:t>改用</a:t>
            </a:r>
            <a:r>
              <a:rPr lang="en-US" altLang="zh-CN" sz="1800" dirty="0"/>
              <a:t>with</a:t>
            </a:r>
          </a:p>
          <a:p>
            <a:r>
              <a:rPr lang="en-US" altLang="zh-CN" sz="1800" dirty="0"/>
              <a:t>with open(r</a:t>
            </a:r>
            <a:r>
              <a:rPr lang="zh-CN" altLang="en-US" sz="1800" dirty="0"/>
              <a:t>"</a:t>
            </a:r>
            <a:r>
              <a:rPr lang="en-US" altLang="zh-CN" sz="1800" dirty="0"/>
              <a:t>poem1.txt", 'w') as f:</a:t>
            </a:r>
          </a:p>
          <a:p>
            <a:r>
              <a:rPr lang="en-US" altLang="zh-CN" sz="1800" dirty="0"/>
              <a:t>    for line in lines:</a:t>
            </a:r>
          </a:p>
          <a:p>
            <a:r>
              <a:rPr lang="en-US" altLang="zh-CN" sz="1800" dirty="0"/>
              <a:t>        </a:t>
            </a:r>
            <a:r>
              <a:rPr lang="en-US" altLang="zh-CN" sz="1800" dirty="0" err="1"/>
              <a:t>f.write</a:t>
            </a:r>
            <a:r>
              <a:rPr lang="en-US" altLang="zh-CN" sz="1800" dirty="0"/>
              <a:t>(line+"\n")</a:t>
            </a:r>
          </a:p>
          <a:p>
            <a:r>
              <a:rPr lang="en-US" altLang="zh-CN" sz="1800" dirty="0" err="1"/>
              <a:t>f.close</a:t>
            </a:r>
            <a:r>
              <a:rPr lang="en-US" altLang="zh-CN" sz="1800" dirty="0"/>
              <a:t>()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52194841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E02B0-D88B-4C17-BCF8-7B5AE72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写文件例子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D03C3-B8CB-4EC3-BBFE-72873F6F9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97" y="1029564"/>
            <a:ext cx="8293100" cy="95927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随机生成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40~100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之间的随机整数，作为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个同学的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门课的成绩，然后写入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score.txt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文件里：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3DD03C3-B8CB-4EC3-BBFE-72873F6F9884}"/>
              </a:ext>
            </a:extLst>
          </p:cNvPr>
          <p:cNvSpPr txBox="1">
            <a:spLocks/>
          </p:cNvSpPr>
          <p:nvPr/>
        </p:nvSpPr>
        <p:spPr bwMode="auto">
          <a:xfrm>
            <a:off x="450850" y="2348880"/>
            <a:ext cx="8293100" cy="223224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import random as R 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高数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R.sample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(range(40,100),10)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python=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R.sample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(range(40,100),10)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71552440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E02B0-D88B-4C17-BCF8-7B5AE72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写文件例子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D03C3-B8CB-4EC3-BBFE-72873F6F9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97" y="1029564"/>
            <a:ext cx="8293100" cy="95927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随机生成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40~100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之间的随机整数，作为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个同学的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门课的成绩，然后写入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score.txt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文件里，如下格式：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3DD03C3-B8CB-4EC3-BBFE-72873F6F9884}"/>
              </a:ext>
            </a:extLst>
          </p:cNvPr>
          <p:cNvSpPr txBox="1">
            <a:spLocks/>
          </p:cNvSpPr>
          <p:nvPr/>
        </p:nvSpPr>
        <p:spPr bwMode="auto">
          <a:xfrm>
            <a:off x="450850" y="2204864"/>
            <a:ext cx="8293100" cy="288032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import random as R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高数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R.sample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(range(40,100),10)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python=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R.sample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(range(40,100),10)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for 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 in range(10):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    高数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.append(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R.randint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(40, 100))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python.append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R.randint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(40, 100))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……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3F700D-AAEB-98E6-DE8A-F63578A691C8}"/>
              </a:ext>
            </a:extLst>
          </p:cNvPr>
          <p:cNvSpPr txBox="1"/>
          <p:nvPr/>
        </p:nvSpPr>
        <p:spPr>
          <a:xfrm>
            <a:off x="390540" y="5089772"/>
            <a:ext cx="8353409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scores=[str(item[0])+"\</a:t>
            </a:r>
            <a:r>
              <a:rPr lang="en-US" altLang="zh-CN" dirty="0" err="1"/>
              <a:t>t"+str</a:t>
            </a:r>
            <a:r>
              <a:rPr lang="en-US" altLang="zh-CN" dirty="0"/>
              <a:t>(item[1])+"\n" for item in zip(</a:t>
            </a:r>
            <a:r>
              <a:rPr lang="zh-CN" altLang="en-US" dirty="0"/>
              <a:t>高数</a:t>
            </a:r>
            <a:r>
              <a:rPr lang="en-US" altLang="zh-CN" dirty="0"/>
              <a:t>,python)]</a:t>
            </a:r>
          </a:p>
          <a:p>
            <a:r>
              <a:rPr lang="en-US" altLang="zh-CN" dirty="0"/>
              <a:t>print(scores)</a:t>
            </a:r>
          </a:p>
          <a:p>
            <a:r>
              <a:rPr lang="en-US" altLang="zh-CN" dirty="0"/>
              <a:t>f=open("d:\scores.txt","w")</a:t>
            </a:r>
          </a:p>
          <a:p>
            <a:r>
              <a:rPr lang="en-US" altLang="zh-CN" dirty="0" err="1"/>
              <a:t>f.writelines</a:t>
            </a:r>
            <a:r>
              <a:rPr lang="en-US" altLang="zh-CN" dirty="0"/>
              <a:t>(scores)</a:t>
            </a:r>
          </a:p>
          <a:p>
            <a:r>
              <a:rPr lang="en-US" altLang="zh-CN" dirty="0" err="1"/>
              <a:t>f.close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D47969-8421-CACD-9B4A-36658256F92E}"/>
              </a:ext>
            </a:extLst>
          </p:cNvPr>
          <p:cNvSpPr txBox="1"/>
          <p:nvPr/>
        </p:nvSpPr>
        <p:spPr>
          <a:xfrm>
            <a:off x="3563888" y="5877272"/>
            <a:ext cx="547260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for </a:t>
            </a:r>
            <a:r>
              <a:rPr lang="en-US" altLang="zh-CN" dirty="0" err="1"/>
              <a:t>i,j</a:t>
            </a:r>
            <a:r>
              <a:rPr lang="en-US" altLang="zh-CN" dirty="0"/>
              <a:t> in zip(</a:t>
            </a:r>
            <a:r>
              <a:rPr lang="zh-CN" altLang="en-US" dirty="0"/>
              <a:t>高数</a:t>
            </a:r>
            <a:r>
              <a:rPr lang="en-US" altLang="zh-CN" dirty="0"/>
              <a:t>,python):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f.write</a:t>
            </a:r>
            <a:r>
              <a:rPr lang="en-US" altLang="zh-CN" dirty="0"/>
              <a:t>(str(</a:t>
            </a:r>
            <a:r>
              <a:rPr lang="en-US" altLang="zh-CN" dirty="0" err="1"/>
              <a:t>i</a:t>
            </a:r>
            <a:r>
              <a:rPr lang="en-US" altLang="zh-CN" dirty="0"/>
              <a:t>)+"\</a:t>
            </a:r>
            <a:r>
              <a:rPr lang="en-US" altLang="zh-CN" dirty="0" err="1"/>
              <a:t>t"+str</a:t>
            </a:r>
            <a:r>
              <a:rPr lang="en-US" altLang="zh-CN" dirty="0"/>
              <a:t>(j)+"\n")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4962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E02B0-D88B-4C17-BCF8-7B5AE72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写文件例子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D03C3-B8CB-4EC3-BBFE-72873F6F9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97" y="1029564"/>
            <a:ext cx="8293100" cy="223224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随机生成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40~100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之间的随机整数，作为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个同学的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门课的成绩，然后写入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score.txt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文件里，如下格式：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69     80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70     99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36     63</a:t>
            </a:r>
          </a:p>
        </p:txBody>
      </p:sp>
    </p:spTree>
    <p:extLst>
      <p:ext uri="{BB962C8B-B14F-4D97-AF65-F5344CB8AC3E}">
        <p14:creationId xmlns:p14="http://schemas.microsoft.com/office/powerpoint/2010/main" val="2160949789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CE6ED-5766-4DAC-80E5-8244769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模式与操作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F5BFE-1208-46F7-B85E-8B980FCBD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15" y="1276542"/>
            <a:ext cx="8293100" cy="40941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</a:t>
            </a:r>
            <a:r>
              <a:rPr lang="zh-CN" altLang="en-US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模式打开，不能写，</a:t>
            </a:r>
            <a:r>
              <a:rPr lang="en-US" altLang="zh-CN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</a:t>
            </a:r>
            <a:r>
              <a:rPr lang="zh-CN" altLang="en-US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模式打开，不能读</a:t>
            </a:r>
            <a:endParaRPr lang="en-US" altLang="zh-CN" sz="32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r'd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:\python\data-ex\file3.txt','w')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lines=['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竹外桃花三两枝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\n','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春江水暖鸭先知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\n','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蒌蒿满地芦芽短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\n','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正是河豚欲上时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\n']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f.writelines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(lines)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all=</a:t>
            </a:r>
            <a:r>
              <a:rPr lang="en-US" altLang="zh-CN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f.read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print(all)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ABC1E1-9EF6-4BA1-8864-1A22A7CBA553}"/>
              </a:ext>
            </a:extLst>
          </p:cNvPr>
          <p:cNvSpPr txBox="1"/>
          <p:nvPr/>
        </p:nvSpPr>
        <p:spPr>
          <a:xfrm>
            <a:off x="3131840" y="4221088"/>
            <a:ext cx="5900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思考：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增加两句读文件的语句，结果是什么？为什么？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怎么才能读出来？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/>
              <a:t>关闭文件后重新以读方式打开</a:t>
            </a:r>
          </a:p>
        </p:txBody>
      </p:sp>
    </p:spTree>
    <p:extLst>
      <p:ext uri="{BB962C8B-B14F-4D97-AF65-F5344CB8AC3E}">
        <p14:creationId xmlns:p14="http://schemas.microsoft.com/office/powerpoint/2010/main" val="10738689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77464-9944-4716-892A-AFA7FA1A670B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CN" altLang="en-US" dirty="0"/>
              <a:t>读写文件示例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133C6D-880B-475F-95D5-26430B95469D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137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4B88B-7698-47AC-9473-1160832D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</a:t>
            </a:r>
            <a:r>
              <a:rPr kumimoji="1" lang="zh-CN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用文件实现例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</a:t>
            </a:r>
            <a:r>
              <a:rPr kumimoji="1" lang="zh-CN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的功能。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EDD7D5-94EC-4923-A733-DC32883F9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00298"/>
            <a:ext cx="8293100" cy="48244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功能要求：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输入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个学生信息（学号、姓名、高数成绩），用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\t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间隔，存入文件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再逐行读入文件中的信息，计算，总分、平均分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8434790-905C-45CB-9433-3DD5CF64B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62" y="2852936"/>
            <a:ext cx="8568952" cy="36933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#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学生信息写入文件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n=int(input("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请学生人数：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"))</a:t>
            </a:r>
            <a:endParaRPr kumimoji="1"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fScores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=open(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r"D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:\Test\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Scores.txt","w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")	</a:t>
            </a:r>
            <a:endParaRPr kumimoji="1"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for 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in range(n):				</a:t>
            </a:r>
            <a:endParaRPr kumimoji="1"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No=input("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请输入学号：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")		</a:t>
            </a: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Name=input("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请输入姓名：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")		</a:t>
            </a:r>
            <a:endParaRPr kumimoji="1"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Mark=int(input("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请输入成绩：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"))		</a:t>
            </a:r>
            <a:endParaRPr kumimoji="1"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fScores.write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 +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\t" + Name +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\t" + str(Mark) + "\n"  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fScores.close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()				</a:t>
            </a:r>
            <a:endParaRPr kumimoji="1"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kumimoji="1" lang="zh-CN" altLang="zh-CN" sz="18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下箭头 4"/>
          <p:cNvSpPr/>
          <p:nvPr/>
        </p:nvSpPr>
        <p:spPr bwMode="auto">
          <a:xfrm rot="2155793">
            <a:off x="6786776" y="2478546"/>
            <a:ext cx="1999024" cy="3288328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200">
              <a:solidFill>
                <a:schemeClr val="bg1"/>
              </a:solidFill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1</a:t>
            </a:r>
            <a:r>
              <a:rPr lang="zh-CN" altLang="en-US" sz="2200">
                <a:solidFill>
                  <a:schemeClr val="bg1"/>
                </a:solidFill>
              </a:rPr>
              <a:t>个字符串</a:t>
            </a:r>
            <a:endParaRPr lang="en-US" altLang="zh-CN" sz="2200">
              <a:solidFill>
                <a:schemeClr val="bg1"/>
              </a:solidFill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200">
              <a:solidFill>
                <a:schemeClr val="bg1"/>
              </a:solidFill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15684903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76672"/>
            <a:ext cx="8568952" cy="58169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#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读方式打开文件，逐行读取学生信息并计算</a:t>
            </a:r>
            <a:endParaRPr kumimoji="1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Statistics=open(</a:t>
            </a:r>
            <a:r>
              <a:rPr kumimoji="1" lang="en-US" altLang="zh-CN" sz="2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r“D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:\Test\</a:t>
            </a:r>
            <a:r>
              <a:rPr kumimoji="1" lang="en-US" altLang="zh-CN" sz="2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Scores.txt”,“r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”)	   #</a:t>
            </a:r>
            <a:r>
              <a:rPr kumimoji="1"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读方式重新打开文件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 </a:t>
            </a: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n=0					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Total=0								</a:t>
            </a: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while True:	</a:t>
            </a:r>
          </a:p>
          <a:p>
            <a:pPr lvl="1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Student=</a:t>
            </a:r>
            <a:r>
              <a:rPr kumimoji="1" lang="en-US" altLang="zh-CN" sz="2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Statistics.readline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()			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if not Student:	</a:t>
            </a:r>
          </a:p>
          <a:p>
            <a:pPr lvl="2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break						</a:t>
            </a:r>
          </a:p>
          <a:p>
            <a:pPr marL="0" lvl="2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n=n+1								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Temp=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Student.split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()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  # </a:t>
            </a:r>
            <a:r>
              <a:rPr kumimoji="1"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根据上一页的写文件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	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Mark=int(Temp[2])					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Total +=Mark					</a:t>
            </a: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Average=Total/n								</a:t>
            </a: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print("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人数：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",n)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print("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总成绩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",Total)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print("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平均成绩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",Average)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kumimoji="1" lang="en-US" altLang="zh-CN" sz="2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Statistics.close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()  		</a:t>
            </a:r>
            <a:r>
              <a:rPr kumimoji="1" lang="en-US" altLang="zh-CN" sz="1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								</a:t>
            </a:r>
            <a:endParaRPr kumimoji="1" lang="zh-CN" altLang="zh-CN" sz="14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kumimoji="1" lang="zh-CN" altLang="zh-CN" sz="18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F7233218-FDA0-4594-8DB4-F515540A4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293096"/>
            <a:ext cx="2831969" cy="133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7371329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704" y="1124744"/>
            <a:ext cx="8568952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6.3  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生成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Fibonacci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数列的前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个数据写入文件</a:t>
            </a:r>
          </a:p>
          <a:p>
            <a:endParaRPr kumimoji="1" lang="zh-CN" altLang="zh-CN" sz="1800" b="1" dirty="0">
              <a:solidFill>
                <a:srgbClr val="00006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124" name="图片 1">
            <a:extLst>
              <a:ext uri="{FF2B5EF4-FFF2-40B4-BE49-F238E27FC236}">
                <a16:creationId xmlns:a16="http://schemas.microsoft.com/office/drawing/2014/main" id="{F4D860D5-78E1-4457-B788-4D23F4FB7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784082"/>
            <a:ext cx="3455711" cy="319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 bwMode="auto">
          <a:xfrm>
            <a:off x="2107300" y="2420888"/>
            <a:ext cx="72008" cy="25607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" name="直接箭头连接符 4"/>
          <p:cNvCxnSpPr/>
          <p:nvPr/>
        </p:nvCxnSpPr>
        <p:spPr bwMode="auto">
          <a:xfrm>
            <a:off x="2627784" y="2420888"/>
            <a:ext cx="0" cy="25607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45008158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DCDFAB7-393D-4E96-B172-1732EC800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12" y="989807"/>
            <a:ext cx="8293100" cy="53054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r'fib.txt','w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f1=1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("Fib(1)={}\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n".format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(f1))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f2=1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("Fib(2)={}\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n".format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(f2))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for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in range(3,11):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f3=f1+f2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("Fib({})={}\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n".format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(i,f3))   #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格式串的方式写入</a:t>
            </a: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f1,f2=f2,f3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44995A0-68CB-473D-859B-BEAD0667E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064247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DCDFAB7-393D-4E96-B172-1732EC800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17" y="1628801"/>
            <a:ext cx="4104456" cy="388843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文件名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,'w')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f.write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字符串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f.writelines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字符串列表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f.close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44995A0-68CB-473D-859B-BEAD0667E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文件读写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DCDFAB7-393D-4E96-B172-1732EC80028F}"/>
              </a:ext>
            </a:extLst>
          </p:cNvPr>
          <p:cNvSpPr txBox="1">
            <a:spLocks/>
          </p:cNvSpPr>
          <p:nvPr/>
        </p:nvSpPr>
        <p:spPr bwMode="auto">
          <a:xfrm>
            <a:off x="449835" y="1628800"/>
            <a:ext cx="3506416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文件名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,'r')</a:t>
            </a:r>
          </a:p>
          <a:p>
            <a:pPr marL="0" indent="0"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  </a:t>
            </a:r>
          </a:p>
          <a:p>
            <a:pPr marL="0" indent="0"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3 for line in f:</a:t>
            </a:r>
          </a:p>
          <a:p>
            <a:pPr marL="0" indent="0">
              <a:buFontTx/>
              <a:buNone/>
            </a:pP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4 </a:t>
            </a:r>
            <a:r>
              <a:rPr lang="en-US" altLang="zh-CN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f.read</a:t>
            </a:r>
            <a:r>
              <a:rPr lang="en-U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84603678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BF273-3B69-4859-BCB0-FCBF352D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6-3</a:t>
            </a:r>
            <a:r>
              <a:rPr lang="zh-CN" altLang="en-US" dirty="0"/>
              <a:t>：数据加密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BF1B8-E76A-456C-9F92-260B66DE2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40768"/>
            <a:ext cx="4752528" cy="4094163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英文字符变为其后面的第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A-&gt;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F,a-f,B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-&gt;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G,b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-&gt;g,……</a:t>
            </a:r>
          </a:p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最后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个字符，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+5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后超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'Z'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V-&gt;A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,W-&gt;B,X-&gt;C,Y-&gt;D,Z-&gt;E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v-&gt;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a,w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-&gt;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b,x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-&gt;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c,y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-&gt;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d,z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-&gt;e</a:t>
            </a:r>
          </a:p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其它字符不变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源文件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source.txt</a:t>
            </a:r>
          </a:p>
          <a:p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加密后保存在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target.txt</a:t>
            </a:r>
            <a:endParaRPr lang="zh-CN" altLang="en-US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0C25BCEB-F2A0-4C4B-952A-6B89EDF47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42" y="1161732"/>
            <a:ext cx="3687753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">
            <a:extLst>
              <a:ext uri="{FF2B5EF4-FFF2-40B4-BE49-F238E27FC236}">
                <a16:creationId xmlns:a16="http://schemas.microsoft.com/office/drawing/2014/main" id="{FE90EC3D-7665-4B95-9832-D428F97BC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42" y="3668199"/>
            <a:ext cx="3687753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529654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CB7FB-FA92-409A-BE3A-BA9CE56BA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60648"/>
            <a:ext cx="8293100" cy="59766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分析：</a:t>
            </a:r>
            <a:endParaRPr lang="en-US" altLang="zh-CN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读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source.txt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，文件，每行为单位处理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文件的每一行，是一个字符串，将其传递给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jiami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函数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jiami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函数，对串中的每个字母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+5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加密，返回加密后的结果，</a:t>
            </a:r>
            <a:r>
              <a:rPr lang="zh-CN" altLang="en-US" sz="3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是字符串的累加运算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、每个字符转换为其后第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个，可用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(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)+5)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取字符的序号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+5,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再转字符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最后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个字母的处理：如果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'V'&lt;=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&lt;='Z'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( 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)+5)-26)</a:t>
            </a: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626396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CB7FB-FA92-409A-BE3A-BA9CE56BA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60648"/>
            <a:ext cx="8712968" cy="59766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、对字符加密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对字符串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中的每个字符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for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in s: 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if  'A'&lt;=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&lt;='U' or 'a'&lt;=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&lt;='u':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)+5)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elif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'V'&lt;=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&lt;='Z' or 'v'&lt;=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&lt;='z':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)+5-26)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函数头的定义，给定字符串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，返回结果串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ans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def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jiami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(s):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ans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=‘’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……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return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ans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533080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1347EC-2F38-4E15-A8B7-0FBBABF9B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620688"/>
            <a:ext cx="8293100" cy="5616624"/>
          </a:xfrm>
          <a:solidFill>
            <a:srgbClr val="CCFFCC"/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def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jiami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(s):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处理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，将其英文字母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+5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，大于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v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，到开头英文字母的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ans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=''  #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转换结果的初值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for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 in s: #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循环遍历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的每个字符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  if  'A'&lt;=c&lt;='U' or 'a'&lt;=c&lt;='u':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      c=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(c)+5)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elif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'V'&lt;=c&lt;='Z' or 'v'&lt;=c&lt;='z':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     c=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chr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ord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(c)+5-26)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 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ans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+=c</a:t>
            </a: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return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ans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8994366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B0829-7EAC-4FF5-A4FF-9FE8D3A7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052736"/>
            <a:ext cx="8293100" cy="4608413"/>
          </a:xfrm>
          <a:solidFill>
            <a:srgbClr val="A7D9FF"/>
          </a:solidFill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这是作业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主函数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读源文件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准备写文件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对源的每一行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处理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写文件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文件关闭</a:t>
            </a:r>
          </a:p>
        </p:txBody>
      </p:sp>
    </p:spTree>
    <p:extLst>
      <p:ext uri="{BB962C8B-B14F-4D97-AF65-F5344CB8AC3E}">
        <p14:creationId xmlns:p14="http://schemas.microsoft.com/office/powerpoint/2010/main" val="3107590607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0648"/>
            <a:ext cx="828092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小知识现场笔试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28599" y="3429000"/>
            <a:ext cx="7912496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en-US" altLang="zh-CN" sz="2800" dirty="0"/>
              <a:t>s</a:t>
            </a:r>
            <a:r>
              <a:rPr lang="zh-CN" altLang="en-US" sz="2800" dirty="0"/>
              <a:t>中有空格，有</a:t>
            </a:r>
            <a:r>
              <a:rPr lang="en-US" altLang="zh-CN" sz="2800" dirty="0"/>
              <a:t>\t</a:t>
            </a:r>
            <a:r>
              <a:rPr lang="zh-CN" altLang="en-US" sz="2800" dirty="0"/>
              <a:t>，有</a:t>
            </a:r>
            <a:r>
              <a:rPr lang="en-US" altLang="zh-CN" sz="2800" dirty="0"/>
              <a:t>\n</a:t>
            </a:r>
          </a:p>
          <a:p>
            <a:pPr algn="just" eaLnBrk="1" hangingPunct="1"/>
            <a:r>
              <a:rPr lang="en-US" altLang="zh-CN" sz="2800" dirty="0"/>
              <a:t>res1</a:t>
            </a:r>
            <a:r>
              <a:rPr lang="zh-CN" altLang="en-US" sz="2800" dirty="0"/>
              <a:t>的结果是什么</a:t>
            </a:r>
            <a:endParaRPr lang="en-US" altLang="zh-CN" sz="2800" dirty="0"/>
          </a:p>
          <a:p>
            <a:pPr algn="just" eaLnBrk="1" hangingPunct="1"/>
            <a:r>
              <a:rPr lang="en-US" altLang="zh-CN" sz="2800" dirty="0"/>
              <a:t>res2</a:t>
            </a:r>
            <a:r>
              <a:rPr lang="zh-CN" altLang="en-US" sz="2800" dirty="0"/>
              <a:t>的结果是什么？</a:t>
            </a:r>
            <a:endParaRPr lang="en-US" altLang="zh-CN" sz="2800" dirty="0"/>
          </a:p>
          <a:p>
            <a:pPr algn="just" eaLnBrk="1" hangingPunct="1"/>
            <a:endParaRPr lang="en-US" altLang="zh-CN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19" y="1298884"/>
            <a:ext cx="6408712" cy="188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72717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0648"/>
            <a:ext cx="828092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应用实例：数据分拣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71400" y="1079105"/>
            <a:ext cx="7912496" cy="10081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混班考试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一场考试成绩单                                    教师的名单</a:t>
            </a:r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708F5A-E1E6-43F9-B665-AE818B242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79" y="2113586"/>
            <a:ext cx="7720208" cy="447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08472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0648"/>
            <a:ext cx="828092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应用实例：数据分拣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23528" y="1412776"/>
            <a:ext cx="5760640" cy="28083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zh-CN" altLang="en-US" sz="2400" dirty="0"/>
              <a:t>思路：</a:t>
            </a:r>
            <a:endParaRPr lang="en-US" altLang="zh-CN" sz="2400" dirty="0"/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sz="2400" dirty="0"/>
              <a:t>先读教师名单表，分割后，形成只有学号的列表</a:t>
            </a:r>
            <a:r>
              <a:rPr lang="en-US" altLang="zh-CN" sz="2400" dirty="0" err="1"/>
              <a:t>myStudent</a:t>
            </a:r>
            <a:endParaRPr lang="en-US" altLang="zh-CN" sz="2400" dirty="0"/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sz="2400" dirty="0"/>
              <a:t>读成绩总表，每读一行，分割得到学号，如果学号在</a:t>
            </a:r>
            <a:r>
              <a:rPr lang="en-US" altLang="zh-CN" sz="2400" dirty="0" err="1"/>
              <a:t>myStudent</a:t>
            </a:r>
            <a:r>
              <a:rPr lang="zh-CN" altLang="en-US" sz="2400" dirty="0"/>
              <a:t>，则整行输出到结果文件中。用列表成员运算符</a:t>
            </a:r>
            <a:r>
              <a:rPr lang="en-US" altLang="zh-CN" sz="2400" dirty="0">
                <a:solidFill>
                  <a:srgbClr val="FF0000"/>
                </a:solidFill>
              </a:rPr>
              <a:t>in</a:t>
            </a:r>
            <a:r>
              <a:rPr lang="zh-CN" altLang="en-US" sz="2400" dirty="0"/>
              <a:t>完成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1384379"/>
            <a:ext cx="2095500" cy="233362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 bwMode="auto">
          <a:xfrm>
            <a:off x="6084168" y="2060848"/>
            <a:ext cx="64807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4611418"/>
            <a:ext cx="6324600" cy="88582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 bwMode="auto">
          <a:xfrm>
            <a:off x="2627784" y="2996952"/>
            <a:ext cx="1080120" cy="161446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99503633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6425" y="116632"/>
            <a:ext cx="8280920" cy="57606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数据分拣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56425" y="836712"/>
            <a:ext cx="7912496" cy="54006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en-US" altLang="zh-CN" sz="2400" dirty="0"/>
              <a:t># </a:t>
            </a:r>
            <a:r>
              <a:rPr lang="zh-CN" altLang="en-US" sz="2400" dirty="0"/>
              <a:t>获得教师的学生名单，学号列表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en-US" altLang="zh-CN" sz="2400" dirty="0"/>
              <a:t>f=open('D:/teach/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语言</a:t>
            </a:r>
            <a:r>
              <a:rPr lang="en-US" altLang="zh-CN" sz="2400" dirty="0"/>
              <a:t>/data-ex/</a:t>
            </a:r>
            <a:r>
              <a:rPr lang="zh-CN" altLang="en-US" sz="2400" dirty="0"/>
              <a:t>教师学生名单</a:t>
            </a:r>
            <a:r>
              <a:rPr lang="en-US" altLang="zh-CN" sz="2400" dirty="0"/>
              <a:t>.</a:t>
            </a:r>
            <a:r>
              <a:rPr lang="en-US" altLang="zh-CN" sz="2400" dirty="0" err="1"/>
              <a:t>txt','r</a:t>
            </a:r>
            <a:r>
              <a:rPr lang="en-US" altLang="zh-CN" sz="2400" dirty="0"/>
              <a:t>')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lines=</a:t>
            </a:r>
            <a:r>
              <a:rPr lang="en-US" altLang="zh-CN" sz="2400" dirty="0" err="1"/>
              <a:t>f.readlines</a:t>
            </a:r>
            <a:r>
              <a:rPr lang="en-US" altLang="zh-CN" sz="2400" dirty="0"/>
              <a:t>()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lines=lines[1:]    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en-US" sz="2400" dirty="0">
                <a:solidFill>
                  <a:srgbClr val="FF0000"/>
                </a:solidFill>
              </a:rPr>
              <a:t>第一行过滤掉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68263" indent="0" algn="just" eaLnBrk="1" hangingPunct="1">
              <a:buNone/>
            </a:pPr>
            <a:r>
              <a:rPr lang="en-US" altLang="zh-CN" sz="2400" dirty="0" err="1"/>
              <a:t>myStudent</a:t>
            </a:r>
            <a:r>
              <a:rPr lang="en-US" altLang="zh-CN" sz="2400" dirty="0"/>
              <a:t>=[ </a:t>
            </a:r>
            <a:r>
              <a:rPr lang="en-US" altLang="zh-CN" sz="2400" dirty="0" err="1"/>
              <a:t>line.split</a:t>
            </a:r>
            <a:r>
              <a:rPr lang="en-US" altLang="zh-CN" sz="2400" dirty="0"/>
              <a:t>() [0]  for line in lines]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3645024"/>
            <a:ext cx="2095500" cy="2333625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 bwMode="auto">
          <a:xfrm>
            <a:off x="5868144" y="3429000"/>
            <a:ext cx="2016224" cy="504056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4932040" y="2492896"/>
            <a:ext cx="1728192" cy="936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38276238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5340" y="32048"/>
            <a:ext cx="828092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数据分拣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55340" y="908720"/>
            <a:ext cx="853714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f=open('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混考成绩总表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txt','r',encoding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='utf-8')</a:t>
            </a: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title=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()  # 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获得表头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studentScores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()  #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继续读所有学生的成绩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f1=open(‘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班级成绩总表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txt’,‘w’,encoding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=‘utf-8’)  #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目标文件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f1.write(title)   #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先写表头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for 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in 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studentScores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:   #</a:t>
            </a: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oneStu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stu.split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()   #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当前行学生的情况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   if 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oneStu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[0] in 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myStudent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:   #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是老师班级的学生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       f1.write(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)    # 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把成绩写到目标文件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f1.close()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062" y="1768694"/>
            <a:ext cx="3992252" cy="559156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 bwMode="auto">
          <a:xfrm>
            <a:off x="4139952" y="1570828"/>
            <a:ext cx="4392488" cy="423594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79744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CSV</a:t>
            </a:r>
            <a:r>
              <a:rPr lang="zh-CN" altLang="en-US" dirty="0">
                <a:solidFill>
                  <a:srgbClr val="FF0000"/>
                </a:solidFill>
              </a:rPr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850" y="1102556"/>
            <a:ext cx="8293100" cy="165361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文本格式，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列间逗号为分隔符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扩展名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csv  (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omma 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eparated 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alue )</a:t>
            </a:r>
          </a:p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用与文本文件一样的方法处理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68960"/>
            <a:ext cx="5768365" cy="1055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2720" y="4293096"/>
            <a:ext cx="691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例：如上，文件中记录一组学生</a:t>
            </a:r>
            <a:r>
              <a:rPr lang="en-US" altLang="zh-CN" dirty="0"/>
              <a:t>3</a:t>
            </a:r>
            <a:r>
              <a:rPr lang="zh-CN" altLang="en-US" dirty="0"/>
              <a:t>们课程的分数，读取文件内容，求所有分数的平均分</a:t>
            </a:r>
          </a:p>
        </p:txBody>
      </p:sp>
    </p:spTree>
    <p:extLst>
      <p:ext uri="{BB962C8B-B14F-4D97-AF65-F5344CB8AC3E}">
        <p14:creationId xmlns:p14="http://schemas.microsoft.com/office/powerpoint/2010/main" val="3139010610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404664"/>
            <a:ext cx="8293100" cy="57606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file='d:/python/data-ex/scores.csv'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f=open(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file,'r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total=0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count=0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lines=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f.readlines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for line in lines:</a:t>
            </a:r>
          </a:p>
          <a:p>
            <a:pPr marL="0" indent="0">
              <a:buNone/>
            </a:pP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    temp=</a:t>
            </a:r>
            <a:r>
              <a:rPr lang="en-US" altLang="zh-CN" sz="3600" dirty="0" err="1">
                <a:latin typeface="等线" panose="02010600030101010101" pitchFamily="2" charset="-122"/>
                <a:ea typeface="等线" panose="02010600030101010101" pitchFamily="2" charset="-122"/>
              </a:rPr>
              <a:t>line.split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','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)   # </a:t>
            </a: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因为是 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csv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for i in range(2,5):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total=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total+int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(temp[i])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  count=count+1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average=total/count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print("average:%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f"%average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47761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1398" y="1009685"/>
            <a:ext cx="8431082" cy="48244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错误：程序的语法错、逻辑错（例如：除数为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异常：导致程序出错的事件，例如：打开文件时，文件不存在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异常处理：程序不被带沟里的自身保护机制。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处理的结构：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try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&lt;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语句块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1&gt;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except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&lt;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异常类型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&gt;: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   &lt;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语句块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2&gt;</a:t>
            </a:r>
          </a:p>
          <a:p>
            <a:pPr marL="0" indent="0">
              <a:buNone/>
            </a:pP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两个关键词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try    except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9920267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340768"/>
            <a:ext cx="5561310" cy="40941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try:</a:t>
            </a:r>
          </a:p>
          <a:p>
            <a:pPr marL="0" indent="0">
              <a:buNone/>
            </a:pPr>
            <a:r>
              <a:rPr lang="en-US" altLang="zh-CN" dirty="0"/>
              <a:t>   file='d:\python\data-ex\scores.txt'</a:t>
            </a:r>
          </a:p>
          <a:p>
            <a:pPr marL="0" indent="0">
              <a:buNone/>
            </a:pPr>
            <a:r>
              <a:rPr lang="en-US" altLang="zh-CN" dirty="0"/>
              <a:t>   f=open(</a:t>
            </a:r>
            <a:r>
              <a:rPr lang="en-US" altLang="zh-CN" dirty="0" err="1"/>
              <a:t>file,'r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   lines=</a:t>
            </a:r>
            <a:r>
              <a:rPr lang="en-US" altLang="zh-CN" dirty="0" err="1"/>
              <a:t>f.readlines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   print(lines)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except</a:t>
            </a:r>
            <a:r>
              <a:rPr lang="en-US" altLang="zh-CN" dirty="0"/>
              <a:t> </a:t>
            </a:r>
            <a:r>
              <a:rPr lang="en-US" altLang="zh-CN" dirty="0" err="1"/>
              <a:t>FileNotFoundError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   print("</a:t>
            </a:r>
            <a:r>
              <a:rPr lang="zh-CN" altLang="en-US" dirty="0"/>
              <a:t>文件不存在</a:t>
            </a:r>
            <a:r>
              <a:rPr lang="en-US" altLang="zh-CN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059380481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6802" y="18444"/>
            <a:ext cx="8275638" cy="868363"/>
          </a:xfrm>
        </p:spPr>
        <p:txBody>
          <a:bodyPr/>
          <a:lstStyle/>
          <a:p>
            <a:r>
              <a:rPr lang="zh-CN" altLang="en-US" dirty="0"/>
              <a:t>异常处理的复杂形式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08720"/>
            <a:ext cx="8293100" cy="525658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try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&lt;</a:t>
            </a:r>
            <a:r>
              <a:rPr lang="zh-CN" altLang="en-US" sz="1800" dirty="0"/>
              <a:t>语句块</a:t>
            </a:r>
            <a:r>
              <a:rPr lang="en-US" altLang="zh-CN" sz="1800" dirty="0"/>
              <a:t>0&gt;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except &lt;</a:t>
            </a:r>
            <a:r>
              <a:rPr lang="zh-CN" altLang="en-US" sz="1800" dirty="0"/>
              <a:t>异常类型</a:t>
            </a:r>
            <a:r>
              <a:rPr lang="en-US" altLang="zh-CN" sz="1800" dirty="0"/>
              <a:t>1&gt;: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 &lt;</a:t>
            </a:r>
            <a:r>
              <a:rPr lang="zh-CN" altLang="en-US" sz="1800" dirty="0"/>
              <a:t>语句块</a:t>
            </a:r>
            <a:r>
              <a:rPr lang="en-US" altLang="zh-CN" sz="1800" dirty="0"/>
              <a:t>1&gt;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except &lt;</a:t>
            </a:r>
            <a:r>
              <a:rPr lang="zh-CN" altLang="en-US" sz="1800" dirty="0"/>
              <a:t>异常类型</a:t>
            </a:r>
            <a:r>
              <a:rPr lang="en-US" altLang="zh-CN" sz="1800" dirty="0"/>
              <a:t>2&gt;: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 &lt;</a:t>
            </a:r>
            <a:r>
              <a:rPr lang="zh-CN" altLang="en-US" sz="1800" dirty="0"/>
              <a:t>语句块</a:t>
            </a:r>
            <a:r>
              <a:rPr lang="en-US" altLang="zh-CN" sz="1800" dirty="0"/>
              <a:t>12&gt;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……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except &lt;</a:t>
            </a:r>
            <a:r>
              <a:rPr lang="zh-CN" altLang="en-US" sz="1800" dirty="0"/>
              <a:t>异常类型</a:t>
            </a:r>
            <a:r>
              <a:rPr lang="en-US" altLang="zh-CN" sz="1800" dirty="0"/>
              <a:t>n&gt;: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 &lt;</a:t>
            </a:r>
            <a:r>
              <a:rPr lang="zh-CN" altLang="en-US" sz="1800" dirty="0"/>
              <a:t>语句块</a:t>
            </a:r>
            <a:r>
              <a:rPr lang="en-US" altLang="zh-CN" sz="1800" dirty="0"/>
              <a:t>n&gt;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except 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 &lt;</a:t>
            </a:r>
            <a:r>
              <a:rPr lang="zh-CN" altLang="en-US" sz="1800" dirty="0"/>
              <a:t>语句块</a:t>
            </a:r>
            <a:r>
              <a:rPr lang="en-US" altLang="zh-CN" sz="1800" dirty="0"/>
              <a:t>n+1&gt;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Else: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 &lt;</a:t>
            </a:r>
            <a:r>
              <a:rPr lang="zh-CN" altLang="en-US" sz="1800" dirty="0"/>
              <a:t>语句块</a:t>
            </a:r>
            <a:r>
              <a:rPr lang="en-US" altLang="zh-CN" sz="1800" dirty="0"/>
              <a:t>n+2&gt;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Finally: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sz="1800" dirty="0"/>
              <a:t>&lt;</a:t>
            </a:r>
            <a:r>
              <a:rPr lang="zh-CN" altLang="en-US" sz="1800" dirty="0"/>
              <a:t>语句块</a:t>
            </a:r>
            <a:r>
              <a:rPr lang="en-US" altLang="zh-CN" sz="1800" dirty="0"/>
              <a:t>n+3&gt;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03848" y="2924944"/>
            <a:ext cx="5328592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/>
              <a:t>最后一个</a:t>
            </a:r>
            <a:r>
              <a:rPr lang="en-US" altLang="zh-CN" dirty="0"/>
              <a:t>except</a:t>
            </a:r>
            <a:r>
              <a:rPr lang="zh-CN" altLang="en-US" dirty="0"/>
              <a:t>没有异常类型，表示余下的异常类型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/>
              <a:t>Else</a:t>
            </a:r>
            <a:r>
              <a:rPr lang="zh-CN" altLang="en-US" dirty="0"/>
              <a:t>是对</a:t>
            </a:r>
            <a:r>
              <a:rPr lang="en-US" altLang="zh-CN" dirty="0"/>
              <a:t>try</a:t>
            </a:r>
            <a:r>
              <a:rPr lang="zh-CN" altLang="en-US" dirty="0"/>
              <a:t>语句块的追加处理，同</a:t>
            </a:r>
            <a:r>
              <a:rPr lang="en-US" altLang="zh-CN" dirty="0"/>
              <a:t>for</a:t>
            </a:r>
            <a:r>
              <a:rPr lang="zh-CN" altLang="en-US" dirty="0"/>
              <a:t>后面的</a:t>
            </a:r>
            <a:r>
              <a:rPr lang="en-US" altLang="zh-CN" dirty="0"/>
              <a:t>else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/>
              <a:t>不论有没有发生异常，</a:t>
            </a:r>
            <a:r>
              <a:rPr lang="en-US" altLang="zh-CN" dirty="0"/>
              <a:t>Finally</a:t>
            </a:r>
            <a:r>
              <a:rPr lang="zh-CN" altLang="en-US" dirty="0"/>
              <a:t>后的语句总会执行</a:t>
            </a:r>
          </a:p>
        </p:txBody>
      </p:sp>
    </p:spTree>
    <p:extLst>
      <p:ext uri="{BB962C8B-B14F-4D97-AF65-F5344CB8AC3E}">
        <p14:creationId xmlns:p14="http://schemas.microsoft.com/office/powerpoint/2010/main" val="293646576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88640"/>
            <a:ext cx="5688632" cy="61206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try: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n=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int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(input("input number of students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"))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k=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int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(input("how many students in one class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"))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if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n%k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==0: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m=n//k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else: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m=n//k+1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print("%d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个班级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"%m)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except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ValueError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print("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输入了非整数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")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except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ZeroDivisionError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print("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班级人数为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0")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except: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print("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其它错误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")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finally:</a:t>
            </a:r>
          </a:p>
          <a:p>
            <a:pPr marL="0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print("BYEBYE")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572000" y="2924944"/>
            <a:ext cx="4176464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zh-CN" altLang="en-US" sz="1800" kern="0" dirty="0">
                <a:latin typeface="等线" panose="02010600030101010101" pitchFamily="2" charset="-122"/>
                <a:ea typeface="等线" panose="02010600030101010101" pitchFamily="2" charset="-122"/>
              </a:rPr>
              <a:t>给定学生数，给定班级数，计算每个班级合理的学生数</a:t>
            </a:r>
            <a:endParaRPr lang="en-US" altLang="zh-CN" sz="18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452567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作业问题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412776"/>
            <a:ext cx="5120751" cy="50405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8928" y="2204864"/>
            <a:ext cx="79208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分析</a:t>
            </a:r>
          </a:p>
          <a:p>
            <a:pPr algn="just">
              <a:spcAft>
                <a:spcPts val="0"/>
              </a:spcAft>
            </a:pPr>
            <a:r>
              <a:rPr lang="zh-CN" altLang="zh-CN" sz="28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前后项目 差一个负号</a:t>
            </a:r>
          </a:p>
          <a:p>
            <a:pPr algn="just">
              <a:spcAft>
                <a:spcPts val="0"/>
              </a:spcAft>
            </a:pPr>
            <a:r>
              <a:rPr lang="zh-CN" altLang="zh-CN" sz="28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每项的分母是奇数的阶乘，项编号从</a:t>
            </a:r>
            <a:r>
              <a:rPr lang="en-US" altLang="zh-CN" sz="28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开始</a:t>
            </a:r>
            <a:r>
              <a:rPr lang="zh-CN" altLang="en-US" sz="28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级</a:t>
            </a:r>
            <a:endParaRPr lang="en-US" altLang="zh-CN" sz="2800" kern="10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2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先后项关系  </a:t>
            </a:r>
            <a:endParaRPr lang="en-US" altLang="zh-CN" sz="2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t = -t *x**2 /(n*(n-1))</a:t>
            </a:r>
            <a:endParaRPr lang="zh-CN" altLang="zh-CN" sz="2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672528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作业问题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1008063"/>
            <a:ext cx="5120751" cy="50405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56855" y="1573374"/>
            <a:ext cx="79208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s(x):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y=0.0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idx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x2=x**2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term=x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while abs(term)&gt;=1E-6: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print(term)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y=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y+term</a:t>
            </a:r>
            <a:endParaRPr lang="en-US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idx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+=2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term=-term * x2 / (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idx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*(idx-1))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return y</a:t>
            </a: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print(s(2.0))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928611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19978</TotalTime>
  <Words>6268</Words>
  <Application>Microsoft Macintosh PowerPoint</Application>
  <PresentationFormat>全屏显示(4:3)</PresentationFormat>
  <Paragraphs>662</Paragraphs>
  <Slides>61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等线</vt:lpstr>
      <vt:lpstr>黑体</vt:lpstr>
      <vt:lpstr>华文新魏</vt:lpstr>
      <vt:lpstr>微软雅黑</vt:lpstr>
      <vt:lpstr>Arial</vt:lpstr>
      <vt:lpstr>Bodoni MT Black</vt:lpstr>
      <vt:lpstr>Calibri</vt:lpstr>
      <vt:lpstr>Times New Roman</vt:lpstr>
      <vt:lpstr>Wingdings</vt:lpstr>
      <vt:lpstr>主题1</vt:lpstr>
      <vt:lpstr>第六章  数据文件</vt:lpstr>
      <vt:lpstr>一、数据文件概述</vt:lpstr>
      <vt:lpstr>PowerPoint 演示文稿</vt:lpstr>
      <vt:lpstr>PowerPoint 演示文稿</vt:lpstr>
      <vt:lpstr>PowerPoint 演示文稿</vt:lpstr>
      <vt:lpstr>PowerPoint 演示文稿</vt:lpstr>
      <vt:lpstr>文件访问</vt:lpstr>
      <vt:lpstr>6.2.1  文本文件的打开与关闭</vt:lpstr>
      <vt:lpstr>文件的读写模式</vt:lpstr>
      <vt:lpstr> 文件与文件路径</vt:lpstr>
      <vt:lpstr>补充—文件的编码问题</vt:lpstr>
      <vt:lpstr>2. 文件关闭：close()方法</vt:lpstr>
      <vt:lpstr>PowerPoint 演示文稿</vt:lpstr>
      <vt:lpstr>6.2.2  文件的读写</vt:lpstr>
      <vt:lpstr>(1) read方法：从一个打开的文件中读取字符串</vt:lpstr>
      <vt:lpstr>读文件例</vt:lpstr>
      <vt:lpstr>读文件示例：读入文件内容，查找其中单词 window  出现的次数。</vt:lpstr>
      <vt:lpstr>PowerPoint 演示文稿</vt:lpstr>
      <vt:lpstr>readline的典型例子，判断文件结尾 例子 读学生成绩文件，直到最后</vt:lpstr>
      <vt:lpstr>PowerPoint 演示文稿</vt:lpstr>
      <vt:lpstr>PowerPoint 演示文稿</vt:lpstr>
      <vt:lpstr>4、readlines方法</vt:lpstr>
      <vt:lpstr>读文件示例：</vt:lpstr>
      <vt:lpstr>使用readlines方法：</vt:lpstr>
      <vt:lpstr>回顾-读文件总结</vt:lpstr>
      <vt:lpstr>文件例子   随堂编程</vt:lpstr>
      <vt:lpstr>文件例子—重要</vt:lpstr>
      <vt:lpstr>写文件</vt:lpstr>
      <vt:lpstr>写文件</vt:lpstr>
      <vt:lpstr>1、write方法</vt:lpstr>
      <vt:lpstr>write续</vt:lpstr>
      <vt:lpstr>写文件示例</vt:lpstr>
      <vt:lpstr>2、writelines方法</vt:lpstr>
      <vt:lpstr>写文件例子</vt:lpstr>
      <vt:lpstr>写文件例子</vt:lpstr>
      <vt:lpstr>写文件例子</vt:lpstr>
      <vt:lpstr>模式与操作</vt:lpstr>
      <vt:lpstr>读写文件示例</vt:lpstr>
      <vt:lpstr>例6.2 用文件实现例6.1的功能。</vt:lpstr>
      <vt:lpstr>PowerPoint 演示文稿</vt:lpstr>
      <vt:lpstr>PowerPoint 演示文稿</vt:lpstr>
      <vt:lpstr>PowerPoint 演示文稿</vt:lpstr>
      <vt:lpstr>文件读写</vt:lpstr>
      <vt:lpstr>例6-3：数据加密</vt:lpstr>
      <vt:lpstr>PowerPoint 演示文稿</vt:lpstr>
      <vt:lpstr>PowerPoint 演示文稿</vt:lpstr>
      <vt:lpstr>PowerPoint 演示文稿</vt:lpstr>
      <vt:lpstr>PowerPoint 演示文稿</vt:lpstr>
      <vt:lpstr>小知识现场笔试</vt:lpstr>
      <vt:lpstr>应用实例：数据分拣</vt:lpstr>
      <vt:lpstr>应用实例：数据分拣</vt:lpstr>
      <vt:lpstr>数据分拣</vt:lpstr>
      <vt:lpstr>数据分拣</vt:lpstr>
      <vt:lpstr>CSV文件</vt:lpstr>
      <vt:lpstr>PowerPoint 演示文稿</vt:lpstr>
      <vt:lpstr>异常处理：</vt:lpstr>
      <vt:lpstr>例：</vt:lpstr>
      <vt:lpstr>异常处理的复杂形式</vt:lpstr>
      <vt:lpstr>PowerPoint 演示文稿</vt:lpstr>
      <vt:lpstr>作业问题</vt:lpstr>
      <vt:lpstr>作业问题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554</cp:revision>
  <dcterms:created xsi:type="dcterms:W3CDTF">2010-02-28T17:17:53Z</dcterms:created>
  <dcterms:modified xsi:type="dcterms:W3CDTF">2026-05-20T05:30:33Z</dcterms:modified>
</cp:coreProperties>
</file>