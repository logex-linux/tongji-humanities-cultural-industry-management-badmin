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851618051a4aa7" /><Relationship Type="http://schemas.openxmlformats.org/officeDocument/2006/relationships/extended-properties" Target="/docProps/app.xml" Id="R5b550d6ca995486c" /><Relationship Type="http://schemas.openxmlformats.org/officeDocument/2006/relationships/officeDocument" Target="/ppt/presentation.xml" Id="Rf321632cb9e843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47713c1ed04500"/>
  </p:sldMasterIdLst>
  <p:notesMasterIdLst>
    <p:notesMasterId xmlns:r="http://schemas.openxmlformats.org/officeDocument/2006/relationships" r:id="Rfa746b06ab524624"/>
  </p:notesMasterIdLst>
  <p:sldIdLst>
    <p:sldId xmlns:r="http://schemas.openxmlformats.org/officeDocument/2006/relationships" id="256" r:id="Re881165b6e114311"/>
    <p:sldId xmlns:r="http://schemas.openxmlformats.org/officeDocument/2006/relationships" id="257" r:id="R1523a264fef94846"/>
    <p:sldId xmlns:r="http://schemas.openxmlformats.org/officeDocument/2006/relationships" id="258" r:id="Rff5c2b5e48194e79"/>
    <p:sldId xmlns:r="http://schemas.openxmlformats.org/officeDocument/2006/relationships" id="259" r:id="Rec0c687b3a084dfd"/>
    <p:sldId xmlns:r="http://schemas.openxmlformats.org/officeDocument/2006/relationships" id="260" r:id="R5517207810514b72"/>
    <p:sldId xmlns:r="http://schemas.openxmlformats.org/officeDocument/2006/relationships" id="261" r:id="R24792ab3490a46b2"/>
    <p:sldId xmlns:r="http://schemas.openxmlformats.org/officeDocument/2006/relationships" id="262" r:id="R9f4cf3a3e31a46d1"/>
    <p:sldId xmlns:r="http://schemas.openxmlformats.org/officeDocument/2006/relationships" id="263" r:id="R7eb09d9ff0ab4eb9"/>
    <p:sldId xmlns:r="http://schemas.openxmlformats.org/officeDocument/2006/relationships" id="264" r:id="R2666b5ec7cb64611"/>
    <p:sldId xmlns:r="http://schemas.openxmlformats.org/officeDocument/2006/relationships" id="265" r:id="R6589ca73e91b4c25"/>
    <p:sldId xmlns:r="http://schemas.openxmlformats.org/officeDocument/2006/relationships" id="266" r:id="R5e4ac1a53e2e498b"/>
    <p:sldId xmlns:r="http://schemas.openxmlformats.org/officeDocument/2006/relationships" id="267" r:id="R20d9c4f3aa6a4454"/>
    <p:sldId xmlns:r="http://schemas.openxmlformats.org/officeDocument/2006/relationships" id="268" r:id="R24232654705d47b3"/>
    <p:sldId xmlns:r="http://schemas.openxmlformats.org/officeDocument/2006/relationships" id="269" r:id="R378f1aa0e31b4845"/>
    <p:sldId xmlns:r="http://schemas.openxmlformats.org/officeDocument/2006/relationships" id="270" r:id="R17cf39745c1f490f"/>
    <p:sldId xmlns:r="http://schemas.openxmlformats.org/officeDocument/2006/relationships" id="271" r:id="R2a019bb69822488b"/>
    <p:sldId xmlns:r="http://schemas.openxmlformats.org/officeDocument/2006/relationships" id="272" r:id="Rea51130763f04aac"/>
    <p:sldId xmlns:r="http://schemas.openxmlformats.org/officeDocument/2006/relationships" id="273" r:id="Rcd22f5188c4740d7"/>
    <p:sldId xmlns:r="http://schemas.openxmlformats.org/officeDocument/2006/relationships" id="274" r:id="R61b5fd170ec845ef"/>
    <p:sldId xmlns:r="http://schemas.openxmlformats.org/officeDocument/2006/relationships" id="275" r:id="R40b52b081af84745"/>
    <p:sldId xmlns:r="http://schemas.openxmlformats.org/officeDocument/2006/relationships" id="276" r:id="R38d6323af37145f2"/>
    <p:sldId xmlns:r="http://schemas.openxmlformats.org/officeDocument/2006/relationships" id="277" r:id="Re0905d9333194fc6"/>
    <p:sldId xmlns:r="http://schemas.openxmlformats.org/officeDocument/2006/relationships" id="278" r:id="R64807925888945b6"/>
    <p:sldId xmlns:r="http://schemas.openxmlformats.org/officeDocument/2006/relationships" id="279" r:id="R08302d7834fc43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81026d07be43c0" /><Relationship Type="http://schemas.openxmlformats.org/officeDocument/2006/relationships/slideMaster" Target="/ppt/slideMasters/slideMaster1.xml" Id="R5f47713c1ed04500" /><Relationship Type="http://schemas.openxmlformats.org/officeDocument/2006/relationships/notesMaster" Target="/ppt/notesMasters/notesMaster1.xml" Id="Rfa746b06ab524624" /><Relationship Type="http://schemas.openxmlformats.org/officeDocument/2006/relationships/presProps" Target="/ppt/presProps.xml" Id="R764982a47321461c" /><Relationship Type="http://schemas.openxmlformats.org/officeDocument/2006/relationships/tableStyles" Target="/ppt/tableStyles.xml" Id="Racb74e9178814be5" /><Relationship Type="http://schemas.openxmlformats.org/officeDocument/2006/relationships/slide" Target="/ppt/slides/slide1.xml" Id="Re881165b6e114311" /><Relationship Type="http://schemas.openxmlformats.org/officeDocument/2006/relationships/slide" Target="/ppt/slides/slide2.xml" Id="R1523a264fef94846" /><Relationship Type="http://schemas.openxmlformats.org/officeDocument/2006/relationships/slide" Target="/ppt/slides/slide3.xml" Id="Rff5c2b5e48194e79" /><Relationship Type="http://schemas.openxmlformats.org/officeDocument/2006/relationships/slide" Target="/ppt/slides/slide4.xml" Id="Rec0c687b3a084dfd" /><Relationship Type="http://schemas.openxmlformats.org/officeDocument/2006/relationships/slide" Target="/ppt/slides/slide5.xml" Id="R5517207810514b72" /><Relationship Type="http://schemas.openxmlformats.org/officeDocument/2006/relationships/slide" Target="/ppt/slides/slide6.xml" Id="R24792ab3490a46b2" /><Relationship Type="http://schemas.openxmlformats.org/officeDocument/2006/relationships/slide" Target="/ppt/slides/slide7.xml" Id="R9f4cf3a3e31a46d1" /><Relationship Type="http://schemas.openxmlformats.org/officeDocument/2006/relationships/slide" Target="/ppt/slides/slide8.xml" Id="R7eb09d9ff0ab4eb9" /><Relationship Type="http://schemas.openxmlformats.org/officeDocument/2006/relationships/slide" Target="/ppt/slides/slide9.xml" Id="R2666b5ec7cb64611" /><Relationship Type="http://schemas.openxmlformats.org/officeDocument/2006/relationships/slide" Target="/ppt/slides/slide10.xml" Id="R6589ca73e91b4c25" /><Relationship Type="http://schemas.openxmlformats.org/officeDocument/2006/relationships/slide" Target="/ppt/slides/slide11.xml" Id="R5e4ac1a53e2e498b" /><Relationship Type="http://schemas.openxmlformats.org/officeDocument/2006/relationships/slide" Target="/ppt/slides/slide12.xml" Id="R20d9c4f3aa6a4454" /><Relationship Type="http://schemas.openxmlformats.org/officeDocument/2006/relationships/slide" Target="/ppt/slides/slide13.xml" Id="R24232654705d47b3" /><Relationship Type="http://schemas.openxmlformats.org/officeDocument/2006/relationships/slide" Target="/ppt/slides/slide14.xml" Id="R378f1aa0e31b4845" /><Relationship Type="http://schemas.openxmlformats.org/officeDocument/2006/relationships/slide" Target="/ppt/slides/slide15.xml" Id="R17cf39745c1f490f" /><Relationship Type="http://schemas.openxmlformats.org/officeDocument/2006/relationships/slide" Target="/ppt/slides/slide16.xml" Id="R2a019bb69822488b" /><Relationship Type="http://schemas.openxmlformats.org/officeDocument/2006/relationships/slide" Target="/ppt/slides/slide17.xml" Id="Rea51130763f04aac" /><Relationship Type="http://schemas.openxmlformats.org/officeDocument/2006/relationships/slide" Target="/ppt/slides/slide18.xml" Id="Rcd22f5188c4740d7" /><Relationship Type="http://schemas.openxmlformats.org/officeDocument/2006/relationships/slide" Target="/ppt/slides/slide19.xml" Id="R61b5fd170ec845ef" /><Relationship Type="http://schemas.openxmlformats.org/officeDocument/2006/relationships/slide" Target="/ppt/slides/slide20.xml" Id="R40b52b081af84745" /><Relationship Type="http://schemas.openxmlformats.org/officeDocument/2006/relationships/slide" Target="/ppt/slides/slide21.xml" Id="R38d6323af37145f2" /><Relationship Type="http://schemas.openxmlformats.org/officeDocument/2006/relationships/slide" Target="/ppt/slides/slide22.xml" Id="Re0905d9333194fc6" /><Relationship Type="http://schemas.openxmlformats.org/officeDocument/2006/relationships/slide" Target="/ppt/slides/slide23.xml" Id="R64807925888945b6" /><Relationship Type="http://schemas.openxmlformats.org/officeDocument/2006/relationships/slide" Target="/ppt/slides/slide24.xml" Id="R08302d7834fc43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8e72d5a5af4f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无面的佛·论文细读">
      <a:dk1>
        <a:srgbClr val="26231F"/>
      </a:dk1>
      <a:lt1>
        <a:srgbClr val="FFFFFF"/>
      </a:lt1>
      <a:dk2>
        <a:srgbClr val="756C60"/>
      </a:dk2>
      <a:lt2>
        <a:srgbClr val="F3EEE5"/>
      </a:lt2>
      <a:accent1>
        <a:srgbClr val="82483C"/>
      </a:accent1>
      <a:accent2>
        <a:srgbClr val="756C60"/>
      </a:accent2>
      <a:accent3>
        <a:srgbClr val="B19A75"/>
      </a:accent3>
      <a:accent4>
        <a:srgbClr val="575E4C"/>
      </a:accent4>
      <a:accent5>
        <a:srgbClr val="725E5C"/>
      </a:accent5>
      <a:accent6>
        <a:srgbClr val="A8785B"/>
      </a:accent6>
      <a:hlink>
        <a:srgbClr val="82483C"/>
      </a:hlink>
      <a:folHlink>
        <a:srgbClr val="82483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无面的佛·论文细读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c5eac8ec4a4650" /><Relationship Type="http://schemas.openxmlformats.org/officeDocument/2006/relationships/notesMaster" Target="/ppt/notesMasters/notesMaster1.xml" Id="R7b68add9f2f84b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6154daaa154598" /><Relationship Type="http://schemas.openxmlformats.org/officeDocument/2006/relationships/notesMaster" Target="/ppt/notesMasters/notesMaster1.xml" Id="R37781bbe84b746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0f6dab005041a8" /><Relationship Type="http://schemas.openxmlformats.org/officeDocument/2006/relationships/notesMaster" Target="/ppt/notesMasters/notesMaster1.xml" Id="R59c772e46c754f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f75ce64a534c6b" /><Relationship Type="http://schemas.openxmlformats.org/officeDocument/2006/relationships/notesMaster" Target="/ppt/notesMasters/notesMaster1.xml" Id="R0a771a34e9d243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f7045b3dbd469b" /><Relationship Type="http://schemas.openxmlformats.org/officeDocument/2006/relationships/notesMaster" Target="/ppt/notesMasters/notesMaster1.xml" Id="Rc7f5df00af5f4b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25172770e6411f" /><Relationship Type="http://schemas.openxmlformats.org/officeDocument/2006/relationships/notesMaster" Target="/ppt/notesMasters/notesMaster1.xml" Id="Ra9ed6aa585a54a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148a9c7f0a4cda" /><Relationship Type="http://schemas.openxmlformats.org/officeDocument/2006/relationships/notesMaster" Target="/ppt/notesMasters/notesMaster1.xml" Id="R2ff38016de9a43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fe1560d3b04769" /><Relationship Type="http://schemas.openxmlformats.org/officeDocument/2006/relationships/notesMaster" Target="/ppt/notesMasters/notesMaster1.xml" Id="R967bbf45afd54d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768901ff4243e4" /><Relationship Type="http://schemas.openxmlformats.org/officeDocument/2006/relationships/notesMaster" Target="/ppt/notesMasters/notesMaster1.xml" Id="R3d76a828086e44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e99b5b1ae94ab8" /><Relationship Type="http://schemas.openxmlformats.org/officeDocument/2006/relationships/notesMaster" Target="/ppt/notesMasters/notesMaster1.xml" Id="Rd5dc6d3dc60042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38010a13714288" /><Relationship Type="http://schemas.openxmlformats.org/officeDocument/2006/relationships/notesMaster" Target="/ppt/notesMasters/notesMaster1.xml" Id="R6d7becf3305d49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141aa51a984b14" /><Relationship Type="http://schemas.openxmlformats.org/officeDocument/2006/relationships/notesMaster" Target="/ppt/notesMasters/notesMaster1.xml" Id="Ra6eb61e358364b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9b0496b7314f74" /><Relationship Type="http://schemas.openxmlformats.org/officeDocument/2006/relationships/notesMaster" Target="/ppt/notesMasters/notesMaster1.xml" Id="R2e4cdb4465854c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7841b81f0145a3" /><Relationship Type="http://schemas.openxmlformats.org/officeDocument/2006/relationships/notesMaster" Target="/ppt/notesMasters/notesMaster1.xml" Id="R4b99128cfc7144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0a3064c5db49ef" /><Relationship Type="http://schemas.openxmlformats.org/officeDocument/2006/relationships/notesMaster" Target="/ppt/notesMasters/notesMaster1.xml" Id="R1acb921d624b43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d31af93b024024" /><Relationship Type="http://schemas.openxmlformats.org/officeDocument/2006/relationships/notesMaster" Target="/ppt/notesMasters/notesMaster1.xml" Id="R0f2b528aafef4bf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6273b16879c4e3e" /><Relationship Type="http://schemas.openxmlformats.org/officeDocument/2006/relationships/notesMaster" Target="/ppt/notesMasters/notesMaster1.xml" Id="R7373899eef0e4f9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b435ee5052e4683" /><Relationship Type="http://schemas.openxmlformats.org/officeDocument/2006/relationships/notesMaster" Target="/ppt/notesMasters/notesMaster1.xml" Id="R94b9b4967f4941d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3fba50cdb8d4105" /><Relationship Type="http://schemas.openxmlformats.org/officeDocument/2006/relationships/notesMaster" Target="/ppt/notesMasters/notesMaster1.xml" Id="Ra51e40105cc648e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aa8de11e50c42a0" /><Relationship Type="http://schemas.openxmlformats.org/officeDocument/2006/relationships/notesMaster" Target="/ppt/notesMasters/notesMaster1.xml" Id="Rec2ccced3bcd435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2cb9f7a2bd74551" /><Relationship Type="http://schemas.openxmlformats.org/officeDocument/2006/relationships/notesMaster" Target="/ppt/notesMasters/notesMaster1.xml" Id="Rd4f8b494bd4946f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554eeae3c48434d" /><Relationship Type="http://schemas.openxmlformats.org/officeDocument/2006/relationships/notesMaster" Target="/ppt/notesMasters/notesMaster1.xml" Id="Rba6a6fb22d0f48c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8777cdf49a54dd6" /><Relationship Type="http://schemas.openxmlformats.org/officeDocument/2006/relationships/notesMaster" Target="/ppt/notesMasters/notesMaster1.xml" Id="R5c238497585d4c5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0e61fe5928748c2" /><Relationship Type="http://schemas.openxmlformats.org/officeDocument/2006/relationships/notesMaster" Target="/ppt/notesMasters/notesMaster1.xml" Id="R5508bf9cd33645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个人观展起点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沿用原作业题目。展示本人在中国工艺美术馆拍摄的展厅照片。</a:t>
            </a:r>
          </a:p>
          <a:p xmlns:a="http://schemas.openxmlformats.org/drawingml/2006/main">
            <a:r>
              <a:t>• 将最初的疑问保留在开头：面容已经消失时，是否应重新画出它？补绘与原作是什么关系？</a:t>
            </a:r>
          </a:p>
          <a:p xmlns:a="http://schemas.openxmlformats.org/drawingml/2006/main">
            <a:r>
              <a:t>• 后面的论述以付心仪等人论文的具体概念、操作和评价为主线。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补充你在展厅第一次留意到面容的真实经过。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《药师佛佛会图》临摹作品，展厅现场。照片：某同学摄于中国工艺美术馆。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观展疑问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这张有名称的《说法图》（摹）保留了面容难辨的状态。</a:t>
            </a:r>
          </a:p>
          <a:p xmlns:a="http://schemas.openxmlformats.org/drawingml/2006/main">
            <a:r>
              <a:t>• 区分看到的现象和对其成因的判断。发暗、模糊和颜料脱落不能仅凭一张照片就认定为同一种病害。</a:t>
            </a:r>
          </a:p>
          <a:p xmlns:a="http://schemas.openxmlformats.org/drawingml/2006/main">
            <a:r>
              <a:t>• 原作业重心是损毁成因；本次把这个背景收束成一个保护问题：我们希望补全什么，又凭什么补全？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讲清你当时如何理解“临摹”，不要补写未发生的观看细节。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图：《说法图》（摹），名称据现场展签。照片：某同学摄于中国工艺美术馆。</a:t>
            </a:r>
          </a:p>
          <a:p xmlns:a="http://schemas.openxmlformats.org/drawingml/2006/main">
            <a:r>
              <a:t>文字为本人观展疑问；照片本身不足以确定具体损伤原因。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全文论证路径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主读论文是设计与图像处理研究，具体实验对象是二维壁画中的菩萨像。</a:t>
            </a:r>
          </a:p>
          <a:p xmlns:a="http://schemas.openxmlformats.org/drawingml/2006/main">
            <a:r>
              <a:t>• 作者先提出保护诉求，再界定敦煌壁画的特点，把这些特点转成数据与交互步骤，最后通过专家及用户评价成果。</a:t>
            </a:r>
          </a:p>
          <a:p xmlns:a="http://schemas.openxmlformats.org/drawingml/2006/main">
            <a:r>
              <a:t>• 本次细读沿着这个次序前进，逐项追问：这一步增加了什么信息，依据是什么，能支持怎样的结论？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用一句话解释作者真正研究的问题，再说明它怎样引出你的问题。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依据：付心仪等，2019，第21—27页。以下为对全文论证次序的归纳。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第21页·引言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作者在引言中把病害、实体修复的困难和数字化工作连接起来。实体修复的限制在这里承担提出研究需要的作用。</a:t>
            </a:r>
          </a:p>
          <a:p xmlns:a="http://schemas.openxmlformats.org/drawingml/2006/main">
            <a:r>
              <a:t>• 慢读“延缓破坏”和“复原内容”：前者指向作品材料能否继续保存，后者指向已经缺失的形象信息。数字图像可以用于研究和呈现后者。</a:t>
            </a:r>
          </a:p>
          <a:p xmlns:a="http://schemas.openxmlformats.org/drawingml/2006/main">
            <a:r>
              <a:t>• 作者并未通过本文的实验穷尽所有实体修复方法。引用这个句子时应归于作者的研究动机，不能据此断言一切实体修复都不可能补全任何图像。</a:t>
            </a:r>
          </a:p>
          <a:p xmlns:a="http://schemas.openxmlformats.org/drawingml/2006/main">
            <a:r>
              <a:t>• 数字图像完整了，也不能自动阻止原壁病害继续发展。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你的“保护”最初指物的保存，还是形象的恢复？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原文锚点：付心仪等，2019，第21页，“一、敦煌壁画的现状与困境”。</a:t>
            </a:r>
          </a:p>
          <a:p xmlns:a="http://schemas.openxmlformats.org/drawingml/2006/main">
            <a:r>
              <a:t>对“保存”与“内容复原”的区分为本次阅读分析。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第21—22页·研究缺口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作者对全自动方法的批评集中在信息不足及误检：当结构缺失严重，边缘检测和纹理合成不足以自行生成构图。</a:t>
            </a:r>
          </a:p>
          <a:p xmlns:a="http://schemas.openxmlformats.org/drawingml/2006/main">
            <a:r>
              <a:t>• 对全手工方法的批评集中在自由度和风格一致性，不是说专业手工作业一概无效。</a:t>
            </a:r>
          </a:p>
          <a:p xmlns:a="http://schemas.openxmlformats.org/drawingml/2006/main">
            <a:r>
              <a:t>• 由此提出的人机交互，一面为算法补入知识，一面希望使人工选择受到结构和风格信息的约束。</a:t>
            </a:r>
          </a:p>
          <a:p xmlns:a="http://schemas.openxmlformats.org/drawingml/2006/main">
            <a:r>
              <a:t>• 这一步为后面的线描参考提供必要性：需要增加的到底是哪一种信息？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用面容缺失的情境说明，计算机为什么需要额外信息。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原文锚点：付心仪等，2019，第21—22页，“二、现有的壁画数字化复原方法”。</a:t>
            </a:r>
          </a:p>
          <a:p xmlns:a="http://schemas.openxmlformats.org/drawingml/2006/main">
            <a:r>
              <a:t>这里呈现作者对既有方法的评述，不把被引文献当作本次已独立核读的材料。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第22页·图像观念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作者借助所引临摹研究，以线、色、神理解敦煌壁画。不要把它说成作者在本文原创的一套艺术理论。</a:t>
            </a:r>
          </a:p>
          <a:p xmlns:a="http://schemas.openxmlformats.org/drawingml/2006/main">
            <a:r>
              <a:t>• 线构建几何形态，色与不同时代的颜料及赋彩方式有关，神涉及人物整体神貌。</a:t>
            </a:r>
          </a:p>
          <a:p xmlns:a="http://schemas.openxmlformats.org/drawingml/2006/main">
            <a:r>
              <a:t>• 作者据“形神兼备”的要求提出引入人机交互。这里是研究设计的理由；后文还需要看它怎样被具体操作与评价。</a:t>
            </a:r>
          </a:p>
          <a:p xmlns:a="http://schemas.openxmlformats.org/drawingml/2006/main">
            <a:r>
              <a:t>• 面容的意义由此进入主线：眼神和朝向不仅是待填的局部，也参与人物的神貌与关系。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挑一个面部细节，说明它怎样参与“神”，避免只说“更有感觉”。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原文锚点：付心仪等，2019，第22页，“三、敦煌壁画特点剖析”，文中参引[10][11]。</a:t>
            </a:r>
          </a:p>
          <a:p xmlns:a="http://schemas.openxmlformats.org/drawingml/2006/main">
            <a:r>
              <a:t>课堂联系：《艺术概论》2026-10-14，“材料、目光与姿态如何传神”。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第22、26页·线描来源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图1展示大英博物馆部分敦煌线描藏品，是说明线描资源的例子，不是第320窟案例的原始底稿。</a:t>
            </a:r>
          </a:p>
          <a:p xmlns:a="http://schemas.openxmlformats.org/drawingml/2006/main">
            <a:r>
              <a:t>• 作者在概述中列举画师当年的线描手稿和后期临摹等来源；具体实验则邀请关晋文绘制相应线描。</a:t>
            </a:r>
          </a:p>
          <a:p xmlns:a="http://schemas.openxmlformats.org/drawingml/2006/main">
            <a:r>
              <a:t>• 需要逐项问这些材料与待复原图像是什么关系。古代手稿不自动等于该幅壁画的逐笔底稿；当代专家线描也需要说明其残迹依据与比较推断。</a:t>
            </a:r>
          </a:p>
          <a:p xmlns:a="http://schemas.openxmlformats.org/drawingml/2006/main">
            <a:r>
              <a:t>• 这里并不否定专家绘图的价值，而是把专业合理性与历史证据的直接性分开讨论。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如果五官全失，你希望线描作者提供哪些依据？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图：付心仪等，2019，第22页图1；线描来源据同页正文。</a:t>
            </a:r>
          </a:p>
          <a:p xmlns:a="http://schemas.openxmlformats.org/drawingml/2006/main">
            <a:r>
              <a:t>第320窟案例的线描绘制者据同文第26页。来源差异的讨论为本次分析。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第23页·需求形成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系统的典型用户被确定为实体壁画修复专家。作者访谈敦煌研究院保护所5位专家，整理软件与成果需求。</a:t>
            </a:r>
          </a:p>
          <a:p xmlns:a="http://schemas.openxmlformats.org/drawingml/2006/main">
            <a:r>
              <a:t>• 表1同时要求实用、易操作、反馈直观，以及结果在视觉上完整和谐。这说明完整性并非计算机自行产生的中性目标，而是由工作需求带入系统。</a:t>
            </a:r>
          </a:p>
          <a:p xmlns:a="http://schemas.openxmlformats.org/drawingml/2006/main">
            <a:r>
              <a:t>• 需求表能够说明使用者希望得到什么；需求本身还不能证明所补内容在历史上就是如此。</a:t>
            </a:r>
          </a:p>
          <a:p xmlns:a="http://schemas.openxmlformats.org/drawingml/2006/main">
            <a:r>
              <a:t>• 这一点在后面的评价中继续追踪：最后的实验主要检验这些需求中的哪几项？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为什么专家希望图像完整？这种希望与公众理解有什么关系？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原文锚点：付心仪等，2019，第23页，“用户定位和用户需求”及表1。</a:t>
            </a:r>
          </a:p>
          <a:p xmlns:a="http://schemas.openxmlformats.org/drawingml/2006/main">
            <a:r>
              <a:t>引文取自表1“结果需求”；目标与评价关系为本次阅读分析。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第23—24页·数据准备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壁画数据提供采集的现存图像；线描数据提供轮廓与构图；样式数据为颜色和纹理提供参考。</a:t>
            </a:r>
          </a:p>
          <a:p xmlns:a="http://schemas.openxmlformats.org/drawingml/2006/main">
            <a:r>
              <a:t>• 慢读“信息加成”：复原并非只让原图自行显出曾经丢失的内容，而是引入来源不同的材料来补充它。</a:t>
            </a:r>
          </a:p>
          <a:p xmlns:a="http://schemas.openxmlformats.org/drawingml/2006/main">
            <a:r>
              <a:t>• 表2列出45幅整图、542幅拼接图和134幅细节图，不能把这些照片数量视作同等数量的独立复原验证案例；该表也没有列出另外两类数据集的完整规模。</a:t>
            </a:r>
          </a:p>
          <a:p xmlns:a="http://schemas.openxmlformats.org/drawingml/2006/main">
            <a:r>
              <a:t>• 因此，数据数量和材料的证明力需要分别判断。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哪一种数据可以直接记录这件壁画，哪一种更多用于参照？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图：付心仪等，2019，第23页图2；数据准备据第23—24页。</a:t>
            </a:r>
          </a:p>
          <a:p xmlns:a="http://schemas.openxmlformats.org/drawingml/2006/main">
            <a:r>
              <a:t>表2列出的是壁画照片数据，不是已经验证的复原样例总数。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第23—26页·系统流程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图3把处理分为图像分割、破损标注、内容填充，步骤依次使用上一阶段的结果。</a:t>
            </a:r>
          </a:p>
          <a:p xmlns:a="http://schemas.openxmlformats.org/drawingml/2006/main">
            <a:r>
              <a:t>• 线描参与分割，人的选择参与标注，样式和参考区域参与填充。</a:t>
            </a:r>
          </a:p>
          <a:p xmlns:a="http://schemas.openxmlformats.org/drawingml/2006/main">
            <a:r>
              <a:t>• 后一步依赖前一步：如果区域判断或参考来源有问题，最后看起来平滑的图像不能自行弥补这些依据上的缺口。</a:t>
            </a:r>
          </a:p>
          <a:p xmlns:a="http://schemas.openxmlformats.org/drawingml/2006/main">
            <a:r>
              <a:t>• 接下来的三页分别细读每一步，而不是只复述软件流程名称。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选择一个步骤，说明它怎样影响后续的面容复原。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图：付心仪等，2019，第23页图3；流程解释据第23—26页。</a:t>
            </a:r>
          </a:p>
          <a:p xmlns:a="http://schemas.openxmlformats.org/drawingml/2006/main">
            <a:r>
              <a:t>对判断位置的归纳为本次阅读分析。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第24—25页·图像分割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自动分割得到的颜色连通区域，不必然等于绘画中有意义的部位。</a:t>
            </a:r>
          </a:p>
          <a:p xmlns:a="http://schemas.openxmlformats.org/drawingml/2006/main">
            <a:r>
              <a:t>• 作者举出菩萨大臂和小臂本应归类、背光与背景本应分开等例子，允许操作者合并或拆分区域。</a:t>
            </a:r>
          </a:p>
          <a:p xmlns:a="http://schemas.openxmlformats.org/drawingml/2006/main">
            <a:r>
              <a:t>• 图6的左右图显示自动结果与优化后结果。图中的彩色块是分割标记，不是作者为壁画重新选择的实际颜料色。</a:t>
            </a:r>
          </a:p>
          <a:p xmlns:a="http://schemas.openxmlformats.org/drawingml/2006/main">
            <a:r>
              <a:t>• 这一页说明：对形象部位的理解已经进入技术流程，后面的填充以这种结构判断为前提。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从图6指出一处区域变化，解释它为何与画面结构有关。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图：付心仪等，2019，第24页图6（从原文组合图中截取）。</a:t>
            </a:r>
          </a:p>
          <a:p xmlns:a="http://schemas.openxmlformats.org/drawingml/2006/main">
            <a:r>
              <a:t>原文操作与例子见第25页“图像分割”；引文取自同段。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第25页·破损标注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用户先调整颜色扩展范围，再点击自己判定为破损的区域，系统选取相应RGB范围内的像素。用户可以保存或取消，继续迭代。</a:t>
            </a:r>
          </a:p>
          <a:p xmlns:a="http://schemas.openxmlformats.org/drawingml/2006/main">
            <a:r>
              <a:t>• 图7左侧为处理中的图像，右侧显示标注结果。不要把界面中已经处理的图像直接当作未经处理的原壁现状。</a:t>
            </a:r>
          </a:p>
          <a:p xmlns:a="http://schemas.openxmlformats.org/drawingml/2006/main">
            <a:r>
              <a:t>• 关键是“用户判定”：算法响应选择，并不单独完成病害成因与历史痕迹的鉴别。</a:t>
            </a:r>
          </a:p>
          <a:p xmlns:a="http://schemas.openxmlformats.org/drawingml/2006/main">
            <a:r>
              <a:t>• 作者此前担忧自动检测会误选正常颜色，因此人工参与在这里承担修正作用。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为什么一块颜色异常的区域，不能单靠颜色就决定应被清除？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图：付心仪等，2019，第25页图7，截取上半部原图。</a:t>
            </a:r>
          </a:p>
          <a:p xmlns:a="http://schemas.openxmlformats.org/drawingml/2006/main">
            <a:r>
              <a:t>引文及RGB范围选择、迭代操作见同页“破损标注”。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第25—26页·内容填充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操作者选择目标区域和参考区域，参考部分的颜色与纹理用于填充；破损不严重时，可以利用目标区域自身的完好部分。</a:t>
            </a:r>
          </a:p>
          <a:p xmlns:a="http://schemas.openxmlformats.org/drawingml/2006/main">
            <a:r>
              <a:t>• 操作者还可以调整单步填充尺寸。作者说明它影响速度与纹理细致程度。</a:t>
            </a:r>
          </a:p>
          <a:p xmlns:a="http://schemas.openxmlformats.org/drawingml/2006/main">
            <a:r>
              <a:t>• 图像在视觉上变得连续，依赖轮廓与参考表面信息的共同作用；这些信息的来源和适用性仍须解释。</a:t>
            </a:r>
          </a:p>
          <a:p xmlns:a="http://schemas.openxmlformats.org/drawingml/2006/main">
            <a:r>
              <a:t>• 面部轮廓依据什么、肤色纹理依据什么，可以分别追问，避免用“像敦煌”替代所有细节的依据。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设想补绘面容时，你会怎样说明某个参考区域为什么适用？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图：付心仪等，2019，第25页图8，截取下半部原图。</a:t>
            </a:r>
          </a:p>
          <a:p xmlns:a="http://schemas.openxmlformats.org/drawingml/2006/main">
            <a:r>
              <a:t>目标区域、参考区域与填充参数的说明见第25—26页。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第26页·处理范围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作者允许两种处理：只填破损部分，或重新填充整个目标区域。选择与区域内破损部分的占比有关。</a:t>
            </a:r>
          </a:p>
          <a:p xmlns:a="http://schemas.openxmlformats.org/drawingml/2006/main">
            <a:r>
              <a:t>• 慢读“视觉上的统一性”：作者明确说明整区重绘的一个收益是视觉效果连续。</a:t>
            </a:r>
          </a:p>
          <a:p xmlns:a="http://schemas.openxmlformats.org/drawingml/2006/main">
            <a:r>
              <a:t>• 这一收益值得承认，但它与新增内容在历史上是否完全一致是不同层次。</a:t>
            </a:r>
          </a:p>
          <a:p xmlns:a="http://schemas.openxmlformats.org/drawingml/2006/main">
            <a:r>
              <a:t>• 在数字副本里可以保留原始文件并另出复原版本；本人的追问是展示时怎样让观众看见原存信息和新解释，而非将此操作误说成覆盖原壁。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你愿意用什么展示方式同时说明原状与重绘结果？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原文锚点：付心仪等，2019，第26页左栏，接续“内容填充”的说明。</a:t>
            </a:r>
          </a:p>
          <a:p xmlns:a="http://schemas.openxmlformats.org/drawingml/2006/main">
            <a:r>
              <a:t>操作发生在数字图像中；视觉统一与证据呈现的讨论为本次分析。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第26页·结果图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先看全身与服饰，观察左图衣摆及下肢区域的线条和纹饰如何不连续，再看右图对轮廓与衣纹的组织。</a:t>
            </a:r>
          </a:p>
          <a:p xmlns:a="http://schemas.openxmlformats.org/drawingml/2006/main">
            <a:r>
              <a:t>• 原图的头光、局部色彩与人物基本姿态仍可辨；结果图使形象更容易整体识读。</a:t>
            </a:r>
          </a:p>
          <a:p xmlns:a="http://schemas.openxmlformats.org/drawingml/2006/main">
            <a:r>
              <a:t>• 直接可见的是图像连续性的改善。它值得肯定，但并不能仅凭“更完整”就确定每一新增细节的历史正确性。</a:t>
            </a:r>
          </a:p>
          <a:p xmlns:a="http://schemas.openxmlformats.org/drawingml/2006/main">
            <a:r>
              <a:t>• 下一页再缩小到面容，检验这个案例和开头设想的关系。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指出两处真实可见的变化，说明它们怎样影响你的观看。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图：付心仪等，2019，第26页图9。左为破损壁画原图，右为几何复原结果。</a:t>
            </a:r>
          </a:p>
          <a:p xmlns:a="http://schemas.openxmlformats.org/drawingml/2006/main">
            <a:r>
              <a:t>以下为对图版可见变化的观察，不单凭图版证明历史原貌。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第26页·案例条件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把“又保存相对完好”放回图9：左图眼鼻口及面部朝向仍可辨，作者没有选择一张完全空白的脸作实验。</a:t>
            </a:r>
          </a:p>
          <a:p xmlns:a="http://schemas.openxmlformats.org/drawingml/2006/main">
            <a:r>
              <a:t>• 完整度增加并不意味着所有信息都从零生成；这一案例有残迹，又有专家绘制的相应线描。</a:t>
            </a:r>
          </a:p>
          <a:p xmlns:a="http://schemas.openxmlformats.org/drawingml/2006/main">
            <a:r>
              <a:t>• 因此，对“面容全失”的讨论必须标为进一步情境，不能作为作者已经解决的实验条件。</a:t>
            </a:r>
          </a:p>
          <a:p xmlns:a="http://schemas.openxmlformats.org/drawingml/2006/main">
            <a:r>
              <a:t>• 这个限定使论文的实际贡献更准确，也让自己的追问有清楚的材料起点。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仅凭左图，你能够确认什么？还有什么必须借助其他材料？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图：付心仪等，2019，第26页图9面容局部；仅作局部显示，未改画。</a:t>
            </a:r>
          </a:p>
          <a:p xmlns:a="http://schemas.openxmlformats.org/drawingml/2006/main">
            <a:r>
              <a:t>引文取自同页案例说明；线描由关晋文绘制亦据同页。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第26—27页·专业评价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作者邀请数字中心、网络中心、保护研究所、美术所等相关领域共6位专家，从原真性、完整性、可识别性、艺术性四个角度评价成果。</a:t>
            </a:r>
          </a:p>
          <a:p xmlns:a="http://schemas.openxmlformats.org/drawingml/2006/main">
            <a:r>
              <a:t>• 作者报告专家认可构图、色彩和纹理规律等特征。专业知识能够识别风格与结构的问题，应当承认其约束作用。</a:t>
            </a:r>
          </a:p>
          <a:p xmlns:a="http://schemas.openxmlformats.org/drawingml/2006/main">
            <a:r>
              <a:t>• 但本文没有展示可逐项对照新增五官的完整原貌记录，不能把专业认可直接写为每一处历史细节均已唯一确定。</a:t>
            </a:r>
          </a:p>
          <a:p xmlns:a="http://schemas.openxmlformats.org/drawingml/2006/main">
            <a:r>
              <a:t>• 不要把这里的“可识别性”自行规定成新增部分必然清晰可辨，文中未给出这种细则。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专家认可对你判断复原有什么帮助？它还不能单独回答什么？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评价文字：付心仪等，2019，第26页，作者对6位专家评价的转述。</a:t>
            </a:r>
          </a:p>
          <a:p xmlns:a="http://schemas.openxmlformats.org/drawingml/2006/main">
            <a:r>
              <a:t>图：同文第27页图10。对证据强度的区分为本次阅读分析。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第26—27页·用户实验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用户实验共15人，专家、工程师、设计师各5人。需求访谈5位专家、成果评价6位专家和此项实验的任务不同，文中未明确三者人员是否重合。</a:t>
            </a:r>
          </a:p>
          <a:p xmlns:a="http://schemas.openxmlformats.org/drawingml/2006/main">
            <a:r>
              <a:t>• 表3的总体评分是易学性4.30、易用性3.70、结果满意度3.98，量表满分5。</a:t>
            </a:r>
          </a:p>
          <a:p xmlns:a="http://schemas.openxmlformats.org/drawingml/2006/main">
            <a:r>
              <a:t>• 这些评分检验系统使用体验及结果满意度，不能把3.98分换算成79.6%的原貌准确率。</a:t>
            </a:r>
          </a:p>
          <a:p xmlns:a="http://schemas.openxmlformats.org/drawingml/2006/main">
            <a:r>
              <a:t>• 样本规模与实验任务也不自动支持对所有壁画、所有使用者的普遍结论。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用自己的话解释满意与准确之间的关系，避免否定专业经验的作用。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数据：付心仪等，2019，第27页表3“总体评价”，5分制。</a:t>
            </a:r>
          </a:p>
          <a:p xmlns:a="http://schemas.openxmlformats.org/drawingml/2006/main">
            <a:r>
              <a:t>15位被试、三组构成与任务说明见第26页；右列为对评分对象的释义。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第27页·结论边界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作者结语强调方法有效、系统易学易用和高效率，并承认还需扩展样例、扩大数据集，优化算法及视觉、交互设计。</a:t>
            </a:r>
          </a:p>
          <a:p xmlns:a="http://schemas.openxmlformats.org/drawingml/2006/main">
            <a:r>
              <a:t>• 把结论分别接回证据：原型及典型案例支持方法可行；专家评价支持专业认可；用户量表对应易学、易用与满意度。</a:t>
            </a:r>
          </a:p>
          <a:p xmlns:a="http://schemas.openxmlformats.org/drawingml/2006/main">
            <a:r>
              <a:t>• “高效率”还应有任务用时或与其他方法的耗时对照；本文正文没有报告这样的对照数据，因此关于效率的证据呈现较有限。</a:t>
            </a:r>
          </a:p>
          <a:p xmlns:a="http://schemas.openxmlformats.org/drawingml/2006/main">
            <a:r>
              <a:t>• 这不是要求一篇方法论文解决全部保护哲学问题，而是辨明哪些结论已得到何种支持，哪些需要进一步证据。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选择一个作者结论，回到论文中指出它的证据位置。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原文锚点：付心仪等，2019，第27页结语；对照第26—27页专家评价与表3。</a:t>
            </a:r>
          </a:p>
          <a:p xmlns:a="http://schemas.openxmlformats.org/drawingml/2006/main">
            <a:r>
              <a:t>关于耗时证据呈现的判断以本文所报告内容为限。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第26页·复原与创作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把引文读完整，注意“自由选择喜爱”与“不同的艺术作品”之间的关系。</a:t>
            </a:r>
          </a:p>
          <a:p xmlns:a="http://schemas.openxmlformats.org/drawingml/2006/main">
            <a:r>
              <a:t>• 同一套填充功能既可用于受历史材料约束的复原研究，也可能用于追求新表达的创作。</a:t>
            </a:r>
          </a:p>
          <a:p xmlns:a="http://schemas.openxmlformats.org/drawingml/2006/main">
            <a:r>
              <a:t>• 工具的操作相似，成果身份仍需由工作目的与证据约束来说明。不能把反馈直接改写成“作者证明所有复原都是新作”。</a:t>
            </a:r>
          </a:p>
          <a:p xmlns:a="http://schemas.openxmlformats.org/drawingml/2006/main">
            <a:r>
              <a:t>• 这里使开头的作品身份问题从论文内部出现，而非在技术介绍后另接一个外部哲学话题。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哪一种选择开始更接近创作？你判断的依据是什么？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原文锚点：付心仪等，2019，第26页右栏末段，设计师组用户反馈。</a:t>
            </a:r>
          </a:p>
          <a:p xmlns:a="http://schemas.openxmlformats.org/drawingml/2006/main">
            <a:r>
              <a:t>此反馈提出一种用法，不等于文中已验证全部再创作成果。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第21、24、26页·概念回读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将几处文字并读：引言强调原真性，第24页并列保持原状、以旧修旧和审美和谐，第26页又允许整区重绘。</a:t>
            </a:r>
          </a:p>
          <a:p xmlns:a="http://schemas.openxmlformats.org/drawingml/2006/main">
            <a:r>
              <a:t>• 这些表述不必然矛盾，因为数字处理可以另出复原版本；但需要继续解释“原”指现存痕迹、风格关系，还是推测的较早面貌。</a:t>
            </a:r>
          </a:p>
          <a:p xmlns:a="http://schemas.openxmlformats.org/drawingml/2006/main">
            <a:r>
              <a:t>• 本人的分析是把原状记录与复原解释分别保存和呈现，使观看者知道一幅图像承担的任务。</a:t>
            </a:r>
          </a:p>
          <a:p xmlns:a="http://schemas.openxmlformats.org/drawingml/2006/main">
            <a:r>
              <a:t>• 这一步回收前文线描、标注、填充与评价的问题，为最后回答保护选择提供依据。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你希望展览将哪个时点或层次称为“原貌”？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原文锚点：付心仪等，2019，第21页原真性、第24页输出要求、第26页重绘说明。</a:t>
            </a:r>
          </a:p>
          <a:p xmlns:a="http://schemas.openxmlformats.org/drawingml/2006/main">
            <a:r>
              <a:t>“原状记录”与“复原版本”的区分为本次解释，不归为作者明示的规范。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由论文进入保护判断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面容全失是自己的延伸情境。将证据不同的情况分开，避免把论文适用范围无限扩大。</a:t>
            </a:r>
          </a:p>
          <a:p xmlns:a="http://schemas.openxmlformats.org/drawingml/2006/main">
            <a:r>
              <a:t>• 若有同一图像的可靠历史记录，复原可以受到较强约束；若主要靠同类图像，结果应说明类推与不确定性；若缺少依据，完整面容更多承担当代解释或创作。</a:t>
            </a:r>
          </a:p>
          <a:p xmlns:a="http://schemas.openxmlformats.org/drawingml/2006/main">
            <a:r>
              <a:t>• 支持交代依据、保留原状、可被新材料修订的数字复原。数字方案是否实施于原壁，需要另行论证。</a:t>
            </a:r>
          </a:p>
          <a:p xmlns:a="http://schemas.openxmlformats.org/drawingml/2006/main">
            <a:r>
              <a:t>• 也认真回应补全的价值：帮助公众理解形象与叙事，不把残缺简单浪漫化。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从这几种情境中选择你最难判断的一种，说出理由。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本页为基于细读提出的保护判断，不是本文已验证的实验结果或行业规范。</a:t>
            </a:r>
          </a:p>
          <a:p xmlns:a="http://schemas.openxmlformats.org/drawingml/2006/main">
            <a:r>
              <a:t>材料起点：付心仪等，2019，第22、25—26页。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回到《无面的佛》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把“同一件历史物”与“同样的图像表达”分开：原物可能延续文物身份，同时包含后加部分；新增面容不会因此成为古代画师的原笔。</a:t>
            </a:r>
          </a:p>
          <a:p xmlns:a="http://schemas.openxmlformats.org/drawingml/2006/main">
            <a:r>
              <a:t>• 眼神、朝向和表情可能改变人物神貌及其相互关系，补全不只是表面数量增加。</a:t>
            </a:r>
          </a:p>
          <a:p xmlns:a="http://schemas.openxmlformats.org/drawingml/2006/main">
            <a:r>
              <a:t>• 数字复原的结果可以作为理解原作的图像版本。承认其解释性质不会消除研究与审美价值。</a:t>
            </a:r>
          </a:p>
          <a:p xmlns:a="http://schemas.openxmlformats.org/drawingml/2006/main">
            <a:r>
              <a:t>• 回到原来的学习与传承关切：看见完整面容时，自己开始会追问它依据什么、哪些地方还不能确定。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用自己的语言说出你阅读前后最真实的一项认识变化。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本页为本人阅读后的讨论性判断。依据付心仪等，2019，第22、25—27页。</a:t>
            </a:r>
          </a:p>
          <a:p xmlns:a="http://schemas.openxmlformats.org/drawingml/2006/main">
            <a:r>
              <a:t>课堂参照：《艺术概论》2026-10-14，目光、姿态与传神。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原文位置</a:t>
            </a:r>
          </a:p>
          <a:p xmlns:a="http://schemas.openxmlformats.org/drawingml/2006/main">
            <a:r>
              <a:t>出处汇总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讲述与细读</a:t>
            </a:r>
          </a:p>
          <a:p xmlns:a="http://schemas.openxmlformats.org/drawingml/2006/main">
            <a:r>
              <a:t>• 每一页的原文、图表和个人分析均已分别标注。</a:t>
            </a:r>
          </a:p>
          <a:p xmlns:a="http://schemas.openxmlformats.org/drawingml/2006/main">
            <a:r>
              <a:t>• 主读论文之外的课程笔记只承担课堂联系；没有制造原著引文。</a:t>
            </a:r>
          </a:p>
          <a:p xmlns:a="http://schemas.openxmlformats.org/drawingml/2006/main">
            <a:r>
              <a:t>• 展品照片是本人拍摄，论文图版是阅读材料；它们不是同一组作品。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口述补充方向</a:t>
            </a:r>
          </a:p>
          <a:p xmlns:a="http://schemas.openxmlformats.org/drawingml/2006/main">
            <a:r>
              <a:t>• 正式口述前，核对图号与页码，并补上自己的观察和判断。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</a:t>
            </a:r>
          </a:p>
          <a:p xmlns:a="http://schemas.openxmlformats.org/drawingml/2006/main">
            <a:r>
              <a:t>页码均为期刊印刷页码，第21—27页对应用户提供PDF第1—7页。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bf4f3e71434d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45b57a7df46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db25b0a53b44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e66aeb165d44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a69f42ccc4a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902283684b46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653DD6-3C06-4821-827B-2269A1AADB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3A9706-83CA-41B0-B1A9-B500D57156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10CDA8C-1D93-4766-ADA2-79C0706C93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25AD8E-31B5-48B1-A5AC-245501CA2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653DA33-1AAE-4261-86A8-04D34B8804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5AD7AB-55E2-40B1-99C1-7D4765844D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8487F6-0678-4727-AF84-B65B40FA7E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4430A1-65EF-4D22-B1D0-C769A75494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23A9EE-45D8-4600-B938-B9804A2094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A3F6E0-EF4B-482E-A9A0-B7E8F55987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76988682864cb8" /><Relationship Type="http://schemas.openxmlformats.org/officeDocument/2006/relationships/slideLayout" Target="/ppt/slideLayouts/slideLayout1.xml" Id="R3476cc1a8e624e75" /><Relationship Type="http://schemas.openxmlformats.org/officeDocument/2006/relationships/slideLayout" Target="/ppt/slideLayouts/slideLayout2.xml" Id="Ra386bdb119ce4fa2" /><Relationship Type="http://schemas.openxmlformats.org/officeDocument/2006/relationships/slideLayout" Target="/ppt/slideLayouts/slideLayout3.xml" Id="R42e468ecd33d4682" /><Relationship Type="http://schemas.openxmlformats.org/officeDocument/2006/relationships/slideLayout" Target="/ppt/slideLayouts/slideLayout4.xml" Id="R070614ce06384c45" /><Relationship Type="http://schemas.openxmlformats.org/officeDocument/2006/relationships/slideLayout" Target="/ppt/slideLayouts/slideLayout5.xml" Id="Rc74eefc7c9374e83" /><Relationship Type="http://schemas.openxmlformats.org/officeDocument/2006/relationships/slideLayout" Target="/ppt/slideLayouts/slideLayout6.xml" Id="Rec679cfef80d44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76cc1a8e624e75"/>
    <p:sldLayoutId xmlns:r="http://schemas.openxmlformats.org/officeDocument/2006/relationships" id="2147483650" r:id="Ra386bdb119ce4fa2"/>
    <p:sldLayoutId xmlns:r="http://schemas.openxmlformats.org/officeDocument/2006/relationships" id="2147483651" r:id="R42e468ecd33d4682"/>
    <p:sldLayoutId xmlns:r="http://schemas.openxmlformats.org/officeDocument/2006/relationships" id="2147483652" r:id="R070614ce06384c45"/>
    <p:sldLayoutId xmlns:r="http://schemas.openxmlformats.org/officeDocument/2006/relationships" id="2147483653" r:id="Rc74eefc7c9374e83"/>
    <p:sldLayoutId xmlns:r="http://schemas.openxmlformats.org/officeDocument/2006/relationships" id="2147483654" r:id="Rec679cfef80d44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无面的佛·论文细读">
      <a:dk1>
        <a:srgbClr val="26231F"/>
      </a:dk1>
      <a:lt1>
        <a:srgbClr val="FFFFFF"/>
      </a:lt1>
      <a:dk2>
        <a:srgbClr val="756C60"/>
      </a:dk2>
      <a:lt2>
        <a:srgbClr val="F3EEE5"/>
      </a:lt2>
      <a:accent1>
        <a:srgbClr val="82483C"/>
      </a:accent1>
      <a:accent2>
        <a:srgbClr val="756C60"/>
      </a:accent2>
      <a:accent3>
        <a:srgbClr val="B19A75"/>
      </a:accent3>
      <a:accent4>
        <a:srgbClr val="575E4C"/>
      </a:accent4>
      <a:accent5>
        <a:srgbClr val="725E5C"/>
      </a:accent5>
      <a:accent6>
        <a:srgbClr val="A8785B"/>
      </a:accent6>
      <a:hlink>
        <a:srgbClr val="82483C"/>
      </a:hlink>
      <a:folHlink>
        <a:srgbClr val="82483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无面的佛·论文细读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caa6a7853a43a5" /><Relationship Type="http://schemas.openxmlformats.org/officeDocument/2006/relationships/image" Target="/ppt/media/image.jpeg" Id="R9193775218594a60" /><Relationship Type="http://schemas.openxmlformats.org/officeDocument/2006/relationships/notesSlide" Target="/ppt/notesSlides/notesSlide1.xml" Id="Ra08c893b65084b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6d0ab6962f4da9" /><Relationship Type="http://schemas.openxmlformats.org/officeDocument/2006/relationships/image" Target="/ppt/media/image2.jpeg" Id="Rc683da92c9cf4a98" /><Relationship Type="http://schemas.openxmlformats.org/officeDocument/2006/relationships/notesSlide" Target="/ppt/notesSlides/notesSlide2.xml" Id="R42fc19da8ff648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035d41cbed4ab4" /><Relationship Type="http://schemas.openxmlformats.org/officeDocument/2006/relationships/notesSlide" Target="/ppt/notesSlides/notesSlide3.xml" Id="R4a4def72371a41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de9cbdea74ee7" /><Relationship Type="http://schemas.openxmlformats.org/officeDocument/2006/relationships/notesSlide" Target="/ppt/notesSlides/notesSlide4.xml" Id="R2b739f08b49543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b609992de84d77" /><Relationship Type="http://schemas.openxmlformats.org/officeDocument/2006/relationships/notesSlide" Target="/ppt/notesSlides/notesSlide5.xml" Id="R496f2262a22a46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e80241058a4d43" /><Relationship Type="http://schemas.openxmlformats.org/officeDocument/2006/relationships/notesSlide" Target="/ppt/notesSlides/notesSlide6.xml" Id="Rfb6619089c4144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adaa19ae14c9c" /><Relationship Type="http://schemas.openxmlformats.org/officeDocument/2006/relationships/image" Target="/ppt/media/image3.jpeg" Id="R389c9a556eb04d6e" /><Relationship Type="http://schemas.openxmlformats.org/officeDocument/2006/relationships/notesSlide" Target="/ppt/notesSlides/notesSlide7.xml" Id="Rcf43f110332749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fecbbafebc4e46" /><Relationship Type="http://schemas.openxmlformats.org/officeDocument/2006/relationships/notesSlide" Target="/ppt/notesSlides/notesSlide8.xml" Id="Rbf5ff017c7024a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66837e7159468a" /><Relationship Type="http://schemas.openxmlformats.org/officeDocument/2006/relationships/image" Target="/ppt/media/image4.jpeg" Id="R974783e7333a4ed4" /><Relationship Type="http://schemas.openxmlformats.org/officeDocument/2006/relationships/notesSlide" Target="/ppt/notesSlides/notesSlide9.xml" Id="Rfdd103e90baa44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f5f9f5dda949b3" /><Relationship Type="http://schemas.openxmlformats.org/officeDocument/2006/relationships/image" Target="/ppt/media/image5.jpeg" Id="Re31205ef80d34103" /><Relationship Type="http://schemas.openxmlformats.org/officeDocument/2006/relationships/notesSlide" Target="/ppt/notesSlides/notesSlide10.xml" Id="Re4359fcb36d842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9556c247494517" /><Relationship Type="http://schemas.openxmlformats.org/officeDocument/2006/relationships/image" Target="/ppt/media/image6.jpeg" Id="Reed912b429d947a4" /><Relationship Type="http://schemas.openxmlformats.org/officeDocument/2006/relationships/notesSlide" Target="/ppt/notesSlides/notesSlide11.xml" Id="R4979e102d96441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8e1a02af6c4321" /><Relationship Type="http://schemas.openxmlformats.org/officeDocument/2006/relationships/image" Target="/ppt/media/image7.jpeg" Id="Rd97ede6afd2342ec" /><Relationship Type="http://schemas.openxmlformats.org/officeDocument/2006/relationships/notesSlide" Target="/ppt/notesSlides/notesSlide12.xml" Id="R2098de3c7e6e44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ae95fbc25b4f19" /><Relationship Type="http://schemas.openxmlformats.org/officeDocument/2006/relationships/image" Target="/ppt/media/image8.jpeg" Id="Re51e7260e0304720" /><Relationship Type="http://schemas.openxmlformats.org/officeDocument/2006/relationships/notesSlide" Target="/ppt/notesSlides/notesSlide13.xml" Id="R415c1dc5a5e54f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a0f24c0d5d4a20" /><Relationship Type="http://schemas.openxmlformats.org/officeDocument/2006/relationships/notesSlide" Target="/ppt/notesSlides/notesSlide14.xml" Id="R36eb8f2da25247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276652f4b94281" /><Relationship Type="http://schemas.openxmlformats.org/officeDocument/2006/relationships/image" Target="/ppt/media/image9.jpeg" Id="R31ea6bf169344854" /><Relationship Type="http://schemas.openxmlformats.org/officeDocument/2006/relationships/notesSlide" Target="/ppt/notesSlides/notesSlide15.xml" Id="Rc0cd71a0a78842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c57f7054dc4e75" /><Relationship Type="http://schemas.openxmlformats.org/officeDocument/2006/relationships/image" Target="/ppt/media/image10.jpeg" Id="R37f25746646f48ca" /><Relationship Type="http://schemas.openxmlformats.org/officeDocument/2006/relationships/notesSlide" Target="/ppt/notesSlides/notesSlide16.xml" Id="Rd4ddf5eba31546c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59f05fced4992" /><Relationship Type="http://schemas.openxmlformats.org/officeDocument/2006/relationships/image" Target="/ppt/media/image11.jpeg" Id="R545fe42533414410" /><Relationship Type="http://schemas.openxmlformats.org/officeDocument/2006/relationships/notesSlide" Target="/ppt/notesSlides/notesSlide17.xml" Id="Rf9e5f613f681490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c22e72383a4146" /><Relationship Type="http://schemas.openxmlformats.org/officeDocument/2006/relationships/notesSlide" Target="/ppt/notesSlides/notesSlide18.xml" Id="R1a77229ce6c04d8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8e3db1b76b438a" /><Relationship Type="http://schemas.openxmlformats.org/officeDocument/2006/relationships/notesSlide" Target="/ppt/notesSlides/notesSlide19.xml" Id="Rf1e5d18c056b400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5fa58fc96488a" /><Relationship Type="http://schemas.openxmlformats.org/officeDocument/2006/relationships/notesSlide" Target="/ppt/notesSlides/notesSlide20.xml" Id="Rdeb4b8e83341420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ad4267abe948f6" /><Relationship Type="http://schemas.openxmlformats.org/officeDocument/2006/relationships/notesSlide" Target="/ppt/notesSlides/notesSlide21.xml" Id="R0b1a87b02a7f4d1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713457e0a64a5f" /><Relationship Type="http://schemas.openxmlformats.org/officeDocument/2006/relationships/notesSlide" Target="/ppt/notesSlides/notesSlide22.xml" Id="R1efe07c460314ca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e62b0c9e584775" /><Relationship Type="http://schemas.openxmlformats.org/officeDocument/2006/relationships/notesSlide" Target="/ppt/notesSlides/notesSlide23.xml" Id="Rd9e7a28a57a14f9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5c04b148ec4b4f" /><Relationship Type="http://schemas.openxmlformats.org/officeDocument/2006/relationships/notesSlide" Target="/ppt/notesSlides/notesSlide24.xml" Id="R4f91106cf30e46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0B800914-8730-492A-9B26-D518BDA5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《药师佛佛会图》临摹作品，展厅现场。照片：某同学摄于中国工艺美术馆。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EDB9AC-4852-4B67-A82D-91678337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1C0A46B2-C109-4790-B0A4-5CABBC9F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艺术概论心得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63DDAD9-CDB5-42CA-85A8-46A95DD1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43624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无面的</a:t>
            </a:r>
            <a:r>
              <a:rPr sz="615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佛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CC5191E-C4FE-4765-8A60-E686ECD0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43275"/>
            <a:ext cx="4143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消失的面容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应该重新画出来吗？</a:t>
            </a:r>
          </a:p>
        </p:txBody>
      </p:sp>
      <p:sp>
        <p:nvSpPr>
          <p:cNvPr id="7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8256B2F0-5C10-4EED-9517-B4813F32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某同学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文化产业管理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2B4E5-CD7E-4800-AB67-127F2C72C4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3775218594a60"/>
          <a:stretch xmlns:a="http://schemas.openxmlformats.org/drawingml/2006/main"/>
        </p:blipFill>
        <p:spPr>
          <a:xfrm xmlns:a="http://schemas.openxmlformats.org/drawingml/2006/main">
            <a:off x="5067300" y="996331"/>
            <a:ext cx="6591300" cy="494153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5680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64D03D-BC36-4078-8828-BD755F62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我最初期待：临摹应当把面容补全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351C36C8-A3B5-4FD1-8BCF-EDA321F1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图：《说法图》（摹），名称据现场展签。照片：某同学摄于中国工艺美术馆。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文字为本人观展疑问；照片本身不足以确定具体损伤原因。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6B6AB54-2D32-4D80-95A9-A862C9A7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8A1B4-8E92-4637-8069-A32EA052D5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3da92c9cf4a98"/>
          <a:stretch xmlns:a="http://schemas.openxmlformats.org/drawingml/2006/main"/>
        </p:blipFill>
        <p:spPr>
          <a:xfrm xmlns:a="http://schemas.openxmlformats.org/drawingml/2006/main">
            <a:off x="533743" y="1257300"/>
            <a:ext cx="3514039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initial-question">
            <a:extLst xmlns:a="http://schemas.openxmlformats.org/drawingml/2006/main">
              <a:ext uri="{FF2B5EF4-FFF2-40B4-BE49-F238E27FC236}">
                <a16:creationId xmlns:a16="http://schemas.microsoft.com/office/drawing/2014/main" id="{474D29D6-2DAA-41A6-8604-14A9B065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609725"/>
            <a:ext cx="68484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既然已经重新绘制，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为什么没有把脸画完整？</a:t>
            </a:r>
          </a:p>
        </p:txBody>
      </p:sp>
      <p:sp>
        <p:nvSpPr>
          <p:cNvPr id="7" name="initial-understanding">
            <a:extLst xmlns:a="http://schemas.openxmlformats.org/drawingml/2006/main">
              <a:ext uri="{FF2B5EF4-FFF2-40B4-BE49-F238E27FC236}">
                <a16:creationId xmlns:a16="http://schemas.microsoft.com/office/drawing/2014/main" id="{2EB126EE-481E-40A1-8977-4A841002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190875"/>
            <a:ext cx="67722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面容难辨，是我看到的现象。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“临摹应当补全”，是我带来的预期。</a:t>
            </a:r>
          </a:p>
        </p:txBody>
      </p:sp>
      <p:sp>
        <p:nvSpPr>
          <p:cNvPr id="8" name="opening-reading-question">
            <a:extLst xmlns:a="http://schemas.openxmlformats.org/drawingml/2006/main">
              <a:ext uri="{FF2B5EF4-FFF2-40B4-BE49-F238E27FC236}">
                <a16:creationId xmlns:a16="http://schemas.microsoft.com/office/drawing/2014/main" id="{CC7B6E81-E40B-45D3-BCF3-408D170C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810125"/>
            <a:ext cx="67722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接下来需要读懂：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论文所说的“复原”，究竟恢复了什么？</a:t>
            </a:r>
          </a:p>
        </p:txBody>
      </p:sp>
    </p:spTree>
    <p:extLst>
      <p:ext uri="{BB962C8B-B14F-4D97-AF65-F5344CB8AC3E}">
        <p14:creationId xmlns:p14="http://schemas.microsoft.com/office/powerpoint/2010/main" val="1143230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096767-7333-4FDF-817A-61CF98A3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这篇论文怎样把“复原”变成一个系统？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18B0D216-35E8-46B8-805D-9ED929F1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依据：付心仪等，2019，第21—27页。以下为对全文论证次序的归纳。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A31A33F-E387-4436-B91C-16E7D660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paper-title">
            <a:extLst xmlns:a="http://schemas.openxmlformats.org/drawingml/2006/main">
              <a:ext uri="{FF2B5EF4-FFF2-40B4-BE49-F238E27FC236}">
                <a16:creationId xmlns:a16="http://schemas.microsoft.com/office/drawing/2014/main" id="{CF7E8944-BDE7-47EA-A82E-90F974C0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62075"/>
            <a:ext cx="10801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《破损壁画的数字化复原研究——以敦煌壁画为例》</a:t>
            </a:r>
          </a:p>
        </p:txBody>
      </p:sp>
      <p:sp>
        <p:nvSpPr>
          <p:cNvPr id="6" name="paper-byline">
            <a:extLst xmlns:a="http://schemas.openxmlformats.org/drawingml/2006/main">
              <a:ext uri="{FF2B5EF4-FFF2-40B4-BE49-F238E27FC236}">
                <a16:creationId xmlns:a16="http://schemas.microsoft.com/office/drawing/2014/main" id="{ACC79773-6ABF-4696-ADED-C3678239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付心仪、麻晓娟、孙志军  ·  《装饰》2019年第1期，21—27页</a:t>
            </a:r>
          </a:p>
        </p:txBody>
      </p:sp>
      <p:sp>
        <p:nvSpPr>
          <p:cNvPr id="7" name="roadmap-1-label">
            <a:extLst xmlns:a="http://schemas.openxmlformats.org/drawingml/2006/main">
              <a:ext uri="{FF2B5EF4-FFF2-40B4-BE49-F238E27FC236}">
                <a16:creationId xmlns:a16="http://schemas.microsoft.com/office/drawing/2014/main" id="{8EB9F627-46E1-44D7-BB8D-758CC2E0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6702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提出问题</a:t>
            </a:r>
          </a:p>
        </p:txBody>
      </p:sp>
      <p:sp>
        <p:nvSpPr>
          <p:cNvPr id="8" name="roadmap-1-body">
            <a:extLst xmlns:a="http://schemas.openxmlformats.org/drawingml/2006/main">
              <a:ext uri="{FF2B5EF4-FFF2-40B4-BE49-F238E27FC236}">
                <a16:creationId xmlns:a16="http://schemas.microsoft.com/office/drawing/2014/main" id="{E57D4FC0-B2FD-48B1-87D1-E796AA05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86075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实体保护的困难，怎样引出数字内容复原？</a:t>
            </a:r>
          </a:p>
        </p:txBody>
      </p:sp>
      <p:sp>
        <p:nvSpPr>
          <p:cNvPr id="9" name="roadmap-2-label">
            <a:extLst xmlns:a="http://schemas.openxmlformats.org/drawingml/2006/main">
              <a:ext uri="{FF2B5EF4-FFF2-40B4-BE49-F238E27FC236}">
                <a16:creationId xmlns:a16="http://schemas.microsoft.com/office/drawing/2014/main" id="{35C7A2A1-5E1D-4F6B-B236-B7568ADB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2902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选择依据</a:t>
            </a:r>
          </a:p>
        </p:txBody>
      </p:sp>
      <p:sp>
        <p:nvSpPr>
          <p:cNvPr id="10" name="roadmap-2-body">
            <a:extLst xmlns:a="http://schemas.openxmlformats.org/drawingml/2006/main">
              <a:ext uri="{FF2B5EF4-FFF2-40B4-BE49-F238E27FC236}">
                <a16:creationId xmlns:a16="http://schemas.microsoft.com/office/drawing/2014/main" id="{C96E785F-D022-4610-AB33-4966684A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48075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“线、色、神”与线描，提供什么信息？</a:t>
            </a:r>
          </a:p>
        </p:txBody>
      </p:sp>
      <p:sp>
        <p:nvSpPr>
          <p:cNvPr id="11" name="roadmap-3-label">
            <a:extLst xmlns:a="http://schemas.openxmlformats.org/drawingml/2006/main">
              <a:ext uri="{FF2B5EF4-FFF2-40B4-BE49-F238E27FC236}">
                <a16:creationId xmlns:a16="http://schemas.microsoft.com/office/drawing/2014/main" id="{F3F77421-D42D-4ED5-938B-E3B774C0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实现方法</a:t>
            </a:r>
          </a:p>
        </p:txBody>
      </p:sp>
      <p:sp>
        <p:nvSpPr>
          <p:cNvPr id="12" name="roadmap-3-body">
            <a:extLst xmlns:a="http://schemas.openxmlformats.org/drawingml/2006/main">
              <a:ext uri="{FF2B5EF4-FFF2-40B4-BE49-F238E27FC236}">
                <a16:creationId xmlns:a16="http://schemas.microsoft.com/office/drawing/2014/main" id="{1715E344-ACF2-474B-848A-E6EF5E59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10075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分割、标注与填充，怎样纳入人的判断？</a:t>
            </a:r>
          </a:p>
        </p:txBody>
      </p:sp>
      <p:sp>
        <p:nvSpPr>
          <p:cNvPr id="13" name="roadmap-4-label">
            <a:extLst xmlns:a="http://schemas.openxmlformats.org/drawingml/2006/main">
              <a:ext uri="{FF2B5EF4-FFF2-40B4-BE49-F238E27FC236}">
                <a16:creationId xmlns:a16="http://schemas.microsoft.com/office/drawing/2014/main" id="{2A4CF3AD-4AA7-4B3A-845A-BEBF79CD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5302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评价结果</a:t>
            </a:r>
          </a:p>
        </p:txBody>
      </p:sp>
      <p:sp>
        <p:nvSpPr>
          <p:cNvPr id="14" name="roadmap-4-body">
            <a:extLst xmlns:a="http://schemas.openxmlformats.org/drawingml/2006/main">
              <a:ext uri="{FF2B5EF4-FFF2-40B4-BE49-F238E27FC236}">
                <a16:creationId xmlns:a16="http://schemas.microsoft.com/office/drawing/2014/main" id="{2335E6EE-834B-45E2-BA22-240306C1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72075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专家认可与用户评分，分别能证明什么？</a:t>
            </a:r>
          </a:p>
        </p:txBody>
      </p:sp>
    </p:spTree>
    <p:extLst>
      <p:ext uri="{BB962C8B-B14F-4D97-AF65-F5344CB8AC3E}">
        <p14:creationId xmlns:p14="http://schemas.microsoft.com/office/powerpoint/2010/main" val="3222582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5B4B32-4943-40F4-8962-06BC401A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引言：数字复原要解决哪一种损失？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F585709D-D8A8-4598-89FC-6DEFB6C9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原文锚点：付心仪等，2019，第21页，“一、敦煌壁画的现状与困境”。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对“保存”与“内容复原”的区分为本次阅读分析。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5EC9C3-EA54-4E5D-8840-E9FA9B83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primary-quote">
            <a:extLst xmlns:a="http://schemas.openxmlformats.org/drawingml/2006/main">
              <a:ext uri="{FF2B5EF4-FFF2-40B4-BE49-F238E27FC236}">
                <a16:creationId xmlns:a16="http://schemas.microsoft.com/office/drawing/2014/main" id="{0A39DDDA-4522-4FE8-982C-322406AE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8585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“实体修复只能在一定程度上延缓病害对壁画的破坏，并不能修复已经破损的壁画内容。”</a:t>
            </a:r>
          </a:p>
        </p:txBody>
      </p:sp>
      <p:sp>
        <p:nvSpPr>
          <p:cNvPr id="6" name="reading-label-345">
            <a:extLst xmlns:a="http://schemas.openxmlformats.org/drawingml/2006/main">
              <a:ext uri="{FF2B5EF4-FFF2-40B4-BE49-F238E27FC236}">
                <a16:creationId xmlns:a16="http://schemas.microsoft.com/office/drawing/2014/main" id="{DB30119F-ED18-4823-AE64-EFCBA965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571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这句话在引言中的作用</a:t>
            </a:r>
          </a:p>
        </p:txBody>
      </p:sp>
      <p:sp>
        <p:nvSpPr>
          <p:cNvPr id="7" name="intro-analysis">
            <a:extLst xmlns:a="http://schemas.openxmlformats.org/drawingml/2006/main">
              <a:ext uri="{FF2B5EF4-FFF2-40B4-BE49-F238E27FC236}">
                <a16:creationId xmlns:a16="http://schemas.microsoft.com/office/drawing/2014/main" id="{7FD77AD3-3C06-4A39-B099-9C3D5248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10782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作者把材料保存的困难，转化为研究数字内容复原的理由。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“延缓破坏”与“补回形象信息”，指向不同任务。</a:t>
            </a:r>
          </a:p>
        </p:txBody>
      </p:sp>
      <p:sp>
        <p:nvSpPr>
          <p:cNvPr id="8" name="intro-boundary">
            <a:extLst xmlns:a="http://schemas.openxmlformats.org/drawingml/2006/main">
              <a:ext uri="{FF2B5EF4-FFF2-40B4-BE49-F238E27FC236}">
                <a16:creationId xmlns:a16="http://schemas.microsoft.com/office/drawing/2014/main" id="{49CD0819-C1EF-4B6E-B8E1-AF5A618A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10772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因此，图像变完整，仍不能自动替代对原壁本体的保护。</a:t>
            </a:r>
          </a:p>
        </p:txBody>
      </p:sp>
    </p:spTree>
    <p:extLst>
      <p:ext uri="{BB962C8B-B14F-4D97-AF65-F5344CB8AC3E}">
        <p14:creationId xmlns:p14="http://schemas.microsoft.com/office/powerpoint/2010/main" val="6187295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9DE564-BB32-49C5-9E8D-8EA49C99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文献评述：全自动与全手工各缺什么？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270AFE9C-C323-491D-8F8B-6912A73D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原文锚点：付心仪等，2019，第21—22页，“二、现有的壁画数字化复原方法”。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这里呈现作者对既有方法的评述，不把被引文献当作本次已独立核读的材料。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FD8D3FD-18DF-4B46-96D2-FCC53E64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reading-label-153">
            <a:extLst xmlns:a="http://schemas.openxmlformats.org/drawingml/2006/main">
              <a:ext uri="{FF2B5EF4-FFF2-40B4-BE49-F238E27FC236}">
                <a16:creationId xmlns:a16="http://schemas.microsoft.com/office/drawing/2014/main" id="{41C9A368-0137-4B87-9DD1-BEA436FE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5048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全自动方法</a:t>
            </a:r>
          </a:p>
        </p:txBody>
      </p:sp>
      <p:sp>
        <p:nvSpPr>
          <p:cNvPr id="6" name="reading-label-153">
            <a:extLst xmlns:a="http://schemas.openxmlformats.org/drawingml/2006/main">
              <a:ext uri="{FF2B5EF4-FFF2-40B4-BE49-F238E27FC236}">
                <a16:creationId xmlns:a16="http://schemas.microsoft.com/office/drawing/2014/main" id="{36B0B717-21FA-4AF5-981F-128A9A91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57325"/>
            <a:ext cx="5048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全手工方法</a:t>
            </a:r>
          </a:p>
        </p:txBody>
      </p:sp>
      <p:sp>
        <p:nvSpPr>
          <p:cNvPr id="7" name="automatic-quote">
            <a:extLst xmlns:a="http://schemas.openxmlformats.org/drawingml/2006/main">
              <a:ext uri="{FF2B5EF4-FFF2-40B4-BE49-F238E27FC236}">
                <a16:creationId xmlns:a16="http://schemas.microsoft.com/office/drawing/2014/main" id="{19F883B5-B3F4-4705-A20B-6AD8C811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“还需要额外的信息输入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来辅助计算。”</a:t>
            </a:r>
          </a:p>
        </p:txBody>
      </p:sp>
      <p:sp>
        <p:nvSpPr>
          <p:cNvPr id="8" name="manual-quote">
            <a:extLst xmlns:a="http://schemas.openxmlformats.org/drawingml/2006/main">
              <a:ext uri="{FF2B5EF4-FFF2-40B4-BE49-F238E27FC236}">
                <a16:creationId xmlns:a16="http://schemas.microsoft.com/office/drawing/2014/main" id="{183D8FBA-AB6E-484D-BC11-556E5ABC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47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“这种方法过于自由，很难保持壁画风格的一致。”</a:t>
            </a:r>
          </a:p>
        </p:txBody>
      </p:sp>
      <p:sp>
        <p:nvSpPr>
          <p:cNvPr id="9" name="automatic-analysis">
            <a:extLst xmlns:a="http://schemas.openxmlformats.org/drawingml/2006/main">
              <a:ext uri="{FF2B5EF4-FFF2-40B4-BE49-F238E27FC236}">
                <a16:creationId xmlns:a16="http://schemas.microsoft.com/office/drawing/2014/main" id="{E98CC9C8-D6FA-4A4B-99E9-B8C6FB62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50196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结构严重缺失时，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算法面对的是信息不足。</a:t>
            </a:r>
          </a:p>
        </p:txBody>
      </p:sp>
      <p:sp>
        <p:nvSpPr>
          <p:cNvPr id="10" name="manual-analysis">
            <a:extLst xmlns:a="http://schemas.openxmlformats.org/drawingml/2006/main">
              <a:ext uri="{FF2B5EF4-FFF2-40B4-BE49-F238E27FC236}">
                <a16:creationId xmlns:a16="http://schemas.microsoft.com/office/drawing/2014/main" id="{3D912F4C-56E8-485C-AB04-FF58BBDD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448050"/>
            <a:ext cx="50196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操作自由度增加时，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作者担心风格难以统一。</a:t>
            </a:r>
          </a:p>
        </p:txBody>
      </p:sp>
      <p:sp>
        <p:nvSpPr>
          <p:cNvPr id="11" name="prior-transition">
            <a:extLst xmlns:a="http://schemas.openxmlformats.org/drawingml/2006/main">
              <a:ext uri="{FF2B5EF4-FFF2-40B4-BE49-F238E27FC236}">
                <a16:creationId xmlns:a16="http://schemas.microsoft.com/office/drawing/2014/main" id="{B3776E52-9DF3-484A-8D38-A78B4D90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人机交互的任务：补入知识，并组织、约束人工选择。</a:t>
            </a:r>
          </a:p>
        </p:txBody>
      </p:sp>
    </p:spTree>
    <p:extLst>
      <p:ext uri="{BB962C8B-B14F-4D97-AF65-F5344CB8AC3E}">
        <p14:creationId xmlns:p14="http://schemas.microsoft.com/office/powerpoint/2010/main" val="2335340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BA46B0-01A0-4B2D-BAFB-45399C30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“线、色、神”怎样成为复原的目标？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38BF5E6C-6FBE-40AA-88B5-B61C47FF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原文锚点：付心仪等，2019，第22页，“三、敦煌壁画特点剖析”，文中参引[10][11]。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课堂联系：《艺术概论》2026-10-14，“材料、目光与姿态如何传神”。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7648D80-E8BA-425A-99D7-5025A28A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terms-anchor">
            <a:extLst xmlns:a="http://schemas.openxmlformats.org/drawingml/2006/main">
              <a:ext uri="{FF2B5EF4-FFF2-40B4-BE49-F238E27FC236}">
                <a16:creationId xmlns:a16="http://schemas.microsoft.com/office/drawing/2014/main" id="{4A4A5127-7502-4617-AEAB-A680E8C1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906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作者将壁画的绘画构成概括为“线、色、神”。</a:t>
            </a:r>
          </a:p>
        </p:txBody>
      </p:sp>
      <p:sp>
        <p:nvSpPr>
          <p:cNvPr id="6" name="term-line-label">
            <a:extLst xmlns:a="http://schemas.openxmlformats.org/drawingml/2006/main">
              <a:ext uri="{FF2B5EF4-FFF2-40B4-BE49-F238E27FC236}">
                <a16:creationId xmlns:a16="http://schemas.microsoft.com/office/drawing/2014/main" id="{BB3C820D-7B37-43BD-AA07-8A8FE786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1457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线</a:t>
            </a:r>
          </a:p>
        </p:txBody>
      </p:sp>
      <p:sp>
        <p:nvSpPr>
          <p:cNvPr id="7" name="term-line-body">
            <a:extLst xmlns:a="http://schemas.openxmlformats.org/drawingml/2006/main">
              <a:ext uri="{FF2B5EF4-FFF2-40B4-BE49-F238E27FC236}">
                <a16:creationId xmlns:a16="http://schemas.microsoft.com/office/drawing/2014/main" id="{7FFCDAF6-1BB1-492D-969B-CE89737F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33625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构建几何形态，决定轮廓与构图。</a:t>
            </a:r>
          </a:p>
        </p:txBody>
      </p:sp>
      <p:sp>
        <p:nvSpPr>
          <p:cNvPr id="8" name="term-color-label">
            <a:extLst xmlns:a="http://schemas.openxmlformats.org/drawingml/2006/main">
              <a:ext uri="{FF2B5EF4-FFF2-40B4-BE49-F238E27FC236}">
                <a16:creationId xmlns:a16="http://schemas.microsoft.com/office/drawing/2014/main" id="{7512599C-49E4-4285-819A-56E43B53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4327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色</a:t>
            </a:r>
          </a:p>
        </p:txBody>
      </p:sp>
      <p:sp>
        <p:nvSpPr>
          <p:cNvPr id="9" name="term-color-body">
            <a:extLst xmlns:a="http://schemas.openxmlformats.org/drawingml/2006/main">
              <a:ext uri="{FF2B5EF4-FFF2-40B4-BE49-F238E27FC236}">
                <a16:creationId xmlns:a16="http://schemas.microsoft.com/office/drawing/2014/main" id="{54741701-3F63-4821-A235-EE0BE933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62325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关联颜料、赋彩与不同朝代的色彩规律。</a:t>
            </a:r>
          </a:p>
        </p:txBody>
      </p:sp>
      <p:sp>
        <p:nvSpPr>
          <p:cNvPr id="10" name="term-spirit-label">
            <a:extLst xmlns:a="http://schemas.openxmlformats.org/drawingml/2006/main">
              <a:ext uri="{FF2B5EF4-FFF2-40B4-BE49-F238E27FC236}">
                <a16:creationId xmlns:a16="http://schemas.microsoft.com/office/drawing/2014/main" id="{50CCF8F0-7B36-4EFE-8D45-7BA9B0DF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7197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神</a:t>
            </a:r>
          </a:p>
        </p:txBody>
      </p:sp>
      <p:sp>
        <p:nvSpPr>
          <p:cNvPr id="11" name="term-spirit-body">
            <a:extLst xmlns:a="http://schemas.openxmlformats.org/drawingml/2006/main">
              <a:ext uri="{FF2B5EF4-FFF2-40B4-BE49-F238E27FC236}">
                <a16:creationId xmlns:a16="http://schemas.microsoft.com/office/drawing/2014/main" id="{EA4E22AE-1F92-4CB6-9EA1-920F510A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91025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关乎人物整体神貌；作者由此强调人机交互。</a:t>
            </a:r>
          </a:p>
        </p:txBody>
      </p:sp>
      <p:sp>
        <p:nvSpPr>
          <p:cNvPr id="12" name="term-question">
            <a:extLst xmlns:a="http://schemas.openxmlformats.org/drawingml/2006/main">
              <a:ext uri="{FF2B5EF4-FFF2-40B4-BE49-F238E27FC236}">
                <a16:creationId xmlns:a16="http://schemas.microsoft.com/office/drawing/2014/main" id="{6DB1B7D5-3A7C-411A-8DEF-3EA8C0DA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14975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面容的复原，怎样从“轮廓清楚”进入“形神兼备”？</a:t>
            </a:r>
          </a:p>
        </p:txBody>
      </p:sp>
    </p:spTree>
    <p:extLst>
      <p:ext uri="{BB962C8B-B14F-4D97-AF65-F5344CB8AC3E}">
        <p14:creationId xmlns:p14="http://schemas.microsoft.com/office/powerpoint/2010/main" val="13583692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9F94B0-1327-4389-AF1F-69752CB6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线描的来源，决定了它怎样充当证据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8B49EF2A-A017-4628-B9E9-E315F5D5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图：付心仪等，2019，第22页图1；线描来源据同页正文。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第320窟案例的线描绘制者据同文第26页。来源差异的讨论为本次分析。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310D35D-4079-470B-9B96-658622B6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63975-FFF6-4C36-B0B5-535DF6E67C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c9a556eb04d6e"/>
          <a:stretch xmlns:a="http://schemas.openxmlformats.org/drawingml/2006/main"/>
        </p:blipFill>
        <p:spPr>
          <a:xfrm xmlns:a="http://schemas.openxmlformats.org/drawingml/2006/main">
            <a:off x="631603" y="1323975"/>
            <a:ext cx="3280218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reading-label-153">
            <a:extLst xmlns:a="http://schemas.openxmlformats.org/drawingml/2006/main">
              <a:ext uri="{FF2B5EF4-FFF2-40B4-BE49-F238E27FC236}">
                <a16:creationId xmlns:a16="http://schemas.microsoft.com/office/drawing/2014/main" id="{897C3233-41D0-43C8-80A5-0BAE8303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57325"/>
            <a:ext cx="6800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概述中列出的材料</a:t>
            </a:r>
          </a:p>
        </p:txBody>
      </p:sp>
      <p:sp>
        <p:nvSpPr>
          <p:cNvPr id="7" name="historical-sources">
            <a:extLst xmlns:a="http://schemas.openxmlformats.org/drawingml/2006/main">
              <a:ext uri="{FF2B5EF4-FFF2-40B4-BE49-F238E27FC236}">
                <a16:creationId xmlns:a16="http://schemas.microsoft.com/office/drawing/2014/main" id="{65BE7260-5A72-47D5-B63E-0EAD276A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81200"/>
            <a:ext cx="6810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3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古代画师手稿、后期线描临摹。</a:t>
            </a:r>
          </a:p>
          <a:p xmlns:a="http://schemas.openxmlformats.org/drawingml/2006/main">
            <a:pPr algn="l">
              <a:lnSpc>
                <a:spcPct val="143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它们与具体待复原壁画的关系，需要分别核对。</a:t>
            </a:r>
          </a:p>
        </p:txBody>
      </p:sp>
      <p:sp>
        <p:nvSpPr>
          <p:cNvPr id="8" name="reading-label-370">
            <a:extLst xmlns:a="http://schemas.openxmlformats.org/drawingml/2006/main">
              <a:ext uri="{FF2B5EF4-FFF2-40B4-BE49-F238E27FC236}">
                <a16:creationId xmlns:a16="http://schemas.microsoft.com/office/drawing/2014/main" id="{25D708DA-2F5D-4930-88F0-A7B3A678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24250"/>
            <a:ext cx="6800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实际实验中采用的材料</a:t>
            </a:r>
          </a:p>
        </p:txBody>
      </p:sp>
      <p:sp>
        <p:nvSpPr>
          <p:cNvPr id="9" name="case-source">
            <a:extLst xmlns:a="http://schemas.openxmlformats.org/drawingml/2006/main">
              <a:ext uri="{FF2B5EF4-FFF2-40B4-BE49-F238E27FC236}">
                <a16:creationId xmlns:a16="http://schemas.microsoft.com/office/drawing/2014/main" id="{F9959A3E-575E-465E-BAFF-59FE6F5C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29075"/>
            <a:ext cx="6810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第320窟菩萨像：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作者邀请专家关晋文绘制相应线描。</a:t>
            </a:r>
          </a:p>
        </p:txBody>
      </p:sp>
      <p:sp>
        <p:nvSpPr>
          <p:cNvPr id="10" name="line-source-question">
            <a:extLst xmlns:a="http://schemas.openxmlformats.org/drawingml/2006/main">
              <a:ext uri="{FF2B5EF4-FFF2-40B4-BE49-F238E27FC236}">
                <a16:creationId xmlns:a16="http://schemas.microsoft.com/office/drawing/2014/main" id="{ABCE70D1-02CF-4D68-8329-8AE9E90C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514975"/>
            <a:ext cx="681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专业合理性与历史证据的直接性，需要分别说明。</a:t>
            </a:r>
          </a:p>
        </p:txBody>
      </p:sp>
    </p:spTree>
    <p:extLst>
      <p:ext uri="{BB962C8B-B14F-4D97-AF65-F5344CB8AC3E}">
        <p14:creationId xmlns:p14="http://schemas.microsoft.com/office/powerpoint/2010/main" val="799098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BD66E8-0B7F-4861-BE73-CB570686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表1细读：谁希望得到“完整、和谐”的图像？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95F3ABBA-4E0C-47CF-A885-83B31C0E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原文锚点：付心仪等，2019，第23页，“用户定位和用户需求”及表1。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引文取自表1“结果需求”；目标与评价关系为本次阅读分析。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13F0212-11C6-4C7A-A917-A8E9A2FA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primary-quote">
            <a:extLst xmlns:a="http://schemas.openxmlformats.org/drawingml/2006/main">
              <a:ext uri="{FF2B5EF4-FFF2-40B4-BE49-F238E27FC236}">
                <a16:creationId xmlns:a16="http://schemas.microsoft.com/office/drawing/2014/main" id="{D3448E74-421A-4090-8AC6-3C92CCB7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382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“复原结果具有视觉上的完整性、和谐性”</a:t>
            </a:r>
          </a:p>
        </p:txBody>
      </p:sp>
      <p:sp>
        <p:nvSpPr>
          <p:cNvPr id="6" name="need-user-label">
            <a:extLst xmlns:a="http://schemas.openxmlformats.org/drawingml/2006/main">
              <a:ext uri="{FF2B5EF4-FFF2-40B4-BE49-F238E27FC236}">
                <a16:creationId xmlns:a16="http://schemas.microsoft.com/office/drawing/2014/main" id="{1AF4743C-6CEB-4684-A3D3-A9DA364E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38450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典型用户</a:t>
            </a:r>
          </a:p>
        </p:txBody>
      </p:sp>
      <p:sp>
        <p:nvSpPr>
          <p:cNvPr id="7" name="need-user-body">
            <a:extLst xmlns:a="http://schemas.openxmlformats.org/drawingml/2006/main">
              <a:ext uri="{FF2B5EF4-FFF2-40B4-BE49-F238E27FC236}">
                <a16:creationId xmlns:a16="http://schemas.microsoft.com/office/drawing/2014/main" id="{72F7A582-A4A8-4933-BE70-F781AE07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57500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实体壁画修复专家；需求访谈共5位。</a:t>
            </a:r>
          </a:p>
        </p:txBody>
      </p:sp>
      <p:sp>
        <p:nvSpPr>
          <p:cNvPr id="8" name="need-outcome-label">
            <a:extLst xmlns:a="http://schemas.openxmlformats.org/drawingml/2006/main">
              <a:ext uri="{FF2B5EF4-FFF2-40B4-BE49-F238E27FC236}">
                <a16:creationId xmlns:a16="http://schemas.microsoft.com/office/drawing/2014/main" id="{3D0C28A2-78A6-4022-8B73-18D73ABF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预期结果</a:t>
            </a:r>
          </a:p>
        </p:txBody>
      </p:sp>
      <p:sp>
        <p:nvSpPr>
          <p:cNvPr id="9" name="need-outcome-body">
            <a:extLst xmlns:a="http://schemas.openxmlformats.org/drawingml/2006/main">
              <a:ext uri="{FF2B5EF4-FFF2-40B4-BE49-F238E27FC236}">
                <a16:creationId xmlns:a16="http://schemas.microsoft.com/office/drawing/2014/main" id="{FEED9AB0-7C1D-4EFE-9BC6-58292298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29050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明显病害得到复原，图像完整、和谐。</a:t>
            </a:r>
          </a:p>
        </p:txBody>
      </p:sp>
      <p:sp>
        <p:nvSpPr>
          <p:cNvPr id="10" name="need-analysis-label">
            <a:extLst xmlns:a="http://schemas.openxmlformats.org/drawingml/2006/main">
              <a:ext uri="{FF2B5EF4-FFF2-40B4-BE49-F238E27FC236}">
                <a16:creationId xmlns:a16="http://schemas.microsoft.com/office/drawing/2014/main" id="{9FA45D5B-2726-464B-B461-958582FE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81550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细读的发现</a:t>
            </a:r>
          </a:p>
        </p:txBody>
      </p:sp>
      <p:sp>
        <p:nvSpPr>
          <p:cNvPr id="11" name="need-analysis-body">
            <a:extLst xmlns:a="http://schemas.openxmlformats.org/drawingml/2006/main">
              <a:ext uri="{FF2B5EF4-FFF2-40B4-BE49-F238E27FC236}">
                <a16:creationId xmlns:a16="http://schemas.microsoft.com/office/drawing/2014/main" id="{1D89DE45-51B8-4DBA-8797-02E52853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00600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视觉完整性是由工作需求带入系统的目标。</a:t>
            </a:r>
          </a:p>
        </p:txBody>
      </p:sp>
      <p:sp>
        <p:nvSpPr>
          <p:cNvPr id="12" name="need-limit">
            <a:extLst xmlns:a="http://schemas.openxmlformats.org/drawingml/2006/main">
              <a:ext uri="{FF2B5EF4-FFF2-40B4-BE49-F238E27FC236}">
                <a16:creationId xmlns:a16="http://schemas.microsoft.com/office/drawing/2014/main" id="{DBB8D360-0C2C-4057-A8C7-383DA9E8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需求说明“希望得到什么”，还需由后文检验“实际得到什么”。</a:t>
            </a:r>
          </a:p>
        </p:txBody>
      </p:sp>
    </p:spTree>
    <p:extLst>
      <p:ext uri="{BB962C8B-B14F-4D97-AF65-F5344CB8AC3E}">
        <p14:creationId xmlns:p14="http://schemas.microsoft.com/office/powerpoint/2010/main" val="12808717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4077E6-DAB5-4B98-93BC-95133EAC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三类数据，向复原输入了不同的信息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2C67F8F3-83E3-4B8E-9203-740A5A44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图：付心仪等，2019，第23页图2；数据准备据第23—24页。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表2列出的是壁画照片数据，不是已经验证的复原样例总数。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E0BB8A-09A6-4F12-B0B7-EC0B44C4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53CA8-843C-4E36-B8C6-04305886FF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783e7333a4ed4"/>
          <a:srcRect xmlns:a="http://schemas.openxmlformats.org/drawingml/2006/main" l="0" t="0" r="54000" b="0"/>
          <a:stretch xmlns:a="http://schemas.openxmlformats.org/drawingml/2006/main"/>
        </p:blipFill>
        <p:spPr>
          <a:xfrm xmlns:a="http://schemas.openxmlformats.org/drawingml/2006/main">
            <a:off x="533400" y="1809750"/>
            <a:ext cx="5810250" cy="3152775"/>
          </a:xfrm>
          <a:prstGeom xmlns:a="http://schemas.openxmlformats.org/drawingml/2006/main" prst="rect">
            <a:avLst/>
          </a:prstGeom>
        </p:spPr>
      </p:pic>
      <p:sp>
        <p:nvSpPr>
          <p:cNvPr id="6" name="reading-label-153">
            <a:extLst xmlns:a="http://schemas.openxmlformats.org/drawingml/2006/main">
              <a:ext uri="{FF2B5EF4-FFF2-40B4-BE49-F238E27FC236}">
                <a16:creationId xmlns:a16="http://schemas.microsoft.com/office/drawing/2014/main" id="{2E7AED6B-B61E-4DF8-8F42-C8F73594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457325"/>
            <a:ext cx="4476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壁画数据</a:t>
            </a:r>
          </a:p>
        </p:txBody>
      </p:sp>
      <p:sp>
        <p:nvSpPr>
          <p:cNvPr id="7" name="data-record">
            <a:extLst xmlns:a="http://schemas.openxmlformats.org/drawingml/2006/main">
              <a:ext uri="{FF2B5EF4-FFF2-40B4-BE49-F238E27FC236}">
                <a16:creationId xmlns:a16="http://schemas.microsoft.com/office/drawing/2014/main" id="{D2D36AB0-5E33-48B8-8EC1-8856DDDA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895475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记录现存图像。</a:t>
            </a:r>
          </a:p>
        </p:txBody>
      </p:sp>
      <p:sp>
        <p:nvSpPr>
          <p:cNvPr id="8" name="reading-label-288">
            <a:extLst xmlns:a="http://schemas.openxmlformats.org/drawingml/2006/main">
              <a:ext uri="{FF2B5EF4-FFF2-40B4-BE49-F238E27FC236}">
                <a16:creationId xmlns:a16="http://schemas.microsoft.com/office/drawing/2014/main" id="{CBC919EE-BDFA-4130-8CE5-32E6D07C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43200"/>
            <a:ext cx="4476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线描数据</a:t>
            </a:r>
          </a:p>
        </p:txBody>
      </p:sp>
      <p:sp>
        <p:nvSpPr>
          <p:cNvPr id="9" name="data-line">
            <a:extLst xmlns:a="http://schemas.openxmlformats.org/drawingml/2006/main">
              <a:ext uri="{FF2B5EF4-FFF2-40B4-BE49-F238E27FC236}">
                <a16:creationId xmlns:a16="http://schemas.microsoft.com/office/drawing/2014/main" id="{9E7FEB8D-8615-4F09-A508-2565E205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181350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补充轮廓与构图。</a:t>
            </a:r>
          </a:p>
        </p:txBody>
      </p:sp>
      <p:sp>
        <p:nvSpPr>
          <p:cNvPr id="10" name="reading-label-423">
            <a:extLst xmlns:a="http://schemas.openxmlformats.org/drawingml/2006/main">
              <a:ext uri="{FF2B5EF4-FFF2-40B4-BE49-F238E27FC236}">
                <a16:creationId xmlns:a16="http://schemas.microsoft.com/office/drawing/2014/main" id="{B8D63B81-1036-488C-8D37-B66670EC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029075"/>
            <a:ext cx="4476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样式数据</a:t>
            </a:r>
          </a:p>
        </p:txBody>
      </p:sp>
      <p:sp>
        <p:nvSpPr>
          <p:cNvPr id="11" name="data-style">
            <a:extLst xmlns:a="http://schemas.openxmlformats.org/drawingml/2006/main">
              <a:ext uri="{FF2B5EF4-FFF2-40B4-BE49-F238E27FC236}">
                <a16:creationId xmlns:a16="http://schemas.microsoft.com/office/drawing/2014/main" id="{BDD3C997-4C95-47A6-B6B7-9E78FE58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467225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提供颜色与纹理参考。</a:t>
            </a:r>
          </a:p>
        </p:txBody>
      </p:sp>
      <p:sp>
        <p:nvSpPr>
          <p:cNvPr id="12" name="data-question">
            <a:extLst xmlns:a="http://schemas.openxmlformats.org/drawingml/2006/main">
              <a:ext uri="{FF2B5EF4-FFF2-40B4-BE49-F238E27FC236}">
                <a16:creationId xmlns:a16="http://schemas.microsoft.com/office/drawing/2014/main" id="{750986EC-392A-46D0-B6B7-74762D92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43550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数据可以增加信息，但来源不同，所能支持的判断也不同。</a:t>
            </a:r>
          </a:p>
        </p:txBody>
      </p:sp>
    </p:spTree>
    <p:extLst>
      <p:ext uri="{BB962C8B-B14F-4D97-AF65-F5344CB8AC3E}">
        <p14:creationId xmlns:p14="http://schemas.microsoft.com/office/powerpoint/2010/main" val="6393302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4CD76B-71A7-484A-AB6C-16E57E2E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图3细读：判断被放在三步操作的哪里？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7A13F0E5-D8BF-40A9-A045-B53E81DF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图：付心仪等，2019，第23页图3；流程解释据第23—26页。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对判断位置的归纳为本次阅读分析。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6C89221-03D6-415D-8B78-5BDE5EA7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BEF77-4EEE-4364-AB13-117AB50536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205ef80d34103"/>
          <a:srcRect xmlns:a="http://schemas.openxmlformats.org/drawingml/2006/main" l="45500" t="0" r="0" b="0"/>
          <a:stretch xmlns:a="http://schemas.openxmlformats.org/drawingml/2006/main"/>
        </p:blipFill>
        <p:spPr>
          <a:xfrm xmlns:a="http://schemas.openxmlformats.org/drawingml/2006/main">
            <a:off x="723900" y="1438275"/>
            <a:ext cx="10744200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pipeline-reading">
            <a:extLst xmlns:a="http://schemas.openxmlformats.org/drawingml/2006/main">
              <a:ext uri="{FF2B5EF4-FFF2-40B4-BE49-F238E27FC236}">
                <a16:creationId xmlns:a16="http://schemas.microsoft.com/office/drawing/2014/main" id="{E4FC6196-72BB-42EA-94EA-1B9A698D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8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分割依赖结构理解，标注依赖破损判断，填充依赖参考选择。</a:t>
            </a:r>
          </a:p>
        </p:txBody>
      </p:sp>
    </p:spTree>
    <p:extLst>
      <p:ext uri="{BB962C8B-B14F-4D97-AF65-F5344CB8AC3E}">
        <p14:creationId xmlns:p14="http://schemas.microsoft.com/office/powerpoint/2010/main" val="19959957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EC5305-C894-423C-8CAD-198C0B69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图像分割：算法区域需要符合绘画结构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80055051-93A0-4095-8225-E3D44DCA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图：付心仪等，2019，第24页图6（从原文组合图中截取）。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原文操作与例子见第25页“图像分割”；引文取自同段。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B8C506-4BC5-4B32-AA5E-5F1C325D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0B041-DF0F-4D77-8855-0BAA0FE6CF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912b429d947a4"/>
          <a:srcRect xmlns:a="http://schemas.openxmlformats.org/drawingml/2006/main" l="49000" t="0" r="0" b="0"/>
          <a:stretch xmlns:a="http://schemas.openxmlformats.org/drawingml/2006/main"/>
        </p:blipFill>
        <p:spPr>
          <a:xfrm xmlns:a="http://schemas.openxmlformats.org/drawingml/2006/main">
            <a:off x="533400" y="1304925"/>
            <a:ext cx="4810125" cy="4791075"/>
          </a:xfrm>
          <a:prstGeom xmlns:a="http://schemas.openxmlformats.org/drawingml/2006/main" prst="rect">
            <a:avLst/>
          </a:prstGeom>
        </p:spPr>
      </p:pic>
      <p:sp>
        <p:nvSpPr>
          <p:cNvPr id="6" name="segmentation-quote">
            <a:extLst xmlns:a="http://schemas.openxmlformats.org/drawingml/2006/main">
              <a:ext uri="{FF2B5EF4-FFF2-40B4-BE49-F238E27FC236}">
                <a16:creationId xmlns:a16="http://schemas.microsoft.com/office/drawing/2014/main" id="{F67CD916-6B90-4F04-840B-10C7F6B8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476375"/>
            <a:ext cx="5657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3000"/>
              </a:lnSpc>
              <a:buNone/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“使分割结果更符合壁画的</a:t>
            </a:r>
          </a:p>
          <a:p xmlns:a="http://schemas.openxmlformats.org/drawingml/2006/main">
            <a:pPr algn="l">
              <a:lnSpc>
                <a:spcPct val="133000"/>
              </a:lnSpc>
              <a:buNone/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绘画内容与结构”</a:t>
            </a:r>
          </a:p>
        </p:txBody>
      </p:sp>
      <p:sp>
        <p:nvSpPr>
          <p:cNvPr id="7" name="reading-label-316">
            <a:extLst xmlns:a="http://schemas.openxmlformats.org/drawingml/2006/main">
              <a:ext uri="{FF2B5EF4-FFF2-40B4-BE49-F238E27FC236}">
                <a16:creationId xmlns:a16="http://schemas.microsoft.com/office/drawing/2014/main" id="{5695ADE8-2C59-4A10-A6C8-27BB807E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009900"/>
            <a:ext cx="561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作者的具体例子</a:t>
            </a:r>
          </a:p>
        </p:txBody>
      </p:sp>
      <p:sp>
        <p:nvSpPr>
          <p:cNvPr id="8" name="segmentation-examples">
            <a:extLst xmlns:a="http://schemas.openxmlformats.org/drawingml/2006/main">
              <a:ext uri="{FF2B5EF4-FFF2-40B4-BE49-F238E27FC236}">
                <a16:creationId xmlns:a16="http://schemas.microsoft.com/office/drawing/2014/main" id="{D71D9343-1DE1-4D20-B819-4EDC046B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486150"/>
            <a:ext cx="56292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合并大臂、小臂等相关区域；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将背光与背景区分开来。</a:t>
            </a:r>
          </a:p>
        </p:txBody>
      </p:sp>
      <p:sp>
        <p:nvSpPr>
          <p:cNvPr id="9" name="segmentation-point">
            <a:extLst xmlns:a="http://schemas.openxmlformats.org/drawingml/2006/main">
              <a:ext uri="{FF2B5EF4-FFF2-40B4-BE49-F238E27FC236}">
                <a16:creationId xmlns:a16="http://schemas.microsoft.com/office/drawing/2014/main" id="{559BCB69-DF8C-4E2F-BA91-CAA4EBBB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114925"/>
            <a:ext cx="56292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对形象部位的理解，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已经进入技术流程。</a:t>
            </a:r>
          </a:p>
        </p:txBody>
      </p:sp>
    </p:spTree>
    <p:extLst>
      <p:ext uri="{BB962C8B-B14F-4D97-AF65-F5344CB8AC3E}">
        <p14:creationId xmlns:p14="http://schemas.microsoft.com/office/powerpoint/2010/main" val="11270799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93E756-9FD7-41EE-A6A9-C45ADD34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破损标注：哪些像素先被判断为“破损”？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10919A3F-474F-4DD2-B455-96C20793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图：付心仪等，2019，第25页图7，截取上半部原图。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引文及RGB范围选择、迭代操作见同页“破损标注”。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CDA48B-DDB5-4077-A265-34162EB7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67C34-D41E-4E75-819E-20D3A2BFDC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ede6afd2342ec"/>
          <a:srcRect xmlns:a="http://schemas.openxmlformats.org/drawingml/2006/main" l="0" t="0" r="0" b="51000"/>
          <a:stretch xmlns:a="http://schemas.openxmlformats.org/drawingml/2006/main"/>
        </p:blipFill>
        <p:spPr>
          <a:xfrm xmlns:a="http://schemas.openxmlformats.org/drawingml/2006/main">
            <a:off x="533400" y="1466850"/>
            <a:ext cx="7086600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reading-label-150">
            <a:extLst xmlns:a="http://schemas.openxmlformats.org/drawingml/2006/main">
              <a:ext uri="{FF2B5EF4-FFF2-40B4-BE49-F238E27FC236}">
                <a16:creationId xmlns:a16="http://schemas.microsoft.com/office/drawing/2014/main" id="{F150097A-7B08-4C51-8BCB-A2C01B91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428750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原文中的关键限定</a:t>
            </a:r>
          </a:p>
        </p:txBody>
      </p:sp>
      <p:sp>
        <p:nvSpPr>
          <p:cNvPr id="7" name="marking-quote">
            <a:extLst xmlns:a="http://schemas.openxmlformats.org/drawingml/2006/main">
              <a:ext uri="{FF2B5EF4-FFF2-40B4-BE49-F238E27FC236}">
                <a16:creationId xmlns:a16="http://schemas.microsoft.com/office/drawing/2014/main" id="{CC00E3C6-0A82-43ED-B8A4-4968221C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981200"/>
            <a:ext cx="3524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“用户判定为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破损的区域”</a:t>
            </a:r>
          </a:p>
        </p:txBody>
      </p:sp>
      <p:sp>
        <p:nvSpPr>
          <p:cNvPr id="8" name="marking-steps">
            <a:extLst xmlns:a="http://schemas.openxmlformats.org/drawingml/2006/main">
              <a:ext uri="{FF2B5EF4-FFF2-40B4-BE49-F238E27FC236}">
                <a16:creationId xmlns:a16="http://schemas.microsoft.com/office/drawing/2014/main" id="{E51682C0-A86D-4DED-9F74-59B3A139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52800"/>
            <a:ext cx="34861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选择颜色范围；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点击、保存或取消；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继续迭代。</a:t>
            </a:r>
          </a:p>
        </p:txBody>
      </p:sp>
      <p:sp>
        <p:nvSpPr>
          <p:cNvPr id="9" name="marking-analysis">
            <a:extLst xmlns:a="http://schemas.openxmlformats.org/drawingml/2006/main">
              <a:ext uri="{FF2B5EF4-FFF2-40B4-BE49-F238E27FC236}">
                <a16:creationId xmlns:a16="http://schemas.microsoft.com/office/drawing/2014/main" id="{3B301E04-1587-48BB-91A2-1615A5F4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153025"/>
            <a:ext cx="3486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系统响应选择，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判断先由人作出。</a:t>
            </a:r>
          </a:p>
        </p:txBody>
      </p:sp>
    </p:spTree>
    <p:extLst>
      <p:ext uri="{BB962C8B-B14F-4D97-AF65-F5344CB8AC3E}">
        <p14:creationId xmlns:p14="http://schemas.microsoft.com/office/powerpoint/2010/main" val="18856810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9F7380-5421-4822-88AA-77B66E7F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内容填充：被填入的信息来自哪里？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224CFA23-824C-4D5F-AE4A-050C4B80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图：付心仪等，2019，第25页图8，截取下半部原图。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目标区域、参考区域与填充参数的说明见第25—26页。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1CD304-72C2-49E5-8A60-C39702F4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B235A-ACC4-4365-980E-642C1895AD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e7260e0304720"/>
          <a:srcRect xmlns:a="http://schemas.openxmlformats.org/drawingml/2006/main" l="0" t="50500" r="0" b="0"/>
          <a:stretch xmlns:a="http://schemas.openxmlformats.org/drawingml/2006/main"/>
        </p:blipFill>
        <p:spPr>
          <a:xfrm xmlns:a="http://schemas.openxmlformats.org/drawingml/2006/main">
            <a:off x="533400" y="1476375"/>
            <a:ext cx="7086600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reading-label-151">
            <a:extLst xmlns:a="http://schemas.openxmlformats.org/drawingml/2006/main">
              <a:ext uri="{FF2B5EF4-FFF2-40B4-BE49-F238E27FC236}">
                <a16:creationId xmlns:a16="http://schemas.microsoft.com/office/drawing/2014/main" id="{3E249448-E339-4769-B0ED-4BA98F27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43827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目标区域与参考区域</a:t>
            </a:r>
          </a:p>
        </p:txBody>
      </p:sp>
      <p:sp>
        <p:nvSpPr>
          <p:cNvPr id="7" name="filling-source">
            <a:extLst xmlns:a="http://schemas.openxmlformats.org/drawingml/2006/main">
              <a:ext uri="{FF2B5EF4-FFF2-40B4-BE49-F238E27FC236}">
                <a16:creationId xmlns:a16="http://schemas.microsoft.com/office/drawing/2014/main" id="{3400F7DC-5208-43FF-90CB-F7D59092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019300"/>
            <a:ext cx="352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参考部分的颜色、纹理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被用来填充目标区域。</a:t>
            </a:r>
          </a:p>
        </p:txBody>
      </p:sp>
      <p:sp>
        <p:nvSpPr>
          <p:cNvPr id="8" name="reading-label-383">
            <a:extLst xmlns:a="http://schemas.openxmlformats.org/drawingml/2006/main">
              <a:ext uri="{FF2B5EF4-FFF2-40B4-BE49-F238E27FC236}">
                <a16:creationId xmlns:a16="http://schemas.microsoft.com/office/drawing/2014/main" id="{EB067583-0184-4230-AF30-32B94F52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64807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需要分别解释</a:t>
            </a:r>
          </a:p>
        </p:txBody>
      </p:sp>
      <p:sp>
        <p:nvSpPr>
          <p:cNvPr id="9" name="filling-question">
            <a:extLst xmlns:a="http://schemas.openxmlformats.org/drawingml/2006/main">
              <a:ext uri="{FF2B5EF4-FFF2-40B4-BE49-F238E27FC236}">
                <a16:creationId xmlns:a16="http://schemas.microsoft.com/office/drawing/2014/main" id="{FE209F94-9A7F-4E42-A67A-ABA6937E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152900"/>
            <a:ext cx="35242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轮廓依据什么？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颜色与纹理依据什么？</a:t>
            </a:r>
          </a:p>
        </p:txBody>
      </p:sp>
      <p:sp>
        <p:nvSpPr>
          <p:cNvPr id="10" name="filling-parameters">
            <a:extLst xmlns:a="http://schemas.openxmlformats.org/drawingml/2006/main">
              <a:ext uri="{FF2B5EF4-FFF2-40B4-BE49-F238E27FC236}">
                <a16:creationId xmlns:a16="http://schemas.microsoft.com/office/drawing/2014/main" id="{9F917DF5-503A-4C06-BBC8-FC61860C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410200"/>
            <a:ext cx="3524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填充尺寸还会影响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速度和纹理细致程度。</a:t>
            </a:r>
          </a:p>
        </p:txBody>
      </p:sp>
    </p:spTree>
    <p:extLst>
      <p:ext uri="{BB962C8B-B14F-4D97-AF65-F5344CB8AC3E}">
        <p14:creationId xmlns:p14="http://schemas.microsoft.com/office/powerpoint/2010/main" val="3004209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A0B824-8357-4031-A897-744D7625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重绘范围：只补缺损，还是重绘整个区域？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9236F651-C7E7-4E4B-A27C-7A4DC769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原文锚点：付心仪等，2019，第26页左栏，接续“内容填充”的说明。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操作发生在数字图像中；视觉统一与证据呈现的讨论为本次分析。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808998-D6A3-4F5A-BDD4-5E6CFB6E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5" name="primary-quote">
            <a:extLst xmlns:a="http://schemas.openxmlformats.org/drawingml/2006/main">
              <a:ext uri="{FF2B5EF4-FFF2-40B4-BE49-F238E27FC236}">
                <a16:creationId xmlns:a16="http://schemas.microsoft.com/office/drawing/2014/main" id="{9E34F92B-2805-4E48-BA01-DB16C904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108585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“若占比较高，则重绘整个区域能够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使得复原的结果更有视觉上的统一性。”</a:t>
            </a:r>
          </a:p>
        </p:txBody>
      </p:sp>
      <p:sp>
        <p:nvSpPr>
          <p:cNvPr id="6" name="reading-label-368">
            <a:extLst xmlns:a="http://schemas.openxmlformats.org/drawingml/2006/main">
              <a:ext uri="{FF2B5EF4-FFF2-40B4-BE49-F238E27FC236}">
                <a16:creationId xmlns:a16="http://schemas.microsoft.com/office/drawing/2014/main" id="{A6F26DEC-E734-4150-A0AC-481DDDF4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05200"/>
            <a:ext cx="5048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只填破损部分</a:t>
            </a:r>
          </a:p>
        </p:txBody>
      </p:sp>
      <p:sp>
        <p:nvSpPr>
          <p:cNvPr id="7" name="reading-label-368">
            <a:extLst xmlns:a="http://schemas.openxmlformats.org/drawingml/2006/main">
              <a:ext uri="{FF2B5EF4-FFF2-40B4-BE49-F238E27FC236}">
                <a16:creationId xmlns:a16="http://schemas.microsoft.com/office/drawing/2014/main" id="{EB3778B0-37D3-46EC-9E91-2E7F2C32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05200"/>
            <a:ext cx="5048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重绘整个目标区域</a:t>
            </a:r>
          </a:p>
        </p:txBody>
      </p:sp>
      <p:sp>
        <p:nvSpPr>
          <p:cNvPr id="8" name="redraw-choice-1">
            <a:extLst xmlns:a="http://schemas.openxmlformats.org/drawingml/2006/main">
              <a:ext uri="{FF2B5EF4-FFF2-40B4-BE49-F238E27FC236}">
                <a16:creationId xmlns:a16="http://schemas.microsoft.com/office/drawing/2014/main" id="{AE059824-574D-489B-8EF3-650617C3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50387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处理范围集中于缺损区域。</a:t>
            </a:r>
          </a:p>
        </p:txBody>
      </p:sp>
      <p:sp>
        <p:nvSpPr>
          <p:cNvPr id="9" name="redraw-choice-2">
            <a:extLst xmlns:a="http://schemas.openxmlformats.org/drawingml/2006/main">
              <a:ext uri="{FF2B5EF4-FFF2-40B4-BE49-F238E27FC236}">
                <a16:creationId xmlns:a16="http://schemas.microsoft.com/office/drawing/2014/main" id="{0ED3ED38-B4FF-47E7-9B6E-B698CC79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50387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作者强调更统一的视觉结果。</a:t>
            </a:r>
          </a:p>
        </p:txBody>
      </p:sp>
      <p:sp>
        <p:nvSpPr>
          <p:cNvPr id="10" name="redraw-reading">
            <a:extLst xmlns:a="http://schemas.openxmlformats.org/drawingml/2006/main">
              <a:ext uri="{FF2B5EF4-FFF2-40B4-BE49-F238E27FC236}">
                <a16:creationId xmlns:a16="http://schemas.microsoft.com/office/drawing/2014/main" id="{A74B788E-C65C-4376-BD34-FAAA854B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00675"/>
            <a:ext cx="10839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“视觉统一”是一种收益；新增内容的历史依据仍需交代。</a:t>
            </a:r>
          </a:p>
        </p:txBody>
      </p:sp>
    </p:spTree>
    <p:extLst>
      <p:ext uri="{BB962C8B-B14F-4D97-AF65-F5344CB8AC3E}">
        <p14:creationId xmlns:p14="http://schemas.microsoft.com/office/powerpoint/2010/main" val="3928634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327CAF-771A-4195-AEA1-081842B8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图9整体细读：变化首先发生在哪里？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0CE16653-4E8A-46DF-A679-8A08DB8A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图：付心仪等，2019，第26页图9。左为破损壁画原图，右为几何复原结果。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以下为对图版可见变化的观察，不单凭图版证明历史原貌。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5F08207-7ED7-4B43-9C53-867B49EB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66F69-8E49-44C5-BBDB-D2BBE69A82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a6bf169344854"/>
          <a:stretch xmlns:a="http://schemas.openxmlformats.org/drawingml/2006/main"/>
        </p:blipFill>
        <p:spPr>
          <a:xfrm xmlns:a="http://schemas.openxmlformats.org/drawingml/2006/main">
            <a:off x="667435" y="1295400"/>
            <a:ext cx="3694329" cy="4819650"/>
          </a:xfrm>
          <a:prstGeom xmlns:a="http://schemas.openxmlformats.org/drawingml/2006/main" prst="rect">
            <a:avLst/>
          </a:prstGeom>
        </p:spPr>
      </p:pic>
      <p:sp>
        <p:nvSpPr>
          <p:cNvPr id="6" name="reading-label-160">
            <a:extLst xmlns:a="http://schemas.openxmlformats.org/drawingml/2006/main">
              <a:ext uri="{FF2B5EF4-FFF2-40B4-BE49-F238E27FC236}">
                <a16:creationId xmlns:a16="http://schemas.microsoft.com/office/drawing/2014/main" id="{3324D7AA-6A0E-4125-8AA0-A621801C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524000"/>
            <a:ext cx="643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从图上可以观察</a:t>
            </a:r>
          </a:p>
        </p:txBody>
      </p:sp>
      <p:sp>
        <p:nvSpPr>
          <p:cNvPr id="7" name="result-observation-1">
            <a:extLst xmlns:a="http://schemas.openxmlformats.org/drawingml/2006/main">
              <a:ext uri="{FF2B5EF4-FFF2-40B4-BE49-F238E27FC236}">
                <a16:creationId xmlns:a16="http://schemas.microsoft.com/office/drawing/2014/main" id="{3345D98F-BCA7-47B4-BE98-15848C44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076450"/>
            <a:ext cx="6400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3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衣摆、下肢与服饰细节，</a:t>
            </a:r>
          </a:p>
          <a:p xmlns:a="http://schemas.openxmlformats.org/drawingml/2006/main">
            <a:pPr algn="l">
              <a:lnSpc>
                <a:spcPct val="143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从不连续变得更容易识读。</a:t>
            </a:r>
          </a:p>
        </p:txBody>
      </p:sp>
      <p:sp>
        <p:nvSpPr>
          <p:cNvPr id="8" name="result-observation-2">
            <a:extLst xmlns:a="http://schemas.openxmlformats.org/drawingml/2006/main">
              <a:ext uri="{FF2B5EF4-FFF2-40B4-BE49-F238E27FC236}">
                <a16:creationId xmlns:a16="http://schemas.microsoft.com/office/drawing/2014/main" id="{0581D826-1146-4C8B-957E-B65F8856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552825"/>
            <a:ext cx="64008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3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人物基本姿态仍可辨；</a:t>
            </a:r>
          </a:p>
          <a:p xmlns:a="http://schemas.openxmlformats.org/drawingml/2006/main">
            <a:pPr algn="l">
              <a:lnSpc>
                <a:spcPct val="143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结果图加强了轮廓与衣纹的连续性。</a:t>
            </a:r>
          </a:p>
        </p:txBody>
      </p:sp>
      <p:sp>
        <p:nvSpPr>
          <p:cNvPr id="9" name="result-limit">
            <a:extLst xmlns:a="http://schemas.openxmlformats.org/drawingml/2006/main">
              <a:ext uri="{FF2B5EF4-FFF2-40B4-BE49-F238E27FC236}">
                <a16:creationId xmlns:a16="http://schemas.microsoft.com/office/drawing/2014/main" id="{2C5A3B33-24BA-4005-ACAE-57244E10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153025"/>
            <a:ext cx="640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这些观察说明图像效果，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还不能单独证明每一处新增细节的原貌。</a:t>
            </a:r>
          </a:p>
        </p:txBody>
      </p:sp>
    </p:spTree>
    <p:extLst>
      <p:ext uri="{BB962C8B-B14F-4D97-AF65-F5344CB8AC3E}">
        <p14:creationId xmlns:p14="http://schemas.microsoft.com/office/powerpoint/2010/main" val="11674863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FCBBF2-F1C6-4E2E-B796-B72535CA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面容局部细读：案例实际保留了什么？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88EDC56C-F98E-49D0-A2AB-1AB1E720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图：付心仪等，2019，第26页图9面容局部；仅作局部显示，未改画。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引文取自同页案例说明；线描由关晋文绘制亦据同页。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630B571-EA8C-4938-94C9-AA32EC83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C6137-46FF-4650-9105-92DC0956C0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25746646f48ca"/>
          <a:srcRect xmlns:a="http://schemas.openxmlformats.org/drawingml/2006/main" l="0" t="4500" r="0" b="66500"/>
          <a:stretch xmlns:a="http://schemas.openxmlformats.org/drawingml/2006/main"/>
        </p:blipFill>
        <p:spPr>
          <a:xfrm xmlns:a="http://schemas.openxmlformats.org/drawingml/2006/main">
            <a:off x="619125" y="1266825"/>
            <a:ext cx="10858500" cy="3381375"/>
          </a:xfrm>
          <a:prstGeom xmlns:a="http://schemas.openxmlformats.org/drawingml/2006/main" prst="rect">
            <a:avLst/>
          </a:prstGeom>
        </p:spPr>
      </p:pic>
      <p:sp>
        <p:nvSpPr>
          <p:cNvPr id="6" name="face-condition">
            <a:extLst xmlns:a="http://schemas.openxmlformats.org/drawingml/2006/main">
              <a:ext uri="{FF2B5EF4-FFF2-40B4-BE49-F238E27FC236}">
                <a16:creationId xmlns:a16="http://schemas.microsoft.com/office/drawing/2014/main" id="{FD49D974-C0EB-4AE3-81D1-4912D37D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05375"/>
            <a:ext cx="10839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作者选取的是“又保存相对完好”的案例。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左图的五官与朝向仍可辨，并有专家线描作为参考。</a:t>
            </a:r>
          </a:p>
        </p:txBody>
      </p:sp>
    </p:spTree>
    <p:extLst>
      <p:ext uri="{BB962C8B-B14F-4D97-AF65-F5344CB8AC3E}">
        <p14:creationId xmlns:p14="http://schemas.microsoft.com/office/powerpoint/2010/main" val="13538828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9083E5-F3C8-4053-AB9A-1A579D2F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专家评价：“敦煌特征”怎样支持复原？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B18BA04E-71F7-4C20-A6BB-4FF03821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评价文字：付心仪等，2019，第26页，作者对6位专家评价的转述。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图：同文第27页图10。对证据强度的区分为本次阅读分析。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6CEFBC0-A370-4FA2-8009-84CA5121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5" name="expert-scale">
            <a:extLst xmlns:a="http://schemas.openxmlformats.org/drawingml/2006/main">
              <a:ext uri="{FF2B5EF4-FFF2-40B4-BE49-F238E27FC236}">
                <a16:creationId xmlns:a16="http://schemas.microsoft.com/office/drawing/2014/main" id="{BDDF9281-5B60-4305-A614-DEA4AA7B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676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6位专家，从原真性、完整性、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可识别性、艺术性四个角度评价。</a:t>
            </a:r>
          </a:p>
        </p:txBody>
      </p:sp>
      <p:sp>
        <p:nvSpPr>
          <p:cNvPr id="6" name="expert-quote">
            <a:extLst xmlns:a="http://schemas.openxmlformats.org/drawingml/2006/main">
              <a:ext uri="{FF2B5EF4-FFF2-40B4-BE49-F238E27FC236}">
                <a16:creationId xmlns:a16="http://schemas.microsoft.com/office/drawing/2014/main" id="{A1D411AF-9C7D-4055-907F-EC2AEB13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38450"/>
            <a:ext cx="67341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“具有非常明显的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9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敦煌壁画特征”</a:t>
            </a:r>
          </a:p>
        </p:txBody>
      </p:sp>
      <p:sp>
        <p:nvSpPr>
          <p:cNvPr id="7" name="expert-limit">
            <a:extLst xmlns:a="http://schemas.openxmlformats.org/drawingml/2006/main">
              <a:ext uri="{FF2B5EF4-FFF2-40B4-BE49-F238E27FC236}">
                <a16:creationId xmlns:a16="http://schemas.microsoft.com/office/drawing/2014/main" id="{A5660CB2-7284-487C-984A-B5CF0FA3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9650"/>
            <a:ext cx="6743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专业认可能够约束风格与结构。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新增五官的逐项历史依据，仍需另外说明。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9CD19-1290-4786-A53C-9D8ACF6355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fe42533414410"/>
          <a:stretch xmlns:a="http://schemas.openxmlformats.org/drawingml/2006/main"/>
        </p:blipFill>
        <p:spPr>
          <a:xfrm xmlns:a="http://schemas.openxmlformats.org/drawingml/2006/main">
            <a:off x="7981950" y="1872853"/>
            <a:ext cx="3524250" cy="2464594"/>
          </a:xfrm>
          <a:prstGeom xmlns:a="http://schemas.openxmlformats.org/drawingml/2006/main" prst="rect">
            <a:avLst/>
          </a:prstGeom>
        </p:spPr>
      </p:pic>
      <p:sp>
        <p:nvSpPr>
          <p:cNvPr id="9" name="expert-photo-caption">
            <a:extLst xmlns:a="http://schemas.openxmlformats.org/drawingml/2006/main">
              <a:ext uri="{FF2B5EF4-FFF2-40B4-BE49-F238E27FC236}">
                <a16:creationId xmlns:a16="http://schemas.microsoft.com/office/drawing/2014/main" id="{EDC60415-3D5D-46C8-98DE-9A4B07AE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50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50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图10：专家现场论证</a:t>
            </a:r>
          </a:p>
        </p:txBody>
      </p:sp>
    </p:spTree>
    <p:extLst>
      <p:ext uri="{BB962C8B-B14F-4D97-AF65-F5344CB8AC3E}">
        <p14:creationId xmlns:p14="http://schemas.microsoft.com/office/powerpoint/2010/main" val="18564262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24E4E4-7C43-4CBA-B331-DF97592F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表3细读：满意度分数评价的是什么？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C1863B17-A3FF-4044-9A09-6F974C36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数据：付心仪等，2019，第27页表3“总体评价”，5分制。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15位被试、三组构成与任务说明见第26页；右列为对评分对象的释义。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404BD23-7EE2-4C69-BABE-6216BCD2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5" name="score-sample">
            <a:extLst xmlns:a="http://schemas.openxmlformats.org/drawingml/2006/main">
              <a:ext uri="{FF2B5EF4-FFF2-40B4-BE49-F238E27FC236}">
                <a16:creationId xmlns:a16="http://schemas.microsoft.com/office/drawing/2014/main" id="{243EA03B-FF2F-4AF4-8D55-58B79B2F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8489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15位被试，专家、工程师、设计师各5位。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B2ED2-B58C-42AD-9788-56A6FD942D3F}"/>
              </a:ext>
            </a:extLst>
          </p:cNvPr>
          <p:cNvGraphicFramePr/>
          <p:nvPr/>
        </p:nvGraphicFramePr>
        <p:xfrm>
          <a:off xmlns:a="http://schemas.openxmlformats.org/drawingml/2006/main" x="619125" y="2257425"/>
          <a:ext xmlns:a="http://schemas.openxmlformats.org/drawingml/2006/main" cx="10858500" cy="29241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1381125"/>
                <a:gridCol w="1381125"/>
                <a:gridCol w="5905500"/>
              </a:tblGrid>
              <a:tr h="731044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评分项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CABC"/>
                      </a:solidFill>
                      <a:prstDash val="solid"/>
                    </a:lnL>
                    <a:lnR w="6668">
                      <a:solidFill>
                        <a:srgbClr val="D5CABC"/>
                      </a:solidFill>
                      <a:prstDash val="solid"/>
                    </a:lnR>
                    <a:lnT w="6668">
                      <a:solidFill>
                        <a:srgbClr val="D5CABC"/>
                      </a:solidFill>
                      <a:prstDash val="solid"/>
                    </a:lnT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82483C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均值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5CABC"/>
                      </a:solidFill>
                      <a:prstDash val="solid"/>
                    </a:lnR>
                    <a:lnT w="6668">
                      <a:solidFill>
                        <a:srgbClr val="D5CABC"/>
                      </a:solidFill>
                      <a:prstDash val="solid"/>
                    </a:lnT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82483C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满分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5CABC"/>
                      </a:solidFill>
                      <a:prstDash val="solid"/>
                    </a:lnR>
                    <a:lnT w="6668">
                      <a:solidFill>
                        <a:srgbClr val="D5CABC"/>
                      </a:solidFill>
                      <a:prstDash val="solid"/>
                    </a:lnT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82483C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评价对象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5CABC"/>
                      </a:solidFill>
                      <a:prstDash val="solid"/>
                    </a:lnR>
                    <a:lnT w="6668">
                      <a:solidFill>
                        <a:srgbClr val="D5CABC"/>
                      </a:solidFill>
                      <a:prstDash val="solid"/>
                    </a:lnT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82483C"/>
                    </a:solidFill>
                  </a:tcPr>
                </a:tc>
              </a:tr>
              <a:tr h="731044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易学性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CABC"/>
                      </a:solidFill>
                      <a:prstDash val="solid"/>
                    </a:lnL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4.30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系统是否容易学习和掌握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</a:tr>
              <a:tr h="731044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易用性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CABC"/>
                      </a:solidFill>
                      <a:prstDash val="solid"/>
                    </a:lnL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3.70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交互操作是否容易使用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</a:tr>
              <a:tr h="731044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结果满意度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CABC"/>
                      </a:solidFill>
                      <a:prstDash val="solid"/>
                    </a:lnL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3.98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用户对任务结果的满意程度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</a:tr>
            </a:tbl>
          </a:graphicData>
        </a:graphic>
      </p:graphicFrame>
      <p:sp>
        <p:nvSpPr>
          <p:cNvPr id="7" name="score-boundary">
            <a:extLst xmlns:a="http://schemas.openxmlformats.org/drawingml/2006/main">
              <a:ext uri="{FF2B5EF4-FFF2-40B4-BE49-F238E27FC236}">
                <a16:creationId xmlns:a16="http://schemas.microsoft.com/office/drawing/2014/main" id="{F6E2BFA3-E76B-4D58-8CF2-C14EE546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10848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这是对系统使用与结果满意度的评价，不能换算为原貌准确率。</a:t>
            </a:r>
          </a:p>
        </p:txBody>
      </p:sp>
    </p:spTree>
    <p:extLst>
      <p:ext uri="{BB962C8B-B14F-4D97-AF65-F5344CB8AC3E}">
        <p14:creationId xmlns:p14="http://schemas.microsoft.com/office/powerpoint/2010/main" val="20575020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A50B9E-AC45-47E1-954A-8D58E61C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结语细读：结论与证据怎样对应？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87923F1C-A9A5-43E6-89A4-16EB48F6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原文锚点：付心仪等，2019，第27页结语；对照第26—27页专家评价与表3。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关于耗时证据呈现的判断以本文所报告内容为限。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BD8B69C-9F89-40F9-86A6-A4FC70A0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5" name="primary-quote">
            <a:extLst xmlns:a="http://schemas.openxmlformats.org/drawingml/2006/main">
              <a:ext uri="{FF2B5EF4-FFF2-40B4-BE49-F238E27FC236}">
                <a16:creationId xmlns:a16="http://schemas.microsoft.com/office/drawing/2014/main" id="{3FD3D34D-605D-4A5D-9E70-863AE076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9700"/>
            <a:ext cx="10839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77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“具有易学、易用、高效率等特点”</a:t>
            </a:r>
          </a:p>
        </p:txBody>
      </p:sp>
      <p:sp>
        <p:nvSpPr>
          <p:cNvPr id="6" name="conclusion-effective-label">
            <a:extLst xmlns:a="http://schemas.openxmlformats.org/drawingml/2006/main">
              <a:ext uri="{FF2B5EF4-FFF2-40B4-BE49-F238E27FC236}">
                <a16:creationId xmlns:a16="http://schemas.microsoft.com/office/drawing/2014/main" id="{BDCF27B7-9FB5-421B-80A5-F5BF20DF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方法有效</a:t>
            </a:r>
          </a:p>
        </p:txBody>
      </p:sp>
      <p:sp>
        <p:nvSpPr>
          <p:cNvPr id="7" name="conclusion-effective-body">
            <a:extLst xmlns:a="http://schemas.openxmlformats.org/drawingml/2006/main">
              <a:ext uri="{FF2B5EF4-FFF2-40B4-BE49-F238E27FC236}">
                <a16:creationId xmlns:a16="http://schemas.microsoft.com/office/drawing/2014/main" id="{AA234AAE-07C6-412A-9F13-651F3359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19400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原型、典型案例与专家认可提供支持。</a:t>
            </a:r>
          </a:p>
        </p:txBody>
      </p:sp>
      <p:sp>
        <p:nvSpPr>
          <p:cNvPr id="8" name="conclusion-usability-label">
            <a:extLst xmlns:a="http://schemas.openxmlformats.org/drawingml/2006/main">
              <a:ext uri="{FF2B5EF4-FFF2-40B4-BE49-F238E27FC236}">
                <a16:creationId xmlns:a16="http://schemas.microsoft.com/office/drawing/2014/main" id="{9963B198-4921-4313-9759-AA32F977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易学易用</a:t>
            </a:r>
          </a:p>
        </p:txBody>
      </p:sp>
      <p:sp>
        <p:nvSpPr>
          <p:cNvPr id="9" name="conclusion-usability-body">
            <a:extLst xmlns:a="http://schemas.openxmlformats.org/drawingml/2006/main">
              <a:ext uri="{FF2B5EF4-FFF2-40B4-BE49-F238E27FC236}">
                <a16:creationId xmlns:a16="http://schemas.microsoft.com/office/drawing/2014/main" id="{136C6D27-AA55-4C6D-A865-66E44AEB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29050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用户评分直接对应这两类使用体验。</a:t>
            </a:r>
          </a:p>
        </p:txBody>
      </p:sp>
      <p:sp>
        <p:nvSpPr>
          <p:cNvPr id="10" name="conclusion-speed-label">
            <a:extLst xmlns:a="http://schemas.openxmlformats.org/drawingml/2006/main">
              <a:ext uri="{FF2B5EF4-FFF2-40B4-BE49-F238E27FC236}">
                <a16:creationId xmlns:a16="http://schemas.microsoft.com/office/drawing/2014/main" id="{183B5440-3434-496C-B3E4-C8EA6AC3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19650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高效率</a:t>
            </a:r>
          </a:p>
        </p:txBody>
      </p:sp>
      <p:sp>
        <p:nvSpPr>
          <p:cNvPr id="11" name="conclusion-speed-body">
            <a:extLst xmlns:a="http://schemas.openxmlformats.org/drawingml/2006/main">
              <a:ext uri="{FF2B5EF4-FFF2-40B4-BE49-F238E27FC236}">
                <a16:creationId xmlns:a16="http://schemas.microsoft.com/office/drawing/2014/main" id="{2F5A1C6B-E640-46F9-B172-95F16AFD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38700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正文未报告任务耗时的对照数据。</a:t>
            </a:r>
          </a:p>
        </p:txBody>
      </p:sp>
      <p:sp>
        <p:nvSpPr>
          <p:cNvPr id="12" name="conclusion-limits">
            <a:extLst xmlns:a="http://schemas.openxmlformats.org/drawingml/2006/main">
              <a:ext uri="{FF2B5EF4-FFF2-40B4-BE49-F238E27FC236}">
                <a16:creationId xmlns:a16="http://schemas.microsoft.com/office/drawing/2014/main" id="{69CE3708-41A8-49A9-B4AF-71C9EEC7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作者还提出：扩展样例和数据集，继续优化算法及交互设计。</a:t>
            </a:r>
          </a:p>
        </p:txBody>
      </p:sp>
    </p:spTree>
    <p:extLst>
      <p:ext uri="{BB962C8B-B14F-4D97-AF65-F5344CB8AC3E}">
        <p14:creationId xmlns:p14="http://schemas.microsoft.com/office/powerpoint/2010/main" val="18109987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32DF7A-0881-4D93-9861-F637BAB4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设计师反馈：自由选择怎样改变工作目的？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87C3772D-B4EA-459E-9177-37456D67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原文锚点：付心仪等，2019，第26页右栏末段，设计师组用户反馈。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此反馈提出一种用法，不等于文中已验证全部再创作成果。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2B526B9-5D9C-4EA5-A2F2-BB7909C4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5" name="reading-label-148">
            <a:extLst xmlns:a="http://schemas.openxmlformats.org/drawingml/2006/main">
              <a:ext uri="{FF2B5EF4-FFF2-40B4-BE49-F238E27FC236}">
                <a16:creationId xmlns:a16="http://schemas.microsoft.com/office/drawing/2014/main" id="{662F7761-5219-4689-9B1C-347DF8FE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9700"/>
            <a:ext cx="10839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设计师组用户反馈</a:t>
            </a:r>
          </a:p>
        </p:txBody>
      </p:sp>
      <p:sp>
        <p:nvSpPr>
          <p:cNvPr id="6" name="primary-quote">
            <a:extLst xmlns:a="http://schemas.openxmlformats.org/drawingml/2006/main">
              <a:ext uri="{FF2B5EF4-FFF2-40B4-BE49-F238E27FC236}">
                <a16:creationId xmlns:a16="http://schemas.microsoft.com/office/drawing/2014/main" id="{832EE7C8-F882-4C86-B7D6-C325CC59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1083945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“用户可以自由选择喜爱的区域对待复原区域进行填充，可以衍生出不同的艺术作品。”</a:t>
            </a:r>
          </a:p>
        </p:txBody>
      </p:sp>
      <p:sp>
        <p:nvSpPr>
          <p:cNvPr id="7" name="creative-reading">
            <a:extLst xmlns:a="http://schemas.openxmlformats.org/drawingml/2006/main">
              <a:ext uri="{FF2B5EF4-FFF2-40B4-BE49-F238E27FC236}">
                <a16:creationId xmlns:a16="http://schemas.microsoft.com/office/drawing/2014/main" id="{37194758-DE5E-4970-96AC-C2CB4981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108299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“自由选择喜爱”的参考区域，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使同一套填充功能可能服务于新的表达目的。</a:t>
            </a:r>
          </a:p>
        </p:txBody>
      </p:sp>
      <p:sp>
        <p:nvSpPr>
          <p:cNvPr id="8" name="creative-question">
            <a:extLst xmlns:a="http://schemas.openxmlformats.org/drawingml/2006/main">
              <a:ext uri="{FF2B5EF4-FFF2-40B4-BE49-F238E27FC236}">
                <a16:creationId xmlns:a16="http://schemas.microsoft.com/office/drawing/2014/main" id="{4E263ACD-9720-4085-B435-79B530B6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14975"/>
            <a:ext cx="10829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成果的身份，还需要由工作目的和证据约束来说明。</a:t>
            </a:r>
          </a:p>
        </p:txBody>
      </p:sp>
    </p:spTree>
    <p:extLst>
      <p:ext uri="{BB962C8B-B14F-4D97-AF65-F5344CB8AC3E}">
        <p14:creationId xmlns:p14="http://schemas.microsoft.com/office/powerpoint/2010/main" val="18314017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A58CF7-7E90-4BC7-84C9-30C3F3A3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回读“原真性”：作者要保留哪一种“原”？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E506764D-A2FA-4C99-95B6-099ADAAC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原文锚点：付心仪等，2019，第21页原真性、第24页输出要求、第26页重绘说明。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“原状记录”与“复原版本”的区分为本次解释，不归为作者明示的规范。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84799C-4B1A-41E7-BF02-B69D61B8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5" name="authenticity-21-label">
            <a:extLst xmlns:a="http://schemas.openxmlformats.org/drawingml/2006/main">
              <a:ext uri="{FF2B5EF4-FFF2-40B4-BE49-F238E27FC236}">
                <a16:creationId xmlns:a16="http://schemas.microsoft.com/office/drawing/2014/main" id="{ED2A0F69-96FA-4222-B88C-12C995D7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第21页</a:t>
            </a:r>
          </a:p>
        </p:txBody>
      </p:sp>
      <p:sp>
        <p:nvSpPr>
          <p:cNvPr id="6" name="authenticity-21-body">
            <a:extLst xmlns:a="http://schemas.openxmlformats.org/drawingml/2006/main">
              <a:ext uri="{FF2B5EF4-FFF2-40B4-BE49-F238E27FC236}">
                <a16:creationId xmlns:a16="http://schemas.microsoft.com/office/drawing/2014/main" id="{54605C43-87AE-4523-B013-D118E2BF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43050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实体修复需要遵守原真性原则。</a:t>
            </a:r>
          </a:p>
        </p:txBody>
      </p:sp>
      <p:sp>
        <p:nvSpPr>
          <p:cNvPr id="7" name="authenticity-24-label">
            <a:extLst xmlns:a="http://schemas.openxmlformats.org/drawingml/2006/main">
              <a:ext uri="{FF2B5EF4-FFF2-40B4-BE49-F238E27FC236}">
                <a16:creationId xmlns:a16="http://schemas.microsoft.com/office/drawing/2014/main" id="{C04E34F2-0D4D-4D43-8932-8962377A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6222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第24页</a:t>
            </a:r>
          </a:p>
        </p:txBody>
      </p:sp>
      <p:sp>
        <p:nvSpPr>
          <p:cNvPr id="8" name="authenticity-24-body">
            <a:extLst xmlns:a="http://schemas.openxmlformats.org/drawingml/2006/main">
              <a:ext uri="{FF2B5EF4-FFF2-40B4-BE49-F238E27FC236}">
                <a16:creationId xmlns:a16="http://schemas.microsoft.com/office/drawing/2014/main" id="{5EE93447-6735-4C6E-9D91-5376857C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81275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保持原状、以旧修旧，并使结果和谐。</a:t>
            </a:r>
          </a:p>
        </p:txBody>
      </p:sp>
      <p:sp>
        <p:nvSpPr>
          <p:cNvPr id="9" name="authenticity-26-label">
            <a:extLst xmlns:a="http://schemas.openxmlformats.org/drawingml/2006/main">
              <a:ext uri="{FF2B5EF4-FFF2-40B4-BE49-F238E27FC236}">
                <a16:creationId xmlns:a16="http://schemas.microsoft.com/office/drawing/2014/main" id="{0D0F646D-2D7C-4A08-8827-B1C675AA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第26页</a:t>
            </a:r>
          </a:p>
        </p:txBody>
      </p:sp>
      <p:sp>
        <p:nvSpPr>
          <p:cNvPr id="10" name="authenticity-26-body">
            <a:extLst xmlns:a="http://schemas.openxmlformats.org/drawingml/2006/main">
              <a:ext uri="{FF2B5EF4-FFF2-40B4-BE49-F238E27FC236}">
                <a16:creationId xmlns:a16="http://schemas.microsoft.com/office/drawing/2014/main" id="{910B60F3-3CE2-4250-88B3-245FDD23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19500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为视觉统一，可以重绘整个目标区域。</a:t>
            </a:r>
          </a:p>
        </p:txBody>
      </p:sp>
      <p:sp>
        <p:nvSpPr>
          <p:cNvPr id="11" name="authenticity-reading">
            <a:extLst xmlns:a="http://schemas.openxmlformats.org/drawingml/2006/main">
              <a:ext uri="{FF2B5EF4-FFF2-40B4-BE49-F238E27FC236}">
                <a16:creationId xmlns:a16="http://schemas.microsoft.com/office/drawing/2014/main" id="{53ADB470-AEC5-4E40-8EDC-349A0FC3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53025"/>
            <a:ext cx="108204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需要分清：保留原状记录，与另出复原解释，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325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分别承担什么任务。</a:t>
            </a:r>
          </a:p>
        </p:txBody>
      </p:sp>
    </p:spTree>
    <p:extLst>
      <p:ext uri="{BB962C8B-B14F-4D97-AF65-F5344CB8AC3E}">
        <p14:creationId xmlns:p14="http://schemas.microsoft.com/office/powerpoint/2010/main" val="21149101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79765E-44CE-461E-AD76-D40B7670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面容完全消失时，我在什么条件下支持补绘？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95ACCF55-D4AE-4227-871D-B8C00107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本页为基于细读提出的保护判断，不是本文已验证的实验结果或行业规范。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材料起点：付心仪等，2019，第22、25—26页。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4EEB68-D572-4559-92A9-E388D8CA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5" name="decision-record-label">
            <a:extLst xmlns:a="http://schemas.openxmlformats.org/drawingml/2006/main">
              <a:ext uri="{FF2B5EF4-FFF2-40B4-BE49-F238E27FC236}">
                <a16:creationId xmlns:a16="http://schemas.microsoft.com/office/drawing/2014/main" id="{B70AFE06-FCDC-4D9F-A004-05D0F963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有同一图像记录</a:t>
            </a:r>
          </a:p>
        </p:txBody>
      </p:sp>
      <p:sp>
        <p:nvSpPr>
          <p:cNvPr id="6" name="decision-record-body">
            <a:extLst xmlns:a="http://schemas.openxmlformats.org/drawingml/2006/main">
              <a:ext uri="{FF2B5EF4-FFF2-40B4-BE49-F238E27FC236}">
                <a16:creationId xmlns:a16="http://schemas.microsoft.com/office/drawing/2014/main" id="{BCD9A3D2-37C0-45A4-8BED-12B16343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14475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可靠的旧记录，可以对补绘施加较强约束。</a:t>
            </a:r>
          </a:p>
        </p:txBody>
      </p:sp>
      <p:sp>
        <p:nvSpPr>
          <p:cNvPr id="7" name="decision-analogy-label">
            <a:extLst xmlns:a="http://schemas.openxmlformats.org/drawingml/2006/main">
              <a:ext uri="{FF2B5EF4-FFF2-40B4-BE49-F238E27FC236}">
                <a16:creationId xmlns:a16="http://schemas.microsoft.com/office/drawing/2014/main" id="{E5ED433B-EB6A-4A1F-A347-4B5D4A1F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3842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主要依靠类推</a:t>
            </a:r>
          </a:p>
        </p:txBody>
      </p:sp>
      <p:sp>
        <p:nvSpPr>
          <p:cNvPr id="8" name="decision-analogy-body">
            <a:extLst xmlns:a="http://schemas.openxmlformats.org/drawingml/2006/main">
              <a:ext uri="{FF2B5EF4-FFF2-40B4-BE49-F238E27FC236}">
                <a16:creationId xmlns:a16="http://schemas.microsoft.com/office/drawing/2014/main" id="{5096371E-987C-4E08-8A01-E56B1C38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57475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同类图像帮助比较，但要说明推断范围。</a:t>
            </a:r>
          </a:p>
        </p:txBody>
      </p:sp>
      <p:sp>
        <p:nvSpPr>
          <p:cNvPr id="9" name="decision-unknown-label">
            <a:extLst xmlns:a="http://schemas.openxmlformats.org/drawingml/2006/main">
              <a:ext uri="{FF2B5EF4-FFF2-40B4-BE49-F238E27FC236}">
                <a16:creationId xmlns:a16="http://schemas.microsoft.com/office/drawing/2014/main" id="{155A9A4A-947C-4F37-A092-290BAFCF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8142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相关依据不足</a:t>
            </a:r>
          </a:p>
        </p:txBody>
      </p:sp>
      <p:sp>
        <p:nvSpPr>
          <p:cNvPr id="10" name="decision-unknown-body">
            <a:extLst xmlns:a="http://schemas.openxmlformats.org/drawingml/2006/main">
              <a:ext uri="{FF2B5EF4-FFF2-40B4-BE49-F238E27FC236}">
                <a16:creationId xmlns:a16="http://schemas.microsoft.com/office/drawing/2014/main" id="{4F73AAA1-6E21-44FA-A12F-930D2A27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00475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完整面容更多承担当代解释或创作。</a:t>
            </a:r>
          </a:p>
        </p:txBody>
      </p:sp>
      <p:sp>
        <p:nvSpPr>
          <p:cNvPr id="11" name="decision-position">
            <a:extLst xmlns:a="http://schemas.openxmlformats.org/drawingml/2006/main">
              <a:ext uri="{FF2B5EF4-FFF2-40B4-BE49-F238E27FC236}">
                <a16:creationId xmlns:a16="http://schemas.microsoft.com/office/drawing/2014/main" id="{30CBB98D-9123-4716-A2F6-4D400982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0810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我支持可交代依据、可修订的数字复原。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是否补到原壁上，需要单独论证。</a:t>
            </a:r>
          </a:p>
        </p:txBody>
      </p:sp>
    </p:spTree>
    <p:extLst>
      <p:ext uri="{BB962C8B-B14F-4D97-AF65-F5344CB8AC3E}">
        <p14:creationId xmlns:p14="http://schemas.microsoft.com/office/powerpoint/2010/main" val="127445214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649032-8822-4093-8DF1-88B6CD6C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补绘后，作品延续了什么，又增加了什么？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1EE3757B-1F2E-4C5D-9531-369726B6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本页为本人阅读后的讨论性判断。依据付心仪等，2019，第22、25—27页。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课堂参照：《艺术概论》2026-10-14，目光、姿态与传神。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EB6B53-5541-4988-8974-32C150F7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5" name="identity-object-label">
            <a:extLst xmlns:a="http://schemas.openxmlformats.org/drawingml/2006/main">
              <a:ext uri="{FF2B5EF4-FFF2-40B4-BE49-F238E27FC236}">
                <a16:creationId xmlns:a16="http://schemas.microsoft.com/office/drawing/2014/main" id="{BE687719-B531-47C9-A94D-873240FB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历史物的身份</a:t>
            </a:r>
          </a:p>
        </p:txBody>
      </p:sp>
      <p:sp>
        <p:nvSpPr>
          <p:cNvPr id="6" name="identity-object-body">
            <a:extLst xmlns:a="http://schemas.openxmlformats.org/drawingml/2006/main">
              <a:ext uri="{FF2B5EF4-FFF2-40B4-BE49-F238E27FC236}">
                <a16:creationId xmlns:a16="http://schemas.microsoft.com/office/drawing/2014/main" id="{218E714B-9155-420E-9E41-FC9AD98C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24000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原物可能延续身份，同时包含后加部分。</a:t>
            </a:r>
          </a:p>
        </p:txBody>
      </p:sp>
      <p:sp>
        <p:nvSpPr>
          <p:cNvPr id="7" name="identity-expression-label">
            <a:extLst xmlns:a="http://schemas.openxmlformats.org/drawingml/2006/main">
              <a:ext uri="{FF2B5EF4-FFF2-40B4-BE49-F238E27FC236}">
                <a16:creationId xmlns:a16="http://schemas.microsoft.com/office/drawing/2014/main" id="{31938663-24BF-4864-84EC-80DA2E35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图像的表达</a:t>
            </a:r>
          </a:p>
        </p:txBody>
      </p:sp>
      <p:sp>
        <p:nvSpPr>
          <p:cNvPr id="8" name="identity-expression-body">
            <a:extLst xmlns:a="http://schemas.openxmlformats.org/drawingml/2006/main">
              <a:ext uri="{FF2B5EF4-FFF2-40B4-BE49-F238E27FC236}">
                <a16:creationId xmlns:a16="http://schemas.microsoft.com/office/drawing/2014/main" id="{3537A3E2-A2B1-4DEF-AD14-E794986F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38425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新补的目光、表情与朝向，可能改变人物神貌。</a:t>
            </a:r>
          </a:p>
        </p:txBody>
      </p:sp>
      <p:sp>
        <p:nvSpPr>
          <p:cNvPr id="9" name="identity-version-label">
            <a:extLst xmlns:a="http://schemas.openxmlformats.org/drawingml/2006/main">
              <a:ext uri="{FF2B5EF4-FFF2-40B4-BE49-F238E27FC236}">
                <a16:creationId xmlns:a16="http://schemas.microsoft.com/office/drawing/2014/main" id="{69AADB79-22B3-4E59-ACB4-14BD20BA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数字版本的价值</a:t>
            </a:r>
          </a:p>
        </p:txBody>
      </p:sp>
      <p:sp>
        <p:nvSpPr>
          <p:cNvPr id="10" name="identity-version-body">
            <a:extLst xmlns:a="http://schemas.openxmlformats.org/drawingml/2006/main">
              <a:ext uri="{FF2B5EF4-FFF2-40B4-BE49-F238E27FC236}">
                <a16:creationId xmlns:a16="http://schemas.microsoft.com/office/drawing/2014/main" id="{BE7A5B1C-8136-4062-B1E8-6E1429E2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52850"/>
            <a:ext cx="8248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作为理解原作的方案，保留证据与不确定性。</a:t>
            </a:r>
          </a:p>
        </p:txBody>
      </p:sp>
      <p:sp>
        <p:nvSpPr>
          <p:cNvPr id="11" name="identity-return">
            <a:extLst xmlns:a="http://schemas.openxmlformats.org/drawingml/2006/main">
              <a:ext uri="{FF2B5EF4-FFF2-40B4-BE49-F238E27FC236}">
                <a16:creationId xmlns:a16="http://schemas.microsoft.com/office/drawing/2014/main" id="{D3024906-FE6F-449A-B0D1-EF485B9D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0067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再看“无面的佛”，我会先问：这张脸是依据什么画出来的？</a:t>
            </a:r>
          </a:p>
        </p:txBody>
      </p:sp>
    </p:spTree>
    <p:extLst>
      <p:ext uri="{BB962C8B-B14F-4D97-AF65-F5344CB8AC3E}">
        <p14:creationId xmlns:p14="http://schemas.microsoft.com/office/powerpoint/2010/main" val="17817176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EE5590-0113-4BB1-9F95-61C26A13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参考文献与图片出处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18C26FE3-BED4-4BCA-9547-95EB29A3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页码均为期刊印刷页码，第21—27页对应用户提供PDF第1—7页。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308693D-5AB5-414A-BFE9-78F72EF0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24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5" name="reading-label-141">
            <a:extLst xmlns:a="http://schemas.openxmlformats.org/drawingml/2006/main">
              <a:ext uri="{FF2B5EF4-FFF2-40B4-BE49-F238E27FC236}">
                <a16:creationId xmlns:a16="http://schemas.microsoft.com/office/drawing/2014/main" id="{F1BB33A3-C854-4E93-BD59-22F0CD90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主读论文</a:t>
            </a:r>
          </a:p>
        </p:txBody>
      </p:sp>
      <p:sp>
        <p:nvSpPr>
          <p:cNvPr id="6" name="reference-paper">
            <a:extLst xmlns:a="http://schemas.openxmlformats.org/drawingml/2006/main">
              <a:ext uri="{FF2B5EF4-FFF2-40B4-BE49-F238E27FC236}">
                <a16:creationId xmlns:a16="http://schemas.microsoft.com/office/drawing/2014/main" id="{7DE57B01-A554-4D01-BCF9-CB4898EF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394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付心仪、麻晓娟、孙志军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破损壁画的数字化复原研究——以敦煌壁画为例[J]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《装饰》，2019(1)：21–27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DOI：10.16272/j.cnki.cn11-1392/j.2019.01.007</a:t>
            </a:r>
          </a:p>
        </p:txBody>
      </p:sp>
      <p:sp>
        <p:nvSpPr>
          <p:cNvPr id="7" name="reading-label-353">
            <a:extLst xmlns:a="http://schemas.openxmlformats.org/drawingml/2006/main">
              <a:ext uri="{FF2B5EF4-FFF2-40B4-BE49-F238E27FC236}">
                <a16:creationId xmlns:a16="http://schemas.microsoft.com/office/drawing/2014/main" id="{E8EB7249-DDB5-43BE-A88E-6AF85C83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论文图表与展品照片</a:t>
            </a:r>
          </a:p>
        </p:txBody>
      </p:sp>
      <p:sp>
        <p:nvSpPr>
          <p:cNvPr id="8" name="reference-images">
            <a:extLst xmlns:a="http://schemas.openxmlformats.org/drawingml/2006/main">
              <a:ext uri="{FF2B5EF4-FFF2-40B4-BE49-F238E27FC236}">
                <a16:creationId xmlns:a16="http://schemas.microsoft.com/office/drawing/2014/main" id="{76238FFB-7FAE-4CDC-BB3A-6EA5436A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839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图1—3、图6—10、表1—3：取自主读论文，具体定位见对应页面。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《说法图》（摹）、《药师佛佛会图》临摹作品：某同学摄于中国工艺美术馆。</a:t>
            </a:r>
          </a:p>
        </p:txBody>
      </p:sp>
      <p:sp>
        <p:nvSpPr>
          <p:cNvPr id="9" name="reading-label-541">
            <a:extLst xmlns:a="http://schemas.openxmlformats.org/drawingml/2006/main">
              <a:ext uri="{FF2B5EF4-FFF2-40B4-BE49-F238E27FC236}">
                <a16:creationId xmlns:a16="http://schemas.microsoft.com/office/drawing/2014/main" id="{123A4D41-1201-4677-9972-332521C6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课堂联系</a:t>
            </a:r>
          </a:p>
        </p:txBody>
      </p:sp>
      <p:sp>
        <p:nvSpPr>
          <p:cNvPr id="10" name="reference-course">
            <a:extLst xmlns:a="http://schemas.openxmlformats.org/drawingml/2006/main">
              <a:ext uri="{FF2B5EF4-FFF2-40B4-BE49-F238E27FC236}">
                <a16:creationId xmlns:a16="http://schemas.microsoft.com/office/drawing/2014/main" id="{3A94C27B-6CA7-4A03-BEFA-322C9DDF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839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《艺术概论》2026-10-14课程笔记：“材料、目光与姿态如何传神”。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本文的保护判断与延伸追问均标明为个人阅读分析。</a:t>
            </a:r>
          </a:p>
        </p:txBody>
      </p:sp>
    </p:spTree>
    <p:extLst>
      <p:ext uri="{BB962C8B-B14F-4D97-AF65-F5344CB8AC3E}">
        <p14:creationId xmlns:p14="http://schemas.microsoft.com/office/powerpoint/2010/main" val="835904799"/>
      </p:ext>
    </p:extLst>
  </p:cSld>
</p:sld>
</file>

<file path=ppt/theme/theme1.xml><?xml version="1.0" encoding="utf-8"?>
<a:theme xmlns:a="http://schemas.openxmlformats.org/drawingml/2006/main" name="ChatGPT">
  <a:themeElements>
    <a:clrScheme name="无面的佛·论文细读">
      <a:dk1>
        <a:srgbClr val="26231F"/>
      </a:dk1>
      <a:lt1>
        <a:srgbClr val="FFFFFF"/>
      </a:lt1>
      <a:dk2>
        <a:srgbClr val="756C60"/>
      </a:dk2>
      <a:lt2>
        <a:srgbClr val="F3EEE5"/>
      </a:lt2>
      <a:accent1>
        <a:srgbClr val="82483C"/>
      </a:accent1>
      <a:accent2>
        <a:srgbClr val="756C60"/>
      </a:accent2>
      <a:accent3>
        <a:srgbClr val="B19A75"/>
      </a:accent3>
      <a:accent4>
        <a:srgbClr val="575E4C"/>
      </a:accent4>
      <a:accent5>
        <a:srgbClr val="725E5C"/>
      </a:accent5>
      <a:accent6>
        <a:srgbClr val="A8785B"/>
      </a:accent6>
      <a:hlink>
        <a:srgbClr val="82483C"/>
      </a:hlink>
      <a:folHlink>
        <a:srgbClr val="82483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无面的佛·论文细读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>Walnut Exporter</lastModifiedBy>
  <dc:title>Presentation</dc:title>
  <dcterms:created xsi:type="dcterms:W3CDTF">2026-10-29T16:22:38.0960000Z</dcterms:created>
  <dcterms:modified xsi:type="dcterms:W3CDTF">2026-10-29T16:22:38.0960000Z</dcterms:modified>
</coreProperties>
</file>