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637990a194443" /><Relationship Type="http://schemas.openxmlformats.org/officeDocument/2006/relationships/extended-properties" Target="/docProps/app.xml" Id="R1502dc7f32b5465c" /><Relationship Type="http://schemas.openxmlformats.org/officeDocument/2006/relationships/officeDocument" Target="/ppt/presentation.xml" Id="R08a2707903fb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752ccaaee45db"/>
  </p:sldMasterIdLst>
  <p:notesMasterIdLst>
    <p:notesMasterId xmlns:r="http://schemas.openxmlformats.org/officeDocument/2006/relationships" r:id="R386056c8ecf948f7"/>
  </p:notesMasterIdLst>
  <p:sldIdLst>
    <p:sldId xmlns:r="http://schemas.openxmlformats.org/officeDocument/2006/relationships" id="256" r:id="R57fe9043e0544352"/>
    <p:sldId xmlns:r="http://schemas.openxmlformats.org/officeDocument/2006/relationships" id="257" r:id="Rf15ece15798543fe"/>
    <p:sldId xmlns:r="http://schemas.openxmlformats.org/officeDocument/2006/relationships" id="258" r:id="Rb2cbb071e885431b"/>
    <p:sldId xmlns:r="http://schemas.openxmlformats.org/officeDocument/2006/relationships" id="259" r:id="R71e9a59eab7a4e77"/>
    <p:sldId xmlns:r="http://schemas.openxmlformats.org/officeDocument/2006/relationships" id="260" r:id="R41b8f7ea6b1a4e43"/>
    <p:sldId xmlns:r="http://schemas.openxmlformats.org/officeDocument/2006/relationships" id="261" r:id="R7ac697e5c5734c28"/>
    <p:sldId xmlns:r="http://schemas.openxmlformats.org/officeDocument/2006/relationships" id="262" r:id="Rd14aa657e98f43eb"/>
    <p:sldId xmlns:r="http://schemas.openxmlformats.org/officeDocument/2006/relationships" id="263" r:id="R533d539d23734dcd"/>
    <p:sldId xmlns:r="http://schemas.openxmlformats.org/officeDocument/2006/relationships" id="264" r:id="R161230a538964ac2"/>
    <p:sldId xmlns:r="http://schemas.openxmlformats.org/officeDocument/2006/relationships" id="265" r:id="Rfb963397fabd44c1"/>
    <p:sldId xmlns:r="http://schemas.openxmlformats.org/officeDocument/2006/relationships" id="266" r:id="Rdc9f449359a8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e103ee8d7c429d" /><Relationship Type="http://schemas.openxmlformats.org/officeDocument/2006/relationships/slideMaster" Target="/ppt/slideMasters/slideMaster1.xml" Id="R166752ccaaee45db" /><Relationship Type="http://schemas.openxmlformats.org/officeDocument/2006/relationships/notesMaster" Target="/ppt/notesMasters/notesMaster1.xml" Id="R386056c8ecf948f7" /><Relationship Type="http://schemas.openxmlformats.org/officeDocument/2006/relationships/presProps" Target="/ppt/presProps.xml" Id="R949475f782a340c7" /><Relationship Type="http://schemas.openxmlformats.org/officeDocument/2006/relationships/tableStyles" Target="/ppt/tableStyles.xml" Id="R3058b72e1406473d" /><Relationship Type="http://schemas.openxmlformats.org/officeDocument/2006/relationships/slide" Target="/ppt/slides/slide1.xml" Id="R57fe9043e0544352" /><Relationship Type="http://schemas.openxmlformats.org/officeDocument/2006/relationships/slide" Target="/ppt/slides/slide2.xml" Id="Rf15ece15798543fe" /><Relationship Type="http://schemas.openxmlformats.org/officeDocument/2006/relationships/slide" Target="/ppt/slides/slide3.xml" Id="Rb2cbb071e885431b" /><Relationship Type="http://schemas.openxmlformats.org/officeDocument/2006/relationships/slide" Target="/ppt/slides/slide4.xml" Id="R71e9a59eab7a4e77" /><Relationship Type="http://schemas.openxmlformats.org/officeDocument/2006/relationships/slide" Target="/ppt/slides/slide5.xml" Id="R41b8f7ea6b1a4e43" /><Relationship Type="http://schemas.openxmlformats.org/officeDocument/2006/relationships/slide" Target="/ppt/slides/slide6.xml" Id="R7ac697e5c5734c28" /><Relationship Type="http://schemas.openxmlformats.org/officeDocument/2006/relationships/slide" Target="/ppt/slides/slide7.xml" Id="Rd14aa657e98f43eb" /><Relationship Type="http://schemas.openxmlformats.org/officeDocument/2006/relationships/slide" Target="/ppt/slides/slide8.xml" Id="R533d539d23734dcd" /><Relationship Type="http://schemas.openxmlformats.org/officeDocument/2006/relationships/slide" Target="/ppt/slides/slide9.xml" Id="R161230a538964ac2" /><Relationship Type="http://schemas.openxmlformats.org/officeDocument/2006/relationships/slide" Target="/ppt/slides/slide10.xml" Id="Rfb963397fabd44c1" /><Relationship Type="http://schemas.openxmlformats.org/officeDocument/2006/relationships/slide" Target="/ppt/slides/slide11.xml" Id="Rdc9f449359a8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cccf7d038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无面的佛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9b56a0f8d4af0" /><Relationship Type="http://schemas.openxmlformats.org/officeDocument/2006/relationships/notesMaster" Target="/ppt/notesMasters/notesMaster1.xml" Id="R6a3a47cf8c98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9722b62994b40" /><Relationship Type="http://schemas.openxmlformats.org/officeDocument/2006/relationships/notesMaster" Target="/ppt/notesMasters/notesMaster1.xml" Id="Rac301271b224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36d5c9c734e79" /><Relationship Type="http://schemas.openxmlformats.org/officeDocument/2006/relationships/notesMaster" Target="/ppt/notesMasters/notesMaster1.xml" Id="R0a440f20550a44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8498b0e764d54" /><Relationship Type="http://schemas.openxmlformats.org/officeDocument/2006/relationships/notesMaster" Target="/ppt/notesMasters/notesMaster1.xml" Id="Rd2fc9764db3747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f974082eba4205" /><Relationship Type="http://schemas.openxmlformats.org/officeDocument/2006/relationships/notesMaster" Target="/ppt/notesMasters/notesMaster1.xml" Id="R4e154ccddf48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2b393a47f346c5" /><Relationship Type="http://schemas.openxmlformats.org/officeDocument/2006/relationships/notesMaster" Target="/ppt/notesMasters/notesMaster1.xml" Id="R119b6ba4b3eb4d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faa24ee1d48dd" /><Relationship Type="http://schemas.openxmlformats.org/officeDocument/2006/relationships/notesMaster" Target="/ppt/notesMasters/notesMaster1.xml" Id="Rba2de246dce24f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8418e532b4cd5" /><Relationship Type="http://schemas.openxmlformats.org/officeDocument/2006/relationships/notesMaster" Target="/ppt/notesMasters/notesMaster1.xml" Id="R48383dc7149e43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58891421047ca" /><Relationship Type="http://schemas.openxmlformats.org/officeDocument/2006/relationships/notesMaster" Target="/ppt/notesMasters/notesMaster1.xml" Id="R936c74f006e340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3eab554dd4de8" /><Relationship Type="http://schemas.openxmlformats.org/officeDocument/2006/relationships/notesMaster" Target="/ppt/notesMasters/notesMaster1.xml" Id="R76088b87a738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46b4c55b254589" /><Relationship Type="http://schemas.openxmlformats.org/officeDocument/2006/relationships/notesMaster" Target="/ppt/notesMasters/notesMaster1.xml" Id="R24ee194024b6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沿用原作业《无面的佛》的题目，以自己的观展经历进入。</a:t>
            </a:r>
          </a:p>
          <a:p xmlns:a="http://schemas.openxmlformats.org/drawingml/2006/main">
            <a:r>
              <a:t>• 展示的是临摹作品的展厅照片。主问题是：当面容已经消失，我们应不应该重新画出它？随后追问补绘与原作的关系。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补充你在展厅第一次注意到面容的具体经过。</a:t>
            </a:r>
          </a:p>
          <a:p xmlns:a="http://schemas.openxmlformats.org/drawingml/2006/main">
            <a:r>
              <a:t>• 保留真实感受，不需要预先承诺完全赞成或反对补绘。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照片：某同学摄，中国工艺美术馆。</a:t>
            </a:r>
          </a:p>
          <a:p xmlns:a="http://schemas.openxmlformats.org/drawingml/2006/main">
            <a:r>
              <a:t>作品名称沿用原12页PPT第7页标注。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原照片右侧展签可以读出《说法图》（摹），优先使用这张有名称的图。</a:t>
            </a:r>
          </a:p>
          <a:p xmlns:a="http://schemas.openxmlformats.org/drawingml/2006/main">
            <a:r>
              <a:t>• 从“我看见面容难辨”与“我期待临摹完整”之间的落差提出问题。</a:t>
            </a:r>
          </a:p>
          <a:p xmlns:a="http://schemas.openxmlformats.org/drawingml/2006/main">
            <a:r>
              <a:t>• 不要仅凭照片把发暗、颜料变化和物质脱落归为同一种损毁。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补充你当时怎样理解“临摹”。</a:t>
            </a:r>
          </a:p>
          <a:p xmlns:a="http://schemas.openxmlformats.org/drawingml/2006/main">
            <a:r>
              <a:t>• 说明看完资料以后，原来的预期发生了什么变化。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照片：某同学摄，中国工艺美术馆。</a:t>
            </a:r>
          </a:p>
          <a:p xmlns:a="http://schemas.openxmlformats.org/drawingml/2006/main">
            <a:r>
              <a:t>《说法图》（摹）：名称据照片中的现场展签。</a:t>
            </a:r>
          </a:p>
          <a:p xmlns:a="http://schemas.openxmlformats.org/drawingml/2006/main">
            <a:r>
              <a:t>问题表述为本人观看与阅读后的分析。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先准确介绍主读论文、作者、刊物与年份。</a:t>
            </a:r>
          </a:p>
          <a:p xmlns:a="http://schemas.openxmlformats.org/drawingml/2006/main">
            <a:r>
              <a:t>• 作者从壁画保护的困难及已有数字方法的不足出发，提出线描辅助、人机交互的数字复原系统。</a:t>
            </a:r>
          </a:p>
          <a:p xmlns:a="http://schemas.openxmlformats.org/drawingml/2006/main">
            <a:r>
              <a:t>• 心得把方法研究中的具体选择作为讨论保护与作品真实性的入口。作者没有完整论证作品同一性，相关追问由本人提出。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说清你为什么选这篇论文。</a:t>
            </a:r>
          </a:p>
          <a:p xmlns:a="http://schemas.openxmlformats.org/drawingml/2006/main">
            <a:r>
              <a:t>• 用自己的语言解释“能复原”与“应当怎样使用复原”的关系。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主要依据第21页摘要、引言和第22页方法分析。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按照图3解释图像分割、破损标注、内容填充三个步骤。</a:t>
            </a:r>
          </a:p>
          <a:p xmlns:a="http://schemas.openxmlformats.org/drawingml/2006/main">
            <a:r>
              <a:t>• 图像分割借助线描；标注需要人判断哪些区域属于破损；填充需要人选择目标区域、参考区域和处理范围。</a:t>
            </a:r>
          </a:p>
          <a:p xmlns:a="http://schemas.openxmlformats.org/drawingml/2006/main">
            <a:r>
              <a:t>• 由此提出：专业知识可以约束操作，但算法不能凭空补上不存在的历史记录。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选择一个你最容易理解的操作，用自己的话讲清。</a:t>
            </a:r>
          </a:p>
          <a:p xmlns:a="http://schemas.openxmlformats.org/drawingml/2006/main">
            <a:r>
              <a:t>• 指出该操作为什么会影响最后看到的面容。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第23页图3；第24—26页系统操作说明。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先让听众看左图，再看右图。左图还保留眼鼻口及面部方向，衣饰等处也有不同程度缺损。</a:t>
            </a:r>
          </a:p>
          <a:p xmlns:a="http://schemas.openxmlformats.org/drawingml/2006/main">
            <a:r>
              <a:t>• 右图呈现更连续的轮廓、衣纹及局部形态，承认其帮助识读的价值。</a:t>
            </a:r>
          </a:p>
          <a:p xmlns:a="http://schemas.openxmlformats.org/drawingml/2006/main">
            <a:r>
              <a:t>• 关键边界：此案例未展示面部完全消失的情况。线描由当代专家关晋文绘制，不应称作已经发现的古代原稿。</a:t>
            </a:r>
          </a:p>
          <a:p xmlns:a="http://schemas.openxmlformats.org/drawingml/2006/main">
            <a:r>
              <a:t>• 原文的专业评价和15人用户体验实验支持其成果与系统使用评价，不能换算为历史复原准确率。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指出一处你在左右图之间实际观察到的变化。</a:t>
            </a:r>
          </a:p>
          <a:p xmlns:a="http://schemas.openxmlformats.org/drawingml/2006/main">
            <a:r>
              <a:t>• 再回答：这一变化依赖何种证据，还留下什么疑问？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第26页图9及“复原结果与用户实验”。</a:t>
            </a:r>
          </a:p>
          <a:p xmlns:a="http://schemas.openxmlformats.org/drawingml/2006/main">
            <a:r>
              <a:t>第27页表3为用户体验评分，并非原貌准确率。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先读出完整引文，说明其上下文是对目标区域进行内容填充。</a:t>
            </a:r>
          </a:p>
          <a:p xmlns:a="http://schemas.openxmlformats.org/drawingml/2006/main">
            <a:r>
              <a:t>• 作者允许在缺损占比高时重绘整个区域，以提高视觉统一性。这里发生在数字图像中。</a:t>
            </a:r>
          </a:p>
          <a:p xmlns:a="http://schemas.openxmlformats.org/drawingml/2006/main">
            <a:r>
              <a:t>• 对这一操作，心得同时分析收益和展示上的问题：更容易识读，但仍需向观众说明原存与新增信息。</a:t>
            </a:r>
          </a:p>
          <a:p xmlns:a="http://schemas.openxmlformats.org/drawingml/2006/main">
            <a:r>
              <a:t>• 这是本人的追问，论文没有通过公众认知实验验证观众是否实际混淆。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用你的观看经验说明为什么完整形象更容易理解。</a:t>
            </a:r>
          </a:p>
          <a:p xmlns:a="http://schemas.openxmlformats.org/drawingml/2006/main">
            <a:r>
              <a:t>• 说明你希望展览怎样标出新增解释。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第26页左栏，接续第25页“内容填充”段落。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务必说明这句话来自论文记录的设计师组用户反馈，不是作者已经完成的哲学论证。</a:t>
            </a:r>
          </a:p>
          <a:p xmlns:a="http://schemas.openxmlformats.org/drawingml/2006/main">
            <a:r>
              <a:t>• 反馈的上下文是：用户可以选择喜爱的参考区域进行填充，从而得到不同作品。</a:t>
            </a:r>
          </a:p>
          <a:p xmlns:a="http://schemas.openxmlformats.org/drawingml/2006/main">
            <a:r>
              <a:t>• 从中提出自己的判断：相同操作可服务于复原或创作，技术动作本身不能决定成果身份；工作目的和证据约束需要说明。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你认为哪一种选择仍可称为复原？</a:t>
            </a:r>
          </a:p>
          <a:p xmlns:a="http://schemas.openxmlformats.org/drawingml/2006/main">
            <a:r>
              <a:t>• 如果只凭“像敦煌”进行补画，为什么还需要说明它的解释性质？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第26页右栏末段。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分别回答“是否仍为同一件物”和“是否保留原有表达”。任何修补不必然立即把整件文物变成另一件物，但新增笔迹属于后加部分。</a:t>
            </a:r>
          </a:p>
          <a:p xmlns:a="http://schemas.openxmlformats.org/drawingml/2006/main">
            <a:r>
              <a:t>• 如果操作发生在数字副本里，原壁不因此改变；输出可作为原作的一种复原图像版本。</a:t>
            </a:r>
          </a:p>
          <a:p xmlns:a="http://schemas.openxmlformats.org/drawingml/2006/main">
            <a:r>
              <a:t>• 结合10月14日课堂对目光、姿态和传神的讨论，说明补绘面容可能参与组织人物神貌。</a:t>
            </a:r>
          </a:p>
          <a:p xmlns:a="http://schemas.openxmlformats.org/drawingml/2006/main">
            <a:r>
              <a:t>• 这里是讨论性的区分，不提出通用于所有修复的比例阈值。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分别用一句话回答物质对象和形象表达这两个问题。</a:t>
            </a:r>
          </a:p>
          <a:p xmlns:a="http://schemas.openxmlformats.org/drawingml/2006/main">
            <a:r>
              <a:t>• 补充你最在意的一项变化：目光、表情或人物朝向。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第22页“线、色、神”；第25—26页复原操作。</a:t>
            </a:r>
          </a:p>
          <a:p xmlns:a="http://schemas.openxmlformats.org/drawingml/2006/main">
            <a:r>
              <a:t>《艺术概论》2026-10-14课程笔记，“五、材料、目光与姿态如何传神”。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支持有材料约束的复原研究。复原能够帮助理解形象，但要交代它如何形成。</a:t>
            </a:r>
          </a:p>
          <a:p xmlns:a="http://schemas.openxmlformats.org/drawingml/2006/main">
            <a:r>
              <a:t>• 把原状与复原并列，标明不确定处，必要时呈现不同方案。此处是自己的建议，不声称论文已经完成了这种展示验证。</a:t>
            </a:r>
          </a:p>
          <a:p xmlns:a="http://schemas.openxmlformats.org/drawingml/2006/main">
            <a:r>
              <a:t>• 课堂对罗斯金的讨论提醒我们关注材料和历史痕迹；这里引用课堂线索，不制造罗斯金原著引文，也不把建筑保护立场当作所有壁画保护的统一规范。</a:t>
            </a:r>
          </a:p>
          <a:p xmlns:a="http://schemas.openxmlformats.org/drawingml/2006/main">
            <a:r>
              <a:t>• 数字复原不能替代原作本体的稳定保存；是否补到原壁上，需要另行论证。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说明你为何选择这些条件。</a:t>
            </a:r>
          </a:p>
          <a:p xmlns:a="http://schemas.openxmlformats.org/drawingml/2006/main">
            <a:r>
              <a:t>• 回应一个相反意见：保留残缺会不会妨碍公众理解？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第25—26页操作与评价说明。</a:t>
            </a:r>
          </a:p>
          <a:p xmlns:a="http://schemas.openxmlformats.org/drawingml/2006/main">
            <a:r>
              <a:t>《艺术概论》2026-10-10课程笔记，“罗斯金：自然、记忆与建筑保护”。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回到开头，从原来期待“临摹应补全”，讲到现在会追问复原的依据。</a:t>
            </a:r>
          </a:p>
          <a:p xmlns:a="http://schemas.openxmlformats.org/drawingml/2006/main">
            <a:r>
              <a:t>• 保留原稿对艺术学习和文化传承的关切，落实为理解保护判断、辨别证据与解释的能力。</a:t>
            </a:r>
          </a:p>
          <a:p xmlns:a="http://schemas.openxmlformats.org/drawingml/2006/main">
            <a:r>
              <a:t>• 供本人核读后形成的立场：支持有依据的复原，承认其解释性质；对是否实施原壁补绘保留具体论证。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用自己的语言说出阅读前后真正发生的认识变化。</a:t>
            </a:r>
          </a:p>
          <a:p xmlns:a="http://schemas.openxmlformats.org/drawingml/2006/main">
            <a:r>
              <a:t>• 把最后的判断改成你确实愿意主张的程度。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个人观看与阅读分析。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讲述线索</a:t>
            </a:r>
          </a:p>
          <a:p xmlns:a="http://schemas.openxmlformats.org/drawingml/2006/main">
            <a:r>
              <a:t>• 按教师建议，将图片和文字来源标在对应页面，同时在此集中列出完整文献信息。</a:t>
            </a:r>
          </a:p>
          <a:p xmlns:a="http://schemas.openxmlformats.org/drawingml/2006/main">
            <a:r>
              <a:t>• 展品照片均使用自己在中国工艺美术馆拍摄的壁画展照片，优先选择有名称的作品。</a:t>
            </a:r>
          </a:p>
          <a:p xmlns:a="http://schemas.openxmlformats.org/drawingml/2006/main">
            <a:r>
              <a:t>• 具体案例中的专家评价、用户反馈与自己的判断，在各页讲述时保持区分。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正式口述前核对引用页码。</a:t>
            </a:r>
          </a:p>
          <a:p xmlns:a="http://schemas.openxmlformats.org/drawingml/2006/main">
            <a:r>
              <a:t>• Word文字版可沿用这组来源，将个人认识的形成过程补充完整。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  <a:p xmlns:a="http://schemas.openxmlformats.org/drawingml/2006/main">
            <a:r>
              <a:t>照片：某同学摄，中国工艺美术馆。</a:t>
            </a:r>
          </a:p>
          <a:p xmlns:a="http://schemas.openxmlformats.org/drawingml/2006/main">
            <a:r>
              <a:t>《艺术概论》2026-10-10、2026-10-14课程笔记。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76da2ba0943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5976813974c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3f425b1954d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fe92ca2784d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0ef7fffa34b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92d73b1d5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53DD6-3C06-4821-827B-2269A1AAD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3A9706-83CA-41B0-B1A9-B500D5715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0CDA8C-1D93-4766-ADA2-79C0706C9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5AD8E-31B5-48B1-A5AC-245501CA2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53DA33-1AAE-4261-86A8-04D34B880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5AD7AB-55E2-40B1-99C1-7D4765844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487F6-0678-4727-AF84-B65B40FA7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4430A1-65EF-4D22-B1D0-C769A75494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3A9EE-45D8-4600-B938-B9804A209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A3F6E0-EF4B-482E-A9A0-B7E8F5598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2b79dd64b470b" /><Relationship Type="http://schemas.openxmlformats.org/officeDocument/2006/relationships/slideLayout" Target="/ppt/slideLayouts/slideLayout1.xml" Id="R7be71938ac0a44fa" /><Relationship Type="http://schemas.openxmlformats.org/officeDocument/2006/relationships/slideLayout" Target="/ppt/slideLayouts/slideLayout2.xml" Id="R2850d79520804f86" /><Relationship Type="http://schemas.openxmlformats.org/officeDocument/2006/relationships/slideLayout" Target="/ppt/slideLayouts/slideLayout3.xml" Id="Ra0c4531f5fa449bf" /><Relationship Type="http://schemas.openxmlformats.org/officeDocument/2006/relationships/slideLayout" Target="/ppt/slideLayouts/slideLayout4.xml" Id="R691004c539cf4fff" /><Relationship Type="http://schemas.openxmlformats.org/officeDocument/2006/relationships/slideLayout" Target="/ppt/slideLayouts/slideLayout5.xml" Id="R716560f770b14ca2" /><Relationship Type="http://schemas.openxmlformats.org/officeDocument/2006/relationships/slideLayout" Target="/ppt/slideLayouts/slideLayout6.xml" Id="R211894b4e1d64f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e71938ac0a44fa"/>
    <p:sldLayoutId xmlns:r="http://schemas.openxmlformats.org/officeDocument/2006/relationships" id="2147483650" r:id="R2850d79520804f86"/>
    <p:sldLayoutId xmlns:r="http://schemas.openxmlformats.org/officeDocument/2006/relationships" id="2147483651" r:id="Ra0c4531f5fa449bf"/>
    <p:sldLayoutId xmlns:r="http://schemas.openxmlformats.org/officeDocument/2006/relationships" id="2147483652" r:id="R691004c539cf4fff"/>
    <p:sldLayoutId xmlns:r="http://schemas.openxmlformats.org/officeDocument/2006/relationships" id="2147483653" r:id="R716560f770b14ca2"/>
    <p:sldLayoutId xmlns:r="http://schemas.openxmlformats.org/officeDocument/2006/relationships" id="2147483654" r:id="R211894b4e1d64f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无面的佛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907a0d1c24904" /><Relationship Type="http://schemas.openxmlformats.org/officeDocument/2006/relationships/image" Target="/ppt/media/image.jpeg" Id="R7dbcbf3201ef4ccb" /><Relationship Type="http://schemas.openxmlformats.org/officeDocument/2006/relationships/notesSlide" Target="/ppt/notesSlides/notesSlide1.xml" Id="R995e48912ed846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b299f400548af" /><Relationship Type="http://schemas.openxmlformats.org/officeDocument/2006/relationships/image" Target="/ppt/media/image2.jpeg" Id="R0701c5d7598945c2" /><Relationship Type="http://schemas.openxmlformats.org/officeDocument/2006/relationships/notesSlide" Target="/ppt/notesSlides/notesSlide2.xml" Id="R6190681ad911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9f74a9a4a4e62" /><Relationship Type="http://schemas.openxmlformats.org/officeDocument/2006/relationships/notesSlide" Target="/ppt/notesSlides/notesSlide3.xml" Id="Rd511c91ba2ea47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134e1a0bd4681" /><Relationship Type="http://schemas.openxmlformats.org/officeDocument/2006/relationships/image" Target="/ppt/media/image3.jpeg" Id="Rcdb2eee7ee3b4d30" /><Relationship Type="http://schemas.openxmlformats.org/officeDocument/2006/relationships/notesSlide" Target="/ppt/notesSlides/notesSlide4.xml" Id="Re90fed910eae4f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7b120b34c44e8" /><Relationship Type="http://schemas.openxmlformats.org/officeDocument/2006/relationships/image" Target="/ppt/media/image4.jpeg" Id="R33a9d12f4a7c45dd" /><Relationship Type="http://schemas.openxmlformats.org/officeDocument/2006/relationships/notesSlide" Target="/ppt/notesSlides/notesSlide5.xml" Id="Rda82d0a2c91843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29809aba047aa" /><Relationship Type="http://schemas.openxmlformats.org/officeDocument/2006/relationships/notesSlide" Target="/ppt/notesSlides/notesSlide6.xml" Id="Ra34b80e5d0774e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a5fc30e8e4393" /><Relationship Type="http://schemas.openxmlformats.org/officeDocument/2006/relationships/notesSlide" Target="/ppt/notesSlides/notesSlide7.xml" Id="Rc079608831d7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27589393e42c1" /><Relationship Type="http://schemas.openxmlformats.org/officeDocument/2006/relationships/notesSlide" Target="/ppt/notesSlides/notesSlide8.xml" Id="R0b8473aa8fcc4b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2e3c2292f46ab" /><Relationship Type="http://schemas.openxmlformats.org/officeDocument/2006/relationships/notesSlide" Target="/ppt/notesSlides/notesSlide9.xml" Id="R9fb22f5ab4c947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211f7495a4af4" /><Relationship Type="http://schemas.openxmlformats.org/officeDocument/2006/relationships/notesSlide" Target="/ppt/notesSlides/notesSlide10.xml" Id="R05b685efa0894f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9f8d192564d1e" /><Relationship Type="http://schemas.openxmlformats.org/officeDocument/2006/relationships/notesSlide" Target="/ppt/notesSlides/notesSlide11.xml" Id="Racb42c82590344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17BCE6B-84FE-4765-BC37-E8FE2653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《药师佛佛会图》临摹作品，展厅现场。照片：某同学摄，中国工艺美术馆。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DA8CFB-B8D0-43E7-9373-4716431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42FC8124-7BE5-4FBC-96EB-6911AAD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艺术概论心得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CBC7A6-DD76-4274-BEF8-5F410982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4362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无面的</a:t>
            </a:r>
            <a:r>
              <a:rPr sz="615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佛</a:t>
            </a:r>
          </a:p>
        </p:txBody>
      </p:sp>
      <p:sp>
        <p:nvSpPr>
          <p:cNvPr id="6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9F4D6980-86DA-41EC-A352-38E76E5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4143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消失的面容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应该重新画出来吗？</a:t>
            </a:r>
          </a:p>
        </p:txBody>
      </p:sp>
      <p:sp>
        <p:nvSpPr>
          <p:cNvPr id="7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5417DFA7-E853-4F43-B686-4C0013AB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某同学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文化产业管理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E591E-7126-4341-B819-77376B27F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bf3201ef4ccb"/>
          <a:stretch xmlns:a="http://schemas.openxmlformats.org/drawingml/2006/main"/>
        </p:blipFill>
        <p:spPr>
          <a:xfrm xmlns:a="http://schemas.openxmlformats.org/drawingml/2006/main">
            <a:off x="5067300" y="996331"/>
            <a:ext cx="6591300" cy="49415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71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EDA72B-0EE6-4ECE-897F-736DED6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临摹品中的面容，为什么仍然难辨？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6C6C6A52-CAE7-45A5-BA35-CEFE2E9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图：《说法图》（摹），名称据照片内展签。照片：某同学摄，中国工艺美术馆。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文字：本人观展疑问与图像观察；照片本身不足以确定具体损伤原因。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3CD90C-9A11-4533-95BD-F728759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C3F63-8BC6-4F72-B062-B20A67C8C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1c5d7598945c2"/>
          <a:stretch xmlns:a="http://schemas.openxmlformats.org/drawingml/2006/main"/>
        </p:blipFill>
        <p:spPr>
          <a:xfrm xmlns:a="http://schemas.openxmlformats.org/drawingml/2006/main">
            <a:off x="533743" y="1266825"/>
            <a:ext cx="3514039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initial-expectation">
            <a:extLst xmlns:a="http://schemas.openxmlformats.org/drawingml/2006/main">
              <a:ext uri="{FF2B5EF4-FFF2-40B4-BE49-F238E27FC236}">
                <a16:creationId xmlns:a16="http://schemas.microsoft.com/office/drawing/2014/main" id="{A8E685F4-C757-4123-B123-0F0512DB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28775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既然已经重新绘制，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0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为什么没有把脸画完整？</a:t>
            </a:r>
          </a:p>
        </p:txBody>
      </p:sp>
      <p:sp>
        <p:nvSpPr>
          <p:cNvPr id="7" name="observation">
            <a:extLst xmlns:a="http://schemas.openxmlformats.org/drawingml/2006/main">
              <a:ext uri="{FF2B5EF4-FFF2-40B4-BE49-F238E27FC236}">
                <a16:creationId xmlns:a16="http://schemas.microsoft.com/office/drawing/2014/main" id="{212A9FFF-FA68-4B2D-8E01-E2AA276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62300"/>
            <a:ext cx="661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我看见了面容难辨的状态，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也带着“临摹应当补全”的预期。</a:t>
            </a:r>
          </a:p>
        </p:txBody>
      </p:sp>
      <p:sp>
        <p:nvSpPr>
          <p:cNvPr id="8" name="new-question">
            <a:extLst xmlns:a="http://schemas.openxmlformats.org/drawingml/2006/main">
              <a:ext uri="{FF2B5EF4-FFF2-40B4-BE49-F238E27FC236}">
                <a16:creationId xmlns:a16="http://schemas.microsoft.com/office/drawing/2014/main" id="{71BAA729-AB1B-45E0-9089-751FAC80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67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这使我开始追问：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保护工作要保留什么，又能补回什么？</a:t>
            </a:r>
          </a:p>
        </p:txBody>
      </p:sp>
    </p:spTree>
    <p:extLst>
      <p:ext uri="{BB962C8B-B14F-4D97-AF65-F5344CB8AC3E}">
        <p14:creationId xmlns:p14="http://schemas.microsoft.com/office/powerpoint/2010/main" val="2058649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0D342-6BB7-4C18-8BD8-21B0985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主读论文与我的问题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A50B1532-53A7-4C07-BCF5-A5F9886C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文字依据：付心仪、麻晓娟、孙志军，2019，第21—22页。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“我的追问”为个人阅读分析；论文主要研究数字复原的方法与系统。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2CE36F-6841-4065-82FC-0F446D9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paper-title">
            <a:extLst xmlns:a="http://schemas.openxmlformats.org/drawingml/2006/main">
              <a:ext uri="{FF2B5EF4-FFF2-40B4-BE49-F238E27FC236}">
                <a16:creationId xmlns:a16="http://schemas.microsoft.com/office/drawing/2014/main" id="{C4D9B936-B039-4D8F-A09E-DC130C4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7000"/>
              </a:lnSpc>
              <a:buNone/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破损壁画的数字化复原研究</a:t>
            </a:r>
          </a:p>
          <a:p xmlns:a="http://schemas.openxmlformats.org/drawingml/2006/main">
            <a:pPr algn="l">
              <a:lnSpc>
                <a:spcPct val="127000"/>
              </a:lnSpc>
              <a:buNone/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——以敦煌壁画为例</a:t>
            </a:r>
          </a:p>
        </p:txBody>
      </p:sp>
      <p:sp>
        <p:nvSpPr>
          <p:cNvPr id="6" name="paper-authors">
            <a:extLst xmlns:a="http://schemas.openxmlformats.org/drawingml/2006/main">
              <a:ext uri="{FF2B5EF4-FFF2-40B4-BE49-F238E27FC236}">
                <a16:creationId xmlns:a16="http://schemas.microsoft.com/office/drawing/2014/main" id="{6F7F15AC-062E-43D1-9C17-D12C1AA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479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付心仪、麻晓娟、孙志军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《装饰》2019年第1期，第21—27页</a:t>
            </a:r>
          </a:p>
        </p:txBody>
      </p:sp>
      <p:sp>
        <p:nvSpPr>
          <p:cNvPr id="7" name="author-problem-label">
            <a:extLst xmlns:a="http://schemas.openxmlformats.org/drawingml/2006/main">
              <a:ext uri="{FF2B5EF4-FFF2-40B4-BE49-F238E27FC236}">
                <a16:creationId xmlns:a16="http://schemas.microsoft.com/office/drawing/2014/main" id="{999B4CA1-E7A5-4D38-B90C-0F5A6A13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57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作者的问题</a:t>
            </a:r>
          </a:p>
        </p:txBody>
      </p:sp>
      <p:sp>
        <p:nvSpPr>
          <p:cNvPr id="8" name="author-problem">
            <a:extLst xmlns:a="http://schemas.openxmlformats.org/drawingml/2006/main">
              <a:ext uri="{FF2B5EF4-FFF2-40B4-BE49-F238E27FC236}">
                <a16:creationId xmlns:a16="http://schemas.microsoft.com/office/drawing/2014/main" id="{373F6888-82E4-46EA-9B7B-F875C70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847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怎样结合线描、专业判断与计算机，复原破损壁画？</a:t>
            </a:r>
          </a:p>
        </p:txBody>
      </p:sp>
      <p:sp>
        <p:nvSpPr>
          <p:cNvPr id="9" name="reader-problem-label">
            <a:extLst xmlns:a="http://schemas.openxmlformats.org/drawingml/2006/main">
              <a:ext uri="{FF2B5EF4-FFF2-40B4-BE49-F238E27FC236}">
                <a16:creationId xmlns:a16="http://schemas.microsoft.com/office/drawing/2014/main" id="{49AA5A7D-5DDD-4B46-8BDF-C04272F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149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我的追问</a:t>
            </a:r>
          </a:p>
        </p:txBody>
      </p:sp>
      <p:sp>
        <p:nvSpPr>
          <p:cNvPr id="10" name="reader-problem">
            <a:extLst xmlns:a="http://schemas.openxmlformats.org/drawingml/2006/main">
              <a:ext uri="{FF2B5EF4-FFF2-40B4-BE49-F238E27FC236}">
                <a16:creationId xmlns:a16="http://schemas.microsoft.com/office/drawing/2014/main" id="{5AE14C3F-6EC6-4FED-8554-DD21B82E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76825"/>
            <a:ext cx="847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怎样的补绘可以成立？补出的面容还是原来的形象吗？</a:t>
            </a:r>
          </a:p>
        </p:txBody>
      </p:sp>
    </p:spTree>
    <p:extLst>
      <p:ext uri="{BB962C8B-B14F-4D97-AF65-F5344CB8AC3E}">
        <p14:creationId xmlns:p14="http://schemas.microsoft.com/office/powerpoint/2010/main" val="1023050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47FE29-A0DA-4C90-B778-B45B525E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方法细读：人的选择贯穿复原过程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4A5305F-35F6-42A9-9697-26453B2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图：付心仪等，2019，第23页图3，截取原文图3部分。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文字依据：同文第23—26页；“人的选择”是对操作过程的阅读分析。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F5773C-0CEA-4903-9008-81AA9CB6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931BA-BC7E-4099-BE1E-E00160489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2eee7ee3b4d30"/>
          <a:srcRect xmlns:a="http://schemas.openxmlformats.org/drawingml/2006/main" l="45500" t="0" r="0" b="0"/>
          <a:stretch xmlns:a="http://schemas.openxmlformats.org/drawingml/2006/main"/>
        </p:blipFill>
        <p:spPr>
          <a:xfrm xmlns:a="http://schemas.openxmlformats.org/drawingml/2006/main">
            <a:off x="723900" y="1457325"/>
            <a:ext cx="107442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method-summary">
            <a:extLst xmlns:a="http://schemas.openxmlformats.org/drawingml/2006/main">
              <a:ext uri="{FF2B5EF4-FFF2-40B4-BE49-F238E27FC236}">
                <a16:creationId xmlns:a16="http://schemas.microsoft.com/office/drawing/2014/main" id="{377A1F1D-FF77-48B1-9D51-CF7697E6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线描提供结构。操作者判断破损、选择参考，再由系统填充。</a:t>
            </a:r>
          </a:p>
        </p:txBody>
      </p:sp>
    </p:spTree>
    <p:extLst>
      <p:ext uri="{BB962C8B-B14F-4D97-AF65-F5344CB8AC3E}">
        <p14:creationId xmlns:p14="http://schemas.microsoft.com/office/powerpoint/2010/main" val="609902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F8D7C-861D-4B1C-9E53-E740D6D2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图9细读：这张面容并未完全消失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66BA1653-047B-4105-9666-E4FC0E4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图：付心仪等，2019，第26页图9。左：破损壁画原图；右：几何复原结果。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线描绘制者及实验说明据同页正文；“完全无脸”为本文之外的延伸情境。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714B16-C6BB-419F-864F-60A252D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2A821-96EE-43E4-B24D-E0C80D676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9d12f4a7c45dd"/>
          <a:stretch xmlns:a="http://schemas.openxmlformats.org/drawingml/2006/main"/>
        </p:blipFill>
        <p:spPr>
          <a:xfrm xmlns:a="http://schemas.openxmlformats.org/drawingml/2006/main">
            <a:off x="657910" y="1295400"/>
            <a:ext cx="3694329" cy="4819650"/>
          </a:xfrm>
          <a:prstGeom xmlns:a="http://schemas.openxmlformats.org/drawingml/2006/main" prst="rect">
            <a:avLst/>
          </a:prstGeom>
        </p:spPr>
      </p:pic>
      <p:sp>
        <p:nvSpPr>
          <p:cNvPr id="6" name="figure-fact-1">
            <a:extLst xmlns:a="http://schemas.openxmlformats.org/drawingml/2006/main">
              <a:ext uri="{FF2B5EF4-FFF2-40B4-BE49-F238E27FC236}">
                <a16:creationId xmlns:a16="http://schemas.microsoft.com/office/drawing/2014/main" id="{A07AA55A-8468-4907-8204-D1EBE6EC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76400"/>
            <a:ext cx="6486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原图仍保留五官、轮廓与朝向。</a:t>
            </a:r>
          </a:p>
        </p:txBody>
      </p:sp>
      <p:sp>
        <p:nvSpPr>
          <p:cNvPr id="7" name="figure-fact-2">
            <a:extLst xmlns:a="http://schemas.openxmlformats.org/drawingml/2006/main">
              <a:ext uri="{FF2B5EF4-FFF2-40B4-BE49-F238E27FC236}">
                <a16:creationId xmlns:a16="http://schemas.microsoft.com/office/drawing/2014/main" id="{4A5AF744-5E50-4D84-8835-40EA0479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81300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实验线描由专家关晋文绘制。</a:t>
            </a:r>
          </a:p>
        </p:txBody>
      </p:sp>
      <p:sp>
        <p:nvSpPr>
          <p:cNvPr id="8" name="figure-limit">
            <a:extLst xmlns:a="http://schemas.openxmlformats.org/drawingml/2006/main">
              <a:ext uri="{FF2B5EF4-FFF2-40B4-BE49-F238E27FC236}">
                <a16:creationId xmlns:a16="http://schemas.microsoft.com/office/drawing/2014/main" id="{703D5235-6895-41F1-8368-2FAB8F0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86200"/>
            <a:ext cx="64293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论文展示了借助残迹和线描的复原，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没有验证从一张完全空白的脸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准确找回唯一原貌。</a:t>
            </a:r>
          </a:p>
        </p:txBody>
      </p:sp>
    </p:spTree>
    <p:extLst>
      <p:ext uri="{BB962C8B-B14F-4D97-AF65-F5344CB8AC3E}">
        <p14:creationId xmlns:p14="http://schemas.microsoft.com/office/powerpoint/2010/main" val="1949446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005626-F625-45B0-BFA9-67C5F878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文本细读：视觉统一与原存信息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4519E2AD-80DA-4E3C-90C0-7974E891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引文：付心仪等，2019，第26页左栏，“内容填充”的操作说明。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下方为本人阅读分析；原文讨论数字图像处理，不是直接覆盖原壁。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2C47D3-ED35-44DB-BDD2-41C99C1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quote-area">
            <a:extLst xmlns:a="http://schemas.openxmlformats.org/drawingml/2006/main">
              <a:ext uri="{FF2B5EF4-FFF2-40B4-BE49-F238E27FC236}">
                <a16:creationId xmlns:a16="http://schemas.microsoft.com/office/drawing/2014/main" id="{74319E41-D54D-4984-8963-8C7F33C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953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“若占比较高，则重绘整个区域能够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使得复原的结果更有视觉上的统一性。”</a:t>
            </a:r>
          </a:p>
        </p:txBody>
      </p:sp>
      <p:sp>
        <p:nvSpPr>
          <p:cNvPr id="6" name="quote-context">
            <a:extLst xmlns:a="http://schemas.openxmlformats.org/drawingml/2006/main">
              <a:ext uri="{FF2B5EF4-FFF2-40B4-BE49-F238E27FC236}">
                <a16:creationId xmlns:a16="http://schemas.microsoft.com/office/drawing/2014/main" id="{7AB4C34A-FAE4-46AC-95A9-5CD2A05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这里的“占比”，指目标区域内破损部分的占比。</a:t>
            </a:r>
          </a:p>
        </p:txBody>
      </p:sp>
      <p:sp>
        <p:nvSpPr>
          <p:cNvPr id="7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9DF37982-A2DE-4549-BACE-CDD391F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95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视觉上的收益</a:t>
            </a:r>
          </a:p>
        </p:txBody>
      </p:sp>
      <p:sp>
        <p:nvSpPr>
          <p:cNvPr id="8" name="benefit-body">
            <a:extLst xmlns:a="http://schemas.openxmlformats.org/drawingml/2006/main">
              <a:ext uri="{FF2B5EF4-FFF2-40B4-BE49-F238E27FC236}">
                <a16:creationId xmlns:a16="http://schemas.microsoft.com/office/drawing/2014/main" id="{3B22515F-24D6-4E41-AA0F-D4671AE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91075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减少断裂感，帮助理解形象。</a:t>
            </a:r>
          </a:p>
        </p:txBody>
      </p:sp>
      <p:sp>
        <p:nvSpPr>
          <p:cNvPr id="9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9199B5AC-6304-44E1-83A0-C951B29C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需要继续追问</a:t>
            </a:r>
          </a:p>
        </p:txBody>
      </p:sp>
      <p:sp>
        <p:nvSpPr>
          <p:cNvPr id="10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98A24C05-C40A-4A0A-9628-0B127244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910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观众还能否看出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哪些来自原迹，哪些属于补绘？</a:t>
            </a:r>
          </a:p>
        </p:txBody>
      </p:sp>
    </p:spTree>
    <p:extLst>
      <p:ext uri="{BB962C8B-B14F-4D97-AF65-F5344CB8AC3E}">
        <p14:creationId xmlns:p14="http://schemas.microsoft.com/office/powerpoint/2010/main" val="1178324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520123-6B16-4AB7-B56A-4A1CE9D8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同一套工具，也可以用于创作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EF6F704-CF8C-469A-97E4-B4CFC828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引文：付心仪等，2019，第26页右栏，设计师组用户反馈。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关于“历史材料约束”与“表达目的”的区分，为本人阅读分析。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B6FFC-9F7D-40E6-B491-420FA9B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A692AAB6-1854-4C35-A359-383BBC9D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设计师组的反馈</a:t>
            </a:r>
          </a:p>
        </p:txBody>
      </p:sp>
      <p:sp>
        <p:nvSpPr>
          <p:cNvPr id="6" name="feedback-quote">
            <a:extLst xmlns:a="http://schemas.openxmlformats.org/drawingml/2006/main">
              <a:ext uri="{FF2B5EF4-FFF2-40B4-BE49-F238E27FC236}">
                <a16:creationId xmlns:a16="http://schemas.microsoft.com/office/drawing/2014/main" id="{7641FB77-2A47-4695-9F3C-128E8F5E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10953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“可以衍生出不同的艺术作品。”</a:t>
            </a:r>
          </a:p>
        </p:txBody>
      </p:sp>
      <p:sp>
        <p:nvSpPr>
          <p:cNvPr id="7" name="restoration-purpose">
            <a:extLst xmlns:a="http://schemas.openxmlformats.org/drawingml/2006/main">
              <a:ext uri="{FF2B5EF4-FFF2-40B4-BE49-F238E27FC236}">
                <a16:creationId xmlns:a16="http://schemas.microsoft.com/office/drawing/2014/main" id="{410E611D-BD5E-462E-8C77-D2DC25E2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复原研究</a:t>
            </a:r>
          </a:p>
        </p:txBody>
      </p:sp>
      <p:sp>
        <p:nvSpPr>
          <p:cNvPr id="8" name="restoration-purpose-body">
            <a:extLst xmlns:a="http://schemas.openxmlformats.org/drawingml/2006/main">
              <a:ext uri="{FF2B5EF4-FFF2-40B4-BE49-F238E27FC236}">
                <a16:creationId xmlns:a16="http://schemas.microsoft.com/office/drawing/2014/main" id="{BC4AA7E5-DD9F-49D2-AFE1-28143CCC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38575"/>
            <a:ext cx="8191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选择需要受到历史材料的约束。</a:t>
            </a:r>
          </a:p>
        </p:txBody>
      </p:sp>
      <p:sp>
        <p:nvSpPr>
          <p:cNvPr id="9" name="creation-purpose">
            <a:extLst xmlns:a="http://schemas.openxmlformats.org/drawingml/2006/main">
              <a:ext uri="{FF2B5EF4-FFF2-40B4-BE49-F238E27FC236}">
                <a16:creationId xmlns:a16="http://schemas.microsoft.com/office/drawing/2014/main" id="{A40664E3-645A-44B6-86A3-6C2E2B4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艺术创作</a:t>
            </a:r>
          </a:p>
        </p:txBody>
      </p:sp>
      <p:sp>
        <p:nvSpPr>
          <p:cNvPr id="10" name="creation-purpose-body">
            <a:extLst xmlns:a="http://schemas.openxmlformats.org/drawingml/2006/main">
              <a:ext uri="{FF2B5EF4-FFF2-40B4-BE49-F238E27FC236}">
                <a16:creationId xmlns:a16="http://schemas.microsoft.com/office/drawing/2014/main" id="{A1023D9A-3446-446B-9D7B-C6606C36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10125"/>
            <a:ext cx="8191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选择可以服务于新的表达目的。</a:t>
            </a:r>
          </a:p>
        </p:txBody>
      </p:sp>
    </p:spTree>
    <p:extLst>
      <p:ext uri="{BB962C8B-B14F-4D97-AF65-F5344CB8AC3E}">
        <p14:creationId xmlns:p14="http://schemas.microsoft.com/office/powerpoint/2010/main" val="1283402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CD881-502F-47CA-8383-EA5FF16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补回面容，还是原来的作品吗？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1F02FD3-7538-4117-89DF-6BF86FBD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本页为个人阅读分析。材料参照：付心仪等，2019，第22、25—26页。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课堂参照：《艺术概论》2026-10-14，“材料、目光与姿态如何传神”。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064DA8-1531-4D58-87E3-0F00D901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historical-object-label">
            <a:extLst xmlns:a="http://schemas.openxmlformats.org/drawingml/2006/main">
              <a:ext uri="{FF2B5EF4-FFF2-40B4-BE49-F238E27FC236}">
                <a16:creationId xmlns:a16="http://schemas.microsoft.com/office/drawing/2014/main" id="{9B9C3B8A-76ED-4C87-81CE-4256503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同一件历史物</a:t>
            </a:r>
          </a:p>
        </p:txBody>
      </p:sp>
      <p:sp>
        <p:nvSpPr>
          <p:cNvPr id="6" name="historical-object-body">
            <a:extLst xmlns:a="http://schemas.openxmlformats.org/drawingml/2006/main">
              <a:ext uri="{FF2B5EF4-FFF2-40B4-BE49-F238E27FC236}">
                <a16:creationId xmlns:a16="http://schemas.microsoft.com/office/drawing/2014/main" id="{B5CBB76A-40F4-43A6-84AA-BAB5AA87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原壁可能仍延续同一件文物的身份，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但后加的面容不能成为古代画师的原笔。</a:t>
            </a:r>
          </a:p>
        </p:txBody>
      </p:sp>
      <p:sp>
        <p:nvSpPr>
          <p:cNvPr id="7" name="visual-expression-label">
            <a:extLst xmlns:a="http://schemas.openxmlformats.org/drawingml/2006/main">
              <a:ext uri="{FF2B5EF4-FFF2-40B4-BE49-F238E27FC236}">
                <a16:creationId xmlns:a16="http://schemas.microsoft.com/office/drawing/2014/main" id="{49070B6A-47C2-4A44-BA8E-00A00692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同样的图像表达</a:t>
            </a:r>
          </a:p>
        </p:txBody>
      </p:sp>
      <p:sp>
        <p:nvSpPr>
          <p:cNvPr id="8" name="visual-expression-body">
            <a:extLst xmlns:a="http://schemas.openxmlformats.org/drawingml/2006/main">
              <a:ext uri="{FF2B5EF4-FFF2-40B4-BE49-F238E27FC236}">
                <a16:creationId xmlns:a16="http://schemas.microsoft.com/office/drawing/2014/main" id="{39489473-362D-4A3A-BC85-75E711D9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眼神、表情与朝向的变化，可能改变人物神貌及其关系。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数字复原图则是关于原作的一个图像版本。</a:t>
            </a:r>
          </a:p>
        </p:txBody>
      </p:sp>
    </p:spTree>
    <p:extLst>
      <p:ext uri="{BB962C8B-B14F-4D97-AF65-F5344CB8AC3E}">
        <p14:creationId xmlns:p14="http://schemas.microsoft.com/office/powerpoint/2010/main" val="1138096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D8446C-7954-4930-A975-D09FD45E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我支持怎样的复原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D661C458-A556-4C11-BFD0-F0C74BA7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本页为个人保护立场。参照付心仪等，2019，第25—26页。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课堂参照：《艺术概论》2026-10-10，“历史记忆”与“保护、求新式修复的冲突”。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7B382B-0925-4582-9D62-BD49D786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D51FC896-6A6E-40FE-9D1D-7D8A818A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335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交代依据</a:t>
            </a:r>
          </a:p>
        </p:txBody>
      </p:sp>
      <p:sp>
        <p:nvSpPr>
          <p:cNvPr id="6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E0E6AF48-103E-4BE6-A383-F565DE80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81150"/>
            <a:ext cx="8229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说明残迹、线描和参考材料分别支持什么。</a:t>
            </a:r>
          </a:p>
        </p:txBody>
      </p:sp>
      <p:sp>
        <p:nvSpPr>
          <p:cNvPr id="7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D09A1E4B-EC4E-4271-A056-485B417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保留原状</a:t>
            </a:r>
          </a:p>
        </p:txBody>
      </p:sp>
      <p:sp>
        <p:nvSpPr>
          <p:cNvPr id="8" name="original-body">
            <a:extLst xmlns:a="http://schemas.openxmlformats.org/drawingml/2006/main">
              <a:ext uri="{FF2B5EF4-FFF2-40B4-BE49-F238E27FC236}">
                <a16:creationId xmlns:a16="http://schemas.microsoft.com/office/drawing/2014/main" id="{78D6ED70-4844-4102-A2BF-431E1E5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33675"/>
            <a:ext cx="822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原状与复原并列呈现，保留历史痕迹的信息。</a:t>
            </a:r>
          </a:p>
        </p:txBody>
      </p:sp>
      <p:sp>
        <p:nvSpPr>
          <p:cNvPr id="9" name="uncertainty-label">
            <a:extLst xmlns:a="http://schemas.openxmlformats.org/drawingml/2006/main">
              <a:ext uri="{FF2B5EF4-FFF2-40B4-BE49-F238E27FC236}">
                <a16:creationId xmlns:a16="http://schemas.microsoft.com/office/drawing/2014/main" id="{3FCEDC29-7508-4871-AFCD-E422E3B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承认推测</a:t>
            </a:r>
          </a:p>
        </p:txBody>
      </p:sp>
      <p:sp>
        <p:nvSpPr>
          <p:cNvPr id="10" name="uncertainty-body">
            <a:extLst xmlns:a="http://schemas.openxmlformats.org/drawingml/2006/main">
              <a:ext uri="{FF2B5EF4-FFF2-40B4-BE49-F238E27FC236}">
                <a16:creationId xmlns:a16="http://schemas.microsoft.com/office/drawing/2014/main" id="{7557B7E9-6730-4C1F-9060-24135656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86200"/>
            <a:ext cx="822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无法确定的细节标明推断，允许方案修正。</a:t>
            </a:r>
          </a:p>
        </p:txBody>
      </p:sp>
      <p:sp>
        <p:nvSpPr>
          <p:cNvPr id="11" name="intervention-limit">
            <a:extLst xmlns:a="http://schemas.openxmlformats.org/drawingml/2006/main">
              <a:ext uri="{FF2B5EF4-FFF2-40B4-BE49-F238E27FC236}">
                <a16:creationId xmlns:a16="http://schemas.microsoft.com/office/drawing/2014/main" id="{DAFBC3C0-168C-42A6-8E0E-FA49D605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数字方案的完成，不能自动决定在原壁上补绘。</a:t>
            </a:r>
          </a:p>
        </p:txBody>
      </p:sp>
    </p:spTree>
    <p:extLst>
      <p:ext uri="{BB962C8B-B14F-4D97-AF65-F5344CB8AC3E}">
        <p14:creationId xmlns:p14="http://schemas.microsoft.com/office/powerpoint/2010/main" val="246052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AC79D-027E-4C11-AA4D-8D3D425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再看无面的佛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FA2CD13-3BD3-4AFE-AE86-C58A1F6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文字：本人基于观展与论文阅读提出的心得判断。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讨论材料：付心仪等，2019，第22、25—26页。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FBEE44-0610-4C01-8E47-0E587C3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return-question">
            <a:extLst xmlns:a="http://schemas.openxmlformats.org/drawingml/2006/main">
              <a:ext uri="{FF2B5EF4-FFF2-40B4-BE49-F238E27FC236}">
                <a16:creationId xmlns:a16="http://schemas.microsoft.com/office/drawing/2014/main" id="{603CA9B4-2967-4D64-9695-9B9CAEE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953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这张完整的脸，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42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是依据什么画出来的？</a:t>
            </a:r>
          </a:p>
        </p:txBody>
      </p:sp>
      <p:sp>
        <p:nvSpPr>
          <p:cNvPr id="6" name="return-reflection">
            <a:extLst xmlns:a="http://schemas.openxmlformats.org/drawingml/2006/main">
              <a:ext uri="{FF2B5EF4-FFF2-40B4-BE49-F238E27FC236}">
                <a16:creationId xmlns:a16="http://schemas.microsoft.com/office/drawing/2014/main" id="{1043C53F-6BC7-4FD6-9487-B89E6F0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338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学习保护，也是在学习辨别原存痕迹与后来的解释。</a:t>
            </a:r>
          </a:p>
        </p:txBody>
      </p:sp>
      <p:sp>
        <p:nvSpPr>
          <p:cNvPr id="7" name="return-position">
            <a:extLst xmlns:a="http://schemas.openxmlformats.org/drawingml/2006/main">
              <a:ext uri="{FF2B5EF4-FFF2-40B4-BE49-F238E27FC236}">
                <a16:creationId xmlns:a16="http://schemas.microsoft.com/office/drawing/2014/main" id="{6FB2E859-735D-4575-8E38-E1BCDA2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57775"/>
            <a:ext cx="10553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我愿意借助复原理解形象，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也希望知道哪些地方仍然无法确定。</a:t>
            </a:r>
          </a:p>
        </p:txBody>
      </p:sp>
    </p:spTree>
    <p:extLst>
      <p:ext uri="{BB962C8B-B14F-4D97-AF65-F5344CB8AC3E}">
        <p14:creationId xmlns:p14="http://schemas.microsoft.com/office/powerpoint/2010/main" val="21017367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DA1CE-7A78-4676-B335-9541E6C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参考文献与图片出处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CAF4A6B-7A1C-42D0-AEF8-AF5A335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论文页码均为期刊印刷页码，第21—27页对应PDF第1—7页。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78B713-BA76-4F05-B66C-B75060A4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293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reference-paper-label">
            <a:extLst xmlns:a="http://schemas.openxmlformats.org/drawingml/2006/main">
              <a:ext uri="{FF2B5EF4-FFF2-40B4-BE49-F238E27FC236}">
                <a16:creationId xmlns:a16="http://schemas.microsoft.com/office/drawing/2014/main" id="{71222570-2E70-4F1C-AF0E-F9CFCCF6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主读论文</a:t>
            </a:r>
          </a:p>
        </p:txBody>
      </p:sp>
      <p:sp>
        <p:nvSpPr>
          <p:cNvPr id="6" name="reference-paper">
            <a:extLst xmlns:a="http://schemas.openxmlformats.org/drawingml/2006/main">
              <a:ext uri="{FF2B5EF4-FFF2-40B4-BE49-F238E27FC236}">
                <a16:creationId xmlns:a16="http://schemas.microsoft.com/office/drawing/2014/main" id="{0E5D2CAA-9868-4FD4-8D04-82699C37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839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付心仪、麻晓娟、孙志军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破损壁画的数字化复原研究——以敦煌壁画为例[J]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《装饰》，2019(1)：21–27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DOI：10.16272/j.cnki.cn11-1392/j.2019.01.007</a:t>
            </a:r>
          </a:p>
        </p:txBody>
      </p:sp>
      <p:sp>
        <p:nvSpPr>
          <p:cNvPr id="7" name="reference-photo-label">
            <a:extLst xmlns:a="http://schemas.openxmlformats.org/drawingml/2006/main">
              <a:ext uri="{FF2B5EF4-FFF2-40B4-BE49-F238E27FC236}">
                <a16:creationId xmlns:a16="http://schemas.microsoft.com/office/drawing/2014/main" id="{D0457D70-0BBB-427A-843D-6B0C7D7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展品照片</a:t>
            </a:r>
          </a:p>
        </p:txBody>
      </p:sp>
      <p:sp>
        <p:nvSpPr>
          <p:cNvPr id="8" name="reference-photo">
            <a:extLst xmlns:a="http://schemas.openxmlformats.org/drawingml/2006/main">
              <a:ext uri="{FF2B5EF4-FFF2-40B4-BE49-F238E27FC236}">
                <a16:creationId xmlns:a16="http://schemas.microsoft.com/office/drawing/2014/main" id="{DE26C289-F9D1-4572-92F7-2235107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839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《说法图》（摹）、《药师佛佛会图》临摹作品：某同学摄于中国工艺美术馆。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图3、图9：取自主读论文，具体页码与图号见对应页面。</a:t>
            </a:r>
          </a:p>
        </p:txBody>
      </p:sp>
      <p:sp>
        <p:nvSpPr>
          <p:cNvPr id="9" name="reference-course-label">
            <a:extLst xmlns:a="http://schemas.openxmlformats.org/drawingml/2006/main">
              <a:ext uri="{FF2B5EF4-FFF2-40B4-BE49-F238E27FC236}">
                <a16:creationId xmlns:a16="http://schemas.microsoft.com/office/drawing/2014/main" id="{8A287514-13A4-46BC-90D6-7992EBE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课堂参照</a:t>
            </a:r>
          </a:p>
        </p:txBody>
      </p:sp>
      <p:sp>
        <p:nvSpPr>
          <p:cNvPr id="10" name="reference-course">
            <a:extLst xmlns:a="http://schemas.openxmlformats.org/drawingml/2006/main">
              <a:ext uri="{FF2B5EF4-FFF2-40B4-BE49-F238E27FC236}">
                <a16:creationId xmlns:a16="http://schemas.microsoft.com/office/drawing/2014/main" id="{F3E98E7B-A572-4AF3-ACF7-B0FD12F4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3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[2] 《艺术概论》2026-10-10课程笔记：历史记忆与保护。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[3] 《艺术概论》2026-10-14课程笔记：目光、姿态与传神。</a:t>
            </a:r>
          </a:p>
        </p:txBody>
      </p:sp>
    </p:spTree>
    <p:extLst>
      <p:ext uri="{BB962C8B-B14F-4D97-AF65-F5344CB8AC3E}">
        <p14:creationId xmlns:p14="http://schemas.microsoft.com/office/powerpoint/2010/main" val="1292942205"/>
      </p:ext>
    </p:extLst>
  </p:cSld>
</p:sld>
</file>

<file path=ppt/theme/theme1.xml><?xml version="1.0" encoding="utf-8"?>
<a:theme xmlns:a="http://schemas.openxmlformats.org/drawingml/2006/main" name="ChatGPT">
  <a:themeElements>
    <a:clrScheme name="无面的佛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Walnut Exporter</lastModifiedBy>
  <dc:title>Presentation</dc:title>
  <dcterms:created xsi:type="dcterms:W3CDTF">2026-10-29T15:48:46.3240000Z</dcterms:created>
  <dcterms:modified xsi:type="dcterms:W3CDTF">2026-10-29T15:48:46.3240000Z</dcterms:modified>
</coreProperties>
</file>