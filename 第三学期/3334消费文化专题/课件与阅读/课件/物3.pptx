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372" r:id="rId2"/>
    <p:sldId id="660" r:id="rId3"/>
    <p:sldId id="661" r:id="rId4"/>
    <p:sldId id="672" r:id="rId5"/>
    <p:sldId id="540" r:id="rId6"/>
    <p:sldId id="541" r:id="rId7"/>
    <p:sldId id="542" r:id="rId8"/>
    <p:sldId id="433" r:id="rId9"/>
    <p:sldId id="430" r:id="rId10"/>
    <p:sldId id="257" r:id="rId11"/>
    <p:sldId id="265" r:id="rId12"/>
    <p:sldId id="260" r:id="rId13"/>
    <p:sldId id="258" r:id="rId14"/>
    <p:sldId id="410" r:id="rId15"/>
    <p:sldId id="261" r:id="rId16"/>
    <p:sldId id="263" r:id="rId17"/>
    <p:sldId id="267" r:id="rId18"/>
    <p:sldId id="663" r:id="rId19"/>
    <p:sldId id="431" r:id="rId20"/>
    <p:sldId id="432" r:id="rId21"/>
    <p:sldId id="268" r:id="rId22"/>
    <p:sldId id="269" r:id="rId23"/>
    <p:sldId id="442" r:id="rId24"/>
    <p:sldId id="270" r:id="rId25"/>
    <p:sldId id="271" r:id="rId26"/>
    <p:sldId id="288" r:id="rId27"/>
    <p:sldId id="435" r:id="rId28"/>
    <p:sldId id="434" r:id="rId29"/>
    <p:sldId id="444" r:id="rId30"/>
    <p:sldId id="273" r:id="rId31"/>
    <p:sldId id="274" r:id="rId32"/>
    <p:sldId id="550" r:id="rId33"/>
    <p:sldId id="664" r:id="rId34"/>
    <p:sldId id="551" r:id="rId35"/>
    <p:sldId id="665" r:id="rId36"/>
    <p:sldId id="276" r:id="rId37"/>
    <p:sldId id="548" r:id="rId38"/>
    <p:sldId id="285" r:id="rId39"/>
    <p:sldId id="277" r:id="rId40"/>
    <p:sldId id="669" r:id="rId41"/>
    <p:sldId id="441" r:id="rId42"/>
    <p:sldId id="670" r:id="rId43"/>
    <p:sldId id="671" r:id="rId44"/>
    <p:sldId id="544" r:id="rId45"/>
    <p:sldId id="281" r:id="rId46"/>
    <p:sldId id="549" r:id="rId47"/>
    <p:sldId id="554" r:id="rId48"/>
    <p:sldId id="446" r:id="rId49"/>
    <p:sldId id="545" r:id="rId50"/>
    <p:sldId id="460" r:id="rId51"/>
    <p:sldId id="553" r:id="rId52"/>
    <p:sldId id="666" r:id="rId53"/>
    <p:sldId id="278" r:id="rId54"/>
    <p:sldId id="461" r:id="rId55"/>
    <p:sldId id="547" r:id="rId56"/>
    <p:sldId id="279" r:id="rId57"/>
    <p:sldId id="668" r:id="rId58"/>
    <p:sldId id="552" r:id="rId5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p:cViewPr>
        <p:scale>
          <a:sx n="83" d="100"/>
          <a:sy n="83" d="100"/>
        </p:scale>
        <p:origin x="42" y="411"/>
      </p:cViewPr>
      <p:guideLst/>
    </p:cSldViewPr>
  </p:slideViewPr>
  <p:notesTextViewPr>
    <p:cViewPr>
      <p:scale>
        <a:sx n="1" d="1"/>
        <a:sy n="1" d="1"/>
      </p:scale>
      <p:origin x="0" y="0"/>
    </p:cViewPr>
  </p:notesTextViewPr>
  <p:sorterViewPr>
    <p:cViewPr varScale="1">
      <p:scale>
        <a:sx n="1" d="1"/>
        <a:sy n="1" d="1"/>
      </p:scale>
      <p:origin x="0" y="-2075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804AEA-8456-47B7-8A27-4594EA3F4A67}" type="datetimeFigureOut">
              <a:rPr lang="zh-CN" altLang="en-US" smtClean="0"/>
              <a:t>2026/10/21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1250FA-7D14-4A20-B2CB-9F3430D9BE67}" type="slidenum">
              <a:rPr lang="zh-CN" altLang="en-US" smtClean="0"/>
              <a:t>‹#›</a:t>
            </a:fld>
            <a:endParaRPr lang="zh-CN" altLang="en-US"/>
          </a:p>
        </p:txBody>
      </p:sp>
    </p:spTree>
    <p:extLst>
      <p:ext uri="{BB962C8B-B14F-4D97-AF65-F5344CB8AC3E}">
        <p14:creationId xmlns:p14="http://schemas.microsoft.com/office/powerpoint/2010/main" val="16067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542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15BD859-BAA0-4B46-92BA-B2471841F287}" type="slidenum">
              <a:rPr lang="en-US" altLang="zh-CN" smtClean="0">
                <a:solidFill>
                  <a:srgbClr val="000000"/>
                </a:solidFill>
              </a:rPr>
              <a:pPr/>
              <a:t>1</a:t>
            </a:fld>
            <a:endParaRPr lang="en-US" altLang="zh-CN">
              <a:solidFill>
                <a:srgbClr val="000000"/>
              </a:solidFill>
            </a:endParaRPr>
          </a:p>
        </p:txBody>
      </p:sp>
    </p:spTree>
    <p:extLst>
      <p:ext uri="{BB962C8B-B14F-4D97-AF65-F5344CB8AC3E}">
        <p14:creationId xmlns:p14="http://schemas.microsoft.com/office/powerpoint/2010/main" val="532759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84F67A-4028-07D1-14DA-617CAECF7E1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4FC7390-200F-D357-B925-FD32D91122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36EC4D5-0EA0-F04D-969C-DD30F75C9586}"/>
              </a:ext>
            </a:extLst>
          </p:cNvPr>
          <p:cNvSpPr>
            <a:spLocks noGrp="1"/>
          </p:cNvSpPr>
          <p:nvPr>
            <p:ph type="dt" sz="half" idx="10"/>
          </p:nvPr>
        </p:nvSpPr>
        <p:spPr/>
        <p:txBody>
          <a:bodyPr/>
          <a:lstStyle/>
          <a:p>
            <a:fld id="{F1F93DDD-A3E8-48D7-A5C8-049420BCE71D}" type="datetimeFigureOut">
              <a:rPr lang="zh-CN" altLang="en-US" smtClean="0"/>
              <a:t>2026/10/21</a:t>
            </a:fld>
            <a:endParaRPr lang="zh-CN" altLang="en-US"/>
          </a:p>
        </p:txBody>
      </p:sp>
      <p:sp>
        <p:nvSpPr>
          <p:cNvPr id="5" name="页脚占位符 4">
            <a:extLst>
              <a:ext uri="{FF2B5EF4-FFF2-40B4-BE49-F238E27FC236}">
                <a16:creationId xmlns:a16="http://schemas.microsoft.com/office/drawing/2014/main" id="{13ED3121-22F2-76F7-5086-C4E7C4C70A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E232824-ECE1-2479-75C9-44D91138C1DA}"/>
              </a:ext>
            </a:extLst>
          </p:cNvPr>
          <p:cNvSpPr>
            <a:spLocks noGrp="1"/>
          </p:cNvSpPr>
          <p:nvPr>
            <p:ph type="sldNum" sz="quarter" idx="12"/>
          </p:nvPr>
        </p:nvSpPr>
        <p:spPr/>
        <p:txBody>
          <a:bodyPr/>
          <a:lstStyle/>
          <a:p>
            <a:fld id="{7D7E188A-42B1-4558-82C5-CEE79755AADC}" type="slidenum">
              <a:rPr lang="zh-CN" altLang="en-US" smtClean="0"/>
              <a:t>‹#›</a:t>
            </a:fld>
            <a:endParaRPr lang="zh-CN" altLang="en-US"/>
          </a:p>
        </p:txBody>
      </p:sp>
    </p:spTree>
    <p:extLst>
      <p:ext uri="{BB962C8B-B14F-4D97-AF65-F5344CB8AC3E}">
        <p14:creationId xmlns:p14="http://schemas.microsoft.com/office/powerpoint/2010/main" val="3794064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FCF11-A901-304B-F759-AC70B0DA0E1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98BCD57-E3FD-CCDD-496E-B451F091266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6DF70E6-2F0A-2A41-3D70-3EB37701A473}"/>
              </a:ext>
            </a:extLst>
          </p:cNvPr>
          <p:cNvSpPr>
            <a:spLocks noGrp="1"/>
          </p:cNvSpPr>
          <p:nvPr>
            <p:ph type="dt" sz="half" idx="10"/>
          </p:nvPr>
        </p:nvSpPr>
        <p:spPr/>
        <p:txBody>
          <a:bodyPr/>
          <a:lstStyle/>
          <a:p>
            <a:fld id="{F1F93DDD-A3E8-48D7-A5C8-049420BCE71D}" type="datetimeFigureOut">
              <a:rPr lang="zh-CN" altLang="en-US" smtClean="0"/>
              <a:t>2026/10/21</a:t>
            </a:fld>
            <a:endParaRPr lang="zh-CN" altLang="en-US"/>
          </a:p>
        </p:txBody>
      </p:sp>
      <p:sp>
        <p:nvSpPr>
          <p:cNvPr id="5" name="页脚占位符 4">
            <a:extLst>
              <a:ext uri="{FF2B5EF4-FFF2-40B4-BE49-F238E27FC236}">
                <a16:creationId xmlns:a16="http://schemas.microsoft.com/office/drawing/2014/main" id="{33224BE4-7E09-4AA3-6CA5-819F96D4EF1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7FD6B28-AAE5-D78F-1842-40E04F22E62F}"/>
              </a:ext>
            </a:extLst>
          </p:cNvPr>
          <p:cNvSpPr>
            <a:spLocks noGrp="1"/>
          </p:cNvSpPr>
          <p:nvPr>
            <p:ph type="sldNum" sz="quarter" idx="12"/>
          </p:nvPr>
        </p:nvSpPr>
        <p:spPr/>
        <p:txBody>
          <a:bodyPr/>
          <a:lstStyle/>
          <a:p>
            <a:fld id="{7D7E188A-42B1-4558-82C5-CEE79755AADC}" type="slidenum">
              <a:rPr lang="zh-CN" altLang="en-US" smtClean="0"/>
              <a:t>‹#›</a:t>
            </a:fld>
            <a:endParaRPr lang="zh-CN" altLang="en-US"/>
          </a:p>
        </p:txBody>
      </p:sp>
    </p:spTree>
    <p:extLst>
      <p:ext uri="{BB962C8B-B14F-4D97-AF65-F5344CB8AC3E}">
        <p14:creationId xmlns:p14="http://schemas.microsoft.com/office/powerpoint/2010/main" val="368424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3183AD-C9F2-5DD7-99B3-FF6D87295A7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C93E187-7B0A-3965-7964-6569AAC2F5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31A13FD-D15B-92C8-0850-DF5FED992654}"/>
              </a:ext>
            </a:extLst>
          </p:cNvPr>
          <p:cNvSpPr>
            <a:spLocks noGrp="1"/>
          </p:cNvSpPr>
          <p:nvPr>
            <p:ph type="dt" sz="half" idx="10"/>
          </p:nvPr>
        </p:nvSpPr>
        <p:spPr/>
        <p:txBody>
          <a:bodyPr/>
          <a:lstStyle/>
          <a:p>
            <a:fld id="{F1F93DDD-A3E8-48D7-A5C8-049420BCE71D}" type="datetimeFigureOut">
              <a:rPr lang="zh-CN" altLang="en-US" smtClean="0"/>
              <a:t>2026/10/21</a:t>
            </a:fld>
            <a:endParaRPr lang="zh-CN" altLang="en-US"/>
          </a:p>
        </p:txBody>
      </p:sp>
      <p:sp>
        <p:nvSpPr>
          <p:cNvPr id="5" name="页脚占位符 4">
            <a:extLst>
              <a:ext uri="{FF2B5EF4-FFF2-40B4-BE49-F238E27FC236}">
                <a16:creationId xmlns:a16="http://schemas.microsoft.com/office/drawing/2014/main" id="{F482B2F4-DF8C-5B0C-9D66-4439E26E6C3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7682C69-EC77-C2B0-4953-0D0E7A17C67F}"/>
              </a:ext>
            </a:extLst>
          </p:cNvPr>
          <p:cNvSpPr>
            <a:spLocks noGrp="1"/>
          </p:cNvSpPr>
          <p:nvPr>
            <p:ph type="sldNum" sz="quarter" idx="12"/>
          </p:nvPr>
        </p:nvSpPr>
        <p:spPr/>
        <p:txBody>
          <a:bodyPr/>
          <a:lstStyle/>
          <a:p>
            <a:fld id="{7D7E188A-42B1-4558-82C5-CEE79755AADC}" type="slidenum">
              <a:rPr lang="zh-CN" altLang="en-US" smtClean="0"/>
              <a:t>‹#›</a:t>
            </a:fld>
            <a:endParaRPr lang="zh-CN" altLang="en-US"/>
          </a:p>
        </p:txBody>
      </p:sp>
    </p:spTree>
    <p:extLst>
      <p:ext uri="{BB962C8B-B14F-4D97-AF65-F5344CB8AC3E}">
        <p14:creationId xmlns:p14="http://schemas.microsoft.com/office/powerpoint/2010/main" val="1977899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027BA0-DD34-7453-AECB-7509ECFFA91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DA85767-8058-E34C-4933-266D06087FC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708941D-352D-FE31-B569-002511112D2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306C30B-5D4B-1DD6-C565-27F042064111}"/>
              </a:ext>
            </a:extLst>
          </p:cNvPr>
          <p:cNvSpPr>
            <a:spLocks noGrp="1"/>
          </p:cNvSpPr>
          <p:nvPr>
            <p:ph type="dt" sz="half" idx="10"/>
          </p:nvPr>
        </p:nvSpPr>
        <p:spPr/>
        <p:txBody>
          <a:bodyPr/>
          <a:lstStyle/>
          <a:p>
            <a:fld id="{F1F93DDD-A3E8-48D7-A5C8-049420BCE71D}" type="datetimeFigureOut">
              <a:rPr lang="zh-CN" altLang="en-US" smtClean="0"/>
              <a:t>2026/10/21</a:t>
            </a:fld>
            <a:endParaRPr lang="zh-CN" altLang="en-US"/>
          </a:p>
        </p:txBody>
      </p:sp>
      <p:sp>
        <p:nvSpPr>
          <p:cNvPr id="6" name="页脚占位符 5">
            <a:extLst>
              <a:ext uri="{FF2B5EF4-FFF2-40B4-BE49-F238E27FC236}">
                <a16:creationId xmlns:a16="http://schemas.microsoft.com/office/drawing/2014/main" id="{6CB448C0-F5FC-3DC9-DF8B-8F0A6D2AD67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15CD8A7-E3E6-B6DF-DF15-DE9B58FBC3D6}"/>
              </a:ext>
            </a:extLst>
          </p:cNvPr>
          <p:cNvSpPr>
            <a:spLocks noGrp="1"/>
          </p:cNvSpPr>
          <p:nvPr>
            <p:ph type="sldNum" sz="quarter" idx="12"/>
          </p:nvPr>
        </p:nvSpPr>
        <p:spPr/>
        <p:txBody>
          <a:bodyPr/>
          <a:lstStyle/>
          <a:p>
            <a:fld id="{7D7E188A-42B1-4558-82C5-CEE79755AADC}" type="slidenum">
              <a:rPr lang="zh-CN" altLang="en-US" smtClean="0"/>
              <a:t>‹#›</a:t>
            </a:fld>
            <a:endParaRPr lang="zh-CN" altLang="en-US"/>
          </a:p>
        </p:txBody>
      </p:sp>
    </p:spTree>
    <p:extLst>
      <p:ext uri="{BB962C8B-B14F-4D97-AF65-F5344CB8AC3E}">
        <p14:creationId xmlns:p14="http://schemas.microsoft.com/office/powerpoint/2010/main" val="4277573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3855CD-7743-0044-CFA4-67A050DFDB0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3DE7379-4A62-BA4B-CA33-04510CAD00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371E13-C37E-4B36-CFDB-23E683FC17D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6A6DD95-8F74-E4A6-78AC-26FC095C38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33DA7F4-D548-7B62-2A02-DE2E63F8412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3D331E1-7300-6D91-3F90-7062FD86D7F5}"/>
              </a:ext>
            </a:extLst>
          </p:cNvPr>
          <p:cNvSpPr>
            <a:spLocks noGrp="1"/>
          </p:cNvSpPr>
          <p:nvPr>
            <p:ph type="dt" sz="half" idx="10"/>
          </p:nvPr>
        </p:nvSpPr>
        <p:spPr/>
        <p:txBody>
          <a:bodyPr/>
          <a:lstStyle/>
          <a:p>
            <a:fld id="{F1F93DDD-A3E8-48D7-A5C8-049420BCE71D}" type="datetimeFigureOut">
              <a:rPr lang="zh-CN" altLang="en-US" smtClean="0"/>
              <a:t>2026/10/21</a:t>
            </a:fld>
            <a:endParaRPr lang="zh-CN" altLang="en-US"/>
          </a:p>
        </p:txBody>
      </p:sp>
      <p:sp>
        <p:nvSpPr>
          <p:cNvPr id="8" name="页脚占位符 7">
            <a:extLst>
              <a:ext uri="{FF2B5EF4-FFF2-40B4-BE49-F238E27FC236}">
                <a16:creationId xmlns:a16="http://schemas.microsoft.com/office/drawing/2014/main" id="{B56CD6B9-41F9-6EE1-71C9-3C24B4804F6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C54C7AA-A41D-B635-1F7C-1C04EE5C373D}"/>
              </a:ext>
            </a:extLst>
          </p:cNvPr>
          <p:cNvSpPr>
            <a:spLocks noGrp="1"/>
          </p:cNvSpPr>
          <p:nvPr>
            <p:ph type="sldNum" sz="quarter" idx="12"/>
          </p:nvPr>
        </p:nvSpPr>
        <p:spPr/>
        <p:txBody>
          <a:bodyPr/>
          <a:lstStyle/>
          <a:p>
            <a:fld id="{7D7E188A-42B1-4558-82C5-CEE79755AADC}" type="slidenum">
              <a:rPr lang="zh-CN" altLang="en-US" smtClean="0"/>
              <a:t>‹#›</a:t>
            </a:fld>
            <a:endParaRPr lang="zh-CN" altLang="en-US"/>
          </a:p>
        </p:txBody>
      </p:sp>
    </p:spTree>
    <p:extLst>
      <p:ext uri="{BB962C8B-B14F-4D97-AF65-F5344CB8AC3E}">
        <p14:creationId xmlns:p14="http://schemas.microsoft.com/office/powerpoint/2010/main" val="92671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BC1D93-205C-1D7C-FBA4-35DDF14C967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E56A7CB-8F4F-787C-CC5A-E9DE20773A5C}"/>
              </a:ext>
            </a:extLst>
          </p:cNvPr>
          <p:cNvSpPr>
            <a:spLocks noGrp="1"/>
          </p:cNvSpPr>
          <p:nvPr>
            <p:ph type="dt" sz="half" idx="10"/>
          </p:nvPr>
        </p:nvSpPr>
        <p:spPr/>
        <p:txBody>
          <a:bodyPr/>
          <a:lstStyle/>
          <a:p>
            <a:fld id="{F1F93DDD-A3E8-48D7-A5C8-049420BCE71D}" type="datetimeFigureOut">
              <a:rPr lang="zh-CN" altLang="en-US" smtClean="0"/>
              <a:t>2026/10/21</a:t>
            </a:fld>
            <a:endParaRPr lang="zh-CN" altLang="en-US"/>
          </a:p>
        </p:txBody>
      </p:sp>
      <p:sp>
        <p:nvSpPr>
          <p:cNvPr id="4" name="页脚占位符 3">
            <a:extLst>
              <a:ext uri="{FF2B5EF4-FFF2-40B4-BE49-F238E27FC236}">
                <a16:creationId xmlns:a16="http://schemas.microsoft.com/office/drawing/2014/main" id="{639CBF50-131E-20A6-13CB-E235242AD66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9D84341-5C0A-F059-7007-B2A034C4C3B0}"/>
              </a:ext>
            </a:extLst>
          </p:cNvPr>
          <p:cNvSpPr>
            <a:spLocks noGrp="1"/>
          </p:cNvSpPr>
          <p:nvPr>
            <p:ph type="sldNum" sz="quarter" idx="12"/>
          </p:nvPr>
        </p:nvSpPr>
        <p:spPr/>
        <p:txBody>
          <a:bodyPr/>
          <a:lstStyle/>
          <a:p>
            <a:fld id="{7D7E188A-42B1-4558-82C5-CEE79755AADC}" type="slidenum">
              <a:rPr lang="zh-CN" altLang="en-US" smtClean="0"/>
              <a:t>‹#›</a:t>
            </a:fld>
            <a:endParaRPr lang="zh-CN" altLang="en-US"/>
          </a:p>
        </p:txBody>
      </p:sp>
    </p:spTree>
    <p:extLst>
      <p:ext uri="{BB962C8B-B14F-4D97-AF65-F5344CB8AC3E}">
        <p14:creationId xmlns:p14="http://schemas.microsoft.com/office/powerpoint/2010/main" val="623503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AFAB2A9-A9AF-204E-8C69-CA177E87E81B}"/>
              </a:ext>
            </a:extLst>
          </p:cNvPr>
          <p:cNvSpPr>
            <a:spLocks noGrp="1"/>
          </p:cNvSpPr>
          <p:nvPr>
            <p:ph type="dt" sz="half" idx="10"/>
          </p:nvPr>
        </p:nvSpPr>
        <p:spPr/>
        <p:txBody>
          <a:bodyPr/>
          <a:lstStyle/>
          <a:p>
            <a:fld id="{F1F93DDD-A3E8-48D7-A5C8-049420BCE71D}" type="datetimeFigureOut">
              <a:rPr lang="zh-CN" altLang="en-US" smtClean="0"/>
              <a:t>2026/10/21</a:t>
            </a:fld>
            <a:endParaRPr lang="zh-CN" altLang="en-US"/>
          </a:p>
        </p:txBody>
      </p:sp>
      <p:sp>
        <p:nvSpPr>
          <p:cNvPr id="3" name="页脚占位符 2">
            <a:extLst>
              <a:ext uri="{FF2B5EF4-FFF2-40B4-BE49-F238E27FC236}">
                <a16:creationId xmlns:a16="http://schemas.microsoft.com/office/drawing/2014/main" id="{3D3D07E1-E678-896E-2811-E76BE0A2F77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6728C7C-40DA-9828-19A3-77549BC20D98}"/>
              </a:ext>
            </a:extLst>
          </p:cNvPr>
          <p:cNvSpPr>
            <a:spLocks noGrp="1"/>
          </p:cNvSpPr>
          <p:nvPr>
            <p:ph type="sldNum" sz="quarter" idx="12"/>
          </p:nvPr>
        </p:nvSpPr>
        <p:spPr/>
        <p:txBody>
          <a:bodyPr/>
          <a:lstStyle/>
          <a:p>
            <a:fld id="{7D7E188A-42B1-4558-82C5-CEE79755AADC}" type="slidenum">
              <a:rPr lang="zh-CN" altLang="en-US" smtClean="0"/>
              <a:t>‹#›</a:t>
            </a:fld>
            <a:endParaRPr lang="zh-CN" altLang="en-US"/>
          </a:p>
        </p:txBody>
      </p:sp>
    </p:spTree>
    <p:extLst>
      <p:ext uri="{BB962C8B-B14F-4D97-AF65-F5344CB8AC3E}">
        <p14:creationId xmlns:p14="http://schemas.microsoft.com/office/powerpoint/2010/main" val="1662371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67D2B6-FB8E-45F5-AEFC-23F3ED5468E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E8606B8-EB83-9FE9-E354-5EBF6B5FF8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07AA269-EB5E-1961-E5C9-B146F3944A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52A4C01-AF4A-EF20-F434-72A22C20A9FC}"/>
              </a:ext>
            </a:extLst>
          </p:cNvPr>
          <p:cNvSpPr>
            <a:spLocks noGrp="1"/>
          </p:cNvSpPr>
          <p:nvPr>
            <p:ph type="dt" sz="half" idx="10"/>
          </p:nvPr>
        </p:nvSpPr>
        <p:spPr/>
        <p:txBody>
          <a:bodyPr/>
          <a:lstStyle/>
          <a:p>
            <a:fld id="{F1F93DDD-A3E8-48D7-A5C8-049420BCE71D}" type="datetimeFigureOut">
              <a:rPr lang="zh-CN" altLang="en-US" smtClean="0"/>
              <a:t>2026/10/21</a:t>
            </a:fld>
            <a:endParaRPr lang="zh-CN" altLang="en-US"/>
          </a:p>
        </p:txBody>
      </p:sp>
      <p:sp>
        <p:nvSpPr>
          <p:cNvPr id="6" name="页脚占位符 5">
            <a:extLst>
              <a:ext uri="{FF2B5EF4-FFF2-40B4-BE49-F238E27FC236}">
                <a16:creationId xmlns:a16="http://schemas.microsoft.com/office/drawing/2014/main" id="{4C9D4022-C3DB-E9EF-CC75-52B98B63E17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15F644B-27A2-7189-C213-7E03DAC7B0F6}"/>
              </a:ext>
            </a:extLst>
          </p:cNvPr>
          <p:cNvSpPr>
            <a:spLocks noGrp="1"/>
          </p:cNvSpPr>
          <p:nvPr>
            <p:ph type="sldNum" sz="quarter" idx="12"/>
          </p:nvPr>
        </p:nvSpPr>
        <p:spPr/>
        <p:txBody>
          <a:bodyPr/>
          <a:lstStyle/>
          <a:p>
            <a:fld id="{7D7E188A-42B1-4558-82C5-CEE79755AADC}" type="slidenum">
              <a:rPr lang="zh-CN" altLang="en-US" smtClean="0"/>
              <a:t>‹#›</a:t>
            </a:fld>
            <a:endParaRPr lang="zh-CN" altLang="en-US"/>
          </a:p>
        </p:txBody>
      </p:sp>
    </p:spTree>
    <p:extLst>
      <p:ext uri="{BB962C8B-B14F-4D97-AF65-F5344CB8AC3E}">
        <p14:creationId xmlns:p14="http://schemas.microsoft.com/office/powerpoint/2010/main" val="1801133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7F083-960D-DC29-499F-8FA9E370E89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8D6BC50-1DDF-A02E-1D37-C3434E0A6E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D4FD79B-F7F5-DD30-A1AF-6E1F4BA5EB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B254305-8436-D6F5-9F83-B7666A69B85F}"/>
              </a:ext>
            </a:extLst>
          </p:cNvPr>
          <p:cNvSpPr>
            <a:spLocks noGrp="1"/>
          </p:cNvSpPr>
          <p:nvPr>
            <p:ph type="dt" sz="half" idx="10"/>
          </p:nvPr>
        </p:nvSpPr>
        <p:spPr/>
        <p:txBody>
          <a:bodyPr/>
          <a:lstStyle/>
          <a:p>
            <a:fld id="{F1F93DDD-A3E8-48D7-A5C8-049420BCE71D}" type="datetimeFigureOut">
              <a:rPr lang="zh-CN" altLang="en-US" smtClean="0"/>
              <a:t>2026/10/21</a:t>
            </a:fld>
            <a:endParaRPr lang="zh-CN" altLang="en-US"/>
          </a:p>
        </p:txBody>
      </p:sp>
      <p:sp>
        <p:nvSpPr>
          <p:cNvPr id="6" name="页脚占位符 5">
            <a:extLst>
              <a:ext uri="{FF2B5EF4-FFF2-40B4-BE49-F238E27FC236}">
                <a16:creationId xmlns:a16="http://schemas.microsoft.com/office/drawing/2014/main" id="{A9D66FEB-638F-C641-CD70-AC09973327B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84ECE8-1414-7185-B2A4-14FB0B69F78D}"/>
              </a:ext>
            </a:extLst>
          </p:cNvPr>
          <p:cNvSpPr>
            <a:spLocks noGrp="1"/>
          </p:cNvSpPr>
          <p:nvPr>
            <p:ph type="sldNum" sz="quarter" idx="12"/>
          </p:nvPr>
        </p:nvSpPr>
        <p:spPr/>
        <p:txBody>
          <a:bodyPr/>
          <a:lstStyle/>
          <a:p>
            <a:fld id="{7D7E188A-42B1-4558-82C5-CEE79755AADC}" type="slidenum">
              <a:rPr lang="zh-CN" altLang="en-US" smtClean="0"/>
              <a:t>‹#›</a:t>
            </a:fld>
            <a:endParaRPr lang="zh-CN" altLang="en-US"/>
          </a:p>
        </p:txBody>
      </p:sp>
    </p:spTree>
    <p:extLst>
      <p:ext uri="{BB962C8B-B14F-4D97-AF65-F5344CB8AC3E}">
        <p14:creationId xmlns:p14="http://schemas.microsoft.com/office/powerpoint/2010/main" val="2284441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CDF0EC-7C84-7559-06B8-6A14C456B10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022F616-2EF5-16AD-7E16-64CED3239F1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3CE7731-D131-7A65-048D-545E419D3854}"/>
              </a:ext>
            </a:extLst>
          </p:cNvPr>
          <p:cNvSpPr>
            <a:spLocks noGrp="1"/>
          </p:cNvSpPr>
          <p:nvPr>
            <p:ph type="dt" sz="half" idx="10"/>
          </p:nvPr>
        </p:nvSpPr>
        <p:spPr/>
        <p:txBody>
          <a:bodyPr/>
          <a:lstStyle/>
          <a:p>
            <a:fld id="{F1F93DDD-A3E8-48D7-A5C8-049420BCE71D}" type="datetimeFigureOut">
              <a:rPr lang="zh-CN" altLang="en-US" smtClean="0"/>
              <a:t>2026/10/21</a:t>
            </a:fld>
            <a:endParaRPr lang="zh-CN" altLang="en-US"/>
          </a:p>
        </p:txBody>
      </p:sp>
      <p:sp>
        <p:nvSpPr>
          <p:cNvPr id="5" name="页脚占位符 4">
            <a:extLst>
              <a:ext uri="{FF2B5EF4-FFF2-40B4-BE49-F238E27FC236}">
                <a16:creationId xmlns:a16="http://schemas.microsoft.com/office/drawing/2014/main" id="{1097205C-E0F3-D934-6B46-24B42DBBBD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AC1CE69-1D9C-B235-6F1F-A94C0326AB68}"/>
              </a:ext>
            </a:extLst>
          </p:cNvPr>
          <p:cNvSpPr>
            <a:spLocks noGrp="1"/>
          </p:cNvSpPr>
          <p:nvPr>
            <p:ph type="sldNum" sz="quarter" idx="12"/>
          </p:nvPr>
        </p:nvSpPr>
        <p:spPr/>
        <p:txBody>
          <a:bodyPr/>
          <a:lstStyle/>
          <a:p>
            <a:fld id="{7D7E188A-42B1-4558-82C5-CEE79755AADC}" type="slidenum">
              <a:rPr lang="zh-CN" altLang="en-US" smtClean="0"/>
              <a:t>‹#›</a:t>
            </a:fld>
            <a:endParaRPr lang="zh-CN" altLang="en-US"/>
          </a:p>
        </p:txBody>
      </p:sp>
    </p:spTree>
    <p:extLst>
      <p:ext uri="{BB962C8B-B14F-4D97-AF65-F5344CB8AC3E}">
        <p14:creationId xmlns:p14="http://schemas.microsoft.com/office/powerpoint/2010/main" val="790405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1FD7507-34AF-9567-8914-AF5A114BA6A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0C12E1F-3C8D-E452-ABCE-FCA5519A4EC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834EB20-D259-DFE9-83B7-824C647A7403}"/>
              </a:ext>
            </a:extLst>
          </p:cNvPr>
          <p:cNvSpPr>
            <a:spLocks noGrp="1"/>
          </p:cNvSpPr>
          <p:nvPr>
            <p:ph type="dt" sz="half" idx="10"/>
          </p:nvPr>
        </p:nvSpPr>
        <p:spPr/>
        <p:txBody>
          <a:bodyPr/>
          <a:lstStyle/>
          <a:p>
            <a:fld id="{F1F93DDD-A3E8-48D7-A5C8-049420BCE71D}" type="datetimeFigureOut">
              <a:rPr lang="zh-CN" altLang="en-US" smtClean="0"/>
              <a:t>2026/10/21</a:t>
            </a:fld>
            <a:endParaRPr lang="zh-CN" altLang="en-US"/>
          </a:p>
        </p:txBody>
      </p:sp>
      <p:sp>
        <p:nvSpPr>
          <p:cNvPr id="5" name="页脚占位符 4">
            <a:extLst>
              <a:ext uri="{FF2B5EF4-FFF2-40B4-BE49-F238E27FC236}">
                <a16:creationId xmlns:a16="http://schemas.microsoft.com/office/drawing/2014/main" id="{A5939BB7-B3FB-B372-7AD5-F69918EFBCB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6A0D005-6748-8F98-601F-835A421829AE}"/>
              </a:ext>
            </a:extLst>
          </p:cNvPr>
          <p:cNvSpPr>
            <a:spLocks noGrp="1"/>
          </p:cNvSpPr>
          <p:nvPr>
            <p:ph type="sldNum" sz="quarter" idx="12"/>
          </p:nvPr>
        </p:nvSpPr>
        <p:spPr/>
        <p:txBody>
          <a:bodyPr/>
          <a:lstStyle/>
          <a:p>
            <a:fld id="{7D7E188A-42B1-4558-82C5-CEE79755AADC}" type="slidenum">
              <a:rPr lang="zh-CN" altLang="en-US" smtClean="0"/>
              <a:t>‹#›</a:t>
            </a:fld>
            <a:endParaRPr lang="zh-CN" altLang="en-US"/>
          </a:p>
        </p:txBody>
      </p:sp>
    </p:spTree>
    <p:extLst>
      <p:ext uri="{BB962C8B-B14F-4D97-AF65-F5344CB8AC3E}">
        <p14:creationId xmlns:p14="http://schemas.microsoft.com/office/powerpoint/2010/main" val="11018646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Custom Layout">
    <p:spTree>
      <p:nvGrpSpPr>
        <p:cNvPr id="1" name=""/>
        <p:cNvGrpSpPr/>
        <p:nvPr/>
      </p:nvGrpSpPr>
      <p:grpSpPr>
        <a:xfrm>
          <a:off x="0" y="0"/>
          <a:ext cx="0" cy="0"/>
          <a:chOff x="0" y="0"/>
          <a:chExt cx="0" cy="0"/>
        </a:xfrm>
      </p:grpSpPr>
      <p:sp>
        <p:nvSpPr>
          <p:cNvPr id="10" name="Picture Placeholder 9"/>
          <p:cNvSpPr>
            <a:spLocks noGrp="1"/>
          </p:cNvSpPr>
          <p:nvPr>
            <p:ph type="pic" sz="quarter" idx="11"/>
          </p:nvPr>
        </p:nvSpPr>
        <p:spPr>
          <a:xfrm>
            <a:off x="1964267" y="2"/>
            <a:ext cx="7696200" cy="6017079"/>
          </a:xfrm>
          <a:custGeom>
            <a:avLst/>
            <a:gdLst>
              <a:gd name="connsiteX0" fmla="*/ 0 w 7915761"/>
              <a:gd name="connsiteY0" fmla="*/ 0 h 6017079"/>
              <a:gd name="connsiteX1" fmla="*/ 7915761 w 7915761"/>
              <a:gd name="connsiteY1" fmla="*/ 0 h 6017079"/>
              <a:gd name="connsiteX2" fmla="*/ 7915761 w 7915761"/>
              <a:gd name="connsiteY2" fmla="*/ 6017079 h 6017079"/>
              <a:gd name="connsiteX3" fmla="*/ 0 w 7915761"/>
              <a:gd name="connsiteY3" fmla="*/ 6017079 h 6017079"/>
            </a:gdLst>
            <a:ahLst/>
            <a:cxnLst>
              <a:cxn ang="0">
                <a:pos x="connsiteX0" y="connsiteY0"/>
              </a:cxn>
              <a:cxn ang="0">
                <a:pos x="connsiteX1" y="connsiteY1"/>
              </a:cxn>
              <a:cxn ang="0">
                <a:pos x="connsiteX2" y="connsiteY2"/>
              </a:cxn>
              <a:cxn ang="0">
                <a:pos x="connsiteX3" y="connsiteY3"/>
              </a:cxn>
            </a:cxnLst>
            <a:rect l="l" t="t" r="r" b="b"/>
            <a:pathLst>
              <a:path w="7915761" h="6017079">
                <a:moveTo>
                  <a:pt x="0" y="0"/>
                </a:moveTo>
                <a:lnTo>
                  <a:pt x="7915761" y="0"/>
                </a:lnTo>
                <a:lnTo>
                  <a:pt x="7915761" y="6017079"/>
                </a:lnTo>
                <a:lnTo>
                  <a:pt x="0" y="6017079"/>
                </a:lnTo>
                <a:close/>
              </a:path>
            </a:pathLst>
          </a:custGeom>
        </p:spPr>
        <p:txBody>
          <a:bodyPr rtlCol="0">
            <a:noAutofit/>
          </a:bodyPr>
          <a:lstStyle/>
          <a:p>
            <a:pPr lvl="0"/>
            <a:endParaRPr lang="en-US" noProof="0"/>
          </a:p>
        </p:txBody>
      </p:sp>
    </p:spTree>
    <p:extLst>
      <p:ext uri="{BB962C8B-B14F-4D97-AF65-F5344CB8AC3E}">
        <p14:creationId xmlns:p14="http://schemas.microsoft.com/office/powerpoint/2010/main" val="423560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CFC206-DBD6-80D0-FACA-E9F61BFEE5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7E19F3F-D51B-5B11-1624-3C65ADD871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E999F77-B3C2-91ED-9CBC-835381FA37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F93DDD-A3E8-48D7-A5C8-049420BCE71D}" type="datetimeFigureOut">
              <a:rPr lang="zh-CN" altLang="en-US" smtClean="0"/>
              <a:t>2026/10/21</a:t>
            </a:fld>
            <a:endParaRPr lang="zh-CN" altLang="en-US"/>
          </a:p>
        </p:txBody>
      </p:sp>
      <p:sp>
        <p:nvSpPr>
          <p:cNvPr id="5" name="页脚占位符 4">
            <a:extLst>
              <a:ext uri="{FF2B5EF4-FFF2-40B4-BE49-F238E27FC236}">
                <a16:creationId xmlns:a16="http://schemas.microsoft.com/office/drawing/2014/main" id="{1EDEC141-E896-2976-78D6-3E8FCE2E63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A03E6E0-F512-7015-4805-0DA776E9A3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7E188A-42B1-4558-82C5-CEE79755AADC}" type="slidenum">
              <a:rPr lang="zh-CN" altLang="en-US" smtClean="0"/>
              <a:t>‹#›</a:t>
            </a:fld>
            <a:endParaRPr lang="zh-CN" altLang="en-US"/>
          </a:p>
        </p:txBody>
      </p:sp>
    </p:spTree>
    <p:extLst>
      <p:ext uri="{BB962C8B-B14F-4D97-AF65-F5344CB8AC3E}">
        <p14:creationId xmlns:p14="http://schemas.microsoft.com/office/powerpoint/2010/main" val="810393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769350" y="857251"/>
            <a:ext cx="1898650" cy="451326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nvGrpSpPr>
          <p:cNvPr id="2" name="组合 1"/>
          <p:cNvGrpSpPr>
            <a:grpSpLocks/>
          </p:cNvGrpSpPr>
          <p:nvPr/>
        </p:nvGrpSpPr>
        <p:grpSpPr bwMode="auto">
          <a:xfrm>
            <a:off x="9234485" y="3994153"/>
            <a:ext cx="1255674" cy="1424426"/>
            <a:chOff x="10281362" y="4182167"/>
            <a:chExt cx="1674132" cy="1900053"/>
          </a:xfrm>
        </p:grpSpPr>
        <p:sp>
          <p:nvSpPr>
            <p:cNvPr id="12" name="TextBox 11"/>
            <p:cNvSpPr txBox="1"/>
            <p:nvPr/>
          </p:nvSpPr>
          <p:spPr>
            <a:xfrm>
              <a:off x="10281362" y="4182167"/>
              <a:ext cx="1102716" cy="292226"/>
            </a:xfrm>
            <a:prstGeom prst="rect">
              <a:avLst/>
            </a:prstGeom>
            <a:noFill/>
          </p:spPr>
          <p:txBody>
            <a:bodyPr wrap="none">
              <a:spAutoFit/>
            </a:bodyPr>
            <a:lstStyle/>
            <a:p>
              <a:pPr>
                <a:defRPr/>
              </a:pPr>
              <a:r>
                <a:rPr lang="en-US" sz="825" b="1">
                  <a:solidFill>
                    <a:prstClr val="white"/>
                  </a:solidFill>
                  <a:latin typeface="Montserrat Semi" charset="0"/>
                  <a:ea typeface="Montserrat Semi" charset="0"/>
                  <a:cs typeface="Montserrat Semi" charset="0"/>
                </a:rPr>
                <a:t>S E C T I O N</a:t>
              </a:r>
              <a:endParaRPr lang="en-US" sz="825" b="1" dirty="0">
                <a:solidFill>
                  <a:prstClr val="white"/>
                </a:solidFill>
                <a:latin typeface="Montserrat Semi" charset="0"/>
                <a:ea typeface="Montserrat Semi" charset="0"/>
                <a:cs typeface="Montserrat Semi" charset="0"/>
              </a:endParaRPr>
            </a:p>
          </p:txBody>
        </p:sp>
        <p:sp>
          <p:nvSpPr>
            <p:cNvPr id="53258" name="TextBox 12"/>
            <p:cNvSpPr txBox="1">
              <a:spLocks noChangeArrowheads="1"/>
            </p:cNvSpPr>
            <p:nvPr/>
          </p:nvSpPr>
          <p:spPr bwMode="auto">
            <a:xfrm>
              <a:off x="10283769" y="4727419"/>
              <a:ext cx="1671725" cy="135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pPr>
              <a:r>
                <a:rPr lang="en-US" altLang="zh-CN" sz="6000" b="1" dirty="0">
                  <a:solidFill>
                    <a:srgbClr val="FFFFFF"/>
                  </a:solidFill>
                  <a:latin typeface="Montserrat Semi"/>
                  <a:ea typeface="Montserrat Semi"/>
                  <a:cs typeface="Montserrat Semi"/>
                </a:rPr>
                <a:t>02.</a:t>
              </a:r>
            </a:p>
          </p:txBody>
        </p:sp>
      </p:grpSp>
      <p:cxnSp>
        <p:nvCxnSpPr>
          <p:cNvPr id="16" name="Straight Connector 15"/>
          <p:cNvCxnSpPr/>
          <p:nvPr/>
        </p:nvCxnSpPr>
        <p:spPr>
          <a:xfrm>
            <a:off x="2644776" y="5681663"/>
            <a:ext cx="187325"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863726" y="5681663"/>
            <a:ext cx="187325"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058988" y="5595938"/>
            <a:ext cx="539750" cy="195262"/>
          </a:xfrm>
          <a:prstGeom prst="rect">
            <a:avLst/>
          </a:prstGeom>
          <a:noFill/>
        </p:spPr>
        <p:txBody>
          <a:bodyPr wrap="none">
            <a:spAutoFit/>
          </a:bodyPr>
          <a:lstStyle/>
          <a:p>
            <a:pPr>
              <a:defRPr/>
            </a:pPr>
            <a:r>
              <a:rPr lang="en-US" sz="675" dirty="0">
                <a:solidFill>
                  <a:prstClr val="black">
                    <a:lumMod val="85000"/>
                    <a:lumOff val="15000"/>
                  </a:prstClr>
                </a:solidFill>
                <a:latin typeface="Cormorant Garamond Light" charset="0"/>
                <a:ea typeface="Cormorant Garamond Light" charset="0"/>
                <a:cs typeface="Cormorant Garamond Light" charset="0"/>
              </a:rPr>
              <a:t>slide : </a:t>
            </a:r>
            <a:fld id="{31AC465E-B970-438F-905A-8A0894BFF6F7}" type="slidenum">
              <a:rPr lang="en-US" sz="675" b="1">
                <a:solidFill>
                  <a:prstClr val="black"/>
                </a:solidFill>
                <a:latin typeface="Cormorant Garamond" charset="0"/>
                <a:ea typeface="Cormorant Garamond" charset="0"/>
                <a:cs typeface="Cormorant Garamond" charset="0"/>
              </a:rPr>
              <a:pPr>
                <a:defRPr/>
              </a:pPr>
              <a:t>1</a:t>
            </a:fld>
            <a:endParaRPr lang="en-US" sz="675" b="1" dirty="0">
              <a:solidFill>
                <a:prstClr val="black"/>
              </a:solidFill>
              <a:latin typeface="Cormorant Garamond" charset="0"/>
              <a:ea typeface="Cormorant Garamond" charset="0"/>
              <a:cs typeface="Cormorant Garamond" charset="0"/>
            </a:endParaRPr>
          </a:p>
        </p:txBody>
      </p:sp>
      <p:sp>
        <p:nvSpPr>
          <p:cNvPr id="26" name="TextBox 25"/>
          <p:cNvSpPr txBox="1"/>
          <p:nvPr/>
        </p:nvSpPr>
        <p:spPr>
          <a:xfrm rot="16200000">
            <a:off x="8229328" y="2386763"/>
            <a:ext cx="2978701" cy="600164"/>
          </a:xfrm>
          <a:prstGeom prst="rect">
            <a:avLst/>
          </a:prstGeom>
          <a:noFill/>
        </p:spPr>
        <p:txBody>
          <a:bodyPr wrap="none">
            <a:spAutoFit/>
          </a:bodyPr>
          <a:lstStyle/>
          <a:p>
            <a:pPr algn="ctr">
              <a:defRPr/>
            </a:pPr>
            <a:r>
              <a:rPr lang="zh-CN" altLang="en-US" sz="3300" spc="225" dirty="0">
                <a:solidFill>
                  <a:prstClr val="white"/>
                </a:solidFill>
                <a:latin typeface="Montserrat Light" charset="0"/>
                <a:ea typeface="Montserrat Light" charset="0"/>
                <a:cs typeface="Montserrat Light" charset="0"/>
              </a:rPr>
              <a:t>非功能性系统</a:t>
            </a:r>
            <a:endParaRPr lang="en-US" sz="3300" spc="225" dirty="0">
              <a:solidFill>
                <a:prstClr val="white"/>
              </a:solidFill>
              <a:latin typeface="Montserrat Light" charset="0"/>
              <a:ea typeface="Montserrat Light" charset="0"/>
              <a:cs typeface="Montserrat Light" charset="0"/>
            </a:endParaRPr>
          </a:p>
        </p:txBody>
      </p:sp>
      <p:sp>
        <p:nvSpPr>
          <p:cNvPr id="8" name="文本框 7"/>
          <p:cNvSpPr txBox="1"/>
          <p:nvPr/>
        </p:nvSpPr>
        <p:spPr>
          <a:xfrm>
            <a:off x="2051051" y="2200275"/>
            <a:ext cx="5795963" cy="1563505"/>
          </a:xfrm>
          <a:prstGeom prst="rect">
            <a:avLst/>
          </a:prstGeom>
          <a:noFill/>
        </p:spPr>
        <p:txBody>
          <a:bodyPr>
            <a:spAutoFit/>
          </a:bodyPr>
          <a:lstStyle/>
          <a:p>
            <a:pPr marL="171450" indent="-171450">
              <a:lnSpc>
                <a:spcPct val="90000"/>
              </a:lnSpc>
              <a:spcBef>
                <a:spcPts val="750"/>
              </a:spcBef>
              <a:buFont typeface="Arial" panose="020B0604020202020204" pitchFamily="34" charset="0"/>
              <a:buChar char="•"/>
              <a:defRPr/>
            </a:pPr>
            <a:r>
              <a:rPr lang="zh-CN" altLang="en-US" sz="2100" dirty="0">
                <a:solidFill>
                  <a:srgbClr val="660033"/>
                </a:solidFill>
                <a:ea typeface="宋体" panose="02010600030101010101" pitchFamily="2" charset="-122"/>
              </a:rPr>
              <a:t>边缘物</a:t>
            </a:r>
            <a:r>
              <a:rPr lang="en-US" altLang="zh-CN" sz="2100" dirty="0">
                <a:solidFill>
                  <a:srgbClr val="660033"/>
                </a:solidFill>
                <a:ea typeface="宋体" panose="02010600030101010101" pitchFamily="2" charset="-122"/>
              </a:rPr>
              <a:t>——</a:t>
            </a:r>
            <a:r>
              <a:rPr lang="zh-CN" altLang="en-US" sz="2100" dirty="0">
                <a:solidFill>
                  <a:srgbClr val="660033"/>
                </a:solidFill>
                <a:ea typeface="宋体" panose="02010600030101010101" pitchFamily="2" charset="-122"/>
              </a:rPr>
              <a:t>古物</a:t>
            </a:r>
            <a:endParaRPr lang="en-US" altLang="zh-CN" sz="2100" dirty="0">
              <a:solidFill>
                <a:srgbClr val="660033"/>
              </a:solidFill>
              <a:ea typeface="宋体" panose="02010600030101010101" pitchFamily="2" charset="-122"/>
            </a:endParaRPr>
          </a:p>
          <a:p>
            <a:pPr marL="171450" indent="-171450">
              <a:lnSpc>
                <a:spcPct val="90000"/>
              </a:lnSpc>
              <a:spcBef>
                <a:spcPts val="750"/>
              </a:spcBef>
              <a:buFont typeface="Arial" panose="020B0604020202020204" pitchFamily="34" charset="0"/>
              <a:buChar char="•"/>
              <a:defRPr/>
            </a:pPr>
            <a:r>
              <a:rPr lang="zh-CN" altLang="en-US" sz="2100" dirty="0">
                <a:solidFill>
                  <a:srgbClr val="660033"/>
                </a:solidFill>
                <a:ea typeface="宋体" panose="02010600030101010101" pitchFamily="2" charset="-122"/>
              </a:rPr>
              <a:t>边缘体系：收藏</a:t>
            </a:r>
            <a:endParaRPr lang="en-US" altLang="zh-CN" sz="2100" dirty="0">
              <a:solidFill>
                <a:srgbClr val="660033"/>
              </a:solidFill>
              <a:ea typeface="宋体" panose="02010600030101010101" pitchFamily="2" charset="-122"/>
            </a:endParaRPr>
          </a:p>
          <a:p>
            <a:pPr marL="171450" indent="-171450">
              <a:lnSpc>
                <a:spcPct val="90000"/>
              </a:lnSpc>
              <a:spcBef>
                <a:spcPts val="750"/>
              </a:spcBef>
              <a:buFont typeface="Arial" panose="020B0604020202020204" pitchFamily="34" charset="0"/>
              <a:buChar char="•"/>
              <a:defRPr/>
            </a:pPr>
            <a:endParaRPr lang="en-US" altLang="zh-CN" sz="2100" dirty="0">
              <a:solidFill>
                <a:prstClr val="black"/>
              </a:solidFill>
              <a:ea typeface="宋体" panose="02010600030101010101" pitchFamily="2" charset="-122"/>
            </a:endParaRPr>
          </a:p>
          <a:p>
            <a:pPr marL="171450" indent="-171450">
              <a:lnSpc>
                <a:spcPct val="90000"/>
              </a:lnSpc>
              <a:spcBef>
                <a:spcPts val="750"/>
              </a:spcBef>
              <a:buFont typeface="Arial" panose="020B0604020202020204" pitchFamily="34" charset="0"/>
              <a:buChar char="•"/>
              <a:defRPr/>
            </a:pPr>
            <a:endParaRPr lang="en-US" altLang="zh-CN" sz="2100" dirty="0">
              <a:solidFill>
                <a:prstClr val="black"/>
              </a:solidFill>
              <a:ea typeface="宋体" panose="02010600030101010101" pitchFamily="2" charset="-122"/>
            </a:endParaRPr>
          </a:p>
        </p:txBody>
      </p:sp>
    </p:spTree>
    <p:extLst>
      <p:ext uri="{BB962C8B-B14F-4D97-AF65-F5344CB8AC3E}">
        <p14:creationId xmlns:p14="http://schemas.microsoft.com/office/powerpoint/2010/main" val="40078713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par>
                          <p:cTn id="8" fill="hold" nodeType="afterGroup">
                            <p:stCondLst>
                              <p:cond delay="500"/>
                            </p:stCondLst>
                            <p:childTnLst>
                              <p:par>
                                <p:cTn id="9" presetID="53" presetClass="entr" presetSubtype="16"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animEffect transition="in" filter="fade">
                                      <p:cBhvr>
                                        <p:cTn id="13" dur="500"/>
                                        <p:tgtEl>
                                          <p:spTgt spid="2"/>
                                        </p:tgtEl>
                                      </p:cBhvr>
                                    </p:animEffect>
                                  </p:childTnLst>
                                </p:cTn>
                              </p:par>
                            </p:childTnLst>
                          </p:cTn>
                        </p:par>
                        <p:par>
                          <p:cTn id="14" fill="hold" nodeType="afterGroup">
                            <p:stCondLst>
                              <p:cond delay="1000"/>
                            </p:stCondLst>
                            <p:childTnLst>
                              <p:par>
                                <p:cTn id="15" presetID="22" presetClass="entr" presetSubtype="4" fill="hold" grpId="0" nodeType="after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down)">
                                      <p:cBhvr>
                                        <p:cTn id="17" dur="500"/>
                                        <p:tgtEl>
                                          <p:spTgt spid="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6"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7AAEBC-745B-6066-B601-6130339309FA}"/>
              </a:ext>
            </a:extLst>
          </p:cNvPr>
          <p:cNvSpPr>
            <a:spLocks noGrp="1"/>
          </p:cNvSpPr>
          <p:nvPr>
            <p:ph type="title"/>
          </p:nvPr>
        </p:nvSpPr>
        <p:spPr/>
        <p:txBody>
          <a:bodyPr/>
          <a:lstStyle/>
          <a:p>
            <a:r>
              <a:rPr lang="zh-CN" altLang="en-US" dirty="0"/>
              <a:t>三重时间</a:t>
            </a:r>
          </a:p>
        </p:txBody>
      </p:sp>
      <p:sp>
        <p:nvSpPr>
          <p:cNvPr id="3" name="内容占位符 2">
            <a:extLst>
              <a:ext uri="{FF2B5EF4-FFF2-40B4-BE49-F238E27FC236}">
                <a16:creationId xmlns:a16="http://schemas.microsoft.com/office/drawing/2014/main" id="{D972B393-7E37-3BDA-2CC0-4E4D81BCBA64}"/>
              </a:ext>
            </a:extLst>
          </p:cNvPr>
          <p:cNvSpPr>
            <a:spLocks noGrp="1"/>
          </p:cNvSpPr>
          <p:nvPr>
            <p:ph idx="1"/>
          </p:nvPr>
        </p:nvSpPr>
        <p:spPr/>
        <p:txBody>
          <a:bodyPr/>
          <a:lstStyle/>
          <a:p>
            <a:endParaRPr lang="en-US" altLang="zh-CN" dirty="0"/>
          </a:p>
          <a:p>
            <a:r>
              <a:rPr lang="zh-CN" altLang="en-US" sz="3200" dirty="0">
                <a:latin typeface="+mn-ea"/>
              </a:rPr>
              <a:t>混沌和自然时间</a:t>
            </a:r>
            <a:endParaRPr lang="en-US" altLang="zh-CN" sz="3200" dirty="0">
              <a:latin typeface="+mn-ea"/>
            </a:endParaRPr>
          </a:p>
          <a:p>
            <a:r>
              <a:rPr lang="zh-CN" altLang="en-US" sz="3200" dirty="0">
                <a:latin typeface="+mn-ea"/>
              </a:rPr>
              <a:t>“自然”时间</a:t>
            </a:r>
            <a:endParaRPr lang="en-US" altLang="zh-CN" sz="3200" dirty="0">
              <a:latin typeface="+mn-ea"/>
            </a:endParaRPr>
          </a:p>
          <a:p>
            <a:r>
              <a:rPr lang="zh-CN" altLang="en-US" sz="3200" dirty="0">
                <a:latin typeface="+mn-ea"/>
              </a:rPr>
              <a:t>现代性时间</a:t>
            </a:r>
            <a:r>
              <a:rPr lang="en-US" altLang="zh-CN" sz="3200" dirty="0">
                <a:latin typeface="+mn-ea"/>
              </a:rPr>
              <a:t>- </a:t>
            </a:r>
            <a:r>
              <a:rPr lang="zh-CN" altLang="en-US" sz="3200" dirty="0">
                <a:latin typeface="+mn-ea"/>
              </a:rPr>
              <a:t>当代社会</a:t>
            </a:r>
            <a:endParaRPr lang="en-US" altLang="zh-CN" sz="3200" dirty="0">
              <a:latin typeface="+mn-ea"/>
            </a:endParaRPr>
          </a:p>
          <a:p>
            <a:pPr marL="0" indent="0">
              <a:buNone/>
            </a:pPr>
            <a:r>
              <a:rPr lang="en-US" altLang="zh-CN" sz="1600" dirty="0">
                <a:latin typeface="+mn-ea"/>
              </a:rPr>
              <a:t>                        </a:t>
            </a:r>
            <a:r>
              <a:rPr lang="zh-CN" altLang="en-US" sz="1600" dirty="0">
                <a:latin typeface="+mn-ea"/>
              </a:rPr>
              <a:t>功能物和非功能物的对应</a:t>
            </a:r>
          </a:p>
        </p:txBody>
      </p:sp>
    </p:spTree>
    <p:extLst>
      <p:ext uri="{BB962C8B-B14F-4D97-AF65-F5344CB8AC3E}">
        <p14:creationId xmlns:p14="http://schemas.microsoft.com/office/powerpoint/2010/main" val="811732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572895-C863-C12E-7227-70D1660F0333}"/>
              </a:ext>
            </a:extLst>
          </p:cNvPr>
          <p:cNvSpPr>
            <a:spLocks noGrp="1"/>
          </p:cNvSpPr>
          <p:nvPr>
            <p:ph type="title"/>
          </p:nvPr>
        </p:nvSpPr>
        <p:spPr/>
        <p:txBody>
          <a:bodyPr/>
          <a:lstStyle/>
          <a:p>
            <a:r>
              <a:rPr lang="zh-CN" altLang="en-US" sz="4000" dirty="0"/>
              <a:t>“自然”时间：</a:t>
            </a:r>
            <a:r>
              <a:rPr lang="zh-CN" altLang="en-US" sz="1800" dirty="0"/>
              <a:t>亚里士多德</a:t>
            </a:r>
          </a:p>
        </p:txBody>
      </p:sp>
      <p:sp>
        <p:nvSpPr>
          <p:cNvPr id="3" name="内容占位符 2">
            <a:extLst>
              <a:ext uri="{FF2B5EF4-FFF2-40B4-BE49-F238E27FC236}">
                <a16:creationId xmlns:a16="http://schemas.microsoft.com/office/drawing/2014/main" id="{C122B908-471B-AE9A-6584-3BE1402491EF}"/>
              </a:ext>
            </a:extLst>
          </p:cNvPr>
          <p:cNvSpPr>
            <a:spLocks noGrp="1"/>
          </p:cNvSpPr>
          <p:nvPr>
            <p:ph idx="4294967295"/>
          </p:nvPr>
        </p:nvSpPr>
        <p:spPr>
          <a:xfrm>
            <a:off x="1029419" y="1690688"/>
            <a:ext cx="10515600" cy="2986926"/>
          </a:xfrm>
        </p:spPr>
        <p:txBody>
          <a:bodyPr>
            <a:normAutofit/>
          </a:bodyPr>
          <a:lstStyle/>
          <a:p>
            <a:r>
              <a:rPr lang="zh-CN" altLang="en-US" sz="3200" dirty="0"/>
              <a:t>前和后运动的计量</a:t>
            </a:r>
            <a:endParaRPr lang="en-US" altLang="zh-CN" sz="3200" dirty="0"/>
          </a:p>
          <a:p>
            <a:r>
              <a:rPr lang="zh-CN" altLang="en-US" sz="3200" dirty="0"/>
              <a:t>线性：现在是过去和将来的尺度</a:t>
            </a:r>
            <a:endParaRPr lang="en-US" altLang="zh-CN" sz="3200" dirty="0"/>
          </a:p>
          <a:p>
            <a:r>
              <a:rPr lang="zh-CN" altLang="en-US" sz="3200" dirty="0"/>
              <a:t>均质化：现在点对所有人均匀和同质的</a:t>
            </a:r>
            <a:endParaRPr lang="en-US" altLang="zh-CN" sz="3200" dirty="0"/>
          </a:p>
          <a:p>
            <a:r>
              <a:rPr lang="zh-CN" altLang="en-US" sz="3200" dirty="0"/>
              <a:t>逝者如斯夫</a:t>
            </a:r>
            <a:r>
              <a:rPr lang="en-US" altLang="zh-CN" sz="3200" dirty="0"/>
              <a:t>:</a:t>
            </a:r>
            <a:r>
              <a:rPr lang="zh-CN" altLang="en-US" sz="3200" dirty="0"/>
              <a:t>向前及不可逆的无限且永恒</a:t>
            </a:r>
            <a:endParaRPr lang="en-US" altLang="zh-CN" sz="3200" dirty="0"/>
          </a:p>
        </p:txBody>
      </p:sp>
    </p:spTree>
    <p:extLst>
      <p:ext uri="{BB962C8B-B14F-4D97-AF65-F5344CB8AC3E}">
        <p14:creationId xmlns:p14="http://schemas.microsoft.com/office/powerpoint/2010/main" val="897050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6F0A046-D0A6-1A8E-71FF-C7B8463EDD30}"/>
              </a:ext>
            </a:extLst>
          </p:cNvPr>
          <p:cNvSpPr>
            <a:spLocks noGrp="1"/>
          </p:cNvSpPr>
          <p:nvPr>
            <p:ph type="title"/>
          </p:nvPr>
        </p:nvSpPr>
        <p:spPr/>
        <p:txBody>
          <a:bodyPr/>
          <a:lstStyle/>
          <a:p>
            <a:r>
              <a:rPr lang="zh-CN" altLang="en-US" dirty="0"/>
              <a:t>社会性的时间</a:t>
            </a:r>
          </a:p>
        </p:txBody>
      </p:sp>
      <p:sp>
        <p:nvSpPr>
          <p:cNvPr id="4" name="内容占位符 3">
            <a:extLst>
              <a:ext uri="{FF2B5EF4-FFF2-40B4-BE49-F238E27FC236}">
                <a16:creationId xmlns:a16="http://schemas.microsoft.com/office/drawing/2014/main" id="{F5667E6B-5D0C-A7C0-4289-39A45E066DD4}"/>
              </a:ext>
            </a:extLst>
          </p:cNvPr>
          <p:cNvSpPr>
            <a:spLocks noGrp="1"/>
          </p:cNvSpPr>
          <p:nvPr>
            <p:ph idx="1"/>
          </p:nvPr>
        </p:nvSpPr>
        <p:spPr/>
        <p:txBody>
          <a:bodyPr/>
          <a:lstStyle/>
          <a:p>
            <a:r>
              <a:rPr lang="zh-CN" altLang="en-US" dirty="0"/>
              <a:t>历史时间：纪年</a:t>
            </a:r>
            <a:endParaRPr lang="en-US" altLang="zh-CN" dirty="0"/>
          </a:p>
          <a:p>
            <a:r>
              <a:rPr lang="zh-CN" altLang="en-US" dirty="0"/>
              <a:t>生产、生活时间：农历和节日</a:t>
            </a:r>
            <a:endParaRPr lang="en-US" altLang="zh-CN" dirty="0"/>
          </a:p>
          <a:p>
            <a:r>
              <a:rPr lang="zh-CN" altLang="en-US" dirty="0"/>
              <a:t>宗教时间：轮回</a:t>
            </a:r>
            <a:endParaRPr lang="en-US" altLang="zh-CN" dirty="0"/>
          </a:p>
          <a:p>
            <a:r>
              <a:rPr lang="zh-CN" altLang="en-US" dirty="0"/>
              <a:t>哲学时间：亚里士多德、康德、海德格尔等</a:t>
            </a:r>
          </a:p>
        </p:txBody>
      </p:sp>
    </p:spTree>
    <p:extLst>
      <p:ext uri="{BB962C8B-B14F-4D97-AF65-F5344CB8AC3E}">
        <p14:creationId xmlns:p14="http://schemas.microsoft.com/office/powerpoint/2010/main" val="3414194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7615" y="1156161"/>
            <a:ext cx="10515600" cy="1325563"/>
          </a:xfrm>
        </p:spPr>
        <p:txBody>
          <a:bodyPr>
            <a:normAutofit/>
          </a:bodyPr>
          <a:lstStyle/>
          <a:p>
            <a:r>
              <a:rPr lang="zh-CN" altLang="en-US" sz="3600" dirty="0">
                <a:solidFill>
                  <a:srgbClr val="660033"/>
                </a:solidFill>
              </a:rPr>
              <a:t>“现代性”时间：进步的时间</a:t>
            </a:r>
          </a:p>
        </p:txBody>
      </p:sp>
      <p:sp>
        <p:nvSpPr>
          <p:cNvPr id="3" name="内容占位符 2"/>
          <p:cNvSpPr>
            <a:spLocks noGrp="1"/>
          </p:cNvSpPr>
          <p:nvPr>
            <p:ph idx="1"/>
          </p:nvPr>
        </p:nvSpPr>
        <p:spPr>
          <a:xfrm>
            <a:off x="334705" y="2481724"/>
            <a:ext cx="11409680" cy="3643031"/>
          </a:xfrm>
        </p:spPr>
        <p:txBody>
          <a:bodyPr/>
          <a:lstStyle/>
          <a:p>
            <a:endParaRPr lang="en-US" altLang="zh-CN" sz="2400" dirty="0">
              <a:solidFill>
                <a:srgbClr val="660033"/>
              </a:solidFill>
            </a:endParaRPr>
          </a:p>
          <a:p>
            <a:r>
              <a:rPr lang="zh-CN" altLang="en-US" sz="2400" dirty="0">
                <a:solidFill>
                  <a:srgbClr val="660033"/>
                </a:solidFill>
              </a:rPr>
              <a:t>时间和空间被当作“自然”的对象对待，实际是文化和社会的产物</a:t>
            </a:r>
            <a:endParaRPr lang="en-US" altLang="zh-CN" sz="2400" dirty="0">
              <a:solidFill>
                <a:srgbClr val="660033"/>
              </a:solidFill>
            </a:endParaRPr>
          </a:p>
          <a:p>
            <a:r>
              <a:rPr lang="zh-CN" altLang="en-US" sz="2400" dirty="0">
                <a:solidFill>
                  <a:srgbClr val="660033"/>
                </a:solidFill>
              </a:rPr>
              <a:t>现代社会构造的时间：时间的经济学</a:t>
            </a:r>
            <a:endParaRPr lang="en-US" altLang="zh-CN" sz="2400" dirty="0">
              <a:solidFill>
                <a:srgbClr val="660033"/>
              </a:solidFill>
            </a:endParaRPr>
          </a:p>
          <a:p>
            <a:pPr marL="0" indent="0">
              <a:buNone/>
            </a:pPr>
            <a:r>
              <a:rPr lang="en-US" altLang="zh-CN" sz="2400" dirty="0">
                <a:solidFill>
                  <a:srgbClr val="660033"/>
                </a:solidFill>
              </a:rPr>
              <a:t>1</a:t>
            </a:r>
            <a:r>
              <a:rPr lang="zh-CN" altLang="en-US" sz="2400" dirty="0">
                <a:solidFill>
                  <a:srgbClr val="660033"/>
                </a:solidFill>
              </a:rPr>
              <a:t>“工业社会”时间：召唤工人劳动和交易，社会生活中各种关系进一步货币化</a:t>
            </a:r>
            <a:endParaRPr lang="en-US" altLang="zh-CN" sz="2400" dirty="0">
              <a:solidFill>
                <a:srgbClr val="660033"/>
              </a:solidFill>
            </a:endParaRPr>
          </a:p>
          <a:p>
            <a:pPr marL="0" indent="0">
              <a:buNone/>
            </a:pPr>
            <a:r>
              <a:rPr lang="en-US" altLang="zh-CN" sz="1600" dirty="0">
                <a:solidFill>
                  <a:srgbClr val="660033"/>
                </a:solidFill>
              </a:rPr>
              <a:t>                                                                                                                          </a:t>
            </a:r>
            <a:r>
              <a:rPr lang="zh-CN" altLang="en-US" sz="1600" dirty="0">
                <a:solidFill>
                  <a:srgbClr val="660033"/>
                </a:solidFill>
              </a:rPr>
              <a:t>时间就是金钱（计件工资和原材料成本价格）</a:t>
            </a:r>
            <a:endParaRPr lang="en-US" altLang="zh-CN" sz="1600" dirty="0">
              <a:solidFill>
                <a:srgbClr val="660033"/>
              </a:solidFill>
            </a:endParaRPr>
          </a:p>
          <a:p>
            <a:pPr marL="0" indent="0">
              <a:buNone/>
            </a:pPr>
            <a:r>
              <a:rPr lang="en-US" altLang="zh-CN" sz="2400" dirty="0">
                <a:solidFill>
                  <a:srgbClr val="660033"/>
                </a:solidFill>
              </a:rPr>
              <a:t>2</a:t>
            </a:r>
            <a:r>
              <a:rPr lang="zh-CN" altLang="en-US" sz="2400" dirty="0">
                <a:solidFill>
                  <a:srgbClr val="660033"/>
                </a:solidFill>
              </a:rPr>
              <a:t>生产时间加上交换流通时间，构成了“资本周转”的时间概念</a:t>
            </a:r>
            <a:r>
              <a:rPr lang="zh-CN" altLang="en-US" sz="1600" dirty="0">
                <a:solidFill>
                  <a:srgbClr val="660033"/>
                </a:solidFill>
              </a:rPr>
              <a:t>（计划和市场）</a:t>
            </a:r>
            <a:endParaRPr lang="en-US" altLang="zh-CN" sz="1600" dirty="0">
              <a:solidFill>
                <a:srgbClr val="660033"/>
              </a:solidFill>
            </a:endParaRPr>
          </a:p>
          <a:p>
            <a:pPr marL="0" indent="0">
              <a:buNone/>
            </a:pPr>
            <a:r>
              <a:rPr lang="en-US" altLang="zh-CN" sz="2400" dirty="0"/>
              <a:t>3</a:t>
            </a:r>
            <a:r>
              <a:rPr lang="zh-CN" altLang="en-US" sz="2400" dirty="0"/>
              <a:t>时间和空间作为社会力量的资源，控制时间和空间是追求利润中的关键性要素</a:t>
            </a:r>
            <a:endParaRPr lang="en-US" altLang="zh-CN" sz="2400" dirty="0"/>
          </a:p>
        </p:txBody>
      </p:sp>
    </p:spTree>
    <p:extLst>
      <p:ext uri="{BB962C8B-B14F-4D97-AF65-F5344CB8AC3E}">
        <p14:creationId xmlns:p14="http://schemas.microsoft.com/office/powerpoint/2010/main" val="269996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64A43A-12FA-A714-AE08-3C93D7EDD8FB}"/>
              </a:ext>
            </a:extLst>
          </p:cNvPr>
          <p:cNvSpPr>
            <a:spLocks noGrp="1"/>
          </p:cNvSpPr>
          <p:nvPr>
            <p:ph type="title"/>
          </p:nvPr>
        </p:nvSpPr>
        <p:spPr>
          <a:xfrm>
            <a:off x="838200" y="365126"/>
            <a:ext cx="10515600" cy="1020852"/>
          </a:xfrm>
        </p:spPr>
        <p:txBody>
          <a:bodyPr/>
          <a:lstStyle/>
          <a:p>
            <a:r>
              <a:rPr lang="zh-CN" altLang="en-US" sz="3200" dirty="0"/>
              <a:t>现代社会的发展：时间征服空间</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13819" y="1643159"/>
            <a:ext cx="4750185" cy="4525963"/>
          </a:xfrm>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19360" y="1595598"/>
            <a:ext cx="5121456" cy="4672806"/>
          </a:xfrm>
          <a:prstGeom prst="rect">
            <a:avLst/>
          </a:prstGeom>
        </p:spPr>
      </p:pic>
    </p:spTree>
    <p:extLst>
      <p:ext uri="{BB962C8B-B14F-4D97-AF65-F5344CB8AC3E}">
        <p14:creationId xmlns:p14="http://schemas.microsoft.com/office/powerpoint/2010/main" val="38058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dirty="0">
                <a:solidFill>
                  <a:srgbClr val="660033"/>
                </a:solidFill>
              </a:rPr>
              <a:t>消费</a:t>
            </a:r>
            <a:r>
              <a:rPr lang="zh-CN" altLang="en-US" sz="1400" dirty="0">
                <a:solidFill>
                  <a:srgbClr val="660033"/>
                </a:solidFill>
              </a:rPr>
              <a:t>客观时间为参照的现代性时间</a:t>
            </a:r>
          </a:p>
        </p:txBody>
      </p:sp>
      <p:sp>
        <p:nvSpPr>
          <p:cNvPr id="3" name="内容占位符 2"/>
          <p:cNvSpPr>
            <a:spLocks noGrp="1"/>
          </p:cNvSpPr>
          <p:nvPr>
            <p:ph idx="1"/>
          </p:nvPr>
        </p:nvSpPr>
        <p:spPr/>
        <p:txBody>
          <a:bodyPr/>
          <a:lstStyle/>
          <a:p>
            <a:r>
              <a:rPr lang="zh-CN" altLang="en-US" sz="2400" dirty="0">
                <a:solidFill>
                  <a:srgbClr val="660033"/>
                </a:solidFill>
              </a:rPr>
              <a:t>消费</a:t>
            </a:r>
            <a:r>
              <a:rPr lang="en-US" altLang="zh-CN" sz="2400" dirty="0">
                <a:solidFill>
                  <a:srgbClr val="660033"/>
                </a:solidFill>
              </a:rPr>
              <a:t>:</a:t>
            </a:r>
            <a:r>
              <a:rPr lang="zh-CN" altLang="en-US" sz="2400" dirty="0">
                <a:solidFill>
                  <a:srgbClr val="660033"/>
                </a:solidFill>
              </a:rPr>
              <a:t>有计划的商品废弃</a:t>
            </a:r>
            <a:endParaRPr lang="en-US" altLang="zh-CN" sz="2400" dirty="0">
              <a:solidFill>
                <a:srgbClr val="660033"/>
              </a:solidFill>
            </a:endParaRPr>
          </a:p>
          <a:p>
            <a:r>
              <a:rPr lang="zh-CN" altLang="en-US" sz="2400" dirty="0">
                <a:solidFill>
                  <a:srgbClr val="660033"/>
                </a:solidFill>
              </a:rPr>
              <a:t>调动大众市场的时尚，提供加快消费速度的手段</a:t>
            </a:r>
            <a:r>
              <a:rPr lang="zh-CN" altLang="en-US" sz="1600" dirty="0">
                <a:solidFill>
                  <a:srgbClr val="660033"/>
                </a:solidFill>
              </a:rPr>
              <a:t>（服装、饰品、装修、电器等）</a:t>
            </a:r>
          </a:p>
          <a:p>
            <a:r>
              <a:rPr lang="zh-CN" altLang="en-US" sz="2400" dirty="0">
                <a:solidFill>
                  <a:srgbClr val="660033"/>
                </a:solidFill>
              </a:rPr>
              <a:t>脱离商品消费、向服务消费的转变</a:t>
            </a:r>
            <a:r>
              <a:rPr lang="zh-CN" altLang="en-US" sz="1600" dirty="0">
                <a:solidFill>
                  <a:srgbClr val="660033"/>
                </a:solidFill>
              </a:rPr>
              <a:t>（文化工业、服务）</a:t>
            </a:r>
            <a:endParaRPr lang="en-US" altLang="zh-CN" sz="1600" dirty="0">
              <a:solidFill>
                <a:srgbClr val="660033"/>
              </a:solidFill>
            </a:endParaRPr>
          </a:p>
          <a:p>
            <a:r>
              <a:rPr lang="zh-CN" altLang="en-US" sz="2400" dirty="0">
                <a:solidFill>
                  <a:srgbClr val="660033"/>
                </a:solidFill>
              </a:rPr>
              <a:t>一切坚固的东西都烟消云散：易变性和短暂性</a:t>
            </a:r>
            <a:endParaRPr lang="en-US" altLang="zh-CN" sz="2400" dirty="0">
              <a:solidFill>
                <a:srgbClr val="660033"/>
              </a:solidFill>
            </a:endParaRPr>
          </a:p>
          <a:p>
            <a:r>
              <a:rPr lang="zh-CN" altLang="en-US" sz="2400" dirty="0">
                <a:solidFill>
                  <a:srgbClr val="660033"/>
                </a:solidFill>
              </a:rPr>
              <a:t>短暂性越强，需要发现或者制造某种存在于其中的“永恒”的压力越大</a:t>
            </a:r>
            <a:endParaRPr lang="en-US" altLang="zh-CN" sz="2400" dirty="0">
              <a:solidFill>
                <a:srgbClr val="660033"/>
              </a:solidFill>
            </a:endParaRPr>
          </a:p>
          <a:p>
            <a:endParaRPr lang="en-US" altLang="zh-CN" sz="2400" dirty="0">
              <a:solidFill>
                <a:srgbClr val="660033"/>
              </a:solidFill>
            </a:endParaRPr>
          </a:p>
          <a:p>
            <a:endParaRPr lang="en-US" altLang="zh-CN" sz="2400" dirty="0">
              <a:solidFill>
                <a:srgbClr val="660033"/>
              </a:solidFill>
            </a:endParaRPr>
          </a:p>
        </p:txBody>
      </p:sp>
    </p:spTree>
    <p:extLst>
      <p:ext uri="{BB962C8B-B14F-4D97-AF65-F5344CB8AC3E}">
        <p14:creationId xmlns:p14="http://schemas.microsoft.com/office/powerpoint/2010/main" val="157778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reeform 2"/>
          <p:cNvSpPr>
            <a:spLocks noChangeArrowheads="1"/>
          </p:cNvSpPr>
          <p:nvPr/>
        </p:nvSpPr>
        <p:spPr bwMode="auto">
          <a:xfrm>
            <a:off x="1883" y="977601"/>
            <a:ext cx="5878286" cy="5878286"/>
          </a:xfrm>
          <a:custGeom>
            <a:avLst/>
            <a:gdLst>
              <a:gd name="T0" fmla="*/ 2147483646 w 1386"/>
              <a:gd name="T1" fmla="*/ 2147483646 h 1386"/>
              <a:gd name="T2" fmla="*/ 2147483646 w 1386"/>
              <a:gd name="T3" fmla="*/ 2147483646 h 1386"/>
              <a:gd name="T4" fmla="*/ 2147483646 w 1386"/>
              <a:gd name="T5" fmla="*/ 0 h 1386"/>
              <a:gd name="T6" fmla="*/ 0 w 1386"/>
              <a:gd name="T7" fmla="*/ 2147483646 h 1386"/>
              <a:gd name="T8" fmla="*/ 0 w 1386"/>
              <a:gd name="T9" fmla="*/ 2147483646 h 1386"/>
              <a:gd name="T10" fmla="*/ 0 w 1386"/>
              <a:gd name="T11" fmla="*/ 2147483646 h 1386"/>
              <a:gd name="T12" fmla="*/ 2147483646 w 1386"/>
              <a:gd name="T13" fmla="*/ 2147483646 h 1386"/>
              <a:gd name="T14" fmla="*/ 2147483646 w 1386"/>
              <a:gd name="T15" fmla="*/ 2147483646 h 1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86" h="1386">
                <a:moveTo>
                  <a:pt x="1106" y="1386"/>
                </a:moveTo>
                <a:cubicBezTo>
                  <a:pt x="1277" y="1242"/>
                  <a:pt x="1386" y="1026"/>
                  <a:pt x="1386" y="785"/>
                </a:cubicBezTo>
                <a:cubicBezTo>
                  <a:pt x="1386" y="351"/>
                  <a:pt x="1034" y="0"/>
                  <a:pt x="601" y="0"/>
                </a:cubicBezTo>
                <a:cubicBezTo>
                  <a:pt x="360" y="0"/>
                  <a:pt x="144" y="109"/>
                  <a:pt x="0" y="280"/>
                </a:cubicBezTo>
                <a:cubicBezTo>
                  <a:pt x="0" y="1290"/>
                  <a:pt x="0" y="1290"/>
                  <a:pt x="0" y="1290"/>
                </a:cubicBezTo>
                <a:cubicBezTo>
                  <a:pt x="0" y="1386"/>
                  <a:pt x="0" y="1386"/>
                  <a:pt x="0" y="1386"/>
                </a:cubicBezTo>
                <a:cubicBezTo>
                  <a:pt x="96" y="1386"/>
                  <a:pt x="96" y="1386"/>
                  <a:pt x="96" y="1386"/>
                </a:cubicBezTo>
                <a:lnTo>
                  <a:pt x="1106" y="1386"/>
                </a:lnTo>
                <a:close/>
              </a:path>
            </a:pathLst>
          </a:custGeom>
          <a:solidFill>
            <a:srgbClr val="5D5D5D">
              <a:alpha val="7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4099" name="Freeform 3"/>
          <p:cNvSpPr>
            <a:spLocks noChangeArrowheads="1"/>
          </p:cNvSpPr>
          <p:nvPr/>
        </p:nvSpPr>
        <p:spPr bwMode="auto">
          <a:xfrm>
            <a:off x="1881" y="1758408"/>
            <a:ext cx="5097477" cy="5097477"/>
          </a:xfrm>
          <a:custGeom>
            <a:avLst/>
            <a:gdLst>
              <a:gd name="T0" fmla="*/ 2147483646 w 1202"/>
              <a:gd name="T1" fmla="*/ 0 h 1202"/>
              <a:gd name="T2" fmla="*/ 0 w 1202"/>
              <a:gd name="T3" fmla="*/ 2147483646 h 1202"/>
              <a:gd name="T4" fmla="*/ 0 w 1202"/>
              <a:gd name="T5" fmla="*/ 2147483646 h 1202"/>
              <a:gd name="T6" fmla="*/ 2147483646 w 1202"/>
              <a:gd name="T7" fmla="*/ 2147483646 h 1202"/>
              <a:gd name="T8" fmla="*/ 2147483646 w 1202"/>
              <a:gd name="T9" fmla="*/ 2147483646 h 1202"/>
              <a:gd name="T10" fmla="*/ 2147483646 w 1202"/>
              <a:gd name="T11" fmla="*/ 0 h 12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02" h="1202">
                <a:moveTo>
                  <a:pt x="601" y="0"/>
                </a:moveTo>
                <a:cubicBezTo>
                  <a:pt x="269" y="0"/>
                  <a:pt x="0" y="269"/>
                  <a:pt x="0" y="601"/>
                </a:cubicBezTo>
                <a:cubicBezTo>
                  <a:pt x="0" y="1202"/>
                  <a:pt x="0" y="1202"/>
                  <a:pt x="0" y="1202"/>
                </a:cubicBezTo>
                <a:cubicBezTo>
                  <a:pt x="601" y="1202"/>
                  <a:pt x="601" y="1202"/>
                  <a:pt x="601" y="1202"/>
                </a:cubicBezTo>
                <a:cubicBezTo>
                  <a:pt x="933" y="1202"/>
                  <a:pt x="1202" y="933"/>
                  <a:pt x="1202" y="601"/>
                </a:cubicBezTo>
                <a:cubicBezTo>
                  <a:pt x="1202" y="269"/>
                  <a:pt x="933" y="0"/>
                  <a:pt x="601" y="0"/>
                </a:cubicBezTo>
                <a:close/>
              </a:path>
            </a:pathLst>
          </a:custGeom>
          <a:solidFill>
            <a:srgbClr val="000000">
              <a:alpha val="7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grpSp>
        <p:nvGrpSpPr>
          <p:cNvPr id="4100" name="Group 4"/>
          <p:cNvGrpSpPr>
            <a:grpSpLocks/>
          </p:cNvGrpSpPr>
          <p:nvPr/>
        </p:nvGrpSpPr>
        <p:grpSpPr bwMode="auto">
          <a:xfrm>
            <a:off x="3948249" y="2126596"/>
            <a:ext cx="774461" cy="774461"/>
            <a:chOff x="0" y="0"/>
            <a:chExt cx="366" cy="366"/>
          </a:xfrm>
        </p:grpSpPr>
        <p:sp>
          <p:nvSpPr>
            <p:cNvPr id="4104" name="Oval 5"/>
            <p:cNvSpPr>
              <a:spLocks noChangeArrowheads="1"/>
            </p:cNvSpPr>
            <p:nvPr/>
          </p:nvSpPr>
          <p:spPr bwMode="auto">
            <a:xfrm>
              <a:off x="0" y="0"/>
              <a:ext cx="366" cy="366"/>
            </a:xfrm>
            <a:prstGeom prst="ellipse">
              <a:avLst/>
            </a:pr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endParaRPr lang="zh-CN" altLang="en-US" sz="2399">
                <a:solidFill>
                  <a:srgbClr val="000000"/>
                </a:solidFill>
              </a:endParaRPr>
            </a:p>
          </p:txBody>
        </p:sp>
        <p:sp>
          <p:nvSpPr>
            <p:cNvPr id="4105" name="Freeform 6"/>
            <p:cNvSpPr>
              <a:spLocks noEditPoints="1" noChangeArrowheads="1"/>
            </p:cNvSpPr>
            <p:nvPr/>
          </p:nvSpPr>
          <p:spPr bwMode="auto">
            <a:xfrm>
              <a:off x="108" y="100"/>
              <a:ext cx="148" cy="164"/>
            </a:xfrm>
            <a:custGeom>
              <a:avLst/>
              <a:gdLst>
                <a:gd name="T0" fmla="*/ 1269 w 71"/>
                <a:gd name="T1" fmla="*/ 189 h 79"/>
                <a:gd name="T2" fmla="*/ 1303 w 71"/>
                <a:gd name="T3" fmla="*/ 52 h 79"/>
                <a:gd name="T4" fmla="*/ 1342 w 71"/>
                <a:gd name="T5" fmla="*/ 152 h 79"/>
                <a:gd name="T6" fmla="*/ 135 w 71"/>
                <a:gd name="T7" fmla="*/ 52 h 79"/>
                <a:gd name="T8" fmla="*/ 544 w 71"/>
                <a:gd name="T9" fmla="*/ 0 h 79"/>
                <a:gd name="T10" fmla="*/ 817 w 71"/>
                <a:gd name="T11" fmla="*/ 52 h 79"/>
                <a:gd name="T12" fmla="*/ 1222 w 71"/>
                <a:gd name="T13" fmla="*/ 189 h 79"/>
                <a:gd name="T14" fmla="*/ 135 w 71"/>
                <a:gd name="T15" fmla="*/ 52 h 79"/>
                <a:gd name="T16" fmla="*/ 0 w 71"/>
                <a:gd name="T17" fmla="*/ 91 h 79"/>
                <a:gd name="T18" fmla="*/ 92 w 71"/>
                <a:gd name="T19" fmla="*/ 52 h 79"/>
                <a:gd name="T20" fmla="*/ 56 w 71"/>
                <a:gd name="T21" fmla="*/ 189 h 79"/>
                <a:gd name="T22" fmla="*/ 1203 w 71"/>
                <a:gd name="T23" fmla="*/ 241 h 79"/>
                <a:gd name="T24" fmla="*/ 152 w 71"/>
                <a:gd name="T25" fmla="*/ 1057 h 79"/>
                <a:gd name="T26" fmla="*/ 1203 w 71"/>
                <a:gd name="T27" fmla="*/ 241 h 79"/>
                <a:gd name="T28" fmla="*/ 978 w 71"/>
                <a:gd name="T29" fmla="*/ 913 h 79"/>
                <a:gd name="T30" fmla="*/ 769 w 71"/>
                <a:gd name="T31" fmla="*/ 849 h 79"/>
                <a:gd name="T32" fmla="*/ 769 w 71"/>
                <a:gd name="T33" fmla="*/ 797 h 79"/>
                <a:gd name="T34" fmla="*/ 1113 w 71"/>
                <a:gd name="T35" fmla="*/ 741 h 79"/>
                <a:gd name="T36" fmla="*/ 769 w 71"/>
                <a:gd name="T37" fmla="*/ 797 h 79"/>
                <a:gd name="T38" fmla="*/ 1113 w 71"/>
                <a:gd name="T39" fmla="*/ 656 h 79"/>
                <a:gd name="T40" fmla="*/ 769 w 71"/>
                <a:gd name="T41" fmla="*/ 590 h 79"/>
                <a:gd name="T42" fmla="*/ 469 w 71"/>
                <a:gd name="T43" fmla="*/ 965 h 79"/>
                <a:gd name="T44" fmla="*/ 434 w 71"/>
                <a:gd name="T45" fmla="*/ 797 h 79"/>
                <a:gd name="T46" fmla="*/ 261 w 71"/>
                <a:gd name="T47" fmla="*/ 758 h 79"/>
                <a:gd name="T48" fmla="*/ 717 w 71"/>
                <a:gd name="T49" fmla="*/ 741 h 79"/>
                <a:gd name="T50" fmla="*/ 492 w 71"/>
                <a:gd name="T51" fmla="*/ 741 h 79"/>
                <a:gd name="T52" fmla="*/ 244 w 71"/>
                <a:gd name="T53" fmla="*/ 409 h 79"/>
                <a:gd name="T54" fmla="*/ 717 w 71"/>
                <a:gd name="T55" fmla="*/ 316 h 79"/>
                <a:gd name="T56" fmla="*/ 244 w 71"/>
                <a:gd name="T57" fmla="*/ 409 h 79"/>
                <a:gd name="T58" fmla="*/ 92 w 71"/>
                <a:gd name="T59" fmla="*/ 1206 h 79"/>
                <a:gd name="T60" fmla="*/ 1286 w 71"/>
                <a:gd name="T61" fmla="*/ 1117 h 79"/>
                <a:gd name="T62" fmla="*/ 586 w 71"/>
                <a:gd name="T63" fmla="*/ 1246 h 79"/>
                <a:gd name="T64" fmla="*/ 300 w 71"/>
                <a:gd name="T65" fmla="*/ 1466 h 79"/>
                <a:gd name="T66" fmla="*/ 586 w 71"/>
                <a:gd name="T67" fmla="*/ 1246 h 79"/>
                <a:gd name="T68" fmla="*/ 905 w 71"/>
                <a:gd name="T69" fmla="*/ 1466 h 79"/>
                <a:gd name="T70" fmla="*/ 905 w 71"/>
                <a:gd name="T71" fmla="*/ 1246 h 7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1" h="79">
                  <a:moveTo>
                    <a:pt x="69" y="10"/>
                  </a:moveTo>
                  <a:cubicBezTo>
                    <a:pt x="67" y="10"/>
                    <a:pt x="67" y="10"/>
                    <a:pt x="67" y="10"/>
                  </a:cubicBezTo>
                  <a:cubicBezTo>
                    <a:pt x="67" y="3"/>
                    <a:pt x="67" y="3"/>
                    <a:pt x="67" y="3"/>
                  </a:cubicBezTo>
                  <a:cubicBezTo>
                    <a:pt x="69" y="3"/>
                    <a:pt x="69" y="3"/>
                    <a:pt x="69" y="3"/>
                  </a:cubicBezTo>
                  <a:cubicBezTo>
                    <a:pt x="71" y="5"/>
                    <a:pt x="71" y="5"/>
                    <a:pt x="71" y="5"/>
                  </a:cubicBezTo>
                  <a:cubicBezTo>
                    <a:pt x="71" y="8"/>
                    <a:pt x="71" y="8"/>
                    <a:pt x="71" y="8"/>
                  </a:cubicBezTo>
                  <a:lnTo>
                    <a:pt x="69" y="10"/>
                  </a:lnTo>
                  <a:close/>
                  <a:moveTo>
                    <a:pt x="7" y="3"/>
                  </a:moveTo>
                  <a:cubicBezTo>
                    <a:pt x="29" y="3"/>
                    <a:pt x="29" y="3"/>
                    <a:pt x="29" y="3"/>
                  </a:cubicBezTo>
                  <a:cubicBezTo>
                    <a:pt x="29" y="0"/>
                    <a:pt x="29" y="0"/>
                    <a:pt x="29" y="0"/>
                  </a:cubicBezTo>
                  <a:cubicBezTo>
                    <a:pt x="43" y="0"/>
                    <a:pt x="43" y="0"/>
                    <a:pt x="43" y="0"/>
                  </a:cubicBezTo>
                  <a:cubicBezTo>
                    <a:pt x="43" y="3"/>
                    <a:pt x="43" y="3"/>
                    <a:pt x="43" y="3"/>
                  </a:cubicBezTo>
                  <a:cubicBezTo>
                    <a:pt x="65" y="3"/>
                    <a:pt x="65" y="3"/>
                    <a:pt x="65" y="3"/>
                  </a:cubicBezTo>
                  <a:cubicBezTo>
                    <a:pt x="65" y="10"/>
                    <a:pt x="65" y="10"/>
                    <a:pt x="65" y="10"/>
                  </a:cubicBezTo>
                  <a:cubicBezTo>
                    <a:pt x="7" y="10"/>
                    <a:pt x="7" y="10"/>
                    <a:pt x="7" y="10"/>
                  </a:cubicBezTo>
                  <a:lnTo>
                    <a:pt x="7" y="3"/>
                  </a:lnTo>
                  <a:close/>
                  <a:moveTo>
                    <a:pt x="0" y="8"/>
                  </a:moveTo>
                  <a:cubicBezTo>
                    <a:pt x="0" y="5"/>
                    <a:pt x="0" y="5"/>
                    <a:pt x="0" y="5"/>
                  </a:cubicBezTo>
                  <a:cubicBezTo>
                    <a:pt x="3" y="3"/>
                    <a:pt x="3" y="3"/>
                    <a:pt x="3" y="3"/>
                  </a:cubicBezTo>
                  <a:cubicBezTo>
                    <a:pt x="5" y="3"/>
                    <a:pt x="5" y="3"/>
                    <a:pt x="5" y="3"/>
                  </a:cubicBezTo>
                  <a:cubicBezTo>
                    <a:pt x="5" y="10"/>
                    <a:pt x="5" y="10"/>
                    <a:pt x="5" y="10"/>
                  </a:cubicBezTo>
                  <a:cubicBezTo>
                    <a:pt x="3" y="10"/>
                    <a:pt x="3" y="10"/>
                    <a:pt x="3" y="10"/>
                  </a:cubicBezTo>
                  <a:lnTo>
                    <a:pt x="0" y="8"/>
                  </a:lnTo>
                  <a:close/>
                  <a:moveTo>
                    <a:pt x="64" y="13"/>
                  </a:moveTo>
                  <a:cubicBezTo>
                    <a:pt x="64" y="57"/>
                    <a:pt x="64" y="57"/>
                    <a:pt x="64" y="57"/>
                  </a:cubicBezTo>
                  <a:cubicBezTo>
                    <a:pt x="8" y="57"/>
                    <a:pt x="8" y="57"/>
                    <a:pt x="8" y="57"/>
                  </a:cubicBezTo>
                  <a:cubicBezTo>
                    <a:pt x="8" y="13"/>
                    <a:pt x="8" y="13"/>
                    <a:pt x="8" y="13"/>
                  </a:cubicBezTo>
                  <a:lnTo>
                    <a:pt x="64" y="13"/>
                  </a:lnTo>
                  <a:close/>
                  <a:moveTo>
                    <a:pt x="41" y="49"/>
                  </a:moveTo>
                  <a:cubicBezTo>
                    <a:pt x="52" y="49"/>
                    <a:pt x="52" y="49"/>
                    <a:pt x="52" y="49"/>
                  </a:cubicBezTo>
                  <a:cubicBezTo>
                    <a:pt x="52" y="46"/>
                    <a:pt x="52" y="46"/>
                    <a:pt x="52" y="46"/>
                  </a:cubicBezTo>
                  <a:cubicBezTo>
                    <a:pt x="41" y="46"/>
                    <a:pt x="41" y="46"/>
                    <a:pt x="41" y="46"/>
                  </a:cubicBezTo>
                  <a:lnTo>
                    <a:pt x="41" y="49"/>
                  </a:lnTo>
                  <a:close/>
                  <a:moveTo>
                    <a:pt x="41" y="43"/>
                  </a:moveTo>
                  <a:cubicBezTo>
                    <a:pt x="59" y="43"/>
                    <a:pt x="59" y="43"/>
                    <a:pt x="59" y="43"/>
                  </a:cubicBezTo>
                  <a:cubicBezTo>
                    <a:pt x="59" y="40"/>
                    <a:pt x="59" y="40"/>
                    <a:pt x="59" y="40"/>
                  </a:cubicBezTo>
                  <a:cubicBezTo>
                    <a:pt x="41" y="40"/>
                    <a:pt x="41" y="40"/>
                    <a:pt x="41" y="40"/>
                  </a:cubicBezTo>
                  <a:lnTo>
                    <a:pt x="41" y="43"/>
                  </a:lnTo>
                  <a:close/>
                  <a:moveTo>
                    <a:pt x="41" y="35"/>
                  </a:moveTo>
                  <a:cubicBezTo>
                    <a:pt x="59" y="35"/>
                    <a:pt x="59" y="35"/>
                    <a:pt x="59" y="35"/>
                  </a:cubicBezTo>
                  <a:cubicBezTo>
                    <a:pt x="59" y="32"/>
                    <a:pt x="59" y="32"/>
                    <a:pt x="59" y="32"/>
                  </a:cubicBezTo>
                  <a:cubicBezTo>
                    <a:pt x="41" y="32"/>
                    <a:pt x="41" y="32"/>
                    <a:pt x="41" y="32"/>
                  </a:cubicBezTo>
                  <a:lnTo>
                    <a:pt x="41" y="35"/>
                  </a:lnTo>
                  <a:close/>
                  <a:moveTo>
                    <a:pt x="25" y="52"/>
                  </a:moveTo>
                  <a:cubicBezTo>
                    <a:pt x="30" y="52"/>
                    <a:pt x="35" y="48"/>
                    <a:pt x="36" y="43"/>
                  </a:cubicBezTo>
                  <a:cubicBezTo>
                    <a:pt x="23" y="43"/>
                    <a:pt x="23" y="43"/>
                    <a:pt x="23" y="43"/>
                  </a:cubicBezTo>
                  <a:cubicBezTo>
                    <a:pt x="23" y="30"/>
                    <a:pt x="23" y="30"/>
                    <a:pt x="23" y="30"/>
                  </a:cubicBezTo>
                  <a:cubicBezTo>
                    <a:pt x="17" y="30"/>
                    <a:pt x="14" y="35"/>
                    <a:pt x="14" y="41"/>
                  </a:cubicBezTo>
                  <a:cubicBezTo>
                    <a:pt x="14" y="47"/>
                    <a:pt x="18" y="52"/>
                    <a:pt x="25" y="52"/>
                  </a:cubicBezTo>
                  <a:close/>
                  <a:moveTo>
                    <a:pt x="38" y="40"/>
                  </a:moveTo>
                  <a:cubicBezTo>
                    <a:pt x="38" y="40"/>
                    <a:pt x="38" y="27"/>
                    <a:pt x="26" y="27"/>
                  </a:cubicBezTo>
                  <a:cubicBezTo>
                    <a:pt x="26" y="40"/>
                    <a:pt x="26" y="40"/>
                    <a:pt x="26" y="40"/>
                  </a:cubicBezTo>
                  <a:lnTo>
                    <a:pt x="38" y="40"/>
                  </a:lnTo>
                  <a:close/>
                  <a:moveTo>
                    <a:pt x="13" y="22"/>
                  </a:moveTo>
                  <a:cubicBezTo>
                    <a:pt x="38" y="22"/>
                    <a:pt x="38" y="22"/>
                    <a:pt x="38" y="22"/>
                  </a:cubicBezTo>
                  <a:cubicBezTo>
                    <a:pt x="38" y="17"/>
                    <a:pt x="38" y="17"/>
                    <a:pt x="38" y="17"/>
                  </a:cubicBezTo>
                  <a:cubicBezTo>
                    <a:pt x="13" y="17"/>
                    <a:pt x="13" y="17"/>
                    <a:pt x="13" y="17"/>
                  </a:cubicBezTo>
                  <a:lnTo>
                    <a:pt x="13" y="22"/>
                  </a:lnTo>
                  <a:close/>
                  <a:moveTo>
                    <a:pt x="68" y="65"/>
                  </a:moveTo>
                  <a:cubicBezTo>
                    <a:pt x="5" y="65"/>
                    <a:pt x="5" y="65"/>
                    <a:pt x="5" y="65"/>
                  </a:cubicBezTo>
                  <a:cubicBezTo>
                    <a:pt x="5" y="60"/>
                    <a:pt x="5" y="60"/>
                    <a:pt x="5" y="60"/>
                  </a:cubicBezTo>
                  <a:cubicBezTo>
                    <a:pt x="68" y="60"/>
                    <a:pt x="68" y="60"/>
                    <a:pt x="68" y="60"/>
                  </a:cubicBezTo>
                  <a:lnTo>
                    <a:pt x="68" y="65"/>
                  </a:lnTo>
                  <a:close/>
                  <a:moveTo>
                    <a:pt x="31" y="67"/>
                  </a:moveTo>
                  <a:cubicBezTo>
                    <a:pt x="23" y="79"/>
                    <a:pt x="23" y="79"/>
                    <a:pt x="23" y="79"/>
                  </a:cubicBezTo>
                  <a:cubicBezTo>
                    <a:pt x="16" y="79"/>
                    <a:pt x="16" y="79"/>
                    <a:pt x="16" y="79"/>
                  </a:cubicBezTo>
                  <a:cubicBezTo>
                    <a:pt x="23" y="67"/>
                    <a:pt x="23" y="67"/>
                    <a:pt x="23" y="67"/>
                  </a:cubicBezTo>
                  <a:lnTo>
                    <a:pt x="31" y="67"/>
                  </a:lnTo>
                  <a:close/>
                  <a:moveTo>
                    <a:pt x="55" y="79"/>
                  </a:moveTo>
                  <a:cubicBezTo>
                    <a:pt x="48" y="79"/>
                    <a:pt x="48" y="79"/>
                    <a:pt x="48" y="79"/>
                  </a:cubicBezTo>
                  <a:cubicBezTo>
                    <a:pt x="41" y="67"/>
                    <a:pt x="41" y="67"/>
                    <a:pt x="41" y="67"/>
                  </a:cubicBezTo>
                  <a:cubicBezTo>
                    <a:pt x="48" y="67"/>
                    <a:pt x="48" y="67"/>
                    <a:pt x="48" y="67"/>
                  </a:cubicBezTo>
                  <a:lnTo>
                    <a:pt x="55" y="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grpSp>
      <p:sp>
        <p:nvSpPr>
          <p:cNvPr id="4101" name="Rectangle 7"/>
          <p:cNvSpPr>
            <a:spLocks noChangeArrowheads="1"/>
          </p:cNvSpPr>
          <p:nvPr/>
        </p:nvSpPr>
        <p:spPr bwMode="auto">
          <a:xfrm>
            <a:off x="915999" y="4648883"/>
            <a:ext cx="31486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lang="zh-CN" altLang="en-US" sz="2000" b="1" dirty="0">
                <a:solidFill>
                  <a:srgbClr val="88714E"/>
                </a:solidFill>
              </a:rPr>
              <a:t>边缘物</a:t>
            </a:r>
            <a:r>
              <a:rPr lang="en-US" altLang="zh-CN" sz="2000" b="1" dirty="0">
                <a:solidFill>
                  <a:srgbClr val="88714E"/>
                </a:solidFill>
              </a:rPr>
              <a:t>——</a:t>
            </a:r>
            <a:r>
              <a:rPr lang="zh-CN" altLang="en-US" sz="2000" b="1" dirty="0">
                <a:solidFill>
                  <a:srgbClr val="88714E"/>
                </a:solidFill>
              </a:rPr>
              <a:t>古物</a:t>
            </a:r>
            <a:endParaRPr lang="zh-CN" altLang="en-US" sz="2000" dirty="0">
              <a:solidFill>
                <a:srgbClr val="808080"/>
              </a:solidFill>
            </a:endParaRPr>
          </a:p>
        </p:txBody>
      </p:sp>
      <p:sp>
        <p:nvSpPr>
          <p:cNvPr id="4102" name="Text Box 8"/>
          <p:cNvSpPr txBox="1">
            <a:spLocks noChangeArrowheads="1"/>
          </p:cNvSpPr>
          <p:nvPr/>
        </p:nvSpPr>
        <p:spPr bwMode="auto">
          <a:xfrm>
            <a:off x="1859741" y="3326374"/>
            <a:ext cx="1210588" cy="1200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zh-CN" sz="7198">
                <a:solidFill>
                  <a:srgbClr val="FFFFFF"/>
                </a:solidFill>
              </a:rPr>
              <a:t>01</a:t>
            </a:r>
          </a:p>
        </p:txBody>
      </p:sp>
      <p:sp>
        <p:nvSpPr>
          <p:cNvPr id="4103" name="Line 9"/>
          <p:cNvSpPr>
            <a:spLocks noChangeShapeType="1"/>
          </p:cNvSpPr>
          <p:nvPr/>
        </p:nvSpPr>
        <p:spPr bwMode="auto">
          <a:xfrm>
            <a:off x="1356130" y="4479601"/>
            <a:ext cx="2234510" cy="0"/>
          </a:xfrm>
          <a:prstGeom prst="line">
            <a:avLst/>
          </a:prstGeom>
          <a:noFill/>
          <a:ln w="635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399">
              <a:solidFill>
                <a:srgbClr val="000000"/>
              </a:solidFill>
            </a:endParaRPr>
          </a:p>
        </p:txBody>
      </p:sp>
    </p:spTree>
    <p:extLst>
      <p:ext uri="{BB962C8B-B14F-4D97-AF65-F5344CB8AC3E}">
        <p14:creationId xmlns:p14="http://schemas.microsoft.com/office/powerpoint/2010/main" val="1357554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dirty="0">
                <a:solidFill>
                  <a:srgbClr val="660033"/>
                </a:solidFill>
              </a:rPr>
              <a:t>        古物回应的是另一种意愿：</a:t>
            </a:r>
            <a:endParaRPr lang="en-US" altLang="zh-CN" dirty="0">
              <a:solidFill>
                <a:srgbClr val="660033"/>
              </a:solidFill>
            </a:endParaRPr>
          </a:p>
          <a:p>
            <a:pPr marL="0" indent="0">
              <a:buNone/>
            </a:pPr>
            <a:r>
              <a:rPr lang="en-US" altLang="zh-CN" dirty="0">
                <a:solidFill>
                  <a:srgbClr val="660033"/>
                </a:solidFill>
              </a:rPr>
              <a:t>               </a:t>
            </a:r>
          </a:p>
          <a:p>
            <a:pPr marL="0" indent="0" algn="ctr">
              <a:buNone/>
            </a:pPr>
            <a:r>
              <a:rPr lang="zh-CN" altLang="en-US" sz="2400" dirty="0">
                <a:solidFill>
                  <a:srgbClr val="660033"/>
                </a:solidFill>
              </a:rPr>
              <a:t>                无论如何不同，也是现代性中的一部分，拥有双重意义 </a:t>
            </a:r>
            <a:endParaRPr lang="en-US" altLang="zh-CN" sz="2400" dirty="0">
              <a:solidFill>
                <a:srgbClr val="660033"/>
              </a:solidFill>
            </a:endParaRPr>
          </a:p>
          <a:p>
            <a:pPr marL="0" indent="0" algn="ctr">
              <a:buNone/>
            </a:pPr>
            <a:r>
              <a:rPr lang="zh-CN" altLang="en-US" sz="2400" dirty="0">
                <a:solidFill>
                  <a:srgbClr val="660033"/>
                </a:solidFill>
              </a:rPr>
              <a:t> 人们倾向去把它们视为传统和象征体系的劫余</a:t>
            </a:r>
            <a:endParaRPr lang="en-US" altLang="zh-CN" sz="2400" dirty="0">
              <a:solidFill>
                <a:srgbClr val="660033"/>
              </a:solidFill>
            </a:endParaRPr>
          </a:p>
          <a:p>
            <a:pPr marL="0" indent="0">
              <a:buNone/>
            </a:pPr>
            <a:r>
              <a:rPr lang="zh-CN" altLang="en-US" sz="2400" dirty="0">
                <a:solidFill>
                  <a:srgbClr val="660033"/>
                </a:solidFill>
              </a:rPr>
              <a:t>                          见证、回忆、怀旧、逃避</a:t>
            </a:r>
            <a:r>
              <a:rPr lang="zh-CN" altLang="en-US" sz="1600" dirty="0">
                <a:solidFill>
                  <a:srgbClr val="660033"/>
                </a:solidFill>
              </a:rPr>
              <a:t>（记号价值）</a:t>
            </a:r>
          </a:p>
        </p:txBody>
      </p:sp>
    </p:spTree>
    <p:extLst>
      <p:ext uri="{BB962C8B-B14F-4D97-AF65-F5344CB8AC3E}">
        <p14:creationId xmlns:p14="http://schemas.microsoft.com/office/powerpoint/2010/main" val="2994006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100" dirty="0">
                <a:solidFill>
                  <a:srgbClr val="660033"/>
                </a:solidFill>
                <a:latin typeface="+mj-ea"/>
                <a:cs typeface="华文宋体" panose="02010600040101010101" pitchFamily="2" charset="-122"/>
              </a:rPr>
              <a:t>气氛价值：时间</a:t>
            </a:r>
            <a:r>
              <a:rPr lang="zh-CN" altLang="zh-CN" kern="100" dirty="0">
                <a:solidFill>
                  <a:srgbClr val="660033"/>
                </a:solidFill>
                <a:latin typeface="+mj-ea"/>
                <a:cs typeface="华文宋体" panose="02010600040101010101" pitchFamily="2" charset="-122"/>
              </a:rPr>
              <a:t>性</a:t>
            </a:r>
            <a:endParaRPr lang="zh-CN" altLang="en-US" dirty="0">
              <a:solidFill>
                <a:srgbClr val="660033"/>
              </a:solidFill>
              <a:latin typeface="+mj-ea"/>
            </a:endParaRPr>
          </a:p>
        </p:txBody>
      </p:sp>
      <p:sp>
        <p:nvSpPr>
          <p:cNvPr id="3" name="内容占位符 2"/>
          <p:cNvSpPr>
            <a:spLocks noGrp="1"/>
          </p:cNvSpPr>
          <p:nvPr>
            <p:ph idx="1"/>
          </p:nvPr>
        </p:nvSpPr>
        <p:spPr/>
        <p:txBody>
          <a:bodyPr>
            <a:normAutofit/>
          </a:bodyPr>
          <a:lstStyle/>
          <a:p>
            <a:pPr algn="just">
              <a:lnSpc>
                <a:spcPct val="100000"/>
              </a:lnSpc>
              <a:spcAft>
                <a:spcPts val="1600"/>
              </a:spcAft>
            </a:pP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完全从功能性中脱离，是否认初等功能的极限点</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lnSpc>
                <a:spcPct val="100000"/>
              </a:lnSpc>
              <a:spcAft>
                <a:spcPts val="160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不再有实用的状态出现，完全是作为记号存在</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00000"/>
              </a:lnSpc>
              <a:spcAft>
                <a:spcPts val="160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它并非单纯</a:t>
            </a:r>
            <a:r>
              <a:rPr lang="en-US"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装饰</a:t>
            </a:r>
            <a:r>
              <a:rPr lang="en-US"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，在系统的框架里，它有一个特定的功能，代表</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时间</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44870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584598"/>
            <a:ext cx="5037303" cy="3242764"/>
          </a:xfrm>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07522" y="80682"/>
            <a:ext cx="2299063" cy="2299063"/>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01844" y="2664188"/>
            <a:ext cx="4190156" cy="2691011"/>
          </a:xfrm>
          <a:prstGeom prst="rect">
            <a:avLst/>
          </a:prstGeom>
        </p:spPr>
      </p:pic>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19751" y="0"/>
            <a:ext cx="3682093" cy="6858000"/>
          </a:xfrm>
          <a:prstGeom prst="rect">
            <a:avLst/>
          </a:prstGeom>
        </p:spPr>
      </p:pic>
    </p:spTree>
    <p:extLst>
      <p:ext uri="{BB962C8B-B14F-4D97-AF65-F5344CB8AC3E}">
        <p14:creationId xmlns:p14="http://schemas.microsoft.com/office/powerpoint/2010/main" val="2886168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89891" y="398512"/>
            <a:ext cx="10515600" cy="1325563"/>
          </a:xfrm>
        </p:spPr>
        <p:txBody>
          <a:bodyPr/>
          <a:lstStyle/>
          <a:p>
            <a:r>
              <a:rPr lang="zh-CN" altLang="en-US" kern="100" dirty="0">
                <a:solidFill>
                  <a:srgbClr val="FF0000"/>
                </a:solidFill>
                <a:latin typeface="+mj-ea"/>
                <a:cs typeface="华文宋体" panose="02010600040101010101" pitchFamily="2" charset="-122"/>
              </a:rPr>
              <a:t>    时间的文化标志</a:t>
            </a:r>
            <a:endParaRPr lang="zh-CN" altLang="en-US" dirty="0">
              <a:solidFill>
                <a:srgbClr val="FF0000"/>
              </a:solidFill>
              <a:latin typeface="+mj-ea"/>
            </a:endParaRPr>
          </a:p>
        </p:txBody>
      </p:sp>
      <p:sp>
        <p:nvSpPr>
          <p:cNvPr id="3" name="内容占位符 2"/>
          <p:cNvSpPr>
            <a:spLocks noGrp="1"/>
          </p:cNvSpPr>
          <p:nvPr>
            <p:ph idx="1"/>
          </p:nvPr>
        </p:nvSpPr>
        <p:spPr/>
        <p:txBody>
          <a:bodyPr/>
          <a:lstStyle/>
          <a:p>
            <a:pPr algn="just">
              <a:spcAft>
                <a:spcPts val="0"/>
              </a:spcAft>
            </a:pPr>
            <a:r>
              <a:rPr lang="zh-CN" altLang="en-US"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真确临在物的整体性</a:t>
            </a:r>
            <a:endParaRPr lang="en-US"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en-US"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回溯时间的物质记号</a:t>
            </a:r>
            <a:r>
              <a:rPr lang="zh-CN" altLang="en-US" sz="1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通道空间</a:t>
            </a:r>
            <a:endParaRPr lang="en-US" altLang="zh-CN" sz="1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去除</a:t>
            </a:r>
            <a:r>
              <a:rPr lang="zh-CN" altLang="en-US"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现实</a:t>
            </a: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中的时间，被当作记号来经历</a:t>
            </a:r>
            <a:r>
              <a:rPr lang="zh-CN" altLang="en-US"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的气氛</a:t>
            </a:r>
            <a:r>
              <a:rPr lang="zh-CN" altLang="en-US"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（时期与风格）</a:t>
            </a:r>
            <a:endParaRPr lang="en-US" altLang="zh-CN"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en-US"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无用之用的象征本尊</a:t>
            </a:r>
            <a:endParaRPr lang="en-US"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和别的元素</a:t>
            </a:r>
            <a:r>
              <a:rPr lang="zh-CN" altLang="en-US"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的对应</a:t>
            </a: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关系</a:t>
            </a:r>
            <a:endParaRPr lang="en-US"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endParaRPr lang="zh-CN" altLang="zh-CN" sz="2000" kern="100" dirty="0">
              <a:solidFill>
                <a:srgbClr val="660033"/>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31636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100" dirty="0">
                <a:solidFill>
                  <a:srgbClr val="660033"/>
                </a:solidFill>
                <a:latin typeface="+mj-ea"/>
                <a:cs typeface="华文宋体" panose="02010600040101010101" pitchFamily="2" charset="-122"/>
              </a:rPr>
              <a:t>在</a:t>
            </a:r>
            <a:r>
              <a:rPr lang="zh-CN" altLang="zh-CN" kern="100" dirty="0">
                <a:solidFill>
                  <a:srgbClr val="660033"/>
                </a:solidFill>
                <a:latin typeface="+mj-ea"/>
                <a:cs typeface="华文宋体" panose="02010600040101010101" pitchFamily="2" charset="-122"/>
              </a:rPr>
              <a:t>气氛系统</a:t>
            </a:r>
            <a:r>
              <a:rPr lang="zh-CN" altLang="en-US" kern="100" dirty="0">
                <a:solidFill>
                  <a:srgbClr val="660033"/>
                </a:solidFill>
                <a:latin typeface="+mj-ea"/>
                <a:cs typeface="华文宋体" panose="02010600040101010101" pitchFamily="2" charset="-122"/>
              </a:rPr>
              <a:t>里的时间：对照</a:t>
            </a:r>
            <a:endParaRPr lang="zh-CN" altLang="en-US" dirty="0">
              <a:solidFill>
                <a:srgbClr val="660033"/>
              </a:solidFill>
              <a:latin typeface="+mj-ea"/>
            </a:endParaRPr>
          </a:p>
        </p:txBody>
      </p:sp>
      <p:sp>
        <p:nvSpPr>
          <p:cNvPr id="3" name="内容占位符 2"/>
          <p:cNvSpPr>
            <a:spLocks noGrp="1"/>
          </p:cNvSpPr>
          <p:nvPr>
            <p:ph idx="1"/>
          </p:nvPr>
        </p:nvSpPr>
        <p:spPr>
          <a:xfrm>
            <a:off x="330505" y="1842350"/>
            <a:ext cx="11530990" cy="4351338"/>
          </a:xfrm>
        </p:spPr>
        <p:txBody>
          <a:bodyPr>
            <a:normAutofit/>
          </a:bodyPr>
          <a:lstStyle/>
          <a:p>
            <a:pPr lvl="0" algn="just">
              <a:spcAft>
                <a:spcPts val="1600"/>
              </a:spcAft>
            </a:pPr>
            <a:r>
              <a:rPr lang="zh-CN" altLang="en-US"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古物令人炫目的延伸意义上读出的是“时间性”的弱点</a:t>
            </a:r>
            <a:r>
              <a:rPr lang="zh-CN" altLang="en-US" sz="16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（与周围的“新”物对照）</a:t>
            </a:r>
            <a:endParaRPr lang="en-US" altLang="zh-CN" sz="16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endParaRPr>
          </a:p>
          <a:p>
            <a:pPr lvl="0" algn="just">
              <a:spcAft>
                <a:spcPts val="1600"/>
              </a:spcAft>
            </a:pPr>
            <a:r>
              <a:rPr lang="en-US"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历史</a:t>
            </a:r>
            <a:r>
              <a:rPr lang="en-US"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的延伸意义，总要人觉得过分突出，明显无比</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1600"/>
              </a:spcAft>
            </a:pP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古物</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被取回的并非真正的时间</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（代表）</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b="1"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时间的记号，或时间的文化标志</a:t>
            </a:r>
            <a:endParaRPr lang="en-US" altLang="zh-CN" sz="2400" b="1"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160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以</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真迹</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身份出现在系统内，只是计算过去的关系和记号中的抽象过</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程</a:t>
            </a:r>
            <a:r>
              <a:rPr lang="zh-CN" altLang="en-US" sz="16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台灯</a:t>
            </a:r>
            <a:endParaRPr lang="zh-CN" altLang="zh-CN"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1600"/>
              </a:spcAft>
            </a:pP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气氛的系统是延伸的，它要拥有全体性，便要回收存在的全部</a:t>
            </a:r>
            <a:r>
              <a:rPr lang="zh-CN" altLang="en-US" sz="1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包括时间的基本向度</a:t>
            </a:r>
          </a:p>
          <a:p>
            <a:pPr lvl="0" algn="just">
              <a:spcAft>
                <a:spcPts val="1600"/>
              </a:spcAft>
            </a:pP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p:txBody>
      </p:sp>
    </p:spTree>
    <p:extLst>
      <p:ext uri="{BB962C8B-B14F-4D97-AF65-F5344CB8AC3E}">
        <p14:creationId xmlns:p14="http://schemas.microsoft.com/office/powerpoint/2010/main" val="2756202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3213990" y="220068"/>
            <a:ext cx="7822069" cy="1651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en-US" sz="2666" b="1" dirty="0">
                <a:solidFill>
                  <a:srgbClr val="660033"/>
                </a:solidFill>
              </a:rPr>
              <a:t>象征价值：神话</a:t>
            </a:r>
            <a:r>
              <a:rPr lang="zh-CN" altLang="en-US" sz="1600" b="1" dirty="0">
                <a:solidFill>
                  <a:srgbClr val="660033"/>
                </a:solidFill>
              </a:rPr>
              <a:t>存在、诞生</a:t>
            </a:r>
            <a:endParaRPr lang="en-US" altLang="zh-CN" sz="1600" b="1" dirty="0">
              <a:solidFill>
                <a:srgbClr val="660033"/>
              </a:solidFill>
            </a:endParaRPr>
          </a:p>
          <a:p>
            <a:pPr fontAlgn="base">
              <a:spcBef>
                <a:spcPct val="0"/>
              </a:spcBef>
              <a:spcAft>
                <a:spcPct val="0"/>
              </a:spcAft>
              <a:buFontTx/>
              <a:buNone/>
            </a:pPr>
            <a:r>
              <a:rPr lang="en-US" altLang="zh-CN" sz="1600" b="1" dirty="0">
                <a:solidFill>
                  <a:srgbClr val="660033"/>
                </a:solidFill>
              </a:rPr>
              <a:t>                                          </a:t>
            </a:r>
            <a:r>
              <a:rPr lang="zh-CN" altLang="en-US" sz="1600" b="1" dirty="0">
                <a:solidFill>
                  <a:srgbClr val="660033"/>
                </a:solidFill>
              </a:rPr>
              <a:t>传承为代表的自我论述的展开</a:t>
            </a:r>
            <a:endParaRPr lang="en-US" altLang="zh-CN" sz="1600" b="1" dirty="0">
              <a:solidFill>
                <a:srgbClr val="660033"/>
              </a:solidFill>
            </a:endParaRPr>
          </a:p>
          <a:p>
            <a:pPr fontAlgn="base">
              <a:spcBef>
                <a:spcPct val="0"/>
              </a:spcBef>
              <a:spcAft>
                <a:spcPct val="0"/>
              </a:spcAft>
              <a:buFontTx/>
              <a:buNone/>
            </a:pPr>
            <a:r>
              <a:rPr lang="en-US" altLang="zh-CN" sz="1600" b="1" dirty="0">
                <a:solidFill>
                  <a:srgbClr val="660033"/>
                </a:solidFill>
              </a:rPr>
              <a:t>                                          </a:t>
            </a:r>
            <a:r>
              <a:rPr lang="zh-CN" altLang="en-US" sz="1600" b="1" dirty="0">
                <a:solidFill>
                  <a:srgbClr val="660033"/>
                </a:solidFill>
              </a:rPr>
              <a:t>时代错乱：功能物的缺陷</a:t>
            </a:r>
            <a:r>
              <a:rPr lang="en-US" altLang="zh-CN" sz="1600" b="1" dirty="0">
                <a:solidFill>
                  <a:srgbClr val="660033"/>
                </a:solidFill>
              </a:rPr>
              <a:t>-</a:t>
            </a:r>
            <a:r>
              <a:rPr lang="zh-CN" altLang="en-US" sz="1600" b="1" dirty="0">
                <a:solidFill>
                  <a:srgbClr val="660033"/>
                </a:solidFill>
              </a:rPr>
              <a:t>现代性的气氛结构的逻辑</a:t>
            </a:r>
            <a:endParaRPr lang="en-US" altLang="zh-CN" sz="1600" b="1" dirty="0">
              <a:solidFill>
                <a:srgbClr val="660033"/>
              </a:solidFill>
            </a:endParaRPr>
          </a:p>
          <a:p>
            <a:pPr fontAlgn="base">
              <a:spcBef>
                <a:spcPct val="0"/>
              </a:spcBef>
              <a:spcAft>
                <a:spcPct val="0"/>
              </a:spcAft>
              <a:buFontTx/>
              <a:buNone/>
            </a:pPr>
            <a:r>
              <a:rPr lang="en-US" altLang="zh-CN" sz="1600" b="1" dirty="0">
                <a:solidFill>
                  <a:srgbClr val="660033"/>
                </a:solidFill>
              </a:rPr>
              <a:t>                                           </a:t>
            </a:r>
            <a:r>
              <a:rPr lang="zh-CN" altLang="en-US" sz="1600" b="1" dirty="0">
                <a:solidFill>
                  <a:srgbClr val="660033"/>
                </a:solidFill>
              </a:rPr>
              <a:t>赝品的古物市场</a:t>
            </a:r>
            <a:endParaRPr lang="en-US" altLang="zh-CN" sz="1600" b="1" dirty="0">
              <a:solidFill>
                <a:srgbClr val="660033"/>
              </a:solidFill>
            </a:endParaRPr>
          </a:p>
          <a:p>
            <a:pPr fontAlgn="base">
              <a:spcBef>
                <a:spcPct val="0"/>
              </a:spcBef>
              <a:spcAft>
                <a:spcPct val="0"/>
              </a:spcAft>
              <a:buFontTx/>
              <a:buNone/>
            </a:pPr>
            <a:endParaRPr lang="zh-CN" altLang="zh-CN" sz="2666" b="1" dirty="0">
              <a:solidFill>
                <a:srgbClr val="000000"/>
              </a:solidFill>
            </a:endParaRPr>
          </a:p>
        </p:txBody>
      </p:sp>
      <p:sp>
        <p:nvSpPr>
          <p:cNvPr id="15364" name="Line 4"/>
          <p:cNvSpPr>
            <a:spLocks noChangeShapeType="1"/>
          </p:cNvSpPr>
          <p:nvPr/>
        </p:nvSpPr>
        <p:spPr bwMode="auto">
          <a:xfrm>
            <a:off x="1881" y="484567"/>
            <a:ext cx="294549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5365" name="Line 5"/>
          <p:cNvSpPr>
            <a:spLocks noChangeShapeType="1"/>
          </p:cNvSpPr>
          <p:nvPr/>
        </p:nvSpPr>
        <p:spPr bwMode="auto">
          <a:xfrm>
            <a:off x="9244628" y="484567"/>
            <a:ext cx="294549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5366" name="Freeform 6"/>
          <p:cNvSpPr>
            <a:spLocks noEditPoints="1" noChangeArrowheads="1"/>
          </p:cNvSpPr>
          <p:nvPr/>
        </p:nvSpPr>
        <p:spPr bwMode="auto">
          <a:xfrm>
            <a:off x="994292" y="2427070"/>
            <a:ext cx="2012328" cy="2012330"/>
          </a:xfrm>
          <a:custGeom>
            <a:avLst/>
            <a:gdLst>
              <a:gd name="T0" fmla="*/ 2147483646 w 489"/>
              <a:gd name="T1" fmla="*/ 2147483646 h 489"/>
              <a:gd name="T2" fmla="*/ 2147483646 w 489"/>
              <a:gd name="T3" fmla="*/ 2147483646 h 489"/>
              <a:gd name="T4" fmla="*/ 2147483646 w 489"/>
              <a:gd name="T5" fmla="*/ 2147483646 h 489"/>
              <a:gd name="T6" fmla="*/ 2147483646 w 489"/>
              <a:gd name="T7" fmla="*/ 2147483646 h 489"/>
              <a:gd name="T8" fmla="*/ 2147483646 w 489"/>
              <a:gd name="T9" fmla="*/ 2147483646 h 489"/>
              <a:gd name="T10" fmla="*/ 2147483646 w 489"/>
              <a:gd name="T11" fmla="*/ 2147483646 h 489"/>
              <a:gd name="T12" fmla="*/ 2147483646 w 489"/>
              <a:gd name="T13" fmla="*/ 2147483646 h 489"/>
              <a:gd name="T14" fmla="*/ 2147483646 w 489"/>
              <a:gd name="T15" fmla="*/ 2147483646 h 489"/>
              <a:gd name="T16" fmla="*/ 2147483646 w 489"/>
              <a:gd name="T17" fmla="*/ 2147483646 h 489"/>
              <a:gd name="T18" fmla="*/ 2147483646 w 489"/>
              <a:gd name="T19" fmla="*/ 2147483646 h 489"/>
              <a:gd name="T20" fmla="*/ 2147483646 w 489"/>
              <a:gd name="T21" fmla="*/ 0 h 489"/>
              <a:gd name="T22" fmla="*/ 2147483646 w 489"/>
              <a:gd name="T23" fmla="*/ 0 h 489"/>
              <a:gd name="T24" fmla="*/ 2147483646 w 489"/>
              <a:gd name="T25" fmla="*/ 0 h 489"/>
              <a:gd name="T26" fmla="*/ 2147483646 w 489"/>
              <a:gd name="T27" fmla="*/ 2147483646 h 489"/>
              <a:gd name="T28" fmla="*/ 2147483646 w 489"/>
              <a:gd name="T29" fmla="*/ 2147483646 h 489"/>
              <a:gd name="T30" fmla="*/ 2147483646 w 489"/>
              <a:gd name="T31" fmla="*/ 2147483646 h 489"/>
              <a:gd name="T32" fmla="*/ 2147483646 w 489"/>
              <a:gd name="T33" fmla="*/ 2147483646 h 489"/>
              <a:gd name="T34" fmla="*/ 2147483646 w 489"/>
              <a:gd name="T35" fmla="*/ 2147483646 h 489"/>
              <a:gd name="T36" fmla="*/ 2147483646 w 489"/>
              <a:gd name="T37" fmla="*/ 2147483646 h 489"/>
              <a:gd name="T38" fmla="*/ 2147483646 w 489"/>
              <a:gd name="T39" fmla="*/ 2147483646 h 489"/>
              <a:gd name="T40" fmla="*/ 2147483646 w 489"/>
              <a:gd name="T41" fmla="*/ 2147483646 h 489"/>
              <a:gd name="T42" fmla="*/ 2147483646 w 489"/>
              <a:gd name="T43" fmla="*/ 2147483646 h 489"/>
              <a:gd name="T44" fmla="*/ 2147483646 w 489"/>
              <a:gd name="T45" fmla="*/ 2147483646 h 489"/>
              <a:gd name="T46" fmla="*/ 0 w 489"/>
              <a:gd name="T47" fmla="*/ 2147483646 h 489"/>
              <a:gd name="T48" fmla="*/ 0 w 489"/>
              <a:gd name="T49" fmla="*/ 2147483646 h 489"/>
              <a:gd name="T50" fmla="*/ 0 w 489"/>
              <a:gd name="T51" fmla="*/ 2147483646 h 489"/>
              <a:gd name="T52" fmla="*/ 2147483646 w 489"/>
              <a:gd name="T53" fmla="*/ 2147483646 h 489"/>
              <a:gd name="T54" fmla="*/ 2147483646 w 489"/>
              <a:gd name="T55" fmla="*/ 2147483646 h 489"/>
              <a:gd name="T56" fmla="*/ 2147483646 w 489"/>
              <a:gd name="T57" fmla="*/ 2147483646 h 489"/>
              <a:gd name="T58" fmla="*/ 2147483646 w 489"/>
              <a:gd name="T59" fmla="*/ 2147483646 h 489"/>
              <a:gd name="T60" fmla="*/ 2147483646 w 489"/>
              <a:gd name="T61" fmla="*/ 2147483646 h 489"/>
              <a:gd name="T62" fmla="*/ 2147483646 w 489"/>
              <a:gd name="T63" fmla="*/ 2147483646 h 489"/>
              <a:gd name="T64" fmla="*/ 2147483646 w 489"/>
              <a:gd name="T65" fmla="*/ 2147483646 h 489"/>
              <a:gd name="T66" fmla="*/ 2147483646 w 489"/>
              <a:gd name="T67" fmla="*/ 2147483646 h 489"/>
              <a:gd name="T68" fmla="*/ 2147483646 w 489"/>
              <a:gd name="T69" fmla="*/ 2147483646 h 489"/>
              <a:gd name="T70" fmla="*/ 2147483646 w 489"/>
              <a:gd name="T71" fmla="*/ 2147483646 h 489"/>
              <a:gd name="T72" fmla="*/ 2147483646 w 489"/>
              <a:gd name="T73" fmla="*/ 2147483646 h 489"/>
              <a:gd name="T74" fmla="*/ 2147483646 w 489"/>
              <a:gd name="T75" fmla="*/ 2147483646 h 489"/>
              <a:gd name="T76" fmla="*/ 2147483646 w 489"/>
              <a:gd name="T77" fmla="*/ 2147483646 h 489"/>
              <a:gd name="T78" fmla="*/ 2147483646 w 489"/>
              <a:gd name="T79" fmla="*/ 2147483646 h 489"/>
              <a:gd name="T80" fmla="*/ 2147483646 w 489"/>
              <a:gd name="T81" fmla="*/ 2147483646 h 489"/>
              <a:gd name="T82" fmla="*/ 2147483646 w 489"/>
              <a:gd name="T83" fmla="*/ 2147483646 h 489"/>
              <a:gd name="T84" fmla="*/ 2147483646 w 489"/>
              <a:gd name="T85" fmla="*/ 2147483646 h 489"/>
              <a:gd name="T86" fmla="*/ 2147483646 w 489"/>
              <a:gd name="T87" fmla="*/ 2147483646 h 489"/>
              <a:gd name="T88" fmla="*/ 2147483646 w 489"/>
              <a:gd name="T89" fmla="*/ 2147483646 h 489"/>
              <a:gd name="T90" fmla="*/ 2147483646 w 489"/>
              <a:gd name="T91" fmla="*/ 2147483646 h 489"/>
              <a:gd name="T92" fmla="*/ 2147483646 w 489"/>
              <a:gd name="T93" fmla="*/ 2147483646 h 489"/>
              <a:gd name="T94" fmla="*/ 2147483646 w 489"/>
              <a:gd name="T95" fmla="*/ 2147483646 h 489"/>
              <a:gd name="T96" fmla="*/ 2147483646 w 489"/>
              <a:gd name="T97" fmla="*/ 2147483646 h 489"/>
              <a:gd name="T98" fmla="*/ 2147483646 w 489"/>
              <a:gd name="T99" fmla="*/ 2147483646 h 489"/>
              <a:gd name="T100" fmla="*/ 2147483646 w 489"/>
              <a:gd name="T101" fmla="*/ 2147483646 h 489"/>
              <a:gd name="T102" fmla="*/ 2147483646 w 489"/>
              <a:gd name="T103" fmla="*/ 2147483646 h 489"/>
              <a:gd name="T104" fmla="*/ 2147483646 w 489"/>
              <a:gd name="T105" fmla="*/ 2147483646 h 489"/>
              <a:gd name="T106" fmla="*/ 2147483646 w 489"/>
              <a:gd name="T107" fmla="*/ 2147483646 h 489"/>
              <a:gd name="T108" fmla="*/ 2147483646 w 489"/>
              <a:gd name="T109" fmla="*/ 2147483646 h 489"/>
              <a:gd name="T110" fmla="*/ 2147483646 w 489"/>
              <a:gd name="T111" fmla="*/ 2147483646 h 489"/>
              <a:gd name="T112" fmla="*/ 2147483646 w 489"/>
              <a:gd name="T113" fmla="*/ 2147483646 h 489"/>
              <a:gd name="T114" fmla="*/ 2147483646 w 489"/>
              <a:gd name="T115" fmla="*/ 2147483646 h 48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489" h="489">
                <a:moveTo>
                  <a:pt x="448" y="202"/>
                </a:moveTo>
                <a:cubicBezTo>
                  <a:pt x="446" y="194"/>
                  <a:pt x="444" y="187"/>
                  <a:pt x="442" y="180"/>
                </a:cubicBezTo>
                <a:cubicBezTo>
                  <a:pt x="471" y="147"/>
                  <a:pt x="471" y="147"/>
                  <a:pt x="471" y="147"/>
                </a:cubicBezTo>
                <a:cubicBezTo>
                  <a:pt x="442" y="97"/>
                  <a:pt x="442" y="97"/>
                  <a:pt x="442" y="97"/>
                </a:cubicBezTo>
                <a:cubicBezTo>
                  <a:pt x="399" y="106"/>
                  <a:pt x="399" y="106"/>
                  <a:pt x="399" y="106"/>
                </a:cubicBezTo>
                <a:cubicBezTo>
                  <a:pt x="394" y="100"/>
                  <a:pt x="389" y="95"/>
                  <a:pt x="383" y="90"/>
                </a:cubicBezTo>
                <a:cubicBezTo>
                  <a:pt x="392" y="47"/>
                  <a:pt x="392" y="47"/>
                  <a:pt x="392" y="47"/>
                </a:cubicBezTo>
                <a:cubicBezTo>
                  <a:pt x="341" y="18"/>
                  <a:pt x="341" y="18"/>
                  <a:pt x="341" y="18"/>
                </a:cubicBezTo>
                <a:cubicBezTo>
                  <a:pt x="309" y="47"/>
                  <a:pt x="309" y="47"/>
                  <a:pt x="309" y="47"/>
                </a:cubicBezTo>
                <a:cubicBezTo>
                  <a:pt x="302" y="45"/>
                  <a:pt x="295" y="43"/>
                  <a:pt x="287" y="41"/>
                </a:cubicBezTo>
                <a:cubicBezTo>
                  <a:pt x="273" y="0"/>
                  <a:pt x="273" y="0"/>
                  <a:pt x="273" y="0"/>
                </a:cubicBezTo>
                <a:cubicBezTo>
                  <a:pt x="244" y="0"/>
                  <a:pt x="244" y="0"/>
                  <a:pt x="244" y="0"/>
                </a:cubicBezTo>
                <a:cubicBezTo>
                  <a:pt x="215" y="0"/>
                  <a:pt x="215" y="0"/>
                  <a:pt x="215" y="0"/>
                </a:cubicBezTo>
                <a:cubicBezTo>
                  <a:pt x="202" y="41"/>
                  <a:pt x="202" y="41"/>
                  <a:pt x="202" y="41"/>
                </a:cubicBezTo>
                <a:cubicBezTo>
                  <a:pt x="194" y="43"/>
                  <a:pt x="187" y="45"/>
                  <a:pt x="180" y="47"/>
                </a:cubicBezTo>
                <a:cubicBezTo>
                  <a:pt x="147" y="18"/>
                  <a:pt x="147" y="18"/>
                  <a:pt x="147" y="18"/>
                </a:cubicBezTo>
                <a:cubicBezTo>
                  <a:pt x="97" y="47"/>
                  <a:pt x="97" y="47"/>
                  <a:pt x="97" y="47"/>
                </a:cubicBezTo>
                <a:cubicBezTo>
                  <a:pt x="106" y="90"/>
                  <a:pt x="106" y="90"/>
                  <a:pt x="106" y="90"/>
                </a:cubicBezTo>
                <a:cubicBezTo>
                  <a:pt x="100" y="95"/>
                  <a:pt x="95" y="100"/>
                  <a:pt x="90" y="106"/>
                </a:cubicBezTo>
                <a:cubicBezTo>
                  <a:pt x="47" y="97"/>
                  <a:pt x="47" y="97"/>
                  <a:pt x="47" y="97"/>
                </a:cubicBezTo>
                <a:cubicBezTo>
                  <a:pt x="18" y="147"/>
                  <a:pt x="18" y="147"/>
                  <a:pt x="18" y="147"/>
                </a:cubicBezTo>
                <a:cubicBezTo>
                  <a:pt x="47" y="180"/>
                  <a:pt x="47" y="180"/>
                  <a:pt x="47" y="180"/>
                </a:cubicBezTo>
                <a:cubicBezTo>
                  <a:pt x="44" y="187"/>
                  <a:pt x="42" y="194"/>
                  <a:pt x="41" y="202"/>
                </a:cubicBezTo>
                <a:cubicBezTo>
                  <a:pt x="0" y="215"/>
                  <a:pt x="0" y="215"/>
                  <a:pt x="0" y="215"/>
                </a:cubicBezTo>
                <a:cubicBezTo>
                  <a:pt x="0" y="244"/>
                  <a:pt x="0" y="244"/>
                  <a:pt x="0" y="244"/>
                </a:cubicBezTo>
                <a:cubicBezTo>
                  <a:pt x="0" y="274"/>
                  <a:pt x="0" y="274"/>
                  <a:pt x="0" y="274"/>
                </a:cubicBezTo>
                <a:cubicBezTo>
                  <a:pt x="41" y="287"/>
                  <a:pt x="41" y="287"/>
                  <a:pt x="41" y="287"/>
                </a:cubicBezTo>
                <a:cubicBezTo>
                  <a:pt x="42" y="295"/>
                  <a:pt x="44" y="302"/>
                  <a:pt x="47" y="309"/>
                </a:cubicBezTo>
                <a:cubicBezTo>
                  <a:pt x="18" y="342"/>
                  <a:pt x="18" y="342"/>
                  <a:pt x="18" y="342"/>
                </a:cubicBezTo>
                <a:cubicBezTo>
                  <a:pt x="47" y="392"/>
                  <a:pt x="47" y="392"/>
                  <a:pt x="47" y="392"/>
                </a:cubicBezTo>
                <a:cubicBezTo>
                  <a:pt x="90" y="383"/>
                  <a:pt x="90" y="383"/>
                  <a:pt x="90" y="383"/>
                </a:cubicBezTo>
                <a:cubicBezTo>
                  <a:pt x="95" y="389"/>
                  <a:pt x="100" y="394"/>
                  <a:pt x="106" y="399"/>
                </a:cubicBezTo>
                <a:cubicBezTo>
                  <a:pt x="97" y="442"/>
                  <a:pt x="97" y="442"/>
                  <a:pt x="97" y="442"/>
                </a:cubicBezTo>
                <a:cubicBezTo>
                  <a:pt x="147" y="471"/>
                  <a:pt x="147" y="471"/>
                  <a:pt x="147" y="471"/>
                </a:cubicBezTo>
                <a:cubicBezTo>
                  <a:pt x="180" y="442"/>
                  <a:pt x="180" y="442"/>
                  <a:pt x="180" y="442"/>
                </a:cubicBezTo>
                <a:cubicBezTo>
                  <a:pt x="187" y="444"/>
                  <a:pt x="194" y="446"/>
                  <a:pt x="202" y="448"/>
                </a:cubicBezTo>
                <a:cubicBezTo>
                  <a:pt x="215" y="489"/>
                  <a:pt x="215" y="489"/>
                  <a:pt x="215" y="489"/>
                </a:cubicBezTo>
                <a:cubicBezTo>
                  <a:pt x="244" y="489"/>
                  <a:pt x="244" y="489"/>
                  <a:pt x="244" y="489"/>
                </a:cubicBezTo>
                <a:cubicBezTo>
                  <a:pt x="273" y="489"/>
                  <a:pt x="273" y="489"/>
                  <a:pt x="273" y="489"/>
                </a:cubicBezTo>
                <a:cubicBezTo>
                  <a:pt x="287" y="448"/>
                  <a:pt x="287" y="448"/>
                  <a:pt x="287" y="448"/>
                </a:cubicBezTo>
                <a:cubicBezTo>
                  <a:pt x="295" y="446"/>
                  <a:pt x="302" y="444"/>
                  <a:pt x="309" y="442"/>
                </a:cubicBezTo>
                <a:cubicBezTo>
                  <a:pt x="341" y="471"/>
                  <a:pt x="341" y="471"/>
                  <a:pt x="341" y="471"/>
                </a:cubicBezTo>
                <a:cubicBezTo>
                  <a:pt x="392" y="442"/>
                  <a:pt x="392" y="442"/>
                  <a:pt x="392" y="442"/>
                </a:cubicBezTo>
                <a:cubicBezTo>
                  <a:pt x="383" y="399"/>
                  <a:pt x="383" y="399"/>
                  <a:pt x="383" y="399"/>
                </a:cubicBezTo>
                <a:cubicBezTo>
                  <a:pt x="389" y="394"/>
                  <a:pt x="394" y="389"/>
                  <a:pt x="399" y="383"/>
                </a:cubicBezTo>
                <a:cubicBezTo>
                  <a:pt x="442" y="392"/>
                  <a:pt x="442" y="392"/>
                  <a:pt x="442" y="392"/>
                </a:cubicBezTo>
                <a:cubicBezTo>
                  <a:pt x="471" y="342"/>
                  <a:pt x="471" y="342"/>
                  <a:pt x="471" y="342"/>
                </a:cubicBezTo>
                <a:cubicBezTo>
                  <a:pt x="442" y="309"/>
                  <a:pt x="442" y="309"/>
                  <a:pt x="442" y="309"/>
                </a:cubicBezTo>
                <a:cubicBezTo>
                  <a:pt x="444" y="302"/>
                  <a:pt x="446" y="295"/>
                  <a:pt x="448" y="287"/>
                </a:cubicBezTo>
                <a:cubicBezTo>
                  <a:pt x="489" y="274"/>
                  <a:pt x="489" y="274"/>
                  <a:pt x="489" y="274"/>
                </a:cubicBezTo>
                <a:cubicBezTo>
                  <a:pt x="489" y="244"/>
                  <a:pt x="489" y="244"/>
                  <a:pt x="489" y="244"/>
                </a:cubicBezTo>
                <a:cubicBezTo>
                  <a:pt x="489" y="215"/>
                  <a:pt x="489" y="215"/>
                  <a:pt x="489" y="215"/>
                </a:cubicBezTo>
                <a:lnTo>
                  <a:pt x="448" y="202"/>
                </a:lnTo>
                <a:close/>
                <a:moveTo>
                  <a:pt x="244" y="412"/>
                </a:moveTo>
                <a:cubicBezTo>
                  <a:pt x="152" y="412"/>
                  <a:pt x="77" y="337"/>
                  <a:pt x="77" y="244"/>
                </a:cubicBezTo>
                <a:cubicBezTo>
                  <a:pt x="77" y="152"/>
                  <a:pt x="152" y="77"/>
                  <a:pt x="244" y="77"/>
                </a:cubicBezTo>
                <a:cubicBezTo>
                  <a:pt x="337" y="77"/>
                  <a:pt x="412" y="152"/>
                  <a:pt x="412" y="244"/>
                </a:cubicBezTo>
                <a:cubicBezTo>
                  <a:pt x="412" y="337"/>
                  <a:pt x="337" y="412"/>
                  <a:pt x="244" y="412"/>
                </a:cubicBezTo>
                <a:close/>
              </a:path>
            </a:pathLst>
          </a:cu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5367" name="Freeform 7"/>
          <p:cNvSpPr>
            <a:spLocks noEditPoints="1" noChangeArrowheads="1"/>
          </p:cNvSpPr>
          <p:nvPr/>
        </p:nvSpPr>
        <p:spPr bwMode="auto">
          <a:xfrm>
            <a:off x="2744234" y="3394089"/>
            <a:ext cx="2185843" cy="2185841"/>
          </a:xfrm>
          <a:custGeom>
            <a:avLst/>
            <a:gdLst>
              <a:gd name="T0" fmla="*/ 2147483646 w 531"/>
              <a:gd name="T1" fmla="*/ 2147483646 h 531"/>
              <a:gd name="T2" fmla="*/ 2147483646 w 531"/>
              <a:gd name="T3" fmla="*/ 2147483646 h 531"/>
              <a:gd name="T4" fmla="*/ 2147483646 w 531"/>
              <a:gd name="T5" fmla="*/ 2147483646 h 531"/>
              <a:gd name="T6" fmla="*/ 2147483646 w 531"/>
              <a:gd name="T7" fmla="*/ 2147483646 h 531"/>
              <a:gd name="T8" fmla="*/ 2147483646 w 531"/>
              <a:gd name="T9" fmla="*/ 2147483646 h 531"/>
              <a:gd name="T10" fmla="*/ 2147483646 w 531"/>
              <a:gd name="T11" fmla="*/ 2147483646 h 531"/>
              <a:gd name="T12" fmla="*/ 2147483646 w 531"/>
              <a:gd name="T13" fmla="*/ 2147483646 h 531"/>
              <a:gd name="T14" fmla="*/ 2147483646 w 531"/>
              <a:gd name="T15" fmla="*/ 2147483646 h 531"/>
              <a:gd name="T16" fmla="*/ 2147483646 w 531"/>
              <a:gd name="T17" fmla="*/ 2147483646 h 531"/>
              <a:gd name="T18" fmla="*/ 2147483646 w 531"/>
              <a:gd name="T19" fmla="*/ 2147483646 h 531"/>
              <a:gd name="T20" fmla="*/ 2147483646 w 531"/>
              <a:gd name="T21" fmla="*/ 2147483646 h 531"/>
              <a:gd name="T22" fmla="*/ 2147483646 w 531"/>
              <a:gd name="T23" fmla="*/ 2147483646 h 531"/>
              <a:gd name="T24" fmla="*/ 2147483646 w 531"/>
              <a:gd name="T25" fmla="*/ 0 h 531"/>
              <a:gd name="T26" fmla="*/ 2147483646 w 531"/>
              <a:gd name="T27" fmla="*/ 2147483646 h 531"/>
              <a:gd name="T28" fmla="*/ 2147483646 w 531"/>
              <a:gd name="T29" fmla="*/ 2147483646 h 531"/>
              <a:gd name="T30" fmla="*/ 2147483646 w 531"/>
              <a:gd name="T31" fmla="*/ 2147483646 h 531"/>
              <a:gd name="T32" fmla="*/ 2147483646 w 531"/>
              <a:gd name="T33" fmla="*/ 2147483646 h 531"/>
              <a:gd name="T34" fmla="*/ 2147483646 w 531"/>
              <a:gd name="T35" fmla="*/ 2147483646 h 531"/>
              <a:gd name="T36" fmla="*/ 2147483646 w 531"/>
              <a:gd name="T37" fmla="*/ 2147483646 h 531"/>
              <a:gd name="T38" fmla="*/ 2147483646 w 531"/>
              <a:gd name="T39" fmla="*/ 2147483646 h 531"/>
              <a:gd name="T40" fmla="*/ 2147483646 w 531"/>
              <a:gd name="T41" fmla="*/ 2147483646 h 531"/>
              <a:gd name="T42" fmla="*/ 2147483646 w 531"/>
              <a:gd name="T43" fmla="*/ 2147483646 h 531"/>
              <a:gd name="T44" fmla="*/ 2147483646 w 531"/>
              <a:gd name="T45" fmla="*/ 2147483646 h 531"/>
              <a:gd name="T46" fmla="*/ 2147483646 w 531"/>
              <a:gd name="T47" fmla="*/ 2147483646 h 531"/>
              <a:gd name="T48" fmla="*/ 2147483646 w 531"/>
              <a:gd name="T49" fmla="*/ 2147483646 h 531"/>
              <a:gd name="T50" fmla="*/ 0 w 531"/>
              <a:gd name="T51" fmla="*/ 2147483646 h 531"/>
              <a:gd name="T52" fmla="*/ 2147483646 w 531"/>
              <a:gd name="T53" fmla="*/ 2147483646 h 531"/>
              <a:gd name="T54" fmla="*/ 2147483646 w 531"/>
              <a:gd name="T55" fmla="*/ 2147483646 h 531"/>
              <a:gd name="T56" fmla="*/ 2147483646 w 531"/>
              <a:gd name="T57" fmla="*/ 2147483646 h 531"/>
              <a:gd name="T58" fmla="*/ 2147483646 w 531"/>
              <a:gd name="T59" fmla="*/ 2147483646 h 531"/>
              <a:gd name="T60" fmla="*/ 2147483646 w 531"/>
              <a:gd name="T61" fmla="*/ 2147483646 h 531"/>
              <a:gd name="T62" fmla="*/ 2147483646 w 531"/>
              <a:gd name="T63" fmla="*/ 2147483646 h 531"/>
              <a:gd name="T64" fmla="*/ 2147483646 w 531"/>
              <a:gd name="T65" fmla="*/ 2147483646 h 531"/>
              <a:gd name="T66" fmla="*/ 2147483646 w 531"/>
              <a:gd name="T67" fmla="*/ 2147483646 h 531"/>
              <a:gd name="T68" fmla="*/ 2147483646 w 531"/>
              <a:gd name="T69" fmla="*/ 2147483646 h 531"/>
              <a:gd name="T70" fmla="*/ 2147483646 w 531"/>
              <a:gd name="T71" fmla="*/ 2147483646 h 531"/>
              <a:gd name="T72" fmla="*/ 2147483646 w 531"/>
              <a:gd name="T73" fmla="*/ 2147483646 h 531"/>
              <a:gd name="T74" fmla="*/ 2147483646 w 531"/>
              <a:gd name="T75" fmla="*/ 2147483646 h 531"/>
              <a:gd name="T76" fmla="*/ 2147483646 w 531"/>
              <a:gd name="T77" fmla="*/ 2147483646 h 531"/>
              <a:gd name="T78" fmla="*/ 2147483646 w 531"/>
              <a:gd name="T79" fmla="*/ 2147483646 h 531"/>
              <a:gd name="T80" fmla="*/ 2147483646 w 531"/>
              <a:gd name="T81" fmla="*/ 2147483646 h 531"/>
              <a:gd name="T82" fmla="*/ 2147483646 w 531"/>
              <a:gd name="T83" fmla="*/ 2147483646 h 531"/>
              <a:gd name="T84" fmla="*/ 2147483646 w 531"/>
              <a:gd name="T85" fmla="*/ 2147483646 h 531"/>
              <a:gd name="T86" fmla="*/ 2147483646 w 531"/>
              <a:gd name="T87" fmla="*/ 2147483646 h 531"/>
              <a:gd name="T88" fmla="*/ 2147483646 w 531"/>
              <a:gd name="T89" fmla="*/ 2147483646 h 531"/>
              <a:gd name="T90" fmla="*/ 2147483646 w 531"/>
              <a:gd name="T91" fmla="*/ 2147483646 h 531"/>
              <a:gd name="T92" fmla="*/ 2147483646 w 531"/>
              <a:gd name="T93" fmla="*/ 2147483646 h 531"/>
              <a:gd name="T94" fmla="*/ 2147483646 w 531"/>
              <a:gd name="T95" fmla="*/ 2147483646 h 531"/>
              <a:gd name="T96" fmla="*/ 2147483646 w 531"/>
              <a:gd name="T97" fmla="*/ 2147483646 h 531"/>
              <a:gd name="T98" fmla="*/ 2147483646 w 531"/>
              <a:gd name="T99" fmla="*/ 2147483646 h 531"/>
              <a:gd name="T100" fmla="*/ 2147483646 w 531"/>
              <a:gd name="T101" fmla="*/ 2147483646 h 531"/>
              <a:gd name="T102" fmla="*/ 2147483646 w 531"/>
              <a:gd name="T103" fmla="*/ 2147483646 h 531"/>
              <a:gd name="T104" fmla="*/ 2147483646 w 531"/>
              <a:gd name="T105" fmla="*/ 2147483646 h 531"/>
              <a:gd name="T106" fmla="*/ 2147483646 w 531"/>
              <a:gd name="T107" fmla="*/ 2147483646 h 531"/>
              <a:gd name="T108" fmla="*/ 2147483646 w 531"/>
              <a:gd name="T109" fmla="*/ 2147483646 h 531"/>
              <a:gd name="T110" fmla="*/ 2147483646 w 531"/>
              <a:gd name="T111" fmla="*/ 2147483646 h 531"/>
              <a:gd name="T112" fmla="*/ 2147483646 w 531"/>
              <a:gd name="T113" fmla="*/ 2147483646 h 531"/>
              <a:gd name="T114" fmla="*/ 2147483646 w 531"/>
              <a:gd name="T115" fmla="*/ 2147483646 h 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31" h="531">
                <a:moveTo>
                  <a:pt x="492" y="276"/>
                </a:moveTo>
                <a:cubicBezTo>
                  <a:pt x="492" y="268"/>
                  <a:pt x="492" y="260"/>
                  <a:pt x="491" y="251"/>
                </a:cubicBezTo>
                <a:cubicBezTo>
                  <a:pt x="530" y="225"/>
                  <a:pt x="530" y="225"/>
                  <a:pt x="530" y="225"/>
                </a:cubicBezTo>
                <a:cubicBezTo>
                  <a:pt x="513" y="164"/>
                  <a:pt x="513" y="164"/>
                  <a:pt x="513" y="164"/>
                </a:cubicBezTo>
                <a:cubicBezTo>
                  <a:pt x="466" y="162"/>
                  <a:pt x="466" y="162"/>
                  <a:pt x="466" y="162"/>
                </a:cubicBezTo>
                <a:cubicBezTo>
                  <a:pt x="463" y="155"/>
                  <a:pt x="458" y="147"/>
                  <a:pt x="454" y="141"/>
                </a:cubicBezTo>
                <a:cubicBezTo>
                  <a:pt x="475" y="98"/>
                  <a:pt x="475" y="98"/>
                  <a:pt x="475" y="98"/>
                </a:cubicBezTo>
                <a:cubicBezTo>
                  <a:pt x="429" y="54"/>
                  <a:pt x="429" y="54"/>
                  <a:pt x="429" y="54"/>
                </a:cubicBezTo>
                <a:cubicBezTo>
                  <a:pt x="387" y="75"/>
                  <a:pt x="387" y="75"/>
                  <a:pt x="387" y="75"/>
                </a:cubicBezTo>
                <a:cubicBezTo>
                  <a:pt x="381" y="71"/>
                  <a:pt x="373" y="67"/>
                  <a:pt x="366" y="63"/>
                </a:cubicBezTo>
                <a:cubicBezTo>
                  <a:pt x="363" y="16"/>
                  <a:pt x="363" y="16"/>
                  <a:pt x="363" y="16"/>
                </a:cubicBezTo>
                <a:cubicBezTo>
                  <a:pt x="332" y="8"/>
                  <a:pt x="332" y="8"/>
                  <a:pt x="332" y="8"/>
                </a:cubicBezTo>
                <a:cubicBezTo>
                  <a:pt x="301" y="0"/>
                  <a:pt x="301" y="0"/>
                  <a:pt x="301" y="0"/>
                </a:cubicBezTo>
                <a:cubicBezTo>
                  <a:pt x="276" y="40"/>
                  <a:pt x="276" y="40"/>
                  <a:pt x="276" y="40"/>
                </a:cubicBezTo>
                <a:cubicBezTo>
                  <a:pt x="268" y="40"/>
                  <a:pt x="259" y="40"/>
                  <a:pt x="251" y="40"/>
                </a:cubicBezTo>
                <a:cubicBezTo>
                  <a:pt x="225" y="1"/>
                  <a:pt x="225" y="1"/>
                  <a:pt x="225" y="1"/>
                </a:cubicBezTo>
                <a:cubicBezTo>
                  <a:pt x="164" y="18"/>
                  <a:pt x="164" y="18"/>
                  <a:pt x="164" y="18"/>
                </a:cubicBezTo>
                <a:cubicBezTo>
                  <a:pt x="162" y="65"/>
                  <a:pt x="162" y="65"/>
                  <a:pt x="162" y="65"/>
                </a:cubicBezTo>
                <a:cubicBezTo>
                  <a:pt x="154" y="69"/>
                  <a:pt x="147" y="73"/>
                  <a:pt x="141" y="78"/>
                </a:cubicBezTo>
                <a:cubicBezTo>
                  <a:pt x="98" y="57"/>
                  <a:pt x="98" y="57"/>
                  <a:pt x="98" y="57"/>
                </a:cubicBezTo>
                <a:cubicBezTo>
                  <a:pt x="54" y="102"/>
                  <a:pt x="54" y="102"/>
                  <a:pt x="54" y="102"/>
                </a:cubicBezTo>
                <a:cubicBezTo>
                  <a:pt x="75" y="144"/>
                  <a:pt x="75" y="144"/>
                  <a:pt x="75" y="144"/>
                </a:cubicBezTo>
                <a:cubicBezTo>
                  <a:pt x="71" y="151"/>
                  <a:pt x="67" y="158"/>
                  <a:pt x="63" y="166"/>
                </a:cubicBezTo>
                <a:cubicBezTo>
                  <a:pt x="16" y="169"/>
                  <a:pt x="16" y="169"/>
                  <a:pt x="16" y="169"/>
                </a:cubicBezTo>
                <a:cubicBezTo>
                  <a:pt x="8" y="199"/>
                  <a:pt x="8" y="199"/>
                  <a:pt x="8" y="199"/>
                </a:cubicBezTo>
                <a:cubicBezTo>
                  <a:pt x="0" y="230"/>
                  <a:pt x="0" y="230"/>
                  <a:pt x="0" y="230"/>
                </a:cubicBezTo>
                <a:cubicBezTo>
                  <a:pt x="40" y="256"/>
                  <a:pt x="40" y="256"/>
                  <a:pt x="40" y="256"/>
                </a:cubicBezTo>
                <a:cubicBezTo>
                  <a:pt x="40" y="264"/>
                  <a:pt x="40" y="272"/>
                  <a:pt x="40" y="280"/>
                </a:cubicBezTo>
                <a:cubicBezTo>
                  <a:pt x="1" y="307"/>
                  <a:pt x="1" y="307"/>
                  <a:pt x="1" y="307"/>
                </a:cubicBezTo>
                <a:cubicBezTo>
                  <a:pt x="18" y="368"/>
                  <a:pt x="18" y="368"/>
                  <a:pt x="18" y="368"/>
                </a:cubicBezTo>
                <a:cubicBezTo>
                  <a:pt x="65" y="370"/>
                  <a:pt x="65" y="370"/>
                  <a:pt x="65" y="370"/>
                </a:cubicBezTo>
                <a:cubicBezTo>
                  <a:pt x="69" y="377"/>
                  <a:pt x="73" y="384"/>
                  <a:pt x="78" y="391"/>
                </a:cubicBezTo>
                <a:cubicBezTo>
                  <a:pt x="57" y="433"/>
                  <a:pt x="57" y="433"/>
                  <a:pt x="57" y="433"/>
                </a:cubicBezTo>
                <a:cubicBezTo>
                  <a:pt x="102" y="478"/>
                  <a:pt x="102" y="478"/>
                  <a:pt x="102" y="478"/>
                </a:cubicBezTo>
                <a:cubicBezTo>
                  <a:pt x="144" y="456"/>
                  <a:pt x="144" y="456"/>
                  <a:pt x="144" y="456"/>
                </a:cubicBezTo>
                <a:cubicBezTo>
                  <a:pt x="151" y="461"/>
                  <a:pt x="158" y="465"/>
                  <a:pt x="165" y="468"/>
                </a:cubicBezTo>
                <a:cubicBezTo>
                  <a:pt x="169" y="515"/>
                  <a:pt x="169" y="515"/>
                  <a:pt x="169" y="515"/>
                </a:cubicBezTo>
                <a:cubicBezTo>
                  <a:pt x="199" y="523"/>
                  <a:pt x="199" y="523"/>
                  <a:pt x="199" y="523"/>
                </a:cubicBezTo>
                <a:cubicBezTo>
                  <a:pt x="230" y="531"/>
                  <a:pt x="230" y="531"/>
                  <a:pt x="230" y="531"/>
                </a:cubicBezTo>
                <a:cubicBezTo>
                  <a:pt x="256" y="492"/>
                  <a:pt x="256" y="492"/>
                  <a:pt x="256" y="492"/>
                </a:cubicBezTo>
                <a:cubicBezTo>
                  <a:pt x="264" y="492"/>
                  <a:pt x="272" y="492"/>
                  <a:pt x="280" y="491"/>
                </a:cubicBezTo>
                <a:cubicBezTo>
                  <a:pt x="306" y="531"/>
                  <a:pt x="306" y="531"/>
                  <a:pt x="306" y="531"/>
                </a:cubicBezTo>
                <a:cubicBezTo>
                  <a:pt x="367" y="514"/>
                  <a:pt x="367" y="514"/>
                  <a:pt x="367" y="514"/>
                </a:cubicBezTo>
                <a:cubicBezTo>
                  <a:pt x="370" y="466"/>
                  <a:pt x="370" y="466"/>
                  <a:pt x="370" y="466"/>
                </a:cubicBezTo>
                <a:cubicBezTo>
                  <a:pt x="377" y="463"/>
                  <a:pt x="384" y="459"/>
                  <a:pt x="391" y="454"/>
                </a:cubicBezTo>
                <a:cubicBezTo>
                  <a:pt x="433" y="475"/>
                  <a:pt x="433" y="475"/>
                  <a:pt x="433" y="475"/>
                </a:cubicBezTo>
                <a:cubicBezTo>
                  <a:pt x="478" y="430"/>
                  <a:pt x="478" y="430"/>
                  <a:pt x="478" y="430"/>
                </a:cubicBezTo>
                <a:cubicBezTo>
                  <a:pt x="456" y="388"/>
                  <a:pt x="456" y="388"/>
                  <a:pt x="456" y="388"/>
                </a:cubicBezTo>
                <a:cubicBezTo>
                  <a:pt x="461" y="381"/>
                  <a:pt x="465" y="374"/>
                  <a:pt x="468" y="366"/>
                </a:cubicBezTo>
                <a:cubicBezTo>
                  <a:pt x="515" y="363"/>
                  <a:pt x="515" y="363"/>
                  <a:pt x="515" y="363"/>
                </a:cubicBezTo>
                <a:cubicBezTo>
                  <a:pt x="523" y="332"/>
                  <a:pt x="523" y="332"/>
                  <a:pt x="523" y="332"/>
                </a:cubicBezTo>
                <a:cubicBezTo>
                  <a:pt x="531" y="302"/>
                  <a:pt x="531" y="302"/>
                  <a:pt x="531" y="302"/>
                </a:cubicBezTo>
                <a:lnTo>
                  <a:pt x="492" y="276"/>
                </a:lnTo>
                <a:close/>
                <a:moveTo>
                  <a:pt x="220" y="442"/>
                </a:moveTo>
                <a:cubicBezTo>
                  <a:pt x="123" y="417"/>
                  <a:pt x="64" y="318"/>
                  <a:pt x="89" y="220"/>
                </a:cubicBezTo>
                <a:cubicBezTo>
                  <a:pt x="115" y="123"/>
                  <a:pt x="214" y="65"/>
                  <a:pt x="311" y="90"/>
                </a:cubicBezTo>
                <a:cubicBezTo>
                  <a:pt x="408" y="115"/>
                  <a:pt x="467" y="214"/>
                  <a:pt x="442" y="311"/>
                </a:cubicBezTo>
                <a:cubicBezTo>
                  <a:pt x="417" y="409"/>
                  <a:pt x="318" y="467"/>
                  <a:pt x="220" y="442"/>
                </a:cubicBezTo>
                <a:close/>
              </a:path>
            </a:pathLst>
          </a:cu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5368" name="Freeform 8"/>
          <p:cNvSpPr>
            <a:spLocks noEditPoints="1" noChangeArrowheads="1"/>
          </p:cNvSpPr>
          <p:nvPr/>
        </p:nvSpPr>
        <p:spPr bwMode="auto">
          <a:xfrm>
            <a:off x="2805600" y="1796498"/>
            <a:ext cx="1388105" cy="1392337"/>
          </a:xfrm>
          <a:custGeom>
            <a:avLst/>
            <a:gdLst>
              <a:gd name="T0" fmla="*/ 2147483646 w 337"/>
              <a:gd name="T1" fmla="*/ 2147483646 h 338"/>
              <a:gd name="T2" fmla="*/ 2147483646 w 337"/>
              <a:gd name="T3" fmla="*/ 2147483646 h 338"/>
              <a:gd name="T4" fmla="*/ 2147483646 w 337"/>
              <a:gd name="T5" fmla="*/ 2147483646 h 338"/>
              <a:gd name="T6" fmla="*/ 2147483646 w 337"/>
              <a:gd name="T7" fmla="*/ 2147483646 h 338"/>
              <a:gd name="T8" fmla="*/ 2147483646 w 337"/>
              <a:gd name="T9" fmla="*/ 2147483646 h 338"/>
              <a:gd name="T10" fmla="*/ 2147483646 w 337"/>
              <a:gd name="T11" fmla="*/ 2147483646 h 338"/>
              <a:gd name="T12" fmla="*/ 2147483646 w 337"/>
              <a:gd name="T13" fmla="*/ 2147483646 h 338"/>
              <a:gd name="T14" fmla="*/ 2147483646 w 337"/>
              <a:gd name="T15" fmla="*/ 2147483646 h 338"/>
              <a:gd name="T16" fmla="*/ 2147483646 w 337"/>
              <a:gd name="T17" fmla="*/ 2147483646 h 338"/>
              <a:gd name="T18" fmla="*/ 2147483646 w 337"/>
              <a:gd name="T19" fmla="*/ 2147483646 h 338"/>
              <a:gd name="T20" fmla="*/ 2147483646 w 337"/>
              <a:gd name="T21" fmla="*/ 2147483646 h 338"/>
              <a:gd name="T22" fmla="*/ 2147483646 w 337"/>
              <a:gd name="T23" fmla="*/ 2147483646 h 338"/>
              <a:gd name="T24" fmla="*/ 2147483646 w 337"/>
              <a:gd name="T25" fmla="*/ 0 h 338"/>
              <a:gd name="T26" fmla="*/ 2147483646 w 337"/>
              <a:gd name="T27" fmla="*/ 2147483646 h 338"/>
              <a:gd name="T28" fmla="*/ 2147483646 w 337"/>
              <a:gd name="T29" fmla="*/ 2147483646 h 338"/>
              <a:gd name="T30" fmla="*/ 2147483646 w 337"/>
              <a:gd name="T31" fmla="*/ 2147483646 h 338"/>
              <a:gd name="T32" fmla="*/ 2147483646 w 337"/>
              <a:gd name="T33" fmla="*/ 2147483646 h 338"/>
              <a:gd name="T34" fmla="*/ 2147483646 w 337"/>
              <a:gd name="T35" fmla="*/ 2147483646 h 338"/>
              <a:gd name="T36" fmla="*/ 2147483646 w 337"/>
              <a:gd name="T37" fmla="*/ 2147483646 h 338"/>
              <a:gd name="T38" fmla="*/ 2147483646 w 337"/>
              <a:gd name="T39" fmla="*/ 2147483646 h 338"/>
              <a:gd name="T40" fmla="*/ 2147483646 w 337"/>
              <a:gd name="T41" fmla="*/ 2147483646 h 338"/>
              <a:gd name="T42" fmla="*/ 2147483646 w 337"/>
              <a:gd name="T43" fmla="*/ 2147483646 h 338"/>
              <a:gd name="T44" fmla="*/ 2147483646 w 337"/>
              <a:gd name="T45" fmla="*/ 2147483646 h 338"/>
              <a:gd name="T46" fmla="*/ 2147483646 w 337"/>
              <a:gd name="T47" fmla="*/ 2147483646 h 338"/>
              <a:gd name="T48" fmla="*/ 2147483646 w 337"/>
              <a:gd name="T49" fmla="*/ 2147483646 h 338"/>
              <a:gd name="T50" fmla="*/ 0 w 337"/>
              <a:gd name="T51" fmla="*/ 2147483646 h 338"/>
              <a:gd name="T52" fmla="*/ 2147483646 w 337"/>
              <a:gd name="T53" fmla="*/ 2147483646 h 338"/>
              <a:gd name="T54" fmla="*/ 2147483646 w 337"/>
              <a:gd name="T55" fmla="*/ 2147483646 h 338"/>
              <a:gd name="T56" fmla="*/ 0 w 337"/>
              <a:gd name="T57" fmla="*/ 2147483646 h 338"/>
              <a:gd name="T58" fmla="*/ 2147483646 w 337"/>
              <a:gd name="T59" fmla="*/ 2147483646 h 338"/>
              <a:gd name="T60" fmla="*/ 2147483646 w 337"/>
              <a:gd name="T61" fmla="*/ 2147483646 h 338"/>
              <a:gd name="T62" fmla="*/ 2147483646 w 337"/>
              <a:gd name="T63" fmla="*/ 2147483646 h 338"/>
              <a:gd name="T64" fmla="*/ 2147483646 w 337"/>
              <a:gd name="T65" fmla="*/ 2147483646 h 338"/>
              <a:gd name="T66" fmla="*/ 2147483646 w 337"/>
              <a:gd name="T67" fmla="*/ 2147483646 h 338"/>
              <a:gd name="T68" fmla="*/ 2147483646 w 337"/>
              <a:gd name="T69" fmla="*/ 2147483646 h 338"/>
              <a:gd name="T70" fmla="*/ 2147483646 w 337"/>
              <a:gd name="T71" fmla="*/ 2147483646 h 338"/>
              <a:gd name="T72" fmla="*/ 2147483646 w 337"/>
              <a:gd name="T73" fmla="*/ 2147483646 h 338"/>
              <a:gd name="T74" fmla="*/ 2147483646 w 337"/>
              <a:gd name="T75" fmla="*/ 2147483646 h 338"/>
              <a:gd name="T76" fmla="*/ 2147483646 w 337"/>
              <a:gd name="T77" fmla="*/ 2147483646 h 338"/>
              <a:gd name="T78" fmla="*/ 2147483646 w 337"/>
              <a:gd name="T79" fmla="*/ 2147483646 h 338"/>
              <a:gd name="T80" fmla="*/ 2147483646 w 337"/>
              <a:gd name="T81" fmla="*/ 2147483646 h 338"/>
              <a:gd name="T82" fmla="*/ 2147483646 w 337"/>
              <a:gd name="T83" fmla="*/ 2147483646 h 338"/>
              <a:gd name="T84" fmla="*/ 2147483646 w 337"/>
              <a:gd name="T85" fmla="*/ 2147483646 h 338"/>
              <a:gd name="T86" fmla="*/ 2147483646 w 337"/>
              <a:gd name="T87" fmla="*/ 2147483646 h 338"/>
              <a:gd name="T88" fmla="*/ 2147483646 w 337"/>
              <a:gd name="T89" fmla="*/ 2147483646 h 338"/>
              <a:gd name="T90" fmla="*/ 2147483646 w 337"/>
              <a:gd name="T91" fmla="*/ 2147483646 h 338"/>
              <a:gd name="T92" fmla="*/ 2147483646 w 337"/>
              <a:gd name="T93" fmla="*/ 2147483646 h 338"/>
              <a:gd name="T94" fmla="*/ 2147483646 w 337"/>
              <a:gd name="T95" fmla="*/ 2147483646 h 338"/>
              <a:gd name="T96" fmla="*/ 2147483646 w 337"/>
              <a:gd name="T97" fmla="*/ 2147483646 h 338"/>
              <a:gd name="T98" fmla="*/ 2147483646 w 337"/>
              <a:gd name="T99" fmla="*/ 2147483646 h 338"/>
              <a:gd name="T100" fmla="*/ 2147483646 w 337"/>
              <a:gd name="T101" fmla="*/ 2147483646 h 338"/>
              <a:gd name="T102" fmla="*/ 2147483646 w 337"/>
              <a:gd name="T103" fmla="*/ 2147483646 h 338"/>
              <a:gd name="T104" fmla="*/ 2147483646 w 337"/>
              <a:gd name="T105" fmla="*/ 2147483646 h 338"/>
              <a:gd name="T106" fmla="*/ 2147483646 w 337"/>
              <a:gd name="T107" fmla="*/ 2147483646 h 338"/>
              <a:gd name="T108" fmla="*/ 2147483646 w 337"/>
              <a:gd name="T109" fmla="*/ 2147483646 h 338"/>
              <a:gd name="T110" fmla="*/ 2147483646 w 337"/>
              <a:gd name="T111" fmla="*/ 2147483646 h 338"/>
              <a:gd name="T112" fmla="*/ 2147483646 w 337"/>
              <a:gd name="T113" fmla="*/ 2147483646 h 338"/>
              <a:gd name="T114" fmla="*/ 2147483646 w 337"/>
              <a:gd name="T115" fmla="*/ 2147483646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5369" name="Freeform 9"/>
          <p:cNvSpPr>
            <a:spLocks noEditPoints="1" noChangeArrowheads="1"/>
          </p:cNvSpPr>
          <p:nvPr/>
        </p:nvSpPr>
        <p:spPr bwMode="auto">
          <a:xfrm>
            <a:off x="4045583" y="2973002"/>
            <a:ext cx="344910" cy="351258"/>
          </a:xfrm>
          <a:custGeom>
            <a:avLst/>
            <a:gdLst>
              <a:gd name="T0" fmla="*/ 2147483646 w 84"/>
              <a:gd name="T1" fmla="*/ 2147483646 h 85"/>
              <a:gd name="T2" fmla="*/ 2147483646 w 84"/>
              <a:gd name="T3" fmla="*/ 2147483646 h 85"/>
              <a:gd name="T4" fmla="*/ 2147483646 w 84"/>
              <a:gd name="T5" fmla="*/ 2147483646 h 85"/>
              <a:gd name="T6" fmla="*/ 2147483646 w 84"/>
              <a:gd name="T7" fmla="*/ 2147483646 h 85"/>
              <a:gd name="T8" fmla="*/ 2147483646 w 84"/>
              <a:gd name="T9" fmla="*/ 2147483646 h 85"/>
              <a:gd name="T10" fmla="*/ 2147483646 w 84"/>
              <a:gd name="T11" fmla="*/ 2147483646 h 85"/>
              <a:gd name="T12" fmla="*/ 2147483646 w 84"/>
              <a:gd name="T13" fmla="*/ 2147483646 h 85"/>
              <a:gd name="T14" fmla="*/ 2147483646 w 84"/>
              <a:gd name="T15" fmla="*/ 2147483646 h 85"/>
              <a:gd name="T16" fmla="*/ 2147483646 w 84"/>
              <a:gd name="T17" fmla="*/ 2147483646 h 85"/>
              <a:gd name="T18" fmla="*/ 2147483646 w 84"/>
              <a:gd name="T19" fmla="*/ 2147483646 h 85"/>
              <a:gd name="T20" fmla="*/ 2147483646 w 84"/>
              <a:gd name="T21" fmla="*/ 2147483646 h 85"/>
              <a:gd name="T22" fmla="*/ 2147483646 w 84"/>
              <a:gd name="T23" fmla="*/ 2147483646 h 85"/>
              <a:gd name="T24" fmla="*/ 2147483646 w 84"/>
              <a:gd name="T25" fmla="*/ 0 h 85"/>
              <a:gd name="T26" fmla="*/ 2147483646 w 84"/>
              <a:gd name="T27" fmla="*/ 2147483646 h 85"/>
              <a:gd name="T28" fmla="*/ 2147483646 w 84"/>
              <a:gd name="T29" fmla="*/ 2147483646 h 85"/>
              <a:gd name="T30" fmla="*/ 2147483646 w 84"/>
              <a:gd name="T31" fmla="*/ 0 h 85"/>
              <a:gd name="T32" fmla="*/ 2147483646 w 84"/>
              <a:gd name="T33" fmla="*/ 2147483646 h 85"/>
              <a:gd name="T34" fmla="*/ 2147483646 w 84"/>
              <a:gd name="T35" fmla="*/ 2147483646 h 85"/>
              <a:gd name="T36" fmla="*/ 2147483646 w 84"/>
              <a:gd name="T37" fmla="*/ 2147483646 h 85"/>
              <a:gd name="T38" fmla="*/ 2147483646 w 84"/>
              <a:gd name="T39" fmla="*/ 2147483646 h 85"/>
              <a:gd name="T40" fmla="*/ 2147483646 w 84"/>
              <a:gd name="T41" fmla="*/ 2147483646 h 85"/>
              <a:gd name="T42" fmla="*/ 2147483646 w 84"/>
              <a:gd name="T43" fmla="*/ 2147483646 h 85"/>
              <a:gd name="T44" fmla="*/ 2147483646 w 84"/>
              <a:gd name="T45" fmla="*/ 2147483646 h 85"/>
              <a:gd name="T46" fmla="*/ 2147483646 w 84"/>
              <a:gd name="T47" fmla="*/ 2147483646 h 85"/>
              <a:gd name="T48" fmla="*/ 2147483646 w 84"/>
              <a:gd name="T49" fmla="*/ 2147483646 h 85"/>
              <a:gd name="T50" fmla="*/ 0 w 84"/>
              <a:gd name="T51" fmla="*/ 2147483646 h 85"/>
              <a:gd name="T52" fmla="*/ 2147483646 w 84"/>
              <a:gd name="T53" fmla="*/ 2147483646 h 85"/>
              <a:gd name="T54" fmla="*/ 2147483646 w 84"/>
              <a:gd name="T55" fmla="*/ 2147483646 h 85"/>
              <a:gd name="T56" fmla="*/ 0 w 84"/>
              <a:gd name="T57" fmla="*/ 2147483646 h 85"/>
              <a:gd name="T58" fmla="*/ 2147483646 w 84"/>
              <a:gd name="T59" fmla="*/ 2147483646 h 85"/>
              <a:gd name="T60" fmla="*/ 2147483646 w 84"/>
              <a:gd name="T61" fmla="*/ 2147483646 h 85"/>
              <a:gd name="T62" fmla="*/ 2147483646 w 84"/>
              <a:gd name="T63" fmla="*/ 2147483646 h 85"/>
              <a:gd name="T64" fmla="*/ 2147483646 w 84"/>
              <a:gd name="T65" fmla="*/ 2147483646 h 85"/>
              <a:gd name="T66" fmla="*/ 2147483646 w 84"/>
              <a:gd name="T67" fmla="*/ 2147483646 h 85"/>
              <a:gd name="T68" fmla="*/ 2147483646 w 84"/>
              <a:gd name="T69" fmla="*/ 2147483646 h 85"/>
              <a:gd name="T70" fmla="*/ 2147483646 w 84"/>
              <a:gd name="T71" fmla="*/ 2147483646 h 85"/>
              <a:gd name="T72" fmla="*/ 2147483646 w 84"/>
              <a:gd name="T73" fmla="*/ 2147483646 h 85"/>
              <a:gd name="T74" fmla="*/ 2147483646 w 84"/>
              <a:gd name="T75" fmla="*/ 2147483646 h 85"/>
              <a:gd name="T76" fmla="*/ 2147483646 w 84"/>
              <a:gd name="T77" fmla="*/ 2147483646 h 85"/>
              <a:gd name="T78" fmla="*/ 2147483646 w 84"/>
              <a:gd name="T79" fmla="*/ 2147483646 h 85"/>
              <a:gd name="T80" fmla="*/ 2147483646 w 84"/>
              <a:gd name="T81" fmla="*/ 2147483646 h 85"/>
              <a:gd name="T82" fmla="*/ 2147483646 w 84"/>
              <a:gd name="T83" fmla="*/ 2147483646 h 85"/>
              <a:gd name="T84" fmla="*/ 2147483646 w 84"/>
              <a:gd name="T85" fmla="*/ 2147483646 h 85"/>
              <a:gd name="T86" fmla="*/ 2147483646 w 84"/>
              <a:gd name="T87" fmla="*/ 2147483646 h 85"/>
              <a:gd name="T88" fmla="*/ 2147483646 w 84"/>
              <a:gd name="T89" fmla="*/ 2147483646 h 85"/>
              <a:gd name="T90" fmla="*/ 2147483646 w 84"/>
              <a:gd name="T91" fmla="*/ 2147483646 h 85"/>
              <a:gd name="T92" fmla="*/ 2147483646 w 84"/>
              <a:gd name="T93" fmla="*/ 2147483646 h 85"/>
              <a:gd name="T94" fmla="*/ 2147483646 w 84"/>
              <a:gd name="T95" fmla="*/ 2147483646 h 85"/>
              <a:gd name="T96" fmla="*/ 2147483646 w 84"/>
              <a:gd name="T97" fmla="*/ 2147483646 h 85"/>
              <a:gd name="T98" fmla="*/ 2147483646 w 84"/>
              <a:gd name="T99" fmla="*/ 2147483646 h 85"/>
              <a:gd name="T100" fmla="*/ 2147483646 w 84"/>
              <a:gd name="T101" fmla="*/ 2147483646 h 85"/>
              <a:gd name="T102" fmla="*/ 2147483646 w 84"/>
              <a:gd name="T103" fmla="*/ 2147483646 h 85"/>
              <a:gd name="T104" fmla="*/ 2147483646 w 84"/>
              <a:gd name="T105" fmla="*/ 2147483646 h 85"/>
              <a:gd name="T106" fmla="*/ 2147483646 w 84"/>
              <a:gd name="T107" fmla="*/ 2147483646 h 85"/>
              <a:gd name="T108" fmla="*/ 2147483646 w 84"/>
              <a:gd name="T109" fmla="*/ 2147483646 h 85"/>
              <a:gd name="T110" fmla="*/ 2147483646 w 84"/>
              <a:gd name="T111" fmla="*/ 2147483646 h 85"/>
              <a:gd name="T112" fmla="*/ 2147483646 w 84"/>
              <a:gd name="T113" fmla="*/ 2147483646 h 85"/>
              <a:gd name="T114" fmla="*/ 2147483646 w 84"/>
              <a:gd name="T115" fmla="*/ 2147483646 h 8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84" h="85">
                <a:moveTo>
                  <a:pt x="78" y="44"/>
                </a:moveTo>
                <a:cubicBezTo>
                  <a:pt x="78" y="43"/>
                  <a:pt x="78" y="42"/>
                  <a:pt x="78" y="40"/>
                </a:cubicBezTo>
                <a:cubicBezTo>
                  <a:pt x="84" y="36"/>
                  <a:pt x="84" y="36"/>
                  <a:pt x="84" y="36"/>
                </a:cubicBezTo>
                <a:cubicBezTo>
                  <a:pt x="82" y="26"/>
                  <a:pt x="82" y="26"/>
                  <a:pt x="82" y="26"/>
                </a:cubicBezTo>
                <a:cubicBezTo>
                  <a:pt x="74" y="26"/>
                  <a:pt x="74" y="26"/>
                  <a:pt x="74" y="26"/>
                </a:cubicBezTo>
                <a:cubicBezTo>
                  <a:pt x="73" y="25"/>
                  <a:pt x="73" y="24"/>
                  <a:pt x="72" y="23"/>
                </a:cubicBezTo>
                <a:cubicBezTo>
                  <a:pt x="75" y="16"/>
                  <a:pt x="75" y="16"/>
                  <a:pt x="75" y="16"/>
                </a:cubicBezTo>
                <a:cubicBezTo>
                  <a:pt x="68" y="9"/>
                  <a:pt x="68" y="9"/>
                  <a:pt x="68" y="9"/>
                </a:cubicBezTo>
                <a:cubicBezTo>
                  <a:pt x="61" y="12"/>
                  <a:pt x="61" y="12"/>
                  <a:pt x="61" y="12"/>
                </a:cubicBezTo>
                <a:cubicBezTo>
                  <a:pt x="60" y="11"/>
                  <a:pt x="59" y="11"/>
                  <a:pt x="58" y="10"/>
                </a:cubicBezTo>
                <a:cubicBezTo>
                  <a:pt x="57" y="3"/>
                  <a:pt x="57" y="3"/>
                  <a:pt x="57" y="3"/>
                </a:cubicBezTo>
                <a:cubicBezTo>
                  <a:pt x="53" y="1"/>
                  <a:pt x="53" y="1"/>
                  <a:pt x="53" y="1"/>
                </a:cubicBezTo>
                <a:cubicBezTo>
                  <a:pt x="48" y="0"/>
                  <a:pt x="48" y="0"/>
                  <a:pt x="48" y="0"/>
                </a:cubicBezTo>
                <a:cubicBezTo>
                  <a:pt x="44" y="6"/>
                  <a:pt x="44" y="6"/>
                  <a:pt x="44" y="6"/>
                </a:cubicBezTo>
                <a:cubicBezTo>
                  <a:pt x="42" y="6"/>
                  <a:pt x="41" y="6"/>
                  <a:pt x="40" y="7"/>
                </a:cubicBezTo>
                <a:cubicBezTo>
                  <a:pt x="35" y="0"/>
                  <a:pt x="35" y="0"/>
                  <a:pt x="35" y="0"/>
                </a:cubicBezTo>
                <a:cubicBezTo>
                  <a:pt x="26" y="3"/>
                  <a:pt x="26" y="3"/>
                  <a:pt x="26" y="3"/>
                </a:cubicBezTo>
                <a:cubicBezTo>
                  <a:pt x="25" y="11"/>
                  <a:pt x="25" y="11"/>
                  <a:pt x="25" y="11"/>
                </a:cubicBezTo>
                <a:cubicBezTo>
                  <a:pt x="24" y="11"/>
                  <a:pt x="23" y="12"/>
                  <a:pt x="22" y="13"/>
                </a:cubicBezTo>
                <a:cubicBezTo>
                  <a:pt x="15" y="9"/>
                  <a:pt x="15" y="9"/>
                  <a:pt x="15" y="9"/>
                </a:cubicBezTo>
                <a:cubicBezTo>
                  <a:pt x="8" y="16"/>
                  <a:pt x="8" y="16"/>
                  <a:pt x="8" y="16"/>
                </a:cubicBezTo>
                <a:cubicBezTo>
                  <a:pt x="12" y="23"/>
                  <a:pt x="12" y="23"/>
                  <a:pt x="12" y="23"/>
                </a:cubicBezTo>
                <a:cubicBezTo>
                  <a:pt x="11" y="24"/>
                  <a:pt x="10" y="25"/>
                  <a:pt x="10" y="27"/>
                </a:cubicBezTo>
                <a:cubicBezTo>
                  <a:pt x="2" y="27"/>
                  <a:pt x="2" y="27"/>
                  <a:pt x="2" y="27"/>
                </a:cubicBezTo>
                <a:cubicBezTo>
                  <a:pt x="1" y="32"/>
                  <a:pt x="1" y="32"/>
                  <a:pt x="1" y="32"/>
                </a:cubicBezTo>
                <a:cubicBezTo>
                  <a:pt x="0" y="37"/>
                  <a:pt x="0" y="37"/>
                  <a:pt x="0" y="37"/>
                </a:cubicBezTo>
                <a:cubicBezTo>
                  <a:pt x="6" y="41"/>
                  <a:pt x="6" y="41"/>
                  <a:pt x="6" y="41"/>
                </a:cubicBezTo>
                <a:cubicBezTo>
                  <a:pt x="6" y="42"/>
                  <a:pt x="6" y="44"/>
                  <a:pt x="6" y="45"/>
                </a:cubicBezTo>
                <a:cubicBezTo>
                  <a:pt x="0" y="49"/>
                  <a:pt x="0" y="49"/>
                  <a:pt x="0" y="49"/>
                </a:cubicBezTo>
                <a:cubicBezTo>
                  <a:pt x="2" y="59"/>
                  <a:pt x="2" y="59"/>
                  <a:pt x="2" y="59"/>
                </a:cubicBezTo>
                <a:cubicBezTo>
                  <a:pt x="10" y="59"/>
                  <a:pt x="10" y="59"/>
                  <a:pt x="10" y="59"/>
                </a:cubicBezTo>
                <a:cubicBezTo>
                  <a:pt x="11" y="60"/>
                  <a:pt x="11" y="61"/>
                  <a:pt x="12" y="63"/>
                </a:cubicBezTo>
                <a:cubicBezTo>
                  <a:pt x="9" y="69"/>
                  <a:pt x="9" y="69"/>
                  <a:pt x="9" y="69"/>
                </a:cubicBezTo>
                <a:cubicBezTo>
                  <a:pt x="16" y="76"/>
                  <a:pt x="16" y="76"/>
                  <a:pt x="16" y="76"/>
                </a:cubicBezTo>
                <a:cubicBezTo>
                  <a:pt x="23" y="73"/>
                  <a:pt x="23" y="73"/>
                  <a:pt x="23" y="73"/>
                </a:cubicBezTo>
                <a:cubicBezTo>
                  <a:pt x="24" y="74"/>
                  <a:pt x="25" y="74"/>
                  <a:pt x="26" y="75"/>
                </a:cubicBezTo>
                <a:cubicBezTo>
                  <a:pt x="26" y="82"/>
                  <a:pt x="26" y="82"/>
                  <a:pt x="26" y="82"/>
                </a:cubicBezTo>
                <a:cubicBezTo>
                  <a:pt x="31" y="84"/>
                  <a:pt x="31" y="84"/>
                  <a:pt x="31" y="84"/>
                </a:cubicBezTo>
                <a:cubicBezTo>
                  <a:pt x="36" y="85"/>
                  <a:pt x="36" y="85"/>
                  <a:pt x="36" y="85"/>
                </a:cubicBezTo>
                <a:cubicBezTo>
                  <a:pt x="40" y="79"/>
                  <a:pt x="40" y="79"/>
                  <a:pt x="40" y="79"/>
                </a:cubicBezTo>
                <a:cubicBezTo>
                  <a:pt x="42" y="79"/>
                  <a:pt x="43" y="79"/>
                  <a:pt x="44" y="79"/>
                </a:cubicBezTo>
                <a:cubicBezTo>
                  <a:pt x="48" y="85"/>
                  <a:pt x="48" y="85"/>
                  <a:pt x="48" y="85"/>
                </a:cubicBezTo>
                <a:cubicBezTo>
                  <a:pt x="58" y="82"/>
                  <a:pt x="58" y="82"/>
                  <a:pt x="58" y="82"/>
                </a:cubicBezTo>
                <a:cubicBezTo>
                  <a:pt x="59" y="75"/>
                  <a:pt x="59" y="75"/>
                  <a:pt x="59" y="75"/>
                </a:cubicBezTo>
                <a:cubicBezTo>
                  <a:pt x="60" y="74"/>
                  <a:pt x="61" y="73"/>
                  <a:pt x="62" y="73"/>
                </a:cubicBezTo>
                <a:cubicBezTo>
                  <a:pt x="69" y="76"/>
                  <a:pt x="69" y="76"/>
                  <a:pt x="69" y="76"/>
                </a:cubicBezTo>
                <a:cubicBezTo>
                  <a:pt x="76" y="69"/>
                  <a:pt x="76" y="69"/>
                  <a:pt x="76" y="69"/>
                </a:cubicBezTo>
                <a:cubicBezTo>
                  <a:pt x="72" y="62"/>
                  <a:pt x="72" y="62"/>
                  <a:pt x="72" y="62"/>
                </a:cubicBezTo>
                <a:cubicBezTo>
                  <a:pt x="73" y="61"/>
                  <a:pt x="74" y="60"/>
                  <a:pt x="74" y="59"/>
                </a:cubicBezTo>
                <a:cubicBezTo>
                  <a:pt x="82" y="58"/>
                  <a:pt x="82" y="58"/>
                  <a:pt x="82" y="58"/>
                </a:cubicBezTo>
                <a:cubicBezTo>
                  <a:pt x="83" y="53"/>
                  <a:pt x="83" y="53"/>
                  <a:pt x="83" y="53"/>
                </a:cubicBezTo>
                <a:cubicBezTo>
                  <a:pt x="84" y="48"/>
                  <a:pt x="84" y="48"/>
                  <a:pt x="84" y="48"/>
                </a:cubicBezTo>
                <a:lnTo>
                  <a:pt x="78" y="44"/>
                </a:lnTo>
                <a:close/>
                <a:moveTo>
                  <a:pt x="35" y="71"/>
                </a:moveTo>
                <a:cubicBezTo>
                  <a:pt x="19" y="67"/>
                  <a:pt x="10" y="51"/>
                  <a:pt x="14" y="35"/>
                </a:cubicBezTo>
                <a:cubicBezTo>
                  <a:pt x="18" y="20"/>
                  <a:pt x="34" y="10"/>
                  <a:pt x="49" y="14"/>
                </a:cubicBezTo>
                <a:cubicBezTo>
                  <a:pt x="65" y="18"/>
                  <a:pt x="74" y="34"/>
                  <a:pt x="70" y="50"/>
                </a:cubicBezTo>
                <a:cubicBezTo>
                  <a:pt x="66" y="65"/>
                  <a:pt x="50" y="75"/>
                  <a:pt x="35" y="71"/>
                </a:cubicBezTo>
                <a:close/>
              </a:path>
            </a:pathLst>
          </a:custGeom>
          <a:solidFill>
            <a:srgbClr val="000000">
              <a:alpha val="2000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5370" name="Freeform 10"/>
          <p:cNvSpPr>
            <a:spLocks noEditPoints="1" noChangeArrowheads="1"/>
          </p:cNvSpPr>
          <p:nvPr/>
        </p:nvSpPr>
        <p:spPr bwMode="auto">
          <a:xfrm>
            <a:off x="4830624" y="3199415"/>
            <a:ext cx="704633" cy="704632"/>
          </a:xfrm>
          <a:custGeom>
            <a:avLst/>
            <a:gdLst>
              <a:gd name="T0" fmla="*/ 2147483646 w 171"/>
              <a:gd name="T1" fmla="*/ 2147483646 h 171"/>
              <a:gd name="T2" fmla="*/ 2147483646 w 171"/>
              <a:gd name="T3" fmla="*/ 2147483646 h 171"/>
              <a:gd name="T4" fmla="*/ 2147483646 w 171"/>
              <a:gd name="T5" fmla="*/ 2147483646 h 171"/>
              <a:gd name="T6" fmla="*/ 2147483646 w 171"/>
              <a:gd name="T7" fmla="*/ 2147483646 h 171"/>
              <a:gd name="T8" fmla="*/ 2147483646 w 171"/>
              <a:gd name="T9" fmla="*/ 2147483646 h 171"/>
              <a:gd name="T10" fmla="*/ 2147483646 w 171"/>
              <a:gd name="T11" fmla="*/ 2147483646 h 171"/>
              <a:gd name="T12" fmla="*/ 2147483646 w 171"/>
              <a:gd name="T13" fmla="*/ 2147483646 h 171"/>
              <a:gd name="T14" fmla="*/ 2147483646 w 171"/>
              <a:gd name="T15" fmla="*/ 2147483646 h 171"/>
              <a:gd name="T16" fmla="*/ 2147483646 w 171"/>
              <a:gd name="T17" fmla="*/ 2147483646 h 171"/>
              <a:gd name="T18" fmla="*/ 2147483646 w 171"/>
              <a:gd name="T19" fmla="*/ 2147483646 h 171"/>
              <a:gd name="T20" fmla="*/ 2147483646 w 171"/>
              <a:gd name="T21" fmla="*/ 2147483646 h 171"/>
              <a:gd name="T22" fmla="*/ 2147483646 w 171"/>
              <a:gd name="T23" fmla="*/ 2147483646 h 171"/>
              <a:gd name="T24" fmla="*/ 2147483646 w 171"/>
              <a:gd name="T25" fmla="*/ 0 h 171"/>
              <a:gd name="T26" fmla="*/ 2147483646 w 171"/>
              <a:gd name="T27" fmla="*/ 2147483646 h 171"/>
              <a:gd name="T28" fmla="*/ 2147483646 w 171"/>
              <a:gd name="T29" fmla="*/ 2147483646 h 171"/>
              <a:gd name="T30" fmla="*/ 2147483646 w 171"/>
              <a:gd name="T31" fmla="*/ 0 h 171"/>
              <a:gd name="T32" fmla="*/ 2147483646 w 171"/>
              <a:gd name="T33" fmla="*/ 2147483646 h 171"/>
              <a:gd name="T34" fmla="*/ 2147483646 w 171"/>
              <a:gd name="T35" fmla="*/ 2147483646 h 171"/>
              <a:gd name="T36" fmla="*/ 2147483646 w 171"/>
              <a:gd name="T37" fmla="*/ 2147483646 h 171"/>
              <a:gd name="T38" fmla="*/ 2147483646 w 171"/>
              <a:gd name="T39" fmla="*/ 2147483646 h 171"/>
              <a:gd name="T40" fmla="*/ 2147483646 w 171"/>
              <a:gd name="T41" fmla="*/ 2147483646 h 171"/>
              <a:gd name="T42" fmla="*/ 2147483646 w 171"/>
              <a:gd name="T43" fmla="*/ 2147483646 h 171"/>
              <a:gd name="T44" fmla="*/ 2147483646 w 171"/>
              <a:gd name="T45" fmla="*/ 2147483646 h 171"/>
              <a:gd name="T46" fmla="*/ 2147483646 w 171"/>
              <a:gd name="T47" fmla="*/ 2147483646 h 171"/>
              <a:gd name="T48" fmla="*/ 2147483646 w 171"/>
              <a:gd name="T49" fmla="*/ 2147483646 h 171"/>
              <a:gd name="T50" fmla="*/ 0 w 171"/>
              <a:gd name="T51" fmla="*/ 2147483646 h 171"/>
              <a:gd name="T52" fmla="*/ 2147483646 w 171"/>
              <a:gd name="T53" fmla="*/ 2147483646 h 171"/>
              <a:gd name="T54" fmla="*/ 2147483646 w 171"/>
              <a:gd name="T55" fmla="*/ 2147483646 h 171"/>
              <a:gd name="T56" fmla="*/ 0 w 171"/>
              <a:gd name="T57" fmla="*/ 2147483646 h 171"/>
              <a:gd name="T58" fmla="*/ 2147483646 w 171"/>
              <a:gd name="T59" fmla="*/ 2147483646 h 171"/>
              <a:gd name="T60" fmla="*/ 2147483646 w 171"/>
              <a:gd name="T61" fmla="*/ 2147483646 h 171"/>
              <a:gd name="T62" fmla="*/ 2147483646 w 171"/>
              <a:gd name="T63" fmla="*/ 2147483646 h 171"/>
              <a:gd name="T64" fmla="*/ 2147483646 w 171"/>
              <a:gd name="T65" fmla="*/ 2147483646 h 171"/>
              <a:gd name="T66" fmla="*/ 2147483646 w 171"/>
              <a:gd name="T67" fmla="*/ 2147483646 h 171"/>
              <a:gd name="T68" fmla="*/ 2147483646 w 171"/>
              <a:gd name="T69" fmla="*/ 2147483646 h 171"/>
              <a:gd name="T70" fmla="*/ 2147483646 w 171"/>
              <a:gd name="T71" fmla="*/ 2147483646 h 171"/>
              <a:gd name="T72" fmla="*/ 2147483646 w 171"/>
              <a:gd name="T73" fmla="*/ 2147483646 h 171"/>
              <a:gd name="T74" fmla="*/ 2147483646 w 171"/>
              <a:gd name="T75" fmla="*/ 2147483646 h 171"/>
              <a:gd name="T76" fmla="*/ 2147483646 w 171"/>
              <a:gd name="T77" fmla="*/ 2147483646 h 171"/>
              <a:gd name="T78" fmla="*/ 2147483646 w 171"/>
              <a:gd name="T79" fmla="*/ 2147483646 h 171"/>
              <a:gd name="T80" fmla="*/ 2147483646 w 171"/>
              <a:gd name="T81" fmla="*/ 2147483646 h 171"/>
              <a:gd name="T82" fmla="*/ 2147483646 w 171"/>
              <a:gd name="T83" fmla="*/ 2147483646 h 171"/>
              <a:gd name="T84" fmla="*/ 2147483646 w 171"/>
              <a:gd name="T85" fmla="*/ 2147483646 h 171"/>
              <a:gd name="T86" fmla="*/ 2147483646 w 171"/>
              <a:gd name="T87" fmla="*/ 2147483646 h 171"/>
              <a:gd name="T88" fmla="*/ 2147483646 w 171"/>
              <a:gd name="T89" fmla="*/ 2147483646 h 171"/>
              <a:gd name="T90" fmla="*/ 2147483646 w 171"/>
              <a:gd name="T91" fmla="*/ 2147483646 h 171"/>
              <a:gd name="T92" fmla="*/ 2147483646 w 171"/>
              <a:gd name="T93" fmla="*/ 2147483646 h 171"/>
              <a:gd name="T94" fmla="*/ 2147483646 w 171"/>
              <a:gd name="T95" fmla="*/ 2147483646 h 171"/>
              <a:gd name="T96" fmla="*/ 2147483646 w 171"/>
              <a:gd name="T97" fmla="*/ 2147483646 h 171"/>
              <a:gd name="T98" fmla="*/ 2147483646 w 171"/>
              <a:gd name="T99" fmla="*/ 2147483646 h 171"/>
              <a:gd name="T100" fmla="*/ 2147483646 w 171"/>
              <a:gd name="T101" fmla="*/ 2147483646 h 171"/>
              <a:gd name="T102" fmla="*/ 2147483646 w 171"/>
              <a:gd name="T103" fmla="*/ 2147483646 h 171"/>
              <a:gd name="T104" fmla="*/ 2147483646 w 171"/>
              <a:gd name="T105" fmla="*/ 2147483646 h 171"/>
              <a:gd name="T106" fmla="*/ 2147483646 w 171"/>
              <a:gd name="T107" fmla="*/ 2147483646 h 171"/>
              <a:gd name="T108" fmla="*/ 2147483646 w 171"/>
              <a:gd name="T109" fmla="*/ 2147483646 h 171"/>
              <a:gd name="T110" fmla="*/ 2147483646 w 171"/>
              <a:gd name="T111" fmla="*/ 2147483646 h 171"/>
              <a:gd name="T112" fmla="*/ 2147483646 w 171"/>
              <a:gd name="T113" fmla="*/ 2147483646 h 171"/>
              <a:gd name="T114" fmla="*/ 2147483646 w 171"/>
              <a:gd name="T115" fmla="*/ 2147483646 h 17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1" h="171">
                <a:moveTo>
                  <a:pt x="158" y="89"/>
                </a:moveTo>
                <a:cubicBezTo>
                  <a:pt x="158" y="86"/>
                  <a:pt x="158" y="83"/>
                  <a:pt x="158" y="81"/>
                </a:cubicBezTo>
                <a:cubicBezTo>
                  <a:pt x="170" y="72"/>
                  <a:pt x="170" y="72"/>
                  <a:pt x="170" y="72"/>
                </a:cubicBezTo>
                <a:cubicBezTo>
                  <a:pt x="165" y="53"/>
                  <a:pt x="165" y="53"/>
                  <a:pt x="165" y="53"/>
                </a:cubicBezTo>
                <a:cubicBezTo>
                  <a:pt x="150" y="52"/>
                  <a:pt x="150" y="52"/>
                  <a:pt x="150" y="52"/>
                </a:cubicBezTo>
                <a:cubicBezTo>
                  <a:pt x="149" y="49"/>
                  <a:pt x="147" y="47"/>
                  <a:pt x="146" y="45"/>
                </a:cubicBezTo>
                <a:cubicBezTo>
                  <a:pt x="152" y="31"/>
                  <a:pt x="152" y="31"/>
                  <a:pt x="152" y="31"/>
                </a:cubicBezTo>
                <a:cubicBezTo>
                  <a:pt x="138" y="17"/>
                  <a:pt x="138" y="17"/>
                  <a:pt x="138" y="17"/>
                </a:cubicBezTo>
                <a:cubicBezTo>
                  <a:pt x="124" y="24"/>
                  <a:pt x="124" y="24"/>
                  <a:pt x="124" y="24"/>
                </a:cubicBezTo>
                <a:cubicBezTo>
                  <a:pt x="122" y="22"/>
                  <a:pt x="120" y="21"/>
                  <a:pt x="117" y="20"/>
                </a:cubicBezTo>
                <a:cubicBezTo>
                  <a:pt x="116" y="5"/>
                  <a:pt x="116" y="5"/>
                  <a:pt x="116" y="5"/>
                </a:cubicBezTo>
                <a:cubicBezTo>
                  <a:pt x="107" y="2"/>
                  <a:pt x="107" y="2"/>
                  <a:pt x="107" y="2"/>
                </a:cubicBezTo>
                <a:cubicBezTo>
                  <a:pt x="97" y="0"/>
                  <a:pt x="97" y="0"/>
                  <a:pt x="97" y="0"/>
                </a:cubicBezTo>
                <a:cubicBezTo>
                  <a:pt x="88" y="13"/>
                  <a:pt x="88" y="13"/>
                  <a:pt x="88" y="13"/>
                </a:cubicBezTo>
                <a:cubicBezTo>
                  <a:pt x="86" y="12"/>
                  <a:pt x="83" y="12"/>
                  <a:pt x="80" y="13"/>
                </a:cubicBezTo>
                <a:cubicBezTo>
                  <a:pt x="72" y="0"/>
                  <a:pt x="72" y="0"/>
                  <a:pt x="72" y="0"/>
                </a:cubicBezTo>
                <a:cubicBezTo>
                  <a:pt x="52" y="5"/>
                  <a:pt x="52" y="5"/>
                  <a:pt x="52" y="5"/>
                </a:cubicBezTo>
                <a:cubicBezTo>
                  <a:pt x="52" y="21"/>
                  <a:pt x="52" y="21"/>
                  <a:pt x="52" y="21"/>
                </a:cubicBezTo>
                <a:cubicBezTo>
                  <a:pt x="49" y="22"/>
                  <a:pt x="47" y="23"/>
                  <a:pt x="45" y="25"/>
                </a:cubicBezTo>
                <a:cubicBezTo>
                  <a:pt x="31" y="18"/>
                  <a:pt x="31" y="18"/>
                  <a:pt x="31" y="18"/>
                </a:cubicBezTo>
                <a:cubicBezTo>
                  <a:pt x="17" y="33"/>
                  <a:pt x="17" y="33"/>
                  <a:pt x="17" y="33"/>
                </a:cubicBezTo>
                <a:cubicBezTo>
                  <a:pt x="24" y="46"/>
                  <a:pt x="24" y="46"/>
                  <a:pt x="24" y="46"/>
                </a:cubicBezTo>
                <a:cubicBezTo>
                  <a:pt x="22" y="48"/>
                  <a:pt x="21" y="51"/>
                  <a:pt x="20" y="53"/>
                </a:cubicBezTo>
                <a:cubicBezTo>
                  <a:pt x="5" y="54"/>
                  <a:pt x="5" y="54"/>
                  <a:pt x="5" y="54"/>
                </a:cubicBezTo>
                <a:cubicBezTo>
                  <a:pt x="2" y="64"/>
                  <a:pt x="2" y="64"/>
                  <a:pt x="2" y="64"/>
                </a:cubicBezTo>
                <a:cubicBezTo>
                  <a:pt x="0" y="74"/>
                  <a:pt x="0" y="74"/>
                  <a:pt x="0" y="74"/>
                </a:cubicBezTo>
                <a:cubicBezTo>
                  <a:pt x="12" y="82"/>
                  <a:pt x="12" y="82"/>
                  <a:pt x="12" y="82"/>
                </a:cubicBezTo>
                <a:cubicBezTo>
                  <a:pt x="12" y="85"/>
                  <a:pt x="12" y="87"/>
                  <a:pt x="12" y="90"/>
                </a:cubicBezTo>
                <a:cubicBezTo>
                  <a:pt x="0" y="98"/>
                  <a:pt x="0" y="98"/>
                  <a:pt x="0" y="98"/>
                </a:cubicBezTo>
                <a:cubicBezTo>
                  <a:pt x="5" y="118"/>
                  <a:pt x="5" y="118"/>
                  <a:pt x="5" y="118"/>
                </a:cubicBezTo>
                <a:cubicBezTo>
                  <a:pt x="20" y="119"/>
                  <a:pt x="20" y="119"/>
                  <a:pt x="20" y="119"/>
                </a:cubicBezTo>
                <a:cubicBezTo>
                  <a:pt x="22" y="121"/>
                  <a:pt x="23" y="123"/>
                  <a:pt x="24" y="126"/>
                </a:cubicBezTo>
                <a:cubicBezTo>
                  <a:pt x="18" y="139"/>
                  <a:pt x="18" y="139"/>
                  <a:pt x="18" y="139"/>
                </a:cubicBezTo>
                <a:cubicBezTo>
                  <a:pt x="32" y="154"/>
                  <a:pt x="32" y="154"/>
                  <a:pt x="32" y="154"/>
                </a:cubicBezTo>
                <a:cubicBezTo>
                  <a:pt x="46" y="147"/>
                  <a:pt x="46" y="147"/>
                  <a:pt x="46" y="147"/>
                </a:cubicBezTo>
                <a:cubicBezTo>
                  <a:pt x="48" y="148"/>
                  <a:pt x="50" y="149"/>
                  <a:pt x="53" y="151"/>
                </a:cubicBezTo>
                <a:cubicBezTo>
                  <a:pt x="54" y="166"/>
                  <a:pt x="54" y="166"/>
                  <a:pt x="54" y="166"/>
                </a:cubicBezTo>
                <a:cubicBezTo>
                  <a:pt x="64" y="168"/>
                  <a:pt x="64" y="168"/>
                  <a:pt x="64" y="168"/>
                </a:cubicBezTo>
                <a:cubicBezTo>
                  <a:pt x="74" y="171"/>
                  <a:pt x="74" y="171"/>
                  <a:pt x="74" y="171"/>
                </a:cubicBezTo>
                <a:cubicBezTo>
                  <a:pt x="82" y="158"/>
                  <a:pt x="82" y="158"/>
                  <a:pt x="82" y="158"/>
                </a:cubicBezTo>
                <a:cubicBezTo>
                  <a:pt x="84" y="158"/>
                  <a:pt x="87" y="158"/>
                  <a:pt x="90" y="158"/>
                </a:cubicBezTo>
                <a:cubicBezTo>
                  <a:pt x="98" y="171"/>
                  <a:pt x="98" y="171"/>
                  <a:pt x="98" y="171"/>
                </a:cubicBezTo>
                <a:cubicBezTo>
                  <a:pt x="118" y="165"/>
                  <a:pt x="118" y="165"/>
                  <a:pt x="118" y="165"/>
                </a:cubicBezTo>
                <a:cubicBezTo>
                  <a:pt x="119" y="150"/>
                  <a:pt x="119" y="150"/>
                  <a:pt x="119" y="150"/>
                </a:cubicBezTo>
                <a:cubicBezTo>
                  <a:pt x="121" y="149"/>
                  <a:pt x="123" y="147"/>
                  <a:pt x="125" y="146"/>
                </a:cubicBezTo>
                <a:cubicBezTo>
                  <a:pt x="139" y="153"/>
                  <a:pt x="139" y="153"/>
                  <a:pt x="139" y="153"/>
                </a:cubicBezTo>
                <a:cubicBezTo>
                  <a:pt x="153" y="138"/>
                  <a:pt x="153" y="138"/>
                  <a:pt x="153" y="138"/>
                </a:cubicBezTo>
                <a:cubicBezTo>
                  <a:pt x="147" y="125"/>
                  <a:pt x="147" y="125"/>
                  <a:pt x="147" y="125"/>
                </a:cubicBezTo>
                <a:cubicBezTo>
                  <a:pt x="148" y="122"/>
                  <a:pt x="149" y="120"/>
                  <a:pt x="150" y="118"/>
                </a:cubicBezTo>
                <a:cubicBezTo>
                  <a:pt x="166" y="117"/>
                  <a:pt x="166" y="117"/>
                  <a:pt x="166" y="117"/>
                </a:cubicBezTo>
                <a:cubicBezTo>
                  <a:pt x="168" y="107"/>
                  <a:pt x="168" y="107"/>
                  <a:pt x="168" y="107"/>
                </a:cubicBezTo>
                <a:cubicBezTo>
                  <a:pt x="171" y="97"/>
                  <a:pt x="171" y="97"/>
                  <a:pt x="171" y="97"/>
                </a:cubicBezTo>
                <a:lnTo>
                  <a:pt x="158" y="89"/>
                </a:lnTo>
                <a:close/>
                <a:moveTo>
                  <a:pt x="70" y="142"/>
                </a:moveTo>
                <a:cubicBezTo>
                  <a:pt x="39" y="134"/>
                  <a:pt x="20" y="102"/>
                  <a:pt x="28" y="71"/>
                </a:cubicBezTo>
                <a:cubicBezTo>
                  <a:pt x="36" y="39"/>
                  <a:pt x="68" y="20"/>
                  <a:pt x="100" y="28"/>
                </a:cubicBezTo>
                <a:cubicBezTo>
                  <a:pt x="131" y="37"/>
                  <a:pt x="150" y="69"/>
                  <a:pt x="142" y="100"/>
                </a:cubicBezTo>
                <a:cubicBezTo>
                  <a:pt x="134" y="131"/>
                  <a:pt x="102" y="150"/>
                  <a:pt x="70" y="142"/>
                </a:cubicBezTo>
                <a:close/>
              </a:path>
            </a:pathLst>
          </a:custGeom>
          <a:solidFill>
            <a:srgbClr val="000000">
              <a:alpha val="2000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5371" name="Freeform 11"/>
          <p:cNvSpPr>
            <a:spLocks noEditPoints="1" noChangeArrowheads="1"/>
          </p:cNvSpPr>
          <p:nvPr/>
        </p:nvSpPr>
        <p:spPr bwMode="auto">
          <a:xfrm>
            <a:off x="1076818" y="4509225"/>
            <a:ext cx="708865" cy="702517"/>
          </a:xfrm>
          <a:custGeom>
            <a:avLst/>
            <a:gdLst>
              <a:gd name="T0" fmla="*/ 2147483646 w 172"/>
              <a:gd name="T1" fmla="*/ 2147483646 h 171"/>
              <a:gd name="T2" fmla="*/ 2147483646 w 172"/>
              <a:gd name="T3" fmla="*/ 2147483646 h 171"/>
              <a:gd name="T4" fmla="*/ 2147483646 w 172"/>
              <a:gd name="T5" fmla="*/ 2147483646 h 171"/>
              <a:gd name="T6" fmla="*/ 2147483646 w 172"/>
              <a:gd name="T7" fmla="*/ 2147483646 h 171"/>
              <a:gd name="T8" fmla="*/ 2147483646 w 172"/>
              <a:gd name="T9" fmla="*/ 2147483646 h 171"/>
              <a:gd name="T10" fmla="*/ 2147483646 w 172"/>
              <a:gd name="T11" fmla="*/ 2147483646 h 171"/>
              <a:gd name="T12" fmla="*/ 2147483646 w 172"/>
              <a:gd name="T13" fmla="*/ 2147483646 h 171"/>
              <a:gd name="T14" fmla="*/ 2147483646 w 172"/>
              <a:gd name="T15" fmla="*/ 2147483646 h 171"/>
              <a:gd name="T16" fmla="*/ 2147483646 w 172"/>
              <a:gd name="T17" fmla="*/ 2147483646 h 171"/>
              <a:gd name="T18" fmla="*/ 2147483646 w 172"/>
              <a:gd name="T19" fmla="*/ 2147483646 h 171"/>
              <a:gd name="T20" fmla="*/ 2147483646 w 172"/>
              <a:gd name="T21" fmla="*/ 2147483646 h 171"/>
              <a:gd name="T22" fmla="*/ 2147483646 w 172"/>
              <a:gd name="T23" fmla="*/ 2147483646 h 171"/>
              <a:gd name="T24" fmla="*/ 2147483646 w 172"/>
              <a:gd name="T25" fmla="*/ 0 h 171"/>
              <a:gd name="T26" fmla="*/ 2147483646 w 172"/>
              <a:gd name="T27" fmla="*/ 2147483646 h 171"/>
              <a:gd name="T28" fmla="*/ 2147483646 w 172"/>
              <a:gd name="T29" fmla="*/ 2147483646 h 171"/>
              <a:gd name="T30" fmla="*/ 2147483646 w 172"/>
              <a:gd name="T31" fmla="*/ 0 h 171"/>
              <a:gd name="T32" fmla="*/ 2147483646 w 172"/>
              <a:gd name="T33" fmla="*/ 2147483646 h 171"/>
              <a:gd name="T34" fmla="*/ 2147483646 w 172"/>
              <a:gd name="T35" fmla="*/ 2147483646 h 171"/>
              <a:gd name="T36" fmla="*/ 2147483646 w 172"/>
              <a:gd name="T37" fmla="*/ 2147483646 h 171"/>
              <a:gd name="T38" fmla="*/ 2147483646 w 172"/>
              <a:gd name="T39" fmla="*/ 2147483646 h 171"/>
              <a:gd name="T40" fmla="*/ 2147483646 w 172"/>
              <a:gd name="T41" fmla="*/ 2147483646 h 171"/>
              <a:gd name="T42" fmla="*/ 2147483646 w 172"/>
              <a:gd name="T43" fmla="*/ 2147483646 h 171"/>
              <a:gd name="T44" fmla="*/ 2147483646 w 172"/>
              <a:gd name="T45" fmla="*/ 2147483646 h 171"/>
              <a:gd name="T46" fmla="*/ 2147483646 w 172"/>
              <a:gd name="T47" fmla="*/ 2147483646 h 171"/>
              <a:gd name="T48" fmla="*/ 2147483646 w 172"/>
              <a:gd name="T49" fmla="*/ 2147483646 h 171"/>
              <a:gd name="T50" fmla="*/ 0 w 172"/>
              <a:gd name="T51" fmla="*/ 2147483646 h 171"/>
              <a:gd name="T52" fmla="*/ 2147483646 w 172"/>
              <a:gd name="T53" fmla="*/ 2147483646 h 171"/>
              <a:gd name="T54" fmla="*/ 2147483646 w 172"/>
              <a:gd name="T55" fmla="*/ 2147483646 h 171"/>
              <a:gd name="T56" fmla="*/ 2147483646 w 172"/>
              <a:gd name="T57" fmla="*/ 2147483646 h 171"/>
              <a:gd name="T58" fmla="*/ 2147483646 w 172"/>
              <a:gd name="T59" fmla="*/ 2147483646 h 171"/>
              <a:gd name="T60" fmla="*/ 2147483646 w 172"/>
              <a:gd name="T61" fmla="*/ 2147483646 h 171"/>
              <a:gd name="T62" fmla="*/ 2147483646 w 172"/>
              <a:gd name="T63" fmla="*/ 2147483646 h 171"/>
              <a:gd name="T64" fmla="*/ 2147483646 w 172"/>
              <a:gd name="T65" fmla="*/ 2147483646 h 171"/>
              <a:gd name="T66" fmla="*/ 2147483646 w 172"/>
              <a:gd name="T67" fmla="*/ 2147483646 h 171"/>
              <a:gd name="T68" fmla="*/ 2147483646 w 172"/>
              <a:gd name="T69" fmla="*/ 2147483646 h 171"/>
              <a:gd name="T70" fmla="*/ 2147483646 w 172"/>
              <a:gd name="T71" fmla="*/ 2147483646 h 171"/>
              <a:gd name="T72" fmla="*/ 2147483646 w 172"/>
              <a:gd name="T73" fmla="*/ 2147483646 h 171"/>
              <a:gd name="T74" fmla="*/ 2147483646 w 172"/>
              <a:gd name="T75" fmla="*/ 2147483646 h 171"/>
              <a:gd name="T76" fmla="*/ 2147483646 w 172"/>
              <a:gd name="T77" fmla="*/ 2147483646 h 171"/>
              <a:gd name="T78" fmla="*/ 2147483646 w 172"/>
              <a:gd name="T79" fmla="*/ 2147483646 h 171"/>
              <a:gd name="T80" fmla="*/ 2147483646 w 172"/>
              <a:gd name="T81" fmla="*/ 2147483646 h 171"/>
              <a:gd name="T82" fmla="*/ 2147483646 w 172"/>
              <a:gd name="T83" fmla="*/ 2147483646 h 171"/>
              <a:gd name="T84" fmla="*/ 2147483646 w 172"/>
              <a:gd name="T85" fmla="*/ 2147483646 h 171"/>
              <a:gd name="T86" fmla="*/ 2147483646 w 172"/>
              <a:gd name="T87" fmla="*/ 2147483646 h 171"/>
              <a:gd name="T88" fmla="*/ 2147483646 w 172"/>
              <a:gd name="T89" fmla="*/ 2147483646 h 171"/>
              <a:gd name="T90" fmla="*/ 2147483646 w 172"/>
              <a:gd name="T91" fmla="*/ 2147483646 h 171"/>
              <a:gd name="T92" fmla="*/ 2147483646 w 172"/>
              <a:gd name="T93" fmla="*/ 2147483646 h 171"/>
              <a:gd name="T94" fmla="*/ 2147483646 w 172"/>
              <a:gd name="T95" fmla="*/ 2147483646 h 171"/>
              <a:gd name="T96" fmla="*/ 2147483646 w 172"/>
              <a:gd name="T97" fmla="*/ 2147483646 h 171"/>
              <a:gd name="T98" fmla="*/ 2147483646 w 172"/>
              <a:gd name="T99" fmla="*/ 2147483646 h 171"/>
              <a:gd name="T100" fmla="*/ 2147483646 w 172"/>
              <a:gd name="T101" fmla="*/ 2147483646 h 171"/>
              <a:gd name="T102" fmla="*/ 2147483646 w 172"/>
              <a:gd name="T103" fmla="*/ 2147483646 h 171"/>
              <a:gd name="T104" fmla="*/ 2147483646 w 172"/>
              <a:gd name="T105" fmla="*/ 2147483646 h 171"/>
              <a:gd name="T106" fmla="*/ 2147483646 w 172"/>
              <a:gd name="T107" fmla="*/ 2147483646 h 171"/>
              <a:gd name="T108" fmla="*/ 2147483646 w 172"/>
              <a:gd name="T109" fmla="*/ 2147483646 h 171"/>
              <a:gd name="T110" fmla="*/ 2147483646 w 172"/>
              <a:gd name="T111" fmla="*/ 2147483646 h 171"/>
              <a:gd name="T112" fmla="*/ 2147483646 w 172"/>
              <a:gd name="T113" fmla="*/ 2147483646 h 171"/>
              <a:gd name="T114" fmla="*/ 2147483646 w 172"/>
              <a:gd name="T115" fmla="*/ 2147483646 h 17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2" h="171">
                <a:moveTo>
                  <a:pt x="159" y="89"/>
                </a:moveTo>
                <a:cubicBezTo>
                  <a:pt x="159" y="86"/>
                  <a:pt x="159" y="84"/>
                  <a:pt x="159" y="81"/>
                </a:cubicBezTo>
                <a:cubicBezTo>
                  <a:pt x="171" y="72"/>
                  <a:pt x="171" y="72"/>
                  <a:pt x="171" y="72"/>
                </a:cubicBezTo>
                <a:cubicBezTo>
                  <a:pt x="166" y="53"/>
                  <a:pt x="166" y="53"/>
                  <a:pt x="166" y="53"/>
                </a:cubicBezTo>
                <a:cubicBezTo>
                  <a:pt x="151" y="52"/>
                  <a:pt x="151" y="52"/>
                  <a:pt x="151" y="52"/>
                </a:cubicBezTo>
                <a:cubicBezTo>
                  <a:pt x="149" y="50"/>
                  <a:pt x="148" y="47"/>
                  <a:pt x="147" y="45"/>
                </a:cubicBezTo>
                <a:cubicBezTo>
                  <a:pt x="153" y="32"/>
                  <a:pt x="153" y="32"/>
                  <a:pt x="153" y="32"/>
                </a:cubicBezTo>
                <a:cubicBezTo>
                  <a:pt x="139" y="17"/>
                  <a:pt x="139" y="17"/>
                  <a:pt x="139" y="17"/>
                </a:cubicBezTo>
                <a:cubicBezTo>
                  <a:pt x="125" y="24"/>
                  <a:pt x="125" y="24"/>
                  <a:pt x="125" y="24"/>
                </a:cubicBezTo>
                <a:cubicBezTo>
                  <a:pt x="123" y="23"/>
                  <a:pt x="121" y="21"/>
                  <a:pt x="118" y="20"/>
                </a:cubicBezTo>
                <a:cubicBezTo>
                  <a:pt x="117" y="5"/>
                  <a:pt x="117" y="5"/>
                  <a:pt x="117" y="5"/>
                </a:cubicBezTo>
                <a:cubicBezTo>
                  <a:pt x="107" y="3"/>
                  <a:pt x="107" y="3"/>
                  <a:pt x="107" y="3"/>
                </a:cubicBezTo>
                <a:cubicBezTo>
                  <a:pt x="98" y="0"/>
                  <a:pt x="98" y="0"/>
                  <a:pt x="98" y="0"/>
                </a:cubicBezTo>
                <a:cubicBezTo>
                  <a:pt x="89" y="13"/>
                  <a:pt x="89" y="13"/>
                  <a:pt x="89" y="13"/>
                </a:cubicBezTo>
                <a:cubicBezTo>
                  <a:pt x="87" y="13"/>
                  <a:pt x="84" y="13"/>
                  <a:pt x="81" y="13"/>
                </a:cubicBezTo>
                <a:cubicBezTo>
                  <a:pt x="73" y="0"/>
                  <a:pt x="73" y="0"/>
                  <a:pt x="73" y="0"/>
                </a:cubicBezTo>
                <a:cubicBezTo>
                  <a:pt x="53" y="6"/>
                  <a:pt x="53" y="6"/>
                  <a:pt x="53" y="6"/>
                </a:cubicBezTo>
                <a:cubicBezTo>
                  <a:pt x="52" y="21"/>
                  <a:pt x="52" y="21"/>
                  <a:pt x="52" y="21"/>
                </a:cubicBezTo>
                <a:cubicBezTo>
                  <a:pt x="50" y="22"/>
                  <a:pt x="48" y="23"/>
                  <a:pt x="46" y="25"/>
                </a:cubicBezTo>
                <a:cubicBezTo>
                  <a:pt x="32" y="18"/>
                  <a:pt x="32" y="18"/>
                  <a:pt x="32" y="18"/>
                </a:cubicBezTo>
                <a:cubicBezTo>
                  <a:pt x="18" y="33"/>
                  <a:pt x="18" y="33"/>
                  <a:pt x="18" y="33"/>
                </a:cubicBezTo>
                <a:cubicBezTo>
                  <a:pt x="25" y="46"/>
                  <a:pt x="25" y="46"/>
                  <a:pt x="25" y="46"/>
                </a:cubicBezTo>
                <a:cubicBezTo>
                  <a:pt x="23" y="49"/>
                  <a:pt x="22" y="51"/>
                  <a:pt x="21" y="53"/>
                </a:cubicBezTo>
                <a:cubicBezTo>
                  <a:pt x="6" y="54"/>
                  <a:pt x="6" y="54"/>
                  <a:pt x="6" y="54"/>
                </a:cubicBezTo>
                <a:cubicBezTo>
                  <a:pt x="3" y="64"/>
                  <a:pt x="3" y="64"/>
                  <a:pt x="3" y="64"/>
                </a:cubicBezTo>
                <a:cubicBezTo>
                  <a:pt x="0" y="74"/>
                  <a:pt x="0" y="74"/>
                  <a:pt x="0" y="74"/>
                </a:cubicBezTo>
                <a:cubicBezTo>
                  <a:pt x="13" y="82"/>
                  <a:pt x="13" y="82"/>
                  <a:pt x="13" y="82"/>
                </a:cubicBezTo>
                <a:cubicBezTo>
                  <a:pt x="13" y="85"/>
                  <a:pt x="13" y="88"/>
                  <a:pt x="13" y="90"/>
                </a:cubicBezTo>
                <a:cubicBezTo>
                  <a:pt x="1" y="99"/>
                  <a:pt x="1" y="99"/>
                  <a:pt x="1" y="99"/>
                </a:cubicBezTo>
                <a:cubicBezTo>
                  <a:pt x="6" y="118"/>
                  <a:pt x="6" y="118"/>
                  <a:pt x="6" y="118"/>
                </a:cubicBezTo>
                <a:cubicBezTo>
                  <a:pt x="21" y="119"/>
                  <a:pt x="21" y="119"/>
                  <a:pt x="21" y="119"/>
                </a:cubicBezTo>
                <a:cubicBezTo>
                  <a:pt x="23" y="121"/>
                  <a:pt x="24" y="124"/>
                  <a:pt x="25" y="126"/>
                </a:cubicBezTo>
                <a:cubicBezTo>
                  <a:pt x="19" y="140"/>
                  <a:pt x="19" y="140"/>
                  <a:pt x="19" y="140"/>
                </a:cubicBezTo>
                <a:cubicBezTo>
                  <a:pt x="33" y="154"/>
                  <a:pt x="33" y="154"/>
                  <a:pt x="33" y="154"/>
                </a:cubicBezTo>
                <a:cubicBezTo>
                  <a:pt x="47" y="147"/>
                  <a:pt x="47" y="147"/>
                  <a:pt x="47" y="147"/>
                </a:cubicBezTo>
                <a:cubicBezTo>
                  <a:pt x="49" y="148"/>
                  <a:pt x="51" y="150"/>
                  <a:pt x="54" y="151"/>
                </a:cubicBezTo>
                <a:cubicBezTo>
                  <a:pt x="55" y="166"/>
                  <a:pt x="55" y="166"/>
                  <a:pt x="55" y="166"/>
                </a:cubicBezTo>
                <a:cubicBezTo>
                  <a:pt x="65" y="169"/>
                  <a:pt x="65" y="169"/>
                  <a:pt x="65" y="169"/>
                </a:cubicBezTo>
                <a:cubicBezTo>
                  <a:pt x="74" y="171"/>
                  <a:pt x="74" y="171"/>
                  <a:pt x="74" y="171"/>
                </a:cubicBezTo>
                <a:cubicBezTo>
                  <a:pt x="83" y="158"/>
                  <a:pt x="83" y="158"/>
                  <a:pt x="83" y="158"/>
                </a:cubicBezTo>
                <a:cubicBezTo>
                  <a:pt x="85" y="158"/>
                  <a:pt x="88" y="158"/>
                  <a:pt x="91" y="158"/>
                </a:cubicBezTo>
                <a:cubicBezTo>
                  <a:pt x="99" y="171"/>
                  <a:pt x="99" y="171"/>
                  <a:pt x="99" y="171"/>
                </a:cubicBezTo>
                <a:cubicBezTo>
                  <a:pt x="119" y="165"/>
                  <a:pt x="119" y="165"/>
                  <a:pt x="119" y="165"/>
                </a:cubicBezTo>
                <a:cubicBezTo>
                  <a:pt x="120" y="150"/>
                  <a:pt x="120" y="150"/>
                  <a:pt x="120" y="150"/>
                </a:cubicBezTo>
                <a:cubicBezTo>
                  <a:pt x="122" y="149"/>
                  <a:pt x="124" y="148"/>
                  <a:pt x="126" y="146"/>
                </a:cubicBezTo>
                <a:cubicBezTo>
                  <a:pt x="140" y="153"/>
                  <a:pt x="140" y="153"/>
                  <a:pt x="140" y="153"/>
                </a:cubicBezTo>
                <a:cubicBezTo>
                  <a:pt x="154" y="138"/>
                  <a:pt x="154" y="138"/>
                  <a:pt x="154" y="138"/>
                </a:cubicBezTo>
                <a:cubicBezTo>
                  <a:pt x="147" y="125"/>
                  <a:pt x="147" y="125"/>
                  <a:pt x="147" y="125"/>
                </a:cubicBezTo>
                <a:cubicBezTo>
                  <a:pt x="149" y="123"/>
                  <a:pt x="150" y="120"/>
                  <a:pt x="151" y="118"/>
                </a:cubicBezTo>
                <a:cubicBezTo>
                  <a:pt x="166" y="117"/>
                  <a:pt x="166" y="117"/>
                  <a:pt x="166" y="117"/>
                </a:cubicBezTo>
                <a:cubicBezTo>
                  <a:pt x="169" y="107"/>
                  <a:pt x="169" y="107"/>
                  <a:pt x="169" y="107"/>
                </a:cubicBezTo>
                <a:cubicBezTo>
                  <a:pt x="172" y="97"/>
                  <a:pt x="172" y="97"/>
                  <a:pt x="172" y="97"/>
                </a:cubicBezTo>
                <a:lnTo>
                  <a:pt x="159" y="89"/>
                </a:lnTo>
                <a:close/>
                <a:moveTo>
                  <a:pt x="71" y="142"/>
                </a:moveTo>
                <a:cubicBezTo>
                  <a:pt x="40" y="134"/>
                  <a:pt x="21" y="102"/>
                  <a:pt x="29" y="71"/>
                </a:cubicBezTo>
                <a:cubicBezTo>
                  <a:pt x="37" y="40"/>
                  <a:pt x="69" y="21"/>
                  <a:pt x="101" y="29"/>
                </a:cubicBezTo>
                <a:cubicBezTo>
                  <a:pt x="132" y="37"/>
                  <a:pt x="151" y="69"/>
                  <a:pt x="143" y="100"/>
                </a:cubicBezTo>
                <a:cubicBezTo>
                  <a:pt x="135" y="132"/>
                  <a:pt x="103" y="150"/>
                  <a:pt x="71" y="142"/>
                </a:cubicBezTo>
                <a:close/>
              </a:path>
            </a:pathLst>
          </a:custGeom>
          <a:solidFill>
            <a:srgbClr val="000000">
              <a:alpha val="2000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5372" name="Freeform 12"/>
          <p:cNvSpPr>
            <a:spLocks noEditPoints="1" noChangeArrowheads="1"/>
          </p:cNvSpPr>
          <p:nvPr/>
        </p:nvSpPr>
        <p:spPr bwMode="auto">
          <a:xfrm>
            <a:off x="2331614" y="2046185"/>
            <a:ext cx="408390" cy="406275"/>
          </a:xfrm>
          <a:custGeom>
            <a:avLst/>
            <a:gdLst>
              <a:gd name="T0" fmla="*/ 2147483646 w 99"/>
              <a:gd name="T1" fmla="*/ 2147483646 h 99"/>
              <a:gd name="T2" fmla="*/ 2147483646 w 99"/>
              <a:gd name="T3" fmla="*/ 2147483646 h 99"/>
              <a:gd name="T4" fmla="*/ 2147483646 w 99"/>
              <a:gd name="T5" fmla="*/ 2147483646 h 99"/>
              <a:gd name="T6" fmla="*/ 2147483646 w 99"/>
              <a:gd name="T7" fmla="*/ 2147483646 h 99"/>
              <a:gd name="T8" fmla="*/ 2147483646 w 99"/>
              <a:gd name="T9" fmla="*/ 2147483646 h 99"/>
              <a:gd name="T10" fmla="*/ 2147483646 w 99"/>
              <a:gd name="T11" fmla="*/ 2147483646 h 99"/>
              <a:gd name="T12" fmla="*/ 2147483646 w 99"/>
              <a:gd name="T13" fmla="*/ 2147483646 h 99"/>
              <a:gd name="T14" fmla="*/ 2147483646 w 99"/>
              <a:gd name="T15" fmla="*/ 2147483646 h 99"/>
              <a:gd name="T16" fmla="*/ 2147483646 w 99"/>
              <a:gd name="T17" fmla="*/ 2147483646 h 99"/>
              <a:gd name="T18" fmla="*/ 2147483646 w 99"/>
              <a:gd name="T19" fmla="*/ 2147483646 h 99"/>
              <a:gd name="T20" fmla="*/ 2147483646 w 99"/>
              <a:gd name="T21" fmla="*/ 2147483646 h 99"/>
              <a:gd name="T22" fmla="*/ 2147483646 w 99"/>
              <a:gd name="T23" fmla="*/ 2147483646 h 99"/>
              <a:gd name="T24" fmla="*/ 2147483646 w 99"/>
              <a:gd name="T25" fmla="*/ 0 h 99"/>
              <a:gd name="T26" fmla="*/ 2147483646 w 99"/>
              <a:gd name="T27" fmla="*/ 2147483646 h 99"/>
              <a:gd name="T28" fmla="*/ 2147483646 w 99"/>
              <a:gd name="T29" fmla="*/ 2147483646 h 99"/>
              <a:gd name="T30" fmla="*/ 2147483646 w 99"/>
              <a:gd name="T31" fmla="*/ 0 h 99"/>
              <a:gd name="T32" fmla="*/ 2147483646 w 99"/>
              <a:gd name="T33" fmla="*/ 2147483646 h 99"/>
              <a:gd name="T34" fmla="*/ 2147483646 w 99"/>
              <a:gd name="T35" fmla="*/ 2147483646 h 99"/>
              <a:gd name="T36" fmla="*/ 2147483646 w 99"/>
              <a:gd name="T37" fmla="*/ 2147483646 h 99"/>
              <a:gd name="T38" fmla="*/ 2147483646 w 99"/>
              <a:gd name="T39" fmla="*/ 2147483646 h 99"/>
              <a:gd name="T40" fmla="*/ 2147483646 w 99"/>
              <a:gd name="T41" fmla="*/ 2147483646 h 99"/>
              <a:gd name="T42" fmla="*/ 2147483646 w 99"/>
              <a:gd name="T43" fmla="*/ 2147483646 h 99"/>
              <a:gd name="T44" fmla="*/ 2147483646 w 99"/>
              <a:gd name="T45" fmla="*/ 2147483646 h 99"/>
              <a:gd name="T46" fmla="*/ 2147483646 w 99"/>
              <a:gd name="T47" fmla="*/ 2147483646 h 99"/>
              <a:gd name="T48" fmla="*/ 2147483646 w 99"/>
              <a:gd name="T49" fmla="*/ 2147483646 h 99"/>
              <a:gd name="T50" fmla="*/ 0 w 99"/>
              <a:gd name="T51" fmla="*/ 2147483646 h 99"/>
              <a:gd name="T52" fmla="*/ 2147483646 w 99"/>
              <a:gd name="T53" fmla="*/ 2147483646 h 99"/>
              <a:gd name="T54" fmla="*/ 2147483646 w 99"/>
              <a:gd name="T55" fmla="*/ 2147483646 h 99"/>
              <a:gd name="T56" fmla="*/ 0 w 99"/>
              <a:gd name="T57" fmla="*/ 2147483646 h 99"/>
              <a:gd name="T58" fmla="*/ 2147483646 w 99"/>
              <a:gd name="T59" fmla="*/ 2147483646 h 99"/>
              <a:gd name="T60" fmla="*/ 2147483646 w 99"/>
              <a:gd name="T61" fmla="*/ 2147483646 h 99"/>
              <a:gd name="T62" fmla="*/ 2147483646 w 99"/>
              <a:gd name="T63" fmla="*/ 2147483646 h 99"/>
              <a:gd name="T64" fmla="*/ 2147483646 w 99"/>
              <a:gd name="T65" fmla="*/ 2147483646 h 99"/>
              <a:gd name="T66" fmla="*/ 2147483646 w 99"/>
              <a:gd name="T67" fmla="*/ 2147483646 h 99"/>
              <a:gd name="T68" fmla="*/ 2147483646 w 99"/>
              <a:gd name="T69" fmla="*/ 2147483646 h 99"/>
              <a:gd name="T70" fmla="*/ 2147483646 w 99"/>
              <a:gd name="T71" fmla="*/ 2147483646 h 99"/>
              <a:gd name="T72" fmla="*/ 2147483646 w 99"/>
              <a:gd name="T73" fmla="*/ 2147483646 h 99"/>
              <a:gd name="T74" fmla="*/ 2147483646 w 99"/>
              <a:gd name="T75" fmla="*/ 2147483646 h 99"/>
              <a:gd name="T76" fmla="*/ 2147483646 w 99"/>
              <a:gd name="T77" fmla="*/ 2147483646 h 99"/>
              <a:gd name="T78" fmla="*/ 2147483646 w 99"/>
              <a:gd name="T79" fmla="*/ 2147483646 h 99"/>
              <a:gd name="T80" fmla="*/ 2147483646 w 99"/>
              <a:gd name="T81" fmla="*/ 2147483646 h 99"/>
              <a:gd name="T82" fmla="*/ 2147483646 w 99"/>
              <a:gd name="T83" fmla="*/ 2147483646 h 99"/>
              <a:gd name="T84" fmla="*/ 2147483646 w 99"/>
              <a:gd name="T85" fmla="*/ 2147483646 h 99"/>
              <a:gd name="T86" fmla="*/ 2147483646 w 99"/>
              <a:gd name="T87" fmla="*/ 2147483646 h 99"/>
              <a:gd name="T88" fmla="*/ 2147483646 w 99"/>
              <a:gd name="T89" fmla="*/ 2147483646 h 99"/>
              <a:gd name="T90" fmla="*/ 2147483646 w 99"/>
              <a:gd name="T91" fmla="*/ 2147483646 h 99"/>
              <a:gd name="T92" fmla="*/ 2147483646 w 99"/>
              <a:gd name="T93" fmla="*/ 2147483646 h 99"/>
              <a:gd name="T94" fmla="*/ 2147483646 w 99"/>
              <a:gd name="T95" fmla="*/ 2147483646 h 99"/>
              <a:gd name="T96" fmla="*/ 2147483646 w 99"/>
              <a:gd name="T97" fmla="*/ 2147483646 h 99"/>
              <a:gd name="T98" fmla="*/ 2147483646 w 99"/>
              <a:gd name="T99" fmla="*/ 2147483646 h 99"/>
              <a:gd name="T100" fmla="*/ 2147483646 w 99"/>
              <a:gd name="T101" fmla="*/ 2147483646 h 99"/>
              <a:gd name="T102" fmla="*/ 2147483646 w 99"/>
              <a:gd name="T103" fmla="*/ 2147483646 h 99"/>
              <a:gd name="T104" fmla="*/ 2147483646 w 99"/>
              <a:gd name="T105" fmla="*/ 2147483646 h 99"/>
              <a:gd name="T106" fmla="*/ 2147483646 w 99"/>
              <a:gd name="T107" fmla="*/ 2147483646 h 99"/>
              <a:gd name="T108" fmla="*/ 2147483646 w 99"/>
              <a:gd name="T109" fmla="*/ 2147483646 h 99"/>
              <a:gd name="T110" fmla="*/ 2147483646 w 99"/>
              <a:gd name="T111" fmla="*/ 2147483646 h 99"/>
              <a:gd name="T112" fmla="*/ 2147483646 w 99"/>
              <a:gd name="T113" fmla="*/ 2147483646 h 99"/>
              <a:gd name="T114" fmla="*/ 2147483646 w 99"/>
              <a:gd name="T115" fmla="*/ 2147483646 h 9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99" h="99">
                <a:moveTo>
                  <a:pt x="91" y="51"/>
                </a:moveTo>
                <a:cubicBezTo>
                  <a:pt x="91" y="50"/>
                  <a:pt x="91" y="48"/>
                  <a:pt x="91" y="47"/>
                </a:cubicBezTo>
                <a:cubicBezTo>
                  <a:pt x="99" y="42"/>
                  <a:pt x="99" y="42"/>
                  <a:pt x="99" y="42"/>
                </a:cubicBezTo>
                <a:cubicBezTo>
                  <a:pt x="95" y="30"/>
                  <a:pt x="95" y="30"/>
                  <a:pt x="95" y="30"/>
                </a:cubicBezTo>
                <a:cubicBezTo>
                  <a:pt x="87" y="30"/>
                  <a:pt x="87" y="30"/>
                  <a:pt x="87" y="30"/>
                </a:cubicBezTo>
                <a:cubicBezTo>
                  <a:pt x="86" y="29"/>
                  <a:pt x="85" y="27"/>
                  <a:pt x="84" y="26"/>
                </a:cubicBezTo>
                <a:cubicBezTo>
                  <a:pt x="88" y="18"/>
                  <a:pt x="88" y="18"/>
                  <a:pt x="88" y="18"/>
                </a:cubicBezTo>
                <a:cubicBezTo>
                  <a:pt x="80" y="10"/>
                  <a:pt x="80" y="10"/>
                  <a:pt x="80" y="10"/>
                </a:cubicBezTo>
                <a:cubicBezTo>
                  <a:pt x="72" y="14"/>
                  <a:pt x="72" y="14"/>
                  <a:pt x="72" y="14"/>
                </a:cubicBezTo>
                <a:cubicBezTo>
                  <a:pt x="71" y="13"/>
                  <a:pt x="69" y="12"/>
                  <a:pt x="68" y="12"/>
                </a:cubicBezTo>
                <a:cubicBezTo>
                  <a:pt x="67" y="3"/>
                  <a:pt x="67" y="3"/>
                  <a:pt x="67" y="3"/>
                </a:cubicBezTo>
                <a:cubicBezTo>
                  <a:pt x="62" y="1"/>
                  <a:pt x="62" y="1"/>
                  <a:pt x="62" y="1"/>
                </a:cubicBezTo>
                <a:cubicBezTo>
                  <a:pt x="56" y="0"/>
                  <a:pt x="56" y="0"/>
                  <a:pt x="56" y="0"/>
                </a:cubicBezTo>
                <a:cubicBezTo>
                  <a:pt x="51" y="7"/>
                  <a:pt x="51" y="7"/>
                  <a:pt x="51" y="7"/>
                </a:cubicBezTo>
                <a:cubicBezTo>
                  <a:pt x="50" y="7"/>
                  <a:pt x="48" y="7"/>
                  <a:pt x="47" y="7"/>
                </a:cubicBezTo>
                <a:cubicBezTo>
                  <a:pt x="42" y="0"/>
                  <a:pt x="42" y="0"/>
                  <a:pt x="42" y="0"/>
                </a:cubicBezTo>
                <a:cubicBezTo>
                  <a:pt x="30" y="3"/>
                  <a:pt x="30" y="3"/>
                  <a:pt x="30" y="3"/>
                </a:cubicBezTo>
                <a:cubicBezTo>
                  <a:pt x="30" y="12"/>
                  <a:pt x="30" y="12"/>
                  <a:pt x="30" y="12"/>
                </a:cubicBezTo>
                <a:cubicBezTo>
                  <a:pt x="28" y="13"/>
                  <a:pt x="27" y="14"/>
                  <a:pt x="26" y="14"/>
                </a:cubicBezTo>
                <a:cubicBezTo>
                  <a:pt x="18" y="10"/>
                  <a:pt x="18" y="10"/>
                  <a:pt x="18" y="10"/>
                </a:cubicBezTo>
                <a:cubicBezTo>
                  <a:pt x="10" y="19"/>
                  <a:pt x="10" y="19"/>
                  <a:pt x="10" y="19"/>
                </a:cubicBezTo>
                <a:cubicBezTo>
                  <a:pt x="14" y="27"/>
                  <a:pt x="14" y="27"/>
                  <a:pt x="14" y="27"/>
                </a:cubicBezTo>
                <a:cubicBezTo>
                  <a:pt x="13" y="28"/>
                  <a:pt x="12" y="29"/>
                  <a:pt x="11" y="31"/>
                </a:cubicBezTo>
                <a:cubicBezTo>
                  <a:pt x="3" y="31"/>
                  <a:pt x="3" y="31"/>
                  <a:pt x="3" y="31"/>
                </a:cubicBezTo>
                <a:cubicBezTo>
                  <a:pt x="1" y="37"/>
                  <a:pt x="1" y="37"/>
                  <a:pt x="1" y="37"/>
                </a:cubicBezTo>
                <a:cubicBezTo>
                  <a:pt x="0" y="43"/>
                  <a:pt x="0" y="43"/>
                  <a:pt x="0" y="43"/>
                </a:cubicBezTo>
                <a:cubicBezTo>
                  <a:pt x="7" y="48"/>
                  <a:pt x="7" y="48"/>
                  <a:pt x="7" y="48"/>
                </a:cubicBezTo>
                <a:cubicBezTo>
                  <a:pt x="7" y="49"/>
                  <a:pt x="7" y="51"/>
                  <a:pt x="7" y="52"/>
                </a:cubicBezTo>
                <a:cubicBezTo>
                  <a:pt x="0" y="57"/>
                  <a:pt x="0" y="57"/>
                  <a:pt x="0" y="57"/>
                </a:cubicBezTo>
                <a:cubicBezTo>
                  <a:pt x="3" y="68"/>
                  <a:pt x="3" y="68"/>
                  <a:pt x="3" y="68"/>
                </a:cubicBezTo>
                <a:cubicBezTo>
                  <a:pt x="12" y="69"/>
                  <a:pt x="12" y="69"/>
                  <a:pt x="12" y="69"/>
                </a:cubicBezTo>
                <a:cubicBezTo>
                  <a:pt x="13" y="70"/>
                  <a:pt x="13" y="71"/>
                  <a:pt x="14" y="73"/>
                </a:cubicBezTo>
                <a:cubicBezTo>
                  <a:pt x="10" y="81"/>
                  <a:pt x="10" y="81"/>
                  <a:pt x="10" y="81"/>
                </a:cubicBezTo>
                <a:cubicBezTo>
                  <a:pt x="19" y="89"/>
                  <a:pt x="19" y="89"/>
                  <a:pt x="19" y="89"/>
                </a:cubicBezTo>
                <a:cubicBezTo>
                  <a:pt x="27" y="85"/>
                  <a:pt x="27" y="85"/>
                  <a:pt x="27" y="85"/>
                </a:cubicBezTo>
                <a:cubicBezTo>
                  <a:pt x="28" y="86"/>
                  <a:pt x="29" y="87"/>
                  <a:pt x="31" y="87"/>
                </a:cubicBezTo>
                <a:cubicBezTo>
                  <a:pt x="31" y="96"/>
                  <a:pt x="31" y="96"/>
                  <a:pt x="31" y="96"/>
                </a:cubicBezTo>
                <a:cubicBezTo>
                  <a:pt x="37" y="97"/>
                  <a:pt x="37" y="97"/>
                  <a:pt x="37" y="97"/>
                </a:cubicBezTo>
                <a:cubicBezTo>
                  <a:pt x="43" y="99"/>
                  <a:pt x="43" y="99"/>
                  <a:pt x="43" y="99"/>
                </a:cubicBezTo>
                <a:cubicBezTo>
                  <a:pt x="47" y="92"/>
                  <a:pt x="47" y="92"/>
                  <a:pt x="47" y="92"/>
                </a:cubicBezTo>
                <a:cubicBezTo>
                  <a:pt x="49" y="92"/>
                  <a:pt x="50" y="92"/>
                  <a:pt x="52" y="91"/>
                </a:cubicBezTo>
                <a:cubicBezTo>
                  <a:pt x="57" y="99"/>
                  <a:pt x="57" y="99"/>
                  <a:pt x="57" y="99"/>
                </a:cubicBezTo>
                <a:cubicBezTo>
                  <a:pt x="68" y="96"/>
                  <a:pt x="68" y="96"/>
                  <a:pt x="68" y="96"/>
                </a:cubicBezTo>
                <a:cubicBezTo>
                  <a:pt x="69" y="87"/>
                  <a:pt x="69" y="87"/>
                  <a:pt x="69" y="87"/>
                </a:cubicBezTo>
                <a:cubicBezTo>
                  <a:pt x="70" y="86"/>
                  <a:pt x="71" y="85"/>
                  <a:pt x="73" y="85"/>
                </a:cubicBezTo>
                <a:cubicBezTo>
                  <a:pt x="81" y="88"/>
                  <a:pt x="81" y="88"/>
                  <a:pt x="81" y="88"/>
                </a:cubicBezTo>
                <a:cubicBezTo>
                  <a:pt x="89" y="80"/>
                  <a:pt x="89" y="80"/>
                  <a:pt x="89" y="80"/>
                </a:cubicBezTo>
                <a:cubicBezTo>
                  <a:pt x="85" y="72"/>
                  <a:pt x="85" y="72"/>
                  <a:pt x="85" y="72"/>
                </a:cubicBezTo>
                <a:cubicBezTo>
                  <a:pt x="86" y="71"/>
                  <a:pt x="86" y="70"/>
                  <a:pt x="87" y="68"/>
                </a:cubicBezTo>
                <a:cubicBezTo>
                  <a:pt x="96" y="68"/>
                  <a:pt x="96" y="68"/>
                  <a:pt x="96" y="68"/>
                </a:cubicBezTo>
                <a:cubicBezTo>
                  <a:pt x="97" y="62"/>
                  <a:pt x="97" y="62"/>
                  <a:pt x="97" y="62"/>
                </a:cubicBezTo>
                <a:cubicBezTo>
                  <a:pt x="99" y="56"/>
                  <a:pt x="99" y="56"/>
                  <a:pt x="99" y="56"/>
                </a:cubicBezTo>
                <a:lnTo>
                  <a:pt x="91" y="51"/>
                </a:lnTo>
                <a:close/>
                <a:moveTo>
                  <a:pt x="41" y="82"/>
                </a:moveTo>
                <a:cubicBezTo>
                  <a:pt x="23" y="78"/>
                  <a:pt x="12" y="59"/>
                  <a:pt x="16" y="41"/>
                </a:cubicBezTo>
                <a:cubicBezTo>
                  <a:pt x="21" y="23"/>
                  <a:pt x="40" y="12"/>
                  <a:pt x="58" y="17"/>
                </a:cubicBezTo>
                <a:cubicBezTo>
                  <a:pt x="76" y="21"/>
                  <a:pt x="87" y="40"/>
                  <a:pt x="82" y="58"/>
                </a:cubicBezTo>
                <a:cubicBezTo>
                  <a:pt x="77" y="76"/>
                  <a:pt x="59" y="87"/>
                  <a:pt x="41" y="82"/>
                </a:cubicBezTo>
                <a:close/>
              </a:path>
            </a:pathLst>
          </a:custGeom>
          <a:solidFill>
            <a:srgbClr val="000000">
              <a:alpha val="2000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5373" name="Freeform 13"/>
          <p:cNvSpPr>
            <a:spLocks noEditPoints="1" noChangeArrowheads="1"/>
          </p:cNvSpPr>
          <p:nvPr/>
        </p:nvSpPr>
        <p:spPr bwMode="auto">
          <a:xfrm>
            <a:off x="1825887" y="4813933"/>
            <a:ext cx="1123604" cy="1123604"/>
          </a:xfrm>
          <a:custGeom>
            <a:avLst/>
            <a:gdLst>
              <a:gd name="T0" fmla="*/ 2147483646 w 273"/>
              <a:gd name="T1" fmla="*/ 2147483646 h 273"/>
              <a:gd name="T2" fmla="*/ 2147483646 w 273"/>
              <a:gd name="T3" fmla="*/ 2147483646 h 273"/>
              <a:gd name="T4" fmla="*/ 2147483646 w 273"/>
              <a:gd name="T5" fmla="*/ 2147483646 h 273"/>
              <a:gd name="T6" fmla="*/ 2147483646 w 273"/>
              <a:gd name="T7" fmla="*/ 2147483646 h 273"/>
              <a:gd name="T8" fmla="*/ 2147483646 w 273"/>
              <a:gd name="T9" fmla="*/ 2147483646 h 273"/>
              <a:gd name="T10" fmla="*/ 2147483646 w 273"/>
              <a:gd name="T11" fmla="*/ 2147483646 h 273"/>
              <a:gd name="T12" fmla="*/ 2147483646 w 273"/>
              <a:gd name="T13" fmla="*/ 2147483646 h 273"/>
              <a:gd name="T14" fmla="*/ 2147483646 w 273"/>
              <a:gd name="T15" fmla="*/ 2147483646 h 273"/>
              <a:gd name="T16" fmla="*/ 2147483646 w 273"/>
              <a:gd name="T17" fmla="*/ 2147483646 h 273"/>
              <a:gd name="T18" fmla="*/ 2147483646 w 273"/>
              <a:gd name="T19" fmla="*/ 2147483646 h 273"/>
              <a:gd name="T20" fmla="*/ 2147483646 w 273"/>
              <a:gd name="T21" fmla="*/ 2147483646 h 273"/>
              <a:gd name="T22" fmla="*/ 2147483646 w 273"/>
              <a:gd name="T23" fmla="*/ 2147483646 h 273"/>
              <a:gd name="T24" fmla="*/ 2147483646 w 273"/>
              <a:gd name="T25" fmla="*/ 2147483646 h 273"/>
              <a:gd name="T26" fmla="*/ 2147483646 w 273"/>
              <a:gd name="T27" fmla="*/ 2147483646 h 273"/>
              <a:gd name="T28" fmla="*/ 2147483646 w 273"/>
              <a:gd name="T29" fmla="*/ 2147483646 h 273"/>
              <a:gd name="T30" fmla="*/ 2147483646 w 273"/>
              <a:gd name="T31" fmla="*/ 0 h 273"/>
              <a:gd name="T32" fmla="*/ 2147483646 w 273"/>
              <a:gd name="T33" fmla="*/ 2147483646 h 273"/>
              <a:gd name="T34" fmla="*/ 2147483646 w 273"/>
              <a:gd name="T35" fmla="*/ 2147483646 h 273"/>
              <a:gd name="T36" fmla="*/ 2147483646 w 273"/>
              <a:gd name="T37" fmla="*/ 2147483646 h 273"/>
              <a:gd name="T38" fmla="*/ 2147483646 w 273"/>
              <a:gd name="T39" fmla="*/ 2147483646 h 273"/>
              <a:gd name="T40" fmla="*/ 2147483646 w 273"/>
              <a:gd name="T41" fmla="*/ 2147483646 h 273"/>
              <a:gd name="T42" fmla="*/ 2147483646 w 273"/>
              <a:gd name="T43" fmla="*/ 2147483646 h 273"/>
              <a:gd name="T44" fmla="*/ 2147483646 w 273"/>
              <a:gd name="T45" fmla="*/ 2147483646 h 273"/>
              <a:gd name="T46" fmla="*/ 2147483646 w 273"/>
              <a:gd name="T47" fmla="*/ 2147483646 h 273"/>
              <a:gd name="T48" fmla="*/ 2147483646 w 273"/>
              <a:gd name="T49" fmla="*/ 2147483646 h 273"/>
              <a:gd name="T50" fmla="*/ 2147483646 w 273"/>
              <a:gd name="T51" fmla="*/ 2147483646 h 273"/>
              <a:gd name="T52" fmla="*/ 2147483646 w 273"/>
              <a:gd name="T53" fmla="*/ 2147483646 h 273"/>
              <a:gd name="T54" fmla="*/ 2147483646 w 273"/>
              <a:gd name="T55" fmla="*/ 2147483646 h 273"/>
              <a:gd name="T56" fmla="*/ 0 w 273"/>
              <a:gd name="T57" fmla="*/ 2147483646 h 273"/>
              <a:gd name="T58" fmla="*/ 2147483646 w 273"/>
              <a:gd name="T59" fmla="*/ 2147483646 h 273"/>
              <a:gd name="T60" fmla="*/ 2147483646 w 273"/>
              <a:gd name="T61" fmla="*/ 2147483646 h 273"/>
              <a:gd name="T62" fmla="*/ 2147483646 w 273"/>
              <a:gd name="T63" fmla="*/ 2147483646 h 273"/>
              <a:gd name="T64" fmla="*/ 2147483646 w 273"/>
              <a:gd name="T65" fmla="*/ 2147483646 h 273"/>
              <a:gd name="T66" fmla="*/ 2147483646 w 273"/>
              <a:gd name="T67" fmla="*/ 2147483646 h 273"/>
              <a:gd name="T68" fmla="*/ 2147483646 w 273"/>
              <a:gd name="T69" fmla="*/ 2147483646 h 273"/>
              <a:gd name="T70" fmla="*/ 2147483646 w 273"/>
              <a:gd name="T71" fmla="*/ 2147483646 h 273"/>
              <a:gd name="T72" fmla="*/ 2147483646 w 273"/>
              <a:gd name="T73" fmla="*/ 2147483646 h 273"/>
              <a:gd name="T74" fmla="*/ 2147483646 w 273"/>
              <a:gd name="T75" fmla="*/ 2147483646 h 273"/>
              <a:gd name="T76" fmla="*/ 2147483646 w 273"/>
              <a:gd name="T77" fmla="*/ 2147483646 h 273"/>
              <a:gd name="T78" fmla="*/ 2147483646 w 273"/>
              <a:gd name="T79" fmla="*/ 2147483646 h 273"/>
              <a:gd name="T80" fmla="*/ 2147483646 w 273"/>
              <a:gd name="T81" fmla="*/ 2147483646 h 273"/>
              <a:gd name="T82" fmla="*/ 2147483646 w 273"/>
              <a:gd name="T83" fmla="*/ 2147483646 h 273"/>
              <a:gd name="T84" fmla="*/ 2147483646 w 273"/>
              <a:gd name="T85" fmla="*/ 2147483646 h 273"/>
              <a:gd name="T86" fmla="*/ 2147483646 w 273"/>
              <a:gd name="T87" fmla="*/ 2147483646 h 273"/>
              <a:gd name="T88" fmla="*/ 2147483646 w 273"/>
              <a:gd name="T89" fmla="*/ 2147483646 h 273"/>
              <a:gd name="T90" fmla="*/ 2147483646 w 273"/>
              <a:gd name="T91" fmla="*/ 2147483646 h 273"/>
              <a:gd name="T92" fmla="*/ 2147483646 w 273"/>
              <a:gd name="T93" fmla="*/ 2147483646 h 273"/>
              <a:gd name="T94" fmla="*/ 2147483646 w 273"/>
              <a:gd name="T95" fmla="*/ 2147483646 h 273"/>
              <a:gd name="T96" fmla="*/ 2147483646 w 273"/>
              <a:gd name="T97" fmla="*/ 2147483646 h 273"/>
              <a:gd name="T98" fmla="*/ 2147483646 w 273"/>
              <a:gd name="T99" fmla="*/ 2147483646 h 273"/>
              <a:gd name="T100" fmla="*/ 2147483646 w 273"/>
              <a:gd name="T101" fmla="*/ 2147483646 h 273"/>
              <a:gd name="T102" fmla="*/ 2147483646 w 273"/>
              <a:gd name="T103" fmla="*/ 2147483646 h 273"/>
              <a:gd name="T104" fmla="*/ 2147483646 w 273"/>
              <a:gd name="T105" fmla="*/ 2147483646 h 273"/>
              <a:gd name="T106" fmla="*/ 2147483646 w 273"/>
              <a:gd name="T107" fmla="*/ 2147483646 h 273"/>
              <a:gd name="T108" fmla="*/ 2147483646 w 273"/>
              <a:gd name="T109" fmla="*/ 2147483646 h 273"/>
              <a:gd name="T110" fmla="*/ 2147483646 w 273"/>
              <a:gd name="T111" fmla="*/ 2147483646 h 273"/>
              <a:gd name="T112" fmla="*/ 2147483646 w 273"/>
              <a:gd name="T113" fmla="*/ 2147483646 h 273"/>
              <a:gd name="T114" fmla="*/ 2147483646 w 273"/>
              <a:gd name="T115" fmla="*/ 2147483646 h 27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73" h="273">
                <a:moveTo>
                  <a:pt x="248" y="168"/>
                </a:moveTo>
                <a:cubicBezTo>
                  <a:pt x="249" y="164"/>
                  <a:pt x="250" y="160"/>
                  <a:pt x="250" y="156"/>
                </a:cubicBezTo>
                <a:cubicBezTo>
                  <a:pt x="273" y="147"/>
                  <a:pt x="273" y="147"/>
                  <a:pt x="273" y="147"/>
                </a:cubicBezTo>
                <a:cubicBezTo>
                  <a:pt x="272" y="115"/>
                  <a:pt x="272" y="115"/>
                  <a:pt x="272" y="115"/>
                </a:cubicBezTo>
                <a:cubicBezTo>
                  <a:pt x="248" y="108"/>
                  <a:pt x="248" y="108"/>
                  <a:pt x="248" y="108"/>
                </a:cubicBezTo>
                <a:cubicBezTo>
                  <a:pt x="247" y="104"/>
                  <a:pt x="246" y="100"/>
                  <a:pt x="245" y="96"/>
                </a:cubicBezTo>
                <a:cubicBezTo>
                  <a:pt x="260" y="78"/>
                  <a:pt x="260" y="78"/>
                  <a:pt x="260" y="78"/>
                </a:cubicBezTo>
                <a:cubicBezTo>
                  <a:pt x="243" y="50"/>
                  <a:pt x="243" y="50"/>
                  <a:pt x="243" y="50"/>
                </a:cubicBezTo>
                <a:cubicBezTo>
                  <a:pt x="219" y="56"/>
                  <a:pt x="219" y="56"/>
                  <a:pt x="219" y="56"/>
                </a:cubicBezTo>
                <a:cubicBezTo>
                  <a:pt x="216" y="53"/>
                  <a:pt x="213" y="50"/>
                  <a:pt x="210" y="47"/>
                </a:cubicBezTo>
                <a:cubicBezTo>
                  <a:pt x="214" y="24"/>
                  <a:pt x="214" y="24"/>
                  <a:pt x="214" y="24"/>
                </a:cubicBezTo>
                <a:cubicBezTo>
                  <a:pt x="200" y="16"/>
                  <a:pt x="200" y="16"/>
                  <a:pt x="200" y="16"/>
                </a:cubicBezTo>
                <a:cubicBezTo>
                  <a:pt x="185" y="9"/>
                  <a:pt x="185" y="9"/>
                  <a:pt x="185" y="9"/>
                </a:cubicBezTo>
                <a:cubicBezTo>
                  <a:pt x="168" y="25"/>
                  <a:pt x="168" y="25"/>
                  <a:pt x="168" y="25"/>
                </a:cubicBezTo>
                <a:cubicBezTo>
                  <a:pt x="164" y="24"/>
                  <a:pt x="160" y="23"/>
                  <a:pt x="156" y="23"/>
                </a:cubicBezTo>
                <a:cubicBezTo>
                  <a:pt x="147" y="0"/>
                  <a:pt x="147" y="0"/>
                  <a:pt x="147" y="0"/>
                </a:cubicBezTo>
                <a:cubicBezTo>
                  <a:pt x="115" y="1"/>
                  <a:pt x="115" y="1"/>
                  <a:pt x="115" y="1"/>
                </a:cubicBezTo>
                <a:cubicBezTo>
                  <a:pt x="108" y="24"/>
                  <a:pt x="108" y="24"/>
                  <a:pt x="108" y="24"/>
                </a:cubicBezTo>
                <a:cubicBezTo>
                  <a:pt x="104" y="25"/>
                  <a:pt x="100" y="27"/>
                  <a:pt x="96" y="28"/>
                </a:cubicBezTo>
                <a:cubicBezTo>
                  <a:pt x="77" y="13"/>
                  <a:pt x="77" y="13"/>
                  <a:pt x="77" y="13"/>
                </a:cubicBezTo>
                <a:cubicBezTo>
                  <a:pt x="50" y="30"/>
                  <a:pt x="50" y="30"/>
                  <a:pt x="50" y="30"/>
                </a:cubicBezTo>
                <a:cubicBezTo>
                  <a:pt x="56" y="54"/>
                  <a:pt x="56" y="54"/>
                  <a:pt x="56" y="54"/>
                </a:cubicBezTo>
                <a:cubicBezTo>
                  <a:pt x="53" y="57"/>
                  <a:pt x="50" y="60"/>
                  <a:pt x="47" y="63"/>
                </a:cubicBezTo>
                <a:cubicBezTo>
                  <a:pt x="23" y="59"/>
                  <a:pt x="23" y="59"/>
                  <a:pt x="23" y="59"/>
                </a:cubicBezTo>
                <a:cubicBezTo>
                  <a:pt x="16" y="73"/>
                  <a:pt x="16" y="73"/>
                  <a:pt x="16" y="73"/>
                </a:cubicBezTo>
                <a:cubicBezTo>
                  <a:pt x="8" y="88"/>
                  <a:pt x="8" y="88"/>
                  <a:pt x="8" y="88"/>
                </a:cubicBezTo>
                <a:cubicBezTo>
                  <a:pt x="25" y="105"/>
                  <a:pt x="25" y="105"/>
                  <a:pt x="25" y="105"/>
                </a:cubicBezTo>
                <a:cubicBezTo>
                  <a:pt x="24" y="109"/>
                  <a:pt x="23" y="113"/>
                  <a:pt x="22" y="117"/>
                </a:cubicBezTo>
                <a:cubicBezTo>
                  <a:pt x="0" y="126"/>
                  <a:pt x="0" y="126"/>
                  <a:pt x="0" y="126"/>
                </a:cubicBezTo>
                <a:cubicBezTo>
                  <a:pt x="1" y="158"/>
                  <a:pt x="1" y="158"/>
                  <a:pt x="1" y="158"/>
                </a:cubicBezTo>
                <a:cubicBezTo>
                  <a:pt x="24" y="165"/>
                  <a:pt x="24" y="165"/>
                  <a:pt x="24" y="165"/>
                </a:cubicBezTo>
                <a:cubicBezTo>
                  <a:pt x="25" y="169"/>
                  <a:pt x="26" y="173"/>
                  <a:pt x="28" y="177"/>
                </a:cubicBezTo>
                <a:cubicBezTo>
                  <a:pt x="13" y="196"/>
                  <a:pt x="13" y="196"/>
                  <a:pt x="13" y="196"/>
                </a:cubicBezTo>
                <a:cubicBezTo>
                  <a:pt x="30" y="223"/>
                  <a:pt x="30" y="223"/>
                  <a:pt x="30" y="223"/>
                </a:cubicBezTo>
                <a:cubicBezTo>
                  <a:pt x="53" y="217"/>
                  <a:pt x="53" y="217"/>
                  <a:pt x="53" y="217"/>
                </a:cubicBezTo>
                <a:cubicBezTo>
                  <a:pt x="56" y="220"/>
                  <a:pt x="59" y="223"/>
                  <a:pt x="63" y="226"/>
                </a:cubicBezTo>
                <a:cubicBezTo>
                  <a:pt x="59" y="250"/>
                  <a:pt x="59" y="250"/>
                  <a:pt x="59" y="250"/>
                </a:cubicBezTo>
                <a:cubicBezTo>
                  <a:pt x="73" y="257"/>
                  <a:pt x="73" y="257"/>
                  <a:pt x="73" y="257"/>
                </a:cubicBezTo>
                <a:cubicBezTo>
                  <a:pt x="87" y="265"/>
                  <a:pt x="87" y="265"/>
                  <a:pt x="87" y="265"/>
                </a:cubicBezTo>
                <a:cubicBezTo>
                  <a:pt x="105" y="248"/>
                  <a:pt x="105" y="248"/>
                  <a:pt x="105" y="248"/>
                </a:cubicBezTo>
                <a:cubicBezTo>
                  <a:pt x="109" y="249"/>
                  <a:pt x="113" y="250"/>
                  <a:pt x="117" y="251"/>
                </a:cubicBezTo>
                <a:cubicBezTo>
                  <a:pt x="125" y="273"/>
                  <a:pt x="125" y="273"/>
                  <a:pt x="125" y="273"/>
                </a:cubicBezTo>
                <a:cubicBezTo>
                  <a:pt x="158" y="272"/>
                  <a:pt x="158" y="272"/>
                  <a:pt x="158" y="272"/>
                </a:cubicBezTo>
                <a:cubicBezTo>
                  <a:pt x="165" y="249"/>
                  <a:pt x="165" y="249"/>
                  <a:pt x="165" y="249"/>
                </a:cubicBezTo>
                <a:cubicBezTo>
                  <a:pt x="169" y="248"/>
                  <a:pt x="173" y="246"/>
                  <a:pt x="177" y="245"/>
                </a:cubicBezTo>
                <a:cubicBezTo>
                  <a:pt x="195" y="260"/>
                  <a:pt x="195" y="260"/>
                  <a:pt x="195" y="260"/>
                </a:cubicBezTo>
                <a:cubicBezTo>
                  <a:pt x="223" y="243"/>
                  <a:pt x="223" y="243"/>
                  <a:pt x="223" y="243"/>
                </a:cubicBezTo>
                <a:cubicBezTo>
                  <a:pt x="217" y="220"/>
                  <a:pt x="217" y="220"/>
                  <a:pt x="217" y="220"/>
                </a:cubicBezTo>
                <a:cubicBezTo>
                  <a:pt x="220" y="217"/>
                  <a:pt x="223" y="214"/>
                  <a:pt x="225" y="210"/>
                </a:cubicBezTo>
                <a:cubicBezTo>
                  <a:pt x="249" y="214"/>
                  <a:pt x="249" y="214"/>
                  <a:pt x="249" y="214"/>
                </a:cubicBezTo>
                <a:cubicBezTo>
                  <a:pt x="257" y="200"/>
                  <a:pt x="257" y="200"/>
                  <a:pt x="257" y="200"/>
                </a:cubicBezTo>
                <a:cubicBezTo>
                  <a:pt x="264" y="186"/>
                  <a:pt x="264" y="186"/>
                  <a:pt x="264" y="186"/>
                </a:cubicBezTo>
                <a:lnTo>
                  <a:pt x="248" y="168"/>
                </a:lnTo>
                <a:close/>
                <a:moveTo>
                  <a:pt x="93" y="219"/>
                </a:moveTo>
                <a:cubicBezTo>
                  <a:pt x="47" y="195"/>
                  <a:pt x="30" y="139"/>
                  <a:pt x="54" y="93"/>
                </a:cubicBezTo>
                <a:cubicBezTo>
                  <a:pt x="78" y="48"/>
                  <a:pt x="134" y="30"/>
                  <a:pt x="180" y="54"/>
                </a:cubicBezTo>
                <a:cubicBezTo>
                  <a:pt x="225" y="78"/>
                  <a:pt x="243" y="134"/>
                  <a:pt x="219" y="180"/>
                </a:cubicBezTo>
                <a:cubicBezTo>
                  <a:pt x="195" y="225"/>
                  <a:pt x="138" y="243"/>
                  <a:pt x="93" y="219"/>
                </a:cubicBezTo>
                <a:close/>
              </a:path>
            </a:pathLst>
          </a:cu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5374" name="Rectangle 14"/>
          <p:cNvSpPr>
            <a:spLocks noChangeArrowheads="1"/>
          </p:cNvSpPr>
          <p:nvPr/>
        </p:nvSpPr>
        <p:spPr bwMode="auto">
          <a:xfrm>
            <a:off x="1552921" y="3131701"/>
            <a:ext cx="884494" cy="532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0"/>
              </a:spcBef>
              <a:spcAft>
                <a:spcPct val="0"/>
              </a:spcAft>
              <a:buFontTx/>
              <a:buNone/>
            </a:pPr>
            <a:r>
              <a:rPr lang="zh-CN" altLang="en-US" sz="3199" dirty="0">
                <a:solidFill>
                  <a:srgbClr val="4D4D4D"/>
                </a:solidFill>
              </a:rPr>
              <a:t>古物</a:t>
            </a:r>
            <a:endParaRPr lang="zh-CN" altLang="zh-CN" sz="3199" dirty="0">
              <a:solidFill>
                <a:srgbClr val="4D4D4D"/>
              </a:solidFill>
            </a:endParaRPr>
          </a:p>
        </p:txBody>
      </p:sp>
      <p:sp>
        <p:nvSpPr>
          <p:cNvPr id="15375" name="Rectangle 15"/>
          <p:cNvSpPr>
            <a:spLocks noChangeArrowheads="1"/>
          </p:cNvSpPr>
          <p:nvPr/>
        </p:nvSpPr>
        <p:spPr bwMode="auto">
          <a:xfrm>
            <a:off x="3389621" y="4206636"/>
            <a:ext cx="884494" cy="532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0"/>
              </a:spcBef>
              <a:spcAft>
                <a:spcPct val="0"/>
              </a:spcAft>
              <a:buFontTx/>
              <a:buNone/>
            </a:pPr>
            <a:r>
              <a:rPr lang="zh-CN" altLang="en-US" sz="3199" dirty="0">
                <a:solidFill>
                  <a:srgbClr val="4D4D4D"/>
                </a:solidFill>
              </a:rPr>
              <a:t>起源</a:t>
            </a:r>
            <a:endParaRPr lang="zh-CN" altLang="zh-CN" sz="3199" dirty="0">
              <a:solidFill>
                <a:srgbClr val="4D4D4D"/>
              </a:solidFill>
            </a:endParaRPr>
          </a:p>
        </p:txBody>
      </p:sp>
      <p:sp>
        <p:nvSpPr>
          <p:cNvPr id="15376" name="Rectangle 16"/>
          <p:cNvSpPr>
            <a:spLocks noChangeArrowheads="1"/>
          </p:cNvSpPr>
          <p:nvPr/>
        </p:nvSpPr>
        <p:spPr bwMode="auto">
          <a:xfrm>
            <a:off x="3084915" y="2251439"/>
            <a:ext cx="884494" cy="39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0"/>
              </a:spcBef>
              <a:spcAft>
                <a:spcPct val="0"/>
              </a:spcAft>
              <a:buFontTx/>
              <a:buNone/>
            </a:pPr>
            <a:r>
              <a:rPr lang="zh-CN" altLang="en-US" sz="2399" dirty="0">
                <a:solidFill>
                  <a:srgbClr val="4D4D4D"/>
                </a:solidFill>
              </a:rPr>
              <a:t>真迹</a:t>
            </a:r>
            <a:endParaRPr lang="zh-CN" altLang="zh-CN" sz="2399" dirty="0">
              <a:solidFill>
                <a:srgbClr val="4D4D4D"/>
              </a:solidFill>
            </a:endParaRPr>
          </a:p>
        </p:txBody>
      </p:sp>
      <p:sp>
        <p:nvSpPr>
          <p:cNvPr id="15377" name="Rectangle 17"/>
          <p:cNvSpPr>
            <a:spLocks noChangeArrowheads="1"/>
          </p:cNvSpPr>
          <p:nvPr/>
        </p:nvSpPr>
        <p:spPr bwMode="auto">
          <a:xfrm>
            <a:off x="1959196" y="5192698"/>
            <a:ext cx="884494" cy="310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0"/>
              </a:spcBef>
              <a:spcAft>
                <a:spcPct val="0"/>
              </a:spcAft>
              <a:buFontTx/>
              <a:buNone/>
            </a:pPr>
            <a:r>
              <a:rPr lang="zh-CN" altLang="en-US" sz="1866" dirty="0">
                <a:solidFill>
                  <a:srgbClr val="4D4D4D"/>
                </a:solidFill>
              </a:rPr>
              <a:t>时间</a:t>
            </a:r>
            <a:endParaRPr lang="zh-CN" altLang="zh-CN" sz="1866" dirty="0">
              <a:solidFill>
                <a:srgbClr val="4D4D4D"/>
              </a:solidFill>
            </a:endParaRPr>
          </a:p>
        </p:txBody>
      </p:sp>
      <p:sp>
        <p:nvSpPr>
          <p:cNvPr id="15378" name="Rectangle 18"/>
          <p:cNvSpPr>
            <a:spLocks noChangeArrowheads="1"/>
          </p:cNvSpPr>
          <p:nvPr/>
        </p:nvSpPr>
        <p:spPr bwMode="auto">
          <a:xfrm>
            <a:off x="6423440" y="2522347"/>
            <a:ext cx="2121120" cy="25635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lang="zh-CN" altLang="en-US" sz="1066" dirty="0">
                <a:solidFill>
                  <a:srgbClr val="FFFFFF"/>
                </a:solidFill>
              </a:rPr>
              <a:t>真确临在：相对的关系</a:t>
            </a:r>
            <a:endParaRPr lang="zh-CN" altLang="zh-CN" sz="1066" dirty="0">
              <a:solidFill>
                <a:srgbClr val="FFFFFF"/>
              </a:solidFill>
            </a:endParaRPr>
          </a:p>
        </p:txBody>
      </p:sp>
      <p:sp>
        <p:nvSpPr>
          <p:cNvPr id="15380" name="Rectangle 20"/>
          <p:cNvSpPr>
            <a:spLocks noChangeArrowheads="1"/>
          </p:cNvSpPr>
          <p:nvPr/>
        </p:nvSpPr>
        <p:spPr bwMode="auto">
          <a:xfrm>
            <a:off x="5050679" y="3108820"/>
            <a:ext cx="6941995" cy="1728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0"/>
              </a:spcBef>
              <a:spcAft>
                <a:spcPct val="0"/>
              </a:spcAft>
              <a:buFontTx/>
              <a:buNone/>
            </a:pPr>
            <a:r>
              <a:rPr lang="zh-CN" altLang="en-US" sz="2400" dirty="0"/>
              <a:t>       </a:t>
            </a:r>
            <a:r>
              <a:rPr lang="zh-CN" altLang="en-US" sz="2400" dirty="0">
                <a:solidFill>
                  <a:srgbClr val="660033"/>
                </a:solidFill>
              </a:rPr>
              <a:t>经历了时间</a:t>
            </a:r>
            <a:endParaRPr lang="en-US" altLang="zh-CN" sz="2400" dirty="0">
              <a:solidFill>
                <a:srgbClr val="660033"/>
              </a:solidFill>
            </a:endParaRPr>
          </a:p>
          <a:p>
            <a:pPr fontAlgn="base">
              <a:lnSpc>
                <a:spcPct val="120000"/>
              </a:lnSpc>
              <a:spcBef>
                <a:spcPct val="0"/>
              </a:spcBef>
              <a:spcAft>
                <a:spcPct val="0"/>
              </a:spcAft>
              <a:buFontTx/>
              <a:buNone/>
            </a:pPr>
            <a:r>
              <a:rPr lang="en-US" altLang="zh-CN" sz="2400" dirty="0">
                <a:solidFill>
                  <a:srgbClr val="660033"/>
                </a:solidFill>
              </a:rPr>
              <a:t>       </a:t>
            </a:r>
            <a:r>
              <a:rPr lang="zh-CN" altLang="en-US" sz="2400" dirty="0">
                <a:solidFill>
                  <a:srgbClr val="660033"/>
                </a:solidFill>
              </a:rPr>
              <a:t>证明了时间</a:t>
            </a:r>
            <a:endParaRPr lang="en-US" altLang="zh-CN" sz="2400" dirty="0">
              <a:solidFill>
                <a:srgbClr val="660033"/>
              </a:solidFill>
            </a:endParaRPr>
          </a:p>
          <a:p>
            <a:pPr fontAlgn="base">
              <a:lnSpc>
                <a:spcPct val="120000"/>
              </a:lnSpc>
              <a:spcBef>
                <a:spcPct val="0"/>
              </a:spcBef>
              <a:spcAft>
                <a:spcPct val="0"/>
              </a:spcAft>
              <a:buFontTx/>
              <a:buNone/>
            </a:pPr>
            <a:r>
              <a:rPr lang="en-US" altLang="zh-CN" sz="2400" dirty="0">
                <a:solidFill>
                  <a:srgbClr val="660033"/>
                </a:solidFill>
              </a:rPr>
              <a:t>       </a:t>
            </a:r>
            <a:r>
              <a:rPr lang="zh-CN" altLang="en-US" sz="2400" dirty="0">
                <a:solidFill>
                  <a:srgbClr val="660033"/>
                </a:solidFill>
              </a:rPr>
              <a:t> 起源和可追溯</a:t>
            </a:r>
            <a:endParaRPr lang="en-US" altLang="zh-CN" sz="2400" dirty="0">
              <a:solidFill>
                <a:srgbClr val="660033"/>
              </a:solidFill>
            </a:endParaRPr>
          </a:p>
          <a:p>
            <a:pPr fontAlgn="base">
              <a:lnSpc>
                <a:spcPct val="120000"/>
              </a:lnSpc>
              <a:spcBef>
                <a:spcPct val="0"/>
              </a:spcBef>
              <a:spcAft>
                <a:spcPct val="0"/>
              </a:spcAft>
              <a:buFontTx/>
              <a:buNone/>
            </a:pPr>
            <a:r>
              <a:rPr lang="en-US" altLang="zh-CN" sz="2400" dirty="0">
                <a:solidFill>
                  <a:srgbClr val="660033"/>
                </a:solidFill>
              </a:rPr>
              <a:t>       </a:t>
            </a:r>
            <a:r>
              <a:rPr lang="zh-CN" altLang="en-US" sz="2400" dirty="0">
                <a:solidFill>
                  <a:srgbClr val="660033"/>
                </a:solidFill>
              </a:rPr>
              <a:t>“当下”经历时间的方式</a:t>
            </a:r>
            <a:r>
              <a:rPr lang="zh-CN" altLang="en-US" sz="1400" dirty="0">
                <a:solidFill>
                  <a:srgbClr val="660033"/>
                </a:solidFill>
              </a:rPr>
              <a:t>存在</a:t>
            </a:r>
            <a:r>
              <a:rPr lang="zh-CN" altLang="en-US" sz="2400" dirty="0">
                <a:solidFill>
                  <a:srgbClr val="660033"/>
                </a:solidFill>
              </a:rPr>
              <a:t>不同</a:t>
            </a:r>
            <a:r>
              <a:rPr lang="en-US" altLang="zh-CN" sz="2400" dirty="0">
                <a:solidFill>
                  <a:srgbClr val="660033"/>
                </a:solidFill>
              </a:rPr>
              <a:t> ——</a:t>
            </a:r>
            <a:r>
              <a:rPr lang="zh-CN" altLang="en-US" sz="2400" dirty="0">
                <a:solidFill>
                  <a:srgbClr val="660033"/>
                </a:solidFill>
              </a:rPr>
              <a:t>无用之用</a:t>
            </a:r>
            <a:endParaRPr lang="en-US" altLang="zh-CN" sz="2400" dirty="0">
              <a:solidFill>
                <a:srgbClr val="660033"/>
              </a:solidFill>
            </a:endParaRPr>
          </a:p>
        </p:txBody>
      </p:sp>
    </p:spTree>
    <p:extLst>
      <p:ext uri="{BB962C8B-B14F-4D97-AF65-F5344CB8AC3E}">
        <p14:creationId xmlns:p14="http://schemas.microsoft.com/office/powerpoint/2010/main" val="21960682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1800" dirty="0">
                <a:solidFill>
                  <a:srgbClr val="FF0000"/>
                </a:solidFill>
              </a:rPr>
              <a:t>                                             案例：拿破仑的指挥刀</a:t>
            </a:r>
          </a:p>
        </p:txBody>
      </p:sp>
      <p:sp>
        <p:nvSpPr>
          <p:cNvPr id="3" name="内容占位符 2"/>
          <p:cNvSpPr>
            <a:spLocks noGrp="1"/>
          </p:cNvSpPr>
          <p:nvPr>
            <p:ph idx="1"/>
          </p:nvPr>
        </p:nvSpPr>
        <p:spPr/>
        <p:txBody>
          <a:bodyPr>
            <a:normAutofit/>
          </a:bodyPr>
          <a:lstStyle/>
          <a:p>
            <a:pPr algn="just">
              <a:spcAft>
                <a:spcPts val="0"/>
              </a:spcAft>
            </a:pPr>
            <a:endParaRPr lang="en-US" altLang="zh-CN" sz="2400" kern="100" dirty="0">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古物所回应是作为终结性之存在</a:t>
            </a:r>
            <a:r>
              <a:rPr lang="zh-CN" altLang="en-US"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与当下参照，已是传奇</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时间便是完美</a:t>
            </a:r>
            <a:r>
              <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完成</a:t>
            </a:r>
            <a:r>
              <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它们是自己存在的基础</a:t>
            </a:r>
            <a:endParaRPr lang="zh-CN" altLang="zh-CN" sz="2400" kern="100" dirty="0">
              <a:solidFill>
                <a:srgbClr val="660033"/>
              </a:solidFill>
              <a:effectLst/>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zh-CN" altLang="en-US" sz="2400" kern="100" dirty="0">
                <a:solidFill>
                  <a:srgbClr val="660033"/>
                </a:solidFill>
                <a:effectLst/>
                <a:latin typeface="华文宋体" panose="02010600040101010101" pitchFamily="2" charset="-122"/>
                <a:ea typeface="宋体" panose="02010600030101010101" pitchFamily="2" charset="-122"/>
                <a:cs typeface="Times New Roman" panose="02020603050405020304" pitchFamily="18" charset="0"/>
              </a:rPr>
              <a:t>古物的价值来自于同“功能物”的对比，功能物只有现在，而没有“存在”</a:t>
            </a:r>
            <a:endParaRPr lang="zh-CN" altLang="zh-CN" sz="2400" kern="100" dirty="0">
              <a:solidFill>
                <a:srgbClr val="6600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zh-CN" altLang="en-US" sz="1600" dirty="0">
                <a:solidFill>
                  <a:srgbClr val="660033"/>
                </a:solidFill>
                <a:latin typeface="宋体" panose="02010600030101010101" pitchFamily="2" charset="-122"/>
                <a:ea typeface="宋体" panose="02010600030101010101" pitchFamily="2" charset="-122"/>
              </a:rPr>
              <a:t>                                                                      （功能物：空间环境无力于时间）</a:t>
            </a:r>
            <a:endParaRPr lang="en-US" altLang="zh-CN" sz="16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建立起从现在到曾经的时间“路径”：意指诞生</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作为“人”现代社会对等物带来的焦虑感，古物可以帮助完成“心理退化”</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演出</a:t>
            </a:r>
            <a:r>
              <a:rPr lang="zh-CN" altLang="en-US" sz="2400" b="1" dirty="0">
                <a:solidFill>
                  <a:srgbClr val="660033"/>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起源神话</a:t>
            </a:r>
            <a:r>
              <a:rPr lang="zh-CN" altLang="en-US" sz="2400" dirty="0">
                <a:solidFill>
                  <a:srgbClr val="660033"/>
                </a:solidFill>
                <a:latin typeface="宋体" panose="02010600030101010101" pitchFamily="2" charset="-122"/>
                <a:ea typeface="宋体" panose="02010600030101010101" pitchFamily="2" charset="-122"/>
              </a:rPr>
              <a:t>的剧目：深潜时间、“深度”理念</a:t>
            </a:r>
            <a:endParaRPr lang="en-US" altLang="zh-CN" sz="2400" dirty="0">
              <a:solidFill>
                <a:srgbClr val="660033"/>
              </a:solidFill>
              <a:latin typeface="宋体" panose="02010600030101010101" pitchFamily="2" charset="-122"/>
              <a:ea typeface="宋体" panose="02010600030101010101" pitchFamily="2" charset="-122"/>
            </a:endParaRPr>
          </a:p>
          <a:p>
            <a:endParaRPr lang="zh-CN" altLang="en-US" sz="2400" dirty="0">
              <a:latin typeface="宋体" panose="02010600030101010101" pitchFamily="2" charset="-122"/>
              <a:ea typeface="宋体" panose="02010600030101010101" pitchFamily="2" charset="-122"/>
            </a:endParaRPr>
          </a:p>
        </p:txBody>
      </p:sp>
      <p:pic>
        <p:nvPicPr>
          <p:cNvPr id="4" name="图片 3"/>
          <p:cNvPicPr>
            <a:picLocks noChangeAspect="1"/>
          </p:cNvPicPr>
          <p:nvPr/>
        </p:nvPicPr>
        <p:blipFill>
          <a:blip r:embed="rId2"/>
          <a:stretch>
            <a:fillRect/>
          </a:stretch>
        </p:blipFill>
        <p:spPr>
          <a:xfrm>
            <a:off x="1129500" y="300680"/>
            <a:ext cx="1383912" cy="1390008"/>
          </a:xfrm>
          <a:prstGeom prst="rect">
            <a:avLst/>
          </a:prstGeom>
        </p:spPr>
      </p:pic>
      <p:sp>
        <p:nvSpPr>
          <p:cNvPr id="5" name="矩形 4"/>
          <p:cNvSpPr/>
          <p:nvPr/>
        </p:nvSpPr>
        <p:spPr>
          <a:xfrm>
            <a:off x="-1226544" y="672518"/>
            <a:ext cx="6096000" cy="646331"/>
          </a:xfrm>
          <a:prstGeom prst="rect">
            <a:avLst/>
          </a:prstGeom>
        </p:spPr>
        <p:txBody>
          <a:bodyPr>
            <a:spAutoFit/>
          </a:bodyPr>
          <a:lstStyle/>
          <a:p>
            <a:pPr lvl="0" algn="ctr"/>
            <a:r>
              <a:rPr lang="zh-CN" altLang="zh-CN" kern="100" dirty="0">
                <a:solidFill>
                  <a:prstClr val="black"/>
                </a:solidFill>
                <a:latin typeface="等线 Light" panose="020F0302020204030204"/>
                <a:cs typeface="华文宋体" panose="02010600040101010101" pitchFamily="2" charset="-122"/>
              </a:rPr>
              <a:t>古物</a:t>
            </a:r>
            <a:endParaRPr lang="en-US" altLang="zh-CN" kern="100" dirty="0">
              <a:solidFill>
                <a:prstClr val="black"/>
              </a:solidFill>
              <a:latin typeface="等线 Light" panose="020F0302020204030204"/>
              <a:cs typeface="华文宋体" panose="02010600040101010101" pitchFamily="2" charset="-122"/>
            </a:endParaRPr>
          </a:p>
          <a:p>
            <a:pPr lvl="0" algn="ctr"/>
            <a:r>
              <a:rPr lang="zh-CN" altLang="en-US" kern="100" dirty="0">
                <a:solidFill>
                  <a:prstClr val="black"/>
                </a:solidFill>
                <a:latin typeface="等线 Light" panose="020F0302020204030204"/>
              </a:rPr>
              <a:t>“起源”</a:t>
            </a:r>
            <a:endParaRPr lang="zh-CN" altLang="en-US" dirty="0">
              <a:solidFill>
                <a:prstClr val="black"/>
              </a:solidFill>
            </a:endParaRPr>
          </a:p>
        </p:txBody>
      </p:sp>
    </p:spTree>
    <p:extLst>
      <p:ext uri="{BB962C8B-B14F-4D97-AF65-F5344CB8AC3E}">
        <p14:creationId xmlns:p14="http://schemas.microsoft.com/office/powerpoint/2010/main" val="31482951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25487" y="500062"/>
            <a:ext cx="10515600" cy="1325563"/>
          </a:xfrm>
        </p:spPr>
        <p:txBody>
          <a:bodyPr>
            <a:normAutofit/>
          </a:bodyPr>
          <a:lstStyle/>
          <a:p>
            <a:r>
              <a:rPr lang="zh-CN" altLang="en-US" sz="1600" dirty="0">
                <a:solidFill>
                  <a:prstClr val="black"/>
                </a:solidFill>
              </a:rPr>
              <a:t>古物“真确性”</a:t>
            </a:r>
            <a:endParaRPr lang="zh-CN" altLang="en-US" sz="1600" dirty="0"/>
          </a:p>
        </p:txBody>
      </p:sp>
      <p:sp>
        <p:nvSpPr>
          <p:cNvPr id="3" name="内容占位符 2"/>
          <p:cNvSpPr>
            <a:spLocks noGrp="1"/>
          </p:cNvSpPr>
          <p:nvPr>
            <p:ph idx="1"/>
          </p:nvPr>
        </p:nvSpPr>
        <p:spPr>
          <a:xfrm>
            <a:off x="1966970" y="1825625"/>
            <a:ext cx="10515600" cy="4351338"/>
          </a:xfrm>
        </p:spPr>
        <p:txBody>
          <a:bodyPr>
            <a:normAutofit/>
          </a:bodyPr>
          <a:lstStyle/>
          <a:p>
            <a:pPr lvl="0" algn="just"/>
            <a:endParaRPr lang="en-US" altLang="zh-CN" kern="100" dirty="0">
              <a:solidFill>
                <a:prstClr val="black"/>
              </a:solidFill>
              <a:latin typeface="华文宋体" panose="02010600040101010101" pitchFamily="2" charset="-122"/>
              <a:ea typeface="宋体" panose="02010600030101010101" pitchFamily="2" charset="-122"/>
              <a:cs typeface="华文宋体" panose="02010600040101010101" pitchFamily="2" charset="-122"/>
            </a:endParaRPr>
          </a:p>
          <a:p>
            <a:pPr marL="0" lvl="0" indent="0" algn="just">
              <a:buNone/>
            </a:pP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一个对起源的怀念，另一面向则是真确性的执迷</a:t>
            </a:r>
            <a:r>
              <a:rPr lang="en-US" altLang="zh-CN" sz="20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en-US" sz="20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历史</a:t>
            </a:r>
            <a:endParaRPr lang="en-US" altLang="zh-CN" sz="20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r>
              <a:rPr lang="zh-CN" altLang="en-US" sz="2000" dirty="0">
                <a:solidFill>
                  <a:srgbClr val="660033"/>
                </a:solidFill>
                <a:latin typeface="宋体" panose="02010600030101010101" pitchFamily="2" charset="-122"/>
                <a:ea typeface="宋体" panose="02010600030101010101" pitchFamily="2" charset="-122"/>
              </a:rPr>
              <a:t>向根源反向演化显然是向着神圣、古老、自然、原始靠近</a:t>
            </a:r>
            <a:endParaRPr lang="en-US" altLang="zh-CN" sz="2000" dirty="0">
              <a:solidFill>
                <a:srgbClr val="660033"/>
              </a:solidFill>
              <a:latin typeface="宋体" panose="02010600030101010101" pitchFamily="2" charset="-122"/>
              <a:ea typeface="宋体" panose="02010600030101010101" pitchFamily="2" charset="-122"/>
            </a:endParaRPr>
          </a:p>
          <a:p>
            <a:r>
              <a:rPr lang="zh-CN" altLang="en-US" sz="2000" dirty="0">
                <a:solidFill>
                  <a:srgbClr val="660033"/>
                </a:solidFill>
                <a:latin typeface="宋体" panose="02010600030101010101" pitchFamily="2" charset="-122"/>
                <a:ea typeface="宋体" panose="02010600030101010101" pitchFamily="2" charset="-122"/>
              </a:rPr>
              <a:t>对确定性的执迷：来源、年代、作者、签名</a:t>
            </a:r>
            <a:endParaRPr lang="en-US" altLang="zh-CN" sz="2000" dirty="0">
              <a:solidFill>
                <a:srgbClr val="660033"/>
              </a:solidFill>
              <a:latin typeface="宋体" panose="02010600030101010101" pitchFamily="2" charset="-122"/>
              <a:ea typeface="宋体" panose="02010600030101010101" pitchFamily="2" charset="-122"/>
            </a:endParaRPr>
          </a:p>
          <a:p>
            <a:r>
              <a:rPr lang="zh-CN" altLang="en-US" sz="2000" dirty="0">
                <a:solidFill>
                  <a:srgbClr val="660033"/>
                </a:solidFill>
                <a:latin typeface="宋体" panose="02010600030101010101" pitchFamily="2" charset="-122"/>
                <a:ea typeface="宋体" panose="02010600030101010101" pitchFamily="2" charset="-122"/>
              </a:rPr>
              <a:t>“真确性”是曾经属于过某个名人、以及经过某人之手的工作与创造</a:t>
            </a:r>
            <a:endParaRPr lang="en-US" altLang="zh-CN" sz="2000" dirty="0">
              <a:solidFill>
                <a:srgbClr val="660033"/>
              </a:solidFill>
              <a:latin typeface="宋体" panose="02010600030101010101" pitchFamily="2" charset="-122"/>
              <a:ea typeface="宋体" panose="02010600030101010101" pitchFamily="2" charset="-122"/>
            </a:endParaRPr>
          </a:p>
          <a:p>
            <a:r>
              <a:rPr lang="zh-CN" altLang="en-US" sz="2000" dirty="0">
                <a:solidFill>
                  <a:srgbClr val="660033"/>
                </a:solidFill>
                <a:latin typeface="宋体" panose="02010600030101010101" pitchFamily="2" charset="-122"/>
                <a:ea typeface="宋体" panose="02010600030101010101" pitchFamily="2" charset="-122"/>
              </a:rPr>
              <a:t>建构起传承与价值，即古物的崇高之处</a:t>
            </a:r>
            <a:endParaRPr lang="en-US" altLang="zh-CN" sz="2000" dirty="0">
              <a:solidFill>
                <a:srgbClr val="660033"/>
              </a:solidFill>
              <a:latin typeface="宋体" panose="02010600030101010101" pitchFamily="2" charset="-122"/>
              <a:ea typeface="宋体" panose="02010600030101010101" pitchFamily="2" charset="-122"/>
            </a:endParaRPr>
          </a:p>
          <a:p>
            <a:endParaRPr lang="en-US" altLang="zh-CN" sz="2000" dirty="0">
              <a:latin typeface="宋体" panose="02010600030101010101" pitchFamily="2" charset="-122"/>
              <a:ea typeface="宋体" panose="02010600030101010101" pitchFamily="2" charset="-122"/>
            </a:endParaRPr>
          </a:p>
          <a:p>
            <a:endParaRPr lang="en-US" altLang="zh-CN" sz="2400" dirty="0">
              <a:latin typeface="宋体" panose="02010600030101010101" pitchFamily="2" charset="-122"/>
              <a:ea typeface="宋体" panose="02010600030101010101" pitchFamily="2" charset="-122"/>
            </a:endParaRPr>
          </a:p>
          <a:p>
            <a:endParaRPr lang="zh-CN" altLang="en-US" sz="2400" dirty="0">
              <a:latin typeface="宋体" panose="02010600030101010101" pitchFamily="2" charset="-122"/>
              <a:ea typeface="宋体" panose="02010600030101010101" pitchFamily="2" charset="-122"/>
            </a:endParaRPr>
          </a:p>
        </p:txBody>
      </p:sp>
      <p:pic>
        <p:nvPicPr>
          <p:cNvPr id="4" name="图片 3"/>
          <p:cNvPicPr>
            <a:picLocks noChangeAspect="1"/>
          </p:cNvPicPr>
          <p:nvPr/>
        </p:nvPicPr>
        <p:blipFill>
          <a:blip r:embed="rId2"/>
          <a:stretch>
            <a:fillRect/>
          </a:stretch>
        </p:blipFill>
        <p:spPr>
          <a:xfrm>
            <a:off x="827474" y="210710"/>
            <a:ext cx="1739456" cy="1747118"/>
          </a:xfrm>
          <a:prstGeom prst="rect">
            <a:avLst/>
          </a:prstGeom>
        </p:spPr>
      </p:pic>
    </p:spTree>
    <p:extLst>
      <p:ext uri="{BB962C8B-B14F-4D97-AF65-F5344CB8AC3E}">
        <p14:creationId xmlns:p14="http://schemas.microsoft.com/office/powerpoint/2010/main" val="1981387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95404" y="2377690"/>
            <a:ext cx="3314700" cy="3848100"/>
          </a:xfr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4294" y="663190"/>
            <a:ext cx="2428875" cy="5562600"/>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0443" y="270215"/>
            <a:ext cx="3904513" cy="3587931"/>
          </a:xfrm>
          <a:prstGeom prst="rect">
            <a:avLst/>
          </a:prstGeom>
        </p:spPr>
      </p:pic>
      <p:sp>
        <p:nvSpPr>
          <p:cNvPr id="2" name="文本框 1"/>
          <p:cNvSpPr txBox="1"/>
          <p:nvPr/>
        </p:nvSpPr>
        <p:spPr>
          <a:xfrm>
            <a:off x="4663440" y="853440"/>
            <a:ext cx="3606800" cy="369332"/>
          </a:xfrm>
          <a:prstGeom prst="rect">
            <a:avLst/>
          </a:prstGeom>
          <a:noFill/>
        </p:spPr>
        <p:txBody>
          <a:bodyPr wrap="square" rtlCol="0">
            <a:spAutoFit/>
          </a:bodyPr>
          <a:lstStyle/>
          <a:p>
            <a:pPr algn="ctr"/>
            <a:r>
              <a:rPr lang="zh-CN" altLang="en-US" dirty="0"/>
              <a:t>斯特拉瓦迪、瓜乃利</a:t>
            </a:r>
          </a:p>
        </p:txBody>
      </p:sp>
    </p:spTree>
    <p:extLst>
      <p:ext uri="{BB962C8B-B14F-4D97-AF65-F5344CB8AC3E}">
        <p14:creationId xmlns:p14="http://schemas.microsoft.com/office/powerpoint/2010/main" val="3441122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EED3F60-2CA1-D183-9422-8A051B49BE41}"/>
              </a:ext>
            </a:extLst>
          </p:cNvPr>
          <p:cNvPicPr>
            <a:picLocks noChangeAspect="1"/>
          </p:cNvPicPr>
          <p:nvPr/>
        </p:nvPicPr>
        <p:blipFill>
          <a:blip r:embed="rId2"/>
          <a:stretch>
            <a:fillRect/>
          </a:stretch>
        </p:blipFill>
        <p:spPr>
          <a:xfrm>
            <a:off x="1314700" y="195730"/>
            <a:ext cx="1658256" cy="1664352"/>
          </a:xfrm>
          <a:prstGeom prst="rect">
            <a:avLst/>
          </a:prstGeom>
        </p:spPr>
      </p:pic>
      <p:sp>
        <p:nvSpPr>
          <p:cNvPr id="2" name="标题 1">
            <a:extLst>
              <a:ext uri="{FF2B5EF4-FFF2-40B4-BE49-F238E27FC236}">
                <a16:creationId xmlns:a16="http://schemas.microsoft.com/office/drawing/2014/main" id="{F9EAE27E-77B1-9D44-158F-516BD3FDB3F5}"/>
              </a:ext>
            </a:extLst>
          </p:cNvPr>
          <p:cNvSpPr>
            <a:spLocks noGrp="1"/>
          </p:cNvSpPr>
          <p:nvPr>
            <p:ph type="title"/>
          </p:nvPr>
        </p:nvSpPr>
        <p:spPr>
          <a:xfrm>
            <a:off x="838200" y="376627"/>
            <a:ext cx="10515600" cy="1325563"/>
          </a:xfrm>
        </p:spPr>
        <p:txBody>
          <a:bodyPr/>
          <a:lstStyle/>
          <a:p>
            <a:r>
              <a:rPr lang="en-US" altLang="zh-CN" dirty="0"/>
              <a:t>                 </a:t>
            </a:r>
            <a:endParaRPr lang="zh-CN" altLang="en-US" dirty="0"/>
          </a:p>
        </p:txBody>
      </p:sp>
      <p:sp>
        <p:nvSpPr>
          <p:cNvPr id="3" name="内容占位符 2">
            <a:extLst>
              <a:ext uri="{FF2B5EF4-FFF2-40B4-BE49-F238E27FC236}">
                <a16:creationId xmlns:a16="http://schemas.microsoft.com/office/drawing/2014/main" id="{1AD9E1E7-7907-4559-C067-D7D19661A770}"/>
              </a:ext>
            </a:extLst>
          </p:cNvPr>
          <p:cNvSpPr>
            <a:spLocks noGrp="1"/>
          </p:cNvSpPr>
          <p:nvPr>
            <p:ph idx="1"/>
          </p:nvPr>
        </p:nvSpPr>
        <p:spPr/>
        <p:txBody>
          <a:bodyPr>
            <a:normAutofit/>
          </a:bodyPr>
          <a:lstStyle/>
          <a:p>
            <a:pPr marL="0" indent="0">
              <a:buNone/>
            </a:pPr>
            <a:endParaRPr lang="en-US" altLang="zh-CN" sz="3600" dirty="0">
              <a:effectLst/>
              <a:ea typeface="宋体" panose="02010600030101010101" pitchFamily="2" charset="-122"/>
              <a:cs typeface="Times New Roman" panose="02020603050405020304" pitchFamily="18" charset="0"/>
            </a:endParaRPr>
          </a:p>
          <a:p>
            <a:pPr marL="0" indent="0">
              <a:buNone/>
            </a:pPr>
            <a:r>
              <a:rPr lang="zh-CN" altLang="zh-CN" sz="3600" dirty="0">
                <a:effectLst/>
                <a:ea typeface="宋体" panose="02010600030101010101" pitchFamily="2" charset="-122"/>
                <a:cs typeface="Times New Roman" panose="02020603050405020304" pitchFamily="18" charset="0"/>
              </a:rPr>
              <a:t>这座农庄保留了哪些古物，它们发挥着什么作用</a:t>
            </a:r>
            <a:r>
              <a:rPr lang="zh-CN" altLang="en-US" sz="3600" dirty="0">
                <a:effectLst/>
                <a:ea typeface="宋体" panose="02010600030101010101" pitchFamily="2" charset="-122"/>
                <a:cs typeface="Times New Roman" panose="02020603050405020304" pitchFamily="18" charset="0"/>
              </a:rPr>
              <a:t>？</a:t>
            </a:r>
            <a:endParaRPr lang="en-US" altLang="zh-CN" sz="3600" dirty="0">
              <a:effectLst/>
              <a:ea typeface="宋体"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7CFA00FB-5490-CBC0-6EB5-D81D84B27BFA}"/>
              </a:ext>
            </a:extLst>
          </p:cNvPr>
          <p:cNvSpPr txBox="1"/>
          <p:nvPr/>
        </p:nvSpPr>
        <p:spPr>
          <a:xfrm>
            <a:off x="3252564" y="423447"/>
            <a:ext cx="5044542" cy="984885"/>
          </a:xfrm>
          <a:prstGeom prst="rect">
            <a:avLst/>
          </a:prstGeom>
          <a:noFill/>
        </p:spPr>
        <p:txBody>
          <a:bodyPr wrap="square" rtlCol="0">
            <a:spAutoFit/>
          </a:bodyPr>
          <a:lstStyle/>
          <a:p>
            <a:endParaRPr lang="en-US" altLang="zh-CN" dirty="0"/>
          </a:p>
          <a:p>
            <a:r>
              <a:rPr lang="zh-CN" altLang="en-US" sz="4000" dirty="0"/>
              <a:t>时代的错乱</a:t>
            </a:r>
          </a:p>
        </p:txBody>
      </p:sp>
      <p:sp>
        <p:nvSpPr>
          <p:cNvPr id="6" name="文本框 5">
            <a:extLst>
              <a:ext uri="{FF2B5EF4-FFF2-40B4-BE49-F238E27FC236}">
                <a16:creationId xmlns:a16="http://schemas.microsoft.com/office/drawing/2014/main" id="{D55113E3-0F81-0DD0-410A-B19DB5BCF447}"/>
              </a:ext>
            </a:extLst>
          </p:cNvPr>
          <p:cNvSpPr txBox="1"/>
          <p:nvPr/>
        </p:nvSpPr>
        <p:spPr>
          <a:xfrm>
            <a:off x="1632419" y="865306"/>
            <a:ext cx="975769" cy="369332"/>
          </a:xfrm>
          <a:prstGeom prst="rect">
            <a:avLst/>
          </a:prstGeom>
          <a:noFill/>
        </p:spPr>
        <p:txBody>
          <a:bodyPr wrap="square" rtlCol="0">
            <a:spAutoFit/>
          </a:bodyPr>
          <a:lstStyle/>
          <a:p>
            <a:r>
              <a:rPr lang="en-US" altLang="zh-CN" dirty="0"/>
              <a:t>P88-90</a:t>
            </a:r>
            <a:endParaRPr lang="zh-CN" altLang="en-US" dirty="0"/>
          </a:p>
        </p:txBody>
      </p:sp>
    </p:spTree>
    <p:extLst>
      <p:ext uri="{BB962C8B-B14F-4D97-AF65-F5344CB8AC3E}">
        <p14:creationId xmlns:p14="http://schemas.microsoft.com/office/powerpoint/2010/main" val="4284959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1312" y="1230713"/>
            <a:ext cx="10515600" cy="4351338"/>
          </a:xfrm>
        </p:spPr>
        <p:txBody>
          <a:bodyPr>
            <a:normAutofit/>
          </a:bodyPr>
          <a:lstStyle/>
          <a:p>
            <a:endParaRPr lang="en-US" altLang="zh-CN" sz="2400" dirty="0">
              <a:latin typeface="宋体" panose="02010600030101010101" pitchFamily="2" charset="-122"/>
              <a:ea typeface="宋体" panose="02010600030101010101" pitchFamily="2" charset="-122"/>
            </a:endParaRPr>
          </a:p>
          <a:p>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古物作为功能，拥有胚胎般的价值</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透过古物，离散分裂的人的存有可以获得某种原初理想状态的认同</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象征一种内在超越，现实中的幻想</a:t>
            </a:r>
            <a:r>
              <a:rPr lang="zh-CN" altLang="en-US" sz="1600" dirty="0">
                <a:solidFill>
                  <a:srgbClr val="FF0000"/>
                </a:solidFill>
                <a:latin typeface="宋体" panose="02010600030101010101" pitchFamily="2" charset="-122"/>
                <a:ea typeface="宋体" panose="02010600030101010101" pitchFamily="2" charset="-122"/>
              </a:rPr>
              <a:t>拿破仑攻打彼得堡的指挥剑</a:t>
            </a:r>
          </a:p>
          <a:p>
            <a:r>
              <a:rPr lang="zh-CN" altLang="en-US" sz="2400" dirty="0">
                <a:latin typeface="宋体" panose="02010600030101010101" pitchFamily="2" charset="-122"/>
                <a:ea typeface="宋体" panose="02010600030101010101" pitchFamily="2" charset="-122"/>
              </a:rPr>
              <a:t>使“它”成为“我”的对等物，并使得其余部分围绕着组织起来</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“历史”真确性的崇高幻想，达成又永远在现实之下</a:t>
            </a:r>
            <a:endParaRPr lang="en-US" altLang="zh-CN" sz="2400" dirty="0">
              <a:latin typeface="宋体" panose="02010600030101010101" pitchFamily="2" charset="-122"/>
              <a:ea typeface="宋体" panose="02010600030101010101" pitchFamily="2" charset="-122"/>
            </a:endParaRPr>
          </a:p>
          <a:p>
            <a:pPr lvl="0"/>
            <a:r>
              <a:rPr lang="zh-CN" altLang="en-US" sz="2400" u="sng" dirty="0">
                <a:solidFill>
                  <a:prstClr val="black"/>
                </a:solidFill>
                <a:latin typeface="宋体" panose="02010600030101010101" pitchFamily="2" charset="-122"/>
                <a:ea typeface="宋体" panose="02010600030101010101" pitchFamily="2" charset="-122"/>
              </a:rPr>
              <a:t>“古物”的诞生神话与真确性的特征是在各个时代都有的特征</a:t>
            </a:r>
            <a:r>
              <a:rPr lang="zh-CN" altLang="en-US" sz="1600" u="sng" dirty="0">
                <a:solidFill>
                  <a:prstClr val="black"/>
                </a:solidFill>
                <a:latin typeface="宋体" panose="02010600030101010101" pitchFamily="2" charset="-122"/>
                <a:ea typeface="宋体" panose="02010600030101010101" pitchFamily="2" charset="-122"/>
              </a:rPr>
              <a:t>（汉和妙玉）</a:t>
            </a:r>
            <a:endParaRPr lang="en-US" altLang="zh-CN" sz="1600" u="sng" dirty="0">
              <a:solidFill>
                <a:prstClr val="black"/>
              </a:solidFill>
              <a:latin typeface="宋体" panose="02010600030101010101" pitchFamily="2" charset="-122"/>
              <a:ea typeface="宋体" panose="02010600030101010101" pitchFamily="2" charset="-122"/>
            </a:endParaRPr>
          </a:p>
        </p:txBody>
      </p:sp>
      <p:pic>
        <p:nvPicPr>
          <p:cNvPr id="4" name="图片 3"/>
          <p:cNvPicPr>
            <a:picLocks noChangeAspect="1"/>
          </p:cNvPicPr>
          <p:nvPr/>
        </p:nvPicPr>
        <p:blipFill>
          <a:blip r:embed="rId2"/>
          <a:stretch>
            <a:fillRect/>
          </a:stretch>
        </p:blipFill>
        <p:spPr>
          <a:xfrm>
            <a:off x="499735" y="57133"/>
            <a:ext cx="2334970" cy="2347163"/>
          </a:xfrm>
          <a:prstGeom prst="rect">
            <a:avLst/>
          </a:prstGeom>
        </p:spPr>
      </p:pic>
      <p:sp>
        <p:nvSpPr>
          <p:cNvPr id="5" name="文本框 4"/>
          <p:cNvSpPr txBox="1"/>
          <p:nvPr/>
        </p:nvSpPr>
        <p:spPr>
          <a:xfrm>
            <a:off x="765795" y="907548"/>
            <a:ext cx="1771757" cy="646331"/>
          </a:xfrm>
          <a:prstGeom prst="rect">
            <a:avLst/>
          </a:prstGeom>
          <a:noFill/>
        </p:spPr>
        <p:txBody>
          <a:bodyPr wrap="square" rtlCol="0">
            <a:spAutoFit/>
          </a:bodyPr>
          <a:lstStyle/>
          <a:p>
            <a:pPr algn="ctr"/>
            <a:r>
              <a:rPr lang="zh-CN" altLang="en-US" dirty="0">
                <a:solidFill>
                  <a:prstClr val="black"/>
                </a:solidFill>
                <a:latin typeface="宋体" panose="02010600030101010101" pitchFamily="2" charset="-122"/>
                <a:ea typeface="宋体" panose="02010600030101010101" pitchFamily="2" charset="-122"/>
                <a:cs typeface="+mj-cs"/>
              </a:rPr>
              <a:t>真确性的功能“幻想”</a:t>
            </a:r>
            <a:endParaRPr lang="zh-CN" altLang="en-US" dirty="0"/>
          </a:p>
        </p:txBody>
      </p:sp>
    </p:spTree>
    <p:extLst>
      <p:ext uri="{BB962C8B-B14F-4D97-AF65-F5344CB8AC3E}">
        <p14:creationId xmlns:p14="http://schemas.microsoft.com/office/powerpoint/2010/main" val="1681957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      </a:t>
            </a:r>
            <a:r>
              <a:rPr lang="zh-CN" altLang="en-US" sz="3200" dirty="0">
                <a:solidFill>
                  <a:srgbClr val="660033"/>
                </a:solidFill>
              </a:rPr>
              <a:t>归属：构成的自我论述</a:t>
            </a:r>
          </a:p>
        </p:txBody>
      </p:sp>
      <p:sp>
        <p:nvSpPr>
          <p:cNvPr id="3" name="内容占位符 2"/>
          <p:cNvSpPr>
            <a:spLocks noGrp="1"/>
          </p:cNvSpPr>
          <p:nvPr>
            <p:ph idx="1"/>
          </p:nvPr>
        </p:nvSpPr>
        <p:spPr/>
        <p:txBody>
          <a:bodyPr>
            <a:normAutofit/>
          </a:bodyPr>
          <a:lstStyle/>
          <a:p>
            <a:r>
              <a:rPr lang="zh-CN" altLang="en-US" sz="2400" dirty="0">
                <a:solidFill>
                  <a:srgbClr val="660033"/>
                </a:solidFill>
                <a:latin typeface="宋体" panose="02010600030101010101" pitchFamily="2" charset="-122"/>
                <a:ea typeface="宋体" panose="02010600030101010101" pitchFamily="2" charset="-122"/>
              </a:rPr>
              <a:t>古物重新以群星辉映的方式组织世界与功能组织相对</a:t>
            </a:r>
            <a:r>
              <a:rPr lang="zh-CN" altLang="en-US" sz="1600" dirty="0">
                <a:solidFill>
                  <a:srgbClr val="C00000"/>
                </a:solidFill>
                <a:latin typeface="宋体" panose="02010600030101010101" pitchFamily="2" charset="-122"/>
                <a:ea typeface="宋体" panose="02010600030101010101" pitchFamily="2" charset="-122"/>
              </a:rPr>
              <a:t>基础结构</a:t>
            </a:r>
            <a:endParaRPr lang="en-US" altLang="zh-CN" sz="1600" dirty="0">
              <a:solidFill>
                <a:srgbClr val="C00000"/>
              </a:solidFill>
              <a:latin typeface="宋体" panose="02010600030101010101" pitchFamily="2" charset="-122"/>
              <a:ea typeface="宋体" panose="02010600030101010101" pitchFamily="2" charset="-122"/>
            </a:endParaRPr>
          </a:p>
          <a:p>
            <a:pPr lvl="0"/>
            <a:r>
              <a:rPr lang="zh-CN" altLang="en-US" sz="2400" dirty="0">
                <a:solidFill>
                  <a:srgbClr val="660033"/>
                </a:solidFill>
                <a:latin typeface="宋体" panose="02010600030101010101" pitchFamily="2" charset="-122"/>
                <a:ea typeface="宋体" panose="02010600030101010101" pitchFamily="2" charset="-122"/>
              </a:rPr>
              <a:t>在与</a:t>
            </a:r>
            <a:r>
              <a:rPr lang="zh-CN" altLang="en-US" sz="2400" b="1" dirty="0">
                <a:solidFill>
                  <a:srgbClr val="660033"/>
                </a:solidFill>
                <a:latin typeface="宋体" panose="02010600030101010101" pitchFamily="2" charset="-122"/>
                <a:ea typeface="宋体" panose="02010600030101010101" pitchFamily="2" charset="-122"/>
              </a:rPr>
              <a:t>功能物</a:t>
            </a:r>
            <a:r>
              <a:rPr lang="zh-CN" altLang="en-US" sz="2400" dirty="0">
                <a:solidFill>
                  <a:srgbClr val="660033"/>
                </a:solidFill>
                <a:latin typeface="宋体" panose="02010600030101010101" pitchFamily="2" charset="-122"/>
                <a:ea typeface="宋体" panose="02010600030101010101" pitchFamily="2" charset="-122"/>
              </a:rPr>
              <a:t>的共处中，古物以其时间的深度反抗着后者</a:t>
            </a:r>
            <a:r>
              <a:rPr lang="zh-CN" altLang="en-US" sz="1400" dirty="0">
                <a:solidFill>
                  <a:srgbClr val="660033"/>
                </a:solidFill>
                <a:latin typeface="宋体" panose="02010600030101010101" pitchFamily="2" charset="-122"/>
                <a:ea typeface="宋体" panose="02010600030101010101" pitchFamily="2" charset="-122"/>
              </a:rPr>
              <a:t>无法反驳</a:t>
            </a:r>
          </a:p>
          <a:p>
            <a:r>
              <a:rPr lang="zh-CN" altLang="en-US" sz="2400" dirty="0">
                <a:solidFill>
                  <a:srgbClr val="660033"/>
                </a:solidFill>
                <a:latin typeface="宋体" panose="02010600030101010101" pitchFamily="2" charset="-122"/>
                <a:ea typeface="宋体" panose="02010600030101010101" pitchFamily="2" charset="-122"/>
              </a:rPr>
              <a:t>神话学物品：不再是朝向他人的论述</a:t>
            </a:r>
            <a:r>
              <a:rPr lang="zh-CN" altLang="en-US" sz="1600" dirty="0">
                <a:solidFill>
                  <a:srgbClr val="660033"/>
                </a:solidFill>
                <a:latin typeface="宋体" panose="02010600030101010101" pitchFamily="2" charset="-122"/>
                <a:ea typeface="宋体" panose="02010600030101010101" pitchFamily="2" charset="-122"/>
              </a:rPr>
              <a:t>（祭祀）</a:t>
            </a:r>
            <a:r>
              <a:rPr lang="zh-CN" altLang="en-US" sz="2400" dirty="0">
                <a:solidFill>
                  <a:srgbClr val="660033"/>
                </a:solidFill>
                <a:latin typeface="宋体" panose="02010600030101010101" pitchFamily="2" charset="-122"/>
                <a:ea typeface="宋体" panose="02010600030101010101" pitchFamily="2" charset="-122"/>
              </a:rPr>
              <a:t>，而是朝向自己的论述</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神话学物品在时间外显的界限内将人带回到过去、历史的时刻</a:t>
            </a:r>
            <a:r>
              <a:rPr lang="en-US" altLang="zh-CN" sz="1600" dirty="0">
                <a:solidFill>
                  <a:srgbClr val="660033"/>
                </a:solidFill>
                <a:latin typeface="宋体" panose="02010600030101010101" pitchFamily="2" charset="-122"/>
                <a:ea typeface="宋体" panose="02010600030101010101" pitchFamily="2" charset="-122"/>
              </a:rPr>
              <a:t>-</a:t>
            </a:r>
            <a:r>
              <a:rPr lang="zh-CN" altLang="en-US" sz="1600" dirty="0">
                <a:solidFill>
                  <a:srgbClr val="660033"/>
                </a:solidFill>
                <a:latin typeface="宋体" panose="02010600030101010101" pitchFamily="2" charset="-122"/>
                <a:ea typeface="宋体" panose="02010600030101010101" pitchFamily="2" charset="-122"/>
              </a:rPr>
              <a:t>私人</a:t>
            </a:r>
            <a:endParaRPr lang="en-US" altLang="zh-CN" sz="16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在“那里”</a:t>
            </a:r>
            <a:r>
              <a:rPr lang="en-US" altLang="zh-CN" sz="2400" dirty="0">
                <a:solidFill>
                  <a:srgbClr val="660033"/>
                </a:solidFill>
                <a:latin typeface="宋体" panose="02010600030101010101" pitchFamily="2" charset="-122"/>
                <a:ea typeface="宋体" panose="02010600030101010101" pitchFamily="2" charset="-122"/>
              </a:rPr>
              <a:t>:</a:t>
            </a:r>
            <a:r>
              <a:rPr lang="zh-CN" altLang="en-US" sz="2400" dirty="0">
                <a:solidFill>
                  <a:srgbClr val="660033"/>
                </a:solidFill>
                <a:latin typeface="宋体" panose="02010600030101010101" pitchFamily="2" charset="-122"/>
                <a:ea typeface="宋体" panose="02010600030101010101" pitchFamily="2" charset="-122"/>
              </a:rPr>
              <a:t>纯粹的主体性可以在其气氛中自由地变形</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人通过气氛的建构完成对自己“存有”的完美论述</a:t>
            </a:r>
            <a:endParaRPr lang="en-US" altLang="zh-CN" sz="2400" dirty="0">
              <a:solidFill>
                <a:srgbClr val="660033"/>
              </a:solidFill>
              <a:latin typeface="宋体" panose="02010600030101010101" pitchFamily="2" charset="-122"/>
              <a:ea typeface="宋体" panose="02010600030101010101" pitchFamily="2" charset="-122"/>
            </a:endParaRPr>
          </a:p>
          <a:p>
            <a:pPr marL="0" indent="0">
              <a:buNone/>
            </a:pPr>
            <a:r>
              <a:rPr lang="zh-CN" altLang="en-US" sz="1600" dirty="0">
                <a:solidFill>
                  <a:srgbClr val="FF0000"/>
                </a:solidFill>
                <a:latin typeface="宋体" panose="02010600030101010101" pitchFamily="2" charset="-122"/>
                <a:ea typeface="宋体" panose="02010600030101010101" pitchFamily="2" charset="-122"/>
              </a:rPr>
              <a:t> </a:t>
            </a:r>
            <a:r>
              <a:rPr lang="en-US" altLang="zh-CN" sz="1600" dirty="0">
                <a:solidFill>
                  <a:srgbClr val="FF0000"/>
                </a:solidFill>
                <a:latin typeface="宋体" panose="02010600030101010101" pitchFamily="2" charset="-122"/>
                <a:ea typeface="宋体" panose="02010600030101010101" pitchFamily="2" charset="-122"/>
              </a:rPr>
              <a:t>                                                               </a:t>
            </a:r>
            <a:r>
              <a:rPr lang="zh-CN" altLang="en-US" sz="1600" dirty="0">
                <a:solidFill>
                  <a:srgbClr val="FF0000"/>
                </a:solidFill>
                <a:latin typeface="宋体" panose="02010600030101010101" pitchFamily="2" charset="-122"/>
                <a:ea typeface="宋体" panose="02010600030101010101" pitchFamily="2" charset="-122"/>
              </a:rPr>
              <a:t>拿破仑攻打彼得堡的指挥剑</a:t>
            </a:r>
          </a:p>
        </p:txBody>
      </p:sp>
    </p:spTree>
    <p:extLst>
      <p:ext uri="{BB962C8B-B14F-4D97-AF65-F5344CB8AC3E}">
        <p14:creationId xmlns:p14="http://schemas.microsoft.com/office/powerpoint/2010/main" val="3654998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a:solidFill>
                  <a:srgbClr val="FF0000"/>
                </a:solidFill>
              </a:rPr>
              <a:t>                                 “逃避”和象征性的“善”</a:t>
            </a:r>
            <a:endParaRPr lang="zh-CN" altLang="en-US" sz="1600" dirty="0">
              <a:solidFill>
                <a:srgbClr val="FF0000"/>
              </a:solidFill>
            </a:endParaRPr>
          </a:p>
        </p:txBody>
      </p:sp>
      <p:sp>
        <p:nvSpPr>
          <p:cNvPr id="3" name="内容占位符 2"/>
          <p:cNvSpPr>
            <a:spLocks noGrp="1"/>
          </p:cNvSpPr>
          <p:nvPr>
            <p:ph idx="1"/>
          </p:nvPr>
        </p:nvSpPr>
        <p:spPr>
          <a:xfrm>
            <a:off x="160773" y="1825625"/>
            <a:ext cx="11646039" cy="4351338"/>
          </a:xfrm>
        </p:spPr>
        <p:txBody>
          <a:bodyPr/>
          <a:lstStyle/>
          <a:p>
            <a:pPr algn="just">
              <a:spcAft>
                <a:spcPts val="0"/>
              </a:spcAft>
            </a:pPr>
            <a:endParaRPr lang="en-US" altLang="zh-CN" kern="100" dirty="0">
              <a:latin typeface="华文宋体" panose="02010600040101010101" pitchFamily="2" charset="-122"/>
              <a:ea typeface="宋体" panose="02010600030101010101" pitchFamily="2" charset="-122"/>
              <a:cs typeface="华文宋体" panose="02010600040101010101" pitchFamily="2" charset="-122"/>
            </a:endParaRPr>
          </a:p>
          <a:p>
            <a:pPr algn="just"/>
            <a:r>
              <a:rPr lang="zh-CN" altLang="zh-CN" sz="2400" kern="100" dirty="0">
                <a:solidFill>
                  <a:srgbClr val="660033"/>
                </a:solidFill>
                <a:latin typeface="宋体" pitchFamily="2" charset="-122"/>
                <a:ea typeface="宋体" pitchFamily="2" charset="-122"/>
                <a:cs typeface="华文宋体" panose="02010600040101010101" pitchFamily="2" charset="-122"/>
              </a:rPr>
              <a:t>在私生活的环境里，</a:t>
            </a:r>
            <a:r>
              <a:rPr lang="zh-CN" altLang="en-US" sz="2400" kern="100" dirty="0">
                <a:solidFill>
                  <a:srgbClr val="660033"/>
                </a:solidFill>
                <a:latin typeface="宋体" pitchFamily="2" charset="-122"/>
                <a:ea typeface="宋体" pitchFamily="2" charset="-122"/>
                <a:cs typeface="华文宋体" panose="02010600040101010101" pitchFamily="2" charset="-122"/>
              </a:rPr>
              <a:t>古物</a:t>
            </a:r>
            <a:r>
              <a:rPr lang="zh-CN" altLang="zh-CN" sz="2400" kern="100" dirty="0">
                <a:solidFill>
                  <a:srgbClr val="660033"/>
                </a:solidFill>
                <a:latin typeface="宋体" pitchFamily="2" charset="-122"/>
                <a:ea typeface="宋体" pitchFamily="2" charset="-122"/>
                <a:cs typeface="华文宋体" panose="02010600040101010101" pitchFamily="2" charset="-122"/>
              </a:rPr>
              <a:t>形成了更加私密的领域</a:t>
            </a:r>
            <a:r>
              <a:rPr lang="en-US" altLang="zh-CN" sz="2400" kern="100" dirty="0">
                <a:solidFill>
                  <a:srgbClr val="660033"/>
                </a:solidFill>
                <a:latin typeface="宋体" pitchFamily="2" charset="-122"/>
                <a:ea typeface="宋体" pitchFamily="2" charset="-122"/>
                <a:cs typeface="华文宋体" panose="02010600040101010101" pitchFamily="2" charset="-122"/>
              </a:rPr>
              <a:t> </a:t>
            </a:r>
            <a:r>
              <a:rPr lang="zh-CN" altLang="en-US" sz="1600" kern="100" dirty="0">
                <a:solidFill>
                  <a:srgbClr val="660033"/>
                </a:solidFill>
                <a:latin typeface="宋体" pitchFamily="2" charset="-122"/>
                <a:ea typeface="宋体" pitchFamily="2" charset="-122"/>
                <a:cs typeface="华文宋体" panose="02010600040101010101" pitchFamily="2" charset="-122"/>
              </a:rPr>
              <a:t>时间深邃的密道</a:t>
            </a:r>
            <a:r>
              <a:rPr lang="zh-CN" altLang="en-US" sz="2400" kern="100" dirty="0">
                <a:solidFill>
                  <a:srgbClr val="660033"/>
                </a:solidFill>
                <a:latin typeface="宋体" pitchFamily="2" charset="-122"/>
                <a:ea typeface="宋体" pitchFamily="2" charset="-122"/>
                <a:cs typeface="华文宋体" panose="02010600040101010101" pitchFamily="2" charset="-122"/>
              </a:rPr>
              <a:t>；</a:t>
            </a:r>
            <a:endParaRPr lang="zh-CN" altLang="zh-CN" sz="2400" kern="100" dirty="0">
              <a:solidFill>
                <a:srgbClr val="660033"/>
              </a:solidFill>
              <a:latin typeface="宋体" pitchFamily="2" charset="-122"/>
              <a:ea typeface="宋体" pitchFamily="2" charset="-122"/>
              <a:cs typeface="Times New Roman" panose="02020603050405020304" pitchFamily="18" charset="0"/>
            </a:endParaRPr>
          </a:p>
          <a:p>
            <a:pPr algn="just"/>
            <a:r>
              <a:rPr lang="zh-CN" altLang="en-US" sz="2400" kern="100" dirty="0">
                <a:solidFill>
                  <a:srgbClr val="FF0000"/>
                </a:solidFill>
                <a:latin typeface="宋体" pitchFamily="2" charset="-122"/>
                <a:ea typeface="宋体" pitchFamily="2" charset="-122"/>
                <a:cs typeface="华文宋体" panose="02010600040101010101" pitchFamily="2" charset="-122"/>
              </a:rPr>
              <a:t>通过想象建构起属于个体朝向过往的完整象征性</a:t>
            </a:r>
            <a:endParaRPr lang="en-US" altLang="zh-CN" sz="2400" kern="100" dirty="0">
              <a:solidFill>
                <a:srgbClr val="FF0000"/>
              </a:solidFill>
              <a:latin typeface="宋体" pitchFamily="2" charset="-122"/>
              <a:ea typeface="宋体" pitchFamily="2" charset="-122"/>
              <a:cs typeface="华文宋体" panose="02010600040101010101" pitchFamily="2" charset="-122"/>
            </a:endParaRPr>
          </a:p>
          <a:p>
            <a:pPr algn="just"/>
            <a:r>
              <a:rPr lang="zh-CN" altLang="zh-CN" sz="2400" kern="100" dirty="0">
                <a:solidFill>
                  <a:srgbClr val="FF0000"/>
                </a:solidFill>
                <a:latin typeface="宋体" pitchFamily="2" charset="-122"/>
                <a:ea typeface="宋体" pitchFamily="2" charset="-122"/>
                <a:cs typeface="华文宋体" panose="02010600040101010101" pitchFamily="2" charset="-122"/>
              </a:rPr>
              <a:t>在时间中才能最为彻底的逃避</a:t>
            </a:r>
            <a:r>
              <a:rPr lang="zh-CN" altLang="en-US" sz="2400" kern="100" dirty="0">
                <a:solidFill>
                  <a:srgbClr val="FF0000"/>
                </a:solidFill>
                <a:latin typeface="宋体" pitchFamily="2" charset="-122"/>
                <a:ea typeface="宋体" pitchFamily="2" charset="-122"/>
                <a:cs typeface="华文宋体" panose="02010600040101010101" pitchFamily="2" charset="-122"/>
              </a:rPr>
              <a:t>：</a:t>
            </a:r>
            <a:r>
              <a:rPr lang="zh-CN" altLang="en-US" sz="2400" dirty="0">
                <a:solidFill>
                  <a:srgbClr val="660033"/>
                </a:solidFill>
                <a:latin typeface="宋体" pitchFamily="2" charset="-122"/>
                <a:ea typeface="宋体" pitchFamily="2" charset="-122"/>
              </a:rPr>
              <a:t>神话学物指涉先祖性甚至是自然的绝对先前性</a:t>
            </a:r>
            <a:endParaRPr lang="en-US" altLang="zh-CN" sz="1600" dirty="0">
              <a:solidFill>
                <a:srgbClr val="660033"/>
              </a:solidFill>
              <a:latin typeface="宋体" pitchFamily="2" charset="-122"/>
              <a:ea typeface="宋体" pitchFamily="2" charset="-122"/>
            </a:endParaRPr>
          </a:p>
          <a:p>
            <a:pPr algn="just">
              <a:spcAft>
                <a:spcPts val="0"/>
              </a:spcAft>
            </a:pPr>
            <a:r>
              <a:rPr lang="zh-CN" altLang="zh-CN" sz="2400" kern="100" dirty="0">
                <a:solidFill>
                  <a:srgbClr val="660033"/>
                </a:solidFill>
                <a:latin typeface="宋体" pitchFamily="2" charset="-122"/>
                <a:ea typeface="宋体" pitchFamily="2" charset="-122"/>
                <a:cs typeface="华文宋体" panose="02010600040101010101" pitchFamily="2" charset="-122"/>
              </a:rPr>
              <a:t>象征有善</a:t>
            </a:r>
            <a:r>
              <a:rPr lang="zh-CN" altLang="en-US" sz="1400" kern="100" dirty="0">
                <a:solidFill>
                  <a:srgbClr val="660033"/>
                </a:solidFill>
                <a:latin typeface="宋体" pitchFamily="2" charset="-122"/>
                <a:ea typeface="宋体" pitchFamily="2" charset="-122"/>
                <a:cs typeface="华文宋体" panose="02010600040101010101" pitchFamily="2" charset="-122"/>
              </a:rPr>
              <a:t>好</a:t>
            </a:r>
            <a:r>
              <a:rPr lang="zh-CN" altLang="zh-CN" sz="2400" kern="100" dirty="0">
                <a:solidFill>
                  <a:srgbClr val="660033"/>
                </a:solidFill>
                <a:latin typeface="宋体" pitchFamily="2" charset="-122"/>
                <a:ea typeface="宋体" pitchFamily="2" charset="-122"/>
                <a:cs typeface="华文宋体" panose="02010600040101010101" pitchFamily="2" charset="-122"/>
              </a:rPr>
              <a:t>影响力的</a:t>
            </a:r>
            <a:r>
              <a:rPr lang="zh-CN" altLang="en-US" sz="2400" kern="100" dirty="0">
                <a:solidFill>
                  <a:srgbClr val="660033"/>
                </a:solidFill>
                <a:latin typeface="宋体" pitchFamily="2" charset="-122"/>
                <a:ea typeface="宋体" pitchFamily="2" charset="-122"/>
                <a:cs typeface="华文宋体" panose="02010600040101010101" pitchFamily="2" charset="-122"/>
              </a:rPr>
              <a:t>私人</a:t>
            </a:r>
            <a:r>
              <a:rPr lang="zh-CN" altLang="zh-CN" sz="2400" kern="100" dirty="0">
                <a:solidFill>
                  <a:srgbClr val="660033"/>
                </a:solidFill>
                <a:latin typeface="宋体" pitchFamily="2" charset="-122"/>
                <a:ea typeface="宋体" pitchFamily="2" charset="-122"/>
                <a:cs typeface="华文宋体" panose="02010600040101010101" pitchFamily="2" charset="-122"/>
              </a:rPr>
              <a:t>物品，像是祖先</a:t>
            </a:r>
            <a:r>
              <a:rPr lang="en-US" altLang="zh-CN" sz="2400" kern="100" dirty="0">
                <a:solidFill>
                  <a:srgbClr val="660033"/>
                </a:solidFill>
                <a:latin typeface="宋体" pitchFamily="2" charset="-122"/>
                <a:ea typeface="宋体" pitchFamily="2" charset="-122"/>
                <a:cs typeface="华文宋体" panose="02010600040101010101" pitchFamily="2" charset="-122"/>
              </a:rPr>
              <a:t>——</a:t>
            </a:r>
            <a:r>
              <a:rPr lang="zh-CN" altLang="zh-CN" sz="2400" kern="100" dirty="0">
                <a:solidFill>
                  <a:srgbClr val="660033"/>
                </a:solidFill>
                <a:latin typeface="宋体" pitchFamily="2" charset="-122"/>
                <a:ea typeface="宋体" pitchFamily="2" charset="-122"/>
                <a:cs typeface="华文宋体" panose="02010600040101010101" pitchFamily="2" charset="-122"/>
              </a:rPr>
              <a:t>总是</a:t>
            </a:r>
            <a:r>
              <a:rPr lang="en-US" altLang="zh-CN" sz="2400" kern="100" dirty="0">
                <a:solidFill>
                  <a:srgbClr val="660033"/>
                </a:solidFill>
                <a:latin typeface="宋体" pitchFamily="2" charset="-122"/>
                <a:ea typeface="宋体" pitchFamily="2" charset="-122"/>
                <a:cs typeface="华文宋体" panose="02010600040101010101" pitchFamily="2" charset="-122"/>
              </a:rPr>
              <a:t>“</a:t>
            </a:r>
            <a:r>
              <a:rPr lang="zh-CN" altLang="zh-CN" sz="2400" kern="100" dirty="0">
                <a:solidFill>
                  <a:srgbClr val="660033"/>
                </a:solidFill>
                <a:latin typeface="宋体" pitchFamily="2" charset="-122"/>
                <a:ea typeface="宋体" pitchFamily="2" charset="-122"/>
                <a:cs typeface="华文宋体" panose="02010600040101010101" pitchFamily="2" charset="-122"/>
              </a:rPr>
              <a:t>最私人的</a:t>
            </a:r>
            <a:r>
              <a:rPr lang="en-US" altLang="zh-CN" sz="2400" kern="100" dirty="0">
                <a:solidFill>
                  <a:srgbClr val="660033"/>
                </a:solidFill>
                <a:latin typeface="宋体" pitchFamily="2" charset="-122"/>
                <a:ea typeface="宋体" pitchFamily="2" charset="-122"/>
                <a:cs typeface="华文宋体" panose="02010600040101010101" pitchFamily="2" charset="-122"/>
              </a:rPr>
              <a:t>”</a:t>
            </a:r>
            <a:r>
              <a:rPr lang="zh-CN" altLang="en-US" sz="1600" kern="100" dirty="0">
                <a:solidFill>
                  <a:srgbClr val="660033"/>
                </a:solidFill>
                <a:latin typeface="宋体" pitchFamily="2" charset="-122"/>
                <a:ea typeface="宋体" pitchFamily="2" charset="-122"/>
                <a:cs typeface="华文宋体" panose="02010600040101010101" pitchFamily="2" charset="-122"/>
              </a:rPr>
              <a:t>（野心和欲望）</a:t>
            </a:r>
            <a:endParaRPr lang="zh-CN" altLang="zh-CN" sz="1600" kern="100" dirty="0">
              <a:solidFill>
                <a:srgbClr val="660033"/>
              </a:solidFill>
              <a:latin typeface="宋体" pitchFamily="2" charset="-122"/>
              <a:ea typeface="宋体" pitchFamily="2" charset="-122"/>
              <a:cs typeface="Times New Roman" panose="02020603050405020304" pitchFamily="18" charset="0"/>
            </a:endParaRPr>
          </a:p>
          <a:p>
            <a:r>
              <a:rPr lang="zh-CN" altLang="en-US" sz="2400" dirty="0">
                <a:latin typeface="宋体" pitchFamily="2" charset="-122"/>
                <a:ea typeface="宋体" pitchFamily="2" charset="-122"/>
              </a:rPr>
              <a:t>私人的神话学物品</a:t>
            </a:r>
            <a:r>
              <a:rPr lang="en-US" altLang="zh-CN" sz="2400" dirty="0">
                <a:latin typeface="宋体" pitchFamily="2" charset="-122"/>
                <a:ea typeface="宋体" pitchFamily="2" charset="-122"/>
              </a:rPr>
              <a:t>-</a:t>
            </a:r>
            <a:r>
              <a:rPr lang="zh-CN" altLang="en-US" sz="2400" dirty="0">
                <a:latin typeface="宋体" pitchFamily="2" charset="-122"/>
                <a:ea typeface="宋体" pitchFamily="2" charset="-122"/>
              </a:rPr>
              <a:t>通过拥有达成想象与圆满的论述</a:t>
            </a:r>
            <a:endParaRPr lang="en-US" altLang="zh-CN" sz="2400" dirty="0">
              <a:latin typeface="宋体" pitchFamily="2" charset="-122"/>
              <a:ea typeface="宋体" pitchFamily="2" charset="-122"/>
            </a:endParaRPr>
          </a:p>
          <a:p>
            <a:pPr marL="0" indent="0" algn="r">
              <a:buNone/>
            </a:pPr>
            <a:r>
              <a:rPr lang="zh-CN" altLang="en-US" sz="1600" dirty="0">
                <a:solidFill>
                  <a:srgbClr val="FF0000"/>
                </a:solidFill>
                <a:latin typeface="宋体" pitchFamily="2" charset="-122"/>
                <a:ea typeface="宋体" pitchFamily="2" charset="-122"/>
              </a:rPr>
              <a:t>                                                                                                                                                                         祖先的宗祠</a:t>
            </a:r>
            <a:endParaRPr lang="en-US" altLang="zh-CN" sz="1600" dirty="0">
              <a:solidFill>
                <a:srgbClr val="FF0000"/>
              </a:solidFill>
              <a:latin typeface="宋体" pitchFamily="2" charset="-122"/>
              <a:ea typeface="宋体" pitchFamily="2" charset="-122"/>
            </a:endParaRPr>
          </a:p>
        </p:txBody>
      </p:sp>
    </p:spTree>
    <p:extLst>
      <p:ext uri="{BB962C8B-B14F-4D97-AF65-F5344CB8AC3E}">
        <p14:creationId xmlns:p14="http://schemas.microsoft.com/office/powerpoint/2010/main" val="3336531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algn="just"/>
            <a:endParaRPr lang="en-US" altLang="zh-CN" kern="100" dirty="0">
              <a:latin typeface="华文宋体" panose="02010600040101010101" pitchFamily="2" charset="-122"/>
              <a:ea typeface="宋体" panose="02010600030101010101" pitchFamily="2" charset="-122"/>
              <a:cs typeface="华文宋体" panose="02010600040101010101" pitchFamily="2" charset="-122"/>
            </a:endParaRPr>
          </a:p>
          <a:p>
            <a:pPr algn="just"/>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所有因素都不会影响</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古物</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在真实生活体验中的特殊性</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不真、不假，而是完美</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和</a:t>
            </a:r>
            <a:r>
              <a:rPr lang="en-US" altLang="zh-CN" sz="2400" kern="100" dirty="0">
                <a:solidFill>
                  <a:srgbClr val="FF0000"/>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FF0000"/>
                </a:solidFill>
                <a:latin typeface="华文宋体" panose="02010600040101010101" pitchFamily="2" charset="-122"/>
                <a:ea typeface="宋体" panose="02010600030101010101" pitchFamily="2" charset="-122"/>
                <a:cs typeface="华文宋体" panose="02010600040101010101" pitchFamily="2" charset="-122"/>
              </a:rPr>
              <a:t>不在</a:t>
            </a:r>
            <a:r>
              <a:rPr lang="en-US" altLang="zh-CN" sz="2400" kern="100" dirty="0">
                <a:solidFill>
                  <a:srgbClr val="FF0000"/>
                </a:solidFill>
                <a:latin typeface="华文宋体" panose="02010600040101010101" pitchFamily="2" charset="-122"/>
                <a:ea typeface="宋体" panose="02010600030101010101" pitchFamily="2" charset="-122"/>
                <a:cs typeface="华文宋体" panose="02010600040101010101" pitchFamily="2" charset="-122"/>
              </a:rPr>
              <a:t>”</a:t>
            </a:r>
          </a:p>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它</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（古物本身）</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既不进入一个气氛的结构</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，也不进入时间结构</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zh-CN" altLang="en-US" sz="2400" kern="100" dirty="0">
                <a:solidFill>
                  <a:srgbClr val="660033"/>
                </a:solidFill>
                <a:latin typeface="华文宋体" panose="02010600040101010101" pitchFamily="2" charset="-122"/>
                <a:ea typeface="宋体" panose="02010600030101010101" pitchFamily="2" charset="-122"/>
              </a:rPr>
              <a:t>与“功能性”物形成对照的基础</a:t>
            </a:r>
            <a:endParaRPr lang="en-US" altLang="zh-CN" sz="2400" kern="100" dirty="0">
              <a:solidFill>
                <a:srgbClr val="660033"/>
              </a:solidFill>
              <a:latin typeface="华文宋体" panose="02010600040101010101" pitchFamily="2" charset="-122"/>
              <a:ea typeface="宋体" panose="02010600030101010101" pitchFamily="2" charset="-122"/>
            </a:endParaRPr>
          </a:p>
          <a:p>
            <a:pPr marL="0" indent="0" algn="r">
              <a:spcAft>
                <a:spcPts val="0"/>
              </a:spcAft>
              <a:buNone/>
            </a:pPr>
            <a:r>
              <a:rPr lang="en-US" altLang="zh-CN" sz="2400" kern="100" dirty="0">
                <a:solidFill>
                  <a:srgbClr val="FF0000"/>
                </a:solidFill>
                <a:latin typeface="华文宋体" panose="02010600040101010101" pitchFamily="2" charset="-122"/>
                <a:ea typeface="宋体" panose="02010600030101010101" pitchFamily="2" charset="-122"/>
              </a:rPr>
              <a:t>                                               </a:t>
            </a:r>
            <a:endParaRPr lang="zh-CN" altLang="en-US" sz="1600" dirty="0">
              <a:solidFill>
                <a:srgbClr val="FF0000"/>
              </a:solidFill>
            </a:endParaRPr>
          </a:p>
        </p:txBody>
      </p:sp>
      <p:sp>
        <p:nvSpPr>
          <p:cNvPr id="7" name="矩形 6"/>
          <p:cNvSpPr/>
          <p:nvPr/>
        </p:nvSpPr>
        <p:spPr>
          <a:xfrm>
            <a:off x="2927005" y="998652"/>
            <a:ext cx="6165470" cy="769441"/>
          </a:xfrm>
          <a:prstGeom prst="rect">
            <a:avLst/>
          </a:prstGeom>
        </p:spPr>
        <p:txBody>
          <a:bodyPr wrap="none">
            <a:spAutoFit/>
          </a:bodyPr>
          <a:lstStyle/>
          <a:p>
            <a:r>
              <a:rPr lang="en-US" altLang="zh-CN" sz="2800" dirty="0">
                <a:solidFill>
                  <a:prstClr val="black"/>
                </a:solidFill>
                <a:latin typeface="等线 Light" panose="020F0302020204030204"/>
                <a:cs typeface="+mj-cs"/>
              </a:rPr>
              <a:t> </a:t>
            </a:r>
            <a:r>
              <a:rPr lang="zh-CN" altLang="en-US" sz="2800" dirty="0">
                <a:solidFill>
                  <a:prstClr val="black"/>
                </a:solidFill>
                <a:latin typeface="等线 Light" panose="020F0302020204030204"/>
                <a:cs typeface="+mj-cs"/>
              </a:rPr>
              <a:t>结构：</a:t>
            </a:r>
            <a:r>
              <a:rPr lang="zh-CN" altLang="en-US" sz="2800" dirty="0">
                <a:solidFill>
                  <a:prstClr val="black"/>
                </a:solidFill>
                <a:latin typeface="等线 Light" panose="020F0302020204030204"/>
                <a:cs typeface="+mj-cs"/>
                <a:hlinkClick r:id="rId2" action="ppaction://hlinksldjump"/>
              </a:rPr>
              <a:t>“在场”却代表着“不在”</a:t>
            </a:r>
            <a:r>
              <a:rPr lang="en-US" altLang="zh-CN" sz="2800" dirty="0">
                <a:solidFill>
                  <a:prstClr val="black"/>
                </a:solidFill>
                <a:latin typeface="等线 Light" panose="020F0302020204030204"/>
                <a:cs typeface="+mj-cs"/>
              </a:rPr>
              <a:t>-</a:t>
            </a:r>
            <a:r>
              <a:rPr lang="zh-CN" altLang="en-US" sz="1600" b="1" kern="100" dirty="0">
                <a:latin typeface="宋体" panose="02010600030101010101" pitchFamily="2" charset="-122"/>
                <a:ea typeface="宋体" panose="02010600030101010101" pitchFamily="2" charset="-122"/>
                <a:cs typeface="Times New Roman" panose="02020603050405020304" pitchFamily="18" charset="0"/>
              </a:rPr>
              <a:t>当下朝向历史</a:t>
            </a:r>
            <a:endParaRPr lang="zh-CN" altLang="en-US" sz="1600" dirty="0">
              <a:latin typeface="宋体" panose="02010600030101010101" pitchFamily="2" charset="-122"/>
              <a:ea typeface="宋体" panose="02010600030101010101" pitchFamily="2" charset="-122"/>
            </a:endParaRPr>
          </a:p>
          <a:p>
            <a:endParaRPr lang="zh-CN" altLang="en-US" sz="1600" dirty="0">
              <a:solidFill>
                <a:srgbClr val="660033"/>
              </a:solidFill>
            </a:endParaRPr>
          </a:p>
        </p:txBody>
      </p:sp>
    </p:spTree>
    <p:extLst>
      <p:ext uri="{BB962C8B-B14F-4D97-AF65-F5344CB8AC3E}">
        <p14:creationId xmlns:p14="http://schemas.microsoft.com/office/powerpoint/2010/main" val="3610922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kern="100" dirty="0">
                <a:solidFill>
                  <a:srgbClr val="660033"/>
                </a:solidFill>
                <a:latin typeface="+mj-ea"/>
                <a:cs typeface="华文宋体" panose="02010600040101010101" pitchFamily="2" charset="-122"/>
              </a:rPr>
              <a:t>功能物属性</a:t>
            </a:r>
            <a:endParaRPr lang="zh-CN" altLang="en-US" dirty="0">
              <a:solidFill>
                <a:srgbClr val="660033"/>
              </a:solidFill>
              <a:latin typeface="+mj-ea"/>
            </a:endParaRPr>
          </a:p>
        </p:txBody>
      </p:sp>
      <p:sp>
        <p:nvSpPr>
          <p:cNvPr id="3" name="内容占位符 2"/>
          <p:cNvSpPr>
            <a:spLocks noGrp="1"/>
          </p:cNvSpPr>
          <p:nvPr>
            <p:ph idx="1"/>
          </p:nvPr>
        </p:nvSpPr>
        <p:spPr>
          <a:xfrm>
            <a:off x="211015" y="1825625"/>
            <a:ext cx="11635992" cy="4351338"/>
          </a:xfrm>
        </p:spPr>
        <p:txBody>
          <a:bodyPr/>
          <a:lstStyle/>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功能物是存有的缺席</a:t>
            </a:r>
            <a:endParaRPr lang="zh-CN" altLang="zh-CN" sz="2400" kern="100" dirty="0">
              <a:solidFill>
                <a:srgbClr val="660033"/>
              </a:solidFill>
              <a:effectLst/>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现实使得退化到</a:t>
            </a:r>
            <a:r>
              <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自我发展</a:t>
            </a:r>
            <a:r>
              <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维度成为不可能</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功能物显得如此贫乏：价格、品质、威</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能都弥补不了失去“父亲”、“母亲”</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丧失意义的形式</a:t>
            </a:r>
            <a:endParaRPr lang="zh-CN" altLang="zh-CN" sz="2400" kern="100" dirty="0">
              <a:solidFill>
                <a:srgbClr val="660033"/>
              </a:solidFill>
              <a:effectLst/>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功能性丰富而意义薄弱，存在仅止于日常生活</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marL="0" indent="0" algn="just">
              <a:spcAft>
                <a:spcPts val="0"/>
              </a:spcAft>
              <a:buNone/>
            </a:pPr>
            <a:r>
              <a:rPr lang="zh-CN" altLang="en-US" sz="2000" kern="100" dirty="0">
                <a:solidFill>
                  <a:srgbClr val="660033"/>
                </a:solidFill>
                <a:effectLst/>
                <a:latin typeface="华文宋体" panose="02010600040101010101" pitchFamily="2" charset="-122"/>
                <a:ea typeface="宋体" panose="02010600030101010101" pitchFamily="2" charset="-122"/>
                <a:cs typeface="Times New Roman" panose="02020603050405020304" pitchFamily="18" charset="0"/>
              </a:rPr>
              <a:t>    古物与功能物的关系：充满功能物的住宅成为“家宅”正需要具有“真确性</a:t>
            </a:r>
            <a:r>
              <a:rPr lang="zh-CN" altLang="en-US" sz="2000" kern="100" dirty="0">
                <a:effectLst/>
                <a:latin typeface="华文宋体" panose="02010600040101010101" pitchFamily="2" charset="-122"/>
                <a:ea typeface="宋体" panose="02010600030101010101" pitchFamily="2" charset="-122"/>
                <a:cs typeface="Times New Roman" panose="02020603050405020304" pitchFamily="18" charset="0"/>
              </a:rPr>
              <a:t>”古物来赋予</a:t>
            </a:r>
            <a:endParaRPr lang="en-US" altLang="zh-CN" sz="2000" kern="100" dirty="0">
              <a:effectLst/>
              <a:latin typeface="华文宋体" panose="02010600040101010101" pitchFamily="2" charset="-122"/>
              <a:ea typeface="宋体" panose="02010600030101010101" pitchFamily="2" charset="-122"/>
              <a:cs typeface="Times New Roman" panose="02020603050405020304" pitchFamily="18" charset="0"/>
            </a:endParaRPr>
          </a:p>
          <a:p>
            <a:pPr marL="0" lvl="0" indent="0" algn="just">
              <a:buNone/>
            </a:pPr>
            <a:r>
              <a:rPr lang="en-US" altLang="zh-CN" sz="1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                                                                                                                                                               </a:t>
            </a:r>
            <a:r>
              <a:rPr lang="zh-CN" altLang="zh-CN" sz="1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例如：壁炉和地暖系统</a:t>
            </a:r>
            <a:r>
              <a:rPr lang="zh-CN" altLang="en-US" sz="1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（“古老”和“新”</a:t>
            </a:r>
            <a:r>
              <a:rPr lang="en-US" altLang="zh-CN" sz="1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p90</a:t>
            </a:r>
            <a:r>
              <a:rPr lang="zh-CN" altLang="en-US" sz="1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endParaRPr lang="zh-CN" altLang="zh-CN" sz="1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gn="just">
              <a:spcAft>
                <a:spcPts val="0"/>
              </a:spcAft>
              <a:buNone/>
            </a:pPr>
            <a:endPar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endParaRPr lang="zh-CN" altLang="en-US" dirty="0"/>
          </a:p>
        </p:txBody>
      </p:sp>
    </p:spTree>
    <p:extLst>
      <p:ext uri="{BB962C8B-B14F-4D97-AF65-F5344CB8AC3E}">
        <p14:creationId xmlns:p14="http://schemas.microsoft.com/office/powerpoint/2010/main" val="38250010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工业系统</a:t>
            </a:r>
            <a:r>
              <a:rPr lang="zh-CN" altLang="en-US"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内涵：</a:t>
            </a:r>
            <a:r>
              <a:rPr lang="zh-CN" altLang="en-US" sz="2800" b="1" kern="100" dirty="0">
                <a:latin typeface="华文宋体" panose="02010600040101010101" pitchFamily="2" charset="-122"/>
                <a:ea typeface="宋体" panose="02010600030101010101" pitchFamily="2" charset="-122"/>
                <a:cs typeface="Times New Roman" panose="02020603050405020304" pitchFamily="18" charset="0"/>
              </a:rPr>
              <a:t>古物</a:t>
            </a:r>
            <a:r>
              <a:rPr lang="en-US" altLang="zh-CN" sz="2800" b="1" kern="100" dirty="0">
                <a:latin typeface="华文宋体" panose="02010600040101010101" pitchFamily="2" charset="-122"/>
                <a:ea typeface="宋体" panose="02010600030101010101" pitchFamily="2" charset="-122"/>
                <a:cs typeface="Times New Roman" panose="02020603050405020304" pitchFamily="18" charset="0"/>
              </a:rPr>
              <a:t>-</a:t>
            </a:r>
            <a:r>
              <a:rPr lang="zh-CN" altLang="en-US" sz="2800" b="1" kern="100" dirty="0">
                <a:latin typeface="华文宋体" panose="02010600040101010101" pitchFamily="2" charset="-122"/>
                <a:ea typeface="宋体" panose="02010600030101010101" pitchFamily="2" charset="-122"/>
                <a:cs typeface="Times New Roman" panose="02020603050405020304" pitchFamily="18" charset="0"/>
              </a:rPr>
              <a:t>时间记号即时性中的线性</a:t>
            </a:r>
            <a:r>
              <a:rPr lang="en-US" altLang="zh-CN" sz="2800" b="1" kern="100" dirty="0">
                <a:latin typeface="华文宋体" panose="02010600040101010101" pitchFamily="2" charset="-122"/>
                <a:ea typeface="宋体" panose="02010600030101010101" pitchFamily="2" charset="-122"/>
                <a:cs typeface="Times New Roman" panose="02020603050405020304" pitchFamily="18" charset="0"/>
              </a:rPr>
              <a:t>p93</a:t>
            </a:r>
            <a:endParaRPr lang="zh-CN" altLang="en-US" sz="2800" dirty="0"/>
          </a:p>
        </p:txBody>
      </p:sp>
      <p:sp>
        <p:nvSpPr>
          <p:cNvPr id="3" name="内容占位符 2"/>
          <p:cNvSpPr>
            <a:spLocks noGrp="1"/>
          </p:cNvSpPr>
          <p:nvPr>
            <p:ph idx="1"/>
          </p:nvPr>
        </p:nvSpPr>
        <p:spPr>
          <a:xfrm>
            <a:off x="695960" y="1815465"/>
            <a:ext cx="10998200" cy="4351338"/>
          </a:xfrm>
        </p:spPr>
        <p:txBody>
          <a:bodyPr>
            <a:normAutofit/>
          </a:bodyPr>
          <a:lstStyle/>
          <a:p>
            <a:pPr algn="just">
              <a:spcAft>
                <a:spcPts val="0"/>
              </a:spcAft>
            </a:pP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共时性</a:t>
            </a:r>
            <a:r>
              <a:rPr lang="en-US" altLang="zh-CN" sz="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1</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和贯时性</a:t>
            </a:r>
            <a:r>
              <a:rPr lang="en-US" altLang="zh-CN" sz="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2</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矛盾的要求共存于同一系统中，呈互补关系</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共时性和贯时性结构倾向于组织对</a:t>
            </a:r>
            <a:r>
              <a:rPr lang="zh-CN" altLang="en-US" sz="2400" b="1"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真实系统化和独占的控制（时间维度）</a:t>
            </a:r>
            <a:endParaRPr lang="en-US" altLang="zh-CN" sz="2400" b="1"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en-US" sz="2400" kern="100" dirty="0">
                <a:solidFill>
                  <a:srgbClr val="C00000"/>
                </a:solidFill>
                <a:latin typeface="华文宋体" panose="02010600040101010101" pitchFamily="2" charset="-122"/>
                <a:ea typeface="宋体" panose="02010600030101010101" pitchFamily="2" charset="-122"/>
                <a:cs typeface="华文宋体" panose="02010600040101010101" pitchFamily="2" charset="-122"/>
              </a:rPr>
              <a:t>结构：</a:t>
            </a:r>
            <a:r>
              <a:rPr lang="zh-CN" altLang="zh-CN" sz="2400" kern="100" dirty="0">
                <a:solidFill>
                  <a:srgbClr val="C00000"/>
                </a:solidFill>
                <a:latin typeface="华文宋体" panose="02010600040101010101" pitchFamily="2" charset="-122"/>
                <a:ea typeface="宋体" panose="02010600030101010101" pitchFamily="2" charset="-122"/>
                <a:cs typeface="华文宋体" panose="02010600040101010101" pitchFamily="2" charset="-122"/>
              </a:rPr>
              <a:t>想要以心理退化的方式来补足这个弱点的尝试</a:t>
            </a:r>
            <a:r>
              <a:rPr lang="zh-CN" altLang="en-US"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功能物</a:t>
            </a:r>
            <a:r>
              <a:rPr lang="en-US" altLang="zh-CN"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en-US"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威能</a:t>
            </a:r>
            <a:r>
              <a:rPr lang="en-US" altLang="zh-CN"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&amp;</a:t>
            </a:r>
            <a:r>
              <a:rPr lang="zh-CN" altLang="en-US"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非功能物</a:t>
            </a:r>
            <a:r>
              <a:rPr lang="en-US" altLang="zh-CN"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en-US"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神话论述</a:t>
            </a:r>
            <a:endParaRPr lang="en-US" altLang="zh-CN" sz="1600" kern="100" dirty="0">
              <a:solidFill>
                <a:srgbClr val="C00000"/>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心理退化的维度在“工业物系统”相对缺失见证中找到栖息之地</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以出乎常识意料的方式使得系统可以运作</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endParaRPr lang="zh-CN" altLang="zh-CN" sz="2400" kern="1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795280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solidFill>
                  <a:srgbClr val="660033"/>
                </a:solidFill>
              </a:rPr>
              <a:t>“古” 与“新”：诞生神话与威能神话并济</a:t>
            </a:r>
            <a:endParaRPr lang="zh-CN" altLang="en-US" sz="2400" dirty="0">
              <a:solidFill>
                <a:srgbClr val="660033"/>
              </a:solidFill>
            </a:endParaRPr>
          </a:p>
        </p:txBody>
      </p:sp>
      <p:sp>
        <p:nvSpPr>
          <p:cNvPr id="3" name="内容占位符 2"/>
          <p:cNvSpPr>
            <a:spLocks noGrp="1"/>
          </p:cNvSpPr>
          <p:nvPr>
            <p:ph idx="1"/>
          </p:nvPr>
        </p:nvSpPr>
        <p:spPr/>
        <p:txBody>
          <a:bodyPr>
            <a:normAutofit/>
          </a:bodyPr>
          <a:lstStyle/>
          <a:p>
            <a:pPr algn="just">
              <a:spcAft>
                <a:spcPts val="0"/>
              </a:spcAft>
            </a:pPr>
            <a:r>
              <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暧昧的共存</a:t>
            </a:r>
            <a:r>
              <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在</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经济发展</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的背景下才存在</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工业生产及环境的实用性饱和到某一种阶段才有可能出现</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不受优惠的社会阶层以及</a:t>
            </a:r>
            <a:r>
              <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原始人</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”向往“新”</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marL="0" indent="0">
              <a:spcAft>
                <a:spcPts val="0"/>
              </a:spcAft>
              <a:buNone/>
            </a:pPr>
            <a:r>
              <a:rPr lang="zh-CN" altLang="en-US" sz="18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（幼稚关系与力量幻想：由科技的现代性来保证，另一方由远祖性来担保）</a:t>
            </a:r>
            <a:endParaRPr lang="zh-CN" altLang="zh-CN" sz="18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20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古物的唯一价值便在于它已被牢封而且确定</a:t>
            </a:r>
            <a:endParaRPr lang="zh-CN" altLang="zh-CN" kern="100"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8189385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660033"/>
                </a:solidFill>
              </a:rPr>
              <a:t>错乱：</a:t>
            </a:r>
            <a:r>
              <a:rPr lang="zh-CN" altLang="en-US" sz="1600" dirty="0">
                <a:solidFill>
                  <a:srgbClr val="660033"/>
                </a:solidFill>
              </a:rPr>
              <a:t>人类文明的矛盾（“先锋”与“传统”同时的欲求）</a:t>
            </a:r>
          </a:p>
        </p:txBody>
      </p:sp>
      <p:sp>
        <p:nvSpPr>
          <p:cNvPr id="3" name="内容占位符 2"/>
          <p:cNvSpPr>
            <a:spLocks noGrp="1"/>
          </p:cNvSpPr>
          <p:nvPr>
            <p:ph idx="1"/>
          </p:nvPr>
        </p:nvSpPr>
        <p:spPr/>
        <p:txBody>
          <a:bodyPr/>
          <a:lstStyle/>
          <a:p>
            <a:pPr lvl="0" algn="just"/>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所有古物都是美的，它逃过时间之劫，成为前世记号</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lvl="0" algn="just"/>
            <a:r>
              <a:rPr lang="zh-CN" altLang="en-US"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我们对起源的焦虑好奇，和功能物品并置一处</a:t>
            </a:r>
            <a:endParaRPr lang="en-US"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lvl="0" algn="just"/>
            <a:r>
              <a:rPr lang="zh-CN" altLang="en-US"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前者是一个历史的记号，后者是我们现时作为主宰的记号</a:t>
            </a:r>
            <a:r>
              <a:rPr lang="en-US" altLang="zh-CN" sz="24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P94</a:t>
            </a:r>
            <a:endParaRPr lang="zh-CN" altLang="zh-CN" sz="24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lvl="0" algn="just"/>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物品本身便是这个未解决的</a:t>
            </a:r>
            <a:r>
              <a:rPr lang="zh-CN" altLang="zh-CN" sz="2400" b="1"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暧昧</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的见证</a:t>
            </a:r>
            <a:r>
              <a:rPr lang="zh-CN" altLang="en-US"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（传承与成为自己间）</a:t>
            </a:r>
            <a:endParaRPr lang="zh-CN" altLang="zh-CN"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lvl="0" algn="just"/>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一些物品是现在的中介物，一些则是过去的中介物</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lvl="0" algn="just"/>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古物</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“起源”的高贵性</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补偿了现代物品的提早过时</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lvl="0" algn="just"/>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p:txBody>
      </p:sp>
    </p:spTree>
    <p:extLst>
      <p:ext uri="{BB962C8B-B14F-4D97-AF65-F5344CB8AC3E}">
        <p14:creationId xmlns:p14="http://schemas.microsoft.com/office/powerpoint/2010/main" val="2905359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2213045"/>
            <a:ext cx="10515600" cy="4351338"/>
          </a:xfrm>
        </p:spPr>
        <p:txBody>
          <a:bodyPr/>
          <a:lstStyle/>
          <a:p>
            <a:endParaRPr lang="en-US" altLang="zh-CN" dirty="0"/>
          </a:p>
          <a:p>
            <a:endParaRPr lang="en-US" altLang="zh-CN" dirty="0"/>
          </a:p>
          <a:p>
            <a:endParaRPr lang="zh-CN" altLang="en-US" dirty="0"/>
          </a:p>
        </p:txBody>
      </p:sp>
      <p:pic>
        <p:nvPicPr>
          <p:cNvPr id="5" name="图片 4"/>
          <p:cNvPicPr>
            <a:picLocks noChangeAspect="1"/>
          </p:cNvPicPr>
          <p:nvPr/>
        </p:nvPicPr>
        <p:blipFill>
          <a:blip r:embed="rId2"/>
          <a:stretch>
            <a:fillRect/>
          </a:stretch>
        </p:blipFill>
        <p:spPr>
          <a:xfrm>
            <a:off x="605728" y="128034"/>
            <a:ext cx="2078916" cy="2085013"/>
          </a:xfrm>
          <a:prstGeom prst="rect">
            <a:avLst/>
          </a:prstGeom>
        </p:spPr>
      </p:pic>
      <p:sp>
        <p:nvSpPr>
          <p:cNvPr id="6" name="矩形 5"/>
          <p:cNvSpPr/>
          <p:nvPr/>
        </p:nvSpPr>
        <p:spPr>
          <a:xfrm>
            <a:off x="937300" y="939707"/>
            <a:ext cx="1415772" cy="461665"/>
          </a:xfrm>
          <a:prstGeom prst="rect">
            <a:avLst/>
          </a:prstGeom>
        </p:spPr>
        <p:txBody>
          <a:bodyPr wrap="none">
            <a:spAutoFit/>
          </a:bodyPr>
          <a:lstStyle/>
          <a:p>
            <a:r>
              <a:rPr lang="zh-CN" altLang="zh-CN" sz="2400" kern="100" dirty="0">
                <a:solidFill>
                  <a:prstClr val="black"/>
                </a:solidFill>
                <a:latin typeface="华文宋体" panose="02010600040101010101" pitchFamily="2" charset="-122"/>
                <a:ea typeface="宋体" panose="02010600030101010101" pitchFamily="2" charset="-122"/>
                <a:cs typeface="华文宋体" panose="02010600040101010101" pitchFamily="2" charset="-122"/>
              </a:rPr>
              <a:t>古物市场</a:t>
            </a:r>
            <a:endParaRPr lang="zh-CN" altLang="en-US" dirty="0"/>
          </a:p>
        </p:txBody>
      </p:sp>
      <p:sp>
        <p:nvSpPr>
          <p:cNvPr id="9" name="文本框 8"/>
          <p:cNvSpPr txBox="1"/>
          <p:nvPr/>
        </p:nvSpPr>
        <p:spPr>
          <a:xfrm>
            <a:off x="327700" y="2211210"/>
            <a:ext cx="12004958" cy="3280898"/>
          </a:xfrm>
          <a:prstGeom prst="rect">
            <a:avLst/>
          </a:prstGeom>
          <a:noFill/>
        </p:spPr>
        <p:txBody>
          <a:bodyPr wrap="square" rtlCol="0">
            <a:spAutoFit/>
          </a:bodyPr>
          <a:lstStyle/>
          <a:p>
            <a:pPr>
              <a:lnSpc>
                <a:spcPct val="150000"/>
              </a:lnSpc>
            </a:pPr>
            <a:r>
              <a:rPr lang="zh-CN" altLang="en-US" sz="1400" dirty="0">
                <a:solidFill>
                  <a:srgbClr val="660033"/>
                </a:solidFill>
                <a:latin typeface="宋体" panose="02010600030101010101" pitchFamily="2" charset="-122"/>
                <a:ea typeface="宋体" panose="02010600030101010101" pitchFamily="2" charset="-122"/>
              </a:rPr>
              <a:t>血统、出身和爵位如今已失去它们的意识形态价值，物质性的记号和象征才具有表达卓越人物的能力；象征古老社会地位的“物”，如今可以通过新近获得的财富买到，所有后天获得的价值倾向转变为继承的价值</a:t>
            </a:r>
            <a:endParaRPr lang="en-US" altLang="zh-CN" sz="1400" dirty="0">
              <a:solidFill>
                <a:srgbClr val="660033"/>
              </a:solidFill>
              <a:latin typeface="宋体" panose="02010600030101010101" pitchFamily="2" charset="-122"/>
              <a:ea typeface="宋体" panose="02010600030101010101" pitchFamily="2" charset="-122"/>
            </a:endParaRPr>
          </a:p>
          <a:p>
            <a:pPr marL="228600" lvl="0" indent="-228600" algn="just">
              <a:lnSpc>
                <a:spcPct val="90000"/>
              </a:lnSpc>
              <a:spcBef>
                <a:spcPts val="1000"/>
              </a:spcBef>
              <a:buFont typeface="Arial" panose="020B0604020202020204" pitchFamily="34" charset="0"/>
              <a:buChar char="•"/>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越新越欲求旧：文化上的矛盾，却是经济上的真相</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marL="228600" lvl="0" indent="-228600" algn="just">
              <a:lnSpc>
                <a:spcPct val="90000"/>
              </a:lnSpc>
              <a:spcBef>
                <a:spcPts val="1000"/>
              </a:spcBef>
              <a:buFont typeface="Arial" panose="020B0604020202020204" pitchFamily="34" charset="0"/>
              <a:buChar char="•"/>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过去的整体都进入了消费流通管道</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lvl="0" algn="just">
              <a:lnSpc>
                <a:spcPct val="90000"/>
              </a:lnSpc>
              <a:spcBef>
                <a:spcPts val="1000"/>
              </a:spcBef>
            </a:pPr>
            <a:r>
              <a:rPr lang="zh-CN" altLang="zh-CN" sz="1600" kern="100" dirty="0">
                <a:solidFill>
                  <a:srgbClr val="FF0000"/>
                </a:solidFill>
                <a:latin typeface="华文楷体" panose="02010600040101010101" pitchFamily="2" charset="-122"/>
                <a:ea typeface="华文楷体" panose="02010600040101010101" pitchFamily="2" charset="-122"/>
                <a:cs typeface="华文宋体" panose="02010600040101010101" pitchFamily="2" charset="-122"/>
              </a:rPr>
              <a:t>西班牙古罗马殖民区及跳蚤市场都不足以供应西方世界里布尔乔亚室内原始部落般的吞噬欲望和怀旧感伤</a:t>
            </a:r>
            <a:endParaRPr lang="en-US" altLang="zh-CN" sz="1600" kern="100" dirty="0">
              <a:solidFill>
                <a:srgbClr val="FF0000"/>
              </a:solidFill>
              <a:latin typeface="华文楷体" panose="02010600040101010101" pitchFamily="2" charset="-122"/>
              <a:ea typeface="华文楷体" panose="02010600040101010101" pitchFamily="2" charset="-122"/>
              <a:cs typeface="华文宋体" panose="02010600040101010101" pitchFamily="2" charset="-122"/>
            </a:endParaRPr>
          </a:p>
          <a:p>
            <a:pPr lvl="0" algn="just">
              <a:lnSpc>
                <a:spcPct val="90000"/>
              </a:lnSpc>
              <a:spcBef>
                <a:spcPts val="1000"/>
              </a:spcBef>
            </a:pPr>
            <a:r>
              <a:rPr lang="zh-CN" altLang="zh-CN" sz="1600" kern="100" dirty="0">
                <a:solidFill>
                  <a:srgbClr val="FF0000"/>
                </a:solidFill>
                <a:latin typeface="华文楷体" panose="02010600040101010101" pitchFamily="2" charset="-122"/>
                <a:ea typeface="华文楷体" panose="02010600040101010101" pitchFamily="2" charset="-122"/>
                <a:cs typeface="华文宋体" panose="02010600040101010101" pitchFamily="2" charset="-122"/>
              </a:rPr>
              <a:t>一掷千金的买主主宰过于新颖的华厦中，为了他们深沉的满足</a:t>
            </a:r>
            <a:endParaRPr lang="zh-CN" altLang="zh-CN" sz="1600" kern="1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a:p>
            <a:pPr marL="228600" lvl="0" indent="-228600">
              <a:lnSpc>
                <a:spcPct val="90000"/>
              </a:lnSpc>
              <a:spcBef>
                <a:spcPts val="1000"/>
              </a:spcBef>
              <a:buFont typeface="Arial" panose="020B0604020202020204" pitchFamily="34" charset="0"/>
              <a:buChar char="•"/>
            </a:pPr>
            <a:r>
              <a:rPr lang="zh-CN" altLang="en-US" sz="2400" dirty="0">
                <a:solidFill>
                  <a:srgbClr val="660033"/>
                </a:solidFill>
                <a:latin typeface="宋体" panose="02010600030101010101" pitchFamily="2" charset="-122"/>
                <a:ea typeface="宋体" panose="02010600030101010101" pitchFamily="2" charset="-122"/>
              </a:rPr>
              <a:t>赝品满足着对“真确性”的渴望                           </a:t>
            </a:r>
            <a:endParaRPr lang="en-US" altLang="zh-CN" sz="2400" dirty="0">
              <a:solidFill>
                <a:srgbClr val="660033"/>
              </a:solidFill>
              <a:latin typeface="宋体" panose="02010600030101010101" pitchFamily="2" charset="-122"/>
              <a:ea typeface="宋体" panose="02010600030101010101" pitchFamily="2" charset="-122"/>
            </a:endParaRPr>
          </a:p>
          <a:p>
            <a:pPr lvl="0">
              <a:lnSpc>
                <a:spcPct val="90000"/>
              </a:lnSpc>
              <a:spcBef>
                <a:spcPts val="1000"/>
              </a:spcBef>
            </a:pPr>
            <a:r>
              <a:rPr lang="zh-CN" altLang="en-US" sz="1600" dirty="0">
                <a:solidFill>
                  <a:srgbClr val="660033"/>
                </a:solidFill>
                <a:latin typeface="宋体" panose="02010600030101010101" pitchFamily="2" charset="-122"/>
                <a:ea typeface="宋体" panose="02010600030101010101" pitchFamily="2" charset="-122"/>
              </a:rPr>
              <a:t>                                                                                              故宫和乌镇</a:t>
            </a:r>
          </a:p>
        </p:txBody>
      </p:sp>
      <p:sp>
        <p:nvSpPr>
          <p:cNvPr id="2" name="文本框 1">
            <a:extLst>
              <a:ext uri="{FF2B5EF4-FFF2-40B4-BE49-F238E27FC236}">
                <a16:creationId xmlns:a16="http://schemas.microsoft.com/office/drawing/2014/main" id="{BF337E45-B1CD-97DD-EFEF-0DAE34D3B469}"/>
              </a:ext>
            </a:extLst>
          </p:cNvPr>
          <p:cNvSpPr txBox="1"/>
          <p:nvPr/>
        </p:nvSpPr>
        <p:spPr>
          <a:xfrm>
            <a:off x="3191195" y="797799"/>
            <a:ext cx="6989943" cy="923330"/>
          </a:xfrm>
          <a:prstGeom prst="rect">
            <a:avLst/>
          </a:prstGeom>
          <a:noFill/>
        </p:spPr>
        <p:txBody>
          <a:bodyPr wrap="square" rtlCol="0">
            <a:spAutoFit/>
          </a:bodyPr>
          <a:lstStyle/>
          <a:p>
            <a:r>
              <a:rPr lang="zh-CN" altLang="en-US" dirty="0"/>
              <a:t>时间性</a:t>
            </a:r>
            <a:r>
              <a:rPr lang="en-US" altLang="zh-CN" dirty="0"/>
              <a:t>-</a:t>
            </a:r>
            <a:r>
              <a:rPr lang="zh-CN" altLang="en-US" dirty="0"/>
              <a:t>时间的文化和历史感（参照的结构）</a:t>
            </a:r>
            <a:endParaRPr lang="en-US" altLang="zh-CN" dirty="0"/>
          </a:p>
          <a:p>
            <a:r>
              <a:rPr lang="zh-CN" altLang="en-US" dirty="0"/>
              <a:t>古物    </a:t>
            </a:r>
            <a:r>
              <a:rPr lang="en-US" altLang="zh-CN" dirty="0"/>
              <a:t>-</a:t>
            </a:r>
            <a:r>
              <a:rPr lang="zh-CN" altLang="en-US" dirty="0"/>
              <a:t>赝品                         （仿真的结构）    </a:t>
            </a:r>
            <a:endParaRPr lang="en-US" altLang="zh-CN" dirty="0"/>
          </a:p>
          <a:p>
            <a:endParaRPr lang="zh-CN" altLang="en-US" dirty="0"/>
          </a:p>
        </p:txBody>
      </p:sp>
    </p:spTree>
    <p:extLst>
      <p:ext uri="{BB962C8B-B14F-4D97-AF65-F5344CB8AC3E}">
        <p14:creationId xmlns:p14="http://schemas.microsoft.com/office/powerpoint/2010/main" val="41239040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reeform 2"/>
          <p:cNvSpPr>
            <a:spLocks noChangeArrowheads="1"/>
          </p:cNvSpPr>
          <p:nvPr/>
        </p:nvSpPr>
        <p:spPr bwMode="auto">
          <a:xfrm>
            <a:off x="1883" y="977601"/>
            <a:ext cx="5878286" cy="5878286"/>
          </a:xfrm>
          <a:custGeom>
            <a:avLst/>
            <a:gdLst>
              <a:gd name="T0" fmla="*/ 2147483646 w 1386"/>
              <a:gd name="T1" fmla="*/ 2147483646 h 1386"/>
              <a:gd name="T2" fmla="*/ 2147483646 w 1386"/>
              <a:gd name="T3" fmla="*/ 2147483646 h 1386"/>
              <a:gd name="T4" fmla="*/ 2147483646 w 1386"/>
              <a:gd name="T5" fmla="*/ 0 h 1386"/>
              <a:gd name="T6" fmla="*/ 0 w 1386"/>
              <a:gd name="T7" fmla="*/ 2147483646 h 1386"/>
              <a:gd name="T8" fmla="*/ 0 w 1386"/>
              <a:gd name="T9" fmla="*/ 2147483646 h 1386"/>
              <a:gd name="T10" fmla="*/ 0 w 1386"/>
              <a:gd name="T11" fmla="*/ 2147483646 h 1386"/>
              <a:gd name="T12" fmla="*/ 2147483646 w 1386"/>
              <a:gd name="T13" fmla="*/ 2147483646 h 1386"/>
              <a:gd name="T14" fmla="*/ 2147483646 w 1386"/>
              <a:gd name="T15" fmla="*/ 2147483646 h 1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86" h="1386">
                <a:moveTo>
                  <a:pt x="1106" y="1386"/>
                </a:moveTo>
                <a:cubicBezTo>
                  <a:pt x="1277" y="1242"/>
                  <a:pt x="1386" y="1026"/>
                  <a:pt x="1386" y="785"/>
                </a:cubicBezTo>
                <a:cubicBezTo>
                  <a:pt x="1386" y="351"/>
                  <a:pt x="1034" y="0"/>
                  <a:pt x="601" y="0"/>
                </a:cubicBezTo>
                <a:cubicBezTo>
                  <a:pt x="360" y="0"/>
                  <a:pt x="144" y="109"/>
                  <a:pt x="0" y="280"/>
                </a:cubicBezTo>
                <a:cubicBezTo>
                  <a:pt x="0" y="1290"/>
                  <a:pt x="0" y="1290"/>
                  <a:pt x="0" y="1290"/>
                </a:cubicBezTo>
                <a:cubicBezTo>
                  <a:pt x="0" y="1386"/>
                  <a:pt x="0" y="1386"/>
                  <a:pt x="0" y="1386"/>
                </a:cubicBezTo>
                <a:cubicBezTo>
                  <a:pt x="96" y="1386"/>
                  <a:pt x="96" y="1386"/>
                  <a:pt x="96" y="1386"/>
                </a:cubicBezTo>
                <a:lnTo>
                  <a:pt x="1106" y="1386"/>
                </a:lnTo>
                <a:close/>
              </a:path>
            </a:pathLst>
          </a:custGeom>
          <a:solidFill>
            <a:srgbClr val="5D5D5D">
              <a:alpha val="7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sp>
        <p:nvSpPr>
          <p:cNvPr id="19459" name="Freeform 3"/>
          <p:cNvSpPr>
            <a:spLocks noChangeArrowheads="1"/>
          </p:cNvSpPr>
          <p:nvPr/>
        </p:nvSpPr>
        <p:spPr bwMode="auto">
          <a:xfrm>
            <a:off x="1881" y="1758408"/>
            <a:ext cx="5097477" cy="5097477"/>
          </a:xfrm>
          <a:custGeom>
            <a:avLst/>
            <a:gdLst>
              <a:gd name="T0" fmla="*/ 2147483646 w 1202"/>
              <a:gd name="T1" fmla="*/ 0 h 1202"/>
              <a:gd name="T2" fmla="*/ 0 w 1202"/>
              <a:gd name="T3" fmla="*/ 2147483646 h 1202"/>
              <a:gd name="T4" fmla="*/ 0 w 1202"/>
              <a:gd name="T5" fmla="*/ 2147483646 h 1202"/>
              <a:gd name="T6" fmla="*/ 2147483646 w 1202"/>
              <a:gd name="T7" fmla="*/ 2147483646 h 1202"/>
              <a:gd name="T8" fmla="*/ 2147483646 w 1202"/>
              <a:gd name="T9" fmla="*/ 2147483646 h 1202"/>
              <a:gd name="T10" fmla="*/ 2147483646 w 1202"/>
              <a:gd name="T11" fmla="*/ 0 h 12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02" h="1202">
                <a:moveTo>
                  <a:pt x="601" y="0"/>
                </a:moveTo>
                <a:cubicBezTo>
                  <a:pt x="269" y="0"/>
                  <a:pt x="0" y="269"/>
                  <a:pt x="0" y="601"/>
                </a:cubicBezTo>
                <a:cubicBezTo>
                  <a:pt x="0" y="1202"/>
                  <a:pt x="0" y="1202"/>
                  <a:pt x="0" y="1202"/>
                </a:cubicBezTo>
                <a:cubicBezTo>
                  <a:pt x="601" y="1202"/>
                  <a:pt x="601" y="1202"/>
                  <a:pt x="601" y="1202"/>
                </a:cubicBezTo>
                <a:cubicBezTo>
                  <a:pt x="933" y="1202"/>
                  <a:pt x="1202" y="933"/>
                  <a:pt x="1202" y="601"/>
                </a:cubicBezTo>
                <a:cubicBezTo>
                  <a:pt x="1202" y="269"/>
                  <a:pt x="933" y="0"/>
                  <a:pt x="601" y="0"/>
                </a:cubicBezTo>
                <a:close/>
              </a:path>
            </a:pathLst>
          </a:custGeom>
          <a:solidFill>
            <a:srgbClr val="000000">
              <a:alpha val="7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grpSp>
        <p:nvGrpSpPr>
          <p:cNvPr id="19460" name="Group 4"/>
          <p:cNvGrpSpPr>
            <a:grpSpLocks/>
          </p:cNvGrpSpPr>
          <p:nvPr/>
        </p:nvGrpSpPr>
        <p:grpSpPr bwMode="auto">
          <a:xfrm>
            <a:off x="3745112" y="1923459"/>
            <a:ext cx="774461" cy="774461"/>
            <a:chOff x="0" y="0"/>
            <a:chExt cx="366" cy="366"/>
          </a:xfrm>
        </p:grpSpPr>
        <p:sp>
          <p:nvSpPr>
            <p:cNvPr id="19464" name="Oval 5"/>
            <p:cNvSpPr>
              <a:spLocks noChangeArrowheads="1"/>
            </p:cNvSpPr>
            <p:nvPr/>
          </p:nvSpPr>
          <p:spPr bwMode="auto">
            <a:xfrm>
              <a:off x="0" y="0"/>
              <a:ext cx="366" cy="366"/>
            </a:xfrm>
            <a:prstGeom prst="ellipse">
              <a:avLst/>
            </a:prstGeom>
            <a:solidFill>
              <a:srgbClr val="88714E"/>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endParaRPr lang="zh-CN" altLang="en-US" sz="2399">
                <a:solidFill>
                  <a:srgbClr val="000000"/>
                </a:solidFill>
              </a:endParaRPr>
            </a:p>
          </p:txBody>
        </p:sp>
        <p:sp>
          <p:nvSpPr>
            <p:cNvPr id="19465" name="Freeform 6"/>
            <p:cNvSpPr>
              <a:spLocks noEditPoints="1" noChangeArrowheads="1"/>
            </p:cNvSpPr>
            <p:nvPr/>
          </p:nvSpPr>
          <p:spPr bwMode="auto">
            <a:xfrm>
              <a:off x="100" y="106"/>
              <a:ext cx="166" cy="167"/>
            </a:xfrm>
            <a:custGeom>
              <a:avLst/>
              <a:gdLst>
                <a:gd name="T0" fmla="*/ 1465 w 80"/>
                <a:gd name="T1" fmla="*/ 265 h 80"/>
                <a:gd name="T2" fmla="*/ 1394 w 80"/>
                <a:gd name="T3" fmla="*/ 344 h 80"/>
                <a:gd name="T4" fmla="*/ 1170 w 80"/>
                <a:gd name="T5" fmla="*/ 92 h 80"/>
                <a:gd name="T6" fmla="*/ 1222 w 80"/>
                <a:gd name="T7" fmla="*/ 35 h 80"/>
                <a:gd name="T8" fmla="*/ 1313 w 80"/>
                <a:gd name="T9" fmla="*/ 35 h 80"/>
                <a:gd name="T10" fmla="*/ 1465 w 80"/>
                <a:gd name="T11" fmla="*/ 175 h 80"/>
                <a:gd name="T12" fmla="*/ 1465 w 80"/>
                <a:gd name="T13" fmla="*/ 265 h 80"/>
                <a:gd name="T14" fmla="*/ 849 w 80"/>
                <a:gd name="T15" fmla="*/ 873 h 80"/>
                <a:gd name="T16" fmla="*/ 633 w 80"/>
                <a:gd name="T17" fmla="*/ 645 h 80"/>
                <a:gd name="T18" fmla="*/ 1137 w 80"/>
                <a:gd name="T19" fmla="*/ 136 h 80"/>
                <a:gd name="T20" fmla="*/ 1347 w 80"/>
                <a:gd name="T21" fmla="*/ 384 h 80"/>
                <a:gd name="T22" fmla="*/ 849 w 80"/>
                <a:gd name="T23" fmla="*/ 873 h 80"/>
                <a:gd name="T24" fmla="*/ 813 w 80"/>
                <a:gd name="T25" fmla="*/ 910 h 80"/>
                <a:gd name="T26" fmla="*/ 500 w 80"/>
                <a:gd name="T27" fmla="*/ 1010 h 80"/>
                <a:gd name="T28" fmla="*/ 589 w 80"/>
                <a:gd name="T29" fmla="*/ 685 h 80"/>
                <a:gd name="T30" fmla="*/ 813 w 80"/>
                <a:gd name="T31" fmla="*/ 910 h 80"/>
                <a:gd name="T32" fmla="*/ 293 w 80"/>
                <a:gd name="T33" fmla="*/ 192 h 80"/>
                <a:gd name="T34" fmla="*/ 151 w 80"/>
                <a:gd name="T35" fmla="*/ 344 h 80"/>
                <a:gd name="T36" fmla="*/ 151 w 80"/>
                <a:gd name="T37" fmla="*/ 1221 h 80"/>
                <a:gd name="T38" fmla="*/ 293 w 80"/>
                <a:gd name="T39" fmla="*/ 1363 h 80"/>
                <a:gd name="T40" fmla="*/ 1154 w 80"/>
                <a:gd name="T41" fmla="*/ 1363 h 80"/>
                <a:gd name="T42" fmla="*/ 1297 w 80"/>
                <a:gd name="T43" fmla="*/ 1221 h 80"/>
                <a:gd name="T44" fmla="*/ 1297 w 80"/>
                <a:gd name="T45" fmla="*/ 645 h 80"/>
                <a:gd name="T46" fmla="*/ 1446 w 80"/>
                <a:gd name="T47" fmla="*/ 493 h 80"/>
                <a:gd name="T48" fmla="*/ 1446 w 80"/>
                <a:gd name="T49" fmla="*/ 1273 h 80"/>
                <a:gd name="T50" fmla="*/ 1206 w 80"/>
                <a:gd name="T51" fmla="*/ 1522 h 80"/>
                <a:gd name="T52" fmla="*/ 241 w 80"/>
                <a:gd name="T53" fmla="*/ 1522 h 80"/>
                <a:gd name="T54" fmla="*/ 0 w 80"/>
                <a:gd name="T55" fmla="*/ 1273 h 80"/>
                <a:gd name="T56" fmla="*/ 0 w 80"/>
                <a:gd name="T57" fmla="*/ 301 h 80"/>
                <a:gd name="T58" fmla="*/ 241 w 80"/>
                <a:gd name="T59" fmla="*/ 56 h 80"/>
                <a:gd name="T60" fmla="*/ 998 w 80"/>
                <a:gd name="T61" fmla="*/ 56 h 80"/>
                <a:gd name="T62" fmla="*/ 849 w 80"/>
                <a:gd name="T63" fmla="*/ 192 h 80"/>
                <a:gd name="T64" fmla="*/ 293 w 80"/>
                <a:gd name="T65" fmla="*/ 192 h 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0" h="80">
                  <a:moveTo>
                    <a:pt x="79" y="14"/>
                  </a:moveTo>
                  <a:cubicBezTo>
                    <a:pt x="75" y="18"/>
                    <a:pt x="75" y="18"/>
                    <a:pt x="75" y="18"/>
                  </a:cubicBezTo>
                  <a:cubicBezTo>
                    <a:pt x="63" y="5"/>
                    <a:pt x="63" y="5"/>
                    <a:pt x="63" y="5"/>
                  </a:cubicBezTo>
                  <a:cubicBezTo>
                    <a:pt x="66" y="2"/>
                    <a:pt x="66" y="2"/>
                    <a:pt x="66" y="2"/>
                  </a:cubicBezTo>
                  <a:cubicBezTo>
                    <a:pt x="68" y="0"/>
                    <a:pt x="70" y="0"/>
                    <a:pt x="71" y="2"/>
                  </a:cubicBezTo>
                  <a:cubicBezTo>
                    <a:pt x="79" y="9"/>
                    <a:pt x="79" y="9"/>
                    <a:pt x="79" y="9"/>
                  </a:cubicBezTo>
                  <a:cubicBezTo>
                    <a:pt x="80" y="11"/>
                    <a:pt x="80" y="13"/>
                    <a:pt x="79" y="14"/>
                  </a:cubicBezTo>
                  <a:close/>
                  <a:moveTo>
                    <a:pt x="46" y="46"/>
                  </a:moveTo>
                  <a:cubicBezTo>
                    <a:pt x="34" y="34"/>
                    <a:pt x="34" y="34"/>
                    <a:pt x="34" y="34"/>
                  </a:cubicBezTo>
                  <a:cubicBezTo>
                    <a:pt x="61" y="7"/>
                    <a:pt x="61" y="7"/>
                    <a:pt x="61" y="7"/>
                  </a:cubicBezTo>
                  <a:cubicBezTo>
                    <a:pt x="73" y="20"/>
                    <a:pt x="73" y="20"/>
                    <a:pt x="73" y="20"/>
                  </a:cubicBezTo>
                  <a:lnTo>
                    <a:pt x="46" y="46"/>
                  </a:lnTo>
                  <a:close/>
                  <a:moveTo>
                    <a:pt x="44" y="48"/>
                  </a:moveTo>
                  <a:cubicBezTo>
                    <a:pt x="27" y="53"/>
                    <a:pt x="27" y="53"/>
                    <a:pt x="27" y="53"/>
                  </a:cubicBezTo>
                  <a:cubicBezTo>
                    <a:pt x="32" y="36"/>
                    <a:pt x="32" y="36"/>
                    <a:pt x="32" y="36"/>
                  </a:cubicBezTo>
                  <a:lnTo>
                    <a:pt x="44" y="48"/>
                  </a:lnTo>
                  <a:close/>
                  <a:moveTo>
                    <a:pt x="16" y="10"/>
                  </a:moveTo>
                  <a:cubicBezTo>
                    <a:pt x="12" y="10"/>
                    <a:pt x="8" y="14"/>
                    <a:pt x="8" y="18"/>
                  </a:cubicBezTo>
                  <a:cubicBezTo>
                    <a:pt x="8" y="64"/>
                    <a:pt x="8" y="64"/>
                    <a:pt x="8" y="64"/>
                  </a:cubicBezTo>
                  <a:cubicBezTo>
                    <a:pt x="8" y="69"/>
                    <a:pt x="12" y="72"/>
                    <a:pt x="16" y="72"/>
                  </a:cubicBezTo>
                  <a:cubicBezTo>
                    <a:pt x="62" y="72"/>
                    <a:pt x="62" y="72"/>
                    <a:pt x="62" y="72"/>
                  </a:cubicBezTo>
                  <a:cubicBezTo>
                    <a:pt x="67" y="72"/>
                    <a:pt x="70" y="69"/>
                    <a:pt x="70" y="64"/>
                  </a:cubicBezTo>
                  <a:cubicBezTo>
                    <a:pt x="70" y="34"/>
                    <a:pt x="70" y="34"/>
                    <a:pt x="70" y="34"/>
                  </a:cubicBezTo>
                  <a:cubicBezTo>
                    <a:pt x="78" y="26"/>
                    <a:pt x="78" y="26"/>
                    <a:pt x="78" y="26"/>
                  </a:cubicBezTo>
                  <a:cubicBezTo>
                    <a:pt x="78" y="67"/>
                    <a:pt x="78" y="67"/>
                    <a:pt x="78" y="67"/>
                  </a:cubicBezTo>
                  <a:cubicBezTo>
                    <a:pt x="78" y="74"/>
                    <a:pt x="72" y="80"/>
                    <a:pt x="65" y="80"/>
                  </a:cubicBezTo>
                  <a:cubicBezTo>
                    <a:pt x="13" y="80"/>
                    <a:pt x="13" y="80"/>
                    <a:pt x="13" y="80"/>
                  </a:cubicBezTo>
                  <a:cubicBezTo>
                    <a:pt x="6" y="80"/>
                    <a:pt x="0" y="74"/>
                    <a:pt x="0" y="67"/>
                  </a:cubicBezTo>
                  <a:cubicBezTo>
                    <a:pt x="0" y="16"/>
                    <a:pt x="0" y="16"/>
                    <a:pt x="0" y="16"/>
                  </a:cubicBezTo>
                  <a:cubicBezTo>
                    <a:pt x="0" y="9"/>
                    <a:pt x="6" y="3"/>
                    <a:pt x="13" y="3"/>
                  </a:cubicBezTo>
                  <a:cubicBezTo>
                    <a:pt x="54" y="3"/>
                    <a:pt x="54" y="3"/>
                    <a:pt x="54" y="3"/>
                  </a:cubicBezTo>
                  <a:cubicBezTo>
                    <a:pt x="46" y="10"/>
                    <a:pt x="46" y="10"/>
                    <a:pt x="46" y="10"/>
                  </a:cubicBezTo>
                  <a:lnTo>
                    <a:pt x="16" y="1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399">
                <a:solidFill>
                  <a:srgbClr val="000000"/>
                </a:solidFill>
              </a:endParaRPr>
            </a:p>
          </p:txBody>
        </p:sp>
      </p:grpSp>
      <p:sp>
        <p:nvSpPr>
          <p:cNvPr id="19461" name="Rectangle 7"/>
          <p:cNvSpPr>
            <a:spLocks noChangeArrowheads="1"/>
          </p:cNvSpPr>
          <p:nvPr/>
        </p:nvSpPr>
        <p:spPr bwMode="auto">
          <a:xfrm>
            <a:off x="915999" y="4648883"/>
            <a:ext cx="31486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FontTx/>
              <a:buNone/>
            </a:pPr>
            <a:r>
              <a:rPr lang="zh-CN" altLang="en-US" sz="2000" b="1" dirty="0">
                <a:solidFill>
                  <a:srgbClr val="808080"/>
                </a:solidFill>
              </a:rPr>
              <a:t>边缘体系</a:t>
            </a:r>
            <a:r>
              <a:rPr lang="en-US" altLang="zh-CN" sz="2000" b="1" dirty="0">
                <a:solidFill>
                  <a:srgbClr val="808080"/>
                </a:solidFill>
              </a:rPr>
              <a:t>——</a:t>
            </a:r>
            <a:r>
              <a:rPr lang="zh-CN" altLang="en-US" sz="2000" b="1" dirty="0">
                <a:solidFill>
                  <a:srgbClr val="808080"/>
                </a:solidFill>
              </a:rPr>
              <a:t>收藏</a:t>
            </a:r>
          </a:p>
        </p:txBody>
      </p:sp>
      <p:sp>
        <p:nvSpPr>
          <p:cNvPr id="19462" name="Text Box 8"/>
          <p:cNvSpPr txBox="1">
            <a:spLocks noChangeArrowheads="1"/>
          </p:cNvSpPr>
          <p:nvPr/>
        </p:nvSpPr>
        <p:spPr bwMode="auto">
          <a:xfrm>
            <a:off x="1859741" y="3326374"/>
            <a:ext cx="1210588" cy="1200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FontTx/>
              <a:buNone/>
            </a:pPr>
            <a:r>
              <a:rPr lang="zh-CN" altLang="zh-CN" sz="7198" dirty="0">
                <a:solidFill>
                  <a:srgbClr val="FFFFFF"/>
                </a:solidFill>
              </a:rPr>
              <a:t>0</a:t>
            </a:r>
            <a:r>
              <a:rPr lang="en-US" altLang="zh-CN" sz="7198" dirty="0">
                <a:solidFill>
                  <a:srgbClr val="FFFFFF"/>
                </a:solidFill>
              </a:rPr>
              <a:t>2</a:t>
            </a:r>
            <a:endParaRPr lang="zh-CN" altLang="zh-CN" sz="7198" dirty="0">
              <a:solidFill>
                <a:srgbClr val="FFFFFF"/>
              </a:solidFill>
            </a:endParaRPr>
          </a:p>
        </p:txBody>
      </p:sp>
      <p:sp>
        <p:nvSpPr>
          <p:cNvPr id="19463" name="Line 9"/>
          <p:cNvSpPr>
            <a:spLocks noChangeShapeType="1"/>
          </p:cNvSpPr>
          <p:nvPr/>
        </p:nvSpPr>
        <p:spPr bwMode="auto">
          <a:xfrm>
            <a:off x="1356130" y="4479601"/>
            <a:ext cx="2234510" cy="0"/>
          </a:xfrm>
          <a:prstGeom prst="line">
            <a:avLst/>
          </a:prstGeom>
          <a:noFill/>
          <a:ln w="635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399">
              <a:solidFill>
                <a:srgbClr val="000000"/>
              </a:solidFill>
            </a:endParaRPr>
          </a:p>
        </p:txBody>
      </p:sp>
    </p:spTree>
    <p:extLst>
      <p:ext uri="{BB962C8B-B14F-4D97-AF65-F5344CB8AC3E}">
        <p14:creationId xmlns:p14="http://schemas.microsoft.com/office/powerpoint/2010/main" val="2085929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t>
            </a:r>
            <a:r>
              <a:rPr lang="en-US" altLang="zh-CN" sz="3200" dirty="0"/>
              <a:t>99-109</a:t>
            </a:r>
            <a:endParaRPr lang="zh-CN" altLang="en-US" sz="3200" dirty="0"/>
          </a:p>
        </p:txBody>
      </p:sp>
      <p:sp>
        <p:nvSpPr>
          <p:cNvPr id="3" name="内容占位符 2"/>
          <p:cNvSpPr>
            <a:spLocks noGrp="1"/>
          </p:cNvSpPr>
          <p:nvPr>
            <p:ph idx="1"/>
          </p:nvPr>
        </p:nvSpPr>
        <p:spPr/>
        <p:txBody>
          <a:bodyPr/>
          <a:lstStyle/>
          <a:p>
            <a:endParaRPr lang="en-US" altLang="zh-CN" sz="2800" dirty="0">
              <a:solidFill>
                <a:srgbClr val="660033"/>
              </a:solidFill>
            </a:endParaRPr>
          </a:p>
          <a:p>
            <a:r>
              <a:rPr lang="zh-CN" altLang="en-US" sz="2400" dirty="0">
                <a:solidFill>
                  <a:srgbClr val="660033"/>
                </a:solidFill>
              </a:rPr>
              <a:t>一份财产和激情</a:t>
            </a:r>
            <a:endParaRPr lang="en-US" altLang="zh-CN" sz="2400" dirty="0">
              <a:solidFill>
                <a:srgbClr val="660033"/>
              </a:solidFill>
            </a:endParaRPr>
          </a:p>
          <a:p>
            <a:r>
              <a:rPr lang="zh-CN" altLang="en-US" sz="2400" dirty="0">
                <a:solidFill>
                  <a:srgbClr val="660033"/>
                </a:solidFill>
              </a:rPr>
              <a:t>统领日常生活的热情</a:t>
            </a:r>
            <a:endParaRPr lang="en-US" altLang="zh-CN" sz="2400" dirty="0">
              <a:solidFill>
                <a:srgbClr val="660033"/>
              </a:solidFill>
            </a:endParaRPr>
          </a:p>
          <a:p>
            <a:r>
              <a:rPr lang="zh-CN" altLang="en-US" sz="2400" dirty="0">
                <a:solidFill>
                  <a:srgbClr val="660033"/>
                </a:solidFill>
              </a:rPr>
              <a:t>在特定的时刻里成为别有意义的事物，与主体深深的连接</a:t>
            </a:r>
            <a:endParaRPr lang="en-US" altLang="zh-CN" sz="2400" dirty="0">
              <a:solidFill>
                <a:srgbClr val="660033"/>
              </a:solidFill>
            </a:endParaRPr>
          </a:p>
          <a:p>
            <a:r>
              <a:rPr lang="zh-CN" altLang="en-US" sz="2400" b="1" dirty="0">
                <a:solidFill>
                  <a:srgbClr val="660033"/>
                </a:solidFill>
              </a:rPr>
              <a:t>一个可以发号施令的“城堡”</a:t>
            </a:r>
            <a:r>
              <a:rPr lang="zh-CN" altLang="en-US" sz="1600" b="1" dirty="0">
                <a:solidFill>
                  <a:srgbClr val="660033"/>
                </a:solidFill>
              </a:rPr>
              <a:t>（封闭），</a:t>
            </a:r>
            <a:r>
              <a:rPr lang="zh-CN" altLang="en-US" sz="2400" b="1" dirty="0">
                <a:solidFill>
                  <a:srgbClr val="660033"/>
                </a:solidFill>
              </a:rPr>
              <a:t>一件以我为意义指向的事物</a:t>
            </a:r>
            <a:endParaRPr lang="en-US" altLang="zh-CN" sz="2400" b="1" dirty="0">
              <a:solidFill>
                <a:srgbClr val="660033"/>
              </a:solidFill>
            </a:endParaRPr>
          </a:p>
        </p:txBody>
      </p:sp>
    </p:spTree>
    <p:extLst>
      <p:ext uri="{BB962C8B-B14F-4D97-AF65-F5344CB8AC3E}">
        <p14:creationId xmlns:p14="http://schemas.microsoft.com/office/powerpoint/2010/main" val="41260961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660033"/>
                </a:solidFill>
              </a:rPr>
              <a:t>物成为对象，为我所拥有</a:t>
            </a:r>
          </a:p>
        </p:txBody>
      </p:sp>
      <p:sp>
        <p:nvSpPr>
          <p:cNvPr id="3" name="内容占位符 2"/>
          <p:cNvSpPr>
            <a:spLocks noGrp="1"/>
          </p:cNvSpPr>
          <p:nvPr>
            <p:ph idx="1"/>
          </p:nvPr>
        </p:nvSpPr>
        <p:spPr/>
        <p:txBody>
          <a:bodyPr/>
          <a:lstStyle/>
          <a:p>
            <a:pPr algn="just">
              <a:spcAft>
                <a:spcPts val="0"/>
              </a:spcAft>
            </a:pP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由功能</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物</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中抽象出的物品</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拥有，从来不是拥有一件工具</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拥有，永远是拥有</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从功能中</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被抽象而出的事物</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如此</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它才能与主体相关</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gn="just">
              <a:spcAft>
                <a:spcPts val="0"/>
              </a:spcAft>
              <a:buNone/>
            </a:pPr>
            <a:endParaRPr lang="zh-CN" altLang="zh-CN" sz="2000" kern="100"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17952766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p:txBody>
      </p:sp>
      <p:sp>
        <p:nvSpPr>
          <p:cNvPr id="3" name="内容占位符 2"/>
          <p:cNvSpPr>
            <a:spLocks noGrp="1"/>
          </p:cNvSpPr>
          <p:nvPr>
            <p:ph idx="1"/>
          </p:nvPr>
        </p:nvSpPr>
        <p:spPr>
          <a:xfrm>
            <a:off x="487680" y="1917065"/>
            <a:ext cx="11541760" cy="4351338"/>
          </a:xfrm>
        </p:spPr>
        <p:txBody>
          <a:bodyPr>
            <a:normAutofit/>
          </a:bodyPr>
          <a:lstStyle/>
          <a:p>
            <a:pPr algn="just">
              <a:spcAft>
                <a:spcPts val="0"/>
              </a:spcAft>
            </a:pP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为人所实际应用，或为人所拥有</a:t>
            </a:r>
            <a:endParaRPr lang="zh-CN" altLang="zh-CN"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前者是主体对外在世界所进行的</a:t>
            </a:r>
            <a:r>
              <a:rPr lang="zh-CN" altLang="zh-CN" kern="100" dirty="0">
                <a:solidFill>
                  <a:srgbClr val="FF0000"/>
                </a:solidFill>
                <a:latin typeface="华文宋体" panose="02010600040101010101" pitchFamily="2" charset="-122"/>
                <a:ea typeface="宋体" panose="02010600030101010101" pitchFamily="2" charset="-122"/>
                <a:cs typeface="华文宋体" panose="02010600040101010101" pitchFamily="2" charset="-122"/>
              </a:rPr>
              <a:t>实践性整体化</a:t>
            </a:r>
            <a:endParaRPr lang="en-US" altLang="zh-CN" kern="100" dirty="0">
              <a:solidFill>
                <a:srgbClr val="FF0000"/>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后者隶属于主体在世界之外，对主体自身所进行的</a:t>
            </a:r>
            <a:r>
              <a:rPr lang="zh-CN" altLang="en-US" kern="100" dirty="0">
                <a:solidFill>
                  <a:srgbClr val="FF0000"/>
                </a:solidFill>
                <a:latin typeface="华文宋体" panose="02010600040101010101" pitchFamily="2" charset="-122"/>
                <a:ea typeface="宋体" panose="02010600030101010101" pitchFamily="2" charset="-122"/>
                <a:cs typeface="华文宋体" panose="02010600040101010101" pitchFamily="2" charset="-122"/>
              </a:rPr>
              <a:t>“</a:t>
            </a:r>
            <a:r>
              <a:rPr lang="zh-CN" altLang="zh-CN" kern="100" dirty="0">
                <a:solidFill>
                  <a:srgbClr val="FF0000"/>
                </a:solidFill>
                <a:latin typeface="华文宋体" panose="02010600040101010101" pitchFamily="2" charset="-122"/>
                <a:ea typeface="宋体" panose="02010600030101010101" pitchFamily="2" charset="-122"/>
                <a:cs typeface="华文宋体" panose="02010600040101010101" pitchFamily="2" charset="-122"/>
              </a:rPr>
              <a:t>抽象性</a:t>
            </a:r>
            <a:r>
              <a:rPr lang="zh-CN" altLang="en-US" kern="100" dirty="0">
                <a:solidFill>
                  <a:srgbClr val="FF0000"/>
                </a:solidFill>
                <a:latin typeface="华文宋体" panose="02010600040101010101" pitchFamily="2" charset="-122"/>
                <a:ea typeface="宋体" panose="02010600030101010101" pitchFamily="2" charset="-122"/>
                <a:cs typeface="华文宋体" panose="02010600040101010101" pitchFamily="2" charset="-122"/>
              </a:rPr>
              <a:t>”</a:t>
            </a:r>
            <a:r>
              <a:rPr lang="zh-CN" altLang="zh-CN" kern="100" dirty="0">
                <a:solidFill>
                  <a:srgbClr val="FF0000"/>
                </a:solidFill>
                <a:latin typeface="华文宋体" panose="02010600040101010101" pitchFamily="2" charset="-122"/>
                <a:ea typeface="宋体" panose="02010600030101010101" pitchFamily="2" charset="-122"/>
                <a:cs typeface="华文宋体" panose="02010600040101010101" pitchFamily="2" charset="-122"/>
              </a:rPr>
              <a:t>的整体化</a:t>
            </a:r>
            <a:endParaRPr lang="zh-CN" altLang="zh-CN"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在极端的状况下，完全只有实用功能的物品</a:t>
            </a:r>
            <a:r>
              <a:rPr lang="zh-CN" altLang="en-US"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机器</a:t>
            </a:r>
            <a:endParaRPr lang="en-US"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en-US"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纯粹的对象“物”完全只拥有主观上的身份：收藏品</a:t>
            </a:r>
            <a:endParaRPr lang="en-US" altLang="zh-CN"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618683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C00000"/>
                </a:solidFill>
              </a:rPr>
              <a:t>案例：</a:t>
            </a:r>
            <a:r>
              <a:rPr lang="zh-CN" altLang="en-US" sz="1400" dirty="0">
                <a:solidFill>
                  <a:srgbClr val="C00000"/>
                </a:solidFill>
              </a:rPr>
              <a:t>工作后薪水给外婆买的第一件大衣（生存经验的抽象化</a:t>
            </a:r>
            <a:r>
              <a:rPr lang="en-US" altLang="zh-CN" sz="1400" dirty="0">
                <a:solidFill>
                  <a:srgbClr val="C00000"/>
                </a:solidFill>
              </a:rPr>
              <a:t>-</a:t>
            </a:r>
            <a:r>
              <a:rPr lang="zh-CN" altLang="en-US" sz="1400" dirty="0">
                <a:solidFill>
                  <a:srgbClr val="C00000"/>
                </a:solidFill>
              </a:rPr>
              <a:t>刀</a:t>
            </a:r>
            <a:r>
              <a:rPr lang="en-US" altLang="zh-CN" sz="1400" dirty="0">
                <a:solidFill>
                  <a:srgbClr val="C00000"/>
                </a:solidFill>
              </a:rPr>
              <a:t>&amp;</a:t>
            </a:r>
            <a:r>
              <a:rPr lang="zh-CN" altLang="en-US" sz="1400" dirty="0">
                <a:solidFill>
                  <a:srgbClr val="C00000"/>
                </a:solidFill>
              </a:rPr>
              <a:t>拿破仑的指挥刀）</a:t>
            </a:r>
          </a:p>
        </p:txBody>
      </p:sp>
      <p:sp>
        <p:nvSpPr>
          <p:cNvPr id="3" name="内容占位符 2"/>
          <p:cNvSpPr>
            <a:spLocks noGrp="1"/>
          </p:cNvSpPr>
          <p:nvPr>
            <p:ph idx="1"/>
          </p:nvPr>
        </p:nvSpPr>
        <p:spPr/>
        <p:txBody>
          <a:bodyPr/>
          <a:lstStyle/>
          <a:p>
            <a:pPr marL="0" indent="0">
              <a:lnSpc>
                <a:spcPct val="150000"/>
              </a:lnSpc>
              <a:buNone/>
            </a:pPr>
            <a:r>
              <a:rPr lang="zh-CN" altLang="en-US" dirty="0"/>
              <a:t>         </a:t>
            </a:r>
            <a:r>
              <a:rPr lang="zh-CN" altLang="en-US" b="1" dirty="0">
                <a:solidFill>
                  <a:srgbClr val="660033"/>
                </a:solidFill>
                <a:latin typeface="宋体" panose="02010600030101010101" pitchFamily="2" charset="-122"/>
                <a:ea typeface="宋体" panose="02010600030101010101" pitchFamily="2" charset="-122"/>
              </a:rPr>
              <a:t>功能</a:t>
            </a:r>
            <a:r>
              <a:rPr lang="zh-CN" altLang="en-US" dirty="0">
                <a:solidFill>
                  <a:srgbClr val="660033"/>
                </a:solidFill>
                <a:latin typeface="宋体" panose="02010600030101010101" pitchFamily="2" charset="-122"/>
                <a:ea typeface="宋体" panose="02010600030101010101" pitchFamily="2" charset="-122"/>
              </a:rPr>
              <a:t>在其中不断地解体，拥有则和使用相混淆，它的整合事业总是失败。</a:t>
            </a:r>
            <a:r>
              <a:rPr lang="zh-CN" altLang="en-US" b="1" dirty="0">
                <a:solidFill>
                  <a:srgbClr val="660033"/>
                </a:solidFill>
                <a:latin typeface="宋体" panose="02010600030101010101" pitchFamily="2" charset="-122"/>
                <a:ea typeface="宋体" panose="02010600030101010101" pitchFamily="2" charset="-122"/>
              </a:rPr>
              <a:t>相反地，收藏物是一个良好的模范：因为便是在这里，拥有的激情事业大获全胜，日常生活的散文化为诗篇、潜意识的和洋洋得意的论述。</a:t>
            </a:r>
            <a:endParaRPr lang="en-US" altLang="zh-CN" b="1" dirty="0">
              <a:solidFill>
                <a:srgbClr val="660033"/>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0618875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58097F-4D0F-5B4B-8746-A184958E6153}"/>
              </a:ext>
            </a:extLst>
          </p:cNvPr>
          <p:cNvSpPr>
            <a:spLocks noGrp="1"/>
          </p:cNvSpPr>
          <p:nvPr>
            <p:ph type="title"/>
          </p:nvPr>
        </p:nvSpPr>
        <p:spPr/>
        <p:txBody>
          <a:bodyPr/>
          <a:lstStyle/>
          <a:p>
            <a:r>
              <a:rPr lang="zh-CN" altLang="en-US" dirty="0"/>
              <a:t>收藏</a:t>
            </a:r>
            <a:r>
              <a:rPr lang="zh-CN" altLang="en-US" sz="2000" dirty="0">
                <a:latin typeface="宋体" panose="02010600030101010101" pitchFamily="2" charset="-122"/>
                <a:ea typeface="宋体" panose="02010600030101010101" pitchFamily="2" charset="-122"/>
              </a:rPr>
              <a:t>激情</a:t>
            </a:r>
            <a:r>
              <a:rPr lang="en-US" altLang="zh-CN" dirty="0"/>
              <a:t>-</a:t>
            </a:r>
            <a:r>
              <a:rPr lang="zh-CN" altLang="en-US" dirty="0"/>
              <a:t>对象物</a:t>
            </a:r>
          </a:p>
        </p:txBody>
      </p:sp>
      <p:sp>
        <p:nvSpPr>
          <p:cNvPr id="3" name="内容占位符 2">
            <a:extLst>
              <a:ext uri="{FF2B5EF4-FFF2-40B4-BE49-F238E27FC236}">
                <a16:creationId xmlns:a16="http://schemas.microsoft.com/office/drawing/2014/main" id="{56FCF5E2-C668-D0B8-A01B-BC8A06EF1EC6}"/>
              </a:ext>
            </a:extLst>
          </p:cNvPr>
          <p:cNvSpPr>
            <a:spLocks noGrp="1"/>
          </p:cNvSpPr>
          <p:nvPr>
            <p:ph idx="1"/>
          </p:nvPr>
        </p:nvSpPr>
        <p:spPr/>
        <p:txBody>
          <a:bodyPr/>
          <a:lstStyle/>
          <a:p>
            <a:endParaRPr lang="en-US" altLang="zh-CN" dirty="0"/>
          </a:p>
          <a:p>
            <a:r>
              <a:rPr lang="zh-CN" altLang="en-US" dirty="0"/>
              <a:t>激情的对象物（占有欲，作为性欲在童年和老年的补偿）</a:t>
            </a:r>
          </a:p>
          <a:p>
            <a:r>
              <a:rPr lang="zh-CN" altLang="en-US" dirty="0"/>
              <a:t>朝向自己的闭环的论述和说明（摆设、分类、操弄）</a:t>
            </a:r>
          </a:p>
          <a:p>
            <a:r>
              <a:rPr lang="zh-CN" altLang="en-US" dirty="0"/>
              <a:t>并非为了对话（引来焦虑），而是属于自己的独白</a:t>
            </a:r>
            <a:r>
              <a:rPr lang="en-US" altLang="zh-CN" dirty="0"/>
              <a:t>(</a:t>
            </a:r>
            <a:r>
              <a:rPr lang="zh-CN" altLang="en-US" dirty="0"/>
              <a:t>心理对白</a:t>
            </a:r>
            <a:r>
              <a:rPr lang="en-US" altLang="zh-CN" dirty="0"/>
              <a:t>)</a:t>
            </a:r>
          </a:p>
          <a:p>
            <a:r>
              <a:rPr lang="zh-CN" altLang="en-US" dirty="0"/>
              <a:t>每一项都是朝向自己的续列和同质对应的关系</a:t>
            </a:r>
          </a:p>
          <a:p>
            <a:pPr marL="0" indent="0">
              <a:buNone/>
            </a:pPr>
            <a:endParaRPr lang="zh-CN" altLang="en-US" dirty="0"/>
          </a:p>
          <a:p>
            <a:endParaRPr lang="zh-CN" altLang="en-US" dirty="0"/>
          </a:p>
        </p:txBody>
      </p:sp>
    </p:spTree>
    <p:extLst>
      <p:ext uri="{BB962C8B-B14F-4D97-AF65-F5344CB8AC3E}">
        <p14:creationId xmlns:p14="http://schemas.microsoft.com/office/powerpoint/2010/main" val="10174203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dirty="0"/>
              <a:t>爱好和收藏的区别？</a:t>
            </a:r>
          </a:p>
        </p:txBody>
      </p:sp>
      <p:sp>
        <p:nvSpPr>
          <p:cNvPr id="5" name="副标题 4"/>
          <p:cNvSpPr>
            <a:spLocks noGrp="1"/>
          </p:cNvSpPr>
          <p:nvPr>
            <p:ph type="subTitle" idx="1"/>
          </p:nvPr>
        </p:nvSpPr>
        <p:spPr/>
        <p:txBody>
          <a:bodyPr/>
          <a:lstStyle/>
          <a:p>
            <a:r>
              <a:rPr lang="en-US" altLang="zh-CN" dirty="0"/>
              <a:t>p102</a:t>
            </a:r>
            <a:endParaRPr lang="zh-CN" altLang="en-US" dirty="0"/>
          </a:p>
        </p:txBody>
      </p:sp>
    </p:spTree>
    <p:extLst>
      <p:ext uri="{BB962C8B-B14F-4D97-AF65-F5344CB8AC3E}">
        <p14:creationId xmlns:p14="http://schemas.microsoft.com/office/powerpoint/2010/main" val="40304529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B06DC-8312-F318-E37E-136EC3E05D79}"/>
            </a:ext>
          </a:extLst>
        </p:cNvPr>
        <p:cNvGrpSpPr/>
        <p:nvPr/>
      </p:nvGrpSpPr>
      <p:grpSpPr>
        <a:xfrm>
          <a:off x="0" y="0"/>
          <a:ext cx="0" cy="0"/>
          <a:chOff x="0" y="0"/>
          <a:chExt cx="0" cy="0"/>
        </a:xfrm>
      </p:grpSpPr>
      <p:pic>
        <p:nvPicPr>
          <p:cNvPr id="4" name="内容占位符 3">
            <a:extLst>
              <a:ext uri="{FF2B5EF4-FFF2-40B4-BE49-F238E27FC236}">
                <a16:creationId xmlns:a16="http://schemas.microsoft.com/office/drawing/2014/main" id="{E432DE1C-EB8E-1C1E-6745-F7EDDACA31F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160333" y="601527"/>
            <a:ext cx="7488084" cy="5271924"/>
          </a:xfrm>
        </p:spPr>
      </p:pic>
    </p:spTree>
    <p:extLst>
      <p:ext uri="{BB962C8B-B14F-4D97-AF65-F5344CB8AC3E}">
        <p14:creationId xmlns:p14="http://schemas.microsoft.com/office/powerpoint/2010/main" val="39407067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收藏物</a:t>
            </a:r>
            <a:r>
              <a:rPr lang="en-US"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en-US" sz="32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美丽的宠物</a:t>
            </a:r>
            <a:endParaRPr lang="zh-CN" altLang="en-US" sz="3200" dirty="0">
              <a:solidFill>
                <a:srgbClr val="660033"/>
              </a:solidFill>
            </a:endParaRPr>
          </a:p>
        </p:txBody>
      </p:sp>
      <p:sp>
        <p:nvSpPr>
          <p:cNvPr id="3" name="内容占位符 2"/>
          <p:cNvSpPr>
            <a:spLocks noGrp="1"/>
          </p:cNvSpPr>
          <p:nvPr>
            <p:ph idx="1"/>
          </p:nvPr>
        </p:nvSpPr>
        <p:spPr/>
        <p:txBody>
          <a:bodyPr/>
          <a:lstStyle/>
          <a:p>
            <a:pPr algn="just">
              <a:spcAft>
                <a:spcPts val="0"/>
              </a:spcAft>
            </a:pP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就像一只没有感觉的狗，接受人的抚摸，也回应爱抚</a:t>
            </a:r>
            <a:endParaRPr lang="en-US"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r>
              <a:rPr lang="zh-CN" altLang="en-US"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不反射真相，反射人所欲望的形象</a:t>
            </a:r>
            <a:r>
              <a:rPr lang="zh-CN" altLang="en-US"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发起对象世界的行动从来都是艰难的</a:t>
            </a:r>
            <a:endParaRPr lang="en-US" altLang="zh-CN" sz="1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收藏物是最美丽的家庭宠物，</a:t>
            </a:r>
            <a:r>
              <a:rPr lang="zh-CN" altLang="en-US"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不会限制“我”的人格，还会颂扬</a:t>
            </a:r>
            <a:endParaRPr lang="en-US"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人对自己所欲望形象</a:t>
            </a:r>
            <a:r>
              <a:rPr lang="zh-CN" altLang="en-US"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的</a:t>
            </a: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镜子</a:t>
            </a:r>
            <a:r>
              <a:rPr lang="zh-CN" altLang="en-US"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en-US" b="1" kern="100" dirty="0">
                <a:solidFill>
                  <a:srgbClr val="FF0000"/>
                </a:solidFill>
                <a:latin typeface="华文宋体" panose="02010600040101010101" pitchFamily="2" charset="-122"/>
                <a:ea typeface="宋体" panose="02010600030101010101" pitchFamily="2" charset="-122"/>
                <a:cs typeface="华文宋体" panose="02010600040101010101" pitchFamily="2" charset="-122"/>
              </a:rPr>
              <a:t>互不抵触的连续形象</a:t>
            </a:r>
            <a:endParaRPr lang="zh-CN" altLang="zh-CN" sz="20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zh-CN" altLang="en-US"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热情的逃避：人际关系中无法投注的心理能量被投注到物品身上</a:t>
            </a:r>
            <a:endParaRPr lang="en-US"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p:txBody>
      </p:sp>
    </p:spTree>
    <p:extLst>
      <p:ext uri="{BB962C8B-B14F-4D97-AF65-F5344CB8AC3E}">
        <p14:creationId xmlns:p14="http://schemas.microsoft.com/office/powerpoint/2010/main" val="140823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sz="4000" dirty="0">
                <a:solidFill>
                  <a:srgbClr val="FF0000"/>
                </a:solidFill>
                <a:latin typeface="宋体" panose="02010600030101010101" pitchFamily="2" charset="-122"/>
                <a:ea typeface="宋体" panose="02010600030101010101" pitchFamily="2" charset="-122"/>
              </a:rPr>
              <a:t>物如何迈向收藏维度</a:t>
            </a:r>
            <a:r>
              <a:rPr lang="en-US" altLang="zh-CN" sz="4000" dirty="0">
                <a:solidFill>
                  <a:srgbClr val="FF0000"/>
                </a:solidFill>
                <a:latin typeface="宋体" panose="02010600030101010101" pitchFamily="2" charset="-122"/>
                <a:ea typeface="宋体" panose="02010600030101010101" pitchFamily="2" charset="-122"/>
              </a:rPr>
              <a:t>-</a:t>
            </a:r>
            <a:r>
              <a:rPr lang="zh-CN" altLang="en-US" sz="4000" dirty="0">
                <a:solidFill>
                  <a:srgbClr val="FF0000"/>
                </a:solidFill>
                <a:latin typeface="宋体" panose="02010600030101010101" pitchFamily="2" charset="-122"/>
                <a:ea typeface="宋体" panose="02010600030101010101" pitchFamily="2" charset="-122"/>
              </a:rPr>
              <a:t>排列组合</a:t>
            </a:r>
          </a:p>
        </p:txBody>
      </p:sp>
      <p:sp>
        <p:nvSpPr>
          <p:cNvPr id="3" name="内容占位符 2"/>
          <p:cNvSpPr>
            <a:spLocks noGrp="1"/>
          </p:cNvSpPr>
          <p:nvPr>
            <p:ph idx="1"/>
          </p:nvPr>
        </p:nvSpPr>
        <p:spPr>
          <a:xfrm>
            <a:off x="274320" y="1825625"/>
            <a:ext cx="11714480" cy="4351338"/>
          </a:xfrm>
        </p:spPr>
        <p:txBody>
          <a:bodyPr>
            <a:normAutofit/>
          </a:bodyPr>
          <a:lstStyle/>
          <a:p>
            <a:pPr lvl="0" algn="just"/>
            <a:r>
              <a:rPr lang="zh-CN" altLang="en-US"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收藏物的每一个元素具有绝对的独特性，等同于</a:t>
            </a:r>
            <a:r>
              <a:rPr lang="zh-CN" altLang="en-US" sz="2400" b="1"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有生命</a:t>
            </a:r>
            <a:r>
              <a:rPr lang="zh-CN" altLang="en-US"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的存在</a:t>
            </a:r>
            <a:endParaRPr lang="en-US"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marL="0" lvl="0" indent="0" algn="just">
              <a:buNone/>
            </a:pPr>
            <a:r>
              <a:rPr lang="en-US" altLang="zh-CN"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精灵</a:t>
            </a:r>
            <a:r>
              <a:rPr lang="en-US" altLang="zh-CN"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机敏</a:t>
            </a:r>
            <a:r>
              <a:rPr lang="en-US" altLang="zh-CN"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诙谐</a:t>
            </a:r>
            <a:r>
              <a:rPr lang="en-US" altLang="zh-CN"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淑女</a:t>
            </a:r>
            <a:r>
              <a:rPr lang="en-US" altLang="zh-CN"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智慧</a:t>
            </a:r>
            <a:r>
              <a:rPr lang="en-US" altLang="zh-CN"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可爱</a:t>
            </a:r>
            <a:r>
              <a:rPr lang="en-US" altLang="zh-CN"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a:t>
            </a:r>
          </a:p>
          <a:p>
            <a:pPr algn="just"/>
            <a:r>
              <a:rPr lang="zh-CN" altLang="en-US"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只有</a:t>
            </a:r>
            <a:r>
              <a:rPr lang="zh-CN" altLang="en-US" sz="2400" b="1"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互相指涉</a:t>
            </a:r>
            <a:r>
              <a:rPr lang="zh-CN" altLang="en-US"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的物品，组织起来，才能使其中每一件物品成为</a:t>
            </a:r>
            <a:r>
              <a:rPr lang="zh-CN" altLang="en-US" sz="2400" b="1"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能够抽象的对象物</a:t>
            </a:r>
            <a:r>
              <a:rPr lang="zh-CN" altLang="en-US" sz="1200" b="1"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欲望机制</a:t>
            </a:r>
            <a:endParaRPr lang="en-US" altLang="zh-CN" sz="1200" b="1"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en-US"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拥有来自于寻找、排序和聚合</a:t>
            </a:r>
            <a:r>
              <a:rPr lang="zh-CN" altLang="en-US" sz="2400" b="1"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构成</a:t>
            </a:r>
            <a:r>
              <a:rPr lang="zh-CN" altLang="en-US"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的独特关系</a:t>
            </a:r>
            <a:endParaRPr lang="en-US" altLang="zh-CN"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en-US"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抽象后的物才能让主体在“拥有”的情感中来回收它</a:t>
            </a:r>
            <a:endParaRPr lang="en-US"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en-US"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达成同一事物的反复或</a:t>
            </a:r>
            <a:r>
              <a:rPr lang="zh-CN" altLang="en-US" sz="2400" b="1"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相互顶替</a:t>
            </a:r>
            <a:r>
              <a:rPr lang="zh-CN" altLang="en-US"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关系、操纵和玩弄</a:t>
            </a:r>
            <a:r>
              <a:rPr lang="zh-CN" altLang="en-US"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自我定义的往复（局部</a:t>
            </a:r>
            <a:r>
              <a:rPr lang="en-US" altLang="zh-CN"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整体）</a:t>
            </a:r>
            <a:endParaRPr lang="en-US" altLang="zh-CN" sz="16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solidFill>
                  <a:srgbClr val="660033"/>
                </a:solidFill>
              </a:rPr>
              <a:t>构成</a:t>
            </a:r>
            <a:r>
              <a:rPr lang="zh-CN" altLang="en-US" sz="2400" b="1" dirty="0">
                <a:solidFill>
                  <a:srgbClr val="660033"/>
                </a:solidFill>
              </a:rPr>
              <a:t>续列</a:t>
            </a:r>
            <a:r>
              <a:rPr lang="zh-CN" altLang="en-US" sz="2400" dirty="0">
                <a:solidFill>
                  <a:srgbClr val="660033"/>
                </a:solidFill>
              </a:rPr>
              <a:t>和</a:t>
            </a:r>
            <a:r>
              <a:rPr lang="zh-CN" altLang="en-US" sz="2400" b="1" dirty="0">
                <a:solidFill>
                  <a:srgbClr val="660033"/>
                </a:solidFill>
              </a:rPr>
              <a:t>同质</a:t>
            </a:r>
            <a:r>
              <a:rPr lang="zh-CN" altLang="en-US" sz="2400" dirty="0">
                <a:solidFill>
                  <a:srgbClr val="660033"/>
                </a:solidFill>
              </a:rPr>
              <a:t>对应的关系，独特性和无限定性的</a:t>
            </a:r>
            <a:r>
              <a:rPr lang="zh-CN" altLang="en-US" sz="2400" b="1" dirty="0">
                <a:solidFill>
                  <a:srgbClr val="660033"/>
                </a:solidFill>
              </a:rPr>
              <a:t>衍生</a:t>
            </a:r>
          </a:p>
        </p:txBody>
      </p:sp>
    </p:spTree>
    <p:extLst>
      <p:ext uri="{BB962C8B-B14F-4D97-AF65-F5344CB8AC3E}">
        <p14:creationId xmlns:p14="http://schemas.microsoft.com/office/powerpoint/2010/main" val="404064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系列</a:t>
            </a:r>
            <a:r>
              <a:rPr lang="zh-CN" altLang="en-US"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性游戏</a:t>
            </a:r>
            <a:r>
              <a:rPr lang="en-US"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p105</a:t>
            </a:r>
            <a:endParaRPr lang="zh-CN" altLang="en-US" sz="1600" dirty="0">
              <a:solidFill>
                <a:srgbClr val="660033"/>
              </a:solidFill>
            </a:endParaRPr>
          </a:p>
        </p:txBody>
      </p:sp>
      <p:sp>
        <p:nvSpPr>
          <p:cNvPr id="3" name="内容占位符 2"/>
          <p:cNvSpPr>
            <a:spLocks noGrp="1"/>
          </p:cNvSpPr>
          <p:nvPr>
            <p:ph idx="1"/>
          </p:nvPr>
        </p:nvSpPr>
        <p:spPr>
          <a:xfrm>
            <a:off x="71120" y="1690688"/>
            <a:ext cx="12029439" cy="4351338"/>
          </a:xfrm>
        </p:spPr>
        <p:txBody>
          <a:bodyPr>
            <a:normAutofit/>
          </a:bodyPr>
          <a:lstStyle/>
          <a:p>
            <a:pPr algn="just">
              <a:spcAft>
                <a:spcPts val="0"/>
              </a:spcAft>
            </a:pPr>
            <a:r>
              <a:rPr lang="zh-CN" altLang="en-US"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将</a:t>
            </a:r>
            <a:r>
              <a:rPr lang="zh-CN" altLang="en-US" sz="2400" b="1"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同一自恋的投射程序增衍到数目无限的物品上</a:t>
            </a:r>
            <a:r>
              <a:rPr lang="zh-CN" altLang="en-US"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，适合于一个自我形象的整体化</a:t>
            </a:r>
            <a:endParaRPr lang="en-US" altLang="zh-CN"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endParaRPr>
          </a:p>
          <a:p>
            <a:pPr marL="0" indent="0" algn="just">
              <a:spcAft>
                <a:spcPts val="0"/>
              </a:spcAft>
              <a:buNone/>
            </a:pPr>
            <a:r>
              <a:rPr lang="en-US" altLang="zh-CN"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                                                                                        </a:t>
            </a:r>
            <a:r>
              <a:rPr lang="zh-CN" altLang="en-US" sz="16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（不断的关于“自我”的建构</a:t>
            </a:r>
            <a:r>
              <a:rPr lang="en-US" altLang="zh-CN" sz="16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a:t>
            </a:r>
            <a:r>
              <a:rPr lang="zh-CN" altLang="en-US" sz="16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并非反思而是赞扬）</a:t>
            </a:r>
            <a:endParaRPr lang="en-US" altLang="zh-CN" sz="16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endParaRPr>
          </a:p>
          <a:p>
            <a:pPr algn="just"/>
            <a:r>
              <a:rPr lang="zh-CN" altLang="en-US"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同质化的整体化过程的循环发生</a:t>
            </a:r>
            <a:endParaRPr lang="en-US" altLang="zh-CN"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endParaRPr>
          </a:p>
          <a:p>
            <a:pPr algn="just"/>
            <a:r>
              <a:rPr lang="zh-CN" altLang="en-US"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拥有的过程便是人和物之间的相互整合</a:t>
            </a:r>
            <a:endParaRPr lang="en-US" altLang="zh-CN"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endParaRPr>
          </a:p>
          <a:p>
            <a:pPr algn="just">
              <a:spcAft>
                <a:spcPts val="0"/>
              </a:spcAft>
            </a:pPr>
            <a:r>
              <a:rPr lang="zh-CN" altLang="en-US"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拥有的结构：</a:t>
            </a:r>
            <a:r>
              <a:rPr lang="zh-CN" altLang="en-US" sz="20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由一组连续而来的项所构成，系列最终的一项便是收藏者本人</a:t>
            </a:r>
            <a:endParaRPr lang="en-US" altLang="zh-CN" sz="20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520095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660033"/>
                </a:solidFill>
              </a:rPr>
              <a:t>由量到质：独一无二之物</a:t>
            </a:r>
            <a:r>
              <a:rPr lang="zh-CN" altLang="en-US" sz="1600" dirty="0">
                <a:solidFill>
                  <a:srgbClr val="660033"/>
                </a:solidFill>
              </a:rPr>
              <a:t>（</a:t>
            </a:r>
            <a:r>
              <a:rPr lang="zh-CN" altLang="en-US" sz="1600" b="1" dirty="0">
                <a:solidFill>
                  <a:srgbClr val="660033"/>
                </a:solidFill>
                <a:latin typeface="黑体" panose="02010609060101010101" pitchFamily="49" charset="-122"/>
                <a:ea typeface="黑体" panose="02010609060101010101" pitchFamily="49" charset="-122"/>
              </a:rPr>
              <a:t>典范和终结项</a:t>
            </a:r>
            <a:r>
              <a:rPr lang="zh-CN" altLang="en-US" sz="1600" dirty="0">
                <a:solidFill>
                  <a:srgbClr val="660033"/>
                </a:solidFill>
              </a:rPr>
              <a:t>）</a:t>
            </a:r>
          </a:p>
        </p:txBody>
      </p:sp>
      <p:sp>
        <p:nvSpPr>
          <p:cNvPr id="3" name="内容占位符 2"/>
          <p:cNvSpPr>
            <a:spLocks noGrp="1"/>
          </p:cNvSpPr>
          <p:nvPr>
            <p:ph idx="1"/>
          </p:nvPr>
        </p:nvSpPr>
        <p:spPr>
          <a:xfrm>
            <a:off x="838200" y="1825625"/>
            <a:ext cx="10886440" cy="4351338"/>
          </a:xfrm>
        </p:spPr>
        <p:txBody>
          <a:bodyPr/>
          <a:lstStyle/>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绝对的独特性来自于被</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我</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拥有</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，完成同等论述</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使</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我</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在它身上认识到，</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“我”</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是一个绝对独一无二的存有</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en-US"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独一无二</a:t>
            </a:r>
            <a:r>
              <a:rPr lang="en-US"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永远不是在真实世界中取得的</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en-US"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没有所缺乏的“终结项”，系列就没有意义</a:t>
            </a:r>
            <a:endParaRPr lang="en-US" altLang="zh-CN"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endParaRPr>
          </a:p>
          <a:p>
            <a:pPr algn="just"/>
            <a:r>
              <a:rPr lang="zh-CN" altLang="en-US"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rPr>
              <a:t>终结项（缺乏项）因终极位置得到的特性，具有特别目的性的幻想</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en-US"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缺乏“项”是系列构成的</a:t>
            </a:r>
            <a:r>
              <a:rPr lang="zh-CN" altLang="en-US" sz="2400" b="1"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量的阶梯精华</a:t>
            </a:r>
            <a:r>
              <a:rPr lang="zh-CN" altLang="en-US"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，被由量提升到质的境界</a:t>
            </a:r>
            <a:r>
              <a:rPr lang="zh-CN" altLang="en-US" sz="16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（独一无二）</a:t>
            </a:r>
            <a:endParaRPr lang="en-US" altLang="zh-CN" sz="16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endParaRPr>
          </a:p>
          <a:p>
            <a:pPr algn="just"/>
            <a:r>
              <a:rPr lang="zh-CN" altLang="en-US"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缺乏项身上集中的价值是各个中介符码所形成的</a:t>
            </a:r>
            <a:r>
              <a:rPr lang="zh-CN" altLang="en-US" sz="2400" b="1"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锁链上奔跑的价值</a:t>
            </a:r>
            <a:r>
              <a:rPr lang="en-US" altLang="zh-CN" sz="2400" b="1"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——P106</a:t>
            </a:r>
          </a:p>
          <a:p>
            <a:pPr marL="0" indent="0" algn="just">
              <a:spcAft>
                <a:spcPts val="0"/>
              </a:spcAft>
              <a:buNone/>
            </a:pPr>
            <a:endParaRPr lang="zh-CN" altLang="zh-CN"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16463845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B226B-4F73-BA60-999D-6BA31DCF810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EA14CB5-04B8-157F-740F-C47B8281643D}"/>
              </a:ext>
            </a:extLst>
          </p:cNvPr>
          <p:cNvSpPr>
            <a:spLocks noGrp="1"/>
          </p:cNvSpPr>
          <p:nvPr>
            <p:ph type="title"/>
          </p:nvPr>
        </p:nvSpPr>
        <p:spPr/>
        <p:txBody>
          <a:bodyPr/>
          <a:lstStyle/>
          <a:p>
            <a:r>
              <a:rPr lang="zh-CN" altLang="en-US" dirty="0"/>
              <a:t>模范</a:t>
            </a:r>
            <a:r>
              <a:rPr lang="en-US" altLang="zh-CN" dirty="0"/>
              <a:t>-</a:t>
            </a:r>
            <a:r>
              <a:rPr lang="zh-CN" altLang="en-US" dirty="0"/>
              <a:t>系列</a:t>
            </a:r>
          </a:p>
        </p:txBody>
      </p:sp>
      <p:pic>
        <p:nvPicPr>
          <p:cNvPr id="4" name="内容占位符 3">
            <a:extLst>
              <a:ext uri="{FF2B5EF4-FFF2-40B4-BE49-F238E27FC236}">
                <a16:creationId xmlns:a16="http://schemas.microsoft.com/office/drawing/2014/main" id="{8FF49D0E-3A9D-1F21-8DB6-A399D4B74E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2092" y="1793604"/>
            <a:ext cx="3196901" cy="4351338"/>
          </a:xfrm>
        </p:spPr>
      </p:pic>
      <p:pic>
        <p:nvPicPr>
          <p:cNvPr id="5" name="图片 4">
            <a:extLst>
              <a:ext uri="{FF2B5EF4-FFF2-40B4-BE49-F238E27FC236}">
                <a16:creationId xmlns:a16="http://schemas.microsoft.com/office/drawing/2014/main" id="{4D9E142A-4EF6-BA62-2761-94C4F6B9D4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9836" y="262209"/>
            <a:ext cx="4762500" cy="3381375"/>
          </a:xfrm>
          <a:prstGeom prst="rect">
            <a:avLst/>
          </a:prstGeom>
        </p:spPr>
      </p:pic>
      <p:pic>
        <p:nvPicPr>
          <p:cNvPr id="6" name="图片 5">
            <a:extLst>
              <a:ext uri="{FF2B5EF4-FFF2-40B4-BE49-F238E27FC236}">
                <a16:creationId xmlns:a16="http://schemas.microsoft.com/office/drawing/2014/main" id="{4170A723-FF9A-B2B3-0B92-B22195BC1D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57665" y="4062548"/>
            <a:ext cx="2919509" cy="2795451"/>
          </a:xfrm>
          <a:prstGeom prst="rect">
            <a:avLst/>
          </a:prstGeom>
        </p:spPr>
      </p:pic>
    </p:spTree>
    <p:extLst>
      <p:ext uri="{BB962C8B-B14F-4D97-AF65-F5344CB8AC3E}">
        <p14:creationId xmlns:p14="http://schemas.microsoft.com/office/powerpoint/2010/main" val="28075458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1600" kern="1200" dirty="0">
                <a:solidFill>
                  <a:srgbClr val="FF0000"/>
                </a:solidFill>
                <a:latin typeface="宋体" panose="02010600030101010101" pitchFamily="2" charset="-122"/>
                <a:ea typeface="宋体" panose="02010600030101010101" pitchFamily="2" charset="-122"/>
                <a:cs typeface="+mn-cs"/>
              </a:rPr>
              <a:t> 案例：爱马仕铂金包</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sz="3600" dirty="0"/>
              <a:t>       包的品牌故事，如何运用了“非功能物”的心理机制对拥有物品的特质设计了产品？</a:t>
            </a:r>
            <a:endParaRPr lang="en-US" altLang="zh-CN" sz="3600" dirty="0"/>
          </a:p>
          <a:p>
            <a:pPr marL="0" indent="0">
              <a:buNone/>
            </a:pPr>
            <a:endParaRPr lang="en-US" altLang="zh-CN" sz="2000" dirty="0"/>
          </a:p>
        </p:txBody>
      </p:sp>
    </p:spTree>
    <p:extLst>
      <p:ext uri="{BB962C8B-B14F-4D97-AF65-F5344CB8AC3E}">
        <p14:creationId xmlns:p14="http://schemas.microsoft.com/office/powerpoint/2010/main" val="22640194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D803BF-1FAB-3B70-2638-EFFFE006AC8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D223A40-E640-75DC-C62E-591B96FD7FC0}"/>
              </a:ext>
            </a:extLst>
          </p:cNvPr>
          <p:cNvSpPr>
            <a:spLocks noGrp="1"/>
          </p:cNvSpPr>
          <p:nvPr>
            <p:ph idx="1"/>
          </p:nvPr>
        </p:nvSpPr>
        <p:spPr/>
        <p:txBody>
          <a:bodyPr>
            <a:normAutofit fontScale="70000" lnSpcReduction="20000"/>
          </a:bodyPr>
          <a:lstStyle/>
          <a:p>
            <a:pPr marL="0" indent="0">
              <a:buNone/>
            </a:pPr>
            <a:r>
              <a:rPr lang="en-US" altLang="zh-CN" dirty="0"/>
              <a:t>1Birkin</a:t>
            </a:r>
            <a:r>
              <a:rPr lang="zh-CN" altLang="en-US" dirty="0"/>
              <a:t>的诞生（以人命名和飞机草稿）：起源和诞生</a:t>
            </a:r>
            <a:endParaRPr lang="en-US" altLang="zh-CN" dirty="0"/>
          </a:p>
          <a:p>
            <a:pPr marL="0" indent="0">
              <a:buNone/>
            </a:pPr>
            <a:r>
              <a:rPr lang="en-US" altLang="zh-CN" dirty="0"/>
              <a:t>2</a:t>
            </a:r>
            <a:r>
              <a:rPr lang="zh-CN" altLang="en-US" dirty="0"/>
              <a:t>爱马仕与经典流行文化的关联：内涵的传播</a:t>
            </a:r>
            <a:endParaRPr lang="en-US" altLang="zh-CN" dirty="0"/>
          </a:p>
          <a:p>
            <a:pPr marL="0" indent="0">
              <a:buNone/>
            </a:pPr>
            <a:r>
              <a:rPr lang="en-US" altLang="zh-CN" dirty="0"/>
              <a:t>                                                  《</a:t>
            </a:r>
            <a:r>
              <a:rPr lang="zh-CN" altLang="en-US" dirty="0"/>
              <a:t>欲望都市</a:t>
            </a:r>
            <a:r>
              <a:rPr lang="en-US" altLang="zh-CN" dirty="0"/>
              <a:t>》   </a:t>
            </a:r>
            <a:r>
              <a:rPr lang="zh-CN" altLang="en-US" dirty="0"/>
              <a:t>衬托出女性独立与奋斗、地位象征的符号价值</a:t>
            </a:r>
            <a:endParaRPr lang="en-US" altLang="zh-CN" dirty="0"/>
          </a:p>
          <a:p>
            <a:pPr marL="0" indent="0">
              <a:buNone/>
            </a:pPr>
            <a:r>
              <a:rPr lang="en-US" altLang="zh-CN" dirty="0"/>
              <a:t>3</a:t>
            </a:r>
            <a:r>
              <a:rPr lang="zh-CN" altLang="en-US" dirty="0"/>
              <a:t>材质上的稀缺性：打架的鳄鱼（工业批量养殖）</a:t>
            </a:r>
            <a:endParaRPr lang="en-US" altLang="zh-CN" dirty="0"/>
          </a:p>
          <a:p>
            <a:pPr marL="0" indent="0">
              <a:buNone/>
            </a:pPr>
            <a:r>
              <a:rPr lang="en-US" altLang="zh-CN" dirty="0"/>
              <a:t>4</a:t>
            </a:r>
            <a:r>
              <a:rPr lang="zh-CN" altLang="en-US" dirty="0"/>
              <a:t>手工和包上的生产序列标识：出自工匠之手的模拟</a:t>
            </a:r>
            <a:endParaRPr lang="en-US" altLang="zh-CN" dirty="0"/>
          </a:p>
          <a:p>
            <a:pPr marL="0" indent="0">
              <a:buNone/>
            </a:pPr>
            <a:r>
              <a:rPr lang="en-US" altLang="zh-CN" dirty="0"/>
              <a:t>5</a:t>
            </a:r>
            <a:r>
              <a:rPr lang="zh-CN" altLang="en-US" dirty="0"/>
              <a:t>以</a:t>
            </a:r>
            <a:r>
              <a:rPr lang="en-US" altLang="zh-CN" dirty="0"/>
              <a:t>Jane Birkin</a:t>
            </a:r>
            <a:r>
              <a:rPr lang="zh-CN" altLang="en-US" dirty="0"/>
              <a:t>与爱马仕的人性故事：回收其人格特质代表爱马仕包的个性</a:t>
            </a:r>
            <a:endParaRPr lang="en-US" altLang="zh-CN" dirty="0"/>
          </a:p>
          <a:p>
            <a:pPr marL="0" indent="0">
              <a:buNone/>
            </a:pPr>
            <a:r>
              <a:rPr lang="en-US" altLang="zh-CN" dirty="0"/>
              <a:t>6 </a:t>
            </a:r>
            <a:r>
              <a:rPr lang="zh-CN" altLang="en-US" dirty="0">
                <a:solidFill>
                  <a:srgbClr val="C00000"/>
                </a:solidFill>
              </a:rPr>
              <a:t>收藏的缺失项</a:t>
            </a:r>
            <a:r>
              <a:rPr lang="en-US" altLang="zh-CN" dirty="0">
                <a:solidFill>
                  <a:srgbClr val="C00000"/>
                </a:solidFill>
              </a:rPr>
              <a:t>(</a:t>
            </a:r>
            <a:r>
              <a:rPr lang="zh-CN" altLang="en-US" dirty="0">
                <a:solidFill>
                  <a:srgbClr val="C00000"/>
                </a:solidFill>
              </a:rPr>
              <a:t>欲望终极</a:t>
            </a:r>
            <a:r>
              <a:rPr lang="en-US" altLang="zh-CN" dirty="0">
                <a:solidFill>
                  <a:srgbClr val="C00000"/>
                </a:solidFill>
              </a:rPr>
              <a:t>)</a:t>
            </a:r>
            <a:r>
              <a:rPr lang="zh-CN" altLang="en-US" dirty="0">
                <a:solidFill>
                  <a:srgbClr val="C00000"/>
                </a:solidFill>
              </a:rPr>
              <a:t>：顶级材质的喜马拉雅</a:t>
            </a:r>
            <a:endParaRPr lang="en-US" altLang="zh-CN" dirty="0">
              <a:solidFill>
                <a:srgbClr val="C00000"/>
              </a:solidFill>
            </a:endParaRPr>
          </a:p>
          <a:p>
            <a:pPr marL="0" indent="0">
              <a:buNone/>
            </a:pPr>
            <a:r>
              <a:rPr lang="en-US" altLang="zh-CN" dirty="0"/>
              <a:t>7 </a:t>
            </a:r>
            <a:r>
              <a:rPr lang="zh-CN" altLang="en-US" dirty="0"/>
              <a:t>人格化的配件开发</a:t>
            </a:r>
            <a:endParaRPr lang="en-US" altLang="zh-CN" dirty="0"/>
          </a:p>
          <a:p>
            <a:pPr marL="0" indent="0">
              <a:buNone/>
            </a:pPr>
            <a:r>
              <a:rPr lang="en-US" altLang="zh-CN" sz="3200" dirty="0"/>
              <a:t>                                                                      Chill-</a:t>
            </a:r>
            <a:r>
              <a:rPr lang="en-US" altLang="zh-CN" sz="3200" dirty="0" err="1"/>
              <a:t>Fasion</a:t>
            </a:r>
            <a:r>
              <a:rPr lang="en-US" altLang="zh-CN" sz="3200" dirty="0"/>
              <a:t>-professional-Powerful</a:t>
            </a:r>
          </a:p>
          <a:p>
            <a:pPr marL="0" indent="0">
              <a:buNone/>
            </a:pPr>
            <a:r>
              <a:rPr lang="en-US" altLang="zh-CN" sz="3200" dirty="0"/>
              <a:t>                                                                     Constance\shopping bag\Kelly\Birkin</a:t>
            </a:r>
          </a:p>
          <a:p>
            <a:pPr marL="0" indent="0">
              <a:buNone/>
            </a:pPr>
            <a:endParaRPr lang="zh-CN" altLang="en-US" dirty="0"/>
          </a:p>
        </p:txBody>
      </p:sp>
    </p:spTree>
    <p:extLst>
      <p:ext uri="{BB962C8B-B14F-4D97-AF65-F5344CB8AC3E}">
        <p14:creationId xmlns:p14="http://schemas.microsoft.com/office/powerpoint/2010/main" val="20545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E17A785-06C5-6ECF-391D-A3CE188FEF54}"/>
              </a:ext>
            </a:extLst>
          </p:cNvPr>
          <p:cNvSpPr>
            <a:spLocks noGrp="1"/>
          </p:cNvSpPr>
          <p:nvPr>
            <p:ph idx="1"/>
          </p:nvPr>
        </p:nvSpPr>
        <p:spPr>
          <a:xfrm>
            <a:off x="709613" y="814388"/>
            <a:ext cx="10515600" cy="4676775"/>
          </a:xfrm>
        </p:spPr>
        <p:txBody>
          <a:bodyPr>
            <a:normAutofit lnSpcReduction="10000"/>
          </a:bodyPr>
          <a:lstStyle/>
          <a:p>
            <a:r>
              <a:rPr lang="zh-CN" altLang="en-US" dirty="0"/>
              <a:t>真确性和诞生：“存在”物</a:t>
            </a:r>
            <a:r>
              <a:rPr lang="en-US" altLang="zh-CN" dirty="0"/>
              <a:t>——</a:t>
            </a:r>
            <a:r>
              <a:rPr lang="zh-CN" altLang="en-US" dirty="0"/>
              <a:t>有生命的神话叙事</a:t>
            </a:r>
            <a:endParaRPr lang="en-US" altLang="zh-CN" dirty="0"/>
          </a:p>
          <a:p>
            <a:endParaRPr lang="en-US" altLang="zh-CN" dirty="0"/>
          </a:p>
          <a:p>
            <a:r>
              <a:rPr lang="zh-CN" altLang="en-US" dirty="0"/>
              <a:t>成为对等物的品质：</a:t>
            </a:r>
            <a:endParaRPr lang="en-US" altLang="zh-CN" dirty="0"/>
          </a:p>
          <a:p>
            <a:pPr marL="0" indent="0">
              <a:buNone/>
            </a:pPr>
            <a:r>
              <a:rPr lang="en-US" altLang="zh-CN" dirty="0"/>
              <a:t>   </a:t>
            </a:r>
            <a:r>
              <a:rPr lang="zh-CN" altLang="en-US" sz="2400" dirty="0"/>
              <a:t>稀缺性（材质、手工、并非批量）</a:t>
            </a:r>
            <a:endParaRPr lang="en-US" altLang="zh-CN" sz="2400" dirty="0"/>
          </a:p>
          <a:p>
            <a:pPr marL="0" indent="0">
              <a:buNone/>
            </a:pPr>
            <a:r>
              <a:rPr lang="en-US" altLang="zh-CN" sz="2400" dirty="0"/>
              <a:t>    </a:t>
            </a:r>
            <a:r>
              <a:rPr lang="zh-CN" altLang="en-US" sz="2400" dirty="0"/>
              <a:t>优秀女性的内在品质</a:t>
            </a:r>
            <a:endParaRPr lang="en-US" altLang="zh-CN" sz="2400" dirty="0"/>
          </a:p>
          <a:p>
            <a:pPr marL="0" indent="0">
              <a:buNone/>
            </a:pPr>
            <a:r>
              <a:rPr lang="en-US" altLang="zh-CN" sz="2400" dirty="0"/>
              <a:t>    </a:t>
            </a:r>
            <a:r>
              <a:rPr lang="zh-CN" altLang="en-US" sz="2400" dirty="0"/>
              <a:t>广泛传播的稀缺性和象征意义</a:t>
            </a:r>
          </a:p>
          <a:p>
            <a:endParaRPr lang="en-US" altLang="zh-CN" dirty="0"/>
          </a:p>
          <a:p>
            <a:r>
              <a:rPr lang="zh-CN" altLang="en-US" dirty="0"/>
              <a:t>收藏的心理机制：排列组合的系列</a:t>
            </a:r>
            <a:r>
              <a:rPr lang="en-US" altLang="zh-CN" dirty="0"/>
              <a:t>-</a:t>
            </a:r>
            <a:r>
              <a:rPr lang="zh-CN" altLang="en-US" dirty="0"/>
              <a:t>拾级而上的缺乏项</a:t>
            </a:r>
            <a:endParaRPr lang="en-US" altLang="zh-CN" dirty="0"/>
          </a:p>
          <a:p>
            <a:endParaRPr lang="en-US" altLang="zh-CN" dirty="0"/>
          </a:p>
          <a:p>
            <a:r>
              <a:rPr lang="zh-CN" altLang="en-US" dirty="0"/>
              <a:t>物品的人格化：对人格的回收及配件的开发</a:t>
            </a:r>
            <a:endParaRPr lang="en-US" altLang="zh-CN" dirty="0"/>
          </a:p>
        </p:txBody>
      </p:sp>
    </p:spTree>
    <p:extLst>
      <p:ext uri="{BB962C8B-B14F-4D97-AF65-F5344CB8AC3E}">
        <p14:creationId xmlns:p14="http://schemas.microsoft.com/office/powerpoint/2010/main" val="19717893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lvl="0" algn="just"/>
            <a:r>
              <a:rPr lang="zh-CN" altLang="en-US"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“缺乏”在收藏中扮演一个不可或缺的基本</a:t>
            </a:r>
            <a:endParaRPr lang="en-US" altLang="zh-CN"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endParaRPr>
          </a:p>
          <a:p>
            <a:pPr lvl="0" algn="just"/>
            <a:r>
              <a:rPr lang="zh-CN" altLang="en-US"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终极对象物的出现，意味着主体的死亡</a:t>
            </a:r>
            <a:endParaRPr lang="en-US" altLang="zh-CN"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endParaRPr>
          </a:p>
          <a:p>
            <a:pPr lvl="0" algn="just"/>
            <a:r>
              <a:rPr lang="zh-CN" altLang="en-US"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缺乏被当作痛苦来体验，但也是组织收藏终结的断裂</a:t>
            </a:r>
            <a:endParaRPr lang="en-US" altLang="zh-CN"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endParaRPr>
          </a:p>
          <a:p>
            <a:pPr lvl="0" algn="just"/>
            <a:r>
              <a:rPr lang="zh-CN" altLang="en-US"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在收藏物中，恰恰是“缺乏”延续了收藏的“生命”和激情</a:t>
            </a:r>
            <a:endParaRPr lang="en-US" altLang="zh-CN" sz="2400"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32342895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8500" y="500062"/>
            <a:ext cx="10515600" cy="1325563"/>
          </a:xfrm>
        </p:spPr>
        <p:txBody>
          <a:bodyPr/>
          <a:lstStyle/>
          <a:p>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针对自我的论述</a:t>
            </a:r>
            <a:endParaRPr lang="zh-CN" altLang="en-US" sz="1600" dirty="0">
              <a:solidFill>
                <a:srgbClr val="660033"/>
              </a:solidFill>
            </a:endParaRPr>
          </a:p>
        </p:txBody>
      </p:sp>
      <p:sp>
        <p:nvSpPr>
          <p:cNvPr id="3" name="内容占位符 2"/>
          <p:cNvSpPr>
            <a:spLocks noGrp="1"/>
          </p:cNvSpPr>
          <p:nvPr>
            <p:ph idx="1"/>
          </p:nvPr>
        </p:nvSpPr>
        <p:spPr>
          <a:xfrm>
            <a:off x="386080" y="1825625"/>
            <a:ext cx="11592560" cy="4351338"/>
          </a:xfrm>
        </p:spPr>
        <p:txBody>
          <a:bodyPr>
            <a:normAutofit/>
          </a:bodyPr>
          <a:lstStyle/>
          <a:p>
            <a:r>
              <a:rPr lang="zh-CN" altLang="en-US" sz="2400" dirty="0">
                <a:solidFill>
                  <a:srgbClr val="660033"/>
                </a:solidFill>
                <a:latin typeface="宋体" panose="02010600030101010101" pitchFamily="2" charset="-122"/>
                <a:ea typeface="宋体" panose="02010600030101010101" pitchFamily="2" charset="-122"/>
              </a:rPr>
              <a:t>收藏物最后可以通过自己在他人面前呈现收藏者：物品就是一个信息</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这是一个关于收藏者重组的绝对论述，拥有物品所有的符征</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透过物品进行的整体化程序，总是带着孤独的印记：沟通失败</a:t>
            </a:r>
            <a:r>
              <a:rPr lang="zh-CN" altLang="en-US" sz="1600" dirty="0">
                <a:solidFill>
                  <a:srgbClr val="FF0000"/>
                </a:solidFill>
                <a:latin typeface="宋体" panose="02010600030101010101" pitchFamily="2" charset="-122"/>
                <a:ea typeface="宋体" panose="02010600030101010101" pitchFamily="2" charset="-122"/>
              </a:rPr>
              <a:t>（案例单身</a:t>
            </a:r>
            <a:r>
              <a:rPr lang="en-US" altLang="zh-CN" sz="1600" dirty="0">
                <a:solidFill>
                  <a:srgbClr val="FF0000"/>
                </a:solidFill>
                <a:latin typeface="宋体" panose="02010600030101010101" pitchFamily="2" charset="-122"/>
                <a:ea typeface="宋体" panose="02010600030101010101" pitchFamily="2" charset="-122"/>
              </a:rPr>
              <a:t>-</a:t>
            </a:r>
            <a:r>
              <a:rPr lang="zh-CN" altLang="en-US" sz="1600" dirty="0">
                <a:solidFill>
                  <a:srgbClr val="FF0000"/>
                </a:solidFill>
                <a:latin typeface="宋体" panose="02010600030101010101" pitchFamily="2" charset="-122"/>
                <a:ea typeface="宋体" panose="02010600030101010101" pitchFamily="2" charset="-122"/>
              </a:rPr>
              <a:t>乐高）</a:t>
            </a:r>
            <a:endParaRPr lang="en-US" altLang="zh-CN" sz="1600" dirty="0">
              <a:solidFill>
                <a:srgbClr val="FF0000"/>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由于收藏品的物质性（而非创造性）所持的论述永远不能超越某种贫乏和稚气</a:t>
            </a:r>
            <a:endParaRPr lang="en-US" altLang="zh-CN" sz="2400" dirty="0">
              <a:solidFill>
                <a:srgbClr val="660033"/>
              </a:solidFill>
              <a:latin typeface="宋体" panose="02010600030101010101" pitchFamily="2" charset="-122"/>
              <a:ea typeface="宋体" panose="02010600030101010101" pitchFamily="2" charset="-122"/>
            </a:endParaRPr>
          </a:p>
          <a:p>
            <a:endParaRPr lang="en-US" altLang="zh-CN" sz="2400" dirty="0">
              <a:solidFill>
                <a:srgbClr val="660033"/>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7543980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dirty="0">
                <a:solidFill>
                  <a:srgbClr val="660033"/>
                </a:solidFill>
                <a:latin typeface="宋体" panose="02010600030101010101" pitchFamily="2" charset="-122"/>
                <a:ea typeface="宋体" panose="02010600030101010101" pitchFamily="2" charset="-122"/>
              </a:rPr>
              <a:t>收藏本质：时间</a:t>
            </a:r>
          </a:p>
        </p:txBody>
      </p:sp>
      <p:sp>
        <p:nvSpPr>
          <p:cNvPr id="5" name="副标题 4"/>
          <p:cNvSpPr>
            <a:spLocks noGrp="1"/>
          </p:cNvSpPr>
          <p:nvPr>
            <p:ph type="subTitle" idx="1"/>
          </p:nvPr>
        </p:nvSpPr>
        <p:spPr/>
        <p:txBody>
          <a:bodyPr/>
          <a:lstStyle/>
          <a:p>
            <a:r>
              <a:rPr lang="zh-CN" altLang="en-US" dirty="0"/>
              <a:t>案例</a:t>
            </a:r>
            <a:r>
              <a:rPr lang="en-US" altLang="zh-CN" dirty="0"/>
              <a:t>——</a:t>
            </a:r>
            <a:r>
              <a:rPr lang="zh-CN" altLang="en-US" dirty="0"/>
              <a:t>个体循环到消费社会的复古</a:t>
            </a:r>
          </a:p>
        </p:txBody>
      </p:sp>
    </p:spTree>
    <p:extLst>
      <p:ext uri="{BB962C8B-B14F-4D97-AF65-F5344CB8AC3E}">
        <p14:creationId xmlns:p14="http://schemas.microsoft.com/office/powerpoint/2010/main" val="30883467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dirty="0"/>
              <a:t>自然时间论</a:t>
            </a:r>
            <a:r>
              <a:rPr lang="zh-CN" altLang="en-US" sz="1800" dirty="0">
                <a:solidFill>
                  <a:srgbClr val="FF0000"/>
                </a:solidFill>
              </a:rPr>
              <a:t>收藏循环，与个体的自然时间构成抵抗关系</a:t>
            </a:r>
            <a:endParaRPr lang="zh-CN" altLang="en-US" sz="1800" dirty="0"/>
          </a:p>
        </p:txBody>
      </p:sp>
      <p:sp>
        <p:nvSpPr>
          <p:cNvPr id="3" name="内容占位符 2"/>
          <p:cNvSpPr>
            <a:spLocks noGrp="1"/>
          </p:cNvSpPr>
          <p:nvPr>
            <p:ph idx="1"/>
          </p:nvPr>
        </p:nvSpPr>
        <p:spPr/>
        <p:txBody>
          <a:bodyPr/>
          <a:lstStyle/>
          <a:p>
            <a:endParaRPr lang="en-US" altLang="zh-CN" sz="2400" dirty="0"/>
          </a:p>
          <a:p>
            <a:r>
              <a:rPr lang="zh-CN" altLang="en-US" sz="2400" dirty="0"/>
              <a:t>认定生存及世界之外，有一种自在的、现成的时间之流</a:t>
            </a:r>
            <a:endParaRPr lang="en-US" altLang="zh-CN" sz="2400" dirty="0"/>
          </a:p>
          <a:p>
            <a:r>
              <a:rPr lang="zh-CN" altLang="en-US" sz="2400" dirty="0"/>
              <a:t>时间作为现成的存在，均匀流逝的方式存在</a:t>
            </a:r>
            <a:endParaRPr lang="en-US" altLang="zh-CN" sz="2400" dirty="0"/>
          </a:p>
          <a:p>
            <a:r>
              <a:rPr lang="zh-CN" altLang="en-US" sz="2400" dirty="0"/>
              <a:t>自然的时间观是从“现在”中去看到的基本时间现象</a:t>
            </a:r>
            <a:r>
              <a:rPr lang="zh-CN" altLang="en-US" sz="1600" dirty="0"/>
              <a:t>（经验和客观时间的维度）</a:t>
            </a:r>
            <a:endParaRPr lang="en-US" altLang="zh-CN" sz="1600" dirty="0"/>
          </a:p>
          <a:p>
            <a:r>
              <a:rPr lang="zh-CN" altLang="en-US" sz="2400" b="1" dirty="0"/>
              <a:t>包含永恒</a:t>
            </a:r>
            <a:r>
              <a:rPr lang="zh-CN" altLang="en-US" sz="1400" b="1" dirty="0"/>
              <a:t>（客观）</a:t>
            </a:r>
            <a:r>
              <a:rPr lang="zh-CN" altLang="en-US" sz="2400" b="1" dirty="0"/>
              <a:t>与人</a:t>
            </a:r>
            <a:r>
              <a:rPr lang="zh-CN" altLang="en-US" sz="1600" b="1" dirty="0"/>
              <a:t>（经验）</a:t>
            </a:r>
            <a:r>
              <a:rPr lang="zh-CN" altLang="en-US" sz="2400" b="1" dirty="0"/>
              <a:t>的有限存在的相对关系</a:t>
            </a:r>
            <a:r>
              <a:rPr lang="zh-CN" altLang="en-US" sz="1600" b="1" dirty="0"/>
              <a:t>河</a:t>
            </a:r>
            <a:r>
              <a:rPr lang="en-US" altLang="zh-CN" sz="1600" b="1" dirty="0"/>
              <a:t>-</a:t>
            </a:r>
            <a:r>
              <a:rPr lang="zh-CN" altLang="en-US" sz="1600" b="1" dirty="0"/>
              <a:t>点</a:t>
            </a:r>
            <a:endParaRPr lang="en-US" altLang="zh-CN" sz="1600" b="1" dirty="0"/>
          </a:p>
          <a:p>
            <a:endParaRPr lang="en-US" altLang="zh-CN" sz="2400" dirty="0">
              <a:solidFill>
                <a:srgbClr val="FF0000"/>
              </a:solidFill>
            </a:endParaRPr>
          </a:p>
        </p:txBody>
      </p:sp>
    </p:spTree>
    <p:extLst>
      <p:ext uri="{BB962C8B-B14F-4D97-AF65-F5344CB8AC3E}">
        <p14:creationId xmlns:p14="http://schemas.microsoft.com/office/powerpoint/2010/main" val="1627987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660033"/>
                </a:solidFill>
              </a:rPr>
              <a:t>物品与习惯</a:t>
            </a:r>
            <a:r>
              <a:rPr lang="zh-CN" altLang="en-US" sz="1600" dirty="0">
                <a:solidFill>
                  <a:srgbClr val="C00000"/>
                </a:solidFill>
              </a:rPr>
              <a:t>（锚定：混沌时间）</a:t>
            </a:r>
          </a:p>
        </p:txBody>
      </p:sp>
      <p:sp>
        <p:nvSpPr>
          <p:cNvPr id="3" name="内容占位符 2"/>
          <p:cNvSpPr>
            <a:spLocks noGrp="1"/>
          </p:cNvSpPr>
          <p:nvPr>
            <p:ph idx="1"/>
          </p:nvPr>
        </p:nvSpPr>
        <p:spPr/>
        <p:txBody>
          <a:bodyPr/>
          <a:lstStyle/>
          <a:p>
            <a:r>
              <a:rPr lang="zh-CN" altLang="en-US" sz="2800" dirty="0">
                <a:solidFill>
                  <a:srgbClr val="660033"/>
                </a:solidFill>
              </a:rPr>
              <a:t>物品都是处于两段间的中途位置</a:t>
            </a:r>
            <a:endParaRPr lang="en-US" altLang="zh-CN" sz="2800" dirty="0">
              <a:solidFill>
                <a:srgbClr val="660033"/>
              </a:solidFill>
            </a:endParaRPr>
          </a:p>
          <a:p>
            <a:r>
              <a:rPr lang="zh-CN" altLang="en-US" sz="2800" dirty="0">
                <a:solidFill>
                  <a:srgbClr val="660033"/>
                </a:solidFill>
              </a:rPr>
              <a:t>一端是它的实用特性、功能，组成外显的论述</a:t>
            </a:r>
            <a:endParaRPr lang="en-US" altLang="zh-CN" sz="2800" dirty="0">
              <a:solidFill>
                <a:srgbClr val="660033"/>
              </a:solidFill>
            </a:endParaRPr>
          </a:p>
          <a:p>
            <a:pPr lvl="0"/>
            <a:r>
              <a:rPr lang="zh-CN" altLang="en-US" sz="2800" dirty="0">
                <a:solidFill>
                  <a:srgbClr val="660033"/>
                </a:solidFill>
              </a:rPr>
              <a:t>另一端被吸纳</a:t>
            </a:r>
            <a:r>
              <a:rPr lang="zh-CN" altLang="en-US" sz="1600" dirty="0">
                <a:solidFill>
                  <a:srgbClr val="660033"/>
                </a:solidFill>
              </a:rPr>
              <a:t>（收藏）</a:t>
            </a:r>
            <a:r>
              <a:rPr lang="zh-CN" altLang="en-US" sz="2800" dirty="0">
                <a:solidFill>
                  <a:srgbClr val="660033"/>
                </a:solidFill>
              </a:rPr>
              <a:t>，成为潜在而反复的论述中的一项</a:t>
            </a:r>
            <a:endParaRPr lang="en-US" altLang="zh-CN" sz="2800" dirty="0">
              <a:solidFill>
                <a:srgbClr val="660033"/>
              </a:solidFill>
            </a:endParaRPr>
          </a:p>
          <a:p>
            <a:r>
              <a:rPr lang="zh-CN" altLang="en-US" sz="2800" dirty="0">
                <a:solidFill>
                  <a:srgbClr val="660033"/>
                </a:solidFill>
              </a:rPr>
              <a:t>物品的论述体系和习惯有同构对应的关系</a:t>
            </a:r>
            <a:endParaRPr lang="en-US" altLang="zh-CN" sz="2800" dirty="0">
              <a:solidFill>
                <a:srgbClr val="660033"/>
              </a:solidFill>
            </a:endParaRPr>
          </a:p>
          <a:p>
            <a:r>
              <a:rPr lang="zh-CN" altLang="en-US" sz="2800" b="1" dirty="0">
                <a:solidFill>
                  <a:srgbClr val="660033"/>
                </a:solidFill>
              </a:rPr>
              <a:t>习惯</a:t>
            </a:r>
            <a:r>
              <a:rPr lang="zh-CN" altLang="en-US" sz="2800" dirty="0">
                <a:solidFill>
                  <a:srgbClr val="660033"/>
                </a:solidFill>
              </a:rPr>
              <a:t>是将时间分割为“习惯”的图式，把时间变为个人化的分割</a:t>
            </a:r>
            <a:endParaRPr lang="en-US" altLang="zh-CN" sz="2800" dirty="0">
              <a:solidFill>
                <a:srgbClr val="660033"/>
              </a:solidFill>
            </a:endParaRPr>
          </a:p>
          <a:p>
            <a:r>
              <a:rPr lang="zh-CN" altLang="en-US" sz="2800" dirty="0">
                <a:solidFill>
                  <a:srgbClr val="660033"/>
                </a:solidFill>
              </a:rPr>
              <a:t>物品通过生存意义抽象化而占有了时间</a:t>
            </a:r>
            <a:endParaRPr lang="en-US" altLang="zh-CN" sz="2800" dirty="0">
              <a:solidFill>
                <a:srgbClr val="660033"/>
              </a:solidFill>
            </a:endParaRPr>
          </a:p>
        </p:txBody>
      </p:sp>
    </p:spTree>
    <p:extLst>
      <p:ext uri="{BB962C8B-B14F-4D97-AF65-F5344CB8AC3E}">
        <p14:creationId xmlns:p14="http://schemas.microsoft.com/office/powerpoint/2010/main" val="297501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dirty="0">
                <a:solidFill>
                  <a:srgbClr val="C00000"/>
                </a:solidFill>
              </a:rPr>
              <a:t>案例：以时间为例</a:t>
            </a:r>
            <a:r>
              <a:rPr lang="en-US" altLang="zh-CN" sz="1200" dirty="0">
                <a:solidFill>
                  <a:srgbClr val="C00000"/>
                </a:solidFill>
              </a:rPr>
              <a:t>p108-109</a:t>
            </a:r>
            <a:r>
              <a:rPr lang="en-US" altLang="zh-CN" sz="4000" dirty="0">
                <a:solidFill>
                  <a:srgbClr val="C00000"/>
                </a:solidFill>
              </a:rPr>
              <a:t>-</a:t>
            </a:r>
            <a:r>
              <a:rPr lang="zh-CN" altLang="en-US" sz="2800" dirty="0">
                <a:solidFill>
                  <a:srgbClr val="C00000"/>
                </a:solidFill>
              </a:rPr>
              <a:t>混沌到可计量</a:t>
            </a:r>
          </a:p>
        </p:txBody>
      </p:sp>
      <p:sp>
        <p:nvSpPr>
          <p:cNvPr id="3" name="内容占位符 2"/>
          <p:cNvSpPr>
            <a:spLocks noGrp="1"/>
          </p:cNvSpPr>
          <p:nvPr>
            <p:ph idx="1"/>
          </p:nvPr>
        </p:nvSpPr>
        <p:spPr/>
        <p:txBody>
          <a:bodyPr/>
          <a:lstStyle/>
          <a:p>
            <a:r>
              <a:rPr lang="zh-CN" altLang="en-US" sz="2400" dirty="0">
                <a:solidFill>
                  <a:srgbClr val="660033"/>
                </a:solidFill>
              </a:rPr>
              <a:t>时间的连续性被分割为一天</a:t>
            </a:r>
            <a:r>
              <a:rPr lang="en-US" altLang="zh-CN" sz="2400" dirty="0">
                <a:solidFill>
                  <a:srgbClr val="660033"/>
                </a:solidFill>
              </a:rPr>
              <a:t>24</a:t>
            </a:r>
            <a:r>
              <a:rPr lang="zh-CN" altLang="en-US" sz="2400" dirty="0">
                <a:solidFill>
                  <a:srgbClr val="660033"/>
                </a:solidFill>
              </a:rPr>
              <a:t>小时、一小时</a:t>
            </a:r>
            <a:r>
              <a:rPr lang="en-US" altLang="zh-CN" sz="2400" dirty="0">
                <a:solidFill>
                  <a:srgbClr val="660033"/>
                </a:solidFill>
              </a:rPr>
              <a:t>60</a:t>
            </a:r>
            <a:r>
              <a:rPr lang="zh-CN" altLang="en-US" sz="2400" dirty="0">
                <a:solidFill>
                  <a:srgbClr val="660033"/>
                </a:solidFill>
              </a:rPr>
              <a:t>分钟、一分钟分</a:t>
            </a:r>
            <a:r>
              <a:rPr lang="en-US" altLang="zh-CN" sz="2400" dirty="0">
                <a:solidFill>
                  <a:srgbClr val="660033"/>
                </a:solidFill>
              </a:rPr>
              <a:t>60</a:t>
            </a:r>
            <a:r>
              <a:rPr lang="zh-CN" altLang="en-US" sz="2400" dirty="0">
                <a:solidFill>
                  <a:srgbClr val="660033"/>
                </a:solidFill>
              </a:rPr>
              <a:t>秒</a:t>
            </a:r>
            <a:endParaRPr lang="en-US" altLang="zh-CN" sz="2400" dirty="0">
              <a:solidFill>
                <a:srgbClr val="660033"/>
              </a:solidFill>
            </a:endParaRPr>
          </a:p>
          <a:p>
            <a:r>
              <a:rPr lang="zh-CN" altLang="en-US" sz="2400" dirty="0">
                <a:solidFill>
                  <a:srgbClr val="660033"/>
                </a:solidFill>
              </a:rPr>
              <a:t>以轮回的方式经历一个又一个</a:t>
            </a:r>
            <a:r>
              <a:rPr lang="en-US" altLang="zh-CN" sz="2400" dirty="0">
                <a:solidFill>
                  <a:srgbClr val="660033"/>
                </a:solidFill>
              </a:rPr>
              <a:t>60</a:t>
            </a:r>
            <a:r>
              <a:rPr lang="zh-CN" altLang="en-US" sz="2400" dirty="0">
                <a:solidFill>
                  <a:srgbClr val="660033"/>
                </a:solidFill>
              </a:rPr>
              <a:t>秒和</a:t>
            </a:r>
            <a:r>
              <a:rPr lang="en-US" altLang="zh-CN" sz="2400" dirty="0">
                <a:solidFill>
                  <a:srgbClr val="660033"/>
                </a:solidFill>
              </a:rPr>
              <a:t>60</a:t>
            </a:r>
            <a:r>
              <a:rPr lang="zh-CN" altLang="en-US" sz="2400" dirty="0">
                <a:solidFill>
                  <a:srgbClr val="660033"/>
                </a:solidFill>
              </a:rPr>
              <a:t>分钟以及</a:t>
            </a:r>
            <a:r>
              <a:rPr lang="en-US" altLang="zh-CN" sz="2400" dirty="0">
                <a:solidFill>
                  <a:srgbClr val="660033"/>
                </a:solidFill>
              </a:rPr>
              <a:t>24</a:t>
            </a:r>
            <a:r>
              <a:rPr lang="zh-CN" altLang="en-US" sz="2400" dirty="0">
                <a:solidFill>
                  <a:srgbClr val="660033"/>
                </a:solidFill>
              </a:rPr>
              <a:t>小时</a:t>
            </a:r>
            <a:endParaRPr lang="en-US" altLang="zh-CN" sz="2400" dirty="0">
              <a:solidFill>
                <a:srgbClr val="660033"/>
              </a:solidFill>
            </a:endParaRPr>
          </a:p>
          <a:p>
            <a:r>
              <a:rPr lang="zh-CN" altLang="en-US" sz="2400" dirty="0">
                <a:solidFill>
                  <a:srgbClr val="660033"/>
                </a:solidFill>
              </a:rPr>
              <a:t>手表报告客观时间（人将时间客观性的对象化）</a:t>
            </a:r>
            <a:endParaRPr lang="en-US" altLang="zh-CN" sz="2400" dirty="0">
              <a:solidFill>
                <a:srgbClr val="660033"/>
              </a:solidFill>
            </a:endParaRPr>
          </a:p>
          <a:p>
            <a:r>
              <a:rPr lang="zh-CN" altLang="en-US" sz="2400" b="1" dirty="0">
                <a:solidFill>
                  <a:srgbClr val="660033"/>
                </a:solidFill>
              </a:rPr>
              <a:t>把时间化为如同习惯般不连续性及分类，划入和空间中的管理摆设相同的连结限制中</a:t>
            </a:r>
            <a:endParaRPr lang="en-US" altLang="zh-CN" sz="2400" b="1" dirty="0">
              <a:solidFill>
                <a:srgbClr val="660033"/>
              </a:solidFill>
            </a:endParaRPr>
          </a:p>
          <a:p>
            <a:r>
              <a:rPr lang="zh-CN" altLang="en-US" sz="2400" dirty="0">
                <a:solidFill>
                  <a:srgbClr val="660033"/>
                </a:solidFill>
              </a:rPr>
              <a:t>手表将时间物化为一个对象，使它成为可以被占有、被消耗的事物</a:t>
            </a:r>
            <a:endParaRPr lang="en-US" altLang="zh-CN" sz="2400" dirty="0">
              <a:solidFill>
                <a:srgbClr val="660033"/>
              </a:solidFill>
            </a:endParaRPr>
          </a:p>
          <a:p>
            <a:r>
              <a:rPr lang="zh-CN" altLang="en-US" sz="2400" u="sng" dirty="0">
                <a:solidFill>
                  <a:srgbClr val="660033"/>
                </a:solidFill>
              </a:rPr>
              <a:t>透过手表，时间成为可计量和可计划之物</a:t>
            </a:r>
            <a:endParaRPr lang="en-US" altLang="zh-CN" sz="2400" u="sng" dirty="0">
              <a:solidFill>
                <a:srgbClr val="660033"/>
              </a:solidFill>
            </a:endParaRPr>
          </a:p>
          <a:p>
            <a:endParaRPr lang="zh-CN" altLang="en-US" sz="2400" dirty="0">
              <a:solidFill>
                <a:srgbClr val="660033"/>
              </a:solidFill>
            </a:endParaRPr>
          </a:p>
        </p:txBody>
      </p:sp>
    </p:spTree>
    <p:extLst>
      <p:ext uri="{BB962C8B-B14F-4D97-AF65-F5344CB8AC3E}">
        <p14:creationId xmlns:p14="http://schemas.microsoft.com/office/powerpoint/2010/main" val="40204846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457051" lvl="0" indent="-457051">
              <a:spcBef>
                <a:spcPct val="20000"/>
              </a:spcBef>
            </a:pPr>
            <a:r>
              <a:rPr lang="zh-CN" altLang="en-US" sz="3600" dirty="0">
                <a:solidFill>
                  <a:schemeClr val="tx1"/>
                </a:solidFill>
                <a:cs typeface="+mn-cs"/>
              </a:rPr>
              <a:t>物品的论述体系和“习惯”有同构对应的关系</a:t>
            </a:r>
            <a:endParaRPr lang="zh-CN" altLang="en-US" sz="3600" dirty="0">
              <a:solidFill>
                <a:schemeClr val="tx1"/>
              </a:solidFill>
            </a:endParaRPr>
          </a:p>
        </p:txBody>
      </p:sp>
      <p:sp>
        <p:nvSpPr>
          <p:cNvPr id="3" name="内容占位符 2"/>
          <p:cNvSpPr>
            <a:spLocks noGrp="1"/>
          </p:cNvSpPr>
          <p:nvPr>
            <p:ph idx="1"/>
          </p:nvPr>
        </p:nvSpPr>
        <p:spPr>
          <a:xfrm>
            <a:off x="308473" y="1600694"/>
            <a:ext cx="11666862" cy="4524714"/>
          </a:xfrm>
        </p:spPr>
        <p:txBody>
          <a:bodyPr/>
          <a:lstStyle/>
          <a:p>
            <a:pPr lvl="0"/>
            <a:endParaRPr lang="en-US" altLang="zh-CN" sz="2400" dirty="0">
              <a:solidFill>
                <a:srgbClr val="000000"/>
              </a:solidFill>
            </a:endParaRPr>
          </a:p>
          <a:p>
            <a:pPr lvl="0"/>
            <a:r>
              <a:rPr lang="zh-CN" altLang="en-US" sz="2400" dirty="0">
                <a:solidFill>
                  <a:srgbClr val="660033"/>
                </a:solidFill>
              </a:rPr>
              <a:t>将物品整合到不连续的系列中，正如将时间分割</a:t>
            </a:r>
            <a:r>
              <a:rPr lang="zh-CN" altLang="en-US" sz="1400" dirty="0">
                <a:solidFill>
                  <a:srgbClr val="660033"/>
                </a:solidFill>
              </a:rPr>
              <a:t>（“物”化约进需要的情感，被对象化）</a:t>
            </a:r>
            <a:endParaRPr lang="en-US" altLang="zh-CN" sz="1400" dirty="0">
              <a:solidFill>
                <a:srgbClr val="660033"/>
              </a:solidFill>
            </a:endParaRPr>
          </a:p>
          <a:p>
            <a:pPr lvl="0"/>
            <a:r>
              <a:rPr lang="zh-CN" altLang="en-US" sz="2400" dirty="0">
                <a:solidFill>
                  <a:srgbClr val="660033"/>
                </a:solidFill>
              </a:rPr>
              <a:t>系列并非自然的组合，而是人为的进行分类和逆转、反复的操作</a:t>
            </a:r>
            <a:r>
              <a:rPr lang="zh-CN" altLang="en-US" sz="1400" dirty="0">
                <a:solidFill>
                  <a:srgbClr val="660033"/>
                </a:solidFill>
              </a:rPr>
              <a:t>（符合互相指涉和论述）</a:t>
            </a:r>
            <a:endParaRPr lang="en-US" altLang="zh-CN" sz="1400" dirty="0">
              <a:solidFill>
                <a:srgbClr val="660033"/>
              </a:solidFill>
            </a:endParaRPr>
          </a:p>
          <a:p>
            <a:pPr lvl="0"/>
            <a:r>
              <a:rPr lang="zh-CN" altLang="en-US" sz="2400" b="1" dirty="0">
                <a:solidFill>
                  <a:srgbClr val="660033"/>
                </a:solidFill>
              </a:rPr>
              <a:t>整合入不连续的系列，物才符合人的意图，才能真正的被配置和拥有</a:t>
            </a:r>
            <a:endParaRPr lang="en-US" altLang="zh-CN" sz="2400" b="1" dirty="0">
              <a:solidFill>
                <a:srgbClr val="660033"/>
              </a:solidFill>
            </a:endParaRPr>
          </a:p>
          <a:p>
            <a:pPr lvl="0"/>
            <a:r>
              <a:rPr lang="zh-CN" altLang="en-US" sz="2400" dirty="0">
                <a:solidFill>
                  <a:srgbClr val="660033"/>
                </a:solidFill>
              </a:rPr>
              <a:t>在世界不可逆转的流变和“我们”之间介入一小部分属于我们的世界</a:t>
            </a:r>
            <a:endParaRPr lang="en-US" altLang="zh-CN" sz="2400" dirty="0">
              <a:solidFill>
                <a:srgbClr val="660033"/>
              </a:solidFill>
            </a:endParaRPr>
          </a:p>
          <a:p>
            <a:pPr lvl="0"/>
            <a:r>
              <a:rPr lang="zh-CN" altLang="en-US" sz="2400" dirty="0">
                <a:solidFill>
                  <a:srgbClr val="660033"/>
                </a:solidFill>
              </a:rPr>
              <a:t>物不但被整合在工具的系列中帮助人主宰世界，也被整合入心智上的系列，</a:t>
            </a:r>
            <a:r>
              <a:rPr lang="zh-CN" altLang="en-US" sz="2400" dirty="0"/>
              <a:t>可以帮助人主宰时间</a:t>
            </a:r>
            <a:r>
              <a:rPr lang="zh-CN" altLang="en-US" sz="1400" dirty="0"/>
              <a:t>（</a:t>
            </a:r>
            <a:r>
              <a:rPr lang="en-US" altLang="zh-CN" sz="1400" dirty="0"/>
              <a:t>2022</a:t>
            </a:r>
            <a:r>
              <a:rPr lang="zh-CN" altLang="en-US" sz="1400" dirty="0"/>
              <a:t>年冬奥会“谷爱凌同款”、</a:t>
            </a:r>
            <a:r>
              <a:rPr lang="en-US" altLang="zh-CN" sz="1400" dirty="0"/>
              <a:t>2024</a:t>
            </a:r>
            <a:r>
              <a:rPr lang="zh-CN" altLang="en-US" sz="1400" dirty="0"/>
              <a:t>奥运会网球公主）</a:t>
            </a:r>
            <a:endParaRPr lang="en-US" altLang="zh-CN" sz="1400" dirty="0"/>
          </a:p>
          <a:p>
            <a:pPr marL="0" lvl="0" indent="0">
              <a:buNone/>
            </a:pPr>
            <a:r>
              <a:rPr lang="en-US" altLang="zh-CN" sz="2400" dirty="0"/>
              <a:t>                                                                                                             </a:t>
            </a:r>
          </a:p>
        </p:txBody>
      </p:sp>
    </p:spTree>
    <p:extLst>
      <p:ext uri="{BB962C8B-B14F-4D97-AF65-F5344CB8AC3E}">
        <p14:creationId xmlns:p14="http://schemas.microsoft.com/office/powerpoint/2010/main" val="12816655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507140" y="90092"/>
            <a:ext cx="3952027" cy="2964020"/>
          </a:xfrm>
          <a:prstGeom prst="rect">
            <a:avLst/>
          </a:prstGeom>
        </p:spPr>
      </p:pic>
      <p:pic>
        <p:nvPicPr>
          <p:cNvPr id="6" name="图片 5"/>
          <p:cNvPicPr>
            <a:picLocks noChangeAspect="1"/>
          </p:cNvPicPr>
          <p:nvPr/>
        </p:nvPicPr>
        <p:blipFill>
          <a:blip r:embed="rId3"/>
          <a:stretch>
            <a:fillRect/>
          </a:stretch>
        </p:blipFill>
        <p:spPr>
          <a:xfrm>
            <a:off x="315688" y="3144203"/>
            <a:ext cx="4781973" cy="3586480"/>
          </a:xfrm>
          <a:prstGeom prst="rect">
            <a:avLst/>
          </a:prstGeom>
        </p:spPr>
      </p:pic>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42955" y="3362643"/>
            <a:ext cx="4511885" cy="3383914"/>
          </a:xfrm>
          <a:prstGeom prst="rect">
            <a:avLst/>
          </a:prstGeom>
        </p:spPr>
      </p:pic>
      <p:pic>
        <p:nvPicPr>
          <p:cNvPr id="4" name="内容占位符 3"/>
          <p:cNvPicPr>
            <a:picLocks noGrp="1" noChangeAspect="1"/>
          </p:cNvPicPr>
          <p:nvPr>
            <p:ph idx="1"/>
          </p:nvPr>
        </p:nvPicPr>
        <p:blipFill>
          <a:blip r:embed="rId5"/>
          <a:stretch>
            <a:fillRect/>
          </a:stretch>
        </p:blipFill>
        <p:spPr>
          <a:xfrm>
            <a:off x="4459167" y="90092"/>
            <a:ext cx="3790950" cy="5054600"/>
          </a:xfrm>
          <a:prstGeom prst="rect">
            <a:avLst/>
          </a:prstGeom>
        </p:spPr>
      </p:pic>
      <p:sp>
        <p:nvSpPr>
          <p:cNvPr id="8" name="文本框 7"/>
          <p:cNvSpPr txBox="1"/>
          <p:nvPr/>
        </p:nvSpPr>
        <p:spPr>
          <a:xfrm>
            <a:off x="8267606" y="803038"/>
            <a:ext cx="3787234" cy="1200329"/>
          </a:xfrm>
          <a:prstGeom prst="rect">
            <a:avLst/>
          </a:prstGeom>
          <a:noFill/>
        </p:spPr>
        <p:txBody>
          <a:bodyPr wrap="square" rtlCol="0">
            <a:spAutoFit/>
          </a:bodyPr>
          <a:lstStyle/>
          <a:p>
            <a:pPr algn="ctr"/>
            <a:r>
              <a:rPr lang="zh-CN" altLang="en-US" dirty="0"/>
              <a:t>围绕事件的物</a:t>
            </a:r>
            <a:endParaRPr lang="en-US" altLang="zh-CN" dirty="0"/>
          </a:p>
          <a:p>
            <a:pPr algn="ctr"/>
            <a:r>
              <a:rPr lang="zh-CN" altLang="en-US" dirty="0"/>
              <a:t>物的搜集和留存</a:t>
            </a:r>
            <a:endParaRPr lang="en-US" altLang="zh-CN" dirty="0"/>
          </a:p>
          <a:p>
            <a:pPr algn="ctr"/>
            <a:r>
              <a:rPr lang="zh-CN" altLang="en-US" dirty="0"/>
              <a:t>由此建立的系列和连接</a:t>
            </a:r>
            <a:endParaRPr lang="en-US" altLang="zh-CN" dirty="0"/>
          </a:p>
          <a:p>
            <a:pPr algn="ctr"/>
            <a:r>
              <a:rPr lang="zh-CN" altLang="en-US" dirty="0"/>
              <a:t>首钢拥有了</a:t>
            </a:r>
            <a:r>
              <a:rPr lang="en-US" altLang="zh-CN" dirty="0"/>
              <a:t>2022</a:t>
            </a:r>
            <a:r>
              <a:rPr lang="zh-CN" altLang="en-US" dirty="0"/>
              <a:t>冬运会</a:t>
            </a:r>
          </a:p>
        </p:txBody>
      </p:sp>
    </p:spTree>
    <p:extLst>
      <p:ext uri="{BB962C8B-B14F-4D97-AF65-F5344CB8AC3E}">
        <p14:creationId xmlns:p14="http://schemas.microsoft.com/office/powerpoint/2010/main" val="26081659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15C1D5-291B-25E1-FFD1-F13A0A7F1FF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6159379-273C-71B1-6BA6-CC3EA39A66C0}"/>
              </a:ext>
            </a:extLst>
          </p:cNvPr>
          <p:cNvSpPr>
            <a:spLocks noGrp="1"/>
          </p:cNvSpPr>
          <p:nvPr>
            <p:ph idx="1"/>
          </p:nvPr>
        </p:nvSpPr>
        <p:spPr>
          <a:xfrm>
            <a:off x="838200" y="1825625"/>
            <a:ext cx="10815796" cy="4351338"/>
          </a:xfrm>
        </p:spPr>
        <p:txBody>
          <a:bodyPr/>
          <a:lstStyle/>
          <a:p>
            <a:endParaRPr lang="en-US" altLang="zh-CN" sz="2800" dirty="0">
              <a:solidFill>
                <a:srgbClr val="660033"/>
              </a:solidFill>
              <a:latin typeface="宋体" panose="02010600030101010101" pitchFamily="2" charset="-122"/>
              <a:ea typeface="宋体" panose="02010600030101010101" pitchFamily="2" charset="-122"/>
            </a:endParaRPr>
          </a:p>
          <a:p>
            <a:r>
              <a:rPr lang="zh-CN" altLang="en-US" sz="2800" dirty="0">
                <a:solidFill>
                  <a:srgbClr val="660033"/>
                </a:solidFill>
                <a:latin typeface="宋体" panose="02010600030101010101" pitchFamily="2" charset="-122"/>
                <a:ea typeface="宋体" panose="02010600030101010101" pitchFamily="2" charset="-122"/>
              </a:rPr>
              <a:t>私人物品组成的环境和对物品的拥有</a:t>
            </a:r>
            <a:r>
              <a:rPr lang="en-US" altLang="zh-CN" sz="2800" dirty="0">
                <a:solidFill>
                  <a:srgbClr val="660033"/>
                </a:solidFill>
                <a:latin typeface="宋体" panose="02010600030101010101" pitchFamily="2" charset="-122"/>
                <a:ea typeface="宋体" panose="02010600030101010101" pitchFamily="2" charset="-122"/>
              </a:rPr>
              <a:t>——</a:t>
            </a:r>
            <a:r>
              <a:rPr lang="zh-CN" altLang="en-US" sz="2800" dirty="0">
                <a:solidFill>
                  <a:srgbClr val="660033"/>
                </a:solidFill>
                <a:latin typeface="宋体" panose="02010600030101010101" pitchFamily="2" charset="-122"/>
                <a:ea typeface="宋体" panose="02010600030101010101" pitchFamily="2" charset="-122"/>
              </a:rPr>
              <a:t>收藏乃是极端表现</a:t>
            </a:r>
            <a:endParaRPr lang="en-US" altLang="zh-CN" sz="2800" dirty="0">
              <a:solidFill>
                <a:srgbClr val="660033"/>
              </a:solidFill>
              <a:latin typeface="宋体" panose="02010600030101010101" pitchFamily="2" charset="-122"/>
              <a:ea typeface="宋体" panose="02010600030101010101" pitchFamily="2" charset="-122"/>
            </a:endParaRPr>
          </a:p>
          <a:p>
            <a:r>
              <a:rPr lang="zh-CN" altLang="en-US" sz="2800" dirty="0">
                <a:solidFill>
                  <a:srgbClr val="660033"/>
                </a:solidFill>
                <a:latin typeface="宋体" panose="02010600030101010101" pitchFamily="2" charset="-122"/>
                <a:ea typeface="宋体" panose="02010600030101010101" pitchFamily="2" charset="-122"/>
              </a:rPr>
              <a:t>通过收藏，时间被客体化和对象化</a:t>
            </a:r>
            <a:endParaRPr lang="en-US" altLang="zh-CN" sz="2800" dirty="0">
              <a:solidFill>
                <a:srgbClr val="660033"/>
              </a:solidFill>
              <a:latin typeface="宋体" panose="02010600030101010101" pitchFamily="2" charset="-122"/>
              <a:ea typeface="宋体" panose="02010600030101010101" pitchFamily="2" charset="-122"/>
            </a:endParaRPr>
          </a:p>
          <a:p>
            <a:r>
              <a:rPr lang="zh-CN" altLang="en-US" sz="2800" dirty="0">
                <a:solidFill>
                  <a:srgbClr val="660033"/>
                </a:solidFill>
                <a:latin typeface="宋体" panose="02010600030101010101" pitchFamily="2" charset="-122"/>
                <a:ea typeface="宋体" panose="02010600030101010101" pitchFamily="2" charset="-122"/>
              </a:rPr>
              <a:t>人不能生活在绝对的独特性中，也不能生活在时间的不可逆转性中</a:t>
            </a:r>
            <a:r>
              <a:rPr lang="en-US" altLang="zh-CN" sz="1600" dirty="0">
                <a:solidFill>
                  <a:srgbClr val="660033"/>
                </a:solidFill>
                <a:latin typeface="宋体" panose="02010600030101010101" pitchFamily="2" charset="-122"/>
                <a:ea typeface="宋体" panose="02010600030101010101" pitchFamily="2" charset="-122"/>
              </a:rPr>
              <a:t>(</a:t>
            </a:r>
            <a:r>
              <a:rPr lang="zh-CN" altLang="en-US" sz="1600" dirty="0">
                <a:solidFill>
                  <a:srgbClr val="660033"/>
                </a:solidFill>
                <a:latin typeface="宋体" panose="02010600030101010101" pitchFamily="2" charset="-122"/>
                <a:ea typeface="宋体" panose="02010600030101010101" pitchFamily="2" charset="-122"/>
              </a:rPr>
              <a:t>人的恐惧</a:t>
            </a:r>
            <a:r>
              <a:rPr lang="en-US" altLang="zh-CN" sz="1600" dirty="0">
                <a:solidFill>
                  <a:srgbClr val="660033"/>
                </a:solidFill>
                <a:latin typeface="宋体" panose="02010600030101010101" pitchFamily="2" charset="-122"/>
                <a:ea typeface="宋体" panose="02010600030101010101" pitchFamily="2" charset="-122"/>
              </a:rPr>
              <a:t>)</a:t>
            </a:r>
          </a:p>
          <a:p>
            <a:endParaRPr lang="zh-CN" altLang="en-US" dirty="0"/>
          </a:p>
        </p:txBody>
      </p:sp>
    </p:spTree>
    <p:extLst>
      <p:ext uri="{BB962C8B-B14F-4D97-AF65-F5344CB8AC3E}">
        <p14:creationId xmlns:p14="http://schemas.microsoft.com/office/powerpoint/2010/main" val="25053171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0000"/>
                </a:solidFill>
              </a:rPr>
              <a:t>收藏超越时间</a:t>
            </a:r>
          </a:p>
        </p:txBody>
      </p:sp>
      <p:sp>
        <p:nvSpPr>
          <p:cNvPr id="3" name="内容占位符 2"/>
          <p:cNvSpPr>
            <a:spLocks noGrp="1"/>
          </p:cNvSpPr>
          <p:nvPr>
            <p:ph idx="1"/>
          </p:nvPr>
        </p:nvSpPr>
        <p:spPr/>
        <p:txBody>
          <a:bodyPr/>
          <a:lstStyle/>
          <a:p>
            <a:pPr algn="just">
              <a:spcAft>
                <a:spcPts val="0"/>
              </a:spcAft>
            </a:pPr>
            <a:r>
              <a:rPr lang="zh-CN" altLang="en-US"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系统反复性</a:t>
            </a: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en-US"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对当下的时间失去感觉</a:t>
            </a:r>
            <a:r>
              <a:rPr lang="zh-CN" altLang="en-US" sz="18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无法回溯</a:t>
            </a:r>
            <a:endParaRPr lang="zh-CN" altLang="zh-CN" sz="18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收藏的组织活动本身取代了时间</a:t>
            </a:r>
            <a:endParaRPr lang="zh-CN" altLang="zh-CN" sz="20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将真实的时间消融于一个系统反复的维度之中</a:t>
            </a:r>
            <a:endParaRPr lang="zh-CN" altLang="zh-CN" sz="20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收藏最首要的意义</a:t>
            </a:r>
            <a:r>
              <a:rPr lang="en-US"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杀时间的消遣</a:t>
            </a:r>
            <a:r>
              <a:rPr lang="en-US" altLang="zh-CN"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en-US" sz="1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消除流逝</a:t>
            </a:r>
            <a:endParaRPr lang="en-US" altLang="zh-CN" sz="1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en-US"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rPr>
              <a:t>收藏象征了一个被引导的周期的永恒更始</a:t>
            </a:r>
            <a:endParaRPr lang="en-US" altLang="zh-CN" kern="100" dirty="0">
              <a:solidFill>
                <a:srgbClr val="660033"/>
              </a:solidFill>
              <a:latin typeface="华文宋体" panose="02010600040101010101" pitchFamily="2" charset="-122"/>
              <a:ea typeface="宋体" panose="02010600030101010101" pitchFamily="2" charset="-122"/>
              <a:cs typeface="Times New Roman" panose="02020603050405020304" pitchFamily="18" charset="0"/>
            </a:endParaRPr>
          </a:p>
          <a:p>
            <a:pPr algn="just">
              <a:spcAft>
                <a:spcPts val="0"/>
              </a:spcAft>
            </a:pPr>
            <a:endParaRPr lang="zh-CN" altLang="zh-CN" sz="20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87702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38199" y="5514181"/>
            <a:ext cx="10515600" cy="1325563"/>
          </a:xfrm>
        </p:spPr>
        <p:txBody>
          <a:bodyPr>
            <a:normAutofit/>
          </a:bodyPr>
          <a:lstStyle/>
          <a:p>
            <a:r>
              <a:rPr lang="zh-CN" altLang="en-US" sz="1600" dirty="0"/>
              <a:t>收藏：每一个都有记忆和时间、每一个都构成了呼应（对话和摆弄）、老年后可以通过重复这一行为回到童年</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719943" y="541111"/>
            <a:ext cx="7488084" cy="5271924"/>
          </a:xfrm>
        </p:spPr>
      </p:pic>
    </p:spTree>
    <p:extLst>
      <p:ext uri="{BB962C8B-B14F-4D97-AF65-F5344CB8AC3E}">
        <p14:creationId xmlns:p14="http://schemas.microsoft.com/office/powerpoint/2010/main" val="8542846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逃避：时间和死亡焦虑 </a:t>
            </a:r>
            <a:r>
              <a:rPr lang="zh-CN" altLang="en-US" sz="1400" dirty="0">
                <a:solidFill>
                  <a:srgbClr val="C00000"/>
                </a:solidFill>
              </a:rPr>
              <a:t>演唱会</a:t>
            </a:r>
          </a:p>
        </p:txBody>
      </p:sp>
      <p:sp>
        <p:nvSpPr>
          <p:cNvPr id="3" name="内容占位符 2"/>
          <p:cNvSpPr>
            <a:spLocks noGrp="1"/>
          </p:cNvSpPr>
          <p:nvPr>
            <p:ph idx="1"/>
          </p:nvPr>
        </p:nvSpPr>
        <p:spPr/>
        <p:txBody>
          <a:bodyPr>
            <a:normAutofit/>
          </a:bodyPr>
          <a:lstStyle/>
          <a:p>
            <a:r>
              <a:rPr lang="zh-CN" altLang="en-US" sz="2400" dirty="0">
                <a:solidFill>
                  <a:srgbClr val="660033"/>
                </a:solidFill>
                <a:latin typeface="宋体" panose="02010600030101010101" pitchFamily="2" charset="-122"/>
                <a:ea typeface="宋体" panose="02010600030101010101" pitchFamily="2" charset="-122"/>
              </a:rPr>
              <a:t>物品帮助人消解的，便是由出生迈向死亡、无法逆转的进程</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FF0000"/>
                </a:solidFill>
                <a:latin typeface="宋体" panose="02010600030101010101" pitchFamily="2" charset="-122"/>
                <a:ea typeface="宋体" panose="02010600030101010101" pitchFamily="2" charset="-122"/>
              </a:rPr>
              <a:t>物的体系中，进行复杂的生死“再循环”</a:t>
            </a:r>
            <a:r>
              <a:rPr lang="zh-CN" altLang="en-US" sz="1600" dirty="0">
                <a:solidFill>
                  <a:srgbClr val="FF0000"/>
                </a:solidFill>
                <a:latin typeface="宋体" panose="02010600030101010101" pitchFamily="2" charset="-122"/>
                <a:ea typeface="宋体" panose="02010600030101010101" pitchFamily="2" charset="-122"/>
              </a:rPr>
              <a:t>（宗教）</a:t>
            </a:r>
            <a:r>
              <a:rPr lang="en-US" altLang="zh-CN" sz="1600" dirty="0">
                <a:solidFill>
                  <a:srgbClr val="FF0000"/>
                </a:solidFill>
                <a:latin typeface="宋体" panose="02010600030101010101" pitchFamily="2" charset="-122"/>
                <a:ea typeface="宋体" panose="02010600030101010101" pitchFamily="2" charset="-122"/>
              </a:rPr>
              <a:t>P111</a:t>
            </a:r>
          </a:p>
          <a:p>
            <a:pPr lvl="0"/>
            <a:r>
              <a:rPr lang="zh-CN" altLang="en-US" sz="2400" dirty="0">
                <a:solidFill>
                  <a:srgbClr val="660033"/>
                </a:solidFill>
                <a:latin typeface="宋体" panose="02010600030101010101" pitchFamily="2" charset="-122"/>
                <a:ea typeface="宋体" panose="02010600030101010101" pitchFamily="2" charset="-122"/>
              </a:rPr>
              <a:t>人在物身上找到的是不停地在每一个“现在”以循环和控制的模式来生活</a:t>
            </a:r>
            <a:endParaRPr lang="en-US" altLang="zh-CN" sz="2400" dirty="0">
              <a:solidFill>
                <a:srgbClr val="660033"/>
              </a:solidFill>
              <a:latin typeface="宋体" panose="02010600030101010101" pitchFamily="2" charset="-122"/>
              <a:ea typeface="宋体" panose="02010600030101010101" pitchFamily="2" charset="-122"/>
            </a:endParaRPr>
          </a:p>
          <a:p>
            <a:pPr lvl="0"/>
            <a:r>
              <a:rPr lang="zh-CN" altLang="en-US" sz="2400" dirty="0">
                <a:solidFill>
                  <a:srgbClr val="660033"/>
                </a:solidFill>
                <a:latin typeface="宋体" panose="02010600030101010101" pitchFamily="2" charset="-122"/>
                <a:ea typeface="宋体" panose="02010600030101010101" pitchFamily="2" charset="-122"/>
              </a:rPr>
              <a:t>以操纵符号的方式来超越真实的存在</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真实存在：不可逆转的时间</a:t>
            </a:r>
            <a:r>
              <a:rPr lang="en-US" altLang="zh-CN" sz="2400" dirty="0">
                <a:solidFill>
                  <a:srgbClr val="660033"/>
                </a:solidFill>
                <a:latin typeface="宋体" panose="02010600030101010101" pitchFamily="2" charset="-122"/>
                <a:ea typeface="宋体" panose="02010600030101010101" pitchFamily="2" charset="-122"/>
              </a:rPr>
              <a:t>-</a:t>
            </a:r>
            <a:r>
              <a:rPr lang="zh-CN" altLang="en-US" sz="2400" dirty="0">
                <a:solidFill>
                  <a:srgbClr val="660033"/>
                </a:solidFill>
                <a:latin typeface="宋体" panose="02010600030101010101" pitchFamily="2" charset="-122"/>
                <a:ea typeface="宋体" panose="02010600030101010101" pitchFamily="2" charset="-122"/>
              </a:rPr>
              <a:t>偶然发生</a:t>
            </a:r>
            <a:r>
              <a:rPr lang="en-US" altLang="zh-CN" sz="2400" dirty="0">
                <a:solidFill>
                  <a:srgbClr val="660033"/>
                </a:solidFill>
                <a:latin typeface="宋体" panose="02010600030101010101" pitchFamily="2" charset="-122"/>
                <a:ea typeface="宋体" panose="02010600030101010101" pitchFamily="2" charset="-122"/>
              </a:rPr>
              <a:t>-</a:t>
            </a:r>
            <a:r>
              <a:rPr lang="zh-CN" altLang="en-US" sz="2400" dirty="0">
                <a:solidFill>
                  <a:srgbClr val="660033"/>
                </a:solidFill>
                <a:latin typeface="宋体" panose="02010600030101010101" pitchFamily="2" charset="-122"/>
                <a:ea typeface="宋体" panose="02010600030101010101" pitchFamily="2" charset="-122"/>
              </a:rPr>
              <a:t>人的能力范围之外</a:t>
            </a:r>
          </a:p>
          <a:p>
            <a:endParaRPr lang="zh-CN" altLang="en-US" sz="2400" dirty="0">
              <a:solidFill>
                <a:srgbClr val="660033"/>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0972336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228600" lvl="0" indent="-228600" algn="ctr">
              <a:spcBef>
                <a:spcPts val="1000"/>
              </a:spcBef>
            </a:pPr>
            <a:r>
              <a:rPr lang="zh-CN" altLang="zh-CN" sz="36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物品就是我们用来悼亡自我的手段</a:t>
            </a:r>
            <a:endParaRPr lang="zh-CN" altLang="en-US" sz="3600" dirty="0">
              <a:solidFill>
                <a:srgbClr val="660033"/>
              </a:solidFill>
            </a:endParaRPr>
          </a:p>
        </p:txBody>
      </p:sp>
      <p:sp>
        <p:nvSpPr>
          <p:cNvPr id="3" name="内容占位符 2"/>
          <p:cNvSpPr>
            <a:spLocks noGrp="1"/>
          </p:cNvSpPr>
          <p:nvPr>
            <p:ph idx="1"/>
          </p:nvPr>
        </p:nvSpPr>
        <p:spPr>
          <a:xfrm>
            <a:off x="497840" y="1825625"/>
            <a:ext cx="11409680" cy="4351338"/>
          </a:xfrm>
        </p:spPr>
        <p:txBody>
          <a:bodyPr>
            <a:normAutofit/>
          </a:bodyPr>
          <a:lstStyle/>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将它吸收于一个悼亡的运作中</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：消除了“消逝”</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运作</a:t>
            </a:r>
            <a:r>
              <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的是缺席和在此一缺席之再度的出现</a:t>
            </a:r>
            <a:endParaRPr lang="en-US"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endParaRPr>
          </a:p>
          <a:p>
            <a:pPr algn="just">
              <a:spcAft>
                <a:spcPts val="0"/>
              </a:spcAft>
            </a:pP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两者间所形成的持续循环</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a:t>
            </a:r>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人们得以消解缺席和真实的死亡令人焦虑的</a:t>
            </a:r>
            <a:r>
              <a:rPr lang="zh-CN" altLang="en-US"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事件</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2400" kern="100" dirty="0">
                <a:solidFill>
                  <a:srgbClr val="660033"/>
                </a:solidFill>
                <a:latin typeface="华文宋体" panose="02010600040101010101" pitchFamily="2" charset="-122"/>
                <a:ea typeface="宋体" panose="02010600030101010101" pitchFamily="2" charset="-122"/>
                <a:cs typeface="华文宋体" panose="02010600040101010101" pitchFamily="2" charset="-122"/>
              </a:rPr>
              <a:t>收藏便是把死亡本身整合到系列和循环之中</a:t>
            </a:r>
            <a:endParaRPr lang="zh-CN" altLang="zh-CN" sz="2400" kern="100" dirty="0">
              <a:solidFill>
                <a:srgbClr val="660033"/>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557619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a:extLst>
              <a:ext uri="{FF2B5EF4-FFF2-40B4-BE49-F238E27FC236}">
                <a16:creationId xmlns:a16="http://schemas.microsoft.com/office/drawing/2014/main" id="{3C9C2723-D00A-2C3D-CB5A-1A77AB4D13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329" y="0"/>
            <a:ext cx="11899472" cy="6934047"/>
          </a:xfrm>
        </p:spPr>
      </p:pic>
    </p:spTree>
    <p:extLst>
      <p:ext uri="{BB962C8B-B14F-4D97-AF65-F5344CB8AC3E}">
        <p14:creationId xmlns:p14="http://schemas.microsoft.com/office/powerpoint/2010/main" val="8466193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0000"/>
                </a:solidFill>
                <a:latin typeface="宋体" panose="02010600030101010101" pitchFamily="2" charset="-122"/>
                <a:ea typeface="宋体" panose="02010600030101010101" pitchFamily="2" charset="-122"/>
              </a:rPr>
              <a:t>“复古”和“怀旧”</a:t>
            </a:r>
            <a:endParaRPr lang="zh-CN" altLang="en-US" sz="1600" dirty="0">
              <a:solidFill>
                <a:srgbClr val="FF0000"/>
              </a:solidFill>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0" y="1825625"/>
            <a:ext cx="12313920" cy="4351338"/>
          </a:xfrm>
        </p:spPr>
        <p:txBody>
          <a:bodyPr>
            <a:normAutofit/>
          </a:bodyPr>
          <a:lstStyle/>
          <a:p>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古物代表在技术发展的“客观”之外，人对社会时间的回溯需求</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收藏物对应人通过“物”进行的时间定位，符合人需要在时空中“锚定”自身的需要</a:t>
            </a:r>
            <a:r>
              <a:rPr lang="en-US" altLang="zh-CN" sz="2400" dirty="0">
                <a:solidFill>
                  <a:srgbClr val="660033"/>
                </a:solidFill>
                <a:latin typeface="宋体" panose="02010600030101010101" pitchFamily="2" charset="-122"/>
                <a:ea typeface="宋体" panose="02010600030101010101" pitchFamily="2" charset="-122"/>
              </a:rPr>
              <a:t>                   </a:t>
            </a:r>
            <a:r>
              <a:rPr lang="zh-CN" altLang="en-US" sz="2400" dirty="0">
                <a:solidFill>
                  <a:srgbClr val="660033"/>
                </a:solidFill>
                <a:latin typeface="宋体" panose="02010600030101010101" pitchFamily="2" charset="-122"/>
                <a:ea typeface="宋体" panose="02010600030101010101" pitchFamily="2" charset="-122"/>
              </a:rPr>
              <a:t>                       </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“复古”作为时间概念的组合逻辑</a:t>
            </a:r>
            <a:r>
              <a:rPr lang="zh-CN" altLang="en-US" sz="1600" dirty="0">
                <a:solidFill>
                  <a:srgbClr val="660033"/>
                </a:solidFill>
                <a:latin typeface="宋体" panose="02010600030101010101" pitchFamily="2" charset="-122"/>
                <a:ea typeface="宋体" panose="02010600030101010101" pitchFamily="2" charset="-122"/>
              </a:rPr>
              <a:t>（回溯和前进）</a:t>
            </a:r>
            <a:r>
              <a:rPr lang="zh-CN" altLang="en-US" sz="2400" dirty="0">
                <a:solidFill>
                  <a:srgbClr val="660033"/>
                </a:solidFill>
                <a:latin typeface="宋体" panose="02010600030101010101" pitchFamily="2" charset="-122"/>
                <a:ea typeface="宋体" panose="02010600030101010101" pitchFamily="2" charset="-122"/>
              </a:rPr>
              <a:t>为现代性社会提供人为的可回溯性历史</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“怀旧”包含的时间逻辑不仅有回溯，还有通过“物的体系”锚定轮回的历史感</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消费社会快速“死亡”（过时）构成的社会和时代割裂</a:t>
            </a:r>
            <a:r>
              <a:rPr lang="zh-CN" altLang="en-US" sz="1600" dirty="0">
                <a:solidFill>
                  <a:srgbClr val="660033"/>
                </a:solidFill>
                <a:latin typeface="宋体" panose="02010600030101010101" pitchFamily="2" charset="-122"/>
                <a:ea typeface="宋体" panose="02010600030101010101" pitchFamily="2" charset="-122"/>
              </a:rPr>
              <a:t>（去历史），</a:t>
            </a:r>
            <a:r>
              <a:rPr lang="zh-CN" altLang="en-US" sz="2400" dirty="0">
                <a:solidFill>
                  <a:srgbClr val="660033"/>
                </a:solidFill>
                <a:latin typeface="宋体" panose="02010600030101010101" pitchFamily="2" charset="-122"/>
                <a:ea typeface="宋体" panose="02010600030101010101" pitchFamily="2" charset="-122"/>
              </a:rPr>
              <a:t>通过“物”回归</a:t>
            </a:r>
            <a:endParaRPr lang="en-US" altLang="zh-CN" sz="2400" dirty="0">
              <a:solidFill>
                <a:srgbClr val="660033"/>
              </a:solidFill>
              <a:latin typeface="宋体" panose="02010600030101010101" pitchFamily="2" charset="-122"/>
              <a:ea typeface="宋体" panose="02010600030101010101" pitchFamily="2" charset="-122"/>
            </a:endParaRPr>
          </a:p>
          <a:p>
            <a:r>
              <a:rPr lang="zh-CN" altLang="en-US" sz="2400" dirty="0">
                <a:solidFill>
                  <a:srgbClr val="660033"/>
                </a:solidFill>
                <a:latin typeface="宋体" panose="02010600030101010101" pitchFamily="2" charset="-122"/>
                <a:ea typeface="宋体" panose="02010600030101010101" pitchFamily="2" charset="-122"/>
              </a:rPr>
              <a:t>时间和死亡被回收到系统：古物和收藏物（历史感和时间性的量贩）</a:t>
            </a:r>
          </a:p>
        </p:txBody>
      </p:sp>
    </p:spTree>
    <p:extLst>
      <p:ext uri="{BB962C8B-B14F-4D97-AF65-F5344CB8AC3E}">
        <p14:creationId xmlns:p14="http://schemas.microsoft.com/office/powerpoint/2010/main" val="387787040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7069</TotalTime>
  <Words>3741</Words>
  <Application>Microsoft Office PowerPoint</Application>
  <PresentationFormat>宽屏</PresentationFormat>
  <Paragraphs>323</Paragraphs>
  <Slides>58</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58</vt:i4>
      </vt:variant>
    </vt:vector>
  </HeadingPairs>
  <TitlesOfParts>
    <vt:vector size="71" baseType="lpstr">
      <vt:lpstr>Cormorant Garamond</vt:lpstr>
      <vt:lpstr>Cormorant Garamond Light</vt:lpstr>
      <vt:lpstr>Montserrat Light</vt:lpstr>
      <vt:lpstr>Montserrat Semi</vt:lpstr>
      <vt:lpstr>等线</vt:lpstr>
      <vt:lpstr>等线 Light</vt:lpstr>
      <vt:lpstr>黑体</vt:lpstr>
      <vt:lpstr>华文楷体</vt:lpstr>
      <vt:lpstr>华文宋体</vt:lpstr>
      <vt:lpstr>宋体</vt:lpstr>
      <vt:lpstr>Arial</vt:lpstr>
      <vt:lpstr>Times New Roman</vt:lpstr>
      <vt:lpstr>Office 主题​​</vt:lpstr>
      <vt:lpstr>PowerPoint 演示文稿</vt:lpstr>
      <vt:lpstr>三重时间</vt:lpstr>
      <vt:lpstr>“自然”时间：亚里士多德</vt:lpstr>
      <vt:lpstr>社会性的时间</vt:lpstr>
      <vt:lpstr>“现代性”时间：进步的时间</vt:lpstr>
      <vt:lpstr>现代社会的发展：时间征服空间</vt:lpstr>
      <vt:lpstr>消费客观时间为参照的现代性时间</vt:lpstr>
      <vt:lpstr>PowerPoint 演示文稿</vt:lpstr>
      <vt:lpstr>PowerPoint 演示文稿</vt:lpstr>
      <vt:lpstr>气氛价值：时间性</vt:lpstr>
      <vt:lpstr>PowerPoint 演示文稿</vt:lpstr>
      <vt:lpstr>    时间的文化标志</vt:lpstr>
      <vt:lpstr>在气氛系统里的时间：对照</vt:lpstr>
      <vt:lpstr>PowerPoint 演示文稿</vt:lpstr>
      <vt:lpstr>                                             案例：拿破仑的指挥刀</vt:lpstr>
      <vt:lpstr>古物“真确性”</vt:lpstr>
      <vt:lpstr>PowerPoint 演示文稿</vt:lpstr>
      <vt:lpstr>                 </vt:lpstr>
      <vt:lpstr>PowerPoint 演示文稿</vt:lpstr>
      <vt:lpstr>      归属：构成的自我论述</vt:lpstr>
      <vt:lpstr>                                 “逃避”和象征性的“善”</vt:lpstr>
      <vt:lpstr>PowerPoint 演示文稿</vt:lpstr>
      <vt:lpstr>功能物属性</vt:lpstr>
      <vt:lpstr>工业系统内涵：古物-时间记号即时性中的线性p93</vt:lpstr>
      <vt:lpstr>“古” 与“新”：诞生神话与威能神话并济</vt:lpstr>
      <vt:lpstr>错乱：人类文明的矛盾（“先锋”与“传统”同时的欲求）</vt:lpstr>
      <vt:lpstr>PowerPoint 演示文稿</vt:lpstr>
      <vt:lpstr>PowerPoint 演示文稿</vt:lpstr>
      <vt:lpstr>P99-109</vt:lpstr>
      <vt:lpstr>物成为对象，为我所拥有</vt:lpstr>
      <vt:lpstr>PowerPoint 演示文稿</vt:lpstr>
      <vt:lpstr>案例：工作后薪水给外婆买的第一件大衣（生存经验的抽象化-刀&amp;拿破仑的指挥刀）</vt:lpstr>
      <vt:lpstr>收藏激情-对象物</vt:lpstr>
      <vt:lpstr>爱好和收藏的区别？</vt:lpstr>
      <vt:lpstr>PowerPoint 演示文稿</vt:lpstr>
      <vt:lpstr>收藏物-美丽的宠物</vt:lpstr>
      <vt:lpstr>物如何迈向收藏维度-排列组合</vt:lpstr>
      <vt:lpstr>系列性游戏p105</vt:lpstr>
      <vt:lpstr>由量到质：独一无二之物（典范和终结项）</vt:lpstr>
      <vt:lpstr>模范-系列</vt:lpstr>
      <vt:lpstr> 案例：爱马仕铂金包</vt:lpstr>
      <vt:lpstr>PowerPoint 演示文稿</vt:lpstr>
      <vt:lpstr>PowerPoint 演示文稿</vt:lpstr>
      <vt:lpstr>PowerPoint 演示文稿</vt:lpstr>
      <vt:lpstr>针对自我的论述</vt:lpstr>
      <vt:lpstr>收藏本质：时间</vt:lpstr>
      <vt:lpstr>自然时间论收藏循环，与个体的自然时间构成抵抗关系</vt:lpstr>
      <vt:lpstr>物品与习惯（锚定：混沌时间）</vt:lpstr>
      <vt:lpstr>案例：以时间为例p108-109-混沌到可计量</vt:lpstr>
      <vt:lpstr>物品的论述体系和“习惯”有同构对应的关系</vt:lpstr>
      <vt:lpstr>PowerPoint 演示文稿</vt:lpstr>
      <vt:lpstr>PowerPoint 演示文稿</vt:lpstr>
      <vt:lpstr>收藏超越时间</vt:lpstr>
      <vt:lpstr>收藏：每一个都有记忆和时间、每一个都构成了呼应（对话和摆弄）、老年后可以通过重复这一行为回到童年</vt:lpstr>
      <vt:lpstr>逃避：时间和死亡焦虑 演唱会</vt:lpstr>
      <vt:lpstr>物品就是我们用来悼亡自我的手段</vt:lpstr>
      <vt:lpstr>PowerPoint 演示文稿</vt:lpstr>
      <vt:lpstr>“复古”和“怀旧”</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revision>63</cp:revision>
  <dcterms:created xsi:type="dcterms:W3CDTF">2025-10-24T01:04:52Z</dcterms:created>
  <dcterms:modified xsi:type="dcterms:W3CDTF">2026-10-21T01:57:26Z</dcterms:modified>
</cp:coreProperties>
</file>