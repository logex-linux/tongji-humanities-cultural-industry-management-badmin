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7" r:id="rId2"/>
    <p:sldId id="262" r:id="rId3"/>
    <p:sldId id="269" r:id="rId4"/>
    <p:sldId id="266" r:id="rId5"/>
    <p:sldId id="297" r:id="rId6"/>
    <p:sldId id="296" r:id="rId7"/>
    <p:sldId id="298" r:id="rId8"/>
    <p:sldId id="265" r:id="rId9"/>
  </p:sldIdLst>
  <p:sldSz cx="12192000" cy="6858000"/>
  <p:notesSz cx="6858000" cy="9144000"/>
  <p:embeddedFontLst>
    <p:embeddedFont>
      <p:font typeface="SimHei" panose="02010609060101010101" pitchFamily="49" charset="-122"/>
      <p:regular r:id="rId11"/>
    </p:embeddedFont>
    <p:embeddedFont>
      <p:font typeface="等线" panose="02010600030101010101" pitchFamily="2" charset="-122"/>
      <p:regular r:id="rId12"/>
      <p:bold r:id="rId13"/>
    </p:embeddedFont>
    <p:embeddedFont>
      <p:font typeface="等线 Light" panose="02010600030101010101" pitchFamily="2" charset="-122"/>
      <p:regular r:id="rId14"/>
    </p:embeddedFont>
    <p:embeddedFont>
      <p:font typeface="微软雅黑" panose="020B0503020204020204" pitchFamily="34" charset="-122"/>
      <p:regular r:id="rId15"/>
      <p:bold r:id="rId16"/>
    </p:embeddedFont>
    <p:embeddedFont>
      <p:font typeface="微软雅黑" panose="020B0503020204020204" pitchFamily="34" charset="-122"/>
      <p:regular r:id="rId15"/>
      <p:bold r:id="rId16"/>
    </p:embeddedFont>
  </p:embeddedFontLst>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3905" userDrawn="1">
          <p15:clr>
            <a:srgbClr val="A4A3A4"/>
          </p15:clr>
        </p15:guide>
      </p15:sldGuideLst>
    </p:ext>
    <p:ext uri="{2D200454-40CA-4A62-9FC3-DE9A4176ACB9}">
      <p15:notesGuideLst xmlns:p15="http://schemas.microsoft.com/office/powerpoint/2012/main">
        <p15:guide id="1" orient="horz" pos="2925">
          <p15:clr>
            <a:srgbClr val="A4A3A4"/>
          </p15:clr>
        </p15:guide>
        <p15:guide id="2" pos="219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60"/>
  </p:normalViewPr>
  <p:slideViewPr>
    <p:cSldViewPr snapToGrid="0" showGuides="1">
      <p:cViewPr>
        <p:scale>
          <a:sx n="70" d="100"/>
          <a:sy n="70" d="100"/>
        </p:scale>
        <p:origin x="992" y="1160"/>
      </p:cViewPr>
      <p:guideLst>
        <p:guide orient="horz" pos="2194"/>
        <p:guide pos="3905"/>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63" d="100"/>
          <a:sy n="63" d="100"/>
        </p:scale>
        <p:origin x="3206" y="-610"/>
      </p:cViewPr>
      <p:guideLst>
        <p:guide orient="horz" pos="2925"/>
        <p:guide pos="219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7B383D-6F8A-4FCF-80ED-1A7B800FA0B7}" type="datetimeFigureOut">
              <a:rPr lang="zh-CN" altLang="en-US" smtClean="0"/>
              <a:t>2025/11/8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22A0CC-24DB-43EC-AE63-D1EDFB9E7F8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FB3C70A-B261-4262-8179-F95389CD44B3}" type="datetimeFigureOut">
              <a:rPr lang="zh-CN" altLang="en-US" smtClean="0"/>
              <a:t>2025/11/8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EFE1704-2138-4FFD-992A-906AE4E8F918}"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B3C70A-B261-4262-8179-F95389CD44B3}" type="datetimeFigureOut">
              <a:rPr lang="zh-CN" altLang="en-US" smtClean="0"/>
              <a:t>2025/11/8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FE1704-2138-4FFD-992A-906AE4E8F91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tags" Target="../tags/tag4.xml"/><Relationship Id="rId7"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4.jpeg"/><Relationship Id="rId4" Type="http://schemas.openxmlformats.org/officeDocument/2006/relationships/tags" Target="../tags/tag5.xml"/><Relationship Id="rId9"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5.png"/><Relationship Id="rId5" Type="http://schemas.openxmlformats.org/officeDocument/2006/relationships/image" Target="../media/image14.jpeg"/><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cstate="print"/>
          <a:srcRect/>
          <a:stretch>
            <a:fillRect/>
          </a:stretch>
        </p:blipFill>
        <p:spPr>
          <a:xfrm>
            <a:off x="0" y="1123950"/>
            <a:ext cx="12192635" cy="4610100"/>
          </a:xfrm>
          <a:prstGeom prst="rect">
            <a:avLst/>
          </a:prstGeom>
        </p:spPr>
      </p:pic>
      <p:sp>
        <p:nvSpPr>
          <p:cNvPr id="20" name="椭圆 19"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nvSpPr>
        <p:spPr>
          <a:xfrm>
            <a:off x="726826" y="2649350"/>
            <a:ext cx="1559299" cy="155929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txBox="1"/>
          <p:nvPr/>
        </p:nvSpPr>
        <p:spPr>
          <a:xfrm>
            <a:off x="952477" y="3043275"/>
            <a:ext cx="1107996" cy="771448"/>
          </a:xfrm>
          <a:prstGeom prst="rect">
            <a:avLst/>
          </a:prstGeom>
          <a:noFill/>
        </p:spPr>
        <p:txBody>
          <a:bodyPr vert="eaVert" wrap="square" rtlCol="0">
            <a:spAutoFit/>
          </a:bodyPr>
          <a:lstStyle/>
          <a:p>
            <a:pPr algn="ctr"/>
            <a:r>
              <a:rPr lang="zh-CN" altLang="en-US" sz="6000" b="1" dirty="0">
                <a:solidFill>
                  <a:schemeClr val="accent6">
                    <a:lumMod val="50000"/>
                  </a:schemeClr>
                </a:solidFill>
                <a:latin typeface="SimHei" panose="02010609060101010101" pitchFamily="49" charset="-122"/>
                <a:ea typeface="SimHei" panose="02010609060101010101" pitchFamily="49" charset="-122"/>
              </a:rPr>
              <a:t>四</a:t>
            </a:r>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sp>
        <p:nvSpPr>
          <p:cNvPr id="4" name="文本框 3">
            <a:extLst>
              <a:ext uri="{FF2B5EF4-FFF2-40B4-BE49-F238E27FC236}">
                <a16:creationId xmlns:a16="http://schemas.microsoft.com/office/drawing/2014/main" id="{2FB2356A-7FC0-A81E-64F8-FF246C6B88EE}"/>
              </a:ext>
            </a:extLst>
          </p:cNvPr>
          <p:cNvSpPr txBox="1"/>
          <p:nvPr/>
        </p:nvSpPr>
        <p:spPr>
          <a:xfrm>
            <a:off x="3211551" y="2828834"/>
            <a:ext cx="8027972" cy="1200329"/>
          </a:xfrm>
          <a:prstGeom prst="rect">
            <a:avLst/>
          </a:prstGeom>
          <a:noFill/>
        </p:spPr>
        <p:txBody>
          <a:bodyPr wrap="square" rtlCol="0">
            <a:spAutoFit/>
          </a:bodyPr>
          <a:lstStyle/>
          <a:p>
            <a:r>
              <a:rPr kumimoji="1" lang="zh-CN" altLang="en-US" sz="7200" dirty="0">
                <a:solidFill>
                  <a:schemeClr val="bg1"/>
                </a:solidFill>
                <a:latin typeface="Microsoft YaHei" panose="020B0503020204020204" pitchFamily="34" charset="-122"/>
                <a:ea typeface="Microsoft YaHei" panose="020B0503020204020204" pitchFamily="34" charset="-122"/>
              </a:rPr>
              <a:t>可行性与潜在挑战</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custDataLst>
              <p:tags r:id="rId1"/>
            </p:custDataLst>
          </p:nvPr>
        </p:nvSpPr>
        <p:spPr>
          <a:xfrm>
            <a:off x="2871764" y="3898082"/>
            <a:ext cx="2207942" cy="2142638"/>
          </a:xfrm>
          <a:prstGeom prst="rect">
            <a:avLst/>
          </a:prstGeom>
        </p:spPr>
        <p:txBody>
          <a:bodyPr wrap="square">
            <a:spAutoFit/>
          </a:bodyPr>
          <a:lstStyle/>
          <a:p>
            <a:pPr>
              <a:lnSpc>
                <a:spcPct val="150000"/>
              </a:lnSpc>
            </a:pPr>
            <a:r>
              <a:rPr lang="zh-CN" altLang="en-US" sz="10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从供给端来看，我们面对的是一个巨大、稳定且成本极低的原料市场。目前，废弃椰壳数量惊人。这些椰壳通常被当作普通垃圾进行焚烧或填埋，不仅占用土地资源，其自然降解过程还会释放甲烷等温室气体，为城市环境治理带来了显著的成本和压力。这意味着，社会存在一个强烈的“刚性处理需求”</a:t>
            </a:r>
            <a:r>
              <a:rPr lang="en-US" altLang="zh-CN" sz="10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a:t>
            </a:r>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pic>
        <p:nvPicPr>
          <p:cNvPr id="4" name="图片 3"/>
          <p:cNvPicPr>
            <a:picLocks noChangeAspect="1"/>
          </p:cNvPicPr>
          <p:nvPr>
            <p:custDataLst>
              <p:tags r:id="rId2"/>
            </p:custDataLst>
          </p:nvPr>
        </p:nvPicPr>
        <p:blipFill>
          <a:blip r:embed="rId8" cstate="print"/>
          <a:srcRect/>
          <a:stretch>
            <a:fillRect/>
          </a:stretch>
        </p:blipFill>
        <p:spPr>
          <a:xfrm>
            <a:off x="3121660" y="817280"/>
            <a:ext cx="1708150" cy="2790825"/>
          </a:xfrm>
          <a:prstGeom prst="rect">
            <a:avLst/>
          </a:prstGeom>
        </p:spPr>
      </p:pic>
      <p:pic>
        <p:nvPicPr>
          <p:cNvPr id="6" name="图片 5"/>
          <p:cNvPicPr>
            <a:picLocks noChangeAspect="1"/>
          </p:cNvPicPr>
          <p:nvPr>
            <p:custDataLst>
              <p:tags r:id="rId3"/>
            </p:custDataLst>
          </p:nvPr>
        </p:nvPicPr>
        <p:blipFill>
          <a:blip r:embed="rId9" cstate="print"/>
          <a:srcRect/>
          <a:stretch>
            <a:fillRect/>
          </a:stretch>
        </p:blipFill>
        <p:spPr>
          <a:xfrm>
            <a:off x="6094811" y="816645"/>
            <a:ext cx="1749425" cy="2791460"/>
          </a:xfrm>
          <a:prstGeom prst="rect">
            <a:avLst/>
          </a:prstGeom>
        </p:spPr>
      </p:pic>
      <p:pic>
        <p:nvPicPr>
          <p:cNvPr id="7" name="图片 6" descr="C:/Users/Yuki/Desktop/ppt模板/DJI_0851.JPGDJI_0851"/>
          <p:cNvPicPr>
            <a:picLocks noChangeAspect="1"/>
          </p:cNvPicPr>
          <p:nvPr>
            <p:custDataLst>
              <p:tags r:id="rId4"/>
            </p:custDataLst>
          </p:nvPr>
        </p:nvPicPr>
        <p:blipFill>
          <a:blip r:embed="rId10"/>
          <a:srcRect t="2259" b="2259"/>
          <a:stretch>
            <a:fillRect/>
          </a:stretch>
        </p:blipFill>
        <p:spPr>
          <a:xfrm>
            <a:off x="9249773" y="816010"/>
            <a:ext cx="1644650" cy="2792095"/>
          </a:xfrm>
          <a:prstGeom prst="rect">
            <a:avLst/>
          </a:prstGeom>
        </p:spPr>
      </p:pic>
      <p:sp>
        <p:nvSpPr>
          <p:cNvPr id="8" name="矩形 7"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custDataLst>
              <p:tags r:id="rId5"/>
            </p:custDataLst>
          </p:nvPr>
        </p:nvSpPr>
        <p:spPr>
          <a:xfrm>
            <a:off x="5586761" y="3898082"/>
            <a:ext cx="2765526" cy="2142638"/>
          </a:xfrm>
          <a:prstGeom prst="rect">
            <a:avLst/>
          </a:prstGeom>
        </p:spPr>
        <p:txBody>
          <a:bodyPr wrap="square">
            <a:spAutoFit/>
          </a:bodyPr>
          <a:lstStyle/>
          <a:p>
            <a:pPr>
              <a:lnSpc>
                <a:spcPct val="150000"/>
              </a:lnSpc>
            </a:pPr>
            <a:r>
              <a:rPr lang="zh-CN" altLang="en-US" sz="10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城市居民对便捷、有趣、高性价比的运动方式存在着广阔而真切的市场需求。随着健康意识的觉醒，健身已成为现代生活的重要组成部分。我们的“运动共享生态”直击这些痛点：我们提供散布于社区、公园和创意园区的共享运动器材（如椰壳哑铃、壶铃）和主题健身空间，它兼具实用性和社交性，将孤独的运动转变为一种可以分享、互动的生活方式，精准地满足了现代人对于健康生活与轻度社交的双重渴望。</a:t>
            </a:r>
          </a:p>
        </p:txBody>
      </p:sp>
      <p:sp>
        <p:nvSpPr>
          <p:cNvPr id="10" name="矩形 9"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custDataLst>
              <p:tags r:id="rId6"/>
            </p:custDataLst>
          </p:nvPr>
        </p:nvSpPr>
        <p:spPr>
          <a:xfrm>
            <a:off x="8721762" y="3898082"/>
            <a:ext cx="2853204" cy="2604303"/>
          </a:xfrm>
          <a:prstGeom prst="rect">
            <a:avLst/>
          </a:prstGeom>
        </p:spPr>
        <p:txBody>
          <a:bodyPr wrap="square">
            <a:spAutoFit/>
          </a:bodyPr>
          <a:lstStyle/>
          <a:p>
            <a:pPr>
              <a:lnSpc>
                <a:spcPct val="150000"/>
              </a:lnSpc>
            </a:pPr>
            <a:r>
              <a:rPr lang="zh-CN" altLang="en-US" sz="10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rPr>
              <a:t>从消费动机来看，我们正处在一个 “价值观驱动消费” 的时代。越来越多的消费者，尤其是年轻一代，不再仅仅关注产品的功能与价格，更关注其背后的社会与环境价值。他们愿意为环保、可持续、有故事的商品和服务支付溢价。我们的项目完美地契合了这一汹涌的“绿色需求”。每一个由椰壳制成的运动器材，都是一个生动的环保故事，是循环经济的直观体现。当用户选择我们的产品时，他们购买的不仅是一种运动服务，更是在践行一种环保态度，完成一次“为美好世界投票”的情感消费。</a:t>
            </a:r>
          </a:p>
        </p:txBody>
      </p:sp>
      <p:sp>
        <p:nvSpPr>
          <p:cNvPr id="9" name="文本框 8">
            <a:extLst>
              <a:ext uri="{FF2B5EF4-FFF2-40B4-BE49-F238E27FC236}">
                <a16:creationId xmlns:a16="http://schemas.microsoft.com/office/drawing/2014/main" id="{A58CD8EF-5F86-ADA9-5C65-386E13C34C72}"/>
              </a:ext>
            </a:extLst>
          </p:cNvPr>
          <p:cNvSpPr txBox="1"/>
          <p:nvPr/>
        </p:nvSpPr>
        <p:spPr>
          <a:xfrm>
            <a:off x="912229" y="1784071"/>
            <a:ext cx="1107996" cy="3289857"/>
          </a:xfrm>
          <a:prstGeom prst="rect">
            <a:avLst/>
          </a:prstGeom>
          <a:noFill/>
        </p:spPr>
        <p:txBody>
          <a:bodyPr vert="eaVert" wrap="square" rtlCol="0">
            <a:spAutoFit/>
          </a:bodyPr>
          <a:lstStyle/>
          <a:p>
            <a:r>
              <a:rPr lang="zh-CN" altLang="en-US" sz="6000" b="1" dirty="0">
                <a:solidFill>
                  <a:schemeClr val="accent6">
                    <a:lumMod val="50000"/>
                  </a:schemeClr>
                </a:solidFill>
                <a:latin typeface="SimSun" panose="02010600030101010101" pitchFamily="2" charset="-122"/>
                <a:ea typeface="SimSun" panose="02010600030101010101" pitchFamily="2" charset="-122"/>
              </a:rPr>
              <a:t>需求侧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txBox="1"/>
          <p:nvPr/>
        </p:nvSpPr>
        <p:spPr>
          <a:xfrm>
            <a:off x="8497570" y="1768475"/>
            <a:ext cx="2430145" cy="2952115"/>
          </a:xfrm>
          <a:prstGeom prst="rect">
            <a:avLst/>
          </a:prstGeom>
          <a:noFill/>
        </p:spPr>
        <p:txBody>
          <a:bodyPr vert="horz" wrap="square" rtlCol="0">
            <a:noAutofit/>
          </a:bodyPr>
          <a:lstStyle/>
          <a:p>
            <a:pPr algn="dist"/>
            <a:r>
              <a:rPr lang="zh-CN" sz="8000" dirty="0">
                <a:solidFill>
                  <a:schemeClr val="bg1"/>
                </a:solidFill>
                <a:latin typeface="Hakuu" panose="02000609000000000000" pitchFamily="49" charset="-128"/>
                <a:ea typeface="宋体" panose="02010600030101010101" pitchFamily="2" charset="-122"/>
              </a:rPr>
              <a:t>输入标题</a:t>
            </a:r>
          </a:p>
        </p:txBody>
      </p:sp>
      <p:sp>
        <p:nvSpPr>
          <p:cNvPr id="6" name="矩形 5"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nvSpPr>
        <p:spPr>
          <a:xfrm>
            <a:off x="2004695" y="1768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sp>
        <p:nvSpPr>
          <p:cNvPr id="8" name="矩形 7"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nvSpPr>
        <p:spPr>
          <a:xfrm>
            <a:off x="5522595" y="1895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pic>
        <p:nvPicPr>
          <p:cNvPr id="5" name="图片 4" descr="无背景logo白"/>
          <p:cNvPicPr>
            <a:picLocks noChangeAspect="1"/>
          </p:cNvPicPr>
          <p:nvPr/>
        </p:nvPicPr>
        <p:blipFill>
          <a:blip r:embed="rId2" cstate="print"/>
          <a:stretch>
            <a:fillRect/>
          </a:stretch>
        </p:blipFill>
        <p:spPr>
          <a:xfrm>
            <a:off x="10071729" y="5761355"/>
            <a:ext cx="1963420" cy="997585"/>
          </a:xfrm>
          <a:prstGeom prst="rect">
            <a:avLst/>
          </a:prstGeom>
        </p:spPr>
      </p:pic>
      <p:pic>
        <p:nvPicPr>
          <p:cNvPr id="9" name="图片 8">
            <a:extLst>
              <a:ext uri="{FF2B5EF4-FFF2-40B4-BE49-F238E27FC236}">
                <a16:creationId xmlns:a16="http://schemas.microsoft.com/office/drawing/2014/main" id="{D5BE8B15-9B1B-EB88-F6F9-D63FE8FE552A}"/>
              </a:ext>
            </a:extLst>
          </p:cNvPr>
          <p:cNvPicPr>
            <a:picLocks noChangeAspect="1"/>
          </p:cNvPicPr>
          <p:nvPr/>
        </p:nvPicPr>
        <p:blipFill>
          <a:blip r:embed="rId3">
            <a:extLst>
              <a:ext uri="{28A0092B-C50C-407E-A947-70E740481C1C}">
                <a14:useLocalDpi xmlns:a14="http://schemas.microsoft.com/office/drawing/2010/main" val="0"/>
              </a:ext>
            </a:extLst>
          </a:blip>
          <a:srcRect t="7334" b="6616"/>
          <a:stretch/>
        </p:blipFill>
        <p:spPr>
          <a:xfrm>
            <a:off x="0" y="-1"/>
            <a:ext cx="12192000" cy="6915631"/>
          </a:xfrm>
          <a:prstGeom prst="rect">
            <a:avLst/>
          </a:prstGeom>
        </p:spPr>
      </p:pic>
      <p:sp>
        <p:nvSpPr>
          <p:cNvPr id="10" name="矩形 9">
            <a:extLst>
              <a:ext uri="{FF2B5EF4-FFF2-40B4-BE49-F238E27FC236}">
                <a16:creationId xmlns:a16="http://schemas.microsoft.com/office/drawing/2014/main" id="{559F5261-26F8-7576-D1D3-B7A64196008E}"/>
              </a:ext>
            </a:extLst>
          </p:cNvPr>
          <p:cNvSpPr/>
          <p:nvPr/>
        </p:nvSpPr>
        <p:spPr>
          <a:xfrm>
            <a:off x="0" y="1888253"/>
            <a:ext cx="12192000" cy="3352720"/>
          </a:xfrm>
          <a:prstGeom prst="rect">
            <a:avLst/>
          </a:prstGeom>
          <a:solidFill>
            <a:schemeClr val="bg1">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F3FFD0B8-8591-2ED5-87BF-C4A24788F7BD}"/>
              </a:ext>
            </a:extLst>
          </p:cNvPr>
          <p:cNvSpPr txBox="1"/>
          <p:nvPr/>
        </p:nvSpPr>
        <p:spPr>
          <a:xfrm>
            <a:off x="4294632" y="498426"/>
            <a:ext cx="3602736" cy="1107996"/>
          </a:xfrm>
          <a:prstGeom prst="rect">
            <a:avLst/>
          </a:prstGeom>
          <a:noFill/>
        </p:spPr>
        <p:txBody>
          <a:bodyPr wrap="square" rtlCol="0">
            <a:spAutoFit/>
          </a:bodyPr>
          <a:lstStyle/>
          <a:p>
            <a:r>
              <a:rPr kumimoji="1" lang="zh-CN" altLang="en-US" sz="6600" b="1" dirty="0">
                <a:solidFill>
                  <a:schemeClr val="bg1"/>
                </a:solidFill>
              </a:rPr>
              <a:t>成功案例</a:t>
            </a:r>
          </a:p>
        </p:txBody>
      </p:sp>
      <p:pic>
        <p:nvPicPr>
          <p:cNvPr id="7" name="图片 6">
            <a:extLst>
              <a:ext uri="{FF2B5EF4-FFF2-40B4-BE49-F238E27FC236}">
                <a16:creationId xmlns:a16="http://schemas.microsoft.com/office/drawing/2014/main" id="{25E22C5E-4F80-FC95-D0CA-5AA3C9A61120}"/>
              </a:ext>
            </a:extLst>
          </p:cNvPr>
          <p:cNvPicPr>
            <a:picLocks noChangeAspect="1"/>
          </p:cNvPicPr>
          <p:nvPr/>
        </p:nvPicPr>
        <p:blipFill>
          <a:blip r:embed="rId4"/>
          <a:stretch>
            <a:fillRect/>
          </a:stretch>
        </p:blipFill>
        <p:spPr>
          <a:xfrm>
            <a:off x="123698" y="2325674"/>
            <a:ext cx="4545457" cy="2477877"/>
          </a:xfrm>
          <a:prstGeom prst="rect">
            <a:avLst/>
          </a:prstGeom>
        </p:spPr>
      </p:pic>
      <p:pic>
        <p:nvPicPr>
          <p:cNvPr id="12" name="图片 11">
            <a:extLst>
              <a:ext uri="{FF2B5EF4-FFF2-40B4-BE49-F238E27FC236}">
                <a16:creationId xmlns:a16="http://schemas.microsoft.com/office/drawing/2014/main" id="{7D21526A-9992-755F-9636-946635228F29}"/>
              </a:ext>
            </a:extLst>
          </p:cNvPr>
          <p:cNvPicPr>
            <a:picLocks noChangeAspect="1"/>
          </p:cNvPicPr>
          <p:nvPr/>
        </p:nvPicPr>
        <p:blipFill>
          <a:blip r:embed="rId5"/>
          <a:stretch>
            <a:fillRect/>
          </a:stretch>
        </p:blipFill>
        <p:spPr>
          <a:xfrm>
            <a:off x="4921400" y="2388211"/>
            <a:ext cx="2989748" cy="2352802"/>
          </a:xfrm>
          <a:prstGeom prst="rect">
            <a:avLst/>
          </a:prstGeom>
        </p:spPr>
      </p:pic>
      <p:pic>
        <p:nvPicPr>
          <p:cNvPr id="13" name="图片 12">
            <a:extLst>
              <a:ext uri="{FF2B5EF4-FFF2-40B4-BE49-F238E27FC236}">
                <a16:creationId xmlns:a16="http://schemas.microsoft.com/office/drawing/2014/main" id="{610F322F-0EEE-6D41-336D-F6EFC328804F}"/>
              </a:ext>
            </a:extLst>
          </p:cNvPr>
          <p:cNvPicPr>
            <a:picLocks noChangeAspect="1"/>
          </p:cNvPicPr>
          <p:nvPr/>
        </p:nvPicPr>
        <p:blipFill>
          <a:blip r:embed="rId6"/>
          <a:stretch>
            <a:fillRect/>
          </a:stretch>
        </p:blipFill>
        <p:spPr>
          <a:xfrm>
            <a:off x="8178165" y="2229739"/>
            <a:ext cx="3479800" cy="26289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椭圆 7"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nvSpPr>
        <p:spPr>
          <a:xfrm>
            <a:off x="-552893" y="4636187"/>
            <a:ext cx="2509284" cy="2509284"/>
          </a:xfrm>
          <a:prstGeom prst="ellipse">
            <a:avLst/>
          </a:prstGeom>
          <a:solidFill>
            <a:srgbClr val="DF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txBox="1"/>
          <p:nvPr/>
        </p:nvSpPr>
        <p:spPr>
          <a:xfrm>
            <a:off x="1019175" y="1982860"/>
            <a:ext cx="5285958" cy="1069780"/>
          </a:xfrm>
          <a:prstGeom prst="rect">
            <a:avLst/>
          </a:prstGeom>
          <a:noFill/>
        </p:spPr>
        <p:txBody>
          <a:bodyPr vert="horz" wrap="square" rtlCol="0">
            <a:spAutoFit/>
          </a:bodyPr>
          <a:lstStyle/>
          <a:p>
            <a:pPr>
              <a:lnSpc>
                <a:spcPct val="150000"/>
              </a:lnSpc>
            </a:pPr>
            <a:r>
              <a:rPr lang="zh-CN" altLang="en-US" sz="4800" b="1" dirty="0">
                <a:solidFill>
                  <a:schemeClr val="accent6">
                    <a:lumMod val="50000"/>
                  </a:schemeClr>
                </a:solidFill>
                <a:latin typeface="微软雅黑" panose="020B0503020204020204" charset="-122"/>
                <a:ea typeface="微软雅黑" panose="020B0503020204020204" charset="-122"/>
              </a:rPr>
              <a:t>卓越的耐用性</a:t>
            </a:r>
          </a:p>
        </p:txBody>
      </p:sp>
      <p:sp>
        <p:nvSpPr>
          <p:cNvPr id="4" name="矩形 3"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nvSpPr>
        <p:spPr>
          <a:xfrm>
            <a:off x="1019175" y="3052640"/>
            <a:ext cx="7942580" cy="1721690"/>
          </a:xfrm>
          <a:prstGeom prst="rect">
            <a:avLst/>
          </a:prstGeom>
        </p:spPr>
        <p:txBody>
          <a:bodyPr wrap="square">
            <a:spAutoFit/>
          </a:bodyPr>
          <a:lstStyle/>
          <a:p>
            <a:pPr>
              <a:lnSpc>
                <a:spcPct val="150000"/>
              </a:lnSpc>
            </a:pPr>
            <a:r>
              <a:rPr lang="zh-CN" altLang="en-US"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纤维结构</a:t>
            </a:r>
            <a:r>
              <a:rPr lang="zh-CN" altLang="en-US" sz="12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 椰壳（学名：内果皮）由高度木质化的紧密纤维交织而成，是一种天然的复合材料。这种结构使其具有极高的硬度、韧性和抗冲击性能，其天然的抗磨损特性甚至优于许多普通木材。</a:t>
            </a:r>
          </a:p>
          <a:p>
            <a:pPr>
              <a:lnSpc>
                <a:spcPct val="150000"/>
              </a:lnSpc>
            </a:pPr>
            <a:r>
              <a:rPr lang="zh-CN" altLang="en-US" sz="2400" b="1"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性能优秀</a:t>
            </a:r>
            <a:r>
              <a:rPr lang="zh-CN" altLang="en-US" sz="120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 其性能可与高品质的硬木（如槭木、山毛榉）相媲美，甚至在某些方面更优。经过恰当处理的椰壳，其密度和硬度完全能够承受健身器材在日常使用中产生的冲击和压力，例如哑铃的碰撞、壶铃的摆动等。</a:t>
            </a:r>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pic>
        <p:nvPicPr>
          <p:cNvPr id="5" name="图片 4"/>
          <p:cNvPicPr>
            <a:picLocks noChangeAspect="1"/>
          </p:cNvPicPr>
          <p:nvPr/>
        </p:nvPicPr>
        <p:blipFill>
          <a:blip r:embed="rId2" cstate="print"/>
          <a:srcRect/>
          <a:stretch>
            <a:fillRect/>
          </a:stretch>
        </p:blipFill>
        <p:spPr>
          <a:xfrm>
            <a:off x="5466715" y="581660"/>
            <a:ext cx="6725285" cy="24726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69B24-EAD2-1B6A-AD2C-EA46A75BF3FB}"/>
            </a:ext>
          </a:extLst>
        </p:cNvPr>
        <p:cNvGrpSpPr/>
        <p:nvPr/>
      </p:nvGrpSpPr>
      <p:grpSpPr>
        <a:xfrm>
          <a:off x="0" y="0"/>
          <a:ext cx="0" cy="0"/>
          <a:chOff x="0" y="0"/>
          <a:chExt cx="0" cy="0"/>
        </a:xfrm>
      </p:grpSpPr>
      <p:sp>
        <p:nvSpPr>
          <p:cNvPr id="4" name="文本框 3"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DDD0D857-D6BA-F2D0-C8B9-52F4F2139FAE}"/>
              </a:ext>
            </a:extLst>
          </p:cNvPr>
          <p:cNvSpPr txBox="1"/>
          <p:nvPr/>
        </p:nvSpPr>
        <p:spPr>
          <a:xfrm>
            <a:off x="8497570" y="1768475"/>
            <a:ext cx="2430145" cy="2952115"/>
          </a:xfrm>
          <a:prstGeom prst="rect">
            <a:avLst/>
          </a:prstGeom>
          <a:noFill/>
        </p:spPr>
        <p:txBody>
          <a:bodyPr vert="horz" wrap="square" rtlCol="0">
            <a:noAutofit/>
          </a:bodyPr>
          <a:lstStyle/>
          <a:p>
            <a:pPr algn="dist"/>
            <a:r>
              <a:rPr lang="zh-CN" sz="8000" dirty="0">
                <a:solidFill>
                  <a:schemeClr val="bg1"/>
                </a:solidFill>
                <a:latin typeface="Hakuu" panose="02000609000000000000" pitchFamily="49" charset="-128"/>
                <a:ea typeface="宋体" panose="02010600030101010101" pitchFamily="2" charset="-122"/>
              </a:rPr>
              <a:t>输入标题</a:t>
            </a:r>
          </a:p>
        </p:txBody>
      </p:sp>
      <p:sp>
        <p:nvSpPr>
          <p:cNvPr id="6" name="矩形 5"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CD872606-75AF-AF79-3494-12CB5DB69634}"/>
              </a:ext>
            </a:extLst>
          </p:cNvPr>
          <p:cNvSpPr/>
          <p:nvPr/>
        </p:nvSpPr>
        <p:spPr>
          <a:xfrm>
            <a:off x="2004695" y="1768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a:extLst>
              <a:ext uri="{FF2B5EF4-FFF2-40B4-BE49-F238E27FC236}">
                <a16:creationId xmlns:a16="http://schemas.microsoft.com/office/drawing/2014/main" id="{8A7EB386-9E6E-7359-1A99-7BEAFB2BA109}"/>
              </a:ext>
            </a:extLst>
          </p:cNvPr>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sp>
        <p:nvSpPr>
          <p:cNvPr id="8" name="矩形 7"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930AE26D-1DAD-CD85-A44B-0A22D835BF7A}"/>
              </a:ext>
            </a:extLst>
          </p:cNvPr>
          <p:cNvSpPr/>
          <p:nvPr/>
        </p:nvSpPr>
        <p:spPr>
          <a:xfrm>
            <a:off x="5522595" y="1895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pic>
        <p:nvPicPr>
          <p:cNvPr id="5" name="图片 4" descr="无背景logo白">
            <a:extLst>
              <a:ext uri="{FF2B5EF4-FFF2-40B4-BE49-F238E27FC236}">
                <a16:creationId xmlns:a16="http://schemas.microsoft.com/office/drawing/2014/main" id="{1BB607D1-4751-197A-164E-4A4D3032DF41}"/>
              </a:ext>
            </a:extLst>
          </p:cNvPr>
          <p:cNvPicPr>
            <a:picLocks noChangeAspect="1"/>
          </p:cNvPicPr>
          <p:nvPr/>
        </p:nvPicPr>
        <p:blipFill>
          <a:blip r:embed="rId2" cstate="print"/>
          <a:stretch>
            <a:fillRect/>
          </a:stretch>
        </p:blipFill>
        <p:spPr>
          <a:xfrm>
            <a:off x="10071729" y="5761355"/>
            <a:ext cx="1963420" cy="997585"/>
          </a:xfrm>
          <a:prstGeom prst="rect">
            <a:avLst/>
          </a:prstGeom>
        </p:spPr>
      </p:pic>
      <p:pic>
        <p:nvPicPr>
          <p:cNvPr id="9" name="图片 8">
            <a:extLst>
              <a:ext uri="{FF2B5EF4-FFF2-40B4-BE49-F238E27FC236}">
                <a16:creationId xmlns:a16="http://schemas.microsoft.com/office/drawing/2014/main" id="{40E296AF-4176-BD08-7AEA-B1D8B1EBC317}"/>
              </a:ext>
            </a:extLst>
          </p:cNvPr>
          <p:cNvPicPr>
            <a:picLocks noChangeAspect="1"/>
          </p:cNvPicPr>
          <p:nvPr/>
        </p:nvPicPr>
        <p:blipFill>
          <a:blip r:embed="rId3">
            <a:extLst>
              <a:ext uri="{28A0092B-C50C-407E-A947-70E740481C1C}">
                <a14:useLocalDpi xmlns:a14="http://schemas.microsoft.com/office/drawing/2010/main" val="0"/>
              </a:ext>
            </a:extLst>
          </a:blip>
          <a:srcRect t="7334" b="6616"/>
          <a:stretch/>
        </p:blipFill>
        <p:spPr>
          <a:xfrm>
            <a:off x="0" y="-1"/>
            <a:ext cx="12192000" cy="6915631"/>
          </a:xfrm>
          <a:prstGeom prst="rect">
            <a:avLst/>
          </a:prstGeom>
        </p:spPr>
      </p:pic>
      <p:pic>
        <p:nvPicPr>
          <p:cNvPr id="3" name="图片 2">
            <a:extLst>
              <a:ext uri="{FF2B5EF4-FFF2-40B4-BE49-F238E27FC236}">
                <a16:creationId xmlns:a16="http://schemas.microsoft.com/office/drawing/2014/main" id="{06C737BC-1848-DD37-1D55-089D5D3C757F}"/>
              </a:ext>
            </a:extLst>
          </p:cNvPr>
          <p:cNvPicPr>
            <a:picLocks noChangeAspect="1"/>
          </p:cNvPicPr>
          <p:nvPr/>
        </p:nvPicPr>
        <p:blipFill>
          <a:blip r:embed="rId4"/>
          <a:stretch>
            <a:fillRect/>
          </a:stretch>
        </p:blipFill>
        <p:spPr>
          <a:xfrm>
            <a:off x="1635511" y="6095042"/>
            <a:ext cx="8920976" cy="5809426"/>
          </a:xfrm>
          <a:prstGeom prst="rect">
            <a:avLst/>
          </a:prstGeom>
        </p:spPr>
      </p:pic>
      <p:pic>
        <p:nvPicPr>
          <p:cNvPr id="7" name="图片 6">
            <a:extLst>
              <a:ext uri="{FF2B5EF4-FFF2-40B4-BE49-F238E27FC236}">
                <a16:creationId xmlns:a16="http://schemas.microsoft.com/office/drawing/2014/main" id="{4BB6C7A0-A754-B8DF-D37E-B95950A6C30E}"/>
              </a:ext>
            </a:extLst>
          </p:cNvPr>
          <p:cNvPicPr>
            <a:picLocks noChangeAspect="1"/>
          </p:cNvPicPr>
          <p:nvPr/>
        </p:nvPicPr>
        <p:blipFill>
          <a:blip r:embed="rId5"/>
          <a:stretch>
            <a:fillRect/>
          </a:stretch>
        </p:blipFill>
        <p:spPr>
          <a:xfrm>
            <a:off x="937669" y="6531184"/>
            <a:ext cx="10316661" cy="5107258"/>
          </a:xfrm>
          <a:prstGeom prst="rect">
            <a:avLst/>
          </a:prstGeom>
        </p:spPr>
      </p:pic>
      <p:pic>
        <p:nvPicPr>
          <p:cNvPr id="11" name="图片 10">
            <a:extLst>
              <a:ext uri="{FF2B5EF4-FFF2-40B4-BE49-F238E27FC236}">
                <a16:creationId xmlns:a16="http://schemas.microsoft.com/office/drawing/2014/main" id="{25564049-8B88-F317-9087-1B6ABFE2BE4B}"/>
              </a:ext>
            </a:extLst>
          </p:cNvPr>
          <p:cNvPicPr>
            <a:picLocks noChangeAspect="1"/>
          </p:cNvPicPr>
          <p:nvPr/>
        </p:nvPicPr>
        <p:blipFill>
          <a:blip r:embed="rId6"/>
          <a:stretch>
            <a:fillRect/>
          </a:stretch>
        </p:blipFill>
        <p:spPr>
          <a:xfrm>
            <a:off x="2209799" y="2365361"/>
            <a:ext cx="7772400" cy="2672108"/>
          </a:xfrm>
          <a:prstGeom prst="rect">
            <a:avLst/>
          </a:prstGeom>
        </p:spPr>
      </p:pic>
    </p:spTree>
    <p:extLst>
      <p:ext uri="{BB962C8B-B14F-4D97-AF65-F5344CB8AC3E}">
        <p14:creationId xmlns:p14="http://schemas.microsoft.com/office/powerpoint/2010/main" val="3538612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EDE63-9AF6-0B22-D3BA-C77E7AEE53DB}"/>
            </a:ext>
          </a:extLst>
        </p:cNvPr>
        <p:cNvGrpSpPr/>
        <p:nvPr/>
      </p:nvGrpSpPr>
      <p:grpSpPr>
        <a:xfrm>
          <a:off x="0" y="0"/>
          <a:ext cx="0" cy="0"/>
          <a:chOff x="0" y="0"/>
          <a:chExt cx="0" cy="0"/>
        </a:xfrm>
      </p:grpSpPr>
      <p:sp>
        <p:nvSpPr>
          <p:cNvPr id="4" name="文本框 3"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C0DDF25F-B19A-4C7A-97C1-36DB1EC43AF3}"/>
              </a:ext>
            </a:extLst>
          </p:cNvPr>
          <p:cNvSpPr txBox="1"/>
          <p:nvPr/>
        </p:nvSpPr>
        <p:spPr>
          <a:xfrm>
            <a:off x="8497570" y="1768475"/>
            <a:ext cx="2430145" cy="2952115"/>
          </a:xfrm>
          <a:prstGeom prst="rect">
            <a:avLst/>
          </a:prstGeom>
          <a:noFill/>
        </p:spPr>
        <p:txBody>
          <a:bodyPr vert="horz" wrap="square" rtlCol="0">
            <a:noAutofit/>
          </a:bodyPr>
          <a:lstStyle/>
          <a:p>
            <a:pPr algn="dist"/>
            <a:r>
              <a:rPr lang="zh-CN" sz="8000" dirty="0">
                <a:solidFill>
                  <a:schemeClr val="bg1"/>
                </a:solidFill>
                <a:latin typeface="Hakuu" panose="02000609000000000000" pitchFamily="49" charset="-128"/>
                <a:ea typeface="宋体" panose="02010600030101010101" pitchFamily="2" charset="-122"/>
              </a:rPr>
              <a:t>输入标题</a:t>
            </a:r>
          </a:p>
        </p:txBody>
      </p:sp>
      <p:sp>
        <p:nvSpPr>
          <p:cNvPr id="6" name="矩形 5"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AE89860F-4E76-331B-8EE4-F1B92E0F2AE8}"/>
              </a:ext>
            </a:extLst>
          </p:cNvPr>
          <p:cNvSpPr/>
          <p:nvPr/>
        </p:nvSpPr>
        <p:spPr>
          <a:xfrm>
            <a:off x="2004695" y="1768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a:extLst>
              <a:ext uri="{FF2B5EF4-FFF2-40B4-BE49-F238E27FC236}">
                <a16:creationId xmlns:a16="http://schemas.microsoft.com/office/drawing/2014/main" id="{88EEC548-DEC7-0D43-8C0D-F5130FB9F3E4}"/>
              </a:ext>
            </a:extLst>
          </p:cNvPr>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sp>
        <p:nvSpPr>
          <p:cNvPr id="8" name="矩形 7"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B5BB4EFB-2AD8-6E69-B973-362194473C18}"/>
              </a:ext>
            </a:extLst>
          </p:cNvPr>
          <p:cNvSpPr/>
          <p:nvPr/>
        </p:nvSpPr>
        <p:spPr>
          <a:xfrm>
            <a:off x="5522595" y="1895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pic>
        <p:nvPicPr>
          <p:cNvPr id="5" name="图片 4" descr="无背景logo白">
            <a:extLst>
              <a:ext uri="{FF2B5EF4-FFF2-40B4-BE49-F238E27FC236}">
                <a16:creationId xmlns:a16="http://schemas.microsoft.com/office/drawing/2014/main" id="{0FCEF47E-7C26-B61E-D933-67AFA843B29F}"/>
              </a:ext>
            </a:extLst>
          </p:cNvPr>
          <p:cNvPicPr>
            <a:picLocks noChangeAspect="1"/>
          </p:cNvPicPr>
          <p:nvPr/>
        </p:nvPicPr>
        <p:blipFill>
          <a:blip r:embed="rId2" cstate="print"/>
          <a:stretch>
            <a:fillRect/>
          </a:stretch>
        </p:blipFill>
        <p:spPr>
          <a:xfrm>
            <a:off x="10071729" y="5761355"/>
            <a:ext cx="1963420" cy="997585"/>
          </a:xfrm>
          <a:prstGeom prst="rect">
            <a:avLst/>
          </a:prstGeom>
        </p:spPr>
      </p:pic>
      <p:pic>
        <p:nvPicPr>
          <p:cNvPr id="9" name="图片 8">
            <a:extLst>
              <a:ext uri="{FF2B5EF4-FFF2-40B4-BE49-F238E27FC236}">
                <a16:creationId xmlns:a16="http://schemas.microsoft.com/office/drawing/2014/main" id="{E796ED0E-ECCE-33E6-98D8-55D5CFA347FA}"/>
              </a:ext>
            </a:extLst>
          </p:cNvPr>
          <p:cNvPicPr>
            <a:picLocks noChangeAspect="1"/>
          </p:cNvPicPr>
          <p:nvPr/>
        </p:nvPicPr>
        <p:blipFill>
          <a:blip r:embed="rId3">
            <a:extLst>
              <a:ext uri="{28A0092B-C50C-407E-A947-70E740481C1C}">
                <a14:useLocalDpi xmlns:a14="http://schemas.microsoft.com/office/drawing/2010/main" val="0"/>
              </a:ext>
            </a:extLst>
          </a:blip>
          <a:srcRect t="7334" b="6616"/>
          <a:stretch/>
        </p:blipFill>
        <p:spPr>
          <a:xfrm>
            <a:off x="0" y="-1"/>
            <a:ext cx="12192000" cy="6915631"/>
          </a:xfrm>
          <a:prstGeom prst="rect">
            <a:avLst/>
          </a:prstGeom>
        </p:spPr>
      </p:pic>
      <p:pic>
        <p:nvPicPr>
          <p:cNvPr id="3" name="图片 2">
            <a:extLst>
              <a:ext uri="{FF2B5EF4-FFF2-40B4-BE49-F238E27FC236}">
                <a16:creationId xmlns:a16="http://schemas.microsoft.com/office/drawing/2014/main" id="{CE3F5811-C3A7-9BD9-AF24-BF9933691555}"/>
              </a:ext>
            </a:extLst>
          </p:cNvPr>
          <p:cNvPicPr>
            <a:picLocks noChangeAspect="1"/>
          </p:cNvPicPr>
          <p:nvPr/>
        </p:nvPicPr>
        <p:blipFill>
          <a:blip r:embed="rId4"/>
          <a:stretch>
            <a:fillRect/>
          </a:stretch>
        </p:blipFill>
        <p:spPr>
          <a:xfrm>
            <a:off x="1635512" y="524287"/>
            <a:ext cx="8920976" cy="5809426"/>
          </a:xfrm>
          <a:prstGeom prst="rect">
            <a:avLst/>
          </a:prstGeom>
        </p:spPr>
      </p:pic>
      <p:pic>
        <p:nvPicPr>
          <p:cNvPr id="7" name="图片 6">
            <a:extLst>
              <a:ext uri="{FF2B5EF4-FFF2-40B4-BE49-F238E27FC236}">
                <a16:creationId xmlns:a16="http://schemas.microsoft.com/office/drawing/2014/main" id="{EF987CCE-A7AC-FB8B-D77D-676A910B450F}"/>
              </a:ext>
            </a:extLst>
          </p:cNvPr>
          <p:cNvPicPr>
            <a:picLocks noChangeAspect="1"/>
          </p:cNvPicPr>
          <p:nvPr/>
        </p:nvPicPr>
        <p:blipFill>
          <a:blip r:embed="rId5"/>
          <a:stretch>
            <a:fillRect/>
          </a:stretch>
        </p:blipFill>
        <p:spPr>
          <a:xfrm>
            <a:off x="937669" y="6531184"/>
            <a:ext cx="10316661" cy="5107258"/>
          </a:xfrm>
          <a:prstGeom prst="rect">
            <a:avLst/>
          </a:prstGeom>
        </p:spPr>
      </p:pic>
      <p:pic>
        <p:nvPicPr>
          <p:cNvPr id="11" name="图片 10">
            <a:extLst>
              <a:ext uri="{FF2B5EF4-FFF2-40B4-BE49-F238E27FC236}">
                <a16:creationId xmlns:a16="http://schemas.microsoft.com/office/drawing/2014/main" id="{5C0CAC11-6BDC-8967-E9EF-9D6918715AD1}"/>
              </a:ext>
            </a:extLst>
          </p:cNvPr>
          <p:cNvPicPr>
            <a:picLocks noChangeAspect="1"/>
          </p:cNvPicPr>
          <p:nvPr/>
        </p:nvPicPr>
        <p:blipFill>
          <a:blip r:embed="rId6"/>
          <a:stretch>
            <a:fillRect/>
          </a:stretch>
        </p:blipFill>
        <p:spPr>
          <a:xfrm>
            <a:off x="2209799" y="-2246556"/>
            <a:ext cx="7772400" cy="2672108"/>
          </a:xfrm>
          <a:prstGeom prst="rect">
            <a:avLst/>
          </a:prstGeom>
        </p:spPr>
      </p:pic>
    </p:spTree>
    <p:extLst>
      <p:ext uri="{BB962C8B-B14F-4D97-AF65-F5344CB8AC3E}">
        <p14:creationId xmlns:p14="http://schemas.microsoft.com/office/powerpoint/2010/main" val="32120619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5D8C9-BFF6-5E15-7503-DB602176A3DB}"/>
            </a:ext>
          </a:extLst>
        </p:cNvPr>
        <p:cNvGrpSpPr/>
        <p:nvPr/>
      </p:nvGrpSpPr>
      <p:grpSpPr>
        <a:xfrm>
          <a:off x="0" y="0"/>
          <a:ext cx="0" cy="0"/>
          <a:chOff x="0" y="0"/>
          <a:chExt cx="0" cy="0"/>
        </a:xfrm>
      </p:grpSpPr>
      <p:sp>
        <p:nvSpPr>
          <p:cNvPr id="4" name="文本框 3"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AD78F3F7-442B-D9BA-E646-9E6E48CEA85E}"/>
              </a:ext>
            </a:extLst>
          </p:cNvPr>
          <p:cNvSpPr txBox="1"/>
          <p:nvPr/>
        </p:nvSpPr>
        <p:spPr>
          <a:xfrm>
            <a:off x="8497570" y="1768475"/>
            <a:ext cx="2430145" cy="2952115"/>
          </a:xfrm>
          <a:prstGeom prst="rect">
            <a:avLst/>
          </a:prstGeom>
          <a:noFill/>
        </p:spPr>
        <p:txBody>
          <a:bodyPr vert="horz" wrap="square" rtlCol="0">
            <a:noAutofit/>
          </a:bodyPr>
          <a:lstStyle/>
          <a:p>
            <a:pPr algn="dist"/>
            <a:r>
              <a:rPr lang="zh-CN" sz="8000" dirty="0">
                <a:solidFill>
                  <a:schemeClr val="bg1"/>
                </a:solidFill>
                <a:latin typeface="Hakuu" panose="02000609000000000000" pitchFamily="49" charset="-128"/>
                <a:ea typeface="宋体" panose="02010600030101010101" pitchFamily="2" charset="-122"/>
              </a:rPr>
              <a:t>输入标题</a:t>
            </a:r>
          </a:p>
        </p:txBody>
      </p:sp>
      <p:sp>
        <p:nvSpPr>
          <p:cNvPr id="6" name="矩形 5"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EA6FAA45-2E0B-E32D-4A41-02E0C7D3FD60}"/>
              </a:ext>
            </a:extLst>
          </p:cNvPr>
          <p:cNvSpPr/>
          <p:nvPr/>
        </p:nvSpPr>
        <p:spPr>
          <a:xfrm>
            <a:off x="2004695" y="1768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a:extLst>
              <a:ext uri="{FF2B5EF4-FFF2-40B4-BE49-F238E27FC236}">
                <a16:creationId xmlns:a16="http://schemas.microsoft.com/office/drawing/2014/main" id="{D3697BC2-8898-D8C9-6983-357B7CE70C82}"/>
              </a:ext>
            </a:extLst>
          </p:cNvPr>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sp>
        <p:nvSpPr>
          <p:cNvPr id="8" name="矩形 7"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a:extLst>
              <a:ext uri="{FF2B5EF4-FFF2-40B4-BE49-F238E27FC236}">
                <a16:creationId xmlns:a16="http://schemas.microsoft.com/office/drawing/2014/main" id="{F67FDFD4-9983-CBD1-3427-F9CB3C12086D}"/>
              </a:ext>
            </a:extLst>
          </p:cNvPr>
          <p:cNvSpPr/>
          <p:nvPr/>
        </p:nvSpPr>
        <p:spPr>
          <a:xfrm>
            <a:off x="5522595" y="1895475"/>
            <a:ext cx="2121535" cy="3865880"/>
          </a:xfrm>
          <a:prstGeom prst="rect">
            <a:avLst/>
          </a:prstGeom>
        </p:spPr>
        <p:txBody>
          <a:bodyPr vert="eaVert" wrap="square">
            <a:spAutoFit/>
          </a:bodyPr>
          <a:lstStyle/>
          <a:p>
            <a:pPr>
              <a:lnSpc>
                <a:spcPct val="15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mn-ea"/>
              </a:rPr>
              <a:t>欢迎体验我们的全新PPT模板，这是一款专为提升演示效果而设计的多功能模板。它包含了多种布局和设计元素，以适应不同主题和风格的演示需求。模板中预设了多种幻灯片格式，如标题页、内容页、图表页和结束页，您可以根据内容的需要选择合适的布局。</a:t>
            </a:r>
          </a:p>
        </p:txBody>
      </p:sp>
      <p:pic>
        <p:nvPicPr>
          <p:cNvPr id="5" name="图片 4" descr="无背景logo白">
            <a:extLst>
              <a:ext uri="{FF2B5EF4-FFF2-40B4-BE49-F238E27FC236}">
                <a16:creationId xmlns:a16="http://schemas.microsoft.com/office/drawing/2014/main" id="{09E769F5-AC9F-5D26-FF22-4CA25DC8EC54}"/>
              </a:ext>
            </a:extLst>
          </p:cNvPr>
          <p:cNvPicPr>
            <a:picLocks noChangeAspect="1"/>
          </p:cNvPicPr>
          <p:nvPr/>
        </p:nvPicPr>
        <p:blipFill>
          <a:blip r:embed="rId2" cstate="print"/>
          <a:stretch>
            <a:fillRect/>
          </a:stretch>
        </p:blipFill>
        <p:spPr>
          <a:xfrm>
            <a:off x="10071729" y="5761355"/>
            <a:ext cx="1963420" cy="997585"/>
          </a:xfrm>
          <a:prstGeom prst="rect">
            <a:avLst/>
          </a:prstGeom>
        </p:spPr>
      </p:pic>
      <p:pic>
        <p:nvPicPr>
          <p:cNvPr id="9" name="图片 8">
            <a:extLst>
              <a:ext uri="{FF2B5EF4-FFF2-40B4-BE49-F238E27FC236}">
                <a16:creationId xmlns:a16="http://schemas.microsoft.com/office/drawing/2014/main" id="{44432C86-1CCB-0E4C-2E2D-FD779EB0CFC7}"/>
              </a:ext>
            </a:extLst>
          </p:cNvPr>
          <p:cNvPicPr>
            <a:picLocks noChangeAspect="1"/>
          </p:cNvPicPr>
          <p:nvPr/>
        </p:nvPicPr>
        <p:blipFill>
          <a:blip r:embed="rId3">
            <a:extLst>
              <a:ext uri="{28A0092B-C50C-407E-A947-70E740481C1C}">
                <a14:useLocalDpi xmlns:a14="http://schemas.microsoft.com/office/drawing/2010/main" val="0"/>
              </a:ext>
            </a:extLst>
          </a:blip>
          <a:srcRect t="7334" b="6616"/>
          <a:stretch/>
        </p:blipFill>
        <p:spPr>
          <a:xfrm>
            <a:off x="0" y="-1"/>
            <a:ext cx="12192000" cy="6915631"/>
          </a:xfrm>
          <a:prstGeom prst="rect">
            <a:avLst/>
          </a:prstGeom>
        </p:spPr>
      </p:pic>
      <p:pic>
        <p:nvPicPr>
          <p:cNvPr id="3" name="图片 2">
            <a:extLst>
              <a:ext uri="{FF2B5EF4-FFF2-40B4-BE49-F238E27FC236}">
                <a16:creationId xmlns:a16="http://schemas.microsoft.com/office/drawing/2014/main" id="{A1019E20-AF9F-8584-B012-5F8E1D612D2D}"/>
              </a:ext>
            </a:extLst>
          </p:cNvPr>
          <p:cNvPicPr>
            <a:picLocks noChangeAspect="1"/>
          </p:cNvPicPr>
          <p:nvPr/>
        </p:nvPicPr>
        <p:blipFill>
          <a:blip r:embed="rId4"/>
          <a:stretch>
            <a:fillRect/>
          </a:stretch>
        </p:blipFill>
        <p:spPr>
          <a:xfrm>
            <a:off x="1635511" y="-4821845"/>
            <a:ext cx="8920976" cy="5809426"/>
          </a:xfrm>
          <a:prstGeom prst="rect">
            <a:avLst/>
          </a:prstGeom>
        </p:spPr>
      </p:pic>
      <p:pic>
        <p:nvPicPr>
          <p:cNvPr id="7" name="图片 6">
            <a:extLst>
              <a:ext uri="{FF2B5EF4-FFF2-40B4-BE49-F238E27FC236}">
                <a16:creationId xmlns:a16="http://schemas.microsoft.com/office/drawing/2014/main" id="{47638165-5D7A-4DEC-90C9-F2E2056C93CC}"/>
              </a:ext>
            </a:extLst>
          </p:cNvPr>
          <p:cNvPicPr>
            <a:picLocks noChangeAspect="1"/>
          </p:cNvPicPr>
          <p:nvPr/>
        </p:nvPicPr>
        <p:blipFill>
          <a:blip r:embed="rId5"/>
          <a:stretch>
            <a:fillRect/>
          </a:stretch>
        </p:blipFill>
        <p:spPr>
          <a:xfrm>
            <a:off x="937668" y="1146490"/>
            <a:ext cx="10316661" cy="5107258"/>
          </a:xfrm>
          <a:prstGeom prst="rect">
            <a:avLst/>
          </a:prstGeom>
        </p:spPr>
      </p:pic>
      <p:pic>
        <p:nvPicPr>
          <p:cNvPr id="11" name="图片 10">
            <a:extLst>
              <a:ext uri="{FF2B5EF4-FFF2-40B4-BE49-F238E27FC236}">
                <a16:creationId xmlns:a16="http://schemas.microsoft.com/office/drawing/2014/main" id="{1E38390D-3A31-E6A3-39EF-8A2F79C88C12}"/>
              </a:ext>
            </a:extLst>
          </p:cNvPr>
          <p:cNvPicPr>
            <a:picLocks noChangeAspect="1"/>
          </p:cNvPicPr>
          <p:nvPr/>
        </p:nvPicPr>
        <p:blipFill>
          <a:blip r:embed="rId6"/>
          <a:stretch>
            <a:fillRect/>
          </a:stretch>
        </p:blipFill>
        <p:spPr>
          <a:xfrm>
            <a:off x="2209798" y="-2672109"/>
            <a:ext cx="7772400" cy="2672108"/>
          </a:xfrm>
          <a:prstGeom prst="rect">
            <a:avLst/>
          </a:prstGeom>
        </p:spPr>
      </p:pic>
    </p:spTree>
    <p:extLst>
      <p:ext uri="{BB962C8B-B14F-4D97-AF65-F5344CB8AC3E}">
        <p14:creationId xmlns:p14="http://schemas.microsoft.com/office/powerpoint/2010/main" val="2460808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5" cstate="print"/>
          <a:stretch>
            <a:fillRect/>
          </a:stretch>
        </p:blipFill>
        <p:spPr>
          <a:xfrm>
            <a:off x="0" y="0"/>
            <a:ext cx="12190095" cy="6857365"/>
          </a:xfrm>
          <a:prstGeom prst="rect">
            <a:avLst/>
          </a:prstGeom>
        </p:spPr>
      </p:pic>
      <p:sp>
        <p:nvSpPr>
          <p:cNvPr id="6" name="矩形 5"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custDataLst>
              <p:tags r:id="rId1"/>
            </p:custDataLst>
          </p:nvPr>
        </p:nvSpPr>
        <p:spPr>
          <a:xfrm>
            <a:off x="7373688" y="1359451"/>
            <a:ext cx="2137144" cy="44444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custDataLst>
              <p:tags r:id="rId2"/>
            </p:custDataLst>
          </p:nvPr>
        </p:nvSpPr>
        <p:spPr>
          <a:xfrm>
            <a:off x="4947798" y="1359451"/>
            <a:ext cx="2137144" cy="44444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p:cNvSpPr/>
          <p:nvPr>
            <p:custDataLst>
              <p:tags r:id="rId3"/>
            </p:custDataLst>
          </p:nvPr>
        </p:nvSpPr>
        <p:spPr>
          <a:xfrm>
            <a:off x="2601670" y="1359451"/>
            <a:ext cx="2137144" cy="44444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e7d195523061f1c0" descr="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 hidden="1"/>
          <p:cNvSpPr txBox="1"/>
          <p:nvPr/>
        </p:nvSpPr>
        <p:spPr>
          <a:xfrm>
            <a:off x="-355600" y="1803400"/>
            <a:ext cx="262251" cy="1016000"/>
          </a:xfrm>
          <a:prstGeom prst="rect">
            <a:avLst/>
          </a:prstGeom>
          <a:noFill/>
        </p:spPr>
        <p:txBody>
          <a:bodyPr vert="wordArtVert" rtlCol="0">
            <a:spAutoFit/>
          </a:bodyPr>
          <a:lstStyle/>
          <a:p>
            <a:r>
              <a:rPr lang="en-US" altLang="zh-CN" sz="100"/>
              <a:t>e7d195523061f1c0092ce48a5fc95870a0687ac45bc8b2caB227BFDC40F9DB2B7A559DE97B8BDC6E716585DDCE188C7BF488BAA08C98985C74A3E1B5E305210FABE6A8AE2A6A8AB67019A6860E9B7AF5AC4F99EFD0A04412BE2345DE803EC029409F15C3C6ABC93EED4C988CDE5BB35B872E03A0BCF88E56E66FBB67C4BD15CEDC2CEAC49C26BD3DF99D8473C1ECB5FA</a:t>
            </a:r>
            <a:endParaRPr lang="zh-CN" altLang="en-US" sz="100"/>
          </a:p>
        </p:txBody>
      </p:sp>
      <p:pic>
        <p:nvPicPr>
          <p:cNvPr id="5" name="图片 4" descr="无背景logo白"/>
          <p:cNvPicPr>
            <a:picLocks noChangeAspect="1"/>
          </p:cNvPicPr>
          <p:nvPr/>
        </p:nvPicPr>
        <p:blipFill>
          <a:blip r:embed="rId6" cstate="print"/>
          <a:stretch>
            <a:fillRect/>
          </a:stretch>
        </p:blipFill>
        <p:spPr>
          <a:xfrm>
            <a:off x="10059214" y="-4785"/>
            <a:ext cx="1963420" cy="997585"/>
          </a:xfrm>
          <a:prstGeom prst="rect">
            <a:avLst/>
          </a:prstGeom>
        </p:spPr>
      </p:pic>
      <p:sp>
        <p:nvSpPr>
          <p:cNvPr id="15" name="文本框 14">
            <a:extLst>
              <a:ext uri="{FF2B5EF4-FFF2-40B4-BE49-F238E27FC236}">
                <a16:creationId xmlns:a16="http://schemas.microsoft.com/office/drawing/2014/main" id="{955FAEB9-5EFE-1D60-B7B9-0F7CC1A8D6AF}"/>
              </a:ext>
            </a:extLst>
          </p:cNvPr>
          <p:cNvSpPr txBox="1"/>
          <p:nvPr/>
        </p:nvSpPr>
        <p:spPr>
          <a:xfrm>
            <a:off x="3362465" y="2422352"/>
            <a:ext cx="615553" cy="2317971"/>
          </a:xfrm>
          <a:prstGeom prst="rect">
            <a:avLst/>
          </a:prstGeom>
          <a:noFill/>
        </p:spPr>
        <p:txBody>
          <a:bodyPr vert="eaVert" wrap="square" rtlCol="0">
            <a:spAutoFit/>
          </a:bodyPr>
          <a:lstStyle/>
          <a:p>
            <a:r>
              <a:rPr kumimoji="1" lang="zh-CN" altLang="en-US" sz="2800" b="1" dirty="0"/>
              <a:t>供应链与加工</a:t>
            </a:r>
          </a:p>
        </p:txBody>
      </p:sp>
      <p:sp>
        <p:nvSpPr>
          <p:cNvPr id="20" name="文本框 19">
            <a:extLst>
              <a:ext uri="{FF2B5EF4-FFF2-40B4-BE49-F238E27FC236}">
                <a16:creationId xmlns:a16="http://schemas.microsoft.com/office/drawing/2014/main" id="{41449D5D-27AB-C7A4-20A1-8B1FE5C05C65}"/>
              </a:ext>
            </a:extLst>
          </p:cNvPr>
          <p:cNvSpPr txBox="1"/>
          <p:nvPr/>
        </p:nvSpPr>
        <p:spPr>
          <a:xfrm>
            <a:off x="5735790" y="2422351"/>
            <a:ext cx="615553" cy="2317971"/>
          </a:xfrm>
          <a:prstGeom prst="rect">
            <a:avLst/>
          </a:prstGeom>
          <a:noFill/>
        </p:spPr>
        <p:txBody>
          <a:bodyPr vert="eaVert" wrap="square" rtlCol="0">
            <a:spAutoFit/>
          </a:bodyPr>
          <a:lstStyle/>
          <a:p>
            <a:r>
              <a:rPr kumimoji="1" lang="zh-CN" altLang="en-US" sz="2800" b="1" dirty="0"/>
              <a:t>市场习惯培养</a:t>
            </a:r>
          </a:p>
        </p:txBody>
      </p:sp>
      <p:sp>
        <p:nvSpPr>
          <p:cNvPr id="23" name="文本框 22">
            <a:extLst>
              <a:ext uri="{FF2B5EF4-FFF2-40B4-BE49-F238E27FC236}">
                <a16:creationId xmlns:a16="http://schemas.microsoft.com/office/drawing/2014/main" id="{9084221B-0742-2B7A-F4A0-9ABE6D87B1A9}"/>
              </a:ext>
            </a:extLst>
          </p:cNvPr>
          <p:cNvSpPr txBox="1"/>
          <p:nvPr/>
        </p:nvSpPr>
        <p:spPr>
          <a:xfrm>
            <a:off x="8134484" y="2432074"/>
            <a:ext cx="615553" cy="2317971"/>
          </a:xfrm>
          <a:prstGeom prst="rect">
            <a:avLst/>
          </a:prstGeom>
          <a:noFill/>
        </p:spPr>
        <p:txBody>
          <a:bodyPr vert="eaVert" wrap="square" rtlCol="0">
            <a:spAutoFit/>
          </a:bodyPr>
          <a:lstStyle/>
          <a:p>
            <a:r>
              <a:rPr kumimoji="1" lang="zh-CN" altLang="en-US" sz="2800" b="1" dirty="0"/>
              <a:t>商业运营模式</a:t>
            </a:r>
          </a:p>
        </p:txBody>
      </p:sp>
      <p:sp>
        <p:nvSpPr>
          <p:cNvPr id="25" name="文本框 24">
            <a:extLst>
              <a:ext uri="{FF2B5EF4-FFF2-40B4-BE49-F238E27FC236}">
                <a16:creationId xmlns:a16="http://schemas.microsoft.com/office/drawing/2014/main" id="{DBFE33D2-8C25-AF00-87AA-E5F53E9B0F51}"/>
              </a:ext>
            </a:extLst>
          </p:cNvPr>
          <p:cNvSpPr txBox="1"/>
          <p:nvPr/>
        </p:nvSpPr>
        <p:spPr>
          <a:xfrm>
            <a:off x="2728136" y="3006729"/>
            <a:ext cx="461665" cy="1997612"/>
          </a:xfrm>
          <a:prstGeom prst="rect">
            <a:avLst/>
          </a:prstGeom>
          <a:noFill/>
        </p:spPr>
        <p:txBody>
          <a:bodyPr vert="eaVert" wrap="square" rtlCol="0">
            <a:spAutoFit/>
          </a:bodyPr>
          <a:lstStyle/>
          <a:p>
            <a:r>
              <a:rPr kumimoji="1" lang="zh-CN" altLang="en-US" dirty="0"/>
              <a:t>标准化</a:t>
            </a:r>
          </a:p>
        </p:txBody>
      </p:sp>
      <p:sp>
        <p:nvSpPr>
          <p:cNvPr id="26" name="文本框 25">
            <a:extLst>
              <a:ext uri="{FF2B5EF4-FFF2-40B4-BE49-F238E27FC236}">
                <a16:creationId xmlns:a16="http://schemas.microsoft.com/office/drawing/2014/main" id="{300AE744-5165-16E7-532F-34152ED447A4}"/>
              </a:ext>
            </a:extLst>
          </p:cNvPr>
          <p:cNvSpPr txBox="1"/>
          <p:nvPr/>
        </p:nvSpPr>
        <p:spPr>
          <a:xfrm>
            <a:off x="4150682" y="3021631"/>
            <a:ext cx="461665" cy="1119409"/>
          </a:xfrm>
          <a:prstGeom prst="rect">
            <a:avLst/>
          </a:prstGeom>
          <a:noFill/>
        </p:spPr>
        <p:txBody>
          <a:bodyPr vert="eaVert" wrap="square" rtlCol="0">
            <a:spAutoFit/>
          </a:bodyPr>
          <a:lstStyle/>
          <a:p>
            <a:r>
              <a:rPr kumimoji="1" lang="zh-CN" altLang="en-US" dirty="0"/>
              <a:t>产学研</a:t>
            </a:r>
          </a:p>
        </p:txBody>
      </p:sp>
      <p:sp>
        <p:nvSpPr>
          <p:cNvPr id="27" name="文本框 26">
            <a:extLst>
              <a:ext uri="{FF2B5EF4-FFF2-40B4-BE49-F238E27FC236}">
                <a16:creationId xmlns:a16="http://schemas.microsoft.com/office/drawing/2014/main" id="{88D3CE64-AE83-542B-8188-2D0E9A79CD9F}"/>
              </a:ext>
            </a:extLst>
          </p:cNvPr>
          <p:cNvSpPr txBox="1"/>
          <p:nvPr/>
        </p:nvSpPr>
        <p:spPr>
          <a:xfrm>
            <a:off x="6481416" y="1700101"/>
            <a:ext cx="461665" cy="2053883"/>
          </a:xfrm>
          <a:prstGeom prst="rect">
            <a:avLst/>
          </a:prstGeom>
          <a:noFill/>
        </p:spPr>
        <p:txBody>
          <a:bodyPr vert="eaVert" wrap="square" rtlCol="0">
            <a:spAutoFit/>
          </a:bodyPr>
          <a:lstStyle/>
          <a:p>
            <a:r>
              <a:rPr kumimoji="1" lang="zh-CN" altLang="en-US" dirty="0"/>
              <a:t>公信力</a:t>
            </a:r>
          </a:p>
        </p:txBody>
      </p:sp>
      <p:sp>
        <p:nvSpPr>
          <p:cNvPr id="28" name="文本框 27">
            <a:extLst>
              <a:ext uri="{FF2B5EF4-FFF2-40B4-BE49-F238E27FC236}">
                <a16:creationId xmlns:a16="http://schemas.microsoft.com/office/drawing/2014/main" id="{4219909B-1BEC-3FDD-941E-43ABC8BBD065}"/>
              </a:ext>
            </a:extLst>
          </p:cNvPr>
          <p:cNvSpPr txBox="1"/>
          <p:nvPr/>
        </p:nvSpPr>
        <p:spPr>
          <a:xfrm>
            <a:off x="5150247" y="4616681"/>
            <a:ext cx="461665" cy="2053883"/>
          </a:xfrm>
          <a:prstGeom prst="rect">
            <a:avLst/>
          </a:prstGeom>
          <a:noFill/>
        </p:spPr>
        <p:txBody>
          <a:bodyPr vert="eaVert" wrap="square" rtlCol="0">
            <a:spAutoFit/>
          </a:bodyPr>
          <a:lstStyle/>
          <a:p>
            <a:r>
              <a:rPr kumimoji="1" lang="zh-CN" altLang="en-US" dirty="0"/>
              <a:t>透明溯源</a:t>
            </a:r>
          </a:p>
        </p:txBody>
      </p:sp>
      <p:sp>
        <p:nvSpPr>
          <p:cNvPr id="29" name="文本框 28">
            <a:extLst>
              <a:ext uri="{FF2B5EF4-FFF2-40B4-BE49-F238E27FC236}">
                <a16:creationId xmlns:a16="http://schemas.microsoft.com/office/drawing/2014/main" id="{78648941-4511-79C6-AF9D-3D771C88F758}"/>
              </a:ext>
            </a:extLst>
          </p:cNvPr>
          <p:cNvSpPr txBox="1"/>
          <p:nvPr/>
        </p:nvSpPr>
        <p:spPr>
          <a:xfrm>
            <a:off x="5150247" y="1700101"/>
            <a:ext cx="461665" cy="2053883"/>
          </a:xfrm>
          <a:prstGeom prst="rect">
            <a:avLst/>
          </a:prstGeom>
          <a:noFill/>
        </p:spPr>
        <p:txBody>
          <a:bodyPr vert="eaVert" wrap="square" rtlCol="0">
            <a:spAutoFit/>
          </a:bodyPr>
          <a:lstStyle/>
          <a:p>
            <a:r>
              <a:rPr kumimoji="1" lang="zh-CN" altLang="en-US" dirty="0"/>
              <a:t>工作坊</a:t>
            </a:r>
          </a:p>
        </p:txBody>
      </p:sp>
      <p:sp>
        <p:nvSpPr>
          <p:cNvPr id="30" name="文本框 29">
            <a:extLst>
              <a:ext uri="{FF2B5EF4-FFF2-40B4-BE49-F238E27FC236}">
                <a16:creationId xmlns:a16="http://schemas.microsoft.com/office/drawing/2014/main" id="{7D35F228-78EA-F1CB-FF00-2E12FC0BFF37}"/>
              </a:ext>
            </a:extLst>
          </p:cNvPr>
          <p:cNvSpPr txBox="1"/>
          <p:nvPr/>
        </p:nvSpPr>
        <p:spPr>
          <a:xfrm>
            <a:off x="6500908" y="4655046"/>
            <a:ext cx="461665" cy="2053883"/>
          </a:xfrm>
          <a:prstGeom prst="rect">
            <a:avLst/>
          </a:prstGeom>
          <a:noFill/>
        </p:spPr>
        <p:txBody>
          <a:bodyPr vert="eaVert" wrap="square" rtlCol="0">
            <a:spAutoFit/>
          </a:bodyPr>
          <a:lstStyle/>
          <a:p>
            <a:r>
              <a:rPr kumimoji="1" lang="zh-CN" altLang="en-US" dirty="0"/>
              <a:t>等级制</a:t>
            </a:r>
          </a:p>
        </p:txBody>
      </p:sp>
      <p:sp>
        <p:nvSpPr>
          <p:cNvPr id="31" name="文本框 30">
            <a:extLst>
              <a:ext uri="{FF2B5EF4-FFF2-40B4-BE49-F238E27FC236}">
                <a16:creationId xmlns:a16="http://schemas.microsoft.com/office/drawing/2014/main" id="{0C96C4B7-0B16-8C49-A1F9-6A5FC5294B03}"/>
              </a:ext>
            </a:extLst>
          </p:cNvPr>
          <p:cNvSpPr txBox="1"/>
          <p:nvPr/>
        </p:nvSpPr>
        <p:spPr>
          <a:xfrm>
            <a:off x="7547034" y="2769469"/>
            <a:ext cx="461665" cy="2053883"/>
          </a:xfrm>
          <a:prstGeom prst="rect">
            <a:avLst/>
          </a:prstGeom>
          <a:noFill/>
        </p:spPr>
        <p:txBody>
          <a:bodyPr vert="eaVert" wrap="square" rtlCol="0">
            <a:spAutoFit/>
          </a:bodyPr>
          <a:lstStyle/>
          <a:p>
            <a:r>
              <a:rPr kumimoji="1" lang="zh-CN" altLang="en-US" dirty="0"/>
              <a:t>试点</a:t>
            </a:r>
            <a:r>
              <a:rPr kumimoji="1" lang="en-US" altLang="zh-CN" dirty="0"/>
              <a:t>-</a:t>
            </a:r>
            <a:r>
              <a:rPr kumimoji="1" lang="zh-CN" altLang="en-US" dirty="0"/>
              <a:t>推广</a:t>
            </a:r>
            <a:r>
              <a:rPr kumimoji="1" lang="en-US" altLang="zh-CN" dirty="0"/>
              <a:t>-</a:t>
            </a:r>
            <a:r>
              <a:rPr kumimoji="1" lang="zh-CN" altLang="en-US" dirty="0"/>
              <a:t>衍生</a:t>
            </a:r>
          </a:p>
        </p:txBody>
      </p:sp>
      <p:sp>
        <p:nvSpPr>
          <p:cNvPr id="32" name="文本框 31">
            <a:extLst>
              <a:ext uri="{FF2B5EF4-FFF2-40B4-BE49-F238E27FC236}">
                <a16:creationId xmlns:a16="http://schemas.microsoft.com/office/drawing/2014/main" id="{5B246314-47D8-27B1-7C0D-5F7ADC3F3810}"/>
              </a:ext>
            </a:extLst>
          </p:cNvPr>
          <p:cNvSpPr txBox="1"/>
          <p:nvPr/>
        </p:nvSpPr>
        <p:spPr>
          <a:xfrm>
            <a:off x="8873542" y="3123821"/>
            <a:ext cx="461665" cy="2053883"/>
          </a:xfrm>
          <a:prstGeom prst="rect">
            <a:avLst/>
          </a:prstGeom>
          <a:noFill/>
        </p:spPr>
        <p:txBody>
          <a:bodyPr vert="eaVert" wrap="square" rtlCol="0">
            <a:spAutoFit/>
          </a:bodyPr>
          <a:lstStyle/>
          <a:p>
            <a:r>
              <a:rPr kumimoji="1" lang="en-US" altLang="zh-CN" dirty="0"/>
              <a:t>B</a:t>
            </a:r>
            <a:r>
              <a:rPr kumimoji="1" lang="zh-CN" altLang="en-US" dirty="0"/>
              <a:t>端供应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31" grpId="0"/>
      <p:bldP spid="32"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hmNjAzMWJlZjFkMmQwODUwMTJkYzE2ODFiYmFmYTc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9.69149606299214,&quot;left&quot;:211.68874015748034,&quot;top&quot;:99.2,&quot;width&quot;:687.751259842519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9.69149606299214,&quot;left&quot;:211.68874015748034,&quot;top&quot;:99.2,&quot;width&quot;:687.751259842519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9.69149606299214,&quot;left&quot;:211.68874015748034,&quot;top&quot;:99.2,&quot;width&quot;:687.751259842519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9.69149606299214,&quot;left&quot;:211.68874015748034,&quot;top&quot;:99.2,&quot;width&quot;:687.751259842519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9.69149606299214,&quot;left&quot;:211.68874015748034,&quot;top&quot;:99.2,&quot;width&quot;:687.751259842519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9.69149606299214,&quot;left&quot;:211.68874015748034,&quot;top&quot;:99.2,&quot;width&quot;:687.751259842519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9.95354330708653,&quot;left&quot;:-149.2512598425197,&quot;top&quot;:95.02322834645669,&quot;width&quot;:1041.09850393700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9.95354330708653,&quot;left&quot;:-149.2512598425197,&quot;top&quot;:95.02322834645669,&quot;width&quot;:1041.09850393700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9.95354330708653,&quot;left&quot;:-149.2512598425197,&quot;top&quot;:95.02322834645669,&quot;width&quot;:1041.0985039370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1125</Words>
  <Application>Microsoft Macintosh PowerPoint</Application>
  <PresentationFormat>宽屏</PresentationFormat>
  <Paragraphs>41</Paragraphs>
  <Slides>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微软雅黑</vt:lpstr>
      <vt:lpstr>等线 Light</vt:lpstr>
      <vt:lpstr>微软雅黑</vt:lpstr>
      <vt:lpstr>SimSun</vt:lpstr>
      <vt:lpstr>Arial</vt:lpstr>
      <vt:lpstr>Hakuu</vt:lpstr>
      <vt:lpstr>SimHei</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©PPTSTORE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dc:description>©PPTSTORE 版权所有</dc:description>
  <cp:revision>36</cp:revision>
  <dcterms:created xsi:type="dcterms:W3CDTF">2020-08-12T01:18:00Z</dcterms:created>
  <dcterms:modified xsi:type="dcterms:W3CDTF">2025-11-08T08:21:26Z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2081E18F5FE1423098D5977879FCE2C7_12</vt:lpwstr>
  </property>
</Properties>
</file>