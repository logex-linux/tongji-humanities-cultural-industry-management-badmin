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46"/>
  </p:notesMasterIdLst>
  <p:sldIdLst>
    <p:sldId id="256" r:id="rId2"/>
    <p:sldId id="444" r:id="rId3"/>
    <p:sldId id="445" r:id="rId4"/>
    <p:sldId id="446" r:id="rId5"/>
    <p:sldId id="481" r:id="rId6"/>
    <p:sldId id="447" r:id="rId7"/>
    <p:sldId id="448" r:id="rId8"/>
    <p:sldId id="450" r:id="rId9"/>
    <p:sldId id="453" r:id="rId10"/>
    <p:sldId id="457" r:id="rId11"/>
    <p:sldId id="478" r:id="rId12"/>
    <p:sldId id="479" r:id="rId13"/>
    <p:sldId id="480" r:id="rId14"/>
    <p:sldId id="488" r:id="rId15"/>
    <p:sldId id="458" r:id="rId16"/>
    <p:sldId id="477" r:id="rId17"/>
    <p:sldId id="461" r:id="rId18"/>
    <p:sldId id="460" r:id="rId19"/>
    <p:sldId id="490" r:id="rId20"/>
    <p:sldId id="464" r:id="rId21"/>
    <p:sldId id="462" r:id="rId22"/>
    <p:sldId id="463" r:id="rId23"/>
    <p:sldId id="465" r:id="rId24"/>
    <p:sldId id="466" r:id="rId25"/>
    <p:sldId id="467" r:id="rId26"/>
    <p:sldId id="468" r:id="rId27"/>
    <p:sldId id="476" r:id="rId28"/>
    <p:sldId id="474" r:id="rId29"/>
    <p:sldId id="475" r:id="rId30"/>
    <p:sldId id="472" r:id="rId31"/>
    <p:sldId id="473" r:id="rId32"/>
    <p:sldId id="469" r:id="rId33"/>
    <p:sldId id="470" r:id="rId34"/>
    <p:sldId id="491" r:id="rId35"/>
    <p:sldId id="492" r:id="rId36"/>
    <p:sldId id="493" r:id="rId37"/>
    <p:sldId id="471" r:id="rId38"/>
    <p:sldId id="482" r:id="rId39"/>
    <p:sldId id="487" r:id="rId40"/>
    <p:sldId id="483" r:id="rId41"/>
    <p:sldId id="484" r:id="rId42"/>
    <p:sldId id="486" r:id="rId43"/>
    <p:sldId id="489" r:id="rId44"/>
    <p:sldId id="485" r:id="rId45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FFCC"/>
    <a:srgbClr val="FF6600"/>
    <a:srgbClr val="000096"/>
    <a:srgbClr val="0000B4"/>
    <a:srgbClr val="000066"/>
    <a:srgbClr val="A50021"/>
    <a:srgbClr val="0000A8"/>
    <a:srgbClr val="00FFA8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5" autoAdjust="0"/>
    <p:restoredTop sz="95414" autoAdjust="0"/>
  </p:normalViewPr>
  <p:slideViewPr>
    <p:cSldViewPr>
      <p:cViewPr varScale="1">
        <p:scale>
          <a:sx n="59" d="100"/>
          <a:sy n="59" d="100"/>
        </p:scale>
        <p:origin x="76" y="10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4592A4-E237-4A56-9CB9-39DC0234BDB2}" type="datetimeFigureOut">
              <a:rPr lang="zh-CN" altLang="en-US"/>
              <a:pPr>
                <a:defRPr/>
              </a:pPr>
              <a:t>2025/5/7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941A3E1-9B29-4EC3-8654-927667BFF2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8606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73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面向过程的程序设计把计算机程序视为一系列的命令集合，即一组函数的顺序执行。为了简化程序设计，面向过程把函数继续切分为子函数，即把大块函数通过切割成小块函数来降低系统的复杂度。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而面向对象的程序设计把计算机程序视为一组对象的集合，而每个对象都可以接收其他对象发过来的消息，并处理这些消息，计算机程序的执行就是一系列消息在各个对象之间传递。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假设我们要处理学生的成绩表，为了表示一个学生的成绩，面向过程的程序可以用一个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表示：而处理学生成绩可以通过函数实现，比如打印学生的成绩：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如果采用面向对象的程序设计思想，我们首选思考的不是程序的执行流程，而是</a:t>
            </a:r>
            <a:r>
              <a:rPr lang="en-US" altLang="zh-CN" dirty="0"/>
              <a:t>Student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这种数据类型应该被视为一个对象，这个对象拥有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dirty="0"/>
              <a:t>name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dirty="0"/>
              <a:t>score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这些属性。如果要打印一个学生的信息，首先必须创建出这个学生对应的对象，然后，给对象发一个</a:t>
            </a:r>
            <a:r>
              <a:rPr lang="en-US" altLang="zh-CN" dirty="0" err="1"/>
              <a:t>Disp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消息，让对象自己把自己的数据打印出来。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给对象发消息实际上就是调用对象对应的关联函数，我们称之为对象的方法（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）。面向对象的程序写出来就像这样：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面向对象的设计思想是从自然界中来的，因为在自然界中，类（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）和实例（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）的概念是很自然的。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是一种抽象概念，比如我们定义的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Class——Student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，是指学生这个概念，而实例（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）则是一个个具体的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，比如，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Bart Simpson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Lisa Simpson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是两个具体的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所以，面向对象的设计思想是抽象出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，根据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创建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面向对象的抽象程度又比函数要高，因为一个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既包含数据，又包含操作数据的方法。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80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面向过程的程序设计把计算机程序视为一系列的命令集合，即一组函数的顺序执行。为了简化程序设计，面向过程把函数继续切分为子函数，即把大块函数通过切割成小块函数来降低系统的复杂度。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而面向对象的程序设计把计算机程序视为一组对象的集合，而每个对象都可以接收其他对象发过来的消息，并处理这些消息，计算机程序的执行就是一系列消息在各个对象之间传递。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假设我们要处理学生的成绩表，为了表示一个学生的成绩，面向过程的程序可以用一个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表示：而处理学生成绩可以通过函数实现，比如打印学生的成绩：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如果采用面向对象的程序设计思想，我们首选思考的不是程序的执行流程，而是</a:t>
            </a:r>
            <a:r>
              <a:rPr lang="en-US" altLang="zh-CN" dirty="0"/>
              <a:t>Student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这种数据类型应该被视为一个对象，这个对象拥有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dirty="0"/>
              <a:t>name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dirty="0"/>
              <a:t>score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这些属性。如果要打印一个学生的信息，首先必须创建出这个学生对应的对象，然后，给对象发一个</a:t>
            </a:r>
            <a:r>
              <a:rPr lang="en-US" altLang="zh-CN" dirty="0" err="1"/>
              <a:t>Disp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消息，让对象自己把自己的数据打印出来。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给对象发消息实际上就是调用对象对应的关联函数，我们称之为对象的方法（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）。面向对象的程序写出来就像这样：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面向对象的设计思想是从自然界中来的，因为在自然界中，类（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）和实例（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）的概念是很自然的。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是一种抽象概念，比如我们定义的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Class——Student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，是指学生这个概念，而实例（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）则是一个个具体的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，比如，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Bart Simpson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Lisa Simpson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是两个具体的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所以，面向对象的设计思想是抽象出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，根据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创建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面向对象的抽象程度又比函数要高，因为一个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既包含数据，又包含操作数据的方法。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28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527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820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790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102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022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B42E4-DEB8-40F5-B406-1350BFC94BD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497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"/>
          <p:cNvSpPr>
            <a:spLocks noChangeArrowheads="1"/>
          </p:cNvSpPr>
          <p:nvPr/>
        </p:nvSpPr>
        <p:spPr bwMode="gray">
          <a:xfrm>
            <a:off x="0" y="4712445"/>
            <a:ext cx="12192000" cy="2132856"/>
          </a:xfrm>
          <a:prstGeom prst="rect">
            <a:avLst/>
          </a:prstGeom>
          <a:gradFill rotWithShape="1">
            <a:gsLst>
              <a:gs pos="0">
                <a:srgbClr val="003569"/>
              </a:gs>
              <a:gs pos="100000">
                <a:srgbClr val="417EB5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Line 65"/>
          <p:cNvSpPr>
            <a:spLocks noChangeShapeType="1"/>
          </p:cNvSpPr>
          <p:nvPr/>
        </p:nvSpPr>
        <p:spPr bwMode="gray">
          <a:xfrm>
            <a:off x="0" y="4712445"/>
            <a:ext cx="12192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6"/>
          <p:cNvSpPr txBox="1">
            <a:spLocks noChangeArrowheads="1"/>
          </p:cNvSpPr>
          <p:nvPr/>
        </p:nvSpPr>
        <p:spPr bwMode="auto">
          <a:xfrm>
            <a:off x="0" y="6537524"/>
            <a:ext cx="4026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83415D4A-526D-4DC9-BF32-C7B8DBFED9D6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pic>
        <p:nvPicPr>
          <p:cNvPr id="8" name="Picture 8" descr="http://www.rrcap.unep.org/userfiles/image/200px-Tongji_University_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3457" y="218483"/>
            <a:ext cx="995663" cy="980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111" name="Rectangle 47"/>
          <p:cNvSpPr>
            <a:spLocks noGrp="1" noChangeArrowheads="1"/>
          </p:cNvSpPr>
          <p:nvPr>
            <p:ph type="ctrTitle" sz="quarter"/>
          </p:nvPr>
        </p:nvSpPr>
        <p:spPr>
          <a:xfrm>
            <a:off x="1199456" y="2533925"/>
            <a:ext cx="10011833" cy="1470025"/>
          </a:xfrm>
        </p:spPr>
        <p:txBody>
          <a:bodyPr anchor="ctr"/>
          <a:lstStyle>
            <a:lvl1pPr algn="ctr">
              <a:defRPr sz="6000">
                <a:solidFill>
                  <a:srgbClr val="0070C0"/>
                </a:solidFill>
                <a:effectLst>
                  <a:reflection blurRad="6350" stA="55000" endA="50" endPos="85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15680" y="5301208"/>
            <a:ext cx="6940549" cy="1085859"/>
          </a:xfrm>
        </p:spPr>
        <p:txBody>
          <a:bodyPr/>
          <a:lstStyle>
            <a:lvl1pPr marL="0" indent="0" algn="ctr">
              <a:spcBef>
                <a:spcPct val="20000"/>
              </a:spcBef>
              <a:buClrTx/>
              <a:buFontTx/>
              <a:buNone/>
              <a:defRPr sz="2400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63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762001" y="6858000"/>
            <a:ext cx="24765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950253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02613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184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/>
        </p:nvSpPr>
        <p:spPr bwMode="gray">
          <a:xfrm>
            <a:off x="0" y="6525344"/>
            <a:ext cx="12192000" cy="33265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Line 56"/>
          <p:cNvSpPr>
            <a:spLocks noChangeShapeType="1"/>
          </p:cNvSpPr>
          <p:nvPr/>
        </p:nvSpPr>
        <p:spPr bwMode="gray">
          <a:xfrm>
            <a:off x="0" y="6525344"/>
            <a:ext cx="12192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9491" y="1196752"/>
            <a:ext cx="11057467" cy="510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29" name="Text Box 45"/>
          <p:cNvSpPr txBox="1">
            <a:spLocks noChangeArrowheads="1"/>
          </p:cNvSpPr>
          <p:nvPr/>
        </p:nvSpPr>
        <p:spPr bwMode="ltGray">
          <a:xfrm>
            <a:off x="11741998" y="6525344"/>
            <a:ext cx="4026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6FD76A5C-5101-48E2-B4FF-7E96E16CB41A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1030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601133" y="139701"/>
            <a:ext cx="11034184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pic>
        <p:nvPicPr>
          <p:cNvPr id="8" name="图片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" y="6525344"/>
            <a:ext cx="1144192" cy="307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3" r:id="rId3"/>
    <p:sldLayoutId id="2147483925" r:id="rId4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u"/>
        <a:defRPr sz="2400" b="1">
          <a:solidFill>
            <a:srgbClr val="0070C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2200">
          <a:solidFill>
            <a:schemeClr val="tx1"/>
          </a:solidFill>
          <a:latin typeface="华文新魏" pitchFamily="2" charset="-122"/>
          <a:ea typeface="华文新魏" pitchFamily="2" charset="-122"/>
        </a:defRPr>
      </a:lvl2pPr>
      <a:lvl3pPr marL="11430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华文新魏" pitchFamily="2" charset="-122"/>
          <a:ea typeface="华文新魏" pitchFamily="2" charset="-122"/>
        </a:defRPr>
      </a:lvl3pPr>
      <a:lvl4pPr marL="16002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1600">
          <a:solidFill>
            <a:schemeClr val="tx1"/>
          </a:solidFill>
          <a:latin typeface="华文新魏" pitchFamily="2" charset="-122"/>
          <a:ea typeface="华文新魏" pitchFamily="2" charset="-122"/>
        </a:defRPr>
      </a:lvl4pPr>
      <a:lvl5pPr marL="20574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  <a:ea typeface="华文新魏" pitchFamily="2" charset="-122"/>
        </a:defRPr>
      </a:lvl5pPr>
      <a:lvl6pPr marL="25146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ctrTitle" sz="quarter"/>
          </p:nvPr>
        </p:nvSpPr>
        <p:spPr>
          <a:xfrm>
            <a:off x="1571237" y="2276872"/>
            <a:ext cx="8494298" cy="1470025"/>
          </a:xfrm>
        </p:spPr>
        <p:txBody>
          <a:bodyPr/>
          <a:lstStyle/>
          <a:p>
            <a:pPr algn="ctr" eaLnBrk="1" hangingPunct="1"/>
            <a:r>
              <a:rPr lang="zh-CN" altLang="en-US" sz="6000" dirty="0">
                <a:solidFill>
                  <a:srgbClr val="0070C0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6000" dirty="0">
                <a:solidFill>
                  <a:srgbClr val="0070C0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6000" dirty="0">
                <a:solidFill>
                  <a:srgbClr val="0070C0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  面向对象基础</a:t>
            </a:r>
          </a:p>
        </p:txBody>
      </p:sp>
      <p:sp>
        <p:nvSpPr>
          <p:cNvPr id="4099" name="副标题 2"/>
          <p:cNvSpPr>
            <a:spLocks noGrp="1"/>
          </p:cNvSpPr>
          <p:nvPr>
            <p:ph type="subTitle" sz="quarter" idx="1"/>
          </p:nvPr>
        </p:nvSpPr>
        <p:spPr>
          <a:xfrm>
            <a:off x="3359696" y="5085184"/>
            <a:ext cx="5205412" cy="1439589"/>
          </a:xfrm>
        </p:spPr>
        <p:txBody>
          <a:bodyPr/>
          <a:lstStyle/>
          <a:p>
            <a:pPr algn="ctr" eaLnBrk="1" hangingPunct="1"/>
            <a:r>
              <a:rPr lang="zh-CN" altLang="en-US" sz="4000" dirty="0">
                <a:latin typeface="Bodoni MT Black"/>
              </a:rPr>
              <a:t>同济大学</a:t>
            </a:r>
            <a:endParaRPr lang="en-US" altLang="zh-CN" sz="4000" dirty="0">
              <a:latin typeface="Bodoni MT Black"/>
            </a:endParaRPr>
          </a:p>
          <a:p>
            <a:pPr algn="ctr" eaLnBrk="1" hangingPunct="1"/>
            <a:r>
              <a:rPr lang="zh-CN" altLang="en-US" sz="4000" dirty="0">
                <a:latin typeface="Bodoni MT Black"/>
              </a:rPr>
              <a:t>计算机基础教研室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423592" y="1196752"/>
            <a:ext cx="5035261" cy="868363"/>
          </a:xfrm>
        </p:spPr>
        <p:txBody>
          <a:bodyPr/>
          <a:lstStyle/>
          <a:p>
            <a:pPr algn="ctr" eaLnBrk="1" hangingPunct="1"/>
            <a:r>
              <a:rPr lang="zh-CN" altLang="en-US" sz="4000" dirty="0"/>
              <a:t>主要内容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423592" y="2204864"/>
            <a:ext cx="5904656" cy="3744416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7.1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面向对象程序设计概述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7.2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类和对象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7.3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继承和派生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7.4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综合应用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7.5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对象列表</a:t>
            </a:r>
          </a:p>
        </p:txBody>
      </p:sp>
    </p:spTree>
    <p:extLst>
      <p:ext uri="{BB962C8B-B14F-4D97-AF65-F5344CB8AC3E}">
        <p14:creationId xmlns:p14="http://schemas.microsoft.com/office/powerpoint/2010/main" val="237641028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/>
          </p:nvPr>
        </p:nvSpPr>
        <p:spPr>
          <a:xfrm>
            <a:off x="827936" y="1640165"/>
            <a:ext cx="9371384" cy="3363284"/>
          </a:xfrm>
        </p:spPr>
        <p:txBody>
          <a:bodyPr/>
          <a:lstStyle/>
          <a:p>
            <a:pPr eaLnBrk="1" hangingPunct="1"/>
            <a:r>
              <a:rPr lang="zh-CN" altLang="en-US" b="0" dirty="0">
                <a:solidFill>
                  <a:schemeClr val="tx1"/>
                </a:solidFill>
              </a:rPr>
              <a:t>类是对象的“蓝图”</a:t>
            </a:r>
            <a:endParaRPr lang="en-US" altLang="zh-CN" b="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b="0" dirty="0">
                <a:solidFill>
                  <a:schemeClr val="tx1"/>
                </a:solidFill>
              </a:rPr>
              <a:t>类规定了对象的特征</a:t>
            </a:r>
            <a:endParaRPr lang="en-US" altLang="zh-CN" b="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b="0" dirty="0">
                <a:solidFill>
                  <a:schemeClr val="tx1"/>
                </a:solidFill>
              </a:rPr>
              <a:t>对象是根据“蓝图”生产出的产品</a:t>
            </a:r>
            <a:endParaRPr lang="en-US" altLang="zh-CN" b="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b="0" dirty="0">
                <a:solidFill>
                  <a:schemeClr val="tx1"/>
                </a:solidFill>
              </a:rPr>
              <a:t>从同一个类产生出的对象具有相同的结构和规格，却在某些特性上有其不同之处</a:t>
            </a:r>
            <a:endParaRPr lang="en-US" altLang="zh-CN" b="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b="0" dirty="0">
                <a:solidFill>
                  <a:schemeClr val="tx1"/>
                </a:solidFill>
              </a:rPr>
              <a:t>总之，类是现实生活中一类具有共同特征的事物的抽象。</a:t>
            </a:r>
            <a:endParaRPr lang="en-US" altLang="zh-CN" b="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sz="2800" dirty="0"/>
              <a:t>类是对象的</a:t>
            </a:r>
            <a:r>
              <a:rPr lang="zh-CN" altLang="en-US" sz="2800" dirty="0">
                <a:solidFill>
                  <a:srgbClr val="C00000"/>
                </a:solidFill>
              </a:rPr>
              <a:t>模板</a:t>
            </a:r>
            <a:r>
              <a:rPr lang="zh-CN" altLang="en-US" sz="2800" dirty="0"/>
              <a:t>，对象是类的</a:t>
            </a:r>
            <a:r>
              <a:rPr lang="zh-CN" altLang="en-US" sz="2800" dirty="0">
                <a:solidFill>
                  <a:srgbClr val="C00000"/>
                </a:solidFill>
              </a:rPr>
              <a:t>实例</a:t>
            </a:r>
          </a:p>
        </p:txBody>
      </p:sp>
      <p:sp>
        <p:nvSpPr>
          <p:cNvPr id="5123" name="Title 1"/>
          <p:cNvSpPr>
            <a:spLocks noGrp="1"/>
          </p:cNvSpPr>
          <p:nvPr>
            <p:ph type="title" idx="4294967295"/>
          </p:nvPr>
        </p:nvSpPr>
        <p:spPr>
          <a:xfrm>
            <a:off x="911424" y="865802"/>
            <a:ext cx="2448272" cy="609457"/>
          </a:xfrm>
        </p:spPr>
        <p:txBody>
          <a:bodyPr/>
          <a:lstStyle/>
          <a:p>
            <a:pPr eaLnBrk="1" hangingPunct="1"/>
            <a:r>
              <a:rPr lang="zh-CN" altLang="en-US" sz="3600" dirty="0"/>
              <a:t>类</a:t>
            </a:r>
            <a:r>
              <a:rPr lang="zh-CN" altLang="en-US" sz="3600" dirty="0">
                <a:sym typeface="Wingdings" panose="05000000000000000000" pitchFamily="2" charset="2"/>
              </a:rPr>
              <a:t>与对象</a:t>
            </a:r>
            <a:endParaRPr lang="en-US" altLang="zh-CN" sz="3600" dirty="0"/>
          </a:p>
        </p:txBody>
      </p:sp>
      <p:pic>
        <p:nvPicPr>
          <p:cNvPr id="5124" name="Picture 6" descr="http://photocdn.sohu.com/20050407/Img22507906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327" y="62839"/>
            <a:ext cx="428625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439816" y="269017"/>
            <a:ext cx="4896544" cy="1803026"/>
            <a:chOff x="381000" y="1600200"/>
            <a:chExt cx="5182297" cy="1828800"/>
          </a:xfrm>
        </p:grpSpPr>
        <p:pic>
          <p:nvPicPr>
            <p:cNvPr id="5137" name="Picture 8" descr="http://www.zjjok.com/pubfiles/20093271426026250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49" t="35001" r="21249" b="20000"/>
            <a:stretch>
              <a:fillRect/>
            </a:stretch>
          </p:blipFill>
          <p:spPr bwMode="auto">
            <a:xfrm>
              <a:off x="381000" y="1600200"/>
              <a:ext cx="3793067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8" name="Right Arrow 10"/>
            <p:cNvSpPr>
              <a:spLocks noChangeArrowheads="1"/>
            </p:cNvSpPr>
            <p:nvPr/>
          </p:nvSpPr>
          <p:spPr bwMode="auto">
            <a:xfrm rot="10800000">
              <a:off x="4218369" y="1964598"/>
              <a:ext cx="1344928" cy="356225"/>
            </a:xfrm>
            <a:prstGeom prst="rightArrow">
              <a:avLst>
                <a:gd name="adj1" fmla="val 50000"/>
                <a:gd name="adj2" fmla="val 50001"/>
              </a:avLst>
            </a:prstGeom>
            <a:solidFill>
              <a:schemeClr val="accent1"/>
            </a:solidFill>
            <a:ln w="55000" cmpd="thickThin" algn="ctr">
              <a:solidFill>
                <a:srgbClr val="1E768C"/>
              </a:solidFill>
              <a:miter lim="800000"/>
              <a:headEnd/>
              <a:tailEnd/>
            </a:ln>
          </p:spPr>
          <p:txBody>
            <a:bodyPr rot="1080000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FFFFFF"/>
                </a:solidFill>
                <a:latin typeface="Lucida Sans Unicode" panose="020B0602030504020204" pitchFamily="34" charset="0"/>
              </a:endParaRP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159895" y="2458731"/>
            <a:ext cx="3511625" cy="4038335"/>
            <a:chOff x="609600" y="722233"/>
            <a:chExt cx="4091467" cy="5297567"/>
          </a:xfrm>
        </p:grpSpPr>
        <p:pic>
          <p:nvPicPr>
            <p:cNvPr id="5135" name="Picture 10" descr="http://pic.anhuinews.com/0/01/72/49/1724946_411705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47" t="26447" r="9277" b="20660"/>
            <a:stretch>
              <a:fillRect/>
            </a:stretch>
          </p:blipFill>
          <p:spPr bwMode="auto">
            <a:xfrm>
              <a:off x="609600" y="4191000"/>
              <a:ext cx="3810000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6" name="Right Arrow 11"/>
            <p:cNvSpPr>
              <a:spLocks noChangeArrowheads="1"/>
            </p:cNvSpPr>
            <p:nvPr/>
          </p:nvSpPr>
          <p:spPr bwMode="auto">
            <a:xfrm rot="6645112">
              <a:off x="2834514" y="2501312"/>
              <a:ext cx="3645632" cy="87474"/>
            </a:xfrm>
            <a:prstGeom prst="rightArrow">
              <a:avLst>
                <a:gd name="adj1" fmla="val 47477"/>
                <a:gd name="adj2" fmla="val 50007"/>
              </a:avLst>
            </a:prstGeom>
            <a:solidFill>
              <a:schemeClr val="accent1"/>
            </a:solidFill>
            <a:ln w="55000" cmpd="thickThin" algn="ctr">
              <a:solidFill>
                <a:srgbClr val="1E768C"/>
              </a:solidFill>
              <a:miter lim="800000"/>
              <a:headEnd/>
              <a:tailEnd/>
            </a:ln>
          </p:spPr>
          <p:txBody>
            <a:bodyPr rot="10800000" vert="eaVert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FFFFFF"/>
                </a:solidFill>
                <a:latin typeface="Lucida Sans Unicode" panose="020B0602030504020204" pitchFamily="34" charset="0"/>
              </a:endParaRP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9336360" y="2780932"/>
            <a:ext cx="2650713" cy="3562566"/>
            <a:chOff x="5233737" y="1839046"/>
            <a:chExt cx="3910263" cy="4409354"/>
          </a:xfrm>
        </p:grpSpPr>
        <p:pic>
          <p:nvPicPr>
            <p:cNvPr id="5133" name="Picture 12" descr="http://res5.auto.ifeng.com/s/9637/26/7/13518233561200_7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20" t="21239" r="3246" b="11504"/>
            <a:stretch>
              <a:fillRect/>
            </a:stretch>
          </p:blipFill>
          <p:spPr bwMode="auto">
            <a:xfrm>
              <a:off x="5233737" y="4343400"/>
              <a:ext cx="3910263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4" name="Right Arrow 12"/>
            <p:cNvSpPr>
              <a:spLocks noChangeArrowheads="1"/>
            </p:cNvSpPr>
            <p:nvPr/>
          </p:nvSpPr>
          <p:spPr bwMode="auto">
            <a:xfrm rot="5400000">
              <a:off x="6565799" y="2664534"/>
              <a:ext cx="2361482" cy="710506"/>
            </a:xfrm>
            <a:prstGeom prst="rightArrow">
              <a:avLst>
                <a:gd name="adj1" fmla="val 50000"/>
                <a:gd name="adj2" fmla="val 49996"/>
              </a:avLst>
            </a:prstGeom>
            <a:solidFill>
              <a:schemeClr val="accent1"/>
            </a:solidFill>
            <a:ln w="55000" cmpd="thickThin" algn="ctr">
              <a:solidFill>
                <a:srgbClr val="1E768C"/>
              </a:solidFill>
              <a:miter lim="800000"/>
              <a:headEnd/>
              <a:tailEnd/>
            </a:ln>
          </p:spPr>
          <p:txBody>
            <a:bodyPr rot="10800000" vert="eaVert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FFFFFF"/>
                </a:solidFill>
                <a:latin typeface="Lucida Sans Unicode" panose="020B0602030504020204" pitchFamily="34" charset="0"/>
              </a:endParaRPr>
            </a:p>
          </p:txBody>
        </p:sp>
      </p:grpSp>
      <p:sp>
        <p:nvSpPr>
          <p:cNvPr id="71694" name="Rectangle 14"/>
          <p:cNvSpPr>
            <a:spLocks noChangeArrowheads="1"/>
          </p:cNvSpPr>
          <p:nvPr/>
        </p:nvSpPr>
        <p:spPr bwMode="auto">
          <a:xfrm>
            <a:off x="3549651" y="4973915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96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844262"/>
            <a:ext cx="6048672" cy="2457887"/>
          </a:xfrm>
        </p:spPr>
        <p:txBody>
          <a:bodyPr/>
          <a:lstStyle/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类是一种抽象概念，对象是类的实例</a:t>
            </a:r>
            <a:endParaRPr lang="en-US" altLang="zh-CN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Python</a:t>
            </a: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中，所有的数据类型都是对象</a:t>
            </a:r>
            <a:endParaRPr lang="en-US" altLang="zh-CN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面向对象的设计思想：</a:t>
            </a:r>
            <a:endParaRPr lang="en-US" altLang="zh-CN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抽象出类</a:t>
            </a:r>
            <a:endParaRPr lang="en-US" altLang="zh-CN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根据类创建对象</a:t>
            </a:r>
            <a:endParaRPr lang="en-US" altLang="zh-CN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1424" y="264245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面向过程与面向对象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27" y="1711815"/>
            <a:ext cx="7610204" cy="17720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05" y="3674670"/>
            <a:ext cx="5114925" cy="27622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内容占位符 2"/>
          <p:cNvSpPr txBox="1">
            <a:spLocks/>
          </p:cNvSpPr>
          <p:nvPr/>
        </p:nvSpPr>
        <p:spPr bwMode="auto">
          <a:xfrm>
            <a:off x="5995230" y="3665628"/>
            <a:ext cx="6048672" cy="245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u"/>
              <a:defRPr sz="2400" b="1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差异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过程，函数和数据是分离的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对象：数据和处理数据的代码组合在一起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0304766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9876" y="980728"/>
            <a:ext cx="10657184" cy="496506"/>
          </a:xfrm>
        </p:spPr>
        <p:txBody>
          <a:bodyPr/>
          <a:lstStyle/>
          <a:p>
            <a:r>
              <a:rPr lang="zh-CN" altLang="en-US" b="0" dirty="0">
                <a:latin typeface="黑体" panose="02010609060101010101" pitchFamily="49" charset="-122"/>
                <a:ea typeface="黑体" panose="02010609060101010101" pitchFamily="49" charset="-122"/>
              </a:rPr>
              <a:t>数据与处理数据的方法，是封装在一起的</a:t>
            </a:r>
            <a:endParaRPr lang="en-US" altLang="zh-CN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1424" y="264245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747053" y="3861048"/>
            <a:ext cx="10657184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u"/>
              <a:defRPr sz="2400" b="1">
                <a:solidFill>
                  <a:srgbClr val="0070C0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构建了一个列表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，由于列表是对象，它有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sort()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方法，因此通过</a:t>
            </a:r>
            <a:r>
              <a:rPr lang="en-US" altLang="zh-CN" dirty="0" err="1">
                <a:latin typeface="等线" panose="02010600030101010101" pitchFamily="2" charset="-122"/>
                <a:ea typeface="等线" panose="02010600030101010101" pitchFamily="2" charset="-122"/>
              </a:rPr>
              <a:t>x.sort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的调用将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引用的对象进行排序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.</a:t>
            </a:r>
          </a:p>
          <a:p>
            <a:pPr marL="0" indent="0">
              <a:buFontTx/>
              <a:buNone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sort()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是一个函数，一组代码组成</a:t>
            </a:r>
          </a:p>
        </p:txBody>
      </p:sp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887836" y="1666350"/>
            <a:ext cx="10608763" cy="156966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 = [</a:t>
            </a:r>
            <a:r>
              <a:rPr lang="en-US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en-US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en-US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</a:t>
            </a: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-</a:t>
            </a:r>
            <a:r>
              <a:rPr lang="en-US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en-US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x.sort()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print(x)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[-</a:t>
            </a:r>
            <a:r>
              <a:rPr lang="en-US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2, </a:t>
            </a:r>
            <a:r>
              <a:rPr lang="en-US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en-US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</a:t>
            </a: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en-US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fr-FR" altLang="zh-CN" sz="2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04264843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911424" y="619708"/>
            <a:ext cx="7162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</a:p>
        </p:txBody>
      </p:sp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900903" y="1352511"/>
            <a:ext cx="10513168" cy="443198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对象：</a:t>
            </a:r>
            <a:r>
              <a:rPr lang="zh-CN" altLang="en-US" sz="24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现实世界的实体，每个对象都有自己的特征和行为</a:t>
            </a:r>
            <a:b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具体的概念，如某个人，某辆汽车  </a:t>
            </a:r>
            <a:endParaRPr lang="en-US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类：</a:t>
            </a:r>
            <a:r>
              <a:rPr lang="zh-CN" altLang="en-US" sz="24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对一组对象共有属性特征和行为的抽象</a:t>
            </a:r>
            <a:r>
              <a:rPr lang="en-US" altLang="zh-CN" sz="24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如人类，汽车等</a:t>
            </a:r>
            <a:endParaRPr lang="en-US" altLang="zh-CN" sz="26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数据描述：数据名称、类型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行为描述：有哪些行为，如何实现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600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抽象：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一个类是一组对象的抽象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抽取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出</a:t>
            </a:r>
            <a:r>
              <a:rPr lang="zh-CN" altLang="en-US" sz="2400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用得上的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共同特征</a:t>
            </a:r>
            <a:endParaRPr lang="en-US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完成必须完成的动作。</a:t>
            </a:r>
            <a:endParaRPr lang="zh-CN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7343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 idx="4294967295"/>
          </p:nvPr>
        </p:nvSpPr>
        <p:spPr>
          <a:xfrm>
            <a:off x="983432" y="445876"/>
            <a:ext cx="7772400" cy="5715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0070C0"/>
                </a:solidFill>
              </a:rPr>
              <a:t>7.1.2  </a:t>
            </a:r>
            <a:r>
              <a:rPr lang="zh-CN" altLang="en-US" sz="3200" dirty="0">
                <a:solidFill>
                  <a:srgbClr val="0070C0"/>
                </a:solidFill>
              </a:rPr>
              <a:t>类的特点</a:t>
            </a:r>
            <a:endParaRPr lang="en-US" altLang="zh-CN" sz="3200" dirty="0">
              <a:solidFill>
                <a:srgbClr val="0070C0"/>
              </a:solidFill>
            </a:endParaRPr>
          </a:p>
        </p:txBody>
      </p:sp>
      <p:pic>
        <p:nvPicPr>
          <p:cNvPr id="6148" name="Picture 2" descr="C:\Users\kaichen2\AppData\Local\Microsoft\Windows\Temporary Internet Files\Content.IE5\BZHCP6R8\MC90028647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099" y="1916832"/>
            <a:ext cx="3869318" cy="2786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966704" y="1017376"/>
            <a:ext cx="1029714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封装性：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对象的行为和属性是一个有机的整体，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将对象的状态和行为打包在一个软件构件中。</a:t>
            </a:r>
            <a:endParaRPr lang="en-US" altLang="zh-CN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019362" y="4869160"/>
            <a:ext cx="10225136" cy="1497442"/>
          </a:xfrm>
          <a:prstGeom prst="roundRect">
            <a:avLst>
              <a:gd name="adj" fmla="val 2896"/>
            </a:avLst>
          </a:prstGeom>
          <a:noFill/>
          <a:ln w="127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封装性：将对象的所有成员集成在一起（暗箱）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隐藏：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保护内部细节，类内的某些成员可以被保护起来   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作用：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具有较好的独立性，防止外部程序破坏类的内部数据，便于程序维护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4159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/>
          </p:nvPr>
        </p:nvSpPr>
        <p:spPr>
          <a:xfrm>
            <a:off x="957186" y="1458885"/>
            <a:ext cx="6434958" cy="204212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电视机：黑白</a:t>
            </a:r>
            <a:r>
              <a:rPr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彩色</a:t>
            </a:r>
            <a:r>
              <a:rPr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高清</a:t>
            </a:r>
            <a:endParaRPr lang="en-US" altLang="zh-CN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其中声音和图像的功能一直延续下来</a:t>
            </a:r>
            <a:endParaRPr lang="en-US" altLang="zh-CN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后一代“</a:t>
            </a:r>
            <a:r>
              <a:rPr lang="zh-CN" altLang="en-US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继承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”前一代的功能并有所发展</a:t>
            </a:r>
            <a:endParaRPr lang="en-US" altLang="zh-CN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旧电视</a:t>
            </a:r>
            <a:r>
              <a:rPr lang="zh-CN" altLang="en-US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派生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出新电视</a:t>
            </a:r>
            <a:r>
              <a:rPr lang="en-US" altLang="zh-CN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新电视</a:t>
            </a:r>
            <a:r>
              <a:rPr lang="zh-CN" altLang="en-US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继承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了旧电视</a:t>
            </a:r>
            <a:endParaRPr lang="en-US" altLang="zh-CN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Title 1"/>
          <p:cNvSpPr>
            <a:spLocks noGrp="1"/>
          </p:cNvSpPr>
          <p:nvPr>
            <p:ph type="title" idx="4294967295"/>
          </p:nvPr>
        </p:nvSpPr>
        <p:spPr>
          <a:xfrm>
            <a:off x="959898" y="667890"/>
            <a:ext cx="6314513" cy="635257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0070C0"/>
                </a:solidFill>
              </a:rPr>
              <a:t>2. </a:t>
            </a:r>
            <a:r>
              <a:rPr lang="zh-CN" altLang="en-US" sz="3200" dirty="0">
                <a:solidFill>
                  <a:srgbClr val="0070C0"/>
                </a:solidFill>
              </a:rPr>
              <a:t>继承性</a:t>
            </a:r>
            <a:endParaRPr lang="en-US" altLang="zh-CN" sz="3200" dirty="0">
              <a:solidFill>
                <a:srgbClr val="0070C0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406663" y="1124744"/>
            <a:ext cx="4624648" cy="5139485"/>
            <a:chOff x="6935940" y="1070352"/>
            <a:chExt cx="4624648" cy="5139485"/>
          </a:xfrm>
        </p:grpSpPr>
        <p:pic>
          <p:nvPicPr>
            <p:cNvPr id="8196" name="Picture 3" descr="C:\Users\kaichen2\AppData\Local\Microsoft\Windows\Temporary Internet Files\Content.IE5\LFNSQC6M\MC900014736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5940" y="1070352"/>
              <a:ext cx="1236663" cy="159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197" name="Picture 4" descr="C:\Users\kaichen2\AppData\Local\Microsoft\Windows\Temporary Internet Files\Content.IE5\PMYZYYB7\MC900432517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44451" y="4516927"/>
              <a:ext cx="2116137" cy="1692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198" name="Picture 5" descr="C:\Users\kaichen2\AppData\Local\Microsoft\Windows\Temporary Internet Files\Content.IE5\PMYZYYB7\MC900186162[1].wm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34145" y="1076247"/>
              <a:ext cx="1806575" cy="1770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ight Arrow 7"/>
            <p:cNvSpPr/>
            <p:nvPr/>
          </p:nvSpPr>
          <p:spPr>
            <a:xfrm>
              <a:off x="8411293" y="1236694"/>
              <a:ext cx="990600" cy="685800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dirty="0">
                  <a:solidFill>
                    <a:srgbClr val="002060"/>
                  </a:solidFill>
                  <a:cs typeface="Arial" charset="0"/>
                </a:rPr>
                <a:t>派生</a:t>
              </a:r>
            </a:p>
          </p:txBody>
        </p:sp>
        <p:sp>
          <p:nvSpPr>
            <p:cNvPr id="10" name="Down Arrow 9"/>
            <p:cNvSpPr/>
            <p:nvPr/>
          </p:nvSpPr>
          <p:spPr>
            <a:xfrm>
              <a:off x="9816720" y="3043175"/>
              <a:ext cx="685800" cy="1295400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>
                  <a:solidFill>
                    <a:srgbClr val="002060"/>
                  </a:solidFill>
                  <a:cs typeface="Arial" charset="0"/>
                </a:rPr>
                <a:t>派生</a:t>
              </a:r>
            </a:p>
          </p:txBody>
        </p:sp>
        <p:sp>
          <p:nvSpPr>
            <p:cNvPr id="12" name="Up Arrow 11"/>
            <p:cNvSpPr/>
            <p:nvPr/>
          </p:nvSpPr>
          <p:spPr>
            <a:xfrm>
              <a:off x="10593829" y="3043175"/>
              <a:ext cx="609600" cy="1295400"/>
            </a:xfrm>
            <a:prstGeom prst="upArrow">
              <a:avLst/>
            </a:prstGeom>
            <a:solidFill>
              <a:srgbClr val="FF7C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dirty="0">
                  <a:solidFill>
                    <a:srgbClr val="002060"/>
                  </a:solidFill>
                </a:rPr>
                <a:t>继承</a:t>
              </a:r>
              <a:endParaRPr lang="en-US" altLang="zh-CN" dirty="0">
                <a:solidFill>
                  <a:srgbClr val="002060"/>
                </a:solidFill>
              </a:endParaRPr>
            </a:p>
          </p:txBody>
        </p:sp>
        <p:sp>
          <p:nvSpPr>
            <p:cNvPr id="13" name="Left Arrow 12"/>
            <p:cNvSpPr/>
            <p:nvPr/>
          </p:nvSpPr>
          <p:spPr>
            <a:xfrm>
              <a:off x="8391145" y="1913826"/>
              <a:ext cx="1010748" cy="609600"/>
            </a:xfrm>
            <a:prstGeom prst="leftArrow">
              <a:avLst/>
            </a:prstGeom>
            <a:solidFill>
              <a:srgbClr val="FF7C8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dirty="0">
                  <a:solidFill>
                    <a:srgbClr val="002060"/>
                  </a:solidFill>
                </a:rPr>
                <a:t>继承</a:t>
              </a:r>
              <a:endParaRPr lang="en-US" altLang="zh-CN" dirty="0">
                <a:solidFill>
                  <a:srgbClr val="002060"/>
                </a:solidFill>
              </a:endParaRPr>
            </a:p>
          </p:txBody>
        </p:sp>
      </p:grp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39416" y="4184929"/>
            <a:ext cx="8275362" cy="208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基类（父类）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派生类（子类）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子类拥有父类的特性，又可增加子类的新特性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设计程序时，只需考虑添加新功能的代码或修改原有代码</a:t>
            </a:r>
          </a:p>
        </p:txBody>
      </p:sp>
    </p:spTree>
    <p:extLst>
      <p:ext uri="{BB962C8B-B14F-4D97-AF65-F5344CB8AC3E}">
        <p14:creationId xmlns:p14="http://schemas.microsoft.com/office/powerpoint/2010/main" val="383384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4" descr="MC900055585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0248745">
            <a:off x="580746" y="3285248"/>
            <a:ext cx="1083016" cy="1935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5" descr="j030125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084" y="3042460"/>
            <a:ext cx="1640260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5" name="AutoShape 7"/>
          <p:cNvSpPr>
            <a:spLocks noChangeArrowheads="1"/>
          </p:cNvSpPr>
          <p:nvPr/>
        </p:nvSpPr>
        <p:spPr bwMode="auto">
          <a:xfrm>
            <a:off x="4458379" y="3042460"/>
            <a:ext cx="1942413" cy="1051520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Arial" panose="020B0604020202020204" pitchFamily="34" charset="0"/>
              </a:rPr>
              <a:t>开始讲课</a:t>
            </a:r>
            <a:endParaRPr lang="en-US" altLang="zh-CN" sz="1800" dirty="0">
              <a:latin typeface="Arial" panose="020B0604020202020204" pitchFamily="34" charset="0"/>
            </a:endParaRPr>
          </a:p>
        </p:txBody>
      </p:sp>
      <p:sp>
        <p:nvSpPr>
          <p:cNvPr id="68616" name="AutoShape 8"/>
          <p:cNvSpPr>
            <a:spLocks noChangeArrowheads="1"/>
          </p:cNvSpPr>
          <p:nvPr/>
        </p:nvSpPr>
        <p:spPr bwMode="auto">
          <a:xfrm>
            <a:off x="4509592" y="4931096"/>
            <a:ext cx="1793006" cy="1125466"/>
          </a:xfrm>
          <a:prstGeom prst="cloudCallout">
            <a:avLst>
              <a:gd name="adj1" fmla="val -43750"/>
              <a:gd name="adj2" fmla="val 70000"/>
            </a:avLst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Arial" panose="020B0604020202020204" pitchFamily="34" charset="0"/>
              </a:rPr>
              <a:t>开始听课</a:t>
            </a:r>
            <a:endParaRPr lang="en-US" altLang="zh-CN" sz="1800" dirty="0">
              <a:latin typeface="Arial" panose="020B0604020202020204" pitchFamily="34" charset="0"/>
            </a:endParaRPr>
          </a:p>
        </p:txBody>
      </p:sp>
      <p:sp>
        <p:nvSpPr>
          <p:cNvPr id="68617" name="AutoShape 9"/>
          <p:cNvSpPr>
            <a:spLocks noChangeArrowheads="1"/>
          </p:cNvSpPr>
          <p:nvPr/>
        </p:nvSpPr>
        <p:spPr bwMode="auto">
          <a:xfrm>
            <a:off x="1732484" y="3690051"/>
            <a:ext cx="609600" cy="3048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68618" name="AutoShape 10"/>
          <p:cNvSpPr>
            <a:spLocks noChangeArrowheads="1"/>
          </p:cNvSpPr>
          <p:nvPr/>
        </p:nvSpPr>
        <p:spPr bwMode="auto">
          <a:xfrm rot="1513970">
            <a:off x="1490908" y="4841581"/>
            <a:ext cx="1205193" cy="342900"/>
          </a:xfrm>
          <a:prstGeom prst="rightArrow">
            <a:avLst>
              <a:gd name="adj1" fmla="val 50000"/>
              <a:gd name="adj2" fmla="val 155556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68620" name="Picture 12" descr="C:\Users\kaichen2\AppData\Local\Microsoft\Windows\Temporary Internet Files\Content.IE5\UWCG8IH3\MC900232133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468" y="4499716"/>
            <a:ext cx="1894653" cy="1944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8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827" y="4093980"/>
            <a:ext cx="4970594" cy="126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 txBox="1">
            <a:spLocks/>
          </p:cNvSpPr>
          <p:nvPr/>
        </p:nvSpPr>
        <p:spPr bwMode="auto">
          <a:xfrm>
            <a:off x="623392" y="429334"/>
            <a:ext cx="7772400" cy="67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1"/>
                </a:solidFill>
                <a:latin typeface="Arial" pitchFamily="34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3200" kern="0" dirty="0">
                <a:solidFill>
                  <a:srgbClr val="0070C0"/>
                </a:solidFill>
              </a:rPr>
              <a:t>3. </a:t>
            </a:r>
            <a:r>
              <a:rPr lang="zh-CN" altLang="en-US" sz="3200" kern="0" dirty="0">
                <a:solidFill>
                  <a:srgbClr val="0070C0"/>
                </a:solidFill>
              </a:rPr>
              <a:t>多态性</a:t>
            </a:r>
            <a:endParaRPr lang="en-US" altLang="zh-CN" sz="3200" kern="0" dirty="0">
              <a:solidFill>
                <a:srgbClr val="0070C0"/>
              </a:solidFill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/>
          </p:nvPr>
        </p:nvSpPr>
        <p:spPr>
          <a:xfrm>
            <a:off x="316482" y="1324703"/>
            <a:ext cx="11180117" cy="104954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同一操作作用于不同类的对象，将产生不同的执行结果</a:t>
            </a:r>
            <a:r>
              <a:rPr lang="zh-CN" altLang="en-US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，即不同类的对象收到相同的消息时，得到不同的结果。</a:t>
            </a:r>
          </a:p>
        </p:txBody>
      </p:sp>
    </p:spTree>
    <p:extLst>
      <p:ext uri="{BB962C8B-B14F-4D97-AF65-F5344CB8AC3E}">
        <p14:creationId xmlns:p14="http://schemas.microsoft.com/office/powerpoint/2010/main" val="266375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5" grpId="0" animBg="1"/>
      <p:bldP spid="68616" grpId="0" animBg="1"/>
      <p:bldP spid="68617" grpId="0" animBg="1"/>
      <p:bldP spid="686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828895" y="692696"/>
            <a:ext cx="3456384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类和对象</a:t>
            </a:r>
          </a:p>
        </p:txBody>
      </p:sp>
      <p:sp>
        <p:nvSpPr>
          <p:cNvPr id="13315" name="Text Box 4" descr="蓝色砂纸"/>
          <p:cNvSpPr txBox="1">
            <a:spLocks noChangeArrowheads="1"/>
          </p:cNvSpPr>
          <p:nvPr/>
        </p:nvSpPr>
        <p:spPr bwMode="auto">
          <a:xfrm>
            <a:off x="5746188" y="1628799"/>
            <a:ext cx="5616624" cy="3970318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class Student: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rgbClr val="0070C0"/>
                </a:solidFill>
                <a:latin typeface="+mn-ea"/>
                <a:ea typeface="+mn-ea"/>
              </a:rPr>
              <a:t># </a:t>
            </a:r>
            <a:r>
              <a:rPr lang="en-US" altLang="zh-CN" sz="1800" dirty="0" err="1">
                <a:solidFill>
                  <a:srgbClr val="0070C0"/>
                </a:solidFill>
                <a:latin typeface="+mn-ea"/>
                <a:ea typeface="+mn-ea"/>
              </a:rPr>
              <a:t>SetValue</a:t>
            </a:r>
            <a:r>
              <a:rPr lang="zh-CN" altLang="en-US" sz="1800" dirty="0">
                <a:solidFill>
                  <a:srgbClr val="0070C0"/>
                </a:solidFill>
                <a:latin typeface="+mn-ea"/>
                <a:ea typeface="+mn-ea"/>
              </a:rPr>
              <a:t>方法用于定义该类对象的数据属性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1800" dirty="0">
                <a:latin typeface="+mn-ea"/>
                <a:ea typeface="+mn-ea"/>
              </a:rPr>
              <a:t>    </a:t>
            </a:r>
            <a:r>
              <a:rPr lang="en-US" altLang="zh-CN" sz="1800" dirty="0" err="1">
                <a:latin typeface="+mn-ea"/>
                <a:ea typeface="+mn-ea"/>
              </a:rPr>
              <a:t>def</a:t>
            </a:r>
            <a:r>
              <a:rPr lang="en-US" altLang="zh-CN" sz="1800" dirty="0">
                <a:latin typeface="+mn-ea"/>
                <a:ea typeface="+mn-ea"/>
              </a:rPr>
              <a:t> </a:t>
            </a:r>
            <a:r>
              <a:rPr lang="en-US" altLang="zh-CN" sz="1800" dirty="0" err="1">
                <a:latin typeface="+mn-ea"/>
                <a:ea typeface="+mn-ea"/>
              </a:rPr>
              <a:t>SetValue</a:t>
            </a:r>
            <a:r>
              <a:rPr lang="en-US" altLang="zh-CN" sz="1800" dirty="0">
                <a:latin typeface="+mn-ea"/>
                <a:ea typeface="+mn-ea"/>
              </a:rPr>
              <a:t>(</a:t>
            </a:r>
            <a:r>
              <a:rPr lang="en-US" altLang="zh-CN" sz="1800" dirty="0" err="1">
                <a:latin typeface="+mn-ea"/>
                <a:ea typeface="+mn-ea"/>
              </a:rPr>
              <a:t>self,a,b,c</a:t>
            </a:r>
            <a:r>
              <a:rPr lang="en-US" altLang="zh-CN" sz="1800" dirty="0">
                <a:latin typeface="+mn-ea"/>
                <a:ea typeface="+mn-ea"/>
              </a:rPr>
              <a:t>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    </a:t>
            </a:r>
            <a:r>
              <a:rPr lang="en-US" altLang="zh-CN" sz="1800" dirty="0" err="1">
                <a:latin typeface="+mn-ea"/>
                <a:ea typeface="+mn-ea"/>
              </a:rPr>
              <a:t>self.No</a:t>
            </a:r>
            <a:r>
              <a:rPr lang="en-US" altLang="zh-CN" sz="1800" dirty="0">
                <a:latin typeface="+mn-ea"/>
                <a:ea typeface="+mn-ea"/>
              </a:rPr>
              <a:t>=a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    </a:t>
            </a:r>
            <a:r>
              <a:rPr lang="en-US" altLang="zh-CN" sz="1800" dirty="0" err="1">
                <a:latin typeface="+mn-ea"/>
                <a:ea typeface="+mn-ea"/>
              </a:rPr>
              <a:t>self.Name</a:t>
            </a:r>
            <a:r>
              <a:rPr lang="en-US" altLang="zh-CN" sz="1800" dirty="0">
                <a:latin typeface="+mn-ea"/>
                <a:ea typeface="+mn-ea"/>
              </a:rPr>
              <a:t>=b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    </a:t>
            </a:r>
            <a:r>
              <a:rPr lang="en-US" altLang="zh-CN" sz="1800" dirty="0" err="1">
                <a:latin typeface="+mn-ea"/>
                <a:ea typeface="+mn-ea"/>
              </a:rPr>
              <a:t>self.Score</a:t>
            </a:r>
            <a:r>
              <a:rPr lang="en-US" altLang="zh-CN" sz="1800" dirty="0">
                <a:latin typeface="+mn-ea"/>
                <a:ea typeface="+mn-ea"/>
              </a:rPr>
              <a:t>=c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rgbClr val="0070C0"/>
                </a:solidFill>
                <a:latin typeface="+mn-ea"/>
                <a:ea typeface="+mn-ea"/>
              </a:rPr>
              <a:t># </a:t>
            </a:r>
            <a:r>
              <a:rPr lang="en-US" altLang="zh-CN" sz="1800" dirty="0" err="1">
                <a:solidFill>
                  <a:srgbClr val="0070C0"/>
                </a:solidFill>
                <a:latin typeface="+mn-ea"/>
                <a:ea typeface="+mn-ea"/>
              </a:rPr>
              <a:t>Disp</a:t>
            </a:r>
            <a:r>
              <a:rPr lang="zh-CN" altLang="en-US" sz="1800" dirty="0">
                <a:solidFill>
                  <a:srgbClr val="0070C0"/>
                </a:solidFill>
                <a:latin typeface="+mn-ea"/>
                <a:ea typeface="+mn-ea"/>
              </a:rPr>
              <a:t>方法用于输出该类对象的数据属性值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1800" dirty="0">
                <a:latin typeface="+mn-ea"/>
                <a:ea typeface="+mn-ea"/>
              </a:rPr>
              <a:t>    </a:t>
            </a:r>
            <a:r>
              <a:rPr lang="en-US" altLang="zh-CN" sz="1800" dirty="0" err="1">
                <a:latin typeface="+mn-ea"/>
                <a:ea typeface="+mn-ea"/>
              </a:rPr>
              <a:t>def</a:t>
            </a:r>
            <a:r>
              <a:rPr lang="en-US" altLang="zh-CN" sz="1800" dirty="0">
                <a:latin typeface="+mn-ea"/>
                <a:ea typeface="+mn-ea"/>
              </a:rPr>
              <a:t> </a:t>
            </a:r>
            <a:r>
              <a:rPr lang="en-US" altLang="zh-CN" sz="1800" dirty="0" err="1">
                <a:latin typeface="+mn-ea"/>
                <a:ea typeface="+mn-ea"/>
              </a:rPr>
              <a:t>Disp</a:t>
            </a:r>
            <a:r>
              <a:rPr lang="en-US" altLang="zh-CN" sz="1800" dirty="0">
                <a:latin typeface="+mn-ea"/>
                <a:ea typeface="+mn-ea"/>
              </a:rPr>
              <a:t>(self):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    print(</a:t>
            </a:r>
            <a:r>
              <a:rPr lang="en-US" altLang="zh-CN" sz="1800" dirty="0" err="1">
                <a:latin typeface="+mn-ea"/>
                <a:ea typeface="+mn-ea"/>
              </a:rPr>
              <a:t>self.No</a:t>
            </a:r>
            <a:r>
              <a:rPr lang="en-US" altLang="zh-CN" sz="18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    print(</a:t>
            </a:r>
            <a:r>
              <a:rPr lang="en-US" altLang="zh-CN" sz="1800" dirty="0" err="1">
                <a:latin typeface="+mn-ea"/>
                <a:ea typeface="+mn-ea"/>
              </a:rPr>
              <a:t>self.Name</a:t>
            </a:r>
            <a:r>
              <a:rPr lang="en-US" altLang="zh-CN" sz="18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    print(</a:t>
            </a:r>
            <a:r>
              <a:rPr lang="en-US" altLang="zh-CN" sz="1800" dirty="0" err="1">
                <a:latin typeface="+mn-ea"/>
                <a:ea typeface="+mn-ea"/>
              </a:rPr>
              <a:t>self.Score</a:t>
            </a:r>
            <a:r>
              <a:rPr lang="en-US" altLang="zh-CN" sz="18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p=Student()                                        # </a:t>
            </a:r>
            <a:r>
              <a:rPr lang="zh-CN" altLang="en-US" sz="1800" dirty="0">
                <a:latin typeface="+mn-ea"/>
                <a:ea typeface="+mn-ea"/>
              </a:rPr>
              <a:t>创建</a:t>
            </a:r>
            <a:r>
              <a:rPr lang="en-US" altLang="zh-CN" sz="1800" dirty="0">
                <a:latin typeface="+mn-ea"/>
                <a:ea typeface="+mn-ea"/>
              </a:rPr>
              <a:t>Student</a:t>
            </a:r>
            <a:r>
              <a:rPr lang="zh-CN" altLang="en-US" sz="1800" dirty="0">
                <a:latin typeface="+mn-ea"/>
                <a:ea typeface="+mn-ea"/>
              </a:rPr>
              <a:t>对象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 err="1">
                <a:latin typeface="+mn-ea"/>
                <a:ea typeface="+mn-ea"/>
              </a:rPr>
              <a:t>p.SetValue</a:t>
            </a:r>
            <a:r>
              <a:rPr lang="en-US" altLang="zh-CN" sz="1800" dirty="0">
                <a:latin typeface="+mn-ea"/>
                <a:ea typeface="+mn-ea"/>
              </a:rPr>
              <a:t>("2020001", "</a:t>
            </a:r>
            <a:r>
              <a:rPr lang="zh-CN" altLang="en-US" sz="1800" dirty="0">
                <a:latin typeface="+mn-ea"/>
                <a:ea typeface="+mn-ea"/>
              </a:rPr>
              <a:t>张三</a:t>
            </a:r>
            <a:r>
              <a:rPr lang="en-US" altLang="zh-CN" sz="1800" dirty="0">
                <a:latin typeface="+mn-ea"/>
                <a:ea typeface="+mn-ea"/>
              </a:rPr>
              <a:t>", 88)   # </a:t>
            </a:r>
            <a:r>
              <a:rPr lang="zh-CN" altLang="en-US" sz="1800" dirty="0">
                <a:latin typeface="+mn-ea"/>
                <a:ea typeface="+mn-ea"/>
              </a:rPr>
              <a:t>对象初始化</a:t>
            </a:r>
            <a:endParaRPr lang="en-US" altLang="zh-CN" sz="18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1800" dirty="0" err="1">
                <a:latin typeface="+mn-ea"/>
                <a:ea typeface="+mn-ea"/>
              </a:rPr>
              <a:t>p.Disp</a:t>
            </a:r>
            <a:r>
              <a:rPr lang="en-US" altLang="zh-CN" sz="1800" dirty="0">
                <a:latin typeface="+mn-ea"/>
                <a:ea typeface="+mn-ea"/>
              </a:rPr>
              <a:t>()</a:t>
            </a:r>
            <a:r>
              <a:rPr lang="en-US" altLang="zh-CN" sz="1600" dirty="0">
                <a:latin typeface="+mn-ea"/>
                <a:ea typeface="+mn-ea"/>
              </a:rPr>
              <a:t>	</a:t>
            </a:r>
            <a:endParaRPr lang="zh-CN" altLang="zh-CN" sz="1600" dirty="0">
              <a:latin typeface="+mn-ea"/>
              <a:ea typeface="+mn-ea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703512" y="2328156"/>
            <a:ext cx="3312368" cy="2571604"/>
          </a:xfrm>
          <a:prstGeom prst="roundRect">
            <a:avLst>
              <a:gd name="adj" fmla="val 4857"/>
            </a:avLst>
          </a:prstGeom>
          <a:solidFill>
            <a:srgbClr val="FFFFCC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0" dirty="0">
                <a:solidFill>
                  <a:srgbClr val="C00000"/>
                </a:solidFill>
                <a:latin typeface="+mn-lt"/>
                <a:ea typeface="黑体" panose="02010609060101010101" pitchFamily="49" charset="-122"/>
              </a:rPr>
              <a:t>class</a:t>
            </a:r>
            <a:r>
              <a:rPr lang="en-US" altLang="zh-CN" sz="2800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类名</a:t>
            </a:r>
            <a:r>
              <a:rPr lang="en-US" altLang="zh-CN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800" b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altLang="zh-CN" sz="2800" b="0" dirty="0">
                <a:solidFill>
                  <a:srgbClr val="3399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800" dirty="0">
                <a:ea typeface="黑体" panose="02010609060101010101" pitchFamily="49" charset="-122"/>
              </a:rPr>
              <a:t>'</a:t>
            </a:r>
            <a:r>
              <a:rPr lang="zh-CN" altLang="en-US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类的帮助信息</a:t>
            </a:r>
            <a:r>
              <a:rPr lang="en-US" altLang="zh-CN" sz="2800" b="0" dirty="0">
                <a:latin typeface="+mn-lt"/>
                <a:ea typeface="黑体" panose="02010609060101010101" pitchFamily="49" charset="-122"/>
              </a:rPr>
              <a:t>'</a:t>
            </a:r>
            <a:r>
              <a:rPr lang="en-US" altLang="zh-CN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zh-CN" altLang="en-US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    类体 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044919" y="1397967"/>
            <a:ext cx="30243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类的定义</a:t>
            </a:r>
          </a:p>
        </p:txBody>
      </p:sp>
      <p:sp>
        <p:nvSpPr>
          <p:cNvPr id="3" name="矩形 2"/>
          <p:cNvSpPr/>
          <p:nvPr/>
        </p:nvSpPr>
        <p:spPr>
          <a:xfrm>
            <a:off x="5735960" y="908720"/>
            <a:ext cx="46372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定义一个学生类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1148825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407368" y="260648"/>
            <a:ext cx="3456384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</a:t>
            </a:r>
          </a:p>
        </p:txBody>
      </p:sp>
      <p:sp>
        <p:nvSpPr>
          <p:cNvPr id="13315" name="Text Box 4" descr="蓝色砂纸"/>
          <p:cNvSpPr txBox="1">
            <a:spLocks noChangeArrowheads="1"/>
          </p:cNvSpPr>
          <p:nvPr/>
        </p:nvSpPr>
        <p:spPr bwMode="auto">
          <a:xfrm>
            <a:off x="263352" y="1052736"/>
            <a:ext cx="5616624" cy="4708981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class Student: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# </a:t>
            </a:r>
            <a:r>
              <a:rPr lang="en-US" altLang="zh-CN" sz="2000" dirty="0" err="1">
                <a:solidFill>
                  <a:srgbClr val="0070C0"/>
                </a:solidFill>
                <a:latin typeface="+mn-ea"/>
                <a:ea typeface="+mn-ea"/>
              </a:rPr>
              <a:t>SetValue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方法用于定义该类对象的数据属性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    </a:t>
            </a:r>
            <a:r>
              <a:rPr lang="en-US" altLang="zh-CN" sz="2000" dirty="0" err="1">
                <a:latin typeface="+mn-ea"/>
                <a:ea typeface="+mn-ea"/>
              </a:rPr>
              <a:t>def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err="1">
                <a:latin typeface="+mn-ea"/>
                <a:ea typeface="+mn-ea"/>
              </a:rPr>
              <a:t>SetValue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en-US" altLang="zh-CN" sz="2000" dirty="0" err="1">
                <a:latin typeface="+mn-ea"/>
                <a:ea typeface="+mn-ea"/>
              </a:rPr>
              <a:t>self,a,b,c</a:t>
            </a:r>
            <a:r>
              <a:rPr lang="en-US" altLang="zh-CN" sz="2000" dirty="0">
                <a:latin typeface="+mn-ea"/>
                <a:ea typeface="+mn-ea"/>
              </a:rPr>
              <a:t>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self.No</a:t>
            </a:r>
            <a:r>
              <a:rPr lang="en-US" altLang="zh-CN" sz="2000" dirty="0">
                <a:latin typeface="+mn-ea"/>
                <a:ea typeface="+mn-ea"/>
              </a:rPr>
              <a:t>=a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self.Name</a:t>
            </a:r>
            <a:r>
              <a:rPr lang="en-US" altLang="zh-CN" sz="2000" dirty="0">
                <a:latin typeface="+mn-ea"/>
                <a:ea typeface="+mn-ea"/>
              </a:rPr>
              <a:t>=b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self.Score</a:t>
            </a:r>
            <a:r>
              <a:rPr lang="en-US" altLang="zh-CN" sz="2000" dirty="0">
                <a:latin typeface="+mn-ea"/>
                <a:ea typeface="+mn-ea"/>
              </a:rPr>
              <a:t>=c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# </a:t>
            </a:r>
            <a:r>
              <a:rPr lang="en-US" altLang="zh-CN" sz="2000" dirty="0" err="1">
                <a:solidFill>
                  <a:srgbClr val="0070C0"/>
                </a:solidFill>
                <a:latin typeface="+mn-ea"/>
                <a:ea typeface="+mn-ea"/>
              </a:rPr>
              <a:t>Disp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方法用于输出该类对象的数据属性值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    </a:t>
            </a:r>
            <a:r>
              <a:rPr lang="en-US" altLang="zh-CN" sz="2000" dirty="0" err="1">
                <a:latin typeface="+mn-ea"/>
                <a:ea typeface="+mn-ea"/>
              </a:rPr>
              <a:t>def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err="1">
                <a:latin typeface="+mn-ea"/>
                <a:ea typeface="+mn-ea"/>
              </a:rPr>
              <a:t>Disp</a:t>
            </a:r>
            <a:r>
              <a:rPr lang="en-US" altLang="zh-CN" sz="2000" dirty="0">
                <a:latin typeface="+mn-ea"/>
                <a:ea typeface="+mn-ea"/>
              </a:rPr>
              <a:t>(self):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print(</a:t>
            </a:r>
            <a:r>
              <a:rPr lang="en-US" altLang="zh-CN" sz="2000" dirty="0" err="1">
                <a:latin typeface="+mn-ea"/>
                <a:ea typeface="+mn-ea"/>
              </a:rPr>
              <a:t>self.No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print(</a:t>
            </a:r>
            <a:r>
              <a:rPr lang="en-US" altLang="zh-CN" sz="2000" dirty="0" err="1">
                <a:latin typeface="+mn-ea"/>
                <a:ea typeface="+mn-ea"/>
              </a:rPr>
              <a:t>self.Name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print(</a:t>
            </a:r>
            <a:r>
              <a:rPr lang="en-US" altLang="zh-CN" sz="2000" dirty="0" err="1">
                <a:latin typeface="+mn-ea"/>
                <a:ea typeface="+mn-ea"/>
              </a:rPr>
              <a:t>self.Score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p=Student()                                        # </a:t>
            </a:r>
            <a:r>
              <a:rPr lang="zh-CN" altLang="en-US" sz="2000" dirty="0">
                <a:latin typeface="+mn-ea"/>
                <a:ea typeface="+mn-ea"/>
              </a:rPr>
              <a:t>创建</a:t>
            </a:r>
            <a:r>
              <a:rPr lang="en-US" altLang="zh-CN" sz="2000" dirty="0">
                <a:latin typeface="+mn-ea"/>
                <a:ea typeface="+mn-ea"/>
              </a:rPr>
              <a:t>Student</a:t>
            </a:r>
            <a:r>
              <a:rPr lang="zh-CN" altLang="en-US" sz="2000" dirty="0">
                <a:latin typeface="+mn-ea"/>
                <a:ea typeface="+mn-ea"/>
              </a:rPr>
              <a:t>对象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 err="1">
                <a:latin typeface="+mn-ea"/>
                <a:ea typeface="+mn-ea"/>
              </a:rPr>
              <a:t>p.SetValue</a:t>
            </a:r>
            <a:r>
              <a:rPr lang="en-US" altLang="zh-CN" sz="2000" dirty="0">
                <a:latin typeface="+mn-ea"/>
                <a:ea typeface="+mn-ea"/>
              </a:rPr>
              <a:t>("2020001", "</a:t>
            </a:r>
            <a:r>
              <a:rPr lang="zh-CN" altLang="en-US" sz="2000" dirty="0">
                <a:latin typeface="+mn-ea"/>
                <a:ea typeface="+mn-ea"/>
              </a:rPr>
              <a:t>张三</a:t>
            </a:r>
            <a:r>
              <a:rPr lang="en-US" altLang="zh-CN" sz="2000" dirty="0">
                <a:latin typeface="+mn-ea"/>
                <a:ea typeface="+mn-ea"/>
              </a:rPr>
              <a:t>", 88)   # </a:t>
            </a:r>
            <a:r>
              <a:rPr lang="zh-CN" altLang="en-US" sz="2000" dirty="0">
                <a:latin typeface="+mn-ea"/>
                <a:ea typeface="+mn-ea"/>
              </a:rPr>
              <a:t>对象初始化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dirty="0" err="1">
                <a:latin typeface="+mn-ea"/>
                <a:ea typeface="+mn-ea"/>
              </a:rPr>
              <a:t>p.Disp</a:t>
            </a:r>
            <a:r>
              <a:rPr lang="en-US" altLang="zh-CN" sz="2000" dirty="0">
                <a:latin typeface="+mn-ea"/>
                <a:ea typeface="+mn-ea"/>
              </a:rPr>
              <a:t>()	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7" name="Text Box 4" descr="蓝色砂纸"/>
          <p:cNvSpPr txBox="1">
            <a:spLocks noChangeArrowheads="1"/>
          </p:cNvSpPr>
          <p:nvPr/>
        </p:nvSpPr>
        <p:spPr bwMode="auto">
          <a:xfrm>
            <a:off x="6312024" y="1052736"/>
            <a:ext cx="5625430" cy="3231654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</a:rPr>
              <a:t>类名  </a:t>
            </a:r>
            <a:r>
              <a:rPr lang="en-US" altLang="zh-CN" sz="2400" dirty="0">
                <a:solidFill>
                  <a:srgbClr val="000066"/>
                </a:solidFill>
              </a:rPr>
              <a:t>Student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zh-CN" sz="2400" dirty="0">
                <a:solidFill>
                  <a:srgbClr val="000066"/>
                </a:solidFill>
              </a:rPr>
              <a:t>①类</a:t>
            </a:r>
            <a:r>
              <a:rPr lang="en-US" altLang="zh-CN" sz="2400" dirty="0">
                <a:solidFill>
                  <a:srgbClr val="000066"/>
                </a:solidFill>
              </a:rPr>
              <a:t>Student</a:t>
            </a:r>
            <a:r>
              <a:rPr lang="zh-CN" altLang="zh-CN" sz="2400" dirty="0">
                <a:solidFill>
                  <a:srgbClr val="000066"/>
                </a:solidFill>
              </a:rPr>
              <a:t>中定义了</a:t>
            </a:r>
            <a:r>
              <a:rPr lang="en-US" altLang="zh-CN" sz="2400" dirty="0" err="1">
                <a:solidFill>
                  <a:srgbClr val="000066"/>
                </a:solidFill>
              </a:rPr>
              <a:t>SetValue</a:t>
            </a:r>
            <a:r>
              <a:rPr lang="zh-CN" altLang="zh-CN" sz="2400" dirty="0">
                <a:solidFill>
                  <a:srgbClr val="000066"/>
                </a:solidFill>
              </a:rPr>
              <a:t>和</a:t>
            </a:r>
            <a:r>
              <a:rPr lang="en-US" altLang="zh-CN" sz="2400" dirty="0" err="1">
                <a:solidFill>
                  <a:srgbClr val="000066"/>
                </a:solidFill>
              </a:rPr>
              <a:t>Disp</a:t>
            </a:r>
            <a:r>
              <a:rPr lang="zh-CN" altLang="zh-CN" sz="2400" dirty="0">
                <a:solidFill>
                  <a:srgbClr val="000066"/>
                </a:solidFill>
              </a:rPr>
              <a:t>函数，</a:t>
            </a:r>
            <a:br>
              <a:rPr lang="en-US" altLang="zh-CN" sz="2400" dirty="0">
                <a:solidFill>
                  <a:srgbClr val="000066"/>
                </a:solidFill>
              </a:rPr>
            </a:br>
            <a:r>
              <a:rPr lang="en-US" altLang="zh-CN" sz="2400" dirty="0">
                <a:solidFill>
                  <a:srgbClr val="000066"/>
                </a:solidFill>
              </a:rPr>
              <a:t>     </a:t>
            </a:r>
            <a:r>
              <a:rPr lang="zh-CN" altLang="en-US" sz="2400" dirty="0">
                <a:solidFill>
                  <a:srgbClr val="000066"/>
                </a:solidFill>
              </a:rPr>
              <a:t>是</a:t>
            </a:r>
            <a:r>
              <a:rPr lang="zh-CN" altLang="zh-CN" sz="2400" dirty="0">
                <a:solidFill>
                  <a:srgbClr val="000066"/>
                </a:solidFill>
              </a:rPr>
              <a:t>类</a:t>
            </a:r>
            <a:r>
              <a:rPr lang="zh-CN" altLang="en-US" sz="2400" dirty="0">
                <a:solidFill>
                  <a:srgbClr val="000066"/>
                </a:solidFill>
              </a:rPr>
              <a:t>的函数，或叫方法</a:t>
            </a:r>
            <a:endParaRPr lang="en-US" altLang="zh-CN" sz="2400" dirty="0">
              <a:solidFill>
                <a:srgbClr val="000066"/>
              </a:solidFill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66"/>
                </a:solidFill>
              </a:rPr>
              <a:t> </a:t>
            </a:r>
            <a:r>
              <a:rPr lang="zh-CN" altLang="zh-CN" sz="2400" dirty="0">
                <a:solidFill>
                  <a:srgbClr val="000066"/>
                </a:solidFill>
              </a:rPr>
              <a:t>② </a:t>
            </a:r>
            <a:r>
              <a:rPr lang="en-US" altLang="zh-CN" sz="2400" dirty="0">
                <a:solidFill>
                  <a:srgbClr val="000066"/>
                </a:solidFill>
              </a:rPr>
              <a:t>p=Student()</a:t>
            </a:r>
            <a:br>
              <a:rPr lang="en-US" altLang="zh-CN" sz="2400" dirty="0">
                <a:solidFill>
                  <a:srgbClr val="000066"/>
                </a:solidFill>
              </a:rPr>
            </a:br>
            <a:r>
              <a:rPr lang="en-US" altLang="zh-CN" sz="2400" dirty="0">
                <a:solidFill>
                  <a:srgbClr val="000066"/>
                </a:solidFill>
              </a:rPr>
              <a:t>      </a:t>
            </a:r>
            <a:r>
              <a:rPr lang="zh-CN" altLang="zh-CN" sz="2400" dirty="0">
                <a:solidFill>
                  <a:srgbClr val="000066"/>
                </a:solidFill>
              </a:rPr>
              <a:t>创建</a:t>
            </a:r>
            <a:r>
              <a:rPr lang="en-US" altLang="zh-CN" sz="2400" dirty="0">
                <a:solidFill>
                  <a:srgbClr val="000066"/>
                </a:solidFill>
              </a:rPr>
              <a:t>Student</a:t>
            </a:r>
            <a:r>
              <a:rPr lang="zh-CN" altLang="zh-CN" sz="2400" dirty="0">
                <a:solidFill>
                  <a:srgbClr val="000066"/>
                </a:solidFill>
              </a:rPr>
              <a:t>类的一个实例</a:t>
            </a:r>
            <a:r>
              <a:rPr lang="zh-CN" altLang="en-US" sz="2400" dirty="0">
                <a:solidFill>
                  <a:srgbClr val="000066"/>
                </a:solidFill>
              </a:rPr>
              <a:t>，</a:t>
            </a:r>
            <a:r>
              <a:rPr lang="zh-CN" altLang="zh-CN" sz="2400" dirty="0">
                <a:solidFill>
                  <a:srgbClr val="000066"/>
                </a:solidFill>
              </a:rPr>
              <a:t>并且赋值给</a:t>
            </a:r>
            <a:r>
              <a:rPr lang="en-US" altLang="zh-CN" sz="2400" dirty="0">
                <a:solidFill>
                  <a:srgbClr val="000066"/>
                </a:solidFill>
              </a:rPr>
              <a:t>p</a:t>
            </a:r>
            <a:r>
              <a:rPr lang="zh-CN" altLang="en-US" sz="2400" dirty="0">
                <a:solidFill>
                  <a:srgbClr val="000066"/>
                </a:solidFill>
              </a:rPr>
              <a:t>（绑定）。</a:t>
            </a:r>
            <a:br>
              <a:rPr lang="en-US" altLang="zh-CN" sz="2400" dirty="0">
                <a:solidFill>
                  <a:srgbClr val="000066"/>
                </a:solidFill>
              </a:rPr>
            </a:br>
            <a:r>
              <a:rPr lang="en-US" altLang="zh-CN" sz="2400" dirty="0">
                <a:solidFill>
                  <a:srgbClr val="000066"/>
                </a:solidFill>
              </a:rPr>
              <a:t>  </a:t>
            </a:r>
            <a:endParaRPr lang="zh-CN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889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407368" y="260648"/>
            <a:ext cx="3456384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</a:t>
            </a:r>
          </a:p>
        </p:txBody>
      </p:sp>
      <p:sp>
        <p:nvSpPr>
          <p:cNvPr id="5" name="Text Box 4" descr="蓝色砂纸"/>
          <p:cNvSpPr txBox="1">
            <a:spLocks noChangeArrowheads="1"/>
          </p:cNvSpPr>
          <p:nvPr/>
        </p:nvSpPr>
        <p:spPr bwMode="auto">
          <a:xfrm>
            <a:off x="334790" y="1009650"/>
            <a:ext cx="8713787" cy="46196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  </a:t>
            </a:r>
            <a:r>
              <a:rPr lang="zh-CN" altLang="en-US" sz="2400" dirty="0">
                <a:solidFill>
                  <a:srgbClr val="00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类中代码  </a:t>
            </a:r>
            <a:r>
              <a:rPr lang="en-US" altLang="zh-CN" sz="2400" dirty="0">
                <a:solidFill>
                  <a:srgbClr val="00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self.</a:t>
            </a:r>
            <a:r>
              <a:rPr lang="zh-CN" altLang="en-US" sz="2400" dirty="0">
                <a:solidFill>
                  <a:srgbClr val="00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开头</a:t>
            </a:r>
            <a:r>
              <a:rPr lang="en-US" altLang="zh-CN" sz="2400" dirty="0">
                <a:solidFill>
                  <a:srgbClr val="00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zh-CN" altLang="en-US" sz="2400" dirty="0">
                <a:solidFill>
                  <a:srgbClr val="00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的，指生成的对象的某个属性值，如</a:t>
            </a:r>
            <a:endParaRPr lang="en-US" altLang="zh-CN" sz="2400" dirty="0">
              <a:solidFill>
                <a:srgbClr val="00006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027" y="1727200"/>
            <a:ext cx="324802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27" y="2182812"/>
            <a:ext cx="438626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直接箭头连接符 6"/>
          <p:cNvCxnSpPr>
            <a:cxnSpLocks noChangeShapeType="1"/>
          </p:cNvCxnSpPr>
          <p:nvPr/>
        </p:nvCxnSpPr>
        <p:spPr bwMode="auto">
          <a:xfrm flipV="1">
            <a:off x="2639840" y="2233612"/>
            <a:ext cx="3382962" cy="287338"/>
          </a:xfrm>
          <a:prstGeom prst="straightConnector1">
            <a:avLst/>
          </a:prstGeom>
          <a:noFill/>
          <a:ln w="38100" algn="ctr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直接箭头连接符 8"/>
          <p:cNvCxnSpPr>
            <a:cxnSpLocks noChangeShapeType="1"/>
          </p:cNvCxnSpPr>
          <p:nvPr/>
        </p:nvCxnSpPr>
        <p:spPr bwMode="auto">
          <a:xfrm>
            <a:off x="3790777" y="2593975"/>
            <a:ext cx="2232025" cy="0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直接箭头连接符 10"/>
          <p:cNvCxnSpPr>
            <a:cxnSpLocks noChangeShapeType="1"/>
          </p:cNvCxnSpPr>
          <p:nvPr/>
        </p:nvCxnSpPr>
        <p:spPr bwMode="auto">
          <a:xfrm>
            <a:off x="4332115" y="2809875"/>
            <a:ext cx="1690687" cy="144462"/>
          </a:xfrm>
          <a:prstGeom prst="straightConnector1">
            <a:avLst/>
          </a:prstGeom>
          <a:noFill/>
          <a:ln w="28575" algn="ctr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直接箭头连接符 12"/>
          <p:cNvCxnSpPr>
            <a:cxnSpLocks noChangeShapeType="1"/>
          </p:cNvCxnSpPr>
          <p:nvPr/>
        </p:nvCxnSpPr>
        <p:spPr bwMode="auto">
          <a:xfrm>
            <a:off x="2711277" y="1370012"/>
            <a:ext cx="3455988" cy="8636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 Box 4" descr="蓝色砂纸"/>
          <p:cNvSpPr txBox="1">
            <a:spLocks noChangeArrowheads="1"/>
          </p:cNvSpPr>
          <p:nvPr/>
        </p:nvSpPr>
        <p:spPr bwMode="auto">
          <a:xfrm>
            <a:off x="228909" y="3201902"/>
            <a:ext cx="8712200" cy="55399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66"/>
                </a:solidFill>
              </a:rPr>
              <a:t>print(</a:t>
            </a:r>
            <a:r>
              <a:rPr lang="zh-CN" altLang="en-US" sz="2400" dirty="0">
                <a:solidFill>
                  <a:srgbClr val="000066"/>
                </a:solidFill>
              </a:rPr>
              <a:t>王涛</a:t>
            </a:r>
            <a:r>
              <a:rPr lang="en-US" altLang="zh-CN" sz="2400" dirty="0">
                <a:solidFill>
                  <a:srgbClr val="000066"/>
                </a:solidFill>
              </a:rPr>
              <a:t>.No,</a:t>
            </a:r>
            <a:r>
              <a:rPr lang="zh-CN" altLang="en-US" sz="2400" dirty="0">
                <a:solidFill>
                  <a:srgbClr val="000066"/>
                </a:solidFill>
              </a:rPr>
              <a:t>王涛</a:t>
            </a:r>
            <a:r>
              <a:rPr lang="en-US" altLang="zh-CN" sz="2400" dirty="0">
                <a:solidFill>
                  <a:srgbClr val="000066"/>
                </a:solidFill>
              </a:rPr>
              <a:t>.Score)      #     </a:t>
            </a:r>
            <a:r>
              <a:rPr lang="zh-CN" altLang="en-US" sz="2400" dirty="0">
                <a:solidFill>
                  <a:srgbClr val="000066"/>
                </a:solidFill>
              </a:rPr>
              <a:t>王涛  是</a:t>
            </a:r>
            <a:r>
              <a:rPr lang="en-US" altLang="zh-CN" sz="2400" dirty="0">
                <a:solidFill>
                  <a:srgbClr val="000066"/>
                </a:solidFill>
              </a:rPr>
              <a:t>Student</a:t>
            </a:r>
            <a:r>
              <a:rPr lang="zh-CN" altLang="en-US" sz="2400" dirty="0">
                <a:solidFill>
                  <a:srgbClr val="000066"/>
                </a:solidFill>
              </a:rPr>
              <a:t>的一个实例</a:t>
            </a:r>
            <a:endParaRPr lang="zh-CN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30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407368" y="260648"/>
            <a:ext cx="3456384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</a:t>
            </a:r>
          </a:p>
        </p:txBody>
      </p:sp>
      <p:sp>
        <p:nvSpPr>
          <p:cNvPr id="5" name="Text Box 4" descr="蓝色砂纸"/>
          <p:cNvSpPr txBox="1">
            <a:spLocks noChangeArrowheads="1"/>
          </p:cNvSpPr>
          <p:nvPr/>
        </p:nvSpPr>
        <p:spPr bwMode="auto">
          <a:xfrm>
            <a:off x="551384" y="980728"/>
            <a:ext cx="11028858" cy="4785926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zh-CN" sz="2400" dirty="0">
                <a:solidFill>
                  <a:srgbClr val="000066"/>
                </a:solidFill>
              </a:rPr>
              <a:t>④ </a:t>
            </a:r>
            <a:r>
              <a:rPr lang="en-US" altLang="zh-CN" sz="2400" dirty="0" err="1">
                <a:solidFill>
                  <a:srgbClr val="000066"/>
                </a:solidFill>
              </a:rPr>
              <a:t>p.SetValue</a:t>
            </a:r>
            <a:r>
              <a:rPr lang="en-US" altLang="zh-CN" sz="2400" dirty="0">
                <a:solidFill>
                  <a:srgbClr val="000066"/>
                </a:solidFill>
              </a:rPr>
              <a:t>("1900001", "</a:t>
            </a:r>
            <a:r>
              <a:rPr lang="zh-CN" altLang="zh-CN" sz="2400" dirty="0">
                <a:solidFill>
                  <a:srgbClr val="000066"/>
                </a:solidFill>
              </a:rPr>
              <a:t>王涛</a:t>
            </a:r>
            <a:r>
              <a:rPr lang="en-US" altLang="zh-CN" sz="2400" dirty="0">
                <a:solidFill>
                  <a:srgbClr val="000066"/>
                </a:solidFill>
              </a:rPr>
              <a:t>", 82)</a:t>
            </a:r>
            <a:br>
              <a:rPr lang="en-US" altLang="zh-CN" sz="2400" dirty="0">
                <a:solidFill>
                  <a:srgbClr val="000066"/>
                </a:solidFill>
              </a:rPr>
            </a:br>
            <a:r>
              <a:rPr lang="en-US" altLang="zh-CN" sz="2400" dirty="0">
                <a:solidFill>
                  <a:srgbClr val="000066"/>
                </a:solidFill>
              </a:rPr>
              <a:t>     p</a:t>
            </a:r>
            <a:r>
              <a:rPr lang="zh-CN" altLang="zh-CN" sz="2400" dirty="0">
                <a:solidFill>
                  <a:srgbClr val="000066"/>
                </a:solidFill>
              </a:rPr>
              <a:t>调用自己的</a:t>
            </a:r>
            <a:r>
              <a:rPr lang="en-US" altLang="zh-CN" sz="2400" dirty="0" err="1">
                <a:solidFill>
                  <a:srgbClr val="000066"/>
                </a:solidFill>
              </a:rPr>
              <a:t>SetValue</a:t>
            </a:r>
            <a:r>
              <a:rPr lang="zh-CN" altLang="zh-CN" sz="2400" dirty="0">
                <a:solidFill>
                  <a:srgbClr val="000066"/>
                </a:solidFill>
              </a:rPr>
              <a:t>函数</a:t>
            </a:r>
            <a:br>
              <a:rPr lang="en-US" altLang="zh-CN" sz="2400" dirty="0">
                <a:solidFill>
                  <a:srgbClr val="000066"/>
                </a:solidFill>
              </a:rPr>
            </a:br>
            <a:r>
              <a:rPr lang="en-US" altLang="zh-CN" sz="2400" dirty="0">
                <a:solidFill>
                  <a:srgbClr val="000066"/>
                </a:solidFill>
              </a:rPr>
              <a:t>     </a:t>
            </a:r>
            <a:r>
              <a:rPr lang="zh-CN" altLang="zh-CN" sz="2400" dirty="0">
                <a:solidFill>
                  <a:srgbClr val="000066"/>
                </a:solidFill>
              </a:rPr>
              <a:t>实参分别赋值给</a:t>
            </a:r>
            <a:r>
              <a:rPr lang="en-US" altLang="zh-CN" sz="2400" dirty="0">
                <a:solidFill>
                  <a:srgbClr val="000066"/>
                </a:solidFill>
              </a:rPr>
              <a:t>a</a:t>
            </a:r>
            <a:r>
              <a:rPr lang="zh-CN" altLang="zh-CN" sz="2400" dirty="0">
                <a:solidFill>
                  <a:srgbClr val="000066"/>
                </a:solidFill>
              </a:rPr>
              <a:t>、</a:t>
            </a:r>
            <a:r>
              <a:rPr lang="en-US" altLang="zh-CN" sz="2400" dirty="0">
                <a:solidFill>
                  <a:srgbClr val="000066"/>
                </a:solidFill>
              </a:rPr>
              <a:t>b</a:t>
            </a:r>
            <a:r>
              <a:rPr lang="zh-CN" altLang="zh-CN" sz="2400" dirty="0">
                <a:solidFill>
                  <a:srgbClr val="000066"/>
                </a:solidFill>
              </a:rPr>
              <a:t>、</a:t>
            </a:r>
            <a:r>
              <a:rPr lang="en-US" altLang="zh-CN" sz="2400" dirty="0">
                <a:solidFill>
                  <a:srgbClr val="000066"/>
                </a:solidFill>
              </a:rPr>
              <a:t>c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66"/>
                </a:solidFill>
              </a:rPr>
              <a:t>     </a:t>
            </a:r>
            <a:r>
              <a:rPr lang="en-US" altLang="zh-CN" sz="2400" dirty="0" err="1">
                <a:solidFill>
                  <a:srgbClr val="000066"/>
                </a:solidFill>
              </a:rPr>
              <a:t>SetValue</a:t>
            </a:r>
            <a:r>
              <a:rPr lang="zh-CN" altLang="zh-CN" sz="2400" dirty="0">
                <a:solidFill>
                  <a:srgbClr val="000066"/>
                </a:solidFill>
              </a:rPr>
              <a:t>定义自己的数据成员</a:t>
            </a:r>
            <a:r>
              <a:rPr lang="zh-CN" altLang="en-US" sz="2400" dirty="0">
                <a:solidFill>
                  <a:srgbClr val="000066"/>
                </a:solidFill>
              </a:rPr>
              <a:t>：</a:t>
            </a:r>
            <a:r>
              <a:rPr lang="en-US" altLang="zh-CN" sz="2400" dirty="0">
                <a:solidFill>
                  <a:srgbClr val="000066"/>
                </a:solidFill>
              </a:rPr>
              <a:t>No</a:t>
            </a:r>
            <a:r>
              <a:rPr lang="zh-CN" altLang="en-US" sz="2400" dirty="0">
                <a:solidFill>
                  <a:srgbClr val="000066"/>
                </a:solidFill>
              </a:rPr>
              <a:t>、</a:t>
            </a:r>
            <a:r>
              <a:rPr lang="en-US" altLang="zh-CN" sz="2400" dirty="0">
                <a:solidFill>
                  <a:srgbClr val="000066"/>
                </a:solidFill>
              </a:rPr>
              <a:t>Name</a:t>
            </a:r>
            <a:r>
              <a:rPr lang="zh-CN" altLang="en-US" sz="2400" dirty="0">
                <a:solidFill>
                  <a:srgbClr val="000066"/>
                </a:solidFill>
              </a:rPr>
              <a:t>、</a:t>
            </a:r>
            <a:r>
              <a:rPr lang="en-US" altLang="zh-CN" sz="2400" dirty="0">
                <a:solidFill>
                  <a:srgbClr val="000066"/>
                </a:solidFill>
              </a:rPr>
              <a:t>Score</a:t>
            </a:r>
            <a:r>
              <a:rPr lang="zh-CN" altLang="en-US" sz="2400" dirty="0">
                <a:solidFill>
                  <a:srgbClr val="000066"/>
                </a:solidFill>
              </a:rPr>
              <a:t>，他们前面都有  </a:t>
            </a:r>
            <a:r>
              <a:rPr lang="en-US" altLang="zh-CN" sz="2400" dirty="0">
                <a:solidFill>
                  <a:srgbClr val="FF0000"/>
                </a:solidFill>
              </a:rPr>
              <a:t>self.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</a:rPr>
              <a:t>⑤ </a:t>
            </a:r>
            <a:r>
              <a:rPr lang="en-US" altLang="zh-CN" sz="2400" dirty="0" err="1">
                <a:solidFill>
                  <a:srgbClr val="000066"/>
                </a:solidFill>
              </a:rPr>
              <a:t>SetValue</a:t>
            </a:r>
            <a:r>
              <a:rPr lang="zh-CN" altLang="en-US" sz="2400" dirty="0">
                <a:solidFill>
                  <a:srgbClr val="000066"/>
                </a:solidFill>
              </a:rPr>
              <a:t>和</a:t>
            </a:r>
            <a:r>
              <a:rPr lang="en-US" altLang="zh-CN" sz="2400" dirty="0" err="1">
                <a:solidFill>
                  <a:srgbClr val="000066"/>
                </a:solidFill>
              </a:rPr>
              <a:t>Disp</a:t>
            </a:r>
            <a:r>
              <a:rPr lang="zh-CN" altLang="zh-CN" sz="2400" dirty="0">
                <a:solidFill>
                  <a:srgbClr val="000066"/>
                </a:solidFill>
              </a:rPr>
              <a:t>函数的第一个参数是</a:t>
            </a:r>
            <a:r>
              <a:rPr lang="en-US" altLang="zh-CN" sz="2800" dirty="0">
                <a:solidFill>
                  <a:srgbClr val="FF0000"/>
                </a:solidFill>
              </a:rPr>
              <a:t>self</a:t>
            </a:r>
            <a:br>
              <a:rPr lang="en-US" altLang="zh-CN" sz="2400" dirty="0">
                <a:solidFill>
                  <a:srgbClr val="000066"/>
                </a:solidFill>
              </a:rPr>
            </a:br>
            <a:r>
              <a:rPr lang="en-US" altLang="zh-CN" sz="2400" dirty="0">
                <a:solidFill>
                  <a:srgbClr val="000066"/>
                </a:solidFill>
              </a:rPr>
              <a:t>     </a:t>
            </a:r>
            <a:r>
              <a:rPr lang="en-US" altLang="zh-CN" sz="2400" dirty="0" err="1">
                <a:solidFill>
                  <a:srgbClr val="000066"/>
                </a:solidFill>
              </a:rPr>
              <a:t>self</a:t>
            </a:r>
            <a:r>
              <a:rPr lang="zh-CN" altLang="zh-CN" sz="2400" dirty="0">
                <a:solidFill>
                  <a:srgbClr val="000066"/>
                </a:solidFill>
              </a:rPr>
              <a:t>是对象自身的引用</a:t>
            </a:r>
            <a:endParaRPr lang="en-US" altLang="zh-CN" sz="2400" dirty="0">
              <a:solidFill>
                <a:srgbClr val="000066"/>
              </a:solidFill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⑥</a:t>
            </a:r>
            <a:r>
              <a:rPr lang="zh-CN" altLang="zh-CN" sz="2400" dirty="0">
                <a:solidFill>
                  <a:srgbClr val="000066"/>
                </a:solidFill>
              </a:rPr>
              <a:t>对</a:t>
            </a:r>
            <a:r>
              <a:rPr lang="zh-CN" altLang="en-US" sz="2400" dirty="0">
                <a:solidFill>
                  <a:srgbClr val="000066"/>
                </a:solidFill>
              </a:rPr>
              <a:t>象方法的</a:t>
            </a:r>
            <a:r>
              <a:rPr lang="zh-CN" altLang="zh-CN" sz="2400" dirty="0">
                <a:solidFill>
                  <a:srgbClr val="000066"/>
                </a:solidFill>
              </a:rPr>
              <a:t>使用形式为</a:t>
            </a:r>
            <a:r>
              <a:rPr lang="zh-CN" altLang="en-US" sz="2400" dirty="0">
                <a:solidFill>
                  <a:srgbClr val="000066"/>
                </a:solidFill>
              </a:rPr>
              <a:t>：</a:t>
            </a:r>
            <a:endParaRPr lang="en-US" altLang="zh-CN" sz="2400" dirty="0">
              <a:solidFill>
                <a:srgbClr val="000066"/>
              </a:solidFill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66"/>
                </a:solidFill>
              </a:rPr>
              <a:t>     </a:t>
            </a:r>
            <a:r>
              <a:rPr lang="zh-CN" altLang="zh-CN" sz="2400" b="1" dirty="0">
                <a:solidFill>
                  <a:srgbClr val="FF0000"/>
                </a:solidFill>
              </a:rPr>
              <a:t>对象</a:t>
            </a:r>
            <a:r>
              <a:rPr lang="en-US" altLang="zh-CN" sz="2400" b="1" dirty="0">
                <a:solidFill>
                  <a:srgbClr val="FF0000"/>
                </a:solidFill>
              </a:rPr>
              <a:t>.</a:t>
            </a:r>
            <a:r>
              <a:rPr lang="zh-CN" altLang="zh-CN" sz="2400" b="1" dirty="0">
                <a:solidFill>
                  <a:srgbClr val="FF0000"/>
                </a:solidFill>
              </a:rPr>
              <a:t>方法名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zh-CN" altLang="zh-CN" sz="2400" b="1" dirty="0">
                <a:solidFill>
                  <a:srgbClr val="FF0000"/>
                </a:solidFill>
              </a:rPr>
              <a:t>实在参数表</a:t>
            </a:r>
            <a:r>
              <a:rPr lang="en-US" altLang="zh-CN" sz="2400" dirty="0">
                <a:solidFill>
                  <a:srgbClr val="C00000"/>
                </a:solidFill>
              </a:rPr>
              <a:t>)   #  </a:t>
            </a:r>
            <a:r>
              <a:rPr lang="zh-CN" altLang="en-US" sz="2400" dirty="0">
                <a:solidFill>
                  <a:srgbClr val="C00000"/>
                </a:solidFill>
              </a:rPr>
              <a:t>重要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前跟</a:t>
            </a:r>
            <a:r>
              <a:rPr lang="en-US" altLang="zh-CN" sz="2400" dirty="0">
                <a:solidFill>
                  <a:srgbClr val="C00000"/>
                </a:solidFill>
              </a:rPr>
              <a:t>self</a:t>
            </a:r>
            <a:r>
              <a:rPr lang="zh-CN" altLang="en-US" sz="2400" dirty="0">
                <a:solidFill>
                  <a:srgbClr val="C00000"/>
                </a:solidFill>
              </a:rPr>
              <a:t>的变量，是类的属性，在类的不同方法间可以使用。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</a:rPr>
              <a:t>方法里调用其他方法，用</a:t>
            </a:r>
            <a:r>
              <a:rPr lang="en-US" altLang="zh-CN" sz="2400" b="1" dirty="0">
                <a:solidFill>
                  <a:srgbClr val="FF0000"/>
                </a:solidFill>
              </a:rPr>
              <a:t>self.</a:t>
            </a:r>
            <a:r>
              <a:rPr lang="zh-CN" altLang="en-US" sz="2400" b="1" dirty="0">
                <a:solidFill>
                  <a:srgbClr val="FF0000"/>
                </a:solidFill>
              </a:rPr>
              <a:t>方法</a:t>
            </a:r>
            <a:r>
              <a:rPr lang="en-US" altLang="zh-CN" sz="2400" b="1" dirty="0">
                <a:solidFill>
                  <a:srgbClr val="FF0000"/>
                </a:solidFill>
              </a:rPr>
              <a:t>()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716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407368" y="189726"/>
            <a:ext cx="4248472" cy="6469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类成员的属性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400619"/>
              </p:ext>
            </p:extLst>
          </p:nvPr>
        </p:nvGraphicFramePr>
        <p:xfrm>
          <a:off x="555289" y="862151"/>
          <a:ext cx="82011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783">
                  <a:extLst>
                    <a:ext uri="{9D8B030D-6E8A-4147-A177-3AD203B41FA5}">
                      <a16:colId xmlns:a16="http://schemas.microsoft.com/office/drawing/2014/main" val="3116900273"/>
                    </a:ext>
                  </a:extLst>
                </a:gridCol>
                <a:gridCol w="682292">
                  <a:extLst>
                    <a:ext uri="{9D8B030D-6E8A-4147-A177-3AD203B41FA5}">
                      <a16:colId xmlns:a16="http://schemas.microsoft.com/office/drawing/2014/main" val="2289244633"/>
                    </a:ext>
                  </a:extLst>
                </a:gridCol>
                <a:gridCol w="6386026">
                  <a:extLst>
                    <a:ext uri="{9D8B030D-6E8A-4147-A177-3AD203B41FA5}">
                      <a16:colId xmlns:a16="http://schemas.microsoft.com/office/drawing/2014/main" val="28716499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权限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91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私有成员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__X 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两个下划线，在类的内部可以访问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72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保护成员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_X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一个下划线，类和派生类中可以访问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66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公有成员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类的内部和外部都可以访问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544942"/>
                  </a:ext>
                </a:extLst>
              </a:tr>
            </a:tbl>
          </a:graphicData>
        </a:graphic>
      </p:graphicFrame>
      <p:sp>
        <p:nvSpPr>
          <p:cNvPr id="6" name="Text Box 4" descr="蓝色砂纸"/>
          <p:cNvSpPr txBox="1">
            <a:spLocks noChangeArrowheads="1"/>
          </p:cNvSpPr>
          <p:nvPr/>
        </p:nvSpPr>
        <p:spPr bwMode="auto">
          <a:xfrm>
            <a:off x="416961" y="2492896"/>
            <a:ext cx="5616624" cy="3170099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class Student: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# </a:t>
            </a:r>
            <a:r>
              <a:rPr lang="en-US" altLang="zh-CN" sz="2000" dirty="0" err="1">
                <a:solidFill>
                  <a:srgbClr val="0070C0"/>
                </a:solidFill>
                <a:latin typeface="+mn-ea"/>
                <a:ea typeface="+mn-ea"/>
              </a:rPr>
              <a:t>SetValue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方法用于定义该类对象的数据属性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    </a:t>
            </a:r>
            <a:r>
              <a:rPr lang="en-US" altLang="zh-CN" sz="2000" dirty="0" err="1">
                <a:latin typeface="+mn-ea"/>
                <a:ea typeface="+mn-ea"/>
              </a:rPr>
              <a:t>def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err="1">
                <a:latin typeface="+mn-ea"/>
                <a:ea typeface="+mn-ea"/>
              </a:rPr>
              <a:t>SetValue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en-US" altLang="zh-CN" sz="2000" dirty="0" err="1">
                <a:latin typeface="+mn-ea"/>
                <a:ea typeface="+mn-ea"/>
              </a:rPr>
              <a:t>self,a,b,c</a:t>
            </a:r>
            <a:r>
              <a:rPr lang="en-US" altLang="zh-CN" sz="2000" dirty="0">
                <a:latin typeface="+mn-ea"/>
                <a:ea typeface="+mn-ea"/>
              </a:rPr>
              <a:t>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self.No</a:t>
            </a:r>
            <a:r>
              <a:rPr lang="en-US" altLang="zh-CN" sz="2000" dirty="0">
                <a:latin typeface="+mn-ea"/>
                <a:ea typeface="+mn-ea"/>
              </a:rPr>
              <a:t>=a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self.Name</a:t>
            </a:r>
            <a:r>
              <a:rPr lang="en-US" altLang="zh-CN" sz="2000" dirty="0">
                <a:latin typeface="+mn-ea"/>
                <a:ea typeface="+mn-ea"/>
              </a:rPr>
              <a:t>=b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self.Score</a:t>
            </a:r>
            <a:r>
              <a:rPr lang="en-US" altLang="zh-CN" sz="2000" dirty="0">
                <a:latin typeface="+mn-ea"/>
                <a:ea typeface="+mn-ea"/>
              </a:rPr>
              <a:t>=c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en-US" altLang="zh-CN" sz="2000" dirty="0">
                <a:solidFill>
                  <a:srgbClr val="0070C0"/>
                </a:solidFill>
                <a:latin typeface="+mn-ea"/>
                <a:ea typeface="+mn-ea"/>
              </a:rPr>
              <a:t># </a:t>
            </a:r>
            <a:r>
              <a:rPr lang="en-US" altLang="zh-CN" sz="2000" dirty="0" err="1">
                <a:solidFill>
                  <a:srgbClr val="0070C0"/>
                </a:solidFill>
                <a:latin typeface="+mn-ea"/>
                <a:ea typeface="+mn-ea"/>
              </a:rPr>
              <a:t>Disp</a:t>
            </a:r>
            <a:r>
              <a:rPr lang="zh-CN" altLang="en-US" sz="2000" dirty="0">
                <a:solidFill>
                  <a:srgbClr val="0070C0"/>
                </a:solidFill>
                <a:latin typeface="+mn-ea"/>
                <a:ea typeface="+mn-ea"/>
              </a:rPr>
              <a:t>方法用于输出该类对象的数据属性值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p=Student()                           # </a:t>
            </a:r>
            <a:r>
              <a:rPr lang="zh-CN" altLang="en-US" sz="2000" dirty="0">
                <a:latin typeface="+mn-ea"/>
                <a:ea typeface="+mn-ea"/>
              </a:rPr>
              <a:t>创建</a:t>
            </a:r>
            <a:r>
              <a:rPr lang="en-US" altLang="zh-CN" sz="2000" dirty="0">
                <a:latin typeface="+mn-ea"/>
                <a:ea typeface="+mn-ea"/>
              </a:rPr>
              <a:t>Student</a:t>
            </a:r>
            <a:r>
              <a:rPr lang="zh-CN" altLang="en-US" sz="2000" dirty="0">
                <a:latin typeface="+mn-ea"/>
                <a:ea typeface="+mn-ea"/>
              </a:rPr>
              <a:t>对象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 err="1">
                <a:latin typeface="+mn-ea"/>
                <a:ea typeface="+mn-ea"/>
              </a:rPr>
              <a:t>p.SetValue</a:t>
            </a:r>
            <a:r>
              <a:rPr lang="en-US" altLang="zh-CN" sz="2000" dirty="0">
                <a:latin typeface="+mn-ea"/>
                <a:ea typeface="+mn-ea"/>
              </a:rPr>
              <a:t>("2020001", "</a:t>
            </a:r>
            <a:r>
              <a:rPr lang="zh-CN" altLang="en-US" sz="2000" dirty="0">
                <a:latin typeface="+mn-ea"/>
                <a:ea typeface="+mn-ea"/>
              </a:rPr>
              <a:t>张三</a:t>
            </a:r>
            <a:r>
              <a:rPr lang="en-US" altLang="zh-CN" sz="2000" dirty="0">
                <a:latin typeface="+mn-ea"/>
                <a:ea typeface="+mn-ea"/>
              </a:rPr>
              <a:t>", 88)   # </a:t>
            </a:r>
            <a:r>
              <a:rPr lang="zh-CN" altLang="en-US" sz="2000" dirty="0">
                <a:latin typeface="+mn-ea"/>
                <a:ea typeface="+mn-ea"/>
              </a:rPr>
              <a:t>对象初始化</a:t>
            </a:r>
            <a:endParaRPr lang="en-US" altLang="zh-CN" sz="20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print(</a:t>
            </a:r>
            <a:r>
              <a:rPr lang="en-US" altLang="zh-CN" sz="2000" dirty="0" err="1">
                <a:latin typeface="+mn-ea"/>
                <a:ea typeface="+mn-ea"/>
              </a:rPr>
              <a:t>p.No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endParaRPr lang="zh-CN" altLang="zh-CN" sz="2000" dirty="0">
              <a:latin typeface="+mn-ea"/>
              <a:ea typeface="+mn-ea"/>
            </a:endParaRPr>
          </a:p>
        </p:txBody>
      </p:sp>
      <p:sp>
        <p:nvSpPr>
          <p:cNvPr id="7" name="Text Box 4" descr="蓝色砂纸"/>
          <p:cNvSpPr txBox="1">
            <a:spLocks noChangeArrowheads="1"/>
          </p:cNvSpPr>
          <p:nvPr/>
        </p:nvSpPr>
        <p:spPr bwMode="auto">
          <a:xfrm>
            <a:off x="6168008" y="2405090"/>
            <a:ext cx="5616624" cy="347787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class Student: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# </a:t>
            </a:r>
            <a:r>
              <a:rPr lang="en-US" altLang="zh-CN" sz="2000" dirty="0" err="1">
                <a:latin typeface="+mn-ea"/>
                <a:ea typeface="+mn-ea"/>
              </a:rPr>
              <a:t>SetValue</a:t>
            </a:r>
            <a:r>
              <a:rPr lang="zh-CN" altLang="en-US" sz="2000" dirty="0">
                <a:latin typeface="+mn-ea"/>
                <a:ea typeface="+mn-ea"/>
              </a:rPr>
              <a:t>方法用于定义该类对象的数据属性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    </a:t>
            </a:r>
            <a:r>
              <a:rPr lang="en-US" altLang="zh-CN" sz="2000" dirty="0" err="1">
                <a:latin typeface="+mn-ea"/>
                <a:ea typeface="+mn-ea"/>
              </a:rPr>
              <a:t>def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err="1">
                <a:latin typeface="+mn-ea"/>
                <a:ea typeface="+mn-ea"/>
              </a:rPr>
              <a:t>SetValue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en-US" altLang="zh-CN" sz="2000" dirty="0" err="1">
                <a:latin typeface="+mn-ea"/>
                <a:ea typeface="+mn-ea"/>
              </a:rPr>
              <a:t>self,a,b,c</a:t>
            </a:r>
            <a:r>
              <a:rPr lang="en-US" altLang="zh-CN" sz="2000" dirty="0">
                <a:latin typeface="+mn-ea"/>
                <a:ea typeface="+mn-ea"/>
              </a:rPr>
              <a:t>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</a:t>
            </a:r>
            <a:r>
              <a:rPr lang="en-US" altLang="zh-CN" sz="2000" dirty="0" err="1">
                <a:latin typeface="+mn-ea"/>
                <a:ea typeface="+mn-ea"/>
              </a:rPr>
              <a:t>self.__No</a:t>
            </a:r>
            <a:r>
              <a:rPr lang="en-US" altLang="zh-CN" sz="2000" dirty="0">
                <a:latin typeface="+mn-ea"/>
                <a:ea typeface="+mn-ea"/>
              </a:rPr>
              <a:t>=</a:t>
            </a:r>
            <a:r>
              <a:rPr lang="en-US" altLang="zh-CN" sz="2000" dirty="0" err="1">
                <a:latin typeface="+mn-ea"/>
                <a:ea typeface="+mn-ea"/>
              </a:rPr>
              <a:t>a;self</a:t>
            </a:r>
            <a:r>
              <a:rPr lang="en-US" altLang="zh-CN" sz="2000" dirty="0">
                <a:latin typeface="+mn-ea"/>
                <a:ea typeface="+mn-ea"/>
              </a:rPr>
              <a:t>.__Name=b;  </a:t>
            </a:r>
            <a:r>
              <a:rPr lang="en-US" altLang="zh-CN" sz="2000" dirty="0" err="1">
                <a:latin typeface="+mn-ea"/>
                <a:ea typeface="+mn-ea"/>
              </a:rPr>
              <a:t>self.__Score</a:t>
            </a:r>
            <a:r>
              <a:rPr lang="en-US" altLang="zh-CN" sz="2000" dirty="0">
                <a:latin typeface="+mn-ea"/>
                <a:ea typeface="+mn-ea"/>
              </a:rPr>
              <a:t>=c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# </a:t>
            </a:r>
            <a:r>
              <a:rPr lang="en-US" altLang="zh-CN" sz="2000" dirty="0" err="1">
                <a:latin typeface="+mn-ea"/>
                <a:ea typeface="+mn-ea"/>
              </a:rPr>
              <a:t>Disp</a:t>
            </a:r>
            <a:r>
              <a:rPr lang="zh-CN" altLang="en-US" sz="2000" dirty="0">
                <a:latin typeface="+mn-ea"/>
                <a:ea typeface="+mn-ea"/>
              </a:rPr>
              <a:t>方法用于输出该类对象的数据属性值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000" dirty="0">
                <a:latin typeface="+mn-ea"/>
                <a:ea typeface="+mn-ea"/>
              </a:rPr>
              <a:t>    </a:t>
            </a:r>
            <a:r>
              <a:rPr lang="en-US" altLang="zh-CN" sz="2000" dirty="0" err="1">
                <a:latin typeface="+mn-ea"/>
                <a:ea typeface="+mn-ea"/>
              </a:rPr>
              <a:t>def</a:t>
            </a: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err="1">
                <a:latin typeface="+mn-ea"/>
                <a:ea typeface="+mn-ea"/>
              </a:rPr>
              <a:t>disp</a:t>
            </a:r>
            <a:r>
              <a:rPr lang="en-US" altLang="zh-CN" sz="2000" dirty="0">
                <a:latin typeface="+mn-ea"/>
                <a:ea typeface="+mn-ea"/>
              </a:rPr>
              <a:t>(self):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        print(</a:t>
            </a:r>
            <a:r>
              <a:rPr lang="en-US" altLang="zh-CN" sz="2000" dirty="0" err="1">
                <a:latin typeface="+mn-ea"/>
                <a:ea typeface="+mn-ea"/>
              </a:rPr>
              <a:t>self.__No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p=Student()                           # </a:t>
            </a:r>
            <a:r>
              <a:rPr lang="zh-CN" altLang="en-US" sz="2000" dirty="0">
                <a:latin typeface="+mn-ea"/>
                <a:ea typeface="+mn-ea"/>
              </a:rPr>
              <a:t>创建</a:t>
            </a:r>
            <a:r>
              <a:rPr lang="en-US" altLang="zh-CN" sz="2000" dirty="0">
                <a:latin typeface="+mn-ea"/>
                <a:ea typeface="+mn-ea"/>
              </a:rPr>
              <a:t>Student</a:t>
            </a:r>
            <a:r>
              <a:rPr lang="zh-CN" altLang="en-US" sz="2000" dirty="0">
                <a:latin typeface="+mn-ea"/>
                <a:ea typeface="+mn-ea"/>
              </a:rPr>
              <a:t>对象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 err="1">
                <a:latin typeface="+mn-ea"/>
                <a:ea typeface="+mn-ea"/>
              </a:rPr>
              <a:t>p.SetValue</a:t>
            </a:r>
            <a:r>
              <a:rPr lang="en-US" altLang="zh-CN" sz="2000" dirty="0">
                <a:latin typeface="+mn-ea"/>
                <a:ea typeface="+mn-ea"/>
              </a:rPr>
              <a:t>("2020001", "</a:t>
            </a:r>
            <a:r>
              <a:rPr lang="zh-CN" altLang="en-US" sz="2000" dirty="0">
                <a:latin typeface="+mn-ea"/>
                <a:ea typeface="+mn-ea"/>
              </a:rPr>
              <a:t>张三</a:t>
            </a:r>
            <a:r>
              <a:rPr lang="en-US" altLang="zh-CN" sz="2000" dirty="0">
                <a:latin typeface="+mn-ea"/>
                <a:ea typeface="+mn-ea"/>
              </a:rPr>
              <a:t>", 88)   # </a:t>
            </a:r>
            <a:r>
              <a:rPr lang="zh-CN" altLang="en-US" sz="2000" dirty="0">
                <a:latin typeface="+mn-ea"/>
                <a:ea typeface="+mn-ea"/>
              </a:rPr>
              <a:t>对象初始化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>
                <a:latin typeface="+mn-ea"/>
                <a:ea typeface="+mn-ea"/>
              </a:rPr>
              <a:t>print(</a:t>
            </a:r>
            <a:r>
              <a:rPr lang="en-US" altLang="zh-CN" sz="2000" dirty="0" err="1">
                <a:latin typeface="+mn-ea"/>
                <a:ea typeface="+mn-ea"/>
              </a:rPr>
              <a:t>p.__No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000" dirty="0" err="1">
                <a:latin typeface="+mn-ea"/>
                <a:ea typeface="+mn-ea"/>
              </a:rPr>
              <a:t>p.disp</a:t>
            </a:r>
            <a:r>
              <a:rPr lang="en-US" altLang="zh-CN" sz="2000" dirty="0">
                <a:latin typeface="+mn-ea"/>
                <a:ea typeface="+mn-ea"/>
              </a:rPr>
              <a:t>()</a:t>
            </a:r>
            <a:endParaRPr lang="zh-CN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2288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 descr="蓝色砂纸"/>
          <p:cNvSpPr txBox="1">
            <a:spLocks noChangeArrowheads="1"/>
          </p:cNvSpPr>
          <p:nvPr/>
        </p:nvSpPr>
        <p:spPr bwMode="auto">
          <a:xfrm>
            <a:off x="621230" y="1339682"/>
            <a:ext cx="11089231" cy="5078313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>
                <a:solidFill>
                  <a:srgbClr val="339933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 indent="-285750">
              <a:lnSpc>
                <a:spcPct val="150000"/>
              </a:lnSpc>
            </a:pP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类名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父类名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（父类缺省为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>
              <a:lnSpc>
                <a:spcPct val="150000"/>
              </a:lnSpc>
            </a:pP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类体前的字符串说明类的帮助信息，可以通过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.__doc__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</a:t>
            </a:r>
            <a:endParaRPr lang="en-US" altLang="zh-CN" sz="2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>
              <a:lnSpc>
                <a:spcPct val="150000"/>
              </a:lnSpc>
            </a:pP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类体包括类的方法和数据属性，方法和数据都称为类的成员</a:t>
            </a:r>
            <a:endParaRPr lang="en-US" altLang="zh-CN" sz="24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>
              <a:lnSpc>
                <a:spcPct val="150000"/>
              </a:lnSpc>
            </a:pP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altLang="zh-CN" sz="2400" b="1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__(self,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的方法，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创建实例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时被调用，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前后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个下划线</a:t>
            </a:r>
            <a:endParaRPr lang="en-US" altLang="zh-CN" sz="24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-285750">
              <a:lnSpc>
                <a:spcPct val="150000"/>
              </a:lnSpc>
            </a:pP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 </a:t>
            </a: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其他方法可以通过</a:t>
            </a:r>
            <a:r>
              <a:rPr lang="zh-CN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实例调用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，格式为： 对象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.xxx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类内的方法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第一个参数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</a:t>
            </a: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是对象自身的引用</a:t>
            </a:r>
            <a:endParaRPr lang="en-US" altLang="zh-CN" sz="24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⑦ 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创建实例对象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初始化参数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来创建，调用构造函数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⑧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实例调用方法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方法名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2000" dirty="0" err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p.SetValue</a:t>
            </a: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("2020001", "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张三</a:t>
            </a: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", 88)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23392" y="692696"/>
            <a:ext cx="4248472" cy="6469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类的定义语法格式</a:t>
            </a:r>
          </a:p>
        </p:txBody>
      </p:sp>
    </p:spTree>
    <p:extLst>
      <p:ext uri="{BB962C8B-B14F-4D97-AF65-F5344CB8AC3E}">
        <p14:creationId xmlns:p14="http://schemas.microsoft.com/office/powerpoint/2010/main" val="487475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 descr="蓝色砂纸"/>
          <p:cNvSpPr txBox="1">
            <a:spLocks noChangeArrowheads="1"/>
          </p:cNvSpPr>
          <p:nvPr/>
        </p:nvSpPr>
        <p:spPr bwMode="auto">
          <a:xfrm>
            <a:off x="623392" y="1124744"/>
            <a:ext cx="11089231" cy="4708981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>
                <a:solidFill>
                  <a:srgbClr val="339933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</a:rPr>
              <a:t>class</a:t>
            </a:r>
            <a:r>
              <a:rPr lang="en-US" altLang="zh-CN" sz="2400" dirty="0">
                <a:solidFill>
                  <a:srgbClr val="000066"/>
                </a:solidFill>
              </a:rPr>
              <a:t> </a:t>
            </a:r>
            <a:r>
              <a:rPr lang="zh-CN" altLang="en-US" sz="2400" dirty="0">
                <a:solidFill>
                  <a:srgbClr val="000066"/>
                </a:solidFill>
              </a:rPr>
              <a:t>类名</a:t>
            </a:r>
            <a:r>
              <a:rPr lang="en-US" altLang="zh-CN" sz="2400" dirty="0">
                <a:solidFill>
                  <a:srgbClr val="000066"/>
                </a:solidFill>
              </a:rPr>
              <a:t>:</a:t>
            </a:r>
          </a:p>
          <a:p>
            <a:r>
              <a:rPr lang="en-US" altLang="zh-CN" sz="2400" dirty="0">
                <a:solidFill>
                  <a:srgbClr val="000066"/>
                </a:solidFill>
              </a:rPr>
              <a:t>    </a:t>
            </a:r>
            <a:r>
              <a:rPr lang="en-US" altLang="zh-CN" sz="2400" dirty="0" err="1">
                <a:solidFill>
                  <a:srgbClr val="000066"/>
                </a:solidFill>
              </a:rPr>
              <a:t>def</a:t>
            </a:r>
            <a:r>
              <a:rPr lang="en-US" altLang="zh-CN" sz="2400" dirty="0">
                <a:solidFill>
                  <a:srgbClr val="000066"/>
                </a:solidFill>
              </a:rPr>
              <a:t>  __</a:t>
            </a:r>
            <a:r>
              <a:rPr lang="en-US" altLang="zh-CN" sz="2400" dirty="0" err="1">
                <a:solidFill>
                  <a:srgbClr val="000066"/>
                </a:solidFill>
              </a:rPr>
              <a:t>init</a:t>
            </a:r>
            <a:r>
              <a:rPr lang="en-US" altLang="zh-CN" sz="2400" dirty="0">
                <a:solidFill>
                  <a:srgbClr val="000066"/>
                </a:solidFill>
              </a:rPr>
              <a:t>__(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  <a:r>
              <a:rPr lang="en-US" altLang="zh-CN" sz="2400" dirty="0">
                <a:solidFill>
                  <a:srgbClr val="000066"/>
                </a:solidFill>
              </a:rPr>
              <a:t>, </a:t>
            </a:r>
            <a:r>
              <a:rPr lang="zh-CN" altLang="en-US" sz="2400" dirty="0">
                <a:solidFill>
                  <a:srgbClr val="000066"/>
                </a:solidFill>
              </a:rPr>
              <a:t>形参列表</a:t>
            </a:r>
            <a:r>
              <a:rPr lang="en-US" altLang="zh-CN" sz="2400" dirty="0">
                <a:solidFill>
                  <a:srgbClr val="000066"/>
                </a:solidFill>
              </a:rPr>
              <a:t>):  # </a:t>
            </a:r>
            <a:r>
              <a:rPr lang="zh-CN" altLang="en-US" sz="2400" dirty="0">
                <a:solidFill>
                  <a:srgbClr val="000066"/>
                </a:solidFill>
              </a:rPr>
              <a:t>构造函数</a:t>
            </a:r>
            <a:endParaRPr lang="en-US" altLang="zh-CN" sz="2400" dirty="0">
              <a:solidFill>
                <a:srgbClr val="000066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# </a:t>
            </a:r>
            <a:r>
              <a:rPr lang="zh-CN" altLang="en-US" sz="2400" dirty="0">
                <a:solidFill>
                  <a:srgbClr val="000066"/>
                </a:solidFill>
              </a:rPr>
              <a:t>当一个类中，不编写 </a:t>
            </a:r>
            <a:r>
              <a:rPr lang="en-US" altLang="zh-CN" sz="2400" dirty="0">
                <a:solidFill>
                  <a:srgbClr val="000066"/>
                </a:solidFill>
              </a:rPr>
              <a:t>__</a:t>
            </a:r>
            <a:r>
              <a:rPr lang="en-US" altLang="zh-CN" sz="2400" dirty="0" err="1">
                <a:solidFill>
                  <a:srgbClr val="000066"/>
                </a:solidFill>
              </a:rPr>
              <a:t>init</a:t>
            </a:r>
            <a:r>
              <a:rPr lang="en-US" altLang="zh-CN" sz="2400" dirty="0">
                <a:solidFill>
                  <a:srgbClr val="000066"/>
                </a:solidFill>
              </a:rPr>
              <a:t>__</a:t>
            </a:r>
            <a:r>
              <a:rPr lang="zh-CN" altLang="en-US" sz="2400" dirty="0">
                <a:solidFill>
                  <a:srgbClr val="000066"/>
                </a:solidFill>
              </a:rPr>
              <a:t>函数时，系统自动提供无参的构造，对象实例化时调用构造函数</a:t>
            </a:r>
            <a:r>
              <a:rPr lang="en-US" altLang="zh-CN" sz="2400" dirty="0">
                <a:solidFill>
                  <a:srgbClr val="000066"/>
                </a:solidFill>
              </a:rPr>
              <a:t> </a:t>
            </a:r>
            <a:r>
              <a:rPr lang="zh-CN" altLang="en-US" sz="2400" dirty="0">
                <a:solidFill>
                  <a:srgbClr val="000066"/>
                </a:solidFill>
              </a:rPr>
              <a:t>，类似定义了一个  </a:t>
            </a:r>
            <a:r>
              <a:rPr lang="en-US" altLang="zh-CN" sz="2400" dirty="0">
                <a:solidFill>
                  <a:srgbClr val="000066"/>
                </a:solidFill>
              </a:rPr>
              <a:t>__</a:t>
            </a:r>
            <a:r>
              <a:rPr lang="en-US" altLang="zh-CN" sz="2400" dirty="0" err="1">
                <a:solidFill>
                  <a:srgbClr val="000066"/>
                </a:solidFill>
              </a:rPr>
              <a:t>init</a:t>
            </a:r>
            <a:r>
              <a:rPr lang="en-US" altLang="zh-CN" sz="2400" dirty="0">
                <a:solidFill>
                  <a:srgbClr val="000066"/>
                </a:solidFill>
              </a:rPr>
              <a:t>__(self) </a:t>
            </a:r>
            <a:r>
              <a:rPr lang="zh-CN" altLang="en-US" sz="2400" dirty="0">
                <a:solidFill>
                  <a:srgbClr val="000066"/>
                </a:solidFill>
              </a:rPr>
              <a:t>的函数</a:t>
            </a:r>
            <a:endParaRPr lang="zh-CN" altLang="zh-CN" sz="2400" dirty="0">
              <a:solidFill>
                <a:srgbClr val="000066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    ...</a:t>
            </a:r>
          </a:p>
          <a:p>
            <a:r>
              <a:rPr lang="en-US" altLang="zh-CN" sz="2400" dirty="0">
                <a:solidFill>
                  <a:srgbClr val="000066"/>
                </a:solidFill>
              </a:rPr>
              <a:t>    </a:t>
            </a:r>
            <a:r>
              <a:rPr lang="en-US" altLang="zh-CN" sz="2400" dirty="0" err="1">
                <a:solidFill>
                  <a:srgbClr val="000066"/>
                </a:solidFill>
              </a:rPr>
              <a:t>def</a:t>
            </a:r>
            <a:r>
              <a:rPr lang="en-US" altLang="zh-CN" sz="2400" dirty="0">
                <a:solidFill>
                  <a:srgbClr val="000066"/>
                </a:solidFill>
              </a:rPr>
              <a:t>  </a:t>
            </a:r>
            <a:r>
              <a:rPr lang="zh-CN" altLang="en-US" sz="2400" dirty="0">
                <a:solidFill>
                  <a:srgbClr val="000066"/>
                </a:solidFill>
              </a:rPr>
              <a:t>函数名</a:t>
            </a:r>
            <a:r>
              <a:rPr lang="en-US" altLang="zh-CN" sz="2400" dirty="0">
                <a:solidFill>
                  <a:srgbClr val="000066"/>
                </a:solidFill>
              </a:rPr>
              <a:t>1(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  <a:r>
              <a:rPr lang="en-US" altLang="zh-CN" sz="2400" dirty="0">
                <a:solidFill>
                  <a:srgbClr val="000066"/>
                </a:solidFill>
              </a:rPr>
              <a:t>,</a:t>
            </a:r>
            <a:r>
              <a:rPr lang="zh-CN" altLang="en-US" sz="2400" dirty="0">
                <a:solidFill>
                  <a:srgbClr val="000066"/>
                </a:solidFill>
              </a:rPr>
              <a:t>形参列表</a:t>
            </a:r>
            <a:r>
              <a:rPr lang="en-US" altLang="zh-CN" sz="2400" dirty="0">
                <a:solidFill>
                  <a:srgbClr val="000066"/>
                </a:solidFill>
              </a:rPr>
              <a:t>):  # </a:t>
            </a:r>
            <a:r>
              <a:rPr lang="zh-CN" altLang="en-US" sz="2400" dirty="0">
                <a:solidFill>
                  <a:srgbClr val="000066"/>
                </a:solidFill>
              </a:rPr>
              <a:t>函数</a:t>
            </a:r>
            <a:r>
              <a:rPr lang="en-US" altLang="zh-CN" sz="2400" dirty="0">
                <a:solidFill>
                  <a:srgbClr val="000066"/>
                </a:solidFill>
              </a:rPr>
              <a:t>1</a:t>
            </a:r>
            <a:endParaRPr lang="zh-CN" altLang="zh-CN" sz="2400" dirty="0">
              <a:solidFill>
                <a:srgbClr val="000066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  ...</a:t>
            </a:r>
          </a:p>
          <a:p>
            <a:r>
              <a:rPr lang="en-US" altLang="zh-CN" sz="2400" dirty="0">
                <a:solidFill>
                  <a:srgbClr val="000066"/>
                </a:solidFill>
              </a:rPr>
              <a:t>    </a:t>
            </a:r>
            <a:r>
              <a:rPr lang="en-US" altLang="zh-CN" sz="2400" dirty="0" err="1">
                <a:solidFill>
                  <a:srgbClr val="000066"/>
                </a:solidFill>
              </a:rPr>
              <a:t>def</a:t>
            </a:r>
            <a:r>
              <a:rPr lang="en-US" altLang="zh-CN" sz="2400" dirty="0">
                <a:solidFill>
                  <a:srgbClr val="000066"/>
                </a:solidFill>
              </a:rPr>
              <a:t>  </a:t>
            </a:r>
            <a:r>
              <a:rPr lang="zh-CN" altLang="en-US" sz="2400" dirty="0">
                <a:solidFill>
                  <a:srgbClr val="000066"/>
                </a:solidFill>
              </a:rPr>
              <a:t>函数名</a:t>
            </a:r>
            <a:r>
              <a:rPr lang="en-US" altLang="zh-CN" sz="2400" dirty="0">
                <a:solidFill>
                  <a:srgbClr val="000066"/>
                </a:solidFill>
              </a:rPr>
              <a:t>n(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  <a:r>
              <a:rPr lang="en-US" altLang="zh-CN" sz="2400" dirty="0">
                <a:solidFill>
                  <a:srgbClr val="000066"/>
                </a:solidFill>
              </a:rPr>
              <a:t>,</a:t>
            </a:r>
            <a:r>
              <a:rPr lang="zh-CN" altLang="en-US" sz="2400" dirty="0">
                <a:solidFill>
                  <a:srgbClr val="000066"/>
                </a:solidFill>
              </a:rPr>
              <a:t>形参列表</a:t>
            </a:r>
            <a:r>
              <a:rPr lang="en-US" altLang="zh-CN" sz="2400" dirty="0">
                <a:solidFill>
                  <a:srgbClr val="000066"/>
                </a:solidFill>
              </a:rPr>
              <a:t>):  # </a:t>
            </a:r>
            <a:r>
              <a:rPr lang="zh-CN" altLang="en-US" sz="2400" dirty="0">
                <a:solidFill>
                  <a:srgbClr val="000066"/>
                </a:solidFill>
              </a:rPr>
              <a:t>函数</a:t>
            </a:r>
            <a:r>
              <a:rPr lang="en-US" altLang="zh-CN" sz="2400" dirty="0">
                <a:solidFill>
                  <a:srgbClr val="000066"/>
                </a:solidFill>
              </a:rPr>
              <a:t>n</a:t>
            </a:r>
          </a:p>
          <a:p>
            <a:endParaRPr lang="en-US" altLang="zh-CN" sz="2400" dirty="0">
              <a:solidFill>
                <a:srgbClr val="000066"/>
              </a:solidFill>
            </a:endParaRPr>
          </a:p>
          <a:p>
            <a:endParaRPr lang="en-US" altLang="zh-CN" sz="2400" dirty="0">
              <a:solidFill>
                <a:srgbClr val="000066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类的每个函数的定义时，第一个参数，都是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</a:p>
          <a:p>
            <a:pPr indent="-285750"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51384" y="188640"/>
            <a:ext cx="9865096" cy="6469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类的定义语法格式，此页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请背诵牢记</a:t>
            </a:r>
          </a:p>
        </p:txBody>
      </p:sp>
    </p:spTree>
    <p:extLst>
      <p:ext uri="{BB962C8B-B14F-4D97-AF65-F5344CB8AC3E}">
        <p14:creationId xmlns:p14="http://schemas.microsoft.com/office/powerpoint/2010/main" val="3894374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983432" y="131477"/>
            <a:ext cx="8686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特殊的函数   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</a:p>
        </p:txBody>
      </p:sp>
      <p:sp>
        <p:nvSpPr>
          <p:cNvPr id="17411" name="Text Box 4" descr="蓝色砂纸"/>
          <p:cNvSpPr txBox="1">
            <a:spLocks noChangeArrowheads="1"/>
          </p:cNvSpPr>
          <p:nvPr/>
        </p:nvSpPr>
        <p:spPr bwMode="auto">
          <a:xfrm>
            <a:off x="227349" y="710914"/>
            <a:ext cx="10981218" cy="178510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形式：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altLang="zh-CN" sz="22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zh-CN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前后两个位置  ，都是</a:t>
            </a:r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个下划线</a:t>
            </a:r>
            <a:endParaRPr lang="en-US" altLang="zh-CN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调用：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创建实例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时调用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，注意构造函数的形参列表，实参要对应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作用：创建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做一些</a:t>
            </a:r>
            <a:r>
              <a:rPr lang="zh-CN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，可以使用默认参数</a:t>
            </a:r>
            <a:endParaRPr lang="en-US" altLang="zh-CN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学生类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Student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的构造函数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4" descr="蓝色砂纸"/>
          <p:cNvSpPr txBox="1">
            <a:spLocks noChangeArrowheads="1"/>
          </p:cNvSpPr>
          <p:nvPr/>
        </p:nvSpPr>
        <p:spPr bwMode="auto">
          <a:xfrm>
            <a:off x="227349" y="2680824"/>
            <a:ext cx="4896543" cy="378565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class Student:</a:t>
            </a: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__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self,a,b,c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):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self.No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=a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self.Name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=b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self.Score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=c    </a:t>
            </a: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Disp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(self):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self.No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self.Name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self.Score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)				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p=Student("1900001", "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王涛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", 82)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p.Disp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()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" name="Text Box 4" descr="蓝色砂纸"/>
          <p:cNvSpPr txBox="1">
            <a:spLocks noChangeArrowheads="1"/>
          </p:cNvSpPr>
          <p:nvPr/>
        </p:nvSpPr>
        <p:spPr bwMode="auto">
          <a:xfrm>
            <a:off x="5879976" y="2588491"/>
            <a:ext cx="5328592" cy="3970318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class Student: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rgbClr val="0070C0"/>
                </a:solidFill>
                <a:latin typeface="+mn-ea"/>
                <a:ea typeface="+mn-ea"/>
              </a:rPr>
              <a:t># </a:t>
            </a:r>
            <a:r>
              <a:rPr lang="en-US" altLang="zh-CN" sz="1800" dirty="0" err="1">
                <a:solidFill>
                  <a:srgbClr val="0070C0"/>
                </a:solidFill>
                <a:latin typeface="+mn-ea"/>
                <a:ea typeface="+mn-ea"/>
              </a:rPr>
              <a:t>SetValue</a:t>
            </a:r>
            <a:r>
              <a:rPr lang="zh-CN" altLang="en-US" sz="1800" dirty="0">
                <a:solidFill>
                  <a:srgbClr val="0070C0"/>
                </a:solidFill>
                <a:latin typeface="+mn-ea"/>
                <a:ea typeface="+mn-ea"/>
              </a:rPr>
              <a:t>方法用于定义该类对象的数据属性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1800" dirty="0">
                <a:latin typeface="+mn-ea"/>
                <a:ea typeface="+mn-ea"/>
              </a:rPr>
              <a:t>    </a:t>
            </a:r>
            <a:r>
              <a:rPr lang="en-US" altLang="zh-CN" sz="1800" dirty="0" err="1">
                <a:latin typeface="+mn-ea"/>
                <a:ea typeface="+mn-ea"/>
              </a:rPr>
              <a:t>def</a:t>
            </a:r>
            <a:r>
              <a:rPr lang="en-US" altLang="zh-CN" sz="1800" dirty="0">
                <a:latin typeface="+mn-ea"/>
                <a:ea typeface="+mn-ea"/>
              </a:rPr>
              <a:t> </a:t>
            </a:r>
            <a:r>
              <a:rPr lang="en-US" altLang="zh-CN" sz="1800" dirty="0" err="1">
                <a:latin typeface="+mn-ea"/>
                <a:ea typeface="+mn-ea"/>
              </a:rPr>
              <a:t>SetValue</a:t>
            </a:r>
            <a:r>
              <a:rPr lang="en-US" altLang="zh-CN" sz="1800" dirty="0">
                <a:latin typeface="+mn-ea"/>
                <a:ea typeface="+mn-ea"/>
              </a:rPr>
              <a:t>(</a:t>
            </a:r>
            <a:r>
              <a:rPr lang="en-US" altLang="zh-CN" sz="1800" dirty="0" err="1">
                <a:latin typeface="+mn-ea"/>
                <a:ea typeface="+mn-ea"/>
              </a:rPr>
              <a:t>self,a,b,c</a:t>
            </a:r>
            <a:r>
              <a:rPr lang="en-US" altLang="zh-CN" sz="1800" dirty="0">
                <a:latin typeface="+mn-ea"/>
                <a:ea typeface="+mn-ea"/>
              </a:rPr>
              <a:t>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    </a:t>
            </a:r>
            <a:r>
              <a:rPr lang="en-US" altLang="zh-CN" sz="1800" dirty="0" err="1">
                <a:latin typeface="+mn-ea"/>
                <a:ea typeface="+mn-ea"/>
              </a:rPr>
              <a:t>self.No</a:t>
            </a:r>
            <a:r>
              <a:rPr lang="en-US" altLang="zh-CN" sz="1800" dirty="0">
                <a:latin typeface="+mn-ea"/>
                <a:ea typeface="+mn-ea"/>
              </a:rPr>
              <a:t>=a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    </a:t>
            </a:r>
            <a:r>
              <a:rPr lang="en-US" altLang="zh-CN" sz="1800" dirty="0" err="1">
                <a:latin typeface="+mn-ea"/>
                <a:ea typeface="+mn-ea"/>
              </a:rPr>
              <a:t>self.Name</a:t>
            </a:r>
            <a:r>
              <a:rPr lang="en-US" altLang="zh-CN" sz="1800" dirty="0">
                <a:latin typeface="+mn-ea"/>
                <a:ea typeface="+mn-ea"/>
              </a:rPr>
              <a:t>=b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    </a:t>
            </a:r>
            <a:r>
              <a:rPr lang="en-US" altLang="zh-CN" sz="1800" dirty="0" err="1">
                <a:latin typeface="+mn-ea"/>
                <a:ea typeface="+mn-ea"/>
              </a:rPr>
              <a:t>self.Score</a:t>
            </a:r>
            <a:r>
              <a:rPr lang="en-US" altLang="zh-CN" sz="1800" dirty="0">
                <a:latin typeface="+mn-ea"/>
                <a:ea typeface="+mn-ea"/>
              </a:rPr>
              <a:t>=c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</a:t>
            </a:r>
            <a:r>
              <a:rPr lang="en-US" altLang="zh-CN" sz="1800" dirty="0">
                <a:solidFill>
                  <a:srgbClr val="0070C0"/>
                </a:solidFill>
                <a:latin typeface="+mn-ea"/>
                <a:ea typeface="+mn-ea"/>
              </a:rPr>
              <a:t># </a:t>
            </a:r>
            <a:r>
              <a:rPr lang="en-US" altLang="zh-CN" sz="1800" dirty="0" err="1">
                <a:solidFill>
                  <a:srgbClr val="0070C0"/>
                </a:solidFill>
                <a:latin typeface="+mn-ea"/>
                <a:ea typeface="+mn-ea"/>
              </a:rPr>
              <a:t>Disp</a:t>
            </a:r>
            <a:r>
              <a:rPr lang="zh-CN" altLang="en-US" sz="1800" dirty="0">
                <a:solidFill>
                  <a:srgbClr val="0070C0"/>
                </a:solidFill>
                <a:latin typeface="+mn-ea"/>
                <a:ea typeface="+mn-ea"/>
              </a:rPr>
              <a:t>方法用于输出该类对象的数据属性值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1800" dirty="0">
                <a:latin typeface="+mn-ea"/>
                <a:ea typeface="+mn-ea"/>
              </a:rPr>
              <a:t>    </a:t>
            </a:r>
            <a:r>
              <a:rPr lang="en-US" altLang="zh-CN" sz="1800" dirty="0" err="1">
                <a:latin typeface="+mn-ea"/>
                <a:ea typeface="+mn-ea"/>
              </a:rPr>
              <a:t>def</a:t>
            </a:r>
            <a:r>
              <a:rPr lang="en-US" altLang="zh-CN" sz="1800" dirty="0">
                <a:latin typeface="+mn-ea"/>
                <a:ea typeface="+mn-ea"/>
              </a:rPr>
              <a:t> </a:t>
            </a:r>
            <a:r>
              <a:rPr lang="en-US" altLang="zh-CN" sz="1800" dirty="0" err="1">
                <a:latin typeface="+mn-ea"/>
                <a:ea typeface="+mn-ea"/>
              </a:rPr>
              <a:t>Disp</a:t>
            </a:r>
            <a:r>
              <a:rPr lang="en-US" altLang="zh-CN" sz="1800" dirty="0">
                <a:latin typeface="+mn-ea"/>
                <a:ea typeface="+mn-ea"/>
              </a:rPr>
              <a:t>(self):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    print(</a:t>
            </a:r>
            <a:r>
              <a:rPr lang="en-US" altLang="zh-CN" sz="1800" dirty="0" err="1">
                <a:latin typeface="+mn-ea"/>
                <a:ea typeface="+mn-ea"/>
              </a:rPr>
              <a:t>self.No</a:t>
            </a:r>
            <a:r>
              <a:rPr lang="en-US" altLang="zh-CN" sz="18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    print(</a:t>
            </a:r>
            <a:r>
              <a:rPr lang="en-US" altLang="zh-CN" sz="1800" dirty="0" err="1">
                <a:latin typeface="+mn-ea"/>
                <a:ea typeface="+mn-ea"/>
              </a:rPr>
              <a:t>self.Name</a:t>
            </a:r>
            <a:r>
              <a:rPr lang="en-US" altLang="zh-CN" sz="18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        print(</a:t>
            </a:r>
            <a:r>
              <a:rPr lang="en-US" altLang="zh-CN" sz="1800" dirty="0" err="1">
                <a:latin typeface="+mn-ea"/>
                <a:ea typeface="+mn-ea"/>
              </a:rPr>
              <a:t>self.Score</a:t>
            </a:r>
            <a:r>
              <a:rPr lang="en-US" altLang="zh-CN" sz="1800" dirty="0">
                <a:latin typeface="+mn-ea"/>
                <a:ea typeface="+mn-ea"/>
              </a:rPr>
              <a:t>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>
                <a:latin typeface="+mn-ea"/>
                <a:ea typeface="+mn-ea"/>
              </a:rPr>
              <a:t>p=Student()                      # </a:t>
            </a:r>
            <a:r>
              <a:rPr lang="zh-CN" altLang="en-US" sz="1800" dirty="0">
                <a:latin typeface="+mn-ea"/>
                <a:ea typeface="+mn-ea"/>
              </a:rPr>
              <a:t>创建</a:t>
            </a:r>
            <a:r>
              <a:rPr lang="en-US" altLang="zh-CN" sz="1800" dirty="0">
                <a:latin typeface="+mn-ea"/>
                <a:ea typeface="+mn-ea"/>
              </a:rPr>
              <a:t>Student</a:t>
            </a:r>
            <a:r>
              <a:rPr lang="zh-CN" altLang="en-US" sz="1800" dirty="0">
                <a:latin typeface="+mn-ea"/>
                <a:ea typeface="+mn-ea"/>
              </a:rPr>
              <a:t>对象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800" dirty="0" err="1">
                <a:latin typeface="+mn-ea"/>
                <a:ea typeface="+mn-ea"/>
              </a:rPr>
              <a:t>p.SetValue</a:t>
            </a:r>
            <a:r>
              <a:rPr lang="en-US" altLang="zh-CN" sz="1800" dirty="0">
                <a:latin typeface="+mn-ea"/>
                <a:ea typeface="+mn-ea"/>
              </a:rPr>
              <a:t>("2020001", "</a:t>
            </a:r>
            <a:r>
              <a:rPr lang="zh-CN" altLang="en-US" sz="1800" dirty="0">
                <a:latin typeface="+mn-ea"/>
                <a:ea typeface="+mn-ea"/>
              </a:rPr>
              <a:t>张三</a:t>
            </a:r>
            <a:r>
              <a:rPr lang="en-US" altLang="zh-CN" sz="1800" dirty="0">
                <a:latin typeface="+mn-ea"/>
                <a:ea typeface="+mn-ea"/>
              </a:rPr>
              <a:t>", 88)   # </a:t>
            </a:r>
            <a:r>
              <a:rPr lang="zh-CN" altLang="en-US" sz="1800" dirty="0">
                <a:latin typeface="+mn-ea"/>
                <a:ea typeface="+mn-ea"/>
              </a:rPr>
              <a:t>对象初始化</a:t>
            </a:r>
            <a:endParaRPr lang="en-US" altLang="zh-CN" sz="18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sz="1800" dirty="0" err="1">
                <a:latin typeface="+mn-ea"/>
                <a:ea typeface="+mn-ea"/>
              </a:rPr>
              <a:t>p.Disp</a:t>
            </a:r>
            <a:r>
              <a:rPr lang="en-US" altLang="zh-CN" sz="1800" dirty="0">
                <a:latin typeface="+mn-ea"/>
                <a:ea typeface="+mn-ea"/>
              </a:rPr>
              <a:t>()</a:t>
            </a:r>
            <a:r>
              <a:rPr lang="en-US" altLang="zh-CN" sz="1600" dirty="0">
                <a:latin typeface="+mn-ea"/>
                <a:ea typeface="+mn-ea"/>
              </a:rPr>
              <a:t>	</a:t>
            </a:r>
            <a:endParaRPr lang="zh-CN" altLang="zh-CN" sz="1600" dirty="0">
              <a:latin typeface="+mn-ea"/>
              <a:ea typeface="+mn-ea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683467" y="2996952"/>
            <a:ext cx="3456384" cy="1224136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5879976" y="3140968"/>
            <a:ext cx="3456384" cy="1224136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V="1">
            <a:off x="1415480" y="3212976"/>
            <a:ext cx="216024" cy="266429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342656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51384" y="260648"/>
            <a:ext cx="101531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定义表示点的类</a:t>
            </a:r>
            <a:r>
              <a:rPr lang="en-US" altLang="zh-CN" sz="2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MyPoint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Distance</a:t>
            </a:r>
            <a:r>
              <a:rPr lang="zh-CN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b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Distance</a:t>
            </a:r>
            <a:r>
              <a:rPr lang="zh-CN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用于计算对象到原点的距离函数。</a:t>
            </a:r>
          </a:p>
        </p:txBody>
      </p:sp>
      <p:sp>
        <p:nvSpPr>
          <p:cNvPr id="4" name="Text Box 4" descr="蓝色砂纸"/>
          <p:cNvSpPr txBox="1">
            <a:spLocks noChangeArrowheads="1"/>
          </p:cNvSpPr>
          <p:nvPr/>
        </p:nvSpPr>
        <p:spPr bwMode="auto">
          <a:xfrm>
            <a:off x="574335" y="1340768"/>
            <a:ext cx="11089231" cy="4708981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>
                <a:solidFill>
                  <a:srgbClr val="339933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</a:rPr>
              <a:t>class</a:t>
            </a:r>
            <a:r>
              <a:rPr lang="en-US" altLang="zh-CN" sz="2400" dirty="0">
                <a:solidFill>
                  <a:srgbClr val="000066"/>
                </a:solidFill>
              </a:rPr>
              <a:t> </a:t>
            </a:r>
            <a:r>
              <a:rPr lang="zh-CN" altLang="en-US" sz="2400" dirty="0">
                <a:solidFill>
                  <a:srgbClr val="000066"/>
                </a:solidFill>
              </a:rPr>
              <a:t>类名</a:t>
            </a:r>
            <a:r>
              <a:rPr lang="en-US" altLang="zh-CN" sz="2400" dirty="0">
                <a:solidFill>
                  <a:srgbClr val="000066"/>
                </a:solidFill>
              </a:rPr>
              <a:t>:</a:t>
            </a:r>
          </a:p>
          <a:p>
            <a:r>
              <a:rPr lang="en-US" altLang="zh-CN" sz="2400" dirty="0">
                <a:solidFill>
                  <a:srgbClr val="000066"/>
                </a:solidFill>
              </a:rPr>
              <a:t>    </a:t>
            </a:r>
            <a:r>
              <a:rPr lang="en-US" altLang="zh-CN" sz="2400" dirty="0" err="1">
                <a:solidFill>
                  <a:srgbClr val="000066"/>
                </a:solidFill>
              </a:rPr>
              <a:t>def</a:t>
            </a:r>
            <a:r>
              <a:rPr lang="en-US" altLang="zh-CN" sz="2400" dirty="0">
                <a:solidFill>
                  <a:srgbClr val="000066"/>
                </a:solidFill>
              </a:rPr>
              <a:t>  __</a:t>
            </a:r>
            <a:r>
              <a:rPr lang="en-US" altLang="zh-CN" sz="2400" dirty="0" err="1">
                <a:solidFill>
                  <a:srgbClr val="000066"/>
                </a:solidFill>
              </a:rPr>
              <a:t>init</a:t>
            </a:r>
            <a:r>
              <a:rPr lang="en-US" altLang="zh-CN" sz="2400" dirty="0">
                <a:solidFill>
                  <a:srgbClr val="000066"/>
                </a:solidFill>
              </a:rPr>
              <a:t>__(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  <a:r>
              <a:rPr lang="en-US" altLang="zh-CN" sz="2400" dirty="0">
                <a:solidFill>
                  <a:srgbClr val="000066"/>
                </a:solidFill>
              </a:rPr>
              <a:t>, </a:t>
            </a:r>
            <a:r>
              <a:rPr lang="zh-CN" altLang="en-US" sz="2400" dirty="0">
                <a:solidFill>
                  <a:srgbClr val="000066"/>
                </a:solidFill>
              </a:rPr>
              <a:t>形参列表</a:t>
            </a:r>
            <a:r>
              <a:rPr lang="en-US" altLang="zh-CN" sz="2400" dirty="0">
                <a:solidFill>
                  <a:srgbClr val="000066"/>
                </a:solidFill>
              </a:rPr>
              <a:t>):  # </a:t>
            </a:r>
            <a:r>
              <a:rPr lang="zh-CN" altLang="en-US" sz="2400" dirty="0">
                <a:solidFill>
                  <a:srgbClr val="000066"/>
                </a:solidFill>
              </a:rPr>
              <a:t>构造函数</a:t>
            </a:r>
            <a:endParaRPr lang="en-US" altLang="zh-CN" sz="2400" dirty="0">
              <a:solidFill>
                <a:srgbClr val="000066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# </a:t>
            </a:r>
            <a:r>
              <a:rPr lang="zh-CN" altLang="en-US" sz="2400" dirty="0">
                <a:solidFill>
                  <a:srgbClr val="000066"/>
                </a:solidFill>
              </a:rPr>
              <a:t>当一个类中，不编写 </a:t>
            </a:r>
            <a:r>
              <a:rPr lang="en-US" altLang="zh-CN" sz="2400" dirty="0">
                <a:solidFill>
                  <a:srgbClr val="000066"/>
                </a:solidFill>
              </a:rPr>
              <a:t>__</a:t>
            </a:r>
            <a:r>
              <a:rPr lang="en-US" altLang="zh-CN" sz="2400" dirty="0" err="1">
                <a:solidFill>
                  <a:srgbClr val="000066"/>
                </a:solidFill>
              </a:rPr>
              <a:t>init</a:t>
            </a:r>
            <a:r>
              <a:rPr lang="en-US" altLang="zh-CN" sz="2400" dirty="0">
                <a:solidFill>
                  <a:srgbClr val="000066"/>
                </a:solidFill>
              </a:rPr>
              <a:t>__</a:t>
            </a:r>
            <a:r>
              <a:rPr lang="zh-CN" altLang="en-US" sz="2400" dirty="0">
                <a:solidFill>
                  <a:srgbClr val="000066"/>
                </a:solidFill>
              </a:rPr>
              <a:t>函数时，系统自动提供无参的构造，对象实例化时调用构造函数</a:t>
            </a:r>
            <a:r>
              <a:rPr lang="en-US" altLang="zh-CN" sz="2400" dirty="0">
                <a:solidFill>
                  <a:srgbClr val="000066"/>
                </a:solidFill>
              </a:rPr>
              <a:t> </a:t>
            </a:r>
            <a:r>
              <a:rPr lang="zh-CN" altLang="en-US" sz="2400" dirty="0">
                <a:solidFill>
                  <a:srgbClr val="000066"/>
                </a:solidFill>
              </a:rPr>
              <a:t>，类似定义了一个  </a:t>
            </a:r>
            <a:r>
              <a:rPr lang="en-US" altLang="zh-CN" sz="2400" dirty="0">
                <a:solidFill>
                  <a:srgbClr val="000066"/>
                </a:solidFill>
              </a:rPr>
              <a:t>__</a:t>
            </a:r>
            <a:r>
              <a:rPr lang="en-US" altLang="zh-CN" sz="2400" dirty="0" err="1">
                <a:solidFill>
                  <a:srgbClr val="000066"/>
                </a:solidFill>
              </a:rPr>
              <a:t>init</a:t>
            </a:r>
            <a:r>
              <a:rPr lang="en-US" altLang="zh-CN" sz="2400" dirty="0">
                <a:solidFill>
                  <a:srgbClr val="000066"/>
                </a:solidFill>
              </a:rPr>
              <a:t>__(self) </a:t>
            </a:r>
            <a:r>
              <a:rPr lang="zh-CN" altLang="en-US" sz="2400" dirty="0">
                <a:solidFill>
                  <a:srgbClr val="000066"/>
                </a:solidFill>
              </a:rPr>
              <a:t>的函数</a:t>
            </a:r>
            <a:endParaRPr lang="zh-CN" altLang="zh-CN" sz="2400" dirty="0">
              <a:solidFill>
                <a:srgbClr val="000066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    ...</a:t>
            </a:r>
          </a:p>
          <a:p>
            <a:r>
              <a:rPr lang="en-US" altLang="zh-CN" sz="2400" dirty="0">
                <a:solidFill>
                  <a:srgbClr val="000066"/>
                </a:solidFill>
              </a:rPr>
              <a:t>    </a:t>
            </a:r>
            <a:r>
              <a:rPr lang="en-US" altLang="zh-CN" sz="2400" dirty="0" err="1">
                <a:solidFill>
                  <a:srgbClr val="000066"/>
                </a:solidFill>
              </a:rPr>
              <a:t>def</a:t>
            </a:r>
            <a:r>
              <a:rPr lang="en-US" altLang="zh-CN" sz="2400" dirty="0">
                <a:solidFill>
                  <a:srgbClr val="000066"/>
                </a:solidFill>
              </a:rPr>
              <a:t>  </a:t>
            </a:r>
            <a:r>
              <a:rPr lang="zh-CN" altLang="en-US" sz="2400" dirty="0">
                <a:solidFill>
                  <a:srgbClr val="000066"/>
                </a:solidFill>
              </a:rPr>
              <a:t>函数名</a:t>
            </a:r>
            <a:r>
              <a:rPr lang="en-US" altLang="zh-CN" sz="2400" dirty="0">
                <a:solidFill>
                  <a:srgbClr val="000066"/>
                </a:solidFill>
              </a:rPr>
              <a:t>1(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  <a:r>
              <a:rPr lang="en-US" altLang="zh-CN" sz="2400" dirty="0">
                <a:solidFill>
                  <a:srgbClr val="000066"/>
                </a:solidFill>
              </a:rPr>
              <a:t>,</a:t>
            </a:r>
            <a:r>
              <a:rPr lang="zh-CN" altLang="en-US" sz="2400" dirty="0">
                <a:solidFill>
                  <a:srgbClr val="000066"/>
                </a:solidFill>
              </a:rPr>
              <a:t>形参列表</a:t>
            </a:r>
            <a:r>
              <a:rPr lang="en-US" altLang="zh-CN" sz="2400" dirty="0">
                <a:solidFill>
                  <a:srgbClr val="000066"/>
                </a:solidFill>
              </a:rPr>
              <a:t>):  # </a:t>
            </a:r>
            <a:r>
              <a:rPr lang="zh-CN" altLang="en-US" sz="2400" dirty="0">
                <a:solidFill>
                  <a:srgbClr val="000066"/>
                </a:solidFill>
              </a:rPr>
              <a:t>函数</a:t>
            </a:r>
            <a:r>
              <a:rPr lang="en-US" altLang="zh-CN" sz="2400" dirty="0">
                <a:solidFill>
                  <a:srgbClr val="000066"/>
                </a:solidFill>
              </a:rPr>
              <a:t>1</a:t>
            </a:r>
            <a:endParaRPr lang="zh-CN" altLang="zh-CN" sz="2400" dirty="0">
              <a:solidFill>
                <a:srgbClr val="000066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  ...</a:t>
            </a:r>
          </a:p>
          <a:p>
            <a:r>
              <a:rPr lang="en-US" altLang="zh-CN" sz="2400" dirty="0">
                <a:solidFill>
                  <a:srgbClr val="000066"/>
                </a:solidFill>
              </a:rPr>
              <a:t>    </a:t>
            </a:r>
            <a:r>
              <a:rPr lang="en-US" altLang="zh-CN" sz="2400" dirty="0" err="1">
                <a:solidFill>
                  <a:srgbClr val="000066"/>
                </a:solidFill>
              </a:rPr>
              <a:t>def</a:t>
            </a:r>
            <a:r>
              <a:rPr lang="en-US" altLang="zh-CN" sz="2400" dirty="0">
                <a:solidFill>
                  <a:srgbClr val="000066"/>
                </a:solidFill>
              </a:rPr>
              <a:t>  </a:t>
            </a:r>
            <a:r>
              <a:rPr lang="zh-CN" altLang="en-US" sz="2400" dirty="0">
                <a:solidFill>
                  <a:srgbClr val="000066"/>
                </a:solidFill>
              </a:rPr>
              <a:t>函数名</a:t>
            </a:r>
            <a:r>
              <a:rPr lang="en-US" altLang="zh-CN" sz="2400" dirty="0">
                <a:solidFill>
                  <a:srgbClr val="000066"/>
                </a:solidFill>
              </a:rPr>
              <a:t>n(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  <a:r>
              <a:rPr lang="en-US" altLang="zh-CN" sz="2400" dirty="0">
                <a:solidFill>
                  <a:srgbClr val="000066"/>
                </a:solidFill>
              </a:rPr>
              <a:t>,</a:t>
            </a:r>
            <a:r>
              <a:rPr lang="zh-CN" altLang="en-US" sz="2400" dirty="0">
                <a:solidFill>
                  <a:srgbClr val="000066"/>
                </a:solidFill>
              </a:rPr>
              <a:t>形参列表</a:t>
            </a:r>
            <a:r>
              <a:rPr lang="en-US" altLang="zh-CN" sz="2400" dirty="0">
                <a:solidFill>
                  <a:srgbClr val="000066"/>
                </a:solidFill>
              </a:rPr>
              <a:t>):  # </a:t>
            </a:r>
            <a:r>
              <a:rPr lang="zh-CN" altLang="en-US" sz="2400" dirty="0">
                <a:solidFill>
                  <a:srgbClr val="000066"/>
                </a:solidFill>
              </a:rPr>
              <a:t>函数</a:t>
            </a:r>
            <a:r>
              <a:rPr lang="en-US" altLang="zh-CN" sz="2400" dirty="0">
                <a:solidFill>
                  <a:srgbClr val="000066"/>
                </a:solidFill>
              </a:rPr>
              <a:t>n</a:t>
            </a:r>
          </a:p>
          <a:p>
            <a:endParaRPr lang="en-US" altLang="zh-CN" sz="2400" dirty="0">
              <a:solidFill>
                <a:srgbClr val="000066"/>
              </a:solidFill>
            </a:endParaRPr>
          </a:p>
          <a:p>
            <a:endParaRPr lang="en-US" altLang="zh-CN" sz="2400" dirty="0">
              <a:solidFill>
                <a:srgbClr val="000066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类的每个函数的定义时，第一个参数，都是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</a:p>
          <a:p>
            <a:pPr indent="-285750"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7393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4" descr="蓝色砂纸"/>
          <p:cNvSpPr txBox="1">
            <a:spLocks noChangeArrowheads="1"/>
          </p:cNvSpPr>
          <p:nvPr/>
        </p:nvSpPr>
        <p:spPr bwMode="auto">
          <a:xfrm>
            <a:off x="703925" y="1268760"/>
            <a:ext cx="10153127" cy="470898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import math</a:t>
            </a:r>
            <a:endParaRPr lang="zh-CN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MyPoint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endParaRPr lang="zh-CN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'''</a:t>
            </a:r>
            <a:r>
              <a:rPr lang="zh-CN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定义表示平面上点的类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MyPoint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'''   # 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类体前的字符串</a:t>
            </a:r>
            <a:endParaRPr lang="zh-CN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__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self,x,y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  <a:endParaRPr lang="zh-CN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self.x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=x</a:t>
            </a:r>
            <a:endParaRPr lang="zh-CN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self.y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=y</a:t>
            </a:r>
            <a:endParaRPr lang="zh-CN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distance(self):</a:t>
            </a:r>
            <a:endParaRPr lang="zh-CN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return(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math.sqrt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self.x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**2+self.y**2))</a:t>
            </a:r>
            <a:endParaRPr lang="zh-CN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d=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MyPoint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(3,4)</a:t>
            </a:r>
            <a:endParaRPr lang="zh-CN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print(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d.distance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()) </a:t>
            </a:r>
            <a:endParaRPr lang="zh-CN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5400" y="260648"/>
            <a:ext cx="101531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定义表示点的类</a:t>
            </a:r>
            <a:r>
              <a:rPr lang="en-US" altLang="zh-CN" sz="2400" b="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MyPoint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Distance</a:t>
            </a:r>
            <a:r>
              <a:rPr lang="zh-CN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b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Distance</a:t>
            </a:r>
            <a:r>
              <a:rPr lang="zh-CN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用于计算对象到原点的距离函数。</a:t>
            </a:r>
          </a:p>
        </p:txBody>
      </p:sp>
    </p:spTree>
    <p:extLst>
      <p:ext uri="{BB962C8B-B14F-4D97-AF65-F5344CB8AC3E}">
        <p14:creationId xmlns:p14="http://schemas.microsoft.com/office/powerpoint/2010/main" val="3376328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 descr="蓝色砂纸"/>
          <p:cNvSpPr txBox="1">
            <a:spLocks noChangeArrowheads="1"/>
          </p:cNvSpPr>
          <p:nvPr/>
        </p:nvSpPr>
        <p:spPr bwMode="auto">
          <a:xfrm>
            <a:off x="623392" y="1196752"/>
            <a:ext cx="10513168" cy="501675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类不能直接调用，必须实例化后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．类的实例化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                     #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无参</a:t>
            </a:r>
            <a:endParaRPr lang="en-US" altLang="zh-CN" sz="20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实在参数表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  #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有参，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取决于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变量与实例的关系 ：绑定或引用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．对象成员的访问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数据成员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（属性）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对象变量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数据成员名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方法：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对象变量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b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对象变量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实在参数表</a:t>
            </a:r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调用时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，定义时的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实参表中忽略</a:t>
            </a:r>
            <a:endParaRPr lang="zh-CN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839416" y="457959"/>
            <a:ext cx="8686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7.2.3 </a:t>
            </a:r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类的实例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化、对象</a:t>
            </a:r>
            <a:r>
              <a:rPr lang="zh-CN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成员的访问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48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8" y="3284984"/>
            <a:ext cx="5009652" cy="1389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134" y="1219595"/>
            <a:ext cx="4079426" cy="385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 descr="蓝色砂纸"/>
          <p:cNvSpPr txBox="1">
            <a:spLocks noChangeArrowheads="1"/>
          </p:cNvSpPr>
          <p:nvPr/>
        </p:nvSpPr>
        <p:spPr bwMode="auto">
          <a:xfrm>
            <a:off x="479376" y="644625"/>
            <a:ext cx="10297144" cy="532453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import math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Equation: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__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self,x,y,z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self.a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=x; 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self.b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=y;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self.c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=z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solve(self):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delta=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self.b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**2 - 4.0*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self.a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self.c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if (delta&gt;=0):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root1=(-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self.b+math.sqrt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(delta))/(2.0*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self.a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root2=(-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self.b-math.sqrt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(delta))/(2.0*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self.a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ans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=[root1,root2]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return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ans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else: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return []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equ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=Equation(1,-3,2)   # </a:t>
            </a:r>
            <a:r>
              <a:rPr lang="zh-CN" altLang="en-US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实例化</a:t>
            </a:r>
            <a:endParaRPr lang="zh-CN" altLang="zh-CN" sz="20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roots=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equ.solve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  # 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访问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solve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成员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 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调用时，定义时的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</a:t>
            </a:r>
            <a:r>
              <a:rPr lang="zh-CN" altLang="en-US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忽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略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print(roots)</a:t>
            </a: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print(</a:t>
            </a:r>
            <a:r>
              <a:rPr lang="en-US" altLang="zh-CN" sz="20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equ.a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 </a:t>
            </a:r>
            <a:r>
              <a:rPr lang="en-US" altLang="zh-CN" sz="20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equ.b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  # 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输出对象属性数据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5400" y="188640"/>
            <a:ext cx="10419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</a:t>
            </a:r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定义表示一元二次方程的类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Equation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含构造函数和求方程根的函数</a:t>
            </a:r>
          </a:p>
        </p:txBody>
      </p:sp>
      <p:cxnSp>
        <p:nvCxnSpPr>
          <p:cNvPr id="4" name="直接箭头连接符 3"/>
          <p:cNvCxnSpPr/>
          <p:nvPr/>
        </p:nvCxnSpPr>
        <p:spPr bwMode="auto">
          <a:xfrm flipV="1">
            <a:off x="1703512" y="1916832"/>
            <a:ext cx="0" cy="38164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603000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4" descr="蓝色砂纸"/>
          <p:cNvSpPr txBox="1">
            <a:spLocks noChangeArrowheads="1"/>
          </p:cNvSpPr>
          <p:nvPr/>
        </p:nvSpPr>
        <p:spPr bwMode="auto">
          <a:xfrm>
            <a:off x="551384" y="1988840"/>
            <a:ext cx="10369152" cy="415498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sz="2400" dirty="0"/>
              <a:t>import math</a:t>
            </a:r>
            <a:endParaRPr lang="zh-CN" altLang="zh-CN" sz="2400" dirty="0"/>
          </a:p>
          <a:p>
            <a:r>
              <a:rPr lang="en-US" altLang="zh-CN" sz="2400" dirty="0"/>
              <a:t>class Circle:</a:t>
            </a:r>
            <a:endParaRPr lang="zh-CN" altLang="zh-CN" sz="2400" dirty="0"/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def</a:t>
            </a:r>
            <a:r>
              <a:rPr lang="en-US" altLang="zh-CN" sz="2400" dirty="0"/>
              <a:t> __</a:t>
            </a:r>
            <a:r>
              <a:rPr lang="en-US" altLang="zh-CN" sz="2400" dirty="0" err="1"/>
              <a:t>init</a:t>
            </a:r>
            <a:r>
              <a:rPr lang="en-US" altLang="zh-CN" sz="2400" dirty="0"/>
              <a:t>__(</a:t>
            </a:r>
            <a:r>
              <a:rPr lang="en-US" altLang="zh-CN" sz="2400" dirty="0" err="1"/>
              <a:t>self,x,y,r</a:t>
            </a:r>
            <a:r>
              <a:rPr lang="en-US" altLang="zh-CN" sz="2400" dirty="0"/>
              <a:t>):</a:t>
            </a:r>
            <a:endParaRPr lang="zh-CN" altLang="zh-CN" sz="2400" dirty="0"/>
          </a:p>
          <a:p>
            <a:r>
              <a:rPr lang="en-US" altLang="zh-CN" sz="2400" dirty="0"/>
              <a:t>        </a:t>
            </a:r>
            <a:r>
              <a:rPr lang="en-US" altLang="zh-CN" sz="2400" dirty="0" err="1"/>
              <a:t>self.x</a:t>
            </a:r>
            <a:r>
              <a:rPr lang="en-US" altLang="zh-CN" sz="2400" dirty="0"/>
              <a:t>=x</a:t>
            </a:r>
            <a:endParaRPr lang="zh-CN" altLang="zh-CN" sz="2400" dirty="0"/>
          </a:p>
          <a:p>
            <a:r>
              <a:rPr lang="en-US" altLang="zh-CN" sz="2400" dirty="0"/>
              <a:t>        </a:t>
            </a:r>
            <a:r>
              <a:rPr lang="en-US" altLang="zh-CN" sz="2400" dirty="0" err="1"/>
              <a:t>self.y</a:t>
            </a:r>
            <a:r>
              <a:rPr lang="en-US" altLang="zh-CN" sz="2400" dirty="0"/>
              <a:t>=y</a:t>
            </a:r>
            <a:endParaRPr lang="zh-CN" altLang="zh-CN" sz="2400" dirty="0"/>
          </a:p>
          <a:p>
            <a:r>
              <a:rPr lang="en-US" altLang="zh-CN" sz="2400" dirty="0"/>
              <a:t>        </a:t>
            </a:r>
            <a:r>
              <a:rPr lang="en-US" altLang="zh-CN" sz="2400" dirty="0" err="1"/>
              <a:t>self.r</a:t>
            </a:r>
            <a:r>
              <a:rPr lang="en-US" altLang="zh-CN" sz="2400" dirty="0"/>
              <a:t>=r</a:t>
            </a:r>
            <a:endParaRPr lang="zh-CN" altLang="zh-CN" sz="2400" dirty="0"/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def</a:t>
            </a:r>
            <a:r>
              <a:rPr lang="en-US" altLang="zh-CN" sz="2400" dirty="0"/>
              <a:t> area(self):</a:t>
            </a:r>
            <a:endParaRPr lang="zh-CN" altLang="zh-CN" sz="2400" dirty="0"/>
          </a:p>
          <a:p>
            <a:r>
              <a:rPr lang="en-US" altLang="zh-CN" sz="2400" dirty="0"/>
              <a:t>        return </a:t>
            </a:r>
            <a:r>
              <a:rPr lang="en-US" altLang="zh-CN" sz="2400" dirty="0" err="1"/>
              <a:t>math.pi</a:t>
            </a:r>
            <a:r>
              <a:rPr lang="en-US" altLang="zh-CN" sz="2400" dirty="0"/>
              <a:t>*</a:t>
            </a:r>
            <a:r>
              <a:rPr lang="en-US" altLang="zh-CN" sz="2400" dirty="0" err="1"/>
              <a:t>self.r</a:t>
            </a:r>
            <a:r>
              <a:rPr lang="en-US" altLang="zh-CN" sz="2400" dirty="0"/>
              <a:t>**2</a:t>
            </a:r>
            <a:endParaRPr lang="zh-CN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p=Circle(0,0,2)   # </a:t>
            </a:r>
            <a:r>
              <a:rPr lang="zh-CN" altLang="en-US" sz="2400" dirty="0">
                <a:solidFill>
                  <a:srgbClr val="FF0000"/>
                </a:solidFill>
              </a:rPr>
              <a:t>实例化</a:t>
            </a:r>
            <a:endParaRPr lang="zh-CN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/>
              <a:t>print(</a:t>
            </a:r>
            <a:r>
              <a:rPr lang="en-US" altLang="zh-CN" sz="2400" dirty="0" err="1"/>
              <a:t>p.area</a:t>
            </a:r>
            <a:r>
              <a:rPr lang="en-US" altLang="zh-CN" sz="2400" dirty="0"/>
              <a:t>())  #</a:t>
            </a:r>
            <a:r>
              <a:rPr lang="zh-CN" altLang="en-US" sz="2400" dirty="0"/>
              <a:t>访问</a:t>
            </a:r>
            <a:r>
              <a:rPr lang="en-US" altLang="zh-CN" sz="2400" dirty="0"/>
              <a:t>area</a:t>
            </a:r>
            <a:r>
              <a:rPr lang="zh-CN" altLang="en-US" sz="2400" dirty="0"/>
              <a:t>成员</a:t>
            </a:r>
            <a:endParaRPr lang="en-US" altLang="zh-CN" sz="2400" dirty="0"/>
          </a:p>
          <a:p>
            <a:r>
              <a:rPr lang="en-US" altLang="zh-CN" sz="2400" dirty="0"/>
              <a:t>print('</a:t>
            </a:r>
            <a:r>
              <a:rPr lang="zh-CN" altLang="en-US" sz="2400" dirty="0"/>
              <a:t>圆的半径是：</a:t>
            </a:r>
            <a:r>
              <a:rPr lang="en-US" altLang="zh-CN" sz="2400" dirty="0"/>
              <a:t>',</a:t>
            </a:r>
            <a:r>
              <a:rPr lang="en-US" altLang="zh-CN" sz="2400" dirty="0" err="1"/>
              <a:t>p.r</a:t>
            </a:r>
            <a:r>
              <a:rPr lang="en-US" altLang="zh-CN" sz="2400" dirty="0"/>
              <a:t>)  # </a:t>
            </a:r>
            <a:r>
              <a:rPr lang="zh-CN" altLang="en-US" sz="2400" dirty="0"/>
              <a:t>直接调用属性值</a:t>
            </a:r>
            <a:endParaRPr lang="zh-CN" altLang="zh-CN" sz="2400" dirty="0"/>
          </a:p>
        </p:txBody>
      </p:sp>
      <p:sp>
        <p:nvSpPr>
          <p:cNvPr id="3" name="矩形 2"/>
          <p:cNvSpPr/>
          <p:nvPr/>
        </p:nvSpPr>
        <p:spPr>
          <a:xfrm>
            <a:off x="767408" y="260648"/>
            <a:ext cx="7344816" cy="1483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 </a:t>
            </a:r>
            <a:r>
              <a:rPr lang="zh-CN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表示圆的类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Circle</a:t>
            </a:r>
          </a:p>
          <a:p>
            <a:pPr>
              <a:lnSpc>
                <a:spcPct val="150000"/>
              </a:lnSpc>
            </a:pPr>
            <a:r>
              <a:rPr lang="en-US" altLang="zh-CN" sz="2400" b="0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成员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：圆心（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）和半径</a:t>
            </a: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b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      area</a:t>
            </a: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方法：</a:t>
            </a:r>
            <a:r>
              <a:rPr lang="zh-CN" altLang="zh-CN" sz="2400" b="0" dirty="0">
                <a:latin typeface="黑体" panose="02010609060101010101" pitchFamily="49" charset="-122"/>
                <a:ea typeface="黑体" panose="02010609060101010101" pitchFamily="49" charset="-122"/>
              </a:rPr>
              <a:t>求圆的面积</a:t>
            </a:r>
          </a:p>
        </p:txBody>
      </p:sp>
    </p:spTree>
    <p:extLst>
      <p:ext uri="{BB962C8B-B14F-4D97-AF65-F5344CB8AC3E}">
        <p14:creationId xmlns:p14="http://schemas.microsoft.com/office/powerpoint/2010/main" val="2731746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407368" y="180102"/>
            <a:ext cx="8686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继承和派生</a:t>
            </a:r>
          </a:p>
        </p:txBody>
      </p:sp>
      <p:sp>
        <p:nvSpPr>
          <p:cNvPr id="21507" name="灯片编号占位符 3"/>
          <p:cNvSpPr txBox="1">
            <a:spLocks noChangeArrowheads="1"/>
          </p:cNvSpPr>
          <p:nvPr/>
        </p:nvSpPr>
        <p:spPr bwMode="auto">
          <a:xfrm>
            <a:off x="9934576" y="6477000"/>
            <a:ext cx="7334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fld id="{609CA19F-F383-4BD8-99A7-3FD3E736B76E}" type="slidenum">
              <a:rPr lang="en-US" altLang="zh-CN" sz="1800">
                <a:solidFill>
                  <a:schemeClr val="bg1"/>
                </a:solidFill>
                <a:latin typeface="Arial Black" panose="020B0A04020102020204" pitchFamily="34" charset="0"/>
                <a:ea typeface="楷体_GB2312" pitchFamily="49" charset="-122"/>
              </a:rPr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800">
              <a:solidFill>
                <a:schemeClr val="bg1"/>
              </a:solidFill>
              <a:latin typeface="Arial Black" panose="020B0A04020102020204" pitchFamily="34" charset="0"/>
              <a:ea typeface="楷体_GB2312" pitchFamily="49" charset="-122"/>
            </a:endParaRP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560680" y="863115"/>
            <a:ext cx="91656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在已有类的基础上构造新的类，新类继承了原有类的成员。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原有的类称为基类（或父类），新类称为派生类（或子类）。</a:t>
            </a:r>
          </a:p>
        </p:txBody>
      </p:sp>
      <p:sp>
        <p:nvSpPr>
          <p:cNvPr id="21509" name="Rectangle 20"/>
          <p:cNvSpPr>
            <a:spLocks noChangeArrowheads="1"/>
          </p:cNvSpPr>
          <p:nvPr/>
        </p:nvSpPr>
        <p:spPr bwMode="auto">
          <a:xfrm>
            <a:off x="5776097" y="5438302"/>
            <a:ext cx="445921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Student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类派生出</a:t>
            </a: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StudentLeader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子类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StudentLeader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类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Student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</a:rPr>
              <a:t>类的子集 </a:t>
            </a:r>
          </a:p>
        </p:txBody>
      </p:sp>
      <p:grpSp>
        <p:nvGrpSpPr>
          <p:cNvPr id="21510" name="Group 21"/>
          <p:cNvGrpSpPr>
            <a:grpSpLocks/>
          </p:cNvGrpSpPr>
          <p:nvPr/>
        </p:nvGrpSpPr>
        <p:grpSpPr bwMode="auto">
          <a:xfrm>
            <a:off x="6754812" y="4057893"/>
            <a:ext cx="3429000" cy="1219200"/>
            <a:chOff x="240" y="1968"/>
            <a:chExt cx="2160" cy="768"/>
          </a:xfrm>
        </p:grpSpPr>
        <p:sp>
          <p:nvSpPr>
            <p:cNvPr id="21519" name="Oval 11"/>
            <p:cNvSpPr>
              <a:spLocks noChangeArrowheads="1"/>
            </p:cNvSpPr>
            <p:nvPr/>
          </p:nvSpPr>
          <p:spPr bwMode="auto">
            <a:xfrm>
              <a:off x="240" y="1968"/>
              <a:ext cx="2160" cy="768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1520" name="Text Box 13"/>
            <p:cNvSpPr txBox="1">
              <a:spLocks noChangeArrowheads="1"/>
            </p:cNvSpPr>
            <p:nvPr/>
          </p:nvSpPr>
          <p:spPr bwMode="auto">
            <a:xfrm>
              <a:off x="995" y="2016"/>
              <a:ext cx="782" cy="252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66"/>
                  </a:solidFill>
                  <a:latin typeface="Arial" panose="020B0604020202020204" pitchFamily="34" charset="0"/>
                  <a:ea typeface="新宋体" panose="02010609030101010101" pitchFamily="49" charset="-122"/>
                </a:rPr>
                <a:t>Student</a:t>
              </a:r>
              <a:endParaRPr lang="en-US" altLang="zh-CN" sz="2400" noProof="1">
                <a:solidFill>
                  <a:srgbClr val="00006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21" name="Oval 12"/>
            <p:cNvSpPr>
              <a:spLocks noChangeArrowheads="1"/>
            </p:cNvSpPr>
            <p:nvPr/>
          </p:nvSpPr>
          <p:spPr bwMode="auto">
            <a:xfrm>
              <a:off x="480" y="2256"/>
              <a:ext cx="1759" cy="324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0800" rIns="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 err="1">
                  <a:solidFill>
                    <a:schemeClr val="bg1"/>
                  </a:solidFill>
                  <a:ea typeface="新宋体" panose="02010609030101010101" pitchFamily="49" charset="-122"/>
                </a:rPr>
                <a:t>StudentLeader</a:t>
              </a:r>
              <a:endParaRPr lang="en-US" altLang="zh-CN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511" name="Group 26"/>
          <p:cNvGrpSpPr>
            <a:grpSpLocks/>
          </p:cNvGrpSpPr>
          <p:nvPr/>
        </p:nvGrpSpPr>
        <p:grpSpPr bwMode="auto">
          <a:xfrm>
            <a:off x="1752601" y="2177833"/>
            <a:ext cx="6215061" cy="2195513"/>
            <a:chOff x="2136" y="2172"/>
            <a:chExt cx="3915" cy="1383"/>
          </a:xfrm>
        </p:grpSpPr>
        <p:sp>
          <p:nvSpPr>
            <p:cNvPr id="21512" name="Rectangle 23"/>
            <p:cNvSpPr>
              <a:spLocks noChangeArrowheads="1"/>
            </p:cNvSpPr>
            <p:nvPr/>
          </p:nvSpPr>
          <p:spPr bwMode="auto">
            <a:xfrm>
              <a:off x="2136" y="2172"/>
              <a:ext cx="22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基类与派生类的关系</a:t>
              </a:r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21513" name="Group 25"/>
            <p:cNvGrpSpPr>
              <a:grpSpLocks/>
            </p:cNvGrpSpPr>
            <p:nvPr/>
          </p:nvGrpSpPr>
          <p:grpSpPr bwMode="auto">
            <a:xfrm>
              <a:off x="2640" y="2622"/>
              <a:ext cx="3411" cy="933"/>
              <a:chOff x="2640" y="2622"/>
              <a:chExt cx="3411" cy="933"/>
            </a:xfrm>
          </p:grpSpPr>
          <p:grpSp>
            <p:nvGrpSpPr>
              <p:cNvPr id="21514" name="Group 22"/>
              <p:cNvGrpSpPr>
                <a:grpSpLocks/>
              </p:cNvGrpSpPr>
              <p:nvPr/>
            </p:nvGrpSpPr>
            <p:grpSpPr bwMode="auto">
              <a:xfrm>
                <a:off x="2640" y="2622"/>
                <a:ext cx="3411" cy="594"/>
                <a:chOff x="2640" y="3102"/>
                <a:chExt cx="3411" cy="594"/>
              </a:xfrm>
            </p:grpSpPr>
            <p:sp>
              <p:nvSpPr>
                <p:cNvPr id="21516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3879" y="3456"/>
                  <a:ext cx="78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  <p:sp>
              <p:nvSpPr>
                <p:cNvPr id="21517" name="Oval 15"/>
                <p:cNvSpPr>
                  <a:spLocks noChangeArrowheads="1"/>
                </p:cNvSpPr>
                <p:nvPr/>
              </p:nvSpPr>
              <p:spPr bwMode="auto">
                <a:xfrm>
                  <a:off x="2640" y="3168"/>
                  <a:ext cx="1248" cy="528"/>
                </a:xfrm>
                <a:prstGeom prst="ellipse">
                  <a:avLst/>
                </a:prstGeom>
                <a:solidFill>
                  <a:srgbClr val="FFFFCC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0" tIns="82800" rIns="0" bIns="10800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dirty="0">
                      <a:solidFill>
                        <a:srgbClr val="000066"/>
                      </a:solidFill>
                      <a:latin typeface="Arial" panose="020B0604020202020204" pitchFamily="34" charset="0"/>
                      <a:ea typeface="新宋体" panose="02010609030101010101" pitchFamily="49" charset="-122"/>
                    </a:rPr>
                    <a:t>Student</a:t>
                  </a:r>
                  <a:endParaRPr lang="en-US" altLang="zh-CN" sz="2400" dirty="0">
                    <a:solidFill>
                      <a:srgbClr val="000066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518" name="Oval 16"/>
                <p:cNvSpPr>
                  <a:spLocks noChangeArrowheads="1"/>
                </p:cNvSpPr>
                <p:nvPr/>
              </p:nvSpPr>
              <p:spPr bwMode="auto">
                <a:xfrm>
                  <a:off x="4473" y="3102"/>
                  <a:ext cx="1578" cy="594"/>
                </a:xfrm>
                <a:prstGeom prst="ellipse">
                  <a:avLst/>
                </a:prstGeom>
                <a:solidFill>
                  <a:srgbClr val="0000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0" rIns="0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zh-CN" sz="900" dirty="0">
                    <a:solidFill>
                      <a:schemeClr val="bg1"/>
                    </a:solidFill>
                    <a:ea typeface="新宋体" panose="02010609030101010101" pitchFamily="49" charset="-122"/>
                  </a:endParaRP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dirty="0" err="1">
                      <a:solidFill>
                        <a:schemeClr val="bg1"/>
                      </a:solidFill>
                      <a:ea typeface="新宋体" panose="02010609030101010101" pitchFamily="49" charset="-122"/>
                    </a:rPr>
                    <a:t>StudentLeader</a:t>
                  </a:r>
                  <a:endParaRPr lang="en-US" altLang="zh-CN" sz="200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1515" name="Rectangle 24"/>
              <p:cNvSpPr>
                <a:spLocks noChangeArrowheads="1"/>
              </p:cNvSpPr>
              <p:nvPr/>
            </p:nvSpPr>
            <p:spPr bwMode="auto">
              <a:xfrm>
                <a:off x="2976" y="3264"/>
                <a:ext cx="240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新宋体" panose="02010609030101010101" pitchFamily="49" charset="-122"/>
                    <a:ea typeface="新宋体" panose="02010609030101010101" pitchFamily="49" charset="-122"/>
                  </a:rPr>
                  <a:t>基类             派生类</a:t>
                </a:r>
                <a:r>
                  <a:rPr lang="zh-CN" altLang="en-US" sz="2400">
                    <a:latin typeface="Arial" panose="020B0604020202020204" pitchFamily="34" charset="0"/>
                    <a:ea typeface="楷体_GB2312" pitchFamily="49" charset="-122"/>
                  </a:rPr>
                  <a:t> 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3737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5" y="1288950"/>
            <a:ext cx="7839075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5664201" y="4365104"/>
            <a:ext cx="136842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多继承</a:t>
            </a:r>
            <a:endParaRPr lang="zh-CN" altLang="en-US" sz="2400" b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533" name="矩形 20"/>
          <p:cNvSpPr>
            <a:spLocks noChangeArrowheads="1"/>
          </p:cNvSpPr>
          <p:nvPr/>
        </p:nvSpPr>
        <p:spPr bwMode="auto">
          <a:xfrm>
            <a:off x="5052220" y="2941538"/>
            <a:ext cx="2160587" cy="1223962"/>
          </a:xfrm>
          <a:prstGeom prst="rect">
            <a:avLst/>
          </a:prstGeom>
          <a:noFill/>
          <a:ln w="38100" algn="ctr">
            <a:solidFill>
              <a:srgbClr val="C00000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22534" name="Rectangle 3"/>
          <p:cNvSpPr>
            <a:spLocks noChangeArrowheads="1"/>
          </p:cNvSpPr>
          <p:nvPr/>
        </p:nvSpPr>
        <p:spPr bwMode="auto">
          <a:xfrm>
            <a:off x="551384" y="188640"/>
            <a:ext cx="4321175" cy="63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单继承与多继承</a:t>
            </a:r>
            <a:endParaRPr lang="zh-CN" altLang="en-US" sz="24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330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983432" y="401447"/>
            <a:ext cx="8686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继承和派生</a:t>
            </a:r>
          </a:p>
        </p:txBody>
      </p:sp>
      <p:sp>
        <p:nvSpPr>
          <p:cNvPr id="23555" name="Text Box 4" descr="蓝色砂纸"/>
          <p:cNvSpPr txBox="1">
            <a:spLocks noChangeArrowheads="1"/>
          </p:cNvSpPr>
          <p:nvPr/>
        </p:nvSpPr>
        <p:spPr bwMode="auto">
          <a:xfrm>
            <a:off x="1127448" y="1498426"/>
            <a:ext cx="3776662" cy="478592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#</a:t>
            </a:r>
            <a:r>
              <a:rPr lang="zh-CN" altLang="en-US" dirty="0">
                <a:solidFill>
                  <a:srgbClr val="C00000"/>
                </a:solidFill>
              </a:rPr>
              <a:t>直接定义</a:t>
            </a:r>
            <a:r>
              <a:rPr lang="zh-CN" altLang="zh-CN" dirty="0">
                <a:solidFill>
                  <a:srgbClr val="C00000"/>
                </a:solidFill>
              </a:rPr>
              <a:t>学生干部类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StudentLeader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SetValue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self,a,b,c,d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self.No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=a	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self.Name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=b          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self.Score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=c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self.Duty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=d	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Disp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(self):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self.No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self.Name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self.Score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self.Duty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  </a:t>
            </a:r>
            <a:endParaRPr lang="zh-CN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556" name="Text Box 4" descr="蓝色砂纸"/>
          <p:cNvSpPr txBox="1">
            <a:spLocks noChangeArrowheads="1"/>
          </p:cNvSpPr>
          <p:nvPr/>
        </p:nvSpPr>
        <p:spPr bwMode="auto">
          <a:xfrm>
            <a:off x="5231904" y="1507242"/>
            <a:ext cx="6061248" cy="3131627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#</a:t>
            </a:r>
            <a:r>
              <a:rPr lang="zh-CN" altLang="en-US" dirty="0">
                <a:solidFill>
                  <a:srgbClr val="C00000"/>
                </a:solidFill>
              </a:rPr>
              <a:t>通过派生定义</a:t>
            </a:r>
            <a:r>
              <a:rPr lang="zh-CN" altLang="zh-CN" dirty="0">
                <a:solidFill>
                  <a:srgbClr val="C00000"/>
                </a:solidFill>
              </a:rPr>
              <a:t>学生干部类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StudentLeader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(Student):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new_SetValue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self,a,b,c,d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self.SetValue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a,b,c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  # </a:t>
            </a:r>
            <a:r>
              <a:rPr lang="zh-CN" altLang="en-US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继承自父类，调用格式</a:t>
            </a:r>
            <a:endParaRPr lang="en-US" altLang="zh-CN" sz="20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self.Duty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=d				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New_Disp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(self):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self.Disp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 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 </a:t>
            </a:r>
            <a:r>
              <a:rPr lang="zh-CN" altLang="en-US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继承自父类   ，</a:t>
            </a:r>
            <a:endParaRPr lang="en-US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self.Duty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31904" y="5027553"/>
            <a:ext cx="6061248" cy="124649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 err="1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sLeader</a:t>
            </a:r>
            <a:r>
              <a:rPr lang="en-US" altLang="zh-CN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sz="2000" dirty="0" err="1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StudentLeader</a:t>
            </a:r>
            <a:r>
              <a:rPr lang="en-US" altLang="zh-CN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2000" dirty="0" err="1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sLeader.new_SetValue</a:t>
            </a:r>
            <a:r>
              <a:rPr lang="en-US" altLang="zh-CN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("1900001","</a:t>
            </a:r>
            <a:r>
              <a:rPr lang="zh-CN" altLang="en-US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王涛</a:t>
            </a:r>
            <a:r>
              <a:rPr lang="en-US" altLang="zh-CN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",82,"</a:t>
            </a:r>
            <a:r>
              <a:rPr lang="zh-CN" altLang="en-US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班长</a:t>
            </a:r>
            <a:r>
              <a:rPr lang="en-US" altLang="zh-CN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")</a:t>
            </a:r>
          </a:p>
          <a:p>
            <a:pPr>
              <a:lnSpc>
                <a:spcPct val="125000"/>
              </a:lnSpc>
            </a:pPr>
            <a:r>
              <a:rPr lang="en-US" altLang="zh-CN" sz="2000" dirty="0" err="1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sLeader.New_Disp</a:t>
            </a:r>
            <a:r>
              <a:rPr lang="en-US" altLang="zh-CN" sz="2000" dirty="0">
                <a:solidFill>
                  <a:srgbClr val="000099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  <a:endParaRPr lang="zh-CN" altLang="zh-CN" sz="2000" b="0" dirty="0">
              <a:solidFill>
                <a:srgbClr val="000099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9654" y="964434"/>
            <a:ext cx="1566454" cy="533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lnSpc>
                <a:spcPct val="133000"/>
              </a:lnSpc>
              <a:spcBef>
                <a:spcPts val="1200"/>
              </a:spcBef>
              <a:spcAft>
                <a:spcPts val="320"/>
              </a:spcAft>
            </a:pPr>
            <a:r>
              <a:rPr lang="en-US" altLang="zh-CN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．引例</a:t>
            </a:r>
          </a:p>
        </p:txBody>
      </p:sp>
    </p:spTree>
    <p:extLst>
      <p:ext uri="{BB962C8B-B14F-4D97-AF65-F5344CB8AC3E}">
        <p14:creationId xmlns:p14="http://schemas.microsoft.com/office/powerpoint/2010/main" val="12927386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4" descr="蓝色砂纸"/>
          <p:cNvSpPr txBox="1">
            <a:spLocks noChangeArrowheads="1"/>
          </p:cNvSpPr>
          <p:nvPr/>
        </p:nvSpPr>
        <p:spPr bwMode="auto">
          <a:xfrm>
            <a:off x="1524410" y="1484784"/>
            <a:ext cx="9684158" cy="170816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sz="28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</a:t>
            </a:r>
            <a:r>
              <a:rPr lang="en-US" altLang="zh-CN" sz="2800" dirty="0">
                <a:solidFill>
                  <a:srgbClr val="C00000"/>
                </a:solidFill>
              </a:rPr>
              <a:t>  </a:t>
            </a:r>
            <a:r>
              <a:rPr lang="zh-CN" altLang="zh-CN" sz="2800" dirty="0">
                <a:solidFill>
                  <a:srgbClr val="C00000"/>
                </a:solidFill>
              </a:rPr>
              <a:t>派生类名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zh-CN" altLang="zh-CN" sz="2800" dirty="0">
                <a:solidFill>
                  <a:srgbClr val="C00000"/>
                </a:solidFill>
              </a:rPr>
              <a:t>基类名</a:t>
            </a:r>
            <a:r>
              <a:rPr lang="en-US" altLang="zh-CN" sz="2800" dirty="0">
                <a:solidFill>
                  <a:srgbClr val="C00000"/>
                </a:solidFill>
              </a:rPr>
              <a:t>)</a:t>
            </a:r>
            <a:r>
              <a:rPr lang="en-US" altLang="zh-CN" sz="2800" dirty="0"/>
              <a:t>:</a:t>
            </a:r>
            <a:endParaRPr lang="zh-CN" altLang="zh-CN" sz="2800" dirty="0"/>
          </a:p>
          <a:p>
            <a:r>
              <a:rPr lang="en-US" altLang="zh-CN" sz="2800" dirty="0"/>
              <a:t>       '</a:t>
            </a:r>
            <a:r>
              <a:rPr lang="zh-CN" altLang="zh-CN" sz="2800" dirty="0"/>
              <a:t>类文档字符串</a:t>
            </a:r>
            <a:r>
              <a:rPr lang="en-US" altLang="zh-CN" sz="2800" dirty="0"/>
              <a:t>'</a:t>
            </a:r>
            <a:br>
              <a:rPr lang="en-US" altLang="zh-CN" sz="2800" dirty="0"/>
            </a:br>
            <a:r>
              <a:rPr lang="en-US" altLang="zh-CN" sz="2800" dirty="0"/>
              <a:t>       </a:t>
            </a:r>
            <a:r>
              <a:rPr lang="zh-CN" altLang="zh-CN" sz="2800" dirty="0"/>
              <a:t>类体</a:t>
            </a:r>
          </a:p>
        </p:txBody>
      </p:sp>
      <p:sp>
        <p:nvSpPr>
          <p:cNvPr id="5" name="Text Box 4" descr="蓝色砂纸"/>
          <p:cNvSpPr txBox="1">
            <a:spLocks noChangeArrowheads="1"/>
          </p:cNvSpPr>
          <p:nvPr/>
        </p:nvSpPr>
        <p:spPr bwMode="auto">
          <a:xfrm>
            <a:off x="1415480" y="4725144"/>
            <a:ext cx="9684158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</a:t>
            </a:r>
            <a:r>
              <a:rPr lang="en-US" altLang="zh-CN" sz="24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</a:t>
            </a:r>
            <a:r>
              <a:rPr lang="en-US" altLang="zh-CN" sz="2400" dirty="0">
                <a:solidFill>
                  <a:srgbClr val="C00000"/>
                </a:solidFill>
              </a:rPr>
              <a:t>(</a:t>
            </a:r>
            <a:r>
              <a:rPr lang="zh-CN" altLang="zh-CN" sz="2400" dirty="0">
                <a:solidFill>
                  <a:srgbClr val="C00000"/>
                </a:solidFill>
              </a:rPr>
              <a:t>派生类构造函数总参数表</a:t>
            </a:r>
            <a:r>
              <a:rPr lang="en-US" altLang="zh-CN" sz="2400" dirty="0">
                <a:solidFill>
                  <a:srgbClr val="C00000"/>
                </a:solidFill>
              </a:rPr>
              <a:t>):</a:t>
            </a:r>
            <a:endParaRPr lang="zh-CN" altLang="zh-CN" sz="2400" dirty="0">
              <a:solidFill>
                <a:srgbClr val="C00000"/>
              </a:solidFill>
            </a:endParaRPr>
          </a:p>
          <a:p>
            <a:r>
              <a:rPr lang="en-US" altLang="zh-CN" sz="2400" dirty="0"/>
              <a:t>       </a:t>
            </a:r>
            <a:r>
              <a:rPr lang="zh-CN" altLang="zh-CN" sz="2400" dirty="0"/>
              <a:t>基类名</a:t>
            </a:r>
            <a:r>
              <a:rPr lang="en-US" altLang="zh-CN" sz="2400" dirty="0"/>
              <a:t>.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</a:t>
            </a:r>
            <a:r>
              <a:rPr lang="en-US" altLang="zh-CN" sz="2400" dirty="0"/>
              <a:t>(</a:t>
            </a:r>
            <a:r>
              <a:rPr lang="zh-CN" altLang="zh-CN" sz="2400" dirty="0"/>
              <a:t>基类构造函数参数表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r>
              <a:rPr lang="en-US" altLang="zh-CN" sz="2400" dirty="0"/>
              <a:t>       </a:t>
            </a:r>
            <a:r>
              <a:rPr lang="zh-CN" altLang="zh-CN" sz="2400" dirty="0"/>
              <a:t>定义派生类对象属性数据成员初始化</a:t>
            </a:r>
          </a:p>
        </p:txBody>
      </p:sp>
      <p:sp>
        <p:nvSpPr>
          <p:cNvPr id="2" name="矩形 1"/>
          <p:cNvSpPr/>
          <p:nvPr/>
        </p:nvSpPr>
        <p:spPr>
          <a:xfrm>
            <a:off x="1524410" y="827032"/>
            <a:ext cx="26629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派生类的定义</a:t>
            </a:r>
          </a:p>
        </p:txBody>
      </p:sp>
      <p:sp>
        <p:nvSpPr>
          <p:cNvPr id="3" name="矩形 2"/>
          <p:cNvSpPr/>
          <p:nvPr/>
        </p:nvSpPr>
        <p:spPr>
          <a:xfrm>
            <a:off x="1538514" y="3766922"/>
            <a:ext cx="34884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派生类的构造函数</a:t>
            </a:r>
          </a:p>
        </p:txBody>
      </p:sp>
      <p:cxnSp>
        <p:nvCxnSpPr>
          <p:cNvPr id="6" name="直接箭头连接符 5"/>
          <p:cNvCxnSpPr/>
          <p:nvPr/>
        </p:nvCxnSpPr>
        <p:spPr bwMode="auto">
          <a:xfrm flipH="1">
            <a:off x="3071664" y="1916832"/>
            <a:ext cx="1872208" cy="345638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96051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983432" y="401447"/>
            <a:ext cx="8686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派生类的构造函数</a:t>
            </a:r>
          </a:p>
        </p:txBody>
      </p:sp>
      <p:sp>
        <p:nvSpPr>
          <p:cNvPr id="23555" name="Text Box 4" descr="蓝色砂纸"/>
          <p:cNvSpPr txBox="1">
            <a:spLocks noChangeArrowheads="1"/>
          </p:cNvSpPr>
          <p:nvPr/>
        </p:nvSpPr>
        <p:spPr bwMode="auto">
          <a:xfrm>
            <a:off x="407368" y="1498426"/>
            <a:ext cx="2952328" cy="320857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Student: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__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self,a,b,c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self.No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=a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self.Name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=b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self.Score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=c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Disp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(self):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self.No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self.Name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self.Score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556" name="Text Box 4" descr="蓝色砂纸"/>
          <p:cNvSpPr txBox="1">
            <a:spLocks noChangeArrowheads="1"/>
          </p:cNvSpPr>
          <p:nvPr/>
        </p:nvSpPr>
        <p:spPr bwMode="auto">
          <a:xfrm>
            <a:off x="3985256" y="1459954"/>
            <a:ext cx="7007288" cy="390106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#</a:t>
            </a:r>
            <a:r>
              <a:rPr lang="zh-CN" altLang="en-US" dirty="0">
                <a:solidFill>
                  <a:srgbClr val="C00000"/>
                </a:solidFill>
              </a:rPr>
              <a:t>通过派生定义</a:t>
            </a:r>
            <a:r>
              <a:rPr lang="zh-CN" altLang="zh-CN" dirty="0">
                <a:solidFill>
                  <a:srgbClr val="C00000"/>
                </a:solidFill>
              </a:rPr>
              <a:t>学生干部类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StudentLeader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__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self,a,b,c,d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b="1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Student.__</a:t>
            </a:r>
            <a:r>
              <a:rPr lang="en-US" altLang="zh-CN" sz="2000" b="1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000" b="1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sz="2000" b="1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self,a,b,c</a:t>
            </a:r>
            <a:r>
              <a:rPr lang="en-US" altLang="zh-CN" sz="2000" b="1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self.Duty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=d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New_Disp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(self):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self.Disp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  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self.Duty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</a:p>
          <a:p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sLeader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StudentLeader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("1900001","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王涛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",82,"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班长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")</a:t>
            </a:r>
          </a:p>
          <a:p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sLeader.New_Disp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384" y="925962"/>
            <a:ext cx="1069524" cy="533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lnSpc>
                <a:spcPct val="133000"/>
              </a:lnSpc>
              <a:spcBef>
                <a:spcPts val="1200"/>
              </a:spcBef>
              <a:spcAft>
                <a:spcPts val="320"/>
              </a:spcAft>
            </a:pPr>
            <a:r>
              <a:rPr lang="zh-CN" altLang="en-US" sz="24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父类</a:t>
            </a:r>
            <a:endParaRPr lang="zh-CN" altLang="zh-CN" sz="2400" b="1" kern="1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H="1" flipV="1">
            <a:off x="2135560" y="3501008"/>
            <a:ext cx="2520280" cy="5040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35413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13815" y="1196752"/>
            <a:ext cx="5922195" cy="41764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7.4.1 </a:t>
            </a:r>
            <a:r>
              <a:rPr lang="zh-CN" altLang="zh-CN" dirty="0"/>
              <a:t>迭代器</a:t>
            </a:r>
          </a:p>
          <a:p>
            <a:pPr marL="0" indent="0">
              <a:buNone/>
            </a:pPr>
            <a:r>
              <a:rPr lang="en-US" altLang="zh-CN" b="0" dirty="0">
                <a:solidFill>
                  <a:srgbClr val="C00000"/>
                </a:solidFill>
              </a:rPr>
              <a:t>1</a:t>
            </a:r>
            <a:r>
              <a:rPr lang="zh-CN" altLang="zh-CN" b="0" dirty="0">
                <a:solidFill>
                  <a:srgbClr val="C00000"/>
                </a:solidFill>
              </a:rPr>
              <a:t>．可迭代对象</a:t>
            </a:r>
            <a:r>
              <a:rPr lang="en-US" altLang="zh-CN" b="0" dirty="0">
                <a:solidFill>
                  <a:srgbClr val="C00000"/>
                </a:solidFill>
              </a:rPr>
              <a:t>: </a:t>
            </a:r>
            <a:r>
              <a:rPr lang="zh-CN" altLang="zh-CN" b="0" dirty="0">
                <a:solidFill>
                  <a:schemeClr val="tx1"/>
                </a:solidFill>
              </a:rPr>
              <a:t>能够一次返回</a:t>
            </a:r>
            <a:r>
              <a:rPr lang="zh-CN" altLang="en-US" b="0" dirty="0">
                <a:solidFill>
                  <a:schemeClr val="tx1"/>
                </a:solidFill>
              </a:rPr>
              <a:t>它的</a:t>
            </a:r>
            <a:r>
              <a:rPr lang="zh-CN" altLang="zh-CN" b="0" dirty="0">
                <a:solidFill>
                  <a:schemeClr val="tx1"/>
                </a:solidFill>
              </a:rPr>
              <a:t>一个成员的对象。任何可以用</a:t>
            </a:r>
            <a:r>
              <a:rPr lang="en-US" altLang="zh-CN" b="0" dirty="0">
                <a:solidFill>
                  <a:schemeClr val="tx1"/>
                </a:solidFill>
              </a:rPr>
              <a:t>for</a:t>
            </a:r>
            <a:r>
              <a:rPr lang="zh-CN" altLang="zh-CN" b="0" dirty="0">
                <a:solidFill>
                  <a:schemeClr val="tx1"/>
                </a:solidFill>
              </a:rPr>
              <a:t>循环遍历的对象都是可迭代对象</a:t>
            </a:r>
            <a:r>
              <a:rPr lang="zh-CN" altLang="en-US" b="0" dirty="0">
                <a:solidFill>
                  <a:schemeClr val="tx1"/>
                </a:solidFill>
              </a:rPr>
              <a:t>，如</a:t>
            </a:r>
            <a:r>
              <a:rPr lang="zh-CN" altLang="zh-CN" dirty="0">
                <a:solidFill>
                  <a:srgbClr val="00B050"/>
                </a:solidFill>
              </a:rPr>
              <a:t>字符串、列表、元组、字典、集合都是可迭代对象</a:t>
            </a:r>
            <a:r>
              <a:rPr lang="zh-CN" altLang="en-US" b="0" dirty="0">
                <a:solidFill>
                  <a:schemeClr val="tx1"/>
                </a:solidFill>
              </a:rPr>
              <a:t>。</a:t>
            </a:r>
            <a:endParaRPr lang="en-US" altLang="zh-CN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b="0" dirty="0">
                <a:solidFill>
                  <a:srgbClr val="C00000"/>
                </a:solidFill>
              </a:rPr>
              <a:t>2</a:t>
            </a:r>
            <a:r>
              <a:rPr lang="zh-CN" altLang="zh-CN" b="0" dirty="0">
                <a:solidFill>
                  <a:srgbClr val="C00000"/>
                </a:solidFill>
              </a:rPr>
              <a:t>．迭代器</a:t>
            </a:r>
            <a:r>
              <a:rPr lang="zh-CN" altLang="en-US" b="0" dirty="0">
                <a:solidFill>
                  <a:srgbClr val="C00000"/>
                </a:solidFill>
              </a:rPr>
              <a:t>：</a:t>
            </a:r>
            <a:r>
              <a:rPr lang="zh-CN" altLang="zh-CN" sz="2000" b="0" dirty="0">
                <a:solidFill>
                  <a:schemeClr val="tx1"/>
                </a:solidFill>
              </a:rPr>
              <a:t>用来从可迭代对象中进行取值的循环方法，必须用</a:t>
            </a:r>
            <a:r>
              <a:rPr lang="en-US" altLang="zh-CN" sz="2000" b="0" dirty="0">
                <a:solidFill>
                  <a:schemeClr val="tx1"/>
                </a:solidFill>
              </a:rPr>
              <a:t>__</a:t>
            </a:r>
            <a:r>
              <a:rPr lang="en-US" altLang="zh-CN" sz="2000" b="0" dirty="0" err="1">
                <a:solidFill>
                  <a:schemeClr val="tx1"/>
                </a:solidFill>
              </a:rPr>
              <a:t>iter</a:t>
            </a:r>
            <a:r>
              <a:rPr lang="en-US" altLang="zh-CN" sz="2000" b="0" dirty="0">
                <a:solidFill>
                  <a:schemeClr val="tx1"/>
                </a:solidFill>
              </a:rPr>
              <a:t>__()</a:t>
            </a:r>
            <a:r>
              <a:rPr lang="zh-CN" altLang="zh-CN" sz="2000" b="0" dirty="0">
                <a:solidFill>
                  <a:schemeClr val="tx1"/>
                </a:solidFill>
              </a:rPr>
              <a:t>和</a:t>
            </a:r>
            <a:r>
              <a:rPr lang="en-US" altLang="zh-CN" sz="2000" b="0" dirty="0">
                <a:solidFill>
                  <a:schemeClr val="tx1"/>
                </a:solidFill>
              </a:rPr>
              <a:t>__next__()</a:t>
            </a:r>
            <a:r>
              <a:rPr lang="zh-CN" altLang="zh-CN" sz="2000" b="0" dirty="0">
                <a:solidFill>
                  <a:schemeClr val="tx1"/>
                </a:solidFill>
              </a:rPr>
              <a:t>实现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3</a:t>
            </a:r>
            <a:r>
              <a:rPr lang="zh-CN" altLang="en-US" sz="2000" b="0" dirty="0">
                <a:solidFill>
                  <a:schemeClr val="tx1"/>
                </a:solidFill>
              </a:rPr>
              <a:t>：当一个类，想让其具备迭代能力时，定义</a:t>
            </a:r>
            <a:r>
              <a:rPr lang="en-US" altLang="zh-CN" sz="2000" b="0" dirty="0">
                <a:solidFill>
                  <a:schemeClr val="tx1"/>
                </a:solidFill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</a:rPr>
              <a:t>中的函数</a:t>
            </a:r>
          </a:p>
        </p:txBody>
      </p:sp>
      <p:sp>
        <p:nvSpPr>
          <p:cNvPr id="3" name="矩形 2"/>
          <p:cNvSpPr/>
          <p:nvPr/>
        </p:nvSpPr>
        <p:spPr>
          <a:xfrm>
            <a:off x="407368" y="188640"/>
            <a:ext cx="4068743" cy="8377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7.4 </a:t>
            </a:r>
            <a:r>
              <a:rPr lang="zh-CN" altLang="en-US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</a:t>
            </a:r>
            <a:r>
              <a:rPr lang="zh-CN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迭代器和生成器</a:t>
            </a:r>
          </a:p>
        </p:txBody>
      </p:sp>
      <p:sp>
        <p:nvSpPr>
          <p:cNvPr id="4" name="矩形 3"/>
          <p:cNvSpPr/>
          <p:nvPr/>
        </p:nvSpPr>
        <p:spPr>
          <a:xfrm>
            <a:off x="6528048" y="908720"/>
            <a:ext cx="5386191" cy="452431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class Fibs():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def</a:t>
            </a:r>
            <a:r>
              <a:rPr lang="en-US" altLang="zh-CN" dirty="0"/>
              <a:t> __</a:t>
            </a:r>
            <a:r>
              <a:rPr lang="en-US" altLang="zh-CN" dirty="0" err="1"/>
              <a:t>init</a:t>
            </a:r>
            <a:r>
              <a:rPr lang="en-US" altLang="zh-CN" dirty="0"/>
              <a:t>__(</a:t>
            </a:r>
            <a:r>
              <a:rPr lang="en-US" altLang="zh-CN" dirty="0" err="1"/>
              <a:t>self,max</a:t>
            </a:r>
            <a:r>
              <a:rPr lang="en-US" altLang="zh-CN" dirty="0"/>
              <a:t>):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self.max</a:t>
            </a:r>
            <a:r>
              <a:rPr lang="en-US" altLang="zh-CN" dirty="0"/>
              <a:t>=max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self.n,self.a,self.b</a:t>
            </a:r>
            <a:r>
              <a:rPr lang="en-US" altLang="zh-CN" dirty="0"/>
              <a:t>=0,0,1 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def</a:t>
            </a:r>
            <a:r>
              <a:rPr lang="en-US" altLang="zh-CN" dirty="0"/>
              <a:t> __</a:t>
            </a:r>
            <a:r>
              <a:rPr lang="en-US" altLang="zh-CN" dirty="0" err="1"/>
              <a:t>iter</a:t>
            </a:r>
            <a:r>
              <a:rPr lang="en-US" altLang="zh-CN" dirty="0"/>
              <a:t>__(self):         #</a:t>
            </a:r>
            <a:r>
              <a:rPr lang="zh-CN" altLang="en-US" dirty="0"/>
              <a:t>定义</a:t>
            </a:r>
            <a:r>
              <a:rPr lang="en-US" altLang="zh-CN" dirty="0"/>
              <a:t>__</a:t>
            </a:r>
            <a:r>
              <a:rPr lang="en-US" altLang="zh-CN" dirty="0" err="1"/>
              <a:t>iter</a:t>
            </a:r>
            <a:r>
              <a:rPr lang="en-US" altLang="zh-CN" dirty="0"/>
              <a:t>__</a:t>
            </a:r>
            <a:r>
              <a:rPr lang="zh-CN" altLang="en-US" dirty="0"/>
              <a:t>方法</a:t>
            </a:r>
          </a:p>
          <a:p>
            <a:r>
              <a:rPr lang="zh-CN" altLang="en-US" dirty="0"/>
              <a:t>        </a:t>
            </a:r>
            <a:r>
              <a:rPr lang="en-US" altLang="zh-CN" dirty="0"/>
              <a:t>return self      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def</a:t>
            </a:r>
            <a:r>
              <a:rPr lang="en-US" altLang="zh-CN" dirty="0"/>
              <a:t> __next__(self):       #</a:t>
            </a:r>
            <a:r>
              <a:rPr lang="zh-CN" altLang="en-US" dirty="0"/>
              <a:t>定义</a:t>
            </a:r>
            <a:r>
              <a:rPr lang="en-US" altLang="zh-CN" dirty="0"/>
              <a:t>__next__</a:t>
            </a:r>
            <a:r>
              <a:rPr lang="zh-CN" altLang="en-US" dirty="0"/>
              <a:t>方法</a:t>
            </a:r>
          </a:p>
          <a:p>
            <a:r>
              <a:rPr lang="zh-CN" altLang="en-US" dirty="0"/>
              <a:t>        </a:t>
            </a:r>
            <a:r>
              <a:rPr lang="en-US" altLang="zh-CN" dirty="0"/>
              <a:t>if </a:t>
            </a:r>
            <a:r>
              <a:rPr lang="en-US" altLang="zh-CN" dirty="0" err="1"/>
              <a:t>self.n</a:t>
            </a:r>
            <a:r>
              <a:rPr lang="en-US" altLang="zh-CN" dirty="0"/>
              <a:t>&lt;</a:t>
            </a:r>
            <a:r>
              <a:rPr lang="en-US" altLang="zh-CN" dirty="0" err="1"/>
              <a:t>self.max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tmp</a:t>
            </a:r>
            <a:r>
              <a:rPr lang="en-US" altLang="zh-CN" dirty="0"/>
              <a:t>=</a:t>
            </a:r>
            <a:r>
              <a:rPr lang="en-US" altLang="zh-CN" dirty="0" err="1"/>
              <a:t>self.a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self.a,self.b</a:t>
            </a:r>
            <a:r>
              <a:rPr lang="en-US" altLang="zh-CN" dirty="0"/>
              <a:t>=</a:t>
            </a:r>
            <a:r>
              <a:rPr lang="en-US" altLang="zh-CN" dirty="0" err="1"/>
              <a:t>self.b,self.a+self.b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 dirty="0" err="1"/>
              <a:t>self.n</a:t>
            </a:r>
            <a:r>
              <a:rPr lang="en-US" altLang="zh-CN" dirty="0"/>
              <a:t>+=1</a:t>
            </a:r>
          </a:p>
          <a:p>
            <a:r>
              <a:rPr lang="en-US" altLang="zh-CN" dirty="0"/>
              <a:t>            return </a:t>
            </a:r>
            <a:r>
              <a:rPr lang="en-US" altLang="zh-CN" dirty="0" err="1"/>
              <a:t>tmp</a:t>
            </a:r>
            <a:endParaRPr lang="en-US" altLang="zh-CN" dirty="0"/>
          </a:p>
          <a:p>
            <a:r>
              <a:rPr lang="en-US" altLang="zh-CN" dirty="0"/>
              <a:t>        raise </a:t>
            </a:r>
            <a:r>
              <a:rPr lang="en-US" altLang="zh-CN" dirty="0" err="1"/>
              <a:t>StopIteration</a:t>
            </a:r>
            <a:r>
              <a:rPr lang="en-US" altLang="zh-CN" dirty="0"/>
              <a:t>	   # </a:t>
            </a:r>
            <a:r>
              <a:rPr lang="zh-CN" altLang="en-US" dirty="0"/>
              <a:t>停止迭代</a:t>
            </a:r>
          </a:p>
          <a:p>
            <a:r>
              <a:rPr lang="en-US" altLang="zh-CN" dirty="0"/>
              <a:t>fib10=Fibs(10)   # </a:t>
            </a:r>
            <a:r>
              <a:rPr lang="zh-CN" altLang="en-US" dirty="0"/>
              <a:t>求前</a:t>
            </a:r>
            <a:r>
              <a:rPr lang="en-US" altLang="zh-CN" dirty="0"/>
              <a:t>10</a:t>
            </a:r>
            <a:r>
              <a:rPr lang="zh-CN" altLang="en-US" dirty="0"/>
              <a:t>项</a:t>
            </a:r>
            <a:endParaRPr lang="en-US" altLang="zh-CN" dirty="0"/>
          </a:p>
          <a:p>
            <a:r>
              <a:rPr lang="en-US" altLang="zh-CN" dirty="0"/>
              <a:t>for item in fib10:</a:t>
            </a:r>
          </a:p>
          <a:p>
            <a:r>
              <a:rPr lang="en-US" altLang="zh-CN" dirty="0"/>
              <a:t>     print(</a:t>
            </a:r>
            <a:r>
              <a:rPr lang="en-US" altLang="zh-CN" dirty="0" err="1"/>
              <a:t>item,end</a:t>
            </a:r>
            <a:r>
              <a:rPr lang="en-US" altLang="zh-CN" dirty="0"/>
              <a:t>=" ")</a:t>
            </a:r>
            <a:endParaRPr lang="zh-CN" altLang="en-US" dirty="0"/>
          </a:p>
        </p:txBody>
      </p:sp>
      <p:sp>
        <p:nvSpPr>
          <p:cNvPr id="5" name="内容占位符 1"/>
          <p:cNvSpPr txBox="1">
            <a:spLocks/>
          </p:cNvSpPr>
          <p:nvPr/>
        </p:nvSpPr>
        <p:spPr bwMode="auto">
          <a:xfrm>
            <a:off x="388260" y="5661248"/>
            <a:ext cx="5922195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u"/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kern="0" dirty="0"/>
              <a:t>我是谁？  我在哪？  我在做啥？</a:t>
            </a:r>
            <a:endParaRPr lang="zh-CN" altLang="en-US" sz="2000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47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76540" y="1340624"/>
            <a:ext cx="7781652" cy="2664439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7.4.2 </a:t>
            </a:r>
            <a:r>
              <a:rPr lang="zh-CN" altLang="en-US" dirty="0"/>
              <a:t>生成</a:t>
            </a:r>
            <a:r>
              <a:rPr lang="zh-CN" altLang="zh-CN" dirty="0"/>
              <a:t>器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zh-CN" dirty="0">
                <a:solidFill>
                  <a:srgbClr val="C00000"/>
                </a:solidFill>
              </a:rPr>
              <a:t>．</a:t>
            </a:r>
            <a:r>
              <a:rPr lang="zh-CN" altLang="en-US" dirty="0">
                <a:solidFill>
                  <a:srgbClr val="C00000"/>
                </a:solidFill>
              </a:rPr>
              <a:t>生成器</a:t>
            </a:r>
            <a:r>
              <a:rPr lang="en-US" altLang="zh-CN" dirty="0">
                <a:solidFill>
                  <a:srgbClr val="C00000"/>
                </a:solidFill>
              </a:rPr>
              <a:t>: </a:t>
            </a:r>
            <a:r>
              <a:rPr lang="zh-CN" altLang="en-US" sz="2000" b="0" dirty="0">
                <a:solidFill>
                  <a:schemeClr val="tx1"/>
                </a:solidFill>
              </a:rPr>
              <a:t>也属于迭代器，作用于函数（不是类），所以无</a:t>
            </a:r>
            <a:r>
              <a:rPr lang="zh-CN" altLang="zh-CN" sz="2000" b="0" dirty="0">
                <a:solidFill>
                  <a:schemeClr val="tx1"/>
                </a:solidFill>
              </a:rPr>
              <a:t>须</a:t>
            </a:r>
            <a:r>
              <a:rPr lang="zh-CN" altLang="en-US" sz="2000" b="0" dirty="0">
                <a:solidFill>
                  <a:schemeClr val="tx1"/>
                </a:solidFill>
              </a:rPr>
              <a:t>写</a:t>
            </a:r>
            <a:r>
              <a:rPr lang="en-US" altLang="zh-CN" sz="2000" b="0" dirty="0">
                <a:solidFill>
                  <a:schemeClr val="tx1"/>
                </a:solidFill>
              </a:rPr>
              <a:t>__</a:t>
            </a:r>
            <a:r>
              <a:rPr lang="en-US" altLang="zh-CN" sz="2000" b="0" dirty="0" err="1">
                <a:solidFill>
                  <a:schemeClr val="tx1"/>
                </a:solidFill>
              </a:rPr>
              <a:t>iter</a:t>
            </a:r>
            <a:r>
              <a:rPr lang="en-US" altLang="zh-CN" sz="2000" b="0" dirty="0">
                <a:solidFill>
                  <a:schemeClr val="tx1"/>
                </a:solidFill>
              </a:rPr>
              <a:t>__()</a:t>
            </a:r>
            <a:r>
              <a:rPr lang="zh-CN" altLang="zh-CN" sz="2000" b="0" dirty="0">
                <a:solidFill>
                  <a:schemeClr val="tx1"/>
                </a:solidFill>
              </a:rPr>
              <a:t>和</a:t>
            </a:r>
            <a:r>
              <a:rPr lang="en-US" altLang="zh-CN" sz="2000" b="0" dirty="0">
                <a:solidFill>
                  <a:schemeClr val="tx1"/>
                </a:solidFill>
              </a:rPr>
              <a:t>__next__()</a:t>
            </a:r>
            <a:r>
              <a:rPr lang="zh-CN" altLang="en-US" sz="2000" b="0" dirty="0">
                <a:solidFill>
                  <a:schemeClr val="tx1"/>
                </a:solidFill>
              </a:rPr>
              <a:t>函数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r>
              <a:rPr lang="zh-CN" altLang="zh-CN" dirty="0"/>
              <a:t>生成器函数使用</a:t>
            </a:r>
            <a:r>
              <a:rPr lang="en-US" altLang="zh-CN" dirty="0"/>
              <a:t>yield</a:t>
            </a:r>
            <a:r>
              <a:rPr lang="zh-CN" altLang="zh-CN" dirty="0"/>
              <a:t>关键字返回</a:t>
            </a:r>
            <a:r>
              <a:rPr lang="zh-CN" altLang="en-US" dirty="0"/>
              <a:t>函数</a:t>
            </a:r>
            <a:r>
              <a:rPr lang="zh-CN" altLang="zh-CN" dirty="0"/>
              <a:t>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    yield</a:t>
            </a:r>
            <a:r>
              <a:rPr lang="zh-CN" altLang="en-US" sz="2000" b="0" dirty="0">
                <a:solidFill>
                  <a:schemeClr val="tx1"/>
                </a:solidFill>
              </a:rPr>
              <a:t>与</a:t>
            </a:r>
            <a:r>
              <a:rPr lang="en-US" altLang="zh-CN" sz="2000" b="0" dirty="0">
                <a:solidFill>
                  <a:schemeClr val="tx1"/>
                </a:solidFill>
              </a:rPr>
              <a:t>return</a:t>
            </a:r>
            <a:r>
              <a:rPr lang="zh-CN" altLang="en-US" sz="2000" b="0" dirty="0">
                <a:solidFill>
                  <a:schemeClr val="tx1"/>
                </a:solidFill>
              </a:rPr>
              <a:t>作用相似</a:t>
            </a:r>
            <a:r>
              <a:rPr lang="zh-CN" altLang="zh-CN" sz="2000" b="0" dirty="0">
                <a:solidFill>
                  <a:schemeClr val="tx1"/>
                </a:solidFill>
              </a:rPr>
              <a:t>，但它能记住函数的状态，</a:t>
            </a:r>
            <a:r>
              <a:rPr lang="zh-CN" altLang="zh-CN" sz="2000" dirty="0">
                <a:solidFill>
                  <a:srgbClr val="00B050"/>
                </a:solidFill>
              </a:rPr>
              <a:t>下次调用生成器函数时，它不是从头开始，而是从上次调用中停止的位置开始</a:t>
            </a:r>
            <a:r>
              <a:rPr lang="zh-CN" altLang="zh-CN" sz="2000" b="0" dirty="0">
                <a:solidFill>
                  <a:schemeClr val="tx1"/>
                </a:solidFill>
              </a:rPr>
              <a:t>。</a:t>
            </a:r>
            <a:endParaRPr lang="zh-CN" alt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2620" y="450759"/>
            <a:ext cx="3350597" cy="7369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7.4 </a:t>
            </a:r>
            <a:r>
              <a:rPr lang="zh-CN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迭代器和生成器</a:t>
            </a:r>
          </a:p>
        </p:txBody>
      </p:sp>
      <p:sp>
        <p:nvSpPr>
          <p:cNvPr id="4" name="矩形 3"/>
          <p:cNvSpPr/>
          <p:nvPr/>
        </p:nvSpPr>
        <p:spPr>
          <a:xfrm>
            <a:off x="8454629" y="450759"/>
            <a:ext cx="3456384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/>
              <a:t>def</a:t>
            </a:r>
            <a:r>
              <a:rPr lang="en-US" altLang="zh-CN" dirty="0"/>
              <a:t> Fibs(n):  # </a:t>
            </a:r>
            <a:r>
              <a:rPr lang="zh-CN" altLang="en-US" dirty="0"/>
              <a:t>打印前</a:t>
            </a:r>
            <a:r>
              <a:rPr lang="en-US" altLang="zh-CN" dirty="0"/>
              <a:t>n</a:t>
            </a:r>
            <a:r>
              <a:rPr lang="zh-CN" altLang="en-US" dirty="0"/>
              <a:t>项</a:t>
            </a:r>
            <a:endParaRPr lang="en-US" altLang="zh-CN" dirty="0"/>
          </a:p>
          <a:p>
            <a:r>
              <a:rPr lang="en-US" altLang="zh-CN" dirty="0"/>
              <a:t>    k=0  # </a:t>
            </a:r>
            <a:r>
              <a:rPr lang="zh-CN" altLang="en-US" dirty="0"/>
              <a:t>项数索引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a,b</a:t>
            </a:r>
            <a:r>
              <a:rPr lang="en-US" altLang="zh-CN" dirty="0"/>
              <a:t>=0,1  </a:t>
            </a:r>
          </a:p>
          <a:p>
            <a:r>
              <a:rPr lang="en-US" altLang="zh-CN" dirty="0"/>
              <a:t>    while k&lt;n:  </a:t>
            </a:r>
          </a:p>
          <a:p>
            <a:r>
              <a:rPr lang="en-US" altLang="zh-CN" dirty="0"/>
              <a:t>        value=a  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a,b</a:t>
            </a:r>
            <a:r>
              <a:rPr lang="en-US" altLang="zh-CN" dirty="0"/>
              <a:t>=</a:t>
            </a:r>
            <a:r>
              <a:rPr lang="en-US" altLang="zh-CN" dirty="0" err="1"/>
              <a:t>b,a+b</a:t>
            </a:r>
            <a:r>
              <a:rPr lang="en-US" altLang="zh-CN" dirty="0"/>
              <a:t>  </a:t>
            </a:r>
          </a:p>
          <a:p>
            <a:r>
              <a:rPr lang="en-US" altLang="zh-CN" dirty="0"/>
              <a:t>        k += 1</a:t>
            </a:r>
          </a:p>
          <a:p>
            <a:r>
              <a:rPr lang="en-US" altLang="zh-CN" dirty="0"/>
              <a:t>        yield value   # </a:t>
            </a:r>
            <a:r>
              <a:rPr lang="zh-CN" altLang="en-US" dirty="0"/>
              <a:t>冻住</a:t>
            </a:r>
            <a:endParaRPr lang="en-US" altLang="zh-CN" dirty="0"/>
          </a:p>
          <a:p>
            <a:r>
              <a:rPr lang="en-US" altLang="zh-CN" dirty="0"/>
              <a:t>for item in Fibs(10):</a:t>
            </a:r>
          </a:p>
          <a:p>
            <a:r>
              <a:rPr lang="en-US" altLang="zh-CN" dirty="0"/>
              <a:t>     print(</a:t>
            </a:r>
            <a:r>
              <a:rPr lang="en-US" altLang="zh-CN" dirty="0" err="1"/>
              <a:t>item,end</a:t>
            </a:r>
            <a:r>
              <a:rPr lang="en-US" altLang="zh-CN" dirty="0"/>
              <a:t>=" ")</a:t>
            </a:r>
            <a:endParaRPr lang="zh-CN" altLang="zh-CN" dirty="0"/>
          </a:p>
        </p:txBody>
      </p:sp>
      <p:sp>
        <p:nvSpPr>
          <p:cNvPr id="5" name="矩形 4"/>
          <p:cNvSpPr/>
          <p:nvPr/>
        </p:nvSpPr>
        <p:spPr>
          <a:xfrm>
            <a:off x="479376" y="4324040"/>
            <a:ext cx="2797561" cy="3579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just">
              <a:lnSpc>
                <a:spcPts val="2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．生成器表达式</a:t>
            </a:r>
          </a:p>
        </p:txBody>
      </p:sp>
      <p:sp>
        <p:nvSpPr>
          <p:cNvPr id="6" name="矩形 5"/>
          <p:cNvSpPr/>
          <p:nvPr/>
        </p:nvSpPr>
        <p:spPr>
          <a:xfrm>
            <a:off x="660841" y="4716951"/>
            <a:ext cx="65966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生成器表达式</a:t>
            </a:r>
            <a:r>
              <a:rPr lang="zh-CN" altLang="en-US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与列表推导式类似，区别是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包含在圆括号内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7023" y="5373216"/>
            <a:ext cx="4430181" cy="9233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square_gen = (x*x for x in range(1,10))  </a:t>
            </a:r>
          </a:p>
          <a:p>
            <a:r>
              <a:rPr lang="zh-CN" altLang="en-US" dirty="0"/>
              <a:t>for i in square_gen:</a:t>
            </a:r>
          </a:p>
          <a:p>
            <a:r>
              <a:rPr lang="zh-CN" altLang="en-US" dirty="0"/>
              <a:t>     print(i)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DBF74E-CD41-40FE-90C7-B0FF3C78AD21}"/>
              </a:ext>
            </a:extLst>
          </p:cNvPr>
          <p:cNvSpPr/>
          <p:nvPr/>
        </p:nvSpPr>
        <p:spPr>
          <a:xfrm>
            <a:off x="8446004" y="3859014"/>
            <a:ext cx="3229610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如果改成</a:t>
            </a:r>
            <a:r>
              <a:rPr lang="en-US" altLang="zh-CN" b="1" dirty="0">
                <a:solidFill>
                  <a:srgbClr val="C00000"/>
                </a:solidFill>
              </a:rPr>
              <a:t>return</a:t>
            </a:r>
            <a:r>
              <a:rPr lang="zh-CN" altLang="en-US" b="1" dirty="0">
                <a:solidFill>
                  <a:srgbClr val="C00000"/>
                </a:solidFill>
              </a:rPr>
              <a:t>会怎么样？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en-US" altLang="zh-CN" dirty="0"/>
              <a:t>def Fibs(n):     </a:t>
            </a:r>
            <a:endParaRPr lang="zh-CN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a,b</a:t>
            </a:r>
            <a:r>
              <a:rPr lang="en-US" altLang="zh-CN" dirty="0"/>
              <a:t>=0,1  </a:t>
            </a:r>
            <a:endParaRPr lang="zh-CN" altLang="zh-CN" dirty="0"/>
          </a:p>
          <a:p>
            <a:r>
              <a:rPr lang="en-US" altLang="zh-CN" dirty="0"/>
              <a:t>    while a&lt;n:  </a:t>
            </a:r>
            <a:endParaRPr lang="zh-CN" altLang="zh-CN" dirty="0"/>
          </a:p>
          <a:p>
            <a:r>
              <a:rPr lang="en-US" altLang="zh-CN" dirty="0"/>
              <a:t>        value=a  </a:t>
            </a:r>
            <a:endParaRPr lang="zh-CN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a,b</a:t>
            </a:r>
            <a:r>
              <a:rPr lang="en-US" altLang="zh-CN" dirty="0"/>
              <a:t>=</a:t>
            </a:r>
            <a:r>
              <a:rPr lang="en-US" altLang="zh-CN" dirty="0" err="1"/>
              <a:t>b,a+b</a:t>
            </a:r>
            <a:r>
              <a:rPr lang="en-US" altLang="zh-CN" dirty="0"/>
              <a:t>  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</a:t>
            </a:r>
            <a:r>
              <a:rPr lang="en-US" altLang="zh-CN" b="1" dirty="0">
                <a:solidFill>
                  <a:srgbClr val="00B050"/>
                </a:solidFill>
              </a:rPr>
              <a:t>return value </a:t>
            </a:r>
            <a:endParaRPr lang="zh-CN" altLang="zh-CN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007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51384" y="1268760"/>
            <a:ext cx="10972800" cy="4680520"/>
          </a:xfrm>
        </p:spPr>
        <p:txBody>
          <a:bodyPr/>
          <a:lstStyle/>
          <a:p>
            <a:r>
              <a:rPr lang="zh-CN" altLang="zh-CN" dirty="0">
                <a:solidFill>
                  <a:srgbClr val="00B050"/>
                </a:solidFill>
              </a:rPr>
              <a:t>模块（</a:t>
            </a:r>
            <a:r>
              <a:rPr lang="en-US" altLang="zh-CN" dirty="0">
                <a:solidFill>
                  <a:srgbClr val="00B050"/>
                </a:solidFill>
              </a:rPr>
              <a:t>module</a:t>
            </a:r>
            <a:r>
              <a:rPr lang="zh-CN" altLang="zh-CN" dirty="0">
                <a:solidFill>
                  <a:srgbClr val="00B050"/>
                </a:solidFill>
              </a:rPr>
              <a:t>）</a:t>
            </a:r>
            <a:r>
              <a:rPr lang="en-US" altLang="zh-CN" dirty="0">
                <a:solidFill>
                  <a:srgbClr val="00B050"/>
                </a:solidFill>
              </a:rPr>
              <a:t>: </a:t>
            </a:r>
            <a:r>
              <a:rPr lang="zh-CN" altLang="en-US" dirty="0">
                <a:solidFill>
                  <a:srgbClr val="00B050"/>
                </a:solidFill>
              </a:rPr>
              <a:t>即</a:t>
            </a:r>
            <a:r>
              <a:rPr lang="zh-CN" altLang="zh-CN" dirty="0">
                <a:solidFill>
                  <a:srgbClr val="00B050"/>
                </a:solidFill>
              </a:rPr>
              <a:t>一个</a:t>
            </a:r>
            <a:r>
              <a:rPr lang="en-US" altLang="zh-CN" dirty="0">
                <a:solidFill>
                  <a:srgbClr val="00B050"/>
                </a:solidFill>
              </a:rPr>
              <a:t>.</a:t>
            </a:r>
            <a:r>
              <a:rPr lang="en-US" altLang="zh-CN" dirty="0" err="1">
                <a:solidFill>
                  <a:srgbClr val="00B050"/>
                </a:solidFill>
              </a:rPr>
              <a:t>py</a:t>
            </a:r>
            <a:r>
              <a:rPr lang="zh-CN" altLang="zh-CN" dirty="0">
                <a:solidFill>
                  <a:srgbClr val="00B050"/>
                </a:solidFill>
              </a:rPr>
              <a:t>文件，</a:t>
            </a:r>
            <a:r>
              <a:rPr lang="zh-CN" altLang="zh-CN" b="0" dirty="0">
                <a:solidFill>
                  <a:schemeClr val="tx1"/>
                </a:solidFill>
              </a:rPr>
              <a:t>每个模块中定义了一些变量、函数</a:t>
            </a:r>
            <a:r>
              <a:rPr lang="zh-CN" altLang="en-US" b="0" dirty="0">
                <a:solidFill>
                  <a:schemeClr val="tx1"/>
                </a:solidFill>
              </a:rPr>
              <a:t>等。</a:t>
            </a:r>
            <a:endParaRPr lang="en-US" altLang="zh-CN" b="0" dirty="0">
              <a:solidFill>
                <a:schemeClr val="tx1"/>
              </a:solidFill>
            </a:endParaRPr>
          </a:p>
          <a:p>
            <a:pPr marL="685800" lvl="1">
              <a:buFont typeface="Wingdings" panose="05000000000000000000" pitchFamily="2" charset="2"/>
              <a:buChar char="p"/>
            </a:pPr>
            <a:r>
              <a:rPr lang="zh-CN" altLang="zh-CN" sz="1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使用模块的好处：</a:t>
            </a:r>
          </a:p>
          <a:p>
            <a:pPr marL="800100" lvl="2" indent="0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．提高代码的可维护性</a:t>
            </a:r>
          </a:p>
          <a:p>
            <a:pPr marL="800100" lvl="2" indent="0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．提高代码的可复用性。当一个模块编写完成之后，可以被其他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引用。</a:t>
            </a:r>
          </a:p>
          <a:p>
            <a:pPr marL="800100" lvl="2" indent="0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．使用模块还可以避免变量名、函数名、类名等命名冲突。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solidFill>
                  <a:srgbClr val="00B050"/>
                </a:solidFill>
              </a:rPr>
              <a:t>包（</a:t>
            </a:r>
            <a:r>
              <a:rPr lang="en-US" altLang="zh-CN" dirty="0">
                <a:solidFill>
                  <a:srgbClr val="00B050"/>
                </a:solidFill>
              </a:rPr>
              <a:t>package</a:t>
            </a:r>
            <a:r>
              <a:rPr lang="zh-CN" altLang="zh-CN" dirty="0">
                <a:solidFill>
                  <a:srgbClr val="00B050"/>
                </a:solidFill>
              </a:rPr>
              <a:t>）就是一个内含模块或子包的有层次的文件目录结构</a:t>
            </a:r>
            <a:endParaRPr lang="en-US" altLang="zh-C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                            </a:t>
            </a:r>
            <a:r>
              <a:rPr lang="zh-CN" altLang="zh-CN" dirty="0">
                <a:solidFill>
                  <a:srgbClr val="00B050"/>
                </a:solidFill>
              </a:rPr>
              <a:t>其中一定要</a:t>
            </a:r>
            <a:r>
              <a:rPr lang="zh-CN" altLang="en-US" dirty="0">
                <a:solidFill>
                  <a:srgbClr val="00B050"/>
                </a:solidFill>
              </a:rPr>
              <a:t>有</a:t>
            </a:r>
            <a:r>
              <a:rPr lang="en-US" altLang="zh-CN" dirty="0">
                <a:solidFill>
                  <a:srgbClr val="00B050"/>
                </a:solidFill>
              </a:rPr>
              <a:t>__init__.py</a:t>
            </a:r>
            <a:r>
              <a:rPr lang="zh-CN" altLang="zh-CN" dirty="0">
                <a:solidFill>
                  <a:srgbClr val="00B050"/>
                </a:solidFill>
              </a:rPr>
              <a:t>模块</a:t>
            </a:r>
            <a:r>
              <a:rPr lang="zh-CN" altLang="en-US" dirty="0">
                <a:solidFill>
                  <a:srgbClr val="00B050"/>
                </a:solidFill>
              </a:rPr>
              <a:t>。</a:t>
            </a:r>
            <a:endParaRPr lang="en-US" altLang="zh-CN" dirty="0">
              <a:solidFill>
                <a:srgbClr val="00B050"/>
              </a:solidFill>
            </a:endParaRPr>
          </a:p>
          <a:p>
            <a:pPr marL="800100" lvl="2" indent="0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每个包目录中必须含有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__init__.py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模块，否则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会将视为普通目录，而非一个包。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__init__.py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文件内容可以为空，也可以有相应的代码。</a:t>
            </a:r>
          </a:p>
          <a:p>
            <a:pPr marL="800100" lvl="2" indent="0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一个包目录中还可以存在多个目录，称为子包，组成多层级的包。</a:t>
            </a:r>
          </a:p>
        </p:txBody>
      </p:sp>
      <p:sp>
        <p:nvSpPr>
          <p:cNvPr id="3" name="矩形 2"/>
          <p:cNvSpPr/>
          <p:nvPr/>
        </p:nvSpPr>
        <p:spPr>
          <a:xfrm>
            <a:off x="609600" y="188640"/>
            <a:ext cx="2991525" cy="7369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7.5 </a:t>
            </a:r>
            <a:r>
              <a:rPr lang="zh-CN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模块、库、包</a:t>
            </a:r>
          </a:p>
        </p:txBody>
      </p:sp>
    </p:spTree>
    <p:extLst>
      <p:ext uri="{BB962C8B-B14F-4D97-AF65-F5344CB8AC3E}">
        <p14:creationId xmlns:p14="http://schemas.microsoft.com/office/powerpoint/2010/main" val="789436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51384" y="1124744"/>
            <a:ext cx="10972800" cy="424847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rgbClr val="00B050"/>
                </a:solidFill>
              </a:rPr>
              <a:t>库（</a:t>
            </a:r>
            <a:r>
              <a:rPr lang="en-US" altLang="zh-CN" dirty="0">
                <a:solidFill>
                  <a:srgbClr val="00B050"/>
                </a:solidFill>
              </a:rPr>
              <a:t>lib</a:t>
            </a:r>
            <a:r>
              <a:rPr lang="zh-CN" altLang="zh-CN" dirty="0">
                <a:solidFill>
                  <a:srgbClr val="00B050"/>
                </a:solidFill>
              </a:rPr>
              <a:t>）</a:t>
            </a:r>
            <a:r>
              <a:rPr lang="zh-CN" altLang="en-US" dirty="0">
                <a:solidFill>
                  <a:srgbClr val="00B050"/>
                </a:solidFill>
              </a:rPr>
              <a:t>：</a:t>
            </a:r>
            <a:r>
              <a:rPr lang="zh-CN" altLang="zh-CN" b="0" dirty="0">
                <a:solidFill>
                  <a:schemeClr val="tx1"/>
                </a:solidFill>
              </a:rPr>
              <a:t>是具有相关功能模块的集合。库是一个抽象概念，任意一个模块或包都可以称为库。</a:t>
            </a:r>
            <a:endParaRPr lang="en-US" altLang="zh-CN" b="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标准库</a:t>
            </a: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自带的库。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math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random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等模块都是其中的一模块。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第三方库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就是第三方发布的具有特定功能的模块。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pandas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scikit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-learn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TensorFlow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Keras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SciPy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自定义模块  </a:t>
            </a:r>
            <a:r>
              <a:rPr lang="zh-CN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用户自己可以自行编写模块，然后使用。</a:t>
            </a:r>
          </a:p>
        </p:txBody>
      </p:sp>
      <p:sp>
        <p:nvSpPr>
          <p:cNvPr id="3" name="矩形 2"/>
          <p:cNvSpPr/>
          <p:nvPr/>
        </p:nvSpPr>
        <p:spPr>
          <a:xfrm>
            <a:off x="551384" y="116632"/>
            <a:ext cx="2991525" cy="7369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7.5 </a:t>
            </a:r>
            <a:r>
              <a:rPr lang="zh-CN" altLang="zh-CN" sz="2800" b="1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模块、库、包</a:t>
            </a:r>
          </a:p>
        </p:txBody>
      </p:sp>
    </p:spTree>
    <p:extLst>
      <p:ext uri="{BB962C8B-B14F-4D97-AF65-F5344CB8AC3E}">
        <p14:creationId xmlns:p14="http://schemas.microsoft.com/office/powerpoint/2010/main" val="973611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983432" y="609688"/>
            <a:ext cx="8686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7.6 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综合应用</a:t>
            </a:r>
          </a:p>
        </p:txBody>
      </p:sp>
      <p:sp>
        <p:nvSpPr>
          <p:cNvPr id="27651" name="Text Box 4" descr="蓝色砂纸"/>
          <p:cNvSpPr txBox="1">
            <a:spLocks noChangeArrowheads="1"/>
          </p:cNvSpPr>
          <p:nvPr/>
        </p:nvSpPr>
        <p:spPr bwMode="auto">
          <a:xfrm>
            <a:off x="983432" y="1828139"/>
            <a:ext cx="10729192" cy="432426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import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datetime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MyDate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	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__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__(self):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t=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datetime.datetime.now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	# </a:t>
            </a:r>
            <a:r>
              <a:rPr lang="zh-CN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获取当前时间</a:t>
            </a: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self.MyYear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t.year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self.MyMonth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t.month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self.MyDay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t.day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NextDate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(self):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TotalDays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=[[31, 28, 31, 30, 31, 30, 31, 31, 30, 31, 30, 31],\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     [31, 29, 31, 30, 31, 30, 31, 31, 30, 31, 30, 31]]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self.MyDay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self.MyDay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+ 1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0963" y="1268760"/>
            <a:ext cx="108732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例</a:t>
            </a:r>
            <a:r>
              <a:rPr lang="en-US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7.8  </a:t>
            </a:r>
            <a:r>
              <a:rPr lang="zh-CN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定义一个时间类</a:t>
            </a:r>
            <a:r>
              <a:rPr lang="en-US" altLang="zh-CN" sz="2000" b="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MyDate</a:t>
            </a:r>
            <a:r>
              <a:rPr lang="zh-CN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，具有年、月、日三个属性，以及一个求第二天日期的函数</a:t>
            </a:r>
          </a:p>
        </p:txBody>
      </p:sp>
    </p:spTree>
    <p:extLst>
      <p:ext uri="{BB962C8B-B14F-4D97-AF65-F5344CB8AC3E}">
        <p14:creationId xmlns:p14="http://schemas.microsoft.com/office/powerpoint/2010/main" val="2947036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4" descr="蓝色砂纸"/>
          <p:cNvSpPr txBox="1">
            <a:spLocks noChangeArrowheads="1"/>
          </p:cNvSpPr>
          <p:nvPr/>
        </p:nvSpPr>
        <p:spPr bwMode="auto">
          <a:xfrm>
            <a:off x="695400" y="764704"/>
            <a:ext cx="10585176" cy="5478423"/>
          </a:xfrm>
          <a:prstGeom prst="rect">
            <a:avLst/>
          </a:prstGeom>
          <a:noFill/>
          <a:ln w="28575">
            <a:solidFill>
              <a:srgbClr val="000099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leap = ((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self.MyYear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% 400==0) or (self.MyYear%4==0 and self.MyYear%100!=0)) 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if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self.MyDay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&gt;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TotalDays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[leap][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self.MyMonth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- 1]:      #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下标从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开始的，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月对应下标为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self.MyDay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 1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self.MyMonth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self.MyMonth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+ 1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if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self.MyMonth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&gt;12: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self.MyMonth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=1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self.MyYear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self.MyYear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+ 1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Disp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(self):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self.MyYear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self.MyMonth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self.MyDay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d=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MyDate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d.NextDate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d.Disp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45357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 descr="蓝色砂纸"/>
          <p:cNvSpPr txBox="1">
            <a:spLocks noChangeArrowheads="1"/>
          </p:cNvSpPr>
          <p:nvPr/>
        </p:nvSpPr>
        <p:spPr bwMode="auto">
          <a:xfrm>
            <a:off x="623392" y="1124744"/>
            <a:ext cx="11089231" cy="5078313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>
                <a:solidFill>
                  <a:srgbClr val="339933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</a:rPr>
              <a:t>class</a:t>
            </a:r>
            <a:r>
              <a:rPr lang="en-US" altLang="zh-CN" sz="2400" dirty="0">
                <a:solidFill>
                  <a:srgbClr val="000066"/>
                </a:solidFill>
              </a:rPr>
              <a:t> </a:t>
            </a:r>
            <a:r>
              <a:rPr lang="zh-CN" altLang="en-US" sz="2400" dirty="0">
                <a:solidFill>
                  <a:srgbClr val="000066"/>
                </a:solidFill>
              </a:rPr>
              <a:t>类名</a:t>
            </a:r>
            <a:r>
              <a:rPr lang="en-US" altLang="zh-CN" sz="2400" dirty="0">
                <a:solidFill>
                  <a:srgbClr val="000066"/>
                </a:solidFill>
              </a:rPr>
              <a:t>:</a:t>
            </a:r>
          </a:p>
          <a:p>
            <a:r>
              <a:rPr lang="en-US" altLang="zh-CN" sz="2400" dirty="0">
                <a:solidFill>
                  <a:srgbClr val="000066"/>
                </a:solidFill>
              </a:rPr>
              <a:t>    </a:t>
            </a:r>
            <a:r>
              <a:rPr lang="en-US" altLang="zh-CN" sz="2400" dirty="0" err="1">
                <a:solidFill>
                  <a:srgbClr val="000066"/>
                </a:solidFill>
              </a:rPr>
              <a:t>def</a:t>
            </a:r>
            <a:r>
              <a:rPr lang="en-US" altLang="zh-CN" sz="2400" dirty="0">
                <a:solidFill>
                  <a:srgbClr val="000066"/>
                </a:solidFill>
              </a:rPr>
              <a:t>  __</a:t>
            </a:r>
            <a:r>
              <a:rPr lang="en-US" altLang="zh-CN" sz="2400" dirty="0" err="1">
                <a:solidFill>
                  <a:srgbClr val="000066"/>
                </a:solidFill>
              </a:rPr>
              <a:t>init</a:t>
            </a:r>
            <a:r>
              <a:rPr lang="en-US" altLang="zh-CN" sz="2400" dirty="0">
                <a:solidFill>
                  <a:srgbClr val="000066"/>
                </a:solidFill>
              </a:rPr>
              <a:t>__(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  <a:r>
              <a:rPr lang="en-US" altLang="zh-CN" sz="2400" dirty="0">
                <a:solidFill>
                  <a:srgbClr val="000066"/>
                </a:solidFill>
              </a:rPr>
              <a:t>, </a:t>
            </a:r>
            <a:r>
              <a:rPr lang="zh-CN" altLang="en-US" sz="2400" dirty="0">
                <a:solidFill>
                  <a:srgbClr val="000066"/>
                </a:solidFill>
              </a:rPr>
              <a:t>形参列表</a:t>
            </a:r>
            <a:r>
              <a:rPr lang="en-US" altLang="zh-CN" sz="2400" dirty="0">
                <a:solidFill>
                  <a:srgbClr val="000066"/>
                </a:solidFill>
              </a:rPr>
              <a:t>):  # </a:t>
            </a:r>
            <a:r>
              <a:rPr lang="zh-CN" altLang="en-US" sz="2400" dirty="0">
                <a:solidFill>
                  <a:srgbClr val="000066"/>
                </a:solidFill>
              </a:rPr>
              <a:t>构造函数</a:t>
            </a:r>
            <a:endParaRPr lang="en-US" altLang="zh-CN" sz="2400" dirty="0">
              <a:solidFill>
                <a:srgbClr val="000066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# </a:t>
            </a:r>
            <a:r>
              <a:rPr lang="zh-CN" altLang="en-US" sz="2400" dirty="0">
                <a:solidFill>
                  <a:srgbClr val="000066"/>
                </a:solidFill>
              </a:rPr>
              <a:t>当一个类中，不编写 </a:t>
            </a:r>
            <a:r>
              <a:rPr lang="en-US" altLang="zh-CN" sz="2400" dirty="0">
                <a:solidFill>
                  <a:srgbClr val="000066"/>
                </a:solidFill>
              </a:rPr>
              <a:t>__</a:t>
            </a:r>
            <a:r>
              <a:rPr lang="en-US" altLang="zh-CN" sz="2400" dirty="0" err="1">
                <a:solidFill>
                  <a:srgbClr val="000066"/>
                </a:solidFill>
              </a:rPr>
              <a:t>init</a:t>
            </a:r>
            <a:r>
              <a:rPr lang="en-US" altLang="zh-CN" sz="2400" dirty="0">
                <a:solidFill>
                  <a:srgbClr val="000066"/>
                </a:solidFill>
              </a:rPr>
              <a:t>__</a:t>
            </a:r>
            <a:r>
              <a:rPr lang="zh-CN" altLang="en-US" sz="2400" dirty="0">
                <a:solidFill>
                  <a:srgbClr val="000066"/>
                </a:solidFill>
              </a:rPr>
              <a:t>函数时，系统自动提供无参的构造，类似定义了一个  </a:t>
            </a:r>
            <a:r>
              <a:rPr lang="en-US" altLang="zh-CN" sz="2400" dirty="0">
                <a:solidFill>
                  <a:srgbClr val="000066"/>
                </a:solidFill>
              </a:rPr>
              <a:t>__</a:t>
            </a:r>
            <a:r>
              <a:rPr lang="en-US" altLang="zh-CN" sz="2400" dirty="0" err="1">
                <a:solidFill>
                  <a:srgbClr val="000066"/>
                </a:solidFill>
              </a:rPr>
              <a:t>init</a:t>
            </a:r>
            <a:r>
              <a:rPr lang="en-US" altLang="zh-CN" sz="2400" dirty="0">
                <a:solidFill>
                  <a:srgbClr val="000066"/>
                </a:solidFill>
              </a:rPr>
              <a:t>__(self) </a:t>
            </a:r>
            <a:r>
              <a:rPr lang="zh-CN" altLang="en-US" sz="2400" dirty="0">
                <a:solidFill>
                  <a:srgbClr val="000066"/>
                </a:solidFill>
              </a:rPr>
              <a:t>的函数</a:t>
            </a:r>
            <a:endParaRPr lang="en-US" altLang="zh-CN" sz="2400" dirty="0">
              <a:solidFill>
                <a:srgbClr val="000066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# </a:t>
            </a:r>
            <a:r>
              <a:rPr lang="zh-CN" altLang="en-US" sz="2400" dirty="0">
                <a:solidFill>
                  <a:srgbClr val="FF0000"/>
                </a:solidFill>
              </a:rPr>
              <a:t>对象实例化时调用构造函数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，从而决定实参的内容</a:t>
            </a:r>
            <a:endParaRPr lang="zh-CN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    ...</a:t>
            </a:r>
          </a:p>
          <a:p>
            <a:r>
              <a:rPr lang="en-US" altLang="zh-CN" sz="2400" dirty="0">
                <a:solidFill>
                  <a:srgbClr val="000066"/>
                </a:solidFill>
              </a:rPr>
              <a:t>    </a:t>
            </a:r>
            <a:r>
              <a:rPr lang="en-US" altLang="zh-CN" sz="2400" dirty="0" err="1">
                <a:solidFill>
                  <a:srgbClr val="000066"/>
                </a:solidFill>
              </a:rPr>
              <a:t>def</a:t>
            </a:r>
            <a:r>
              <a:rPr lang="en-US" altLang="zh-CN" sz="2400" dirty="0">
                <a:solidFill>
                  <a:srgbClr val="000066"/>
                </a:solidFill>
              </a:rPr>
              <a:t>  </a:t>
            </a:r>
            <a:r>
              <a:rPr lang="zh-CN" altLang="en-US" sz="2400" dirty="0">
                <a:solidFill>
                  <a:srgbClr val="000066"/>
                </a:solidFill>
              </a:rPr>
              <a:t>函数名</a:t>
            </a:r>
            <a:r>
              <a:rPr lang="en-US" altLang="zh-CN" sz="2400" dirty="0">
                <a:solidFill>
                  <a:srgbClr val="000066"/>
                </a:solidFill>
              </a:rPr>
              <a:t>1(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  <a:r>
              <a:rPr lang="en-US" altLang="zh-CN" sz="2400" dirty="0">
                <a:solidFill>
                  <a:srgbClr val="000066"/>
                </a:solidFill>
              </a:rPr>
              <a:t>,</a:t>
            </a:r>
            <a:r>
              <a:rPr lang="zh-CN" altLang="en-US" sz="2400" dirty="0">
                <a:solidFill>
                  <a:srgbClr val="000066"/>
                </a:solidFill>
              </a:rPr>
              <a:t>形参列表</a:t>
            </a:r>
            <a:r>
              <a:rPr lang="en-US" altLang="zh-CN" sz="2400" dirty="0">
                <a:solidFill>
                  <a:srgbClr val="000066"/>
                </a:solidFill>
              </a:rPr>
              <a:t>):  # </a:t>
            </a:r>
            <a:r>
              <a:rPr lang="zh-CN" altLang="en-US" sz="2400" dirty="0">
                <a:solidFill>
                  <a:srgbClr val="000066"/>
                </a:solidFill>
              </a:rPr>
              <a:t>函数</a:t>
            </a:r>
            <a:r>
              <a:rPr lang="en-US" altLang="zh-CN" sz="2400" dirty="0">
                <a:solidFill>
                  <a:srgbClr val="000066"/>
                </a:solidFill>
              </a:rPr>
              <a:t>1</a:t>
            </a:r>
            <a:endParaRPr lang="zh-CN" altLang="zh-CN" sz="2400" dirty="0">
              <a:solidFill>
                <a:srgbClr val="000066"/>
              </a:solidFill>
            </a:endParaRPr>
          </a:p>
          <a:p>
            <a:r>
              <a:rPr lang="en-US" altLang="zh-CN" sz="2400" dirty="0">
                <a:solidFill>
                  <a:srgbClr val="000066"/>
                </a:solidFill>
              </a:rPr>
              <a:t>      ...</a:t>
            </a:r>
          </a:p>
          <a:p>
            <a:r>
              <a:rPr lang="en-US" altLang="zh-CN" sz="2400" dirty="0">
                <a:solidFill>
                  <a:srgbClr val="000066"/>
                </a:solidFill>
              </a:rPr>
              <a:t>    </a:t>
            </a:r>
            <a:r>
              <a:rPr lang="en-US" altLang="zh-CN" sz="2400" dirty="0" err="1">
                <a:solidFill>
                  <a:srgbClr val="000066"/>
                </a:solidFill>
              </a:rPr>
              <a:t>def</a:t>
            </a:r>
            <a:r>
              <a:rPr lang="en-US" altLang="zh-CN" sz="2400" dirty="0">
                <a:solidFill>
                  <a:srgbClr val="000066"/>
                </a:solidFill>
              </a:rPr>
              <a:t>  </a:t>
            </a:r>
            <a:r>
              <a:rPr lang="zh-CN" altLang="en-US" sz="2400" dirty="0">
                <a:solidFill>
                  <a:srgbClr val="000066"/>
                </a:solidFill>
              </a:rPr>
              <a:t>函数名</a:t>
            </a:r>
            <a:r>
              <a:rPr lang="en-US" altLang="zh-CN" sz="2400" dirty="0">
                <a:solidFill>
                  <a:srgbClr val="000066"/>
                </a:solidFill>
              </a:rPr>
              <a:t>n(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  <a:r>
              <a:rPr lang="en-US" altLang="zh-CN" sz="2400" dirty="0">
                <a:solidFill>
                  <a:srgbClr val="000066"/>
                </a:solidFill>
              </a:rPr>
              <a:t>,</a:t>
            </a:r>
            <a:r>
              <a:rPr lang="zh-CN" altLang="en-US" sz="2400" dirty="0">
                <a:solidFill>
                  <a:srgbClr val="000066"/>
                </a:solidFill>
              </a:rPr>
              <a:t>形参列表</a:t>
            </a:r>
            <a:r>
              <a:rPr lang="en-US" altLang="zh-CN" sz="2400" dirty="0">
                <a:solidFill>
                  <a:srgbClr val="000066"/>
                </a:solidFill>
              </a:rPr>
              <a:t>):  # </a:t>
            </a:r>
            <a:r>
              <a:rPr lang="zh-CN" altLang="en-US" sz="2400" dirty="0">
                <a:solidFill>
                  <a:srgbClr val="000066"/>
                </a:solidFill>
              </a:rPr>
              <a:t>函数</a:t>
            </a:r>
            <a:r>
              <a:rPr lang="en-US" altLang="zh-CN" sz="2400" dirty="0">
                <a:solidFill>
                  <a:srgbClr val="000066"/>
                </a:solidFill>
              </a:rPr>
              <a:t>n</a:t>
            </a:r>
          </a:p>
          <a:p>
            <a:endParaRPr lang="en-US" altLang="zh-CN" sz="2400" dirty="0">
              <a:solidFill>
                <a:srgbClr val="000066"/>
              </a:solidFill>
            </a:endParaRPr>
          </a:p>
          <a:p>
            <a:endParaRPr lang="en-US" altLang="zh-CN" sz="2400" dirty="0">
              <a:solidFill>
                <a:srgbClr val="000066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类的每个函数的定义时，第一个参数，都是</a:t>
            </a:r>
            <a:r>
              <a:rPr lang="en-US" altLang="zh-CN" sz="2400" dirty="0">
                <a:solidFill>
                  <a:srgbClr val="FF0000"/>
                </a:solidFill>
              </a:rPr>
              <a:t>self</a:t>
            </a:r>
          </a:p>
          <a:p>
            <a:pPr indent="-285750"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51384" y="188640"/>
            <a:ext cx="9865096" cy="6469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   类的定义语法格式，此页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请背诵牢记</a:t>
            </a:r>
          </a:p>
        </p:txBody>
      </p:sp>
    </p:spTree>
    <p:extLst>
      <p:ext uri="{BB962C8B-B14F-4D97-AF65-F5344CB8AC3E}">
        <p14:creationId xmlns:p14="http://schemas.microsoft.com/office/powerpoint/2010/main" val="2183971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 descr="蓝色砂纸"/>
          <p:cNvSpPr txBox="1">
            <a:spLocks noChangeArrowheads="1"/>
          </p:cNvSpPr>
          <p:nvPr/>
        </p:nvSpPr>
        <p:spPr bwMode="auto">
          <a:xfrm>
            <a:off x="623392" y="1124744"/>
            <a:ext cx="11089231" cy="4524315"/>
          </a:xfrm>
          <a:prstGeom prst="rect">
            <a:avLst/>
          </a:prstGeom>
          <a:solidFill>
            <a:schemeClr val="bg1"/>
          </a:solidFill>
          <a:ln w="12700">
            <a:solidFill>
              <a:srgbClr val="000099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buNone/>
              <a:defRPr>
                <a:solidFill>
                  <a:srgbClr val="339933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生成对象，格式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对象名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实参列表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对标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__()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函数的定义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调用类的函数，格式：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对象名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实参列表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调用类的属性，格式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对象名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类内不同函数间的调用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self.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实参表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551384" y="188640"/>
            <a:ext cx="9865096" cy="6469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类的调用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6620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 descr="蓝色砂纸"/>
          <p:cNvSpPr txBox="1">
            <a:spLocks noChangeArrowheads="1"/>
          </p:cNvSpPr>
          <p:nvPr/>
        </p:nvSpPr>
        <p:spPr bwMode="auto">
          <a:xfrm>
            <a:off x="191345" y="908720"/>
            <a:ext cx="5832647" cy="452431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类定义</a:t>
            </a:r>
            <a:endParaRPr lang="en-US" altLang="zh-CN" sz="28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import math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Equation: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__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self,x,y,z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self.a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=x;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self.b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=y;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self.c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=z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def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solve(self):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delta=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self.b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**2 - 4.0*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self.a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self.c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if (delta&gt;=0):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root1=(-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self.b+math.sqrt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(delta))/(2*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self.a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root2=(-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self.b-math.sqrt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(delta))/(2*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self.a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ans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=[root1,root2]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return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ans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else: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return []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1344" y="91387"/>
            <a:ext cx="104191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类定义  类调用  比对例子</a:t>
            </a:r>
            <a:endParaRPr lang="zh-CN" altLang="zh-CN" sz="40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4" descr="蓝色砂纸"/>
          <p:cNvSpPr txBox="1">
            <a:spLocks noChangeArrowheads="1"/>
          </p:cNvSpPr>
          <p:nvPr/>
        </p:nvSpPr>
        <p:spPr bwMode="auto">
          <a:xfrm>
            <a:off x="6180347" y="2262936"/>
            <a:ext cx="5591944" cy="230832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类调用</a:t>
            </a:r>
            <a:endParaRPr lang="en-US" altLang="zh-CN" sz="24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equ</a:t>
            </a: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=Equation(1,-3,2)   # </a:t>
            </a: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实例化，看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函数</a:t>
            </a:r>
            <a:endParaRPr lang="zh-CN" altLang="zh-CN" sz="24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roots=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equ.solve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  # 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调用时，</a:t>
            </a: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</a:t>
            </a: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忽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略</a:t>
            </a:r>
            <a:endParaRPr lang="zh-CN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print(roots)</a:t>
            </a: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print(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equ.a</a:t>
            </a: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equ.b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  # 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输出对象属性数据</a:t>
            </a:r>
            <a:endParaRPr lang="zh-CN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" name="直接箭头连接符 5"/>
          <p:cNvCxnSpPr/>
          <p:nvPr/>
        </p:nvCxnSpPr>
        <p:spPr bwMode="auto">
          <a:xfrm>
            <a:off x="1919536" y="2780928"/>
            <a:ext cx="5832648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直接箭头连接符 7"/>
          <p:cNvCxnSpPr/>
          <p:nvPr/>
        </p:nvCxnSpPr>
        <p:spPr bwMode="auto">
          <a:xfrm flipH="1" flipV="1">
            <a:off x="3143672" y="2204864"/>
            <a:ext cx="3672408" cy="5760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8746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4" descr="蓝色砂纸">
            <a:extLst>
              <a:ext uri="{FF2B5EF4-FFF2-40B4-BE49-F238E27FC236}">
                <a16:creationId xmlns:a16="http://schemas.microsoft.com/office/drawing/2014/main" id="{CE3510FB-5C7D-4E5B-9954-0564F76C5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1052736"/>
            <a:ext cx="10873208" cy="5324535"/>
          </a:xfrm>
          <a:prstGeom prst="rect">
            <a:avLst/>
          </a:prstGeom>
          <a:noFill/>
          <a:ln w="28575">
            <a:solidFill>
              <a:srgbClr val="000099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buNone/>
              <a:defRPr b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import math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Circle: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def __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self,x,y,r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self.x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=x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self.y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=y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=r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def area(self):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return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math.pi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**2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class  Cylinder(Circle):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def __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self,x,y,r,h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Circle.__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init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__(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self,x,y,r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self.h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=h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def volume(self):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return </a:t>
            </a:r>
            <a:r>
              <a:rPr lang="en-US" altLang="zh-CN" sz="20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self.area</a:t>
            </a:r>
            <a:r>
              <a:rPr lang="en-US" altLang="zh-CN" sz="20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()*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self.h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#  </a:t>
            </a:r>
            <a:r>
              <a:rPr lang="zh-CN" altLang="en-US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类内的函数调用同类的其他函数方案 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p=Cylinder(0,0,2,3)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p.area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print(</a:t>
            </a:r>
            <a:r>
              <a:rPr lang="en-US" altLang="zh-CN" sz="20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p.volume</a:t>
            </a:r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())</a:t>
            </a:r>
            <a:endParaRPr lang="zh-CN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1384" y="548680"/>
            <a:ext cx="111520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7.9  </a:t>
            </a:r>
            <a:r>
              <a:rPr lang="zh-CN" altLang="zh-CN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zh-CN" altLang="en-US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</a:t>
            </a:r>
            <a:r>
              <a:rPr lang="zh-CN" altLang="zh-CN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</a:t>
            </a:r>
            <a:r>
              <a:rPr lang="zh-CN" altLang="en-US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派生出</a:t>
            </a:r>
            <a:r>
              <a:rPr lang="zh-CN" altLang="zh-CN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圆柱体类</a:t>
            </a:r>
            <a:r>
              <a:rPr lang="en-US" altLang="zh-CN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Cylinder</a:t>
            </a:r>
            <a:r>
              <a:rPr lang="zh-CN" altLang="zh-CN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，它具有新属性</a:t>
            </a:r>
            <a:r>
              <a:rPr lang="en-US" altLang="zh-CN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</a:t>
            </a:r>
            <a:r>
              <a:rPr lang="zh-CN" altLang="zh-CN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（高度）和计算体积的</a:t>
            </a:r>
            <a:r>
              <a:rPr lang="en-US" altLang="zh-CN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volume</a:t>
            </a:r>
            <a:r>
              <a:rPr lang="zh-CN" altLang="zh-CN" sz="20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函数。</a:t>
            </a:r>
          </a:p>
        </p:txBody>
      </p:sp>
    </p:spTree>
    <p:extLst>
      <p:ext uri="{BB962C8B-B14F-4D97-AF65-F5344CB8AC3E}">
        <p14:creationId xmlns:p14="http://schemas.microsoft.com/office/powerpoint/2010/main" val="22363820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767408" y="260648"/>
            <a:ext cx="7772400" cy="792163"/>
          </a:xfrm>
        </p:spPr>
        <p:txBody>
          <a:bodyPr anchor="b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对象列表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738351" y="1412776"/>
            <a:ext cx="8061325" cy="1655763"/>
          </a:xfrm>
          <a:solidFill>
            <a:schemeClr val="bg1"/>
          </a:solidFill>
          <a:ln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525463" indent="-457200" eaLnBrk="1" hangingPunct="1"/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列表的每个元素，是一个对象，例如，学生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25463" indent="-457200" eaLnBrk="1" hangingPunct="1"/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操作如排序、查找，需要考虑对象的多种属性，特殊处理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540013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360" y="188914"/>
            <a:ext cx="8280400" cy="682625"/>
          </a:xfrm>
        </p:spPr>
        <p:txBody>
          <a:bodyPr anchor="b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对象列表的排序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35360" y="2996952"/>
            <a:ext cx="11030451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411163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zh-CN" altLang="en-US" sz="2400" dirty="0">
                <a:solidFill>
                  <a:schemeClr val="tx2"/>
                </a:solidFill>
              </a:rPr>
              <a:t>对象列表的排序，需要</a:t>
            </a:r>
            <a:r>
              <a:rPr lang="en-US" altLang="zh-CN" sz="2400" dirty="0">
                <a:solidFill>
                  <a:schemeClr val="tx2"/>
                </a:solidFill>
              </a:rPr>
              <a:t>lambda</a:t>
            </a:r>
            <a:r>
              <a:rPr lang="zh-CN" altLang="en-US" sz="2400" dirty="0">
                <a:solidFill>
                  <a:schemeClr val="tx2"/>
                </a:solidFill>
              </a:rPr>
              <a:t>表达式，图中的列表，按最后一列成绩排序</a:t>
            </a:r>
            <a:endParaRPr lang="en-US" altLang="zh-CN" sz="2400" dirty="0">
              <a:solidFill>
                <a:schemeClr val="tx2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0" y="1500916"/>
            <a:ext cx="5952661" cy="1368152"/>
          </a:xfrm>
          <a:prstGeom prst="rect">
            <a:avLst/>
          </a:prstGeom>
        </p:spPr>
      </p:pic>
      <p:sp>
        <p:nvSpPr>
          <p:cNvPr id="9" name="内容占位符 2"/>
          <p:cNvSpPr txBox="1">
            <a:spLocks/>
          </p:cNvSpPr>
          <p:nvPr/>
        </p:nvSpPr>
        <p:spPr bwMode="auto">
          <a:xfrm>
            <a:off x="361720" y="3828784"/>
            <a:ext cx="11004091" cy="132840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411163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现场字条 ，下列式子中，</a:t>
            </a:r>
            <a:r>
              <a:rPr lang="en-US" altLang="zh-CN" sz="2400" dirty="0">
                <a:solidFill>
                  <a:schemeClr val="tx2"/>
                </a:solidFill>
              </a:rPr>
              <a:t>xxx</a:t>
            </a:r>
            <a:r>
              <a:rPr lang="zh-CN" altLang="en-US" sz="2400" dirty="0">
                <a:solidFill>
                  <a:schemeClr val="tx2"/>
                </a:solidFill>
              </a:rPr>
              <a:t>填写什么？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algn="just"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L1.sort(key=lambda o:     xxx   )      o[4]   </a:t>
            </a:r>
            <a:r>
              <a:rPr lang="zh-CN" altLang="en-US" sz="2400" dirty="0">
                <a:solidFill>
                  <a:schemeClr val="tx2"/>
                </a:solidFill>
              </a:rPr>
              <a:t>或 </a:t>
            </a:r>
            <a:r>
              <a:rPr lang="en-US" altLang="zh-CN" sz="2400" dirty="0">
                <a:solidFill>
                  <a:schemeClr val="tx2"/>
                </a:solidFill>
              </a:rPr>
              <a:t>o[-1]  ,</a:t>
            </a:r>
            <a:r>
              <a:rPr lang="zh-CN" altLang="en-US" sz="2400" dirty="0">
                <a:solidFill>
                  <a:schemeClr val="tx2"/>
                </a:solidFill>
              </a:rPr>
              <a:t>因为</a:t>
            </a:r>
            <a:r>
              <a:rPr lang="en-US" altLang="zh-CN" sz="2400" dirty="0">
                <a:solidFill>
                  <a:schemeClr val="tx2"/>
                </a:solidFill>
              </a:rPr>
              <a:t>o</a:t>
            </a:r>
            <a:r>
              <a:rPr lang="zh-CN" altLang="en-US" sz="2400" dirty="0">
                <a:solidFill>
                  <a:schemeClr val="tx2"/>
                </a:solidFill>
              </a:rPr>
              <a:t>就是</a:t>
            </a:r>
            <a:r>
              <a:rPr lang="en-US" altLang="zh-CN" sz="2400" dirty="0">
                <a:solidFill>
                  <a:schemeClr val="tx2"/>
                </a:solidFill>
              </a:rPr>
              <a:t>L1</a:t>
            </a:r>
            <a:r>
              <a:rPr lang="zh-CN" altLang="en-US" sz="2400" dirty="0">
                <a:solidFill>
                  <a:schemeClr val="tx2"/>
                </a:solidFill>
              </a:rPr>
              <a:t>的一个对象，最后一列成绩，就是</a:t>
            </a:r>
            <a:r>
              <a:rPr lang="en-US" altLang="zh-CN" sz="2400" dirty="0">
                <a:solidFill>
                  <a:schemeClr val="tx2"/>
                </a:solidFill>
              </a:rPr>
              <a:t>o</a:t>
            </a:r>
            <a:r>
              <a:rPr lang="zh-CN" altLang="en-US" sz="2400" dirty="0">
                <a:solidFill>
                  <a:schemeClr val="tx2"/>
                </a:solidFill>
              </a:rPr>
              <a:t>的</a:t>
            </a:r>
            <a:r>
              <a:rPr lang="en-US" altLang="zh-CN" sz="2400" dirty="0">
                <a:solidFill>
                  <a:schemeClr val="tx2"/>
                </a:solidFill>
              </a:rPr>
              <a:t>-1</a:t>
            </a:r>
            <a:r>
              <a:rPr lang="zh-CN" altLang="en-US" sz="2400" dirty="0">
                <a:solidFill>
                  <a:schemeClr val="tx2"/>
                </a:solidFill>
              </a:rPr>
              <a:t>元素或第</a:t>
            </a:r>
            <a:r>
              <a:rPr lang="en-US" altLang="zh-CN" sz="2400" dirty="0">
                <a:solidFill>
                  <a:schemeClr val="tx2"/>
                </a:solidFill>
              </a:rPr>
              <a:t>4</a:t>
            </a:r>
            <a:r>
              <a:rPr lang="zh-CN" altLang="en-US" sz="2400" dirty="0">
                <a:solidFill>
                  <a:schemeClr val="tx2"/>
                </a:solidFill>
              </a:rPr>
              <a:t>元素</a:t>
            </a:r>
            <a:endParaRPr lang="en-US" altLang="zh-CN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34822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51384" y="260352"/>
            <a:ext cx="8280400" cy="914400"/>
          </a:xfrm>
        </p:spPr>
        <p:txBody>
          <a:bodyPr anchor="b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对象列表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40799" y="1174752"/>
            <a:ext cx="10944325" cy="14621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/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>
              <a:defRPr/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列表的元素可以是简单整数，也可以是对象。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eaLnBrk="1" hangingPunct="1">
              <a:defRPr/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一个班级学生期末考试成绩表，就是对象列表，以一行为参考，可以定义一个学生类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50180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2996952"/>
            <a:ext cx="6769100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9665678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>
          <a:xfrm>
            <a:off x="551384" y="116632"/>
            <a:ext cx="7772400" cy="792162"/>
          </a:xfrm>
        </p:spPr>
        <p:txBody>
          <a:bodyPr anchor="b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学生类</a:t>
            </a: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552097" y="919778"/>
            <a:ext cx="11273781" cy="5184576"/>
          </a:xfrm>
          <a:solidFill>
            <a:schemeClr val="bg1"/>
          </a:solidFill>
          <a:ln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68263" indent="0" eaLnBrk="1" hangingPunct="1">
              <a:lnSpc>
                <a:spcPct val="100000"/>
              </a:lnSpc>
              <a:buNone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属性： 学号、姓名、数学、物理、计算机</a:t>
            </a:r>
            <a:endParaRPr lang="en-US" altLang="zh-CN" sz="2000" b="1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8263" indent="0" eaLnBrk="1" hangingPunct="1">
              <a:lnSpc>
                <a:spcPct val="100000"/>
              </a:lnSpc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class Student:</a:t>
            </a:r>
          </a:p>
          <a:p>
            <a:pPr marL="68263" indent="0" eaLnBrk="1" hangingPunct="1">
              <a:lnSpc>
                <a:spcPct val="100000"/>
              </a:lnSpc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def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__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init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__(self, no,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name,math,phy,comp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):</a:t>
            </a:r>
          </a:p>
          <a:p>
            <a:pPr marL="68263" indent="0" eaLnBrk="1" hangingPunct="1">
              <a:lnSpc>
                <a:spcPct val="100000"/>
              </a:lnSpc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self.no = no</a:t>
            </a:r>
          </a:p>
          <a:p>
            <a:pPr marL="68263" indent="0" eaLnBrk="1" hangingPunct="1">
              <a:lnSpc>
                <a:spcPct val="100000"/>
              </a:lnSpc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self.name=name</a:t>
            </a:r>
          </a:p>
          <a:p>
            <a:pPr marL="68263" indent="0" eaLnBrk="1" hangingPunct="1">
              <a:lnSpc>
                <a:spcPct val="100000"/>
              </a:lnSpc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self.math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=math</a:t>
            </a:r>
          </a:p>
          <a:p>
            <a:pPr marL="68263" indent="0" eaLnBrk="1" hangingPunct="1">
              <a:lnSpc>
                <a:spcPct val="100000"/>
              </a:lnSpc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self.phy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phy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8263" indent="0" eaLnBrk="1" hangingPunct="1">
              <a:lnSpc>
                <a:spcPct val="100000"/>
              </a:lnSpc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self.comp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=comp</a:t>
            </a:r>
          </a:p>
          <a:p>
            <a:pPr marL="68263" indent="0" eaLnBrk="1" hangingPunct="1">
              <a:lnSpc>
                <a:spcPct val="100000"/>
              </a:lnSpc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def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disp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(self):</a:t>
            </a:r>
          </a:p>
          <a:p>
            <a:pPr marL="68263" indent="0" eaLnBrk="1" hangingPunct="1">
              <a:lnSpc>
                <a:spcPct val="100000"/>
              </a:lnSpc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s=self.no+'\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t'+self.name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+'\t'+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self.math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)+'\t'+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self.phy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)+'\t'+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self.comp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68263" indent="0" eaLnBrk="1" hangingPunct="1">
              <a:lnSpc>
                <a:spcPct val="100000"/>
              </a:lnSpc>
              <a:buNone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print(s)</a:t>
            </a:r>
            <a:endParaRPr lang="en-US" altLang="zh-CN" sz="2000" b="1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838598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35360" y="141592"/>
            <a:ext cx="8280400" cy="698500"/>
          </a:xfrm>
        </p:spPr>
        <p:txBody>
          <a:bodyPr anchor="b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对象列表的形成和遍历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6329" y="841615"/>
            <a:ext cx="5917704" cy="337947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/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  <a:defRPr/>
            </a:pPr>
            <a:r>
              <a:rPr lang="en-US" altLang="zh-CN" sz="2400" dirty="0"/>
              <a:t>li = []</a:t>
            </a:r>
          </a:p>
          <a:p>
            <a:pPr marL="68263" indent="0" eaLnBrk="1" hangingPunct="1">
              <a:buNone/>
              <a:defRPr/>
            </a:pPr>
            <a:r>
              <a:rPr lang="en-US" altLang="zh-CN" sz="2400" dirty="0"/>
              <a:t>s = Student('1200001','</a:t>
            </a:r>
            <a:r>
              <a:rPr lang="zh-CN" altLang="en-US" sz="2400" dirty="0"/>
              <a:t>许枫</a:t>
            </a:r>
            <a:r>
              <a:rPr lang="en-US" altLang="zh-CN" sz="2400" dirty="0"/>
              <a:t>',65,64,61)</a:t>
            </a:r>
          </a:p>
          <a:p>
            <a:pPr marL="68263" indent="0" eaLnBrk="1" hangingPunct="1">
              <a:buNone/>
              <a:defRPr/>
            </a:pPr>
            <a:r>
              <a:rPr lang="en-US" altLang="zh-CN" sz="2400" dirty="0" err="1"/>
              <a:t>li.append</a:t>
            </a:r>
            <a:r>
              <a:rPr lang="en-US" altLang="zh-CN" sz="2400" dirty="0"/>
              <a:t>(s)</a:t>
            </a:r>
          </a:p>
          <a:p>
            <a:pPr marL="68263" indent="0" eaLnBrk="1" hangingPunct="1">
              <a:buNone/>
              <a:defRPr/>
            </a:pPr>
            <a:r>
              <a:rPr lang="en-US" altLang="zh-CN" sz="2400" dirty="0"/>
              <a:t>s = Student('1200002', '</a:t>
            </a:r>
            <a:r>
              <a:rPr lang="zh-CN" altLang="en-US" sz="2400" dirty="0"/>
              <a:t>周杰</a:t>
            </a:r>
            <a:r>
              <a:rPr lang="en-US" altLang="zh-CN" sz="2400" dirty="0"/>
              <a:t>',76,65,72)</a:t>
            </a:r>
          </a:p>
          <a:p>
            <a:pPr marL="68263" indent="0" eaLnBrk="1" hangingPunct="1">
              <a:buNone/>
              <a:defRPr/>
            </a:pPr>
            <a:r>
              <a:rPr lang="en-US" altLang="zh-CN" sz="2400" dirty="0" err="1"/>
              <a:t>li.append</a:t>
            </a:r>
            <a:r>
              <a:rPr lang="en-US" altLang="zh-CN" sz="2400" dirty="0"/>
              <a:t>(s)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93316" y="4581128"/>
            <a:ext cx="11147299" cy="143986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/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  <a:defRPr/>
            </a:pPr>
            <a:r>
              <a:rPr lang="en-US" altLang="zh-CN" sz="2400" dirty="0"/>
              <a:t>for </a:t>
            </a:r>
            <a:r>
              <a:rPr lang="en-US" altLang="zh-CN" sz="2400" dirty="0" err="1"/>
              <a:t>stu</a:t>
            </a:r>
            <a:r>
              <a:rPr lang="en-US" altLang="zh-CN" sz="2400" dirty="0"/>
              <a:t> in li:</a:t>
            </a:r>
          </a:p>
          <a:p>
            <a:pPr marL="68263" indent="0" eaLnBrk="1" hangingPunct="1">
              <a:buNone/>
              <a:defRPr/>
            </a:pPr>
            <a:r>
              <a:rPr lang="en-US" altLang="zh-CN" sz="2400" dirty="0"/>
              <a:t>    print( </a:t>
            </a:r>
            <a:r>
              <a:rPr lang="en-US" altLang="zh-CN" sz="2400" dirty="0">
                <a:solidFill>
                  <a:schemeClr val="tx2"/>
                </a:solidFill>
              </a:rPr>
              <a:t>stu.no, stu.name, </a:t>
            </a:r>
            <a:r>
              <a:rPr lang="en-US" altLang="zh-CN" sz="2400" dirty="0" err="1">
                <a:solidFill>
                  <a:schemeClr val="tx2"/>
                </a:solidFill>
              </a:rPr>
              <a:t>stu.math,stu.phy</a:t>
            </a:r>
            <a:r>
              <a:rPr lang="en-US" altLang="zh-CN" sz="2400" dirty="0">
                <a:solidFill>
                  <a:schemeClr val="tx2"/>
                </a:solidFill>
              </a:rPr>
              <a:t>, </a:t>
            </a:r>
            <a:r>
              <a:rPr lang="en-US" altLang="zh-CN" sz="2400" dirty="0" err="1">
                <a:solidFill>
                  <a:schemeClr val="tx2"/>
                </a:solidFill>
              </a:rPr>
              <a:t>stu.comp</a:t>
            </a:r>
            <a:r>
              <a:rPr lang="en-US" altLang="zh-CN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33585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360" y="188914"/>
            <a:ext cx="8280400" cy="682625"/>
          </a:xfrm>
        </p:spPr>
        <p:txBody>
          <a:bodyPr anchor="b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对象列表的排序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60753" y="939744"/>
            <a:ext cx="11030451" cy="57606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411163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700"/>
              </a:spcBef>
              <a:buClr>
                <a:schemeClr val="tx2"/>
              </a:buClr>
              <a:buSzPct val="95000"/>
            </a:pPr>
            <a:r>
              <a:rPr lang="zh-CN" altLang="en-US" sz="2400" dirty="0">
                <a:solidFill>
                  <a:schemeClr val="tx2"/>
                </a:solidFill>
              </a:rPr>
              <a:t>对象列表的排序，需要</a:t>
            </a:r>
            <a:r>
              <a:rPr lang="en-US" altLang="zh-CN" sz="2400" dirty="0">
                <a:solidFill>
                  <a:schemeClr val="tx2"/>
                </a:solidFill>
              </a:rPr>
              <a:t>lambda</a:t>
            </a:r>
            <a:r>
              <a:rPr lang="zh-CN" altLang="en-US" sz="2400" dirty="0">
                <a:solidFill>
                  <a:schemeClr val="tx2"/>
                </a:solidFill>
              </a:rPr>
              <a:t>表达式，图中的列表，按最后一列成绩排序</a:t>
            </a:r>
            <a:endParaRPr lang="en-US" altLang="zh-CN" sz="2400" dirty="0">
              <a:solidFill>
                <a:schemeClr val="tx2"/>
              </a:solidFill>
            </a:endParaRPr>
          </a:p>
        </p:txBody>
      </p:sp>
      <p:sp>
        <p:nvSpPr>
          <p:cNvPr id="11" name="内容占位符 2"/>
          <p:cNvSpPr txBox="1">
            <a:spLocks/>
          </p:cNvSpPr>
          <p:nvPr/>
        </p:nvSpPr>
        <p:spPr bwMode="auto">
          <a:xfrm>
            <a:off x="397954" y="4437112"/>
            <a:ext cx="10487776" cy="16561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411163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li</a:t>
            </a:r>
            <a:r>
              <a:rPr lang="zh-CN" altLang="en-US" sz="2400" dirty="0">
                <a:solidFill>
                  <a:schemeClr val="tx2"/>
                </a:solidFill>
              </a:rPr>
              <a:t>每个元素是一个学生对象，则按</a:t>
            </a:r>
            <a:r>
              <a:rPr lang="zh-CN" altLang="en-US" b="1" dirty="0">
                <a:solidFill>
                  <a:schemeClr val="tx2"/>
                </a:solidFill>
              </a:rPr>
              <a:t>总分逆序</a:t>
            </a:r>
            <a:r>
              <a:rPr lang="zh-CN" altLang="en-US" sz="2400" dirty="0">
                <a:solidFill>
                  <a:schemeClr val="tx2"/>
                </a:solidFill>
              </a:rPr>
              <a:t>成绩排序的语句为   ：</a:t>
            </a:r>
            <a:r>
              <a:rPr lang="en-US" altLang="zh-CN" sz="2400" dirty="0">
                <a:solidFill>
                  <a:schemeClr val="tx2"/>
                </a:solidFill>
              </a:rPr>
              <a:t>xxx</a:t>
            </a:r>
            <a:r>
              <a:rPr lang="zh-CN" altLang="en-US" sz="2400" dirty="0">
                <a:solidFill>
                  <a:schemeClr val="tx2"/>
                </a:solidFill>
              </a:rPr>
              <a:t>是什么？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algn="just"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en-US" altLang="zh-CN" sz="2400" dirty="0" err="1">
                <a:solidFill>
                  <a:schemeClr val="tx2"/>
                </a:solidFill>
              </a:rPr>
              <a:t>li.sort</a:t>
            </a:r>
            <a:r>
              <a:rPr lang="en-US" altLang="zh-CN" sz="2400" dirty="0">
                <a:solidFill>
                  <a:schemeClr val="tx2"/>
                </a:solidFill>
              </a:rPr>
              <a:t>(key=lambda o:    xxx    )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513" y="1644570"/>
            <a:ext cx="4836500" cy="2245804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70779" y="1616435"/>
            <a:ext cx="5917704" cy="246063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/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  <a:defRPr/>
            </a:pPr>
            <a:r>
              <a:rPr lang="en-US" altLang="zh-CN" sz="2400" dirty="0"/>
              <a:t>li = []</a:t>
            </a:r>
          </a:p>
          <a:p>
            <a:pPr marL="68263" indent="0" eaLnBrk="1" hangingPunct="1">
              <a:buNone/>
              <a:defRPr/>
            </a:pPr>
            <a:r>
              <a:rPr lang="en-US" altLang="zh-CN" sz="2400" dirty="0"/>
              <a:t>s = Student('1200001','</a:t>
            </a:r>
            <a:r>
              <a:rPr lang="zh-CN" altLang="en-US" sz="2400" dirty="0"/>
              <a:t>许枫</a:t>
            </a:r>
            <a:r>
              <a:rPr lang="en-US" altLang="zh-CN" sz="2400" dirty="0"/>
              <a:t>',65,64,61)</a:t>
            </a:r>
          </a:p>
          <a:p>
            <a:pPr marL="68263" indent="0" eaLnBrk="1" hangingPunct="1">
              <a:buNone/>
              <a:defRPr/>
            </a:pPr>
            <a:r>
              <a:rPr lang="en-US" altLang="zh-CN" sz="2400" dirty="0" err="1"/>
              <a:t>li.append</a:t>
            </a:r>
            <a:r>
              <a:rPr lang="en-US" altLang="zh-CN" sz="2400" dirty="0"/>
              <a:t>(s)</a:t>
            </a:r>
          </a:p>
          <a:p>
            <a:pPr marL="68263" indent="0" eaLnBrk="1" hangingPunct="1">
              <a:buNone/>
              <a:defRPr/>
            </a:pPr>
            <a:r>
              <a:rPr lang="en-US" altLang="zh-CN" sz="2400" dirty="0"/>
              <a:t>s = Student('1200002', '</a:t>
            </a:r>
            <a:r>
              <a:rPr lang="zh-CN" altLang="en-US" sz="2400" dirty="0"/>
              <a:t>周杰</a:t>
            </a:r>
            <a:r>
              <a:rPr lang="en-US" altLang="zh-CN" sz="2400" dirty="0"/>
              <a:t>',76,65,72)</a:t>
            </a:r>
          </a:p>
          <a:p>
            <a:pPr marL="68263" indent="0" eaLnBrk="1" hangingPunct="1">
              <a:buNone/>
              <a:defRPr/>
            </a:pPr>
            <a:r>
              <a:rPr lang="en-US" altLang="zh-CN" sz="2400" dirty="0" err="1"/>
              <a:t>li.append</a:t>
            </a:r>
            <a:r>
              <a:rPr lang="en-US" altLang="zh-CN" sz="2400" dirty="0"/>
              <a:t>(s)</a:t>
            </a:r>
          </a:p>
        </p:txBody>
      </p:sp>
    </p:spTree>
    <p:extLst>
      <p:ext uri="{BB962C8B-B14F-4D97-AF65-F5344CB8AC3E}">
        <p14:creationId xmlns:p14="http://schemas.microsoft.com/office/powerpoint/2010/main" val="140332179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07368" y="188640"/>
            <a:ext cx="8280400" cy="792163"/>
          </a:xfrm>
        </p:spPr>
        <p:txBody>
          <a:bodyPr anchor="b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文件与对象列表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8" name="内容占位符 2"/>
          <p:cNvSpPr txBox="1">
            <a:spLocks/>
          </p:cNvSpPr>
          <p:nvPr/>
        </p:nvSpPr>
        <p:spPr bwMode="auto">
          <a:xfrm>
            <a:off x="551384" y="1298360"/>
            <a:ext cx="6408711" cy="489838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68263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700"/>
              </a:spcBef>
              <a:buClr>
                <a:schemeClr val="tx2"/>
              </a:buClr>
              <a:buSzPct val="95000"/>
              <a:buNone/>
            </a:pPr>
            <a:r>
              <a:rPr lang="zh-CN" altLang="en-US" sz="2000" dirty="0"/>
              <a:t>读文件</a:t>
            </a:r>
            <a:r>
              <a:rPr lang="en-US" altLang="zh-CN" sz="2000" dirty="0"/>
              <a:t>score.csv </a:t>
            </a:r>
            <a:r>
              <a:rPr lang="zh-CN" altLang="en-US" sz="2000" dirty="0"/>
              <a:t>形成学生列表，见图</a:t>
            </a:r>
            <a:endParaRPr lang="en-US" altLang="zh-CN" sz="2000" dirty="0"/>
          </a:p>
          <a:p>
            <a:pPr marL="525463" indent="-457200">
              <a:spcBef>
                <a:spcPts val="700"/>
              </a:spcBef>
              <a:buClr>
                <a:schemeClr val="tx2"/>
              </a:buClr>
              <a:buSzPct val="95000"/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</a:rPr>
              <a:t>读一行</a:t>
            </a:r>
            <a:r>
              <a:rPr lang="zh-CN" altLang="en-US" sz="2000">
                <a:solidFill>
                  <a:schemeClr val="tx2"/>
                </a:solidFill>
              </a:rPr>
              <a:t>，切割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525463" indent="-457200">
              <a:spcBef>
                <a:spcPts val="700"/>
              </a:spcBef>
              <a:buClr>
                <a:schemeClr val="tx2"/>
              </a:buClr>
              <a:buSzPct val="95000"/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</a:rPr>
              <a:t>切割后的数据形成一个学生对象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525463" indent="-457200">
              <a:spcBef>
                <a:spcPts val="700"/>
              </a:spcBef>
              <a:buClr>
                <a:schemeClr val="tx2"/>
              </a:buClr>
              <a:buSzPct val="95000"/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</a:rPr>
              <a:t>将新生成的学生对象追加到列表中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marL="525463" indent="-457200">
              <a:spcBef>
                <a:spcPts val="700"/>
              </a:spcBef>
              <a:buClr>
                <a:schemeClr val="tx2"/>
              </a:buClr>
              <a:buSzPct val="95000"/>
              <a:buFont typeface="+mj-lt"/>
              <a:buAutoNum type="arabicPeriod"/>
            </a:pPr>
            <a:endParaRPr lang="en-US" altLang="zh-CN" sz="2000" dirty="0">
              <a:solidFill>
                <a:schemeClr val="tx2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128" y="1314198"/>
            <a:ext cx="38481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3632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25562</TotalTime>
  <Words>5743</Words>
  <Application>Microsoft Office PowerPoint</Application>
  <PresentationFormat>宽屏</PresentationFormat>
  <Paragraphs>549</Paragraphs>
  <Slides>44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8" baseType="lpstr">
      <vt:lpstr>Arial Unicode MS</vt:lpstr>
      <vt:lpstr>等线</vt:lpstr>
      <vt:lpstr>黑体</vt:lpstr>
      <vt:lpstr>华文新魏</vt:lpstr>
      <vt:lpstr>微软雅黑</vt:lpstr>
      <vt:lpstr>微软雅黑 Light</vt:lpstr>
      <vt:lpstr>新宋体</vt:lpstr>
      <vt:lpstr>Arial</vt:lpstr>
      <vt:lpstr>Arial Black</vt:lpstr>
      <vt:lpstr>Bodoni MT Black</vt:lpstr>
      <vt:lpstr>Calibri</vt:lpstr>
      <vt:lpstr>Lucida Sans Unicode</vt:lpstr>
      <vt:lpstr>Wingdings</vt:lpstr>
      <vt:lpstr>主题1</vt:lpstr>
      <vt:lpstr>第7章  面向对象基础</vt:lpstr>
      <vt:lpstr>主要内容</vt:lpstr>
      <vt:lpstr>类与对象</vt:lpstr>
      <vt:lpstr>PowerPoint 演示文稿</vt:lpstr>
      <vt:lpstr>PowerPoint 演示文稿</vt:lpstr>
      <vt:lpstr>PowerPoint 演示文稿</vt:lpstr>
      <vt:lpstr>7.1.2  类的特点</vt:lpstr>
      <vt:lpstr>2. 继承性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对象列表</vt:lpstr>
      <vt:lpstr>对象列表的排序</vt:lpstr>
      <vt:lpstr>对象列表</vt:lpstr>
      <vt:lpstr>学生类</vt:lpstr>
      <vt:lpstr>对象列表的形成和遍历</vt:lpstr>
      <vt:lpstr>对象列表的排序</vt:lpstr>
      <vt:lpstr>文件与对象列表 </vt:lpstr>
    </vt:vector>
  </TitlesOfParts>
  <Company>Workgroup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软件技术基础</dc:title>
  <dc:creator/>
  <cp:revision>794</cp:revision>
  <dcterms:created xsi:type="dcterms:W3CDTF">2010-02-28T17:17:53Z</dcterms:created>
  <dcterms:modified xsi:type="dcterms:W3CDTF">2025-05-07T03:40:33Z</dcterms:modified>
</cp:coreProperties>
</file>