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8"/>
  </p:notesMasterIdLst>
  <p:sldIdLst>
    <p:sldId id="256" r:id="rId2"/>
    <p:sldId id="492" r:id="rId3"/>
    <p:sldId id="493" r:id="rId4"/>
    <p:sldId id="494" r:id="rId5"/>
    <p:sldId id="495" r:id="rId6"/>
    <p:sldId id="496" r:id="rId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0099"/>
    <a:srgbClr val="A7D9FF"/>
    <a:srgbClr val="000066"/>
    <a:srgbClr val="A50021"/>
    <a:srgbClr val="0000B4"/>
    <a:srgbClr val="000096"/>
    <a:srgbClr val="0000A8"/>
    <a:srgbClr val="00FFA8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2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4592A4-E237-4A56-9CB9-39DC0234BDB2}" type="datetimeFigureOut">
              <a:rPr lang="zh-CN" altLang="en-US"/>
              <a:pPr>
                <a:defRPr/>
              </a:pPr>
              <a:t>2025/4/16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41A3E1-9B29-4EC3-8654-927667BFF2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Python setup.py  install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427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jieba.load_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userdict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(“dict.txt”)    #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加载用户字典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 err="1"/>
              <a:t>jieba.add_word</a:t>
            </a:r>
            <a:r>
              <a:rPr lang="en-US" altLang="zh-CN" dirty="0"/>
              <a:t>(‘</a:t>
            </a:r>
            <a:r>
              <a:rPr lang="zh-CN" altLang="en-US" dirty="0"/>
              <a:t>计算机编程</a:t>
            </a:r>
            <a:r>
              <a:rPr lang="en-US" altLang="zh-CN" dirty="0"/>
              <a:t>’)     #</a:t>
            </a:r>
            <a:r>
              <a:rPr lang="zh-CN" altLang="en-US" dirty="0"/>
              <a:t>添加单词到字典</a:t>
            </a:r>
            <a:endParaRPr lang="en-US" altLang="zh-CN" dirty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133" dirty="0" err="1"/>
              <a:t>withWeight</a:t>
            </a:r>
            <a:r>
              <a:rPr lang="en-US" altLang="zh-CN" sz="2133" dirty="0"/>
              <a:t> </a:t>
            </a:r>
            <a:r>
              <a:rPr lang="zh-CN" altLang="en-US" sz="2133" dirty="0"/>
              <a:t>指定是否计算关键字的权重，权重大小不仅仅指词频，还反映词出现的普遍程度   </a:t>
            </a:r>
            <a:r>
              <a:rPr lang="en-US" altLang="zh-CN" sz="2133" dirty="0"/>
              <a:t>POS(part</a:t>
            </a:r>
            <a:r>
              <a:rPr lang="en-US" altLang="zh-CN" sz="2133" baseline="0" dirty="0"/>
              <a:t> </a:t>
            </a:r>
            <a:r>
              <a:rPr lang="en-US" altLang="zh-CN" sz="2133" baseline="0"/>
              <a:t>of speech</a:t>
            </a:r>
            <a:r>
              <a:rPr lang="en-US" altLang="zh-CN" sz="2133"/>
              <a:t>)</a:t>
            </a:r>
            <a:endParaRPr lang="en-US" altLang="zh-CN" sz="2133" dirty="0"/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47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3132138"/>
            <a:ext cx="9144000" cy="3725862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3125788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325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3415D4A-526D-4DC9-BF32-C7B8DBFED9D6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85750"/>
            <a:ext cx="19050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406525"/>
            <a:ext cx="7508875" cy="1470025"/>
          </a:xfrm>
        </p:spPr>
        <p:txBody>
          <a:bodyPr anchor="ctr"/>
          <a:lstStyle>
            <a:lvl1pPr algn="r">
              <a:defRPr sz="48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1063" y="3357562"/>
            <a:ext cx="5205412" cy="1085859"/>
          </a:xfrm>
        </p:spPr>
        <p:txBody>
          <a:bodyPr/>
          <a:lstStyle>
            <a:lvl1pPr marL="0" indent="0" algn="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6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68580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5025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02613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184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375400"/>
            <a:ext cx="9144000" cy="482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369050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412875"/>
            <a:ext cx="82931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8621713" y="6453188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6FD76A5C-5101-48E2-B4FF-7E96E16CB41A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39700"/>
            <a:ext cx="8275638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TextBox 6"/>
          <p:cNvSpPr txBox="1">
            <a:spLocks noChangeArrowheads="1"/>
          </p:cNvSpPr>
          <p:nvPr/>
        </p:nvSpPr>
        <p:spPr bwMode="auto">
          <a:xfrm>
            <a:off x="4763" y="6416675"/>
            <a:ext cx="3205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 err="1">
                <a:solidFill>
                  <a:schemeClr val="bg1"/>
                </a:solidFill>
              </a:rPr>
              <a:t>Tongji</a:t>
            </a:r>
            <a:r>
              <a:rPr lang="en-US" altLang="zh-CN" b="1" dirty="0">
                <a:solidFill>
                  <a:schemeClr val="bg1"/>
                </a:solidFill>
              </a:rPr>
              <a:t> University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032" name="Picture 9" descr="tongji university lo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15888"/>
            <a:ext cx="2124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3" r:id="rId3"/>
    <p:sldLayoutId id="2147483925" r:id="rId4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中文分词</a:t>
            </a:r>
            <a:r>
              <a:rPr lang="en-US" altLang="zh-CN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副标题 2"/>
          <p:cNvSpPr>
            <a:spLocks noGrp="1"/>
          </p:cNvSpPr>
          <p:nvPr>
            <p:ph type="subTitle" sz="quarter" idx="1"/>
          </p:nvPr>
        </p:nvSpPr>
        <p:spPr>
          <a:xfrm>
            <a:off x="3421063" y="3357562"/>
            <a:ext cx="5205412" cy="1439589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Bodoni MT Black"/>
              </a:rPr>
              <a:t>同济大学计算机</a:t>
            </a:r>
            <a:endParaRPr lang="en-US" altLang="zh-CN" sz="4000" dirty="0">
              <a:latin typeface="Bodoni MT Black"/>
            </a:endParaRPr>
          </a:p>
          <a:p>
            <a:pPr eaLnBrk="1" hangingPunct="1"/>
            <a:r>
              <a:rPr lang="zh-CN" altLang="en-US" sz="4000" dirty="0">
                <a:latin typeface="Bodoni MT Black"/>
              </a:rPr>
              <a:t>基础教研室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0464" y="1329665"/>
            <a:ext cx="8275638" cy="416148"/>
          </a:xfrm>
        </p:spPr>
        <p:txBody>
          <a:bodyPr/>
          <a:lstStyle/>
          <a:p>
            <a:r>
              <a:rPr lang="en-US" altLang="zh-CN" sz="2400" dirty="0" err="1" smtClean="0"/>
              <a:t>jieba</a:t>
            </a:r>
            <a:r>
              <a:rPr lang="zh-CN" altLang="en-US" sz="2400" dirty="0"/>
              <a:t>分词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191" y="1808821"/>
            <a:ext cx="8293100" cy="167418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jieba </a:t>
            </a:r>
            <a:r>
              <a:rPr lang="zh-CN" altLang="en-US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中文分词</a:t>
            </a:r>
            <a:r>
              <a:rPr lang="zh-CN" altLang="en-US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工具，它提供了多种分词模式，把中文文本中的各种词组的组合分解出来</a:t>
            </a:r>
            <a:endParaRPr lang="en-US" altLang="zh-CN" sz="15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 install jieba       </a:t>
            </a:r>
            <a:r>
              <a:rPr lang="en-US" altLang="zh-CN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en-US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altLang="zh-CN" sz="15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v-SE" altLang="zh-CN" sz="13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</a:t>
            </a:r>
            <a:r>
              <a:rPr lang="en-US" altLang="zh-CN" sz="1350" dirty="0">
                <a:solidFill>
                  <a:srgbClr val="7030A0"/>
                </a:solidFill>
              </a:rPr>
              <a:t>pip install jieba -</a:t>
            </a:r>
            <a:r>
              <a:rPr lang="en-US" altLang="zh-CN" sz="1350" dirty="0" err="1">
                <a:solidFill>
                  <a:srgbClr val="7030A0"/>
                </a:solidFill>
              </a:rPr>
              <a:t>i</a:t>
            </a:r>
            <a:r>
              <a:rPr lang="en-US" altLang="zh-CN" sz="1350" dirty="0">
                <a:solidFill>
                  <a:srgbClr val="7030A0"/>
                </a:solidFill>
              </a:rPr>
              <a:t> https://mirrors.aliyun.com/pypi/simple/</a:t>
            </a:r>
            <a:endParaRPr lang="zh-CN" altLang="zh-CN" sz="135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zh-CN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库的中文分词模式有三种：</a:t>
            </a:r>
            <a:r>
              <a:rPr lang="zh-CN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精简模式、全模式、搜索引擎模式</a:t>
            </a:r>
            <a:endParaRPr lang="sv-SE" altLang="zh-CN" sz="15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69653" y="3807042"/>
            <a:ext cx="8293100" cy="17281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1800" kern="0" dirty="0">
                <a:solidFill>
                  <a:srgbClr val="0070C0"/>
                </a:solidFill>
              </a:rPr>
              <a:t>1. </a:t>
            </a:r>
            <a:r>
              <a:rPr lang="zh-CN" altLang="en-US" sz="1800" kern="0" dirty="0">
                <a:solidFill>
                  <a:srgbClr val="0070C0"/>
                </a:solidFill>
              </a:rPr>
              <a:t>精简模式</a:t>
            </a:r>
            <a:endParaRPr lang="en-US" altLang="zh-CN" sz="1800" kern="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500" b="0" dirty="0"/>
              <a:t>    </a:t>
            </a:r>
            <a:r>
              <a:rPr lang="zh-CN" altLang="zh-CN" sz="1500" b="0" dirty="0"/>
              <a:t>将句子</a:t>
            </a:r>
            <a:r>
              <a:rPr lang="zh-CN" altLang="en-US" sz="1500" b="0" dirty="0"/>
              <a:t>进行最精简的</a:t>
            </a:r>
            <a:r>
              <a:rPr lang="zh-CN" altLang="zh-CN" sz="1500" b="0" dirty="0"/>
              <a:t>分词，适合文本分析。使用</a:t>
            </a:r>
            <a:r>
              <a:rPr lang="en-US" altLang="zh-CN" sz="1500" dirty="0" err="1">
                <a:solidFill>
                  <a:srgbClr val="00B050"/>
                </a:solidFill>
              </a:rPr>
              <a:t>lcut</a:t>
            </a:r>
            <a:r>
              <a:rPr lang="zh-CN" altLang="zh-CN" sz="1500" b="0" dirty="0"/>
              <a:t>方法实现，其返回值是列表</a:t>
            </a:r>
            <a:r>
              <a:rPr lang="zh-CN" altLang="en-US" sz="1500" b="0" dirty="0"/>
              <a:t>。</a:t>
            </a:r>
            <a:endParaRPr lang="en-US" altLang="zh-CN" sz="1500" b="0" dirty="0"/>
          </a:p>
          <a:p>
            <a:pPr marL="300038" lvl="1" indent="0">
              <a:lnSpc>
                <a:spcPct val="100000"/>
              </a:lnSpc>
              <a:buNone/>
            </a:pPr>
            <a:r>
              <a:rPr lang="en-US" altLang="zh-CN" sz="1350" kern="0" dirty="0"/>
              <a:t>import jieba</a:t>
            </a:r>
          </a:p>
          <a:p>
            <a:pPr marL="300038" lvl="1" indent="0">
              <a:lnSpc>
                <a:spcPct val="100000"/>
              </a:lnSpc>
              <a:buNone/>
            </a:pPr>
            <a:r>
              <a:rPr lang="en-US" altLang="zh-CN" sz="1350" kern="0" dirty="0" err="1"/>
              <a:t>lst</a:t>
            </a:r>
            <a:r>
              <a:rPr lang="en-US" altLang="zh-CN" sz="1350" kern="0" dirty="0"/>
              <a:t> =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jieba.lcut</a:t>
            </a:r>
            <a:r>
              <a:rPr lang="en-US" altLang="zh-CN" sz="1350" kern="0" dirty="0"/>
              <a:t>('</a:t>
            </a:r>
            <a:r>
              <a:rPr lang="zh-CN" altLang="en-US" sz="1350" kern="0" dirty="0"/>
              <a:t>小明本科毕业于同济大学，后在耶鲁大学深造</a:t>
            </a:r>
            <a:r>
              <a:rPr lang="en-US" altLang="zh-CN" sz="1350" kern="0" dirty="0"/>
              <a:t>')</a:t>
            </a:r>
          </a:p>
          <a:p>
            <a:pPr marL="300038" lvl="1" indent="0">
              <a:lnSpc>
                <a:spcPct val="100000"/>
              </a:lnSpc>
              <a:buNone/>
            </a:pPr>
            <a:r>
              <a:rPr lang="en-US" altLang="zh-CN" sz="1350" kern="0" dirty="0"/>
              <a:t>print(</a:t>
            </a:r>
            <a:r>
              <a:rPr lang="en-US" altLang="zh-CN" sz="1350" kern="0" dirty="0" err="1"/>
              <a:t>lst</a:t>
            </a:r>
            <a:r>
              <a:rPr lang="en-US" altLang="zh-CN" sz="1350" kern="0" dirty="0"/>
              <a:t>)     #</a:t>
            </a:r>
            <a:r>
              <a:rPr lang="zh-CN" altLang="en-US" sz="1350" kern="0" dirty="0"/>
              <a:t>结果：</a:t>
            </a:r>
            <a:r>
              <a:rPr lang="en-US" altLang="zh-CN" sz="1350" kern="0" dirty="0"/>
              <a:t>['</a:t>
            </a:r>
            <a:r>
              <a:rPr lang="zh-CN" altLang="en-US" sz="1350" kern="0" dirty="0"/>
              <a:t>小明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本科毕业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同济大学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，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在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耶鲁大学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深造</a:t>
            </a:r>
            <a:r>
              <a:rPr lang="en-US" altLang="zh-CN" sz="1350" kern="0" dirty="0"/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3068779280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569" y="1808820"/>
            <a:ext cx="7938881" cy="3402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1800" b="0" dirty="0"/>
              <a:t>     </a:t>
            </a:r>
            <a:r>
              <a:rPr lang="zh-CN" altLang="zh-CN" sz="1800" b="0" dirty="0"/>
              <a:t>把句子中所有可以成词的词语都扫描出来，速度非常快，但其分词得到的结果有可能</a:t>
            </a:r>
            <a:r>
              <a:rPr lang="zh-CN" altLang="en-US" sz="1800" b="0" dirty="0"/>
              <a:t>会</a:t>
            </a:r>
            <a:r>
              <a:rPr lang="zh-CN" altLang="zh-CN" sz="1800" b="0" dirty="0"/>
              <a:t>有歧义</a:t>
            </a:r>
            <a:r>
              <a:rPr lang="zh-CN" altLang="en-US" sz="1800" b="0" dirty="0"/>
              <a:t>。</a:t>
            </a:r>
            <a:endParaRPr lang="en-US" altLang="zh-CN" sz="1500" b="0" dirty="0"/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import jieba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 err="1"/>
              <a:t>lst</a:t>
            </a:r>
            <a:r>
              <a:rPr lang="en-US" altLang="zh-CN" sz="1350" kern="0" dirty="0"/>
              <a:t>=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jieba.lcut</a:t>
            </a:r>
            <a:r>
              <a:rPr lang="en-US" altLang="zh-CN" sz="1350" kern="0" dirty="0"/>
              <a:t>('</a:t>
            </a:r>
            <a:r>
              <a:rPr lang="zh-CN" altLang="en-US" sz="1350" kern="0" dirty="0"/>
              <a:t>小明本科毕业于同济大学，后在耶鲁大学深造</a:t>
            </a:r>
            <a:r>
              <a:rPr lang="en-US" altLang="zh-CN" sz="1350" kern="0" dirty="0">
                <a:solidFill>
                  <a:schemeClr val="tx1"/>
                </a:solidFill>
              </a:rPr>
              <a:t>',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cut_all</a:t>
            </a:r>
            <a:r>
              <a:rPr lang="en-US" altLang="zh-CN" sz="1350" b="1" kern="0" dirty="0">
                <a:solidFill>
                  <a:srgbClr val="C00000"/>
                </a:solidFill>
              </a:rPr>
              <a:t>=True</a:t>
            </a:r>
            <a:r>
              <a:rPr lang="en-US" altLang="zh-CN" sz="1350" kern="0" dirty="0"/>
              <a:t>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print(</a:t>
            </a:r>
            <a:r>
              <a:rPr lang="en-US" altLang="zh-CN" sz="1350" kern="0" dirty="0" err="1"/>
              <a:t>lst</a:t>
            </a:r>
            <a:r>
              <a:rPr lang="en-US" altLang="zh-CN" sz="1350" kern="0" dirty="0"/>
              <a:t>)  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#</a:t>
            </a:r>
            <a:r>
              <a:rPr lang="zh-CN" altLang="en-US" sz="1350" kern="0" dirty="0"/>
              <a:t>显示结果：</a:t>
            </a:r>
            <a:r>
              <a:rPr lang="en-US" altLang="zh-CN" sz="1350" kern="0" dirty="0"/>
              <a:t>['</a:t>
            </a:r>
            <a:r>
              <a:rPr lang="zh-CN" altLang="en-US" sz="1350" kern="0" dirty="0"/>
              <a:t>小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本科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本科毕业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毕业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同济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同济大学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，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在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耶鲁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耶鲁大学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深造</a:t>
            </a:r>
            <a:r>
              <a:rPr lang="en-US" altLang="zh-CN" sz="1350" kern="0" dirty="0"/>
              <a:t>']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3F58C3E8-64B0-41E0-BFE0-17F5188B47F7}"/>
              </a:ext>
            </a:extLst>
          </p:cNvPr>
          <p:cNvSpPr/>
          <p:nvPr/>
        </p:nvSpPr>
        <p:spPr>
          <a:xfrm>
            <a:off x="629563" y="1268760"/>
            <a:ext cx="1154483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全模式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339001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67545" y="1754814"/>
            <a:ext cx="7938881" cy="264629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</a:t>
            </a:r>
            <a:r>
              <a:rPr lang="zh-CN" altLang="zh-CN" sz="1800" b="0" dirty="0"/>
              <a:t>在精确模式的基础上，对长词再次切分，适合于搜索引擎分词</a:t>
            </a:r>
            <a:endParaRPr lang="en-US" altLang="zh-CN" sz="1800" b="0" dirty="0"/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import jieba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list1=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jieba.lcut_for_search</a:t>
            </a:r>
            <a:r>
              <a:rPr lang="en-US" altLang="zh-CN" sz="1350" kern="0" dirty="0"/>
              <a:t>('</a:t>
            </a:r>
            <a:r>
              <a:rPr lang="zh-CN" altLang="en-US" sz="1350" kern="0" dirty="0"/>
              <a:t>小明本科毕业于同济大学，后在耶鲁大学深造</a:t>
            </a:r>
            <a:r>
              <a:rPr lang="en-US" altLang="zh-CN" sz="1350" kern="0" dirty="0"/>
              <a:t>')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print(list1)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500" b="0" kern="0" dirty="0"/>
              <a:t>     #</a:t>
            </a:r>
            <a:r>
              <a:rPr lang="zh-CN" altLang="en-US" sz="1500" b="0" kern="0" dirty="0"/>
              <a:t>显示结果：</a:t>
            </a:r>
            <a:r>
              <a:rPr lang="en-US" altLang="zh-CN" sz="1500" b="0" kern="0" dirty="0"/>
              <a:t>['</a:t>
            </a:r>
            <a:r>
              <a:rPr lang="zh-CN" altLang="en-US" sz="1500" b="0" kern="0" dirty="0"/>
              <a:t>小明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本科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毕业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本科毕业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同济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同济大学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，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在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耶鲁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耶鲁大学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深造</a:t>
            </a:r>
            <a:r>
              <a:rPr lang="en-US" altLang="zh-CN" sz="1500" b="0" kern="0" dirty="0"/>
              <a:t>']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8BB3EA6C-6126-44F9-8B21-C37219A10A21}"/>
              </a:ext>
            </a:extLst>
          </p:cNvPr>
          <p:cNvSpPr/>
          <p:nvPr/>
        </p:nvSpPr>
        <p:spPr>
          <a:xfrm>
            <a:off x="521550" y="1268760"/>
            <a:ext cx="1846980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搜索引擎模式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1867173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7574" y="1473019"/>
            <a:ext cx="7776864" cy="40626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225"/>
              </a:spcAft>
            </a:pPr>
            <a:r>
              <a:rPr lang="en-US" altLang="zh-CN" sz="1200" dirty="0"/>
              <a:t>import jieba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file = open(</a:t>
            </a:r>
            <a:r>
              <a:rPr lang="en-US" altLang="zh-CN" sz="1200" dirty="0" err="1"/>
              <a:t>r"d</a:t>
            </a:r>
            <a:r>
              <a:rPr lang="en-US" altLang="zh-CN" sz="1200" dirty="0"/>
              <a:t>:\data\</a:t>
            </a:r>
            <a:r>
              <a:rPr lang="zh-CN" altLang="en-US" sz="1200" dirty="0"/>
              <a:t>红楼梦</a:t>
            </a:r>
            <a:r>
              <a:rPr lang="en-US" altLang="zh-CN" sz="1200" dirty="0"/>
              <a:t>.txt", "r", encoding='utf-8')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txt=</a:t>
            </a:r>
            <a:r>
              <a:rPr lang="en-US" altLang="zh-CN" sz="1200" dirty="0" err="1"/>
              <a:t>file.read</a:t>
            </a:r>
            <a:r>
              <a:rPr lang="en-US" altLang="zh-CN" sz="1200" dirty="0"/>
              <a:t>()     #</a:t>
            </a:r>
            <a:r>
              <a:rPr lang="zh-CN" altLang="en-US" sz="1200" dirty="0"/>
              <a:t>读文件</a:t>
            </a:r>
          </a:p>
          <a:p>
            <a:pPr>
              <a:spcAft>
                <a:spcPts val="225"/>
              </a:spcAft>
            </a:pPr>
            <a:r>
              <a:rPr lang="en-US" altLang="zh-CN" sz="1200" dirty="0" err="1"/>
              <a:t>wordsList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jieba.lcut</a:t>
            </a:r>
            <a:r>
              <a:rPr lang="en-US" altLang="zh-CN" sz="1200" dirty="0"/>
              <a:t>(txt)        # </a:t>
            </a:r>
            <a:r>
              <a:rPr lang="zh-CN" altLang="en-US" sz="1200" dirty="0"/>
              <a:t>分词结果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actors</a:t>
            </a:r>
            <a:r>
              <a:rPr lang="en-US" altLang="zh-CN" sz="900" dirty="0"/>
              <a:t>=[('</a:t>
            </a:r>
            <a:r>
              <a:rPr lang="zh-CN" altLang="en-US" sz="900" dirty="0"/>
              <a:t>贾宝玉</a:t>
            </a:r>
            <a:r>
              <a:rPr lang="en-US" altLang="zh-CN" sz="900" dirty="0"/>
              <a:t>',"</a:t>
            </a:r>
            <a:r>
              <a:rPr lang="zh-CN" altLang="en-US" sz="900" dirty="0"/>
              <a:t>宝玉</a:t>
            </a:r>
            <a:r>
              <a:rPr lang="en-US" altLang="zh-CN" sz="900" dirty="0"/>
              <a:t>"),("</a:t>
            </a:r>
            <a:r>
              <a:rPr lang="zh-CN" altLang="en-US" sz="900" dirty="0"/>
              <a:t>林黛玉</a:t>
            </a:r>
            <a:r>
              <a:rPr lang="en-US" altLang="zh-CN" sz="900" dirty="0"/>
              <a:t>","</a:t>
            </a:r>
            <a:r>
              <a:rPr lang="zh-CN" altLang="en-US" sz="900" dirty="0"/>
              <a:t>黛玉</a:t>
            </a:r>
            <a:r>
              <a:rPr lang="en-US" altLang="zh-CN" sz="900" dirty="0"/>
              <a:t>"),("</a:t>
            </a:r>
            <a:r>
              <a:rPr lang="zh-CN" altLang="en-US" sz="900" dirty="0"/>
              <a:t>薛宝钗</a:t>
            </a:r>
            <a:r>
              <a:rPr lang="en-US" altLang="zh-CN" sz="900" dirty="0"/>
              <a:t>","</a:t>
            </a:r>
            <a:r>
              <a:rPr lang="zh-CN" altLang="en-US" sz="900" dirty="0"/>
              <a:t>宝钗</a:t>
            </a:r>
            <a:r>
              <a:rPr lang="en-US" altLang="zh-CN" sz="900" dirty="0"/>
              <a:t>"), ("</a:t>
            </a:r>
            <a:r>
              <a:rPr lang="zh-CN" altLang="en-US" sz="900" dirty="0"/>
              <a:t>王熙凤</a:t>
            </a:r>
            <a:r>
              <a:rPr lang="en-US" altLang="zh-CN" sz="900" dirty="0"/>
              <a:t>","</a:t>
            </a:r>
            <a:r>
              <a:rPr lang="zh-CN" altLang="en-US" sz="900" dirty="0"/>
              <a:t>凤姐</a:t>
            </a:r>
            <a:r>
              <a:rPr lang="en-US" altLang="zh-CN" sz="900" dirty="0"/>
              <a:t>"),("</a:t>
            </a:r>
            <a:r>
              <a:rPr lang="zh-CN" altLang="en-US" sz="900" dirty="0"/>
              <a:t>贾母</a:t>
            </a:r>
            <a:r>
              <a:rPr lang="en-US" altLang="zh-CN" sz="900" dirty="0"/>
              <a:t>","</a:t>
            </a:r>
            <a:r>
              <a:rPr lang="zh-CN" altLang="en-US" sz="900" dirty="0"/>
              <a:t>老太太</a:t>
            </a:r>
            <a:r>
              <a:rPr lang="en-US" altLang="zh-CN" sz="900" dirty="0"/>
              <a:t>"),("</a:t>
            </a:r>
            <a:r>
              <a:rPr lang="zh-CN" altLang="en-US" sz="900" dirty="0"/>
              <a:t>袭人</a:t>
            </a:r>
            <a:r>
              <a:rPr lang="en-US" altLang="zh-CN" sz="900" dirty="0"/>
              <a:t>",),("</a:t>
            </a:r>
            <a:r>
              <a:rPr lang="zh-CN" altLang="en-US" sz="900" dirty="0"/>
              <a:t>探春</a:t>
            </a:r>
            <a:r>
              <a:rPr lang="en-US" altLang="zh-CN" sz="900" dirty="0"/>
              <a:t>",), ('</a:t>
            </a:r>
            <a:r>
              <a:rPr lang="zh-CN" altLang="en-US" sz="900" dirty="0"/>
              <a:t>贾琏</a:t>
            </a:r>
            <a:r>
              <a:rPr lang="en-US" altLang="zh-CN" sz="900" dirty="0"/>
              <a:t>',),("</a:t>
            </a:r>
            <a:r>
              <a:rPr lang="zh-CN" altLang="en-US" sz="900" dirty="0"/>
              <a:t>王夫人</a:t>
            </a:r>
            <a:r>
              <a:rPr lang="en-US" altLang="zh-CN" sz="900" dirty="0"/>
              <a:t>","</a:t>
            </a:r>
            <a:r>
              <a:rPr lang="zh-CN" altLang="en-US" sz="900" dirty="0"/>
              <a:t>夫人</a:t>
            </a:r>
            <a:r>
              <a:rPr lang="en-US" altLang="zh-CN" sz="900" dirty="0"/>
              <a:t>")] </a:t>
            </a:r>
          </a:p>
          <a:p>
            <a:pPr>
              <a:spcAft>
                <a:spcPts val="225"/>
              </a:spcAft>
            </a:pPr>
            <a:r>
              <a:rPr lang="en-US" altLang="zh-CN" sz="900" dirty="0"/>
              <a:t>                                                              </a:t>
            </a:r>
            <a:r>
              <a:rPr lang="en-US" altLang="zh-CN" sz="1200" dirty="0"/>
              <a:t># actors </a:t>
            </a:r>
            <a:r>
              <a:rPr lang="zh-CN" altLang="en-US" sz="1200" dirty="0"/>
              <a:t>是人物列表，每个人物使用了元组</a:t>
            </a:r>
          </a:p>
          <a:p>
            <a:pPr>
              <a:spcAft>
                <a:spcPts val="225"/>
              </a:spcAft>
            </a:pPr>
            <a:r>
              <a:rPr lang="en-US" altLang="zh-CN" sz="1200" dirty="0" err="1"/>
              <a:t>dictActors</a:t>
            </a:r>
            <a:r>
              <a:rPr lang="en-US" altLang="zh-CN" sz="1200" dirty="0"/>
              <a:t> = {}                        # </a:t>
            </a:r>
            <a:r>
              <a:rPr lang="zh-CN" altLang="en-US" sz="1200" dirty="0"/>
              <a:t>拟建立的字典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for actor in actors:                 # </a:t>
            </a:r>
            <a:r>
              <a:rPr lang="zh-CN" altLang="en-US" sz="1200" dirty="0"/>
              <a:t>从人物表中查分词</a:t>
            </a:r>
          </a:p>
          <a:p>
            <a:pPr>
              <a:spcAft>
                <a:spcPts val="225"/>
              </a:spcAft>
            </a:pPr>
            <a:r>
              <a:rPr lang="zh-CN" altLang="en-US" sz="1200" dirty="0"/>
              <a:t>    </a:t>
            </a:r>
            <a:r>
              <a:rPr lang="en-US" altLang="zh-CN" sz="1200" dirty="0"/>
              <a:t>if </a:t>
            </a:r>
            <a:r>
              <a:rPr lang="en-US" altLang="zh-CN" sz="1200" dirty="0" err="1"/>
              <a:t>len</a:t>
            </a:r>
            <a:r>
              <a:rPr lang="en-US" altLang="zh-CN" sz="1200" dirty="0"/>
              <a:t>(actor)==2: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        count1=</a:t>
            </a:r>
            <a:r>
              <a:rPr lang="en-US" altLang="zh-CN" sz="1200" dirty="0" err="1"/>
              <a:t>wordsList.count</a:t>
            </a:r>
            <a:r>
              <a:rPr lang="en-US" altLang="zh-CN" sz="1200" dirty="0"/>
              <a:t>(actor[0])</a:t>
            </a:r>
            <a:r>
              <a:rPr lang="zh-CN" altLang="en-US" sz="1200" dirty="0"/>
              <a:t>；</a:t>
            </a:r>
            <a:r>
              <a:rPr lang="en-US" altLang="zh-CN" sz="1200" dirty="0"/>
              <a:t>        count2=</a:t>
            </a:r>
            <a:r>
              <a:rPr lang="en-US" altLang="zh-CN" sz="1200" dirty="0" err="1"/>
              <a:t>wordsList.count</a:t>
            </a:r>
            <a:r>
              <a:rPr lang="en-US" altLang="zh-CN" sz="1200" dirty="0"/>
              <a:t>(actor[1])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        </a:t>
            </a:r>
            <a:r>
              <a:rPr lang="en-US" altLang="zh-CN" sz="1200" dirty="0" err="1"/>
              <a:t>dictActors</a:t>
            </a:r>
            <a:r>
              <a:rPr lang="en-US" altLang="zh-CN" sz="1200" dirty="0"/>
              <a:t>[actor[0]]=count1+count2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    else: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        count1=</a:t>
            </a:r>
            <a:r>
              <a:rPr lang="en-US" altLang="zh-CN" sz="1200" dirty="0" err="1"/>
              <a:t>wordsList.count</a:t>
            </a:r>
            <a:r>
              <a:rPr lang="en-US" altLang="zh-CN" sz="1200" dirty="0"/>
              <a:t>(actor[0])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        </a:t>
            </a:r>
            <a:r>
              <a:rPr lang="en-US" altLang="zh-CN" sz="1200" dirty="0" err="1"/>
              <a:t>dictActors</a:t>
            </a:r>
            <a:r>
              <a:rPr lang="en-US" altLang="zh-CN" sz="1200" dirty="0"/>
              <a:t>[actor[0]]=count1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items = list(</a:t>
            </a:r>
            <a:r>
              <a:rPr lang="en-US" altLang="zh-CN" sz="1200" dirty="0" err="1"/>
              <a:t>dictActors.items</a:t>
            </a:r>
            <a:r>
              <a:rPr lang="en-US" altLang="zh-CN" sz="1200" dirty="0"/>
              <a:t>())                            # </a:t>
            </a:r>
            <a:r>
              <a:rPr lang="zh-CN" altLang="en-US" sz="1200" dirty="0"/>
              <a:t>将字典表项转化成列表</a:t>
            </a:r>
          </a:p>
          <a:p>
            <a:pPr>
              <a:spcAft>
                <a:spcPts val="225"/>
              </a:spcAft>
            </a:pPr>
            <a:r>
              <a:rPr lang="en-US" altLang="zh-CN" sz="1200" dirty="0" err="1"/>
              <a:t>items.sort</a:t>
            </a:r>
            <a:r>
              <a:rPr lang="en-US" altLang="zh-CN" sz="1200" dirty="0"/>
              <a:t>(key=lambda x:x[1], reverse=True)     # </a:t>
            </a:r>
            <a:r>
              <a:rPr lang="zh-CN" altLang="en-US" sz="1200" dirty="0"/>
              <a:t>按人物出现频次从大到小排序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for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in range(</a:t>
            </a:r>
            <a:r>
              <a:rPr lang="en-US" altLang="zh-CN" sz="1200" dirty="0" err="1"/>
              <a:t>len</a:t>
            </a:r>
            <a:r>
              <a:rPr lang="en-US" altLang="zh-CN" sz="1200" dirty="0"/>
              <a:t>(items)):                                    # </a:t>
            </a:r>
            <a:r>
              <a:rPr lang="zh-CN" altLang="en-US" sz="1200" dirty="0"/>
              <a:t>输出统计结果</a:t>
            </a:r>
          </a:p>
          <a:p>
            <a:pPr>
              <a:spcAft>
                <a:spcPts val="225"/>
              </a:spcAft>
            </a:pPr>
            <a:r>
              <a:rPr lang="zh-CN" altLang="en-US" sz="1200" dirty="0"/>
              <a:t>    </a:t>
            </a:r>
            <a:r>
              <a:rPr lang="en-US" altLang="zh-CN" sz="1200" dirty="0"/>
              <a:t>word, count = items[</a:t>
            </a:r>
            <a:r>
              <a:rPr lang="en-US" altLang="zh-CN" sz="1200" dirty="0" err="1"/>
              <a:t>i</a:t>
            </a:r>
            <a:r>
              <a:rPr lang="en-US" altLang="zh-CN" sz="1200" dirty="0"/>
              <a:t>]</a:t>
            </a:r>
          </a:p>
          <a:p>
            <a:pPr>
              <a:spcAft>
                <a:spcPts val="225"/>
              </a:spcAft>
            </a:pPr>
            <a:r>
              <a:rPr lang="en-US" altLang="zh-CN" sz="1200" dirty="0"/>
              <a:t>    print ("{}\t{}".format(word, count))</a:t>
            </a:r>
            <a:endParaRPr lang="zh-CN" altLang="en-US" sz="1200" dirty="0"/>
          </a:p>
        </p:txBody>
      </p:sp>
      <p:sp>
        <p:nvSpPr>
          <p:cNvPr id="2" name="矩形 1"/>
          <p:cNvSpPr/>
          <p:nvPr/>
        </p:nvSpPr>
        <p:spPr>
          <a:xfrm>
            <a:off x="737574" y="1072197"/>
            <a:ext cx="5599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6.7    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统计红楼梦小说中主要人物的出现次数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0503649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5174" y="1808820"/>
            <a:ext cx="8293100" cy="360045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en-US" altLang="zh-CN" dirty="0" err="1">
                <a:solidFill>
                  <a:srgbClr val="C00000"/>
                </a:solidFill>
              </a:rPr>
              <a:t>extract_tags</a:t>
            </a:r>
            <a:r>
              <a:rPr lang="en-US" altLang="zh-CN" b="0" dirty="0">
                <a:solidFill>
                  <a:schemeClr val="tx1"/>
                </a:solidFill>
              </a:rPr>
              <a:t>(</a:t>
            </a:r>
            <a:r>
              <a:rPr lang="zh-CN" altLang="en-US" b="0" dirty="0">
                <a:solidFill>
                  <a:schemeClr val="tx1"/>
                </a:solidFill>
              </a:rPr>
              <a:t>待分析文本</a:t>
            </a:r>
            <a:r>
              <a:rPr lang="en-US" altLang="zh-CN" b="0" dirty="0">
                <a:solidFill>
                  <a:schemeClr val="tx1"/>
                </a:solidFill>
              </a:rPr>
              <a:t>, </a:t>
            </a:r>
            <a:r>
              <a:rPr lang="en-US" altLang="zh-CN" b="0" dirty="0" err="1">
                <a:solidFill>
                  <a:schemeClr val="tx1"/>
                </a:solidFill>
              </a:rPr>
              <a:t>topK</a:t>
            </a:r>
            <a:r>
              <a:rPr lang="en-US" altLang="zh-CN" b="0" dirty="0">
                <a:solidFill>
                  <a:schemeClr val="tx1"/>
                </a:solidFill>
              </a:rPr>
              <a:t>=20, </a:t>
            </a:r>
            <a:r>
              <a:rPr lang="en-US" altLang="zh-CN" b="0" dirty="0" err="1">
                <a:solidFill>
                  <a:schemeClr val="tx1"/>
                </a:solidFill>
              </a:rPr>
              <a:t>withWeight</a:t>
            </a:r>
            <a:r>
              <a:rPr lang="en-US" altLang="zh-CN" b="0" dirty="0">
                <a:solidFill>
                  <a:schemeClr val="tx1"/>
                </a:solidFill>
              </a:rPr>
              <a:t>=False, </a:t>
            </a:r>
            <a:r>
              <a:rPr lang="en-US" altLang="zh-CN" b="0" dirty="0" err="1">
                <a:solidFill>
                  <a:schemeClr val="tx1"/>
                </a:solidFill>
              </a:rPr>
              <a:t>allowPOS</a:t>
            </a:r>
            <a:r>
              <a:rPr lang="en-US" altLang="zh-CN" b="0" dirty="0">
                <a:solidFill>
                  <a:schemeClr val="tx1"/>
                </a:solidFill>
              </a:rPr>
              <a:t>=( ))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topK</a:t>
            </a:r>
            <a:r>
              <a:rPr lang="en-US" altLang="zh-CN" sz="1600" dirty="0"/>
              <a:t> </a:t>
            </a:r>
            <a:r>
              <a:rPr lang="zh-CN" altLang="en-US" sz="1600" dirty="0"/>
              <a:t>参数</a:t>
            </a:r>
            <a:r>
              <a:rPr lang="zh-CN" altLang="en-US" dirty="0"/>
              <a:t>返回前</a:t>
            </a:r>
            <a:r>
              <a:rPr lang="en-US" altLang="zh-CN" dirty="0"/>
              <a:t>n</a:t>
            </a:r>
            <a:r>
              <a:rPr lang="zh-CN" altLang="en-US" dirty="0"/>
              <a:t>个权重最高的词</a:t>
            </a:r>
            <a:r>
              <a:rPr lang="zh-CN" altLang="en-US" sz="1600" dirty="0"/>
              <a:t>，默认</a:t>
            </a:r>
            <a:r>
              <a:rPr lang="en-US" altLang="zh-CN" sz="1600" dirty="0"/>
              <a:t>20 </a:t>
            </a:r>
            <a:r>
              <a:rPr lang="zh-CN" altLang="en-US" sz="1600" dirty="0"/>
              <a:t>个</a:t>
            </a:r>
            <a:endParaRPr lang="en-US" altLang="zh-CN" sz="16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withWeight</a:t>
            </a:r>
            <a:r>
              <a:rPr lang="en-US" altLang="zh-CN" sz="1600" dirty="0"/>
              <a:t> </a:t>
            </a:r>
            <a:r>
              <a:rPr lang="zh-CN" altLang="en-US" sz="1600" dirty="0"/>
              <a:t>指定是否计算关键字的权重</a:t>
            </a:r>
            <a:endParaRPr lang="en-US" altLang="zh-CN" sz="16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allowPOS</a:t>
            </a:r>
            <a:r>
              <a:rPr lang="en-US" altLang="zh-CN" sz="1600" dirty="0"/>
              <a:t> </a:t>
            </a:r>
            <a:r>
              <a:rPr lang="zh-CN" altLang="en-US" sz="1600" dirty="0"/>
              <a:t>仅包括指定词性的词，默认值为空，取值：（</a:t>
            </a:r>
            <a:r>
              <a:rPr lang="en-US" altLang="zh-CN" dirty="0"/>
              <a:t>'ns', 'n', '</a:t>
            </a:r>
            <a:r>
              <a:rPr lang="en-US" altLang="zh-CN" dirty="0" err="1"/>
              <a:t>vn</a:t>
            </a:r>
            <a:r>
              <a:rPr lang="en-US" altLang="zh-CN" dirty="0"/>
              <a:t>', 'v '</a:t>
            </a:r>
            <a:r>
              <a:rPr lang="zh-CN" altLang="en-US" dirty="0"/>
              <a:t>）</a:t>
            </a:r>
            <a:endParaRPr lang="en-US" altLang="zh-CN" sz="1600" dirty="0"/>
          </a:p>
          <a:p>
            <a:pPr marL="457189" lvl="1" indent="0">
              <a:buNone/>
            </a:pPr>
            <a:r>
              <a:rPr lang="zh-CN" altLang="en-US" dirty="0"/>
              <a:t>         </a:t>
            </a:r>
            <a:r>
              <a:rPr lang="zh-CN" altLang="en-US" dirty="0" smtClean="0"/>
              <a:t> </a:t>
            </a:r>
            <a:r>
              <a:rPr lang="zh-CN" altLang="en-US" dirty="0"/>
              <a:t>对应提取地名、名词、动名词、动词</a:t>
            </a:r>
            <a:endParaRPr lang="en-US" altLang="zh-CN" sz="1600" dirty="0"/>
          </a:p>
          <a:p>
            <a:pPr marL="457189" lvl="1" indent="0">
              <a:buNone/>
            </a:pPr>
            <a:r>
              <a:rPr lang="en-US" altLang="zh-CN" sz="1600" dirty="0"/>
              <a:t>import  </a:t>
            </a:r>
            <a:r>
              <a:rPr lang="en-US" altLang="zh-CN" sz="1600" dirty="0" err="1"/>
              <a:t>jieba.analyse</a:t>
            </a:r>
            <a:r>
              <a:rPr lang="en-US" altLang="zh-CN" sz="1600" dirty="0"/>
              <a:t>  as  </a:t>
            </a:r>
            <a:r>
              <a:rPr lang="en-US" altLang="zh-CN" sz="1600" dirty="0" err="1"/>
              <a:t>analyse</a:t>
            </a:r>
            <a:endParaRPr lang="en-US" altLang="zh-CN" sz="1600" dirty="0"/>
          </a:p>
          <a:p>
            <a:pPr marL="457189" lvl="1" indent="0">
              <a:buNone/>
            </a:pPr>
            <a:r>
              <a:rPr lang="en-US" altLang="zh-CN" sz="1600" dirty="0"/>
              <a:t>file = open(</a:t>
            </a:r>
            <a:r>
              <a:rPr lang="en-US" altLang="zh-CN" sz="1600" dirty="0" err="1"/>
              <a:t>r"d</a:t>
            </a:r>
            <a:r>
              <a:rPr lang="en-US" altLang="zh-CN" sz="1600" dirty="0"/>
              <a:t>:\data\</a:t>
            </a:r>
            <a:r>
              <a:rPr lang="zh-CN" altLang="en-US" sz="1600" dirty="0"/>
              <a:t>红楼梦</a:t>
            </a:r>
            <a:r>
              <a:rPr lang="en-US" altLang="zh-CN" sz="1600" dirty="0"/>
              <a:t>.txt", "r", encoding='utf-8')</a:t>
            </a:r>
          </a:p>
          <a:p>
            <a:pPr marL="457189" lvl="1" indent="0">
              <a:buNone/>
            </a:pPr>
            <a:r>
              <a:rPr lang="en-US" altLang="zh-CN" sz="1600" dirty="0"/>
              <a:t>txt=</a:t>
            </a:r>
            <a:r>
              <a:rPr lang="en-US" altLang="zh-CN" sz="1600" dirty="0" err="1"/>
              <a:t>file.read</a:t>
            </a:r>
            <a:r>
              <a:rPr lang="en-US" altLang="zh-CN" sz="1600" dirty="0"/>
              <a:t>()</a:t>
            </a:r>
          </a:p>
          <a:p>
            <a:pPr marL="457189" lvl="1" indent="0">
              <a:buNone/>
            </a:pPr>
            <a:r>
              <a:rPr lang="en-US" altLang="zh-CN" sz="1600" dirty="0"/>
              <a:t>lists=</a:t>
            </a:r>
            <a:r>
              <a:rPr lang="en-US" altLang="zh-CN" sz="1600" dirty="0" err="1"/>
              <a:t>analyse.</a:t>
            </a:r>
            <a:r>
              <a:rPr lang="en-US" altLang="zh-CN" sz="1600" b="1" dirty="0" err="1">
                <a:solidFill>
                  <a:srgbClr val="00B050"/>
                </a:solidFill>
              </a:rPr>
              <a:t>extract_tags</a:t>
            </a:r>
            <a:r>
              <a:rPr lang="en-US" altLang="zh-CN" sz="1600" dirty="0"/>
              <a:t>(txt, </a:t>
            </a:r>
            <a:r>
              <a:rPr lang="en-US" altLang="zh-CN" sz="1600" dirty="0" err="1"/>
              <a:t>topK</a:t>
            </a:r>
            <a:r>
              <a:rPr lang="en-US" altLang="zh-CN" sz="1600" dirty="0"/>
              <a:t>=5, </a:t>
            </a:r>
            <a:r>
              <a:rPr lang="en-US" altLang="zh-CN" sz="1600" dirty="0" err="1"/>
              <a:t>withWeight</a:t>
            </a:r>
            <a:r>
              <a:rPr lang="en-US" altLang="zh-CN" sz="1600" dirty="0"/>
              <a:t>=False, </a:t>
            </a:r>
            <a:r>
              <a:rPr lang="en-US" altLang="zh-CN" sz="1600" dirty="0" err="1"/>
              <a:t>allowPOS</a:t>
            </a:r>
            <a:r>
              <a:rPr lang="en-US" altLang="zh-CN" sz="1600" dirty="0"/>
              <a:t>=( ) )</a:t>
            </a:r>
          </a:p>
          <a:p>
            <a:pPr marL="457189" lvl="1" indent="0">
              <a:buNone/>
            </a:pPr>
            <a:r>
              <a:rPr lang="en-US" altLang="zh-CN" sz="1600" dirty="0"/>
              <a:t>print(lists)                    # </a:t>
            </a:r>
            <a:r>
              <a:rPr lang="zh-CN" altLang="en-US" sz="1600" dirty="0"/>
              <a:t>输出结果：</a:t>
            </a:r>
            <a:r>
              <a:rPr lang="en-US" altLang="zh-CN" sz="1600" dirty="0"/>
              <a:t>['</a:t>
            </a:r>
            <a:r>
              <a:rPr lang="zh-CN" altLang="en-US" sz="1600" dirty="0"/>
              <a:t>宝玉</a:t>
            </a:r>
            <a:r>
              <a:rPr lang="en-US" altLang="zh-CN" sz="1600" dirty="0"/>
              <a:t>', '</a:t>
            </a:r>
            <a:r>
              <a:rPr lang="zh-CN" altLang="en-US" sz="1600" dirty="0"/>
              <a:t>袭人</a:t>
            </a:r>
            <a:r>
              <a:rPr lang="en-US" altLang="zh-CN" sz="1600" dirty="0"/>
              <a:t>', '</a:t>
            </a:r>
            <a:r>
              <a:rPr lang="zh-CN" altLang="en-US" sz="1600" dirty="0"/>
              <a:t>王夫人</a:t>
            </a:r>
            <a:r>
              <a:rPr lang="en-US" altLang="zh-CN" sz="1600" dirty="0"/>
              <a:t>', '</a:t>
            </a:r>
            <a:r>
              <a:rPr lang="zh-CN" altLang="en-US" sz="1600" dirty="0"/>
              <a:t>凤姐</a:t>
            </a:r>
            <a:r>
              <a:rPr lang="en-US" altLang="zh-CN" sz="1600" dirty="0"/>
              <a:t>', '</a:t>
            </a:r>
            <a:r>
              <a:rPr lang="zh-CN" altLang="en-US" sz="1600" dirty="0"/>
              <a:t>丫头</a:t>
            </a:r>
            <a:r>
              <a:rPr lang="en-US" altLang="zh-CN" sz="1600" dirty="0"/>
              <a:t>']</a:t>
            </a:r>
            <a:endParaRPr lang="zh-CN" altLang="en-US" sz="16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0785" y="1214755"/>
            <a:ext cx="8009582" cy="435248"/>
          </a:xfrm>
        </p:spPr>
        <p:txBody>
          <a:bodyPr/>
          <a:lstStyle/>
          <a:p>
            <a:r>
              <a:rPr lang="en-US" altLang="zh-CN" sz="2100" dirty="0">
                <a:solidFill>
                  <a:srgbClr val="0070C0"/>
                </a:solidFill>
              </a:rPr>
              <a:t>4. </a:t>
            </a:r>
            <a:r>
              <a:rPr lang="zh-CN" altLang="en-US" sz="2100" dirty="0">
                <a:solidFill>
                  <a:srgbClr val="0070C0"/>
                </a:solidFill>
              </a:rPr>
              <a:t>文本关键词抽取</a:t>
            </a:r>
          </a:p>
        </p:txBody>
      </p:sp>
    </p:spTree>
    <p:extLst>
      <p:ext uri="{BB962C8B-B14F-4D97-AF65-F5344CB8AC3E}">
        <p14:creationId xmlns:p14="http://schemas.microsoft.com/office/powerpoint/2010/main" val="2161549766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22430</TotalTime>
  <Words>694</Words>
  <Application>Microsoft Office PowerPoint</Application>
  <PresentationFormat>全屏显示(4:3)</PresentationFormat>
  <Paragraphs>62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华文新魏</vt:lpstr>
      <vt:lpstr>宋体</vt:lpstr>
      <vt:lpstr>微软雅黑</vt:lpstr>
      <vt:lpstr>Arial</vt:lpstr>
      <vt:lpstr>Bodoni MT Black</vt:lpstr>
      <vt:lpstr>Calibri</vt:lpstr>
      <vt:lpstr>Wingdings</vt:lpstr>
      <vt:lpstr>主题1</vt:lpstr>
      <vt:lpstr>中文分词-jieba库</vt:lpstr>
      <vt:lpstr>jieba分词</vt:lpstr>
      <vt:lpstr>PowerPoint 演示文稿</vt:lpstr>
      <vt:lpstr>PowerPoint 演示文稿</vt:lpstr>
      <vt:lpstr>PowerPoint 演示文稿</vt:lpstr>
      <vt:lpstr>4. 文本关键词抽取</vt:lpstr>
    </vt:vector>
  </TitlesOfParts>
  <Company>Workgroup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434</cp:revision>
  <dcterms:created xsi:type="dcterms:W3CDTF">2010-02-28T17:17:53Z</dcterms:created>
  <dcterms:modified xsi:type="dcterms:W3CDTF">2025-04-16T08:10:02Z</dcterms:modified>
</cp:coreProperties>
</file>