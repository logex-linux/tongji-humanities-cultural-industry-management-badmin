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notesMasterIdLst>
    <p:notesMasterId r:id="rId62"/>
  </p:notesMasterIdLst>
  <p:handoutMasterIdLst>
    <p:handoutMasterId r:id="rId63"/>
  </p:handoutMasterIdLst>
  <p:sldIdLst>
    <p:sldId id="256" r:id="rId2"/>
    <p:sldId id="415" r:id="rId3"/>
    <p:sldId id="416" r:id="rId4"/>
    <p:sldId id="385" r:id="rId5"/>
    <p:sldId id="418" r:id="rId6"/>
    <p:sldId id="386" r:id="rId7"/>
    <p:sldId id="419" r:id="rId8"/>
    <p:sldId id="387" r:id="rId9"/>
    <p:sldId id="421" r:id="rId10"/>
    <p:sldId id="422" r:id="rId11"/>
    <p:sldId id="424" r:id="rId12"/>
    <p:sldId id="442" r:id="rId13"/>
    <p:sldId id="425" r:id="rId14"/>
    <p:sldId id="426" r:id="rId15"/>
    <p:sldId id="430" r:id="rId16"/>
    <p:sldId id="431" r:id="rId17"/>
    <p:sldId id="437" r:id="rId18"/>
    <p:sldId id="438" r:id="rId19"/>
    <p:sldId id="439" r:id="rId20"/>
    <p:sldId id="447" r:id="rId21"/>
    <p:sldId id="448" r:id="rId22"/>
    <p:sldId id="449" r:id="rId23"/>
    <p:sldId id="450" r:id="rId24"/>
    <p:sldId id="388" r:id="rId25"/>
    <p:sldId id="453" r:id="rId26"/>
    <p:sldId id="391" r:id="rId27"/>
    <p:sldId id="454" r:id="rId28"/>
    <p:sldId id="404" r:id="rId29"/>
    <p:sldId id="455" r:id="rId30"/>
    <p:sldId id="405" r:id="rId31"/>
    <p:sldId id="456" r:id="rId32"/>
    <p:sldId id="457" r:id="rId33"/>
    <p:sldId id="458" r:id="rId34"/>
    <p:sldId id="464" r:id="rId35"/>
    <p:sldId id="469" r:id="rId36"/>
    <p:sldId id="465" r:id="rId37"/>
    <p:sldId id="463" r:id="rId38"/>
    <p:sldId id="462" r:id="rId39"/>
    <p:sldId id="467" r:id="rId40"/>
    <p:sldId id="466" r:id="rId41"/>
    <p:sldId id="451" r:id="rId42"/>
    <p:sldId id="452" r:id="rId43"/>
    <p:sldId id="406" r:id="rId44"/>
    <p:sldId id="407" r:id="rId45"/>
    <p:sldId id="408" r:id="rId46"/>
    <p:sldId id="409" r:id="rId47"/>
    <p:sldId id="410" r:id="rId48"/>
    <p:sldId id="470" r:id="rId49"/>
    <p:sldId id="476" r:id="rId50"/>
    <p:sldId id="471" r:id="rId51"/>
    <p:sldId id="477" r:id="rId52"/>
    <p:sldId id="478" r:id="rId53"/>
    <p:sldId id="479" r:id="rId54"/>
    <p:sldId id="472" r:id="rId55"/>
    <p:sldId id="480" r:id="rId56"/>
    <p:sldId id="474" r:id="rId57"/>
    <p:sldId id="473" r:id="rId58"/>
    <p:sldId id="475" r:id="rId59"/>
    <p:sldId id="481" r:id="rId60"/>
    <p:sldId id="482" r:id="rId61"/>
  </p:sldIdLst>
  <p:sldSz cx="9144000" cy="5143500" type="screen16x9"/>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5"/>
    <a:srgbClr val="008000"/>
    <a:srgbClr val="006600"/>
    <a:srgbClr val="0000FF"/>
    <a:srgbClr val="000096"/>
    <a:srgbClr val="000066"/>
    <a:srgbClr val="0000A8"/>
    <a:srgbClr val="0000B4"/>
    <a:srgbClr val="FF00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5314" autoAdjust="0"/>
  </p:normalViewPr>
  <p:slideViewPr>
    <p:cSldViewPr>
      <p:cViewPr varScale="1">
        <p:scale>
          <a:sx n="107" d="100"/>
          <a:sy n="107" d="100"/>
        </p:scale>
        <p:origin x="80" y="556"/>
      </p:cViewPr>
      <p:guideLst>
        <p:guide orient="horz" pos="2160"/>
        <p:guide pos="2880"/>
        <p:guide orient="horz" pos="1620"/>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p:cViewPr varScale="1">
        <p:scale>
          <a:sx n="69" d="100"/>
          <a:sy n="69" d="100"/>
        </p:scale>
        <p:origin x="3264" y="6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63F1A6AC-1568-4D97-B1A6-D2F5D0C5FA21}" type="datetimeFigureOut">
              <a:rPr lang="zh-CN" altLang="en-US"/>
              <a:pPr>
                <a:defRPr/>
              </a:pPr>
              <a:t>2025/2/17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eaLnBrk="1" hangingPunct="1">
              <a:defRPr sz="1200"/>
            </a:lvl1pPr>
          </a:lstStyle>
          <a:p>
            <a:pPr>
              <a:defRPr/>
            </a:pPr>
            <a:fld id="{41C5DEC9-6472-4206-B59B-1A30B65930FB}" type="slidenum">
              <a:rPr lang="zh-CN" altLang="en-US"/>
              <a:pPr>
                <a:defRPr/>
              </a:pPr>
              <a:t>‹#›</a:t>
            </a:fld>
            <a:endParaRPr lang="zh-CN" altLang="en-US"/>
          </a:p>
        </p:txBody>
      </p:sp>
    </p:spTree>
    <p:extLst>
      <p:ext uri="{BB962C8B-B14F-4D97-AF65-F5344CB8AC3E}">
        <p14:creationId xmlns:p14="http://schemas.microsoft.com/office/powerpoint/2010/main" val="4172328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6FFE69E8-AAF3-420D-97F5-31FA21EBBEB8}" type="datetimeFigureOut">
              <a:rPr lang="zh-CN" altLang="en-US"/>
              <a:pPr>
                <a:defRPr/>
              </a:pPr>
              <a:t>2025/2/17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37EB3F29-63AA-456A-8033-9D7C5DEBDA43}" type="slidenum">
              <a:rPr lang="zh-CN" altLang="en-US"/>
              <a:pPr>
                <a:defRPr/>
              </a:pPr>
              <a:t>‹#›</a:t>
            </a:fld>
            <a:endParaRPr lang="zh-CN" altLang="en-US"/>
          </a:p>
        </p:txBody>
      </p:sp>
    </p:spTree>
    <p:extLst>
      <p:ext uri="{BB962C8B-B14F-4D97-AF65-F5344CB8AC3E}">
        <p14:creationId xmlns:p14="http://schemas.microsoft.com/office/powerpoint/2010/main" val="25428250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507035F9-BDD9-48E3-8DD2-CB6EA1D42B55}" type="slidenum">
              <a:rPr lang="zh-CN" altLang="en-US" smtClean="0"/>
              <a:pPr>
                <a:defRPr/>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1D9E0E24-F49C-4D4B-8869-17A45EF43FD3}" type="slidenum">
              <a:rPr kumimoji="0" lang="en-US" altLang="zh-CN" sz="1200" b="0" smtClean="0">
                <a:solidFill>
                  <a:schemeClr val="tx1"/>
                </a:solidFill>
                <a:ea typeface="宋体" pitchFamily="2" charset="-122"/>
              </a:rPr>
              <a:pPr eaLnBrk="1" hangingPunct="1"/>
              <a:t>3</a:t>
            </a:fld>
            <a:endParaRPr kumimoji="0" lang="en-US" altLang="zh-CN" sz="1200" b="0">
              <a:solidFill>
                <a:schemeClr val="tx1"/>
              </a:solidFill>
              <a:ea typeface="宋体" pitchFamily="2" charset="-122"/>
            </a:endParaRPr>
          </a:p>
        </p:txBody>
      </p:sp>
      <p:sp>
        <p:nvSpPr>
          <p:cNvPr id="77827" name="Rectangle 2"/>
          <p:cNvSpPr>
            <a:spLocks noGrp="1" noRot="1" noChangeAspect="1" noChangeArrowheads="1" noTextEdit="1"/>
          </p:cNvSpPr>
          <p:nvPr>
            <p:ph type="sldImg"/>
          </p:nvPr>
        </p:nvSpPr>
        <p:spPr>
          <a:xfrm>
            <a:off x="2128838" y="1373188"/>
            <a:ext cx="3514725" cy="1978025"/>
          </a:xfrm>
          <a:ln w="12700" cap="flat"/>
        </p:spPr>
      </p:sp>
      <p:sp>
        <p:nvSpPr>
          <p:cNvPr id="77828" name="Rectangle 3"/>
          <p:cNvSpPr>
            <a:spLocks noGrp="1" noChangeArrowheads="1"/>
          </p:cNvSpPr>
          <p:nvPr>
            <p:ph type="body" idx="1"/>
          </p:nvPr>
        </p:nvSpPr>
        <p:spPr>
          <a:xfrm>
            <a:off x="914400" y="4343400"/>
            <a:ext cx="5029200" cy="4114800"/>
          </a:xfrm>
          <a:noFill/>
        </p:spPr>
        <p:txBody>
          <a:bodyPr lIns="92075" tIns="46038" rIns="92075" bIns="46038"/>
          <a:lstStyle/>
          <a:p>
            <a:endParaRPr lang="zh-CN" altLang="zh-CN">
              <a:latin typeface="Arial" pitchFamily="34" charset="0"/>
            </a:endParaRPr>
          </a:p>
        </p:txBody>
      </p:sp>
    </p:spTree>
    <p:extLst>
      <p:ext uri="{BB962C8B-B14F-4D97-AF65-F5344CB8AC3E}">
        <p14:creationId xmlns:p14="http://schemas.microsoft.com/office/powerpoint/2010/main" val="3729024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assert &lt;</a:t>
            </a:r>
            <a:r>
              <a:rPr lang="zh-CN" altLang="en-US" dirty="0"/>
              <a:t>表达式</a:t>
            </a:r>
            <a:r>
              <a:rPr lang="en-US" altLang="zh-CN" dirty="0"/>
              <a:t>&gt;: </a:t>
            </a:r>
            <a:r>
              <a:rPr lang="zh-CN" altLang="en-US" dirty="0"/>
              <a:t>断言语句，相当于   </a:t>
            </a:r>
            <a:r>
              <a:rPr lang="en-US" altLang="zh-CN" dirty="0"/>
              <a:t>if   &lt;</a:t>
            </a:r>
            <a:r>
              <a:rPr lang="zh-CN" altLang="en-US" dirty="0"/>
              <a:t>表达式</a:t>
            </a:r>
            <a:r>
              <a:rPr lang="en-US" altLang="zh-CN" dirty="0"/>
              <a:t>&gt;==True    </a:t>
            </a:r>
            <a:r>
              <a:rPr lang="zh-CN" altLang="en-US" dirty="0"/>
              <a:t>如果表达式不成立则抛出异常</a:t>
            </a:r>
            <a:endParaRPr lang="en-US" altLang="zh-CN" dirty="0"/>
          </a:p>
          <a:p>
            <a:endParaRPr lang="en-US" altLang="zh-CN" dirty="0"/>
          </a:p>
          <a:p>
            <a:r>
              <a:rPr lang="en-US" altLang="zh-CN" dirty="0"/>
              <a:t>yield  &lt;</a:t>
            </a:r>
            <a:r>
              <a:rPr lang="zh-CN" altLang="en-US" dirty="0"/>
              <a:t>表达式</a:t>
            </a:r>
            <a:r>
              <a:rPr lang="en-US" altLang="zh-CN" dirty="0"/>
              <a:t>&gt;</a:t>
            </a:r>
            <a:r>
              <a:rPr lang="zh-CN" altLang="en-US" dirty="0"/>
              <a:t>：生成器</a:t>
            </a:r>
            <a:endParaRPr lang="en-US" altLang="zh-CN" dirty="0"/>
          </a:p>
          <a:p>
            <a:r>
              <a:rPr lang="zh-CN" altLang="en-US" dirty="0"/>
              <a:t>相当于</a:t>
            </a:r>
            <a:r>
              <a:rPr lang="en-US" altLang="zh-CN" dirty="0"/>
              <a:t>return   &lt;</a:t>
            </a:r>
            <a:r>
              <a:rPr lang="zh-CN" altLang="en-US" dirty="0"/>
              <a:t>表达式</a:t>
            </a:r>
            <a:r>
              <a:rPr lang="en-US" altLang="zh-CN" dirty="0"/>
              <a:t>&gt;  </a:t>
            </a:r>
          </a:p>
          <a:p>
            <a:r>
              <a:rPr lang="zh-CN" altLang="en-US" dirty="0"/>
              <a:t>但是 </a:t>
            </a:r>
            <a:r>
              <a:rPr lang="en-US" altLang="zh-CN" dirty="0"/>
              <a:t>yield</a:t>
            </a:r>
            <a:r>
              <a:rPr lang="zh-CN" altLang="en-US" dirty="0"/>
              <a:t>并不等同于</a:t>
            </a:r>
            <a:r>
              <a:rPr lang="en-US" altLang="zh-CN" dirty="0"/>
              <a:t>return</a:t>
            </a:r>
            <a:r>
              <a:rPr lang="zh-CN" altLang="en-US" dirty="0"/>
              <a:t>语句，最大的区别是通过</a:t>
            </a:r>
            <a:r>
              <a:rPr lang="en-US" altLang="zh-CN" dirty="0"/>
              <a:t>next()</a:t>
            </a:r>
            <a:r>
              <a:rPr lang="zh-CN" altLang="en-US" dirty="0"/>
              <a:t>函数再次调用具有</a:t>
            </a:r>
            <a:r>
              <a:rPr lang="en-US" altLang="zh-CN" dirty="0"/>
              <a:t>yield</a:t>
            </a:r>
            <a:r>
              <a:rPr lang="zh-CN" altLang="en-US" dirty="0"/>
              <a:t>的函数时，从上一次返回的地方继续往下执行函数，而不是从函数的第一条语句重新开始执行。好处是可以节省存储空间，提高执行效率。</a:t>
            </a:r>
          </a:p>
        </p:txBody>
      </p:sp>
      <p:sp>
        <p:nvSpPr>
          <p:cNvPr id="4" name="灯片编号占位符 3"/>
          <p:cNvSpPr>
            <a:spLocks noGrp="1"/>
          </p:cNvSpPr>
          <p:nvPr>
            <p:ph type="sldNum" sz="quarter" idx="10"/>
          </p:nvPr>
        </p:nvSpPr>
        <p:spPr/>
        <p:txBody>
          <a:bodyPr/>
          <a:lstStyle/>
          <a:p>
            <a:pPr>
              <a:defRPr/>
            </a:pPr>
            <a:fld id="{37EB3F29-63AA-456A-8033-9D7C5DEBDA43}" type="slidenum">
              <a:rPr lang="zh-CN" altLang="en-US" smtClean="0"/>
              <a:pPr>
                <a:defRPr/>
              </a:pPr>
              <a:t>4</a:t>
            </a:fld>
            <a:endParaRPr lang="zh-CN" altLang="en-US"/>
          </a:p>
        </p:txBody>
      </p:sp>
    </p:spTree>
    <p:extLst>
      <p:ext uri="{BB962C8B-B14F-4D97-AF65-F5344CB8AC3E}">
        <p14:creationId xmlns:p14="http://schemas.microsoft.com/office/powerpoint/2010/main" val="1758662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r>
              <a:rPr lang="zh-CN" altLang="en-US" sz="1200" b="0" i="0" kern="1200" dirty="0">
                <a:solidFill>
                  <a:schemeClr val="tx1"/>
                </a:solidFill>
                <a:effectLst/>
                <a:latin typeface="+mn-lt"/>
                <a:ea typeface="+mn-ea"/>
                <a:cs typeface="+mn-cs"/>
              </a:rPr>
              <a:t> 其中</a:t>
            </a:r>
            <a:r>
              <a:rPr lang="en-US" altLang="zh-CN" sz="1200" b="0" i="0" kern="1200" dirty="0">
                <a:solidFill>
                  <a:schemeClr val="tx1"/>
                </a:solidFill>
                <a:effectLst/>
                <a:latin typeface="+mn-lt"/>
                <a:ea typeface="+mn-ea"/>
                <a:cs typeface="+mn-cs"/>
              </a:rPr>
              <a:t>max</a:t>
            </a:r>
            <a:r>
              <a:rPr lang="zh-CN" altLang="en-US" sz="1200" b="0" i="0" kern="1200" dirty="0">
                <a:solidFill>
                  <a:schemeClr val="tx1"/>
                </a:solidFill>
                <a:effectLst/>
                <a:latin typeface="+mn-lt"/>
                <a:ea typeface="+mn-ea"/>
                <a:cs typeface="+mn-cs"/>
              </a:rPr>
              <a:t>表示的就是最大的规约数，上面已经进行了推算；</a:t>
            </a:r>
            <a:r>
              <a:rPr lang="en-US" altLang="zh-CN" sz="1200" b="0" i="0" kern="1200" dirty="0">
                <a:solidFill>
                  <a:schemeClr val="tx1"/>
                </a:solidFill>
                <a:effectLst/>
                <a:latin typeface="+mn-lt"/>
                <a:ea typeface="+mn-ea"/>
                <a:cs typeface="+mn-cs"/>
              </a:rPr>
              <a:t>radix</a:t>
            </a:r>
            <a:r>
              <a:rPr lang="zh-CN" altLang="en-US" sz="1200" b="0" i="0" kern="1200" dirty="0">
                <a:solidFill>
                  <a:schemeClr val="tx1"/>
                </a:solidFill>
                <a:effectLst/>
                <a:latin typeface="+mn-lt"/>
                <a:ea typeface="+mn-ea"/>
                <a:cs typeface="+mn-cs"/>
              </a:rPr>
              <a:t>表示的是在电脑中储存的基数，即进制数，这里表明的是二进制（很显然）；</a:t>
            </a:r>
            <a:r>
              <a:rPr lang="en-US" altLang="zh-CN" sz="1200" b="0" i="0" kern="1200" dirty="0" err="1">
                <a:solidFill>
                  <a:schemeClr val="tx1"/>
                </a:solidFill>
                <a:effectLst/>
                <a:latin typeface="+mn-lt"/>
                <a:ea typeface="+mn-ea"/>
                <a:cs typeface="+mn-cs"/>
              </a:rPr>
              <a:t>max_exp</a:t>
            </a:r>
            <a:r>
              <a:rPr lang="zh-CN" altLang="en-US" sz="1200" b="0" i="0" kern="1200" dirty="0">
                <a:solidFill>
                  <a:schemeClr val="tx1"/>
                </a:solidFill>
                <a:effectLst/>
                <a:latin typeface="+mn-lt"/>
                <a:ea typeface="+mn-ea"/>
                <a:cs typeface="+mn-cs"/>
              </a:rPr>
              <a:t>表示的是使得</a:t>
            </a:r>
            <a:r>
              <a:rPr lang="en-US" altLang="zh-CN" sz="1200" b="0" i="0" kern="1200" dirty="0">
                <a:solidFill>
                  <a:schemeClr val="tx1"/>
                </a:solidFill>
                <a:effectLst/>
                <a:latin typeface="+mn-lt"/>
                <a:ea typeface="+mn-ea"/>
                <a:cs typeface="+mn-cs"/>
              </a:rPr>
              <a:t>radix**(e-1)</a:t>
            </a:r>
            <a:r>
              <a:rPr lang="zh-CN" altLang="en-US" sz="1200" b="0" i="0" kern="1200" dirty="0">
                <a:solidFill>
                  <a:schemeClr val="tx1"/>
                </a:solidFill>
                <a:effectLst/>
                <a:latin typeface="+mn-lt"/>
                <a:ea typeface="+mn-ea"/>
                <a:cs typeface="+mn-cs"/>
              </a:rPr>
              <a:t>为可表示的有限浮点数最大指数，根据上述，由于移码后的规约数的指数范围为</a:t>
            </a:r>
            <a:r>
              <a:rPr lang="en-US" altLang="zh-CN" sz="1200" b="0" i="0" kern="1200" dirty="0">
                <a:solidFill>
                  <a:schemeClr val="tx1"/>
                </a:solidFill>
                <a:effectLst/>
                <a:latin typeface="+mn-lt"/>
                <a:ea typeface="+mn-ea"/>
                <a:cs typeface="+mn-cs"/>
              </a:rPr>
              <a:t>-1022~1023</a:t>
            </a:r>
            <a:r>
              <a:rPr lang="zh-CN" altLang="en-US" sz="1200" b="0" i="0" kern="1200" dirty="0">
                <a:solidFill>
                  <a:schemeClr val="tx1"/>
                </a:solidFill>
                <a:effectLst/>
                <a:latin typeface="+mn-lt"/>
                <a:ea typeface="+mn-ea"/>
                <a:cs typeface="+mn-cs"/>
              </a:rPr>
              <a:t>，即最大为</a:t>
            </a:r>
            <a:r>
              <a:rPr lang="en-US" altLang="zh-CN" sz="1200" b="0" i="0" kern="1200" dirty="0">
                <a:solidFill>
                  <a:schemeClr val="tx1"/>
                </a:solidFill>
                <a:effectLst/>
                <a:latin typeface="+mn-lt"/>
                <a:ea typeface="+mn-ea"/>
                <a:cs typeface="+mn-cs"/>
              </a:rPr>
              <a:t>1023</a:t>
            </a:r>
            <a:r>
              <a:rPr lang="zh-CN" altLang="en-US" sz="1200" b="0" i="0" kern="1200" dirty="0">
                <a:solidFill>
                  <a:schemeClr val="tx1"/>
                </a:solidFill>
                <a:effectLst/>
                <a:latin typeface="+mn-lt"/>
                <a:ea typeface="+mn-ea"/>
                <a:cs typeface="+mn-cs"/>
              </a:rPr>
              <a:t>，所以最大的</a:t>
            </a:r>
            <a:r>
              <a:rPr lang="en-US" altLang="zh-CN" sz="1200" b="0" i="0" kern="1200" dirty="0">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自然就是</a:t>
            </a:r>
            <a:r>
              <a:rPr lang="en-US" altLang="zh-CN" sz="1200" b="0" i="0" kern="1200" dirty="0">
                <a:solidFill>
                  <a:schemeClr val="tx1"/>
                </a:solidFill>
                <a:effectLst/>
                <a:latin typeface="+mn-lt"/>
                <a:ea typeface="+mn-ea"/>
                <a:cs typeface="+mn-cs"/>
              </a:rPr>
              <a:t>1024</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max_10_exp</a:t>
            </a:r>
            <a:r>
              <a:rPr lang="zh-CN" altLang="en-US" sz="1200" b="0" i="0" kern="1200" dirty="0">
                <a:solidFill>
                  <a:schemeClr val="tx1"/>
                </a:solidFill>
                <a:effectLst/>
                <a:latin typeface="+mn-lt"/>
                <a:ea typeface="+mn-ea"/>
                <a:cs typeface="+mn-cs"/>
              </a:rPr>
              <a:t>表示的是让</a:t>
            </a:r>
            <a:r>
              <a:rPr lang="en-US" altLang="zh-CN" sz="1200" b="0" i="0" kern="1200" dirty="0">
                <a:solidFill>
                  <a:schemeClr val="tx1"/>
                </a:solidFill>
                <a:effectLst/>
                <a:latin typeface="+mn-lt"/>
                <a:ea typeface="+mn-ea"/>
                <a:cs typeface="+mn-cs"/>
              </a:rPr>
              <a:t>10**e</a:t>
            </a:r>
            <a:r>
              <a:rPr lang="zh-CN" altLang="en-US" sz="1200" b="0" i="0" kern="1200" dirty="0">
                <a:solidFill>
                  <a:schemeClr val="tx1"/>
                </a:solidFill>
                <a:effectLst/>
                <a:latin typeface="+mn-lt"/>
                <a:ea typeface="+mn-ea"/>
                <a:cs typeface="+mn-cs"/>
              </a:rPr>
              <a:t>为一个可表示的浮点数最大的指数，同样的，根据上面对最大规约数的推导，计算得到的结果为</a:t>
            </a:r>
            <a:r>
              <a:rPr lang="en-US" altLang="zh-CN" sz="1200" b="0" i="0" kern="1200" dirty="0">
                <a:solidFill>
                  <a:schemeClr val="tx1"/>
                </a:solidFill>
                <a:effectLst/>
                <a:latin typeface="+mn-lt"/>
                <a:ea typeface="+mn-ea"/>
                <a:cs typeface="+mn-cs"/>
              </a:rPr>
              <a:t>1.7976931348623157e+308</a:t>
            </a:r>
            <a:r>
              <a:rPr lang="zh-CN" altLang="en-US" sz="1200" b="0" i="0" kern="1200" dirty="0">
                <a:solidFill>
                  <a:schemeClr val="tx1"/>
                </a:solidFill>
                <a:effectLst/>
                <a:latin typeface="+mn-lt"/>
                <a:ea typeface="+mn-ea"/>
                <a:cs typeface="+mn-cs"/>
              </a:rPr>
              <a:t>，所以</a:t>
            </a:r>
            <a:r>
              <a:rPr lang="en-US" altLang="zh-CN" sz="1200" b="0" i="0" kern="1200" dirty="0">
                <a:solidFill>
                  <a:schemeClr val="tx1"/>
                </a:solidFill>
                <a:effectLst/>
                <a:latin typeface="+mn-lt"/>
                <a:ea typeface="+mn-ea"/>
                <a:cs typeface="+mn-cs"/>
              </a:rPr>
              <a:t>max_10_exp</a:t>
            </a:r>
            <a:r>
              <a:rPr lang="zh-CN" altLang="en-US" sz="1200" b="0" i="0" kern="1200" dirty="0">
                <a:solidFill>
                  <a:schemeClr val="tx1"/>
                </a:solidFill>
                <a:effectLst/>
                <a:latin typeface="+mn-lt"/>
                <a:ea typeface="+mn-ea"/>
                <a:cs typeface="+mn-cs"/>
              </a:rPr>
              <a:t>自然就是</a:t>
            </a:r>
            <a:r>
              <a:rPr lang="en-US" altLang="zh-CN" sz="1200" b="0" i="0" kern="1200" dirty="0">
                <a:solidFill>
                  <a:schemeClr val="tx1"/>
                </a:solidFill>
                <a:effectLst/>
                <a:latin typeface="+mn-lt"/>
                <a:ea typeface="+mn-ea"/>
                <a:cs typeface="+mn-cs"/>
              </a:rPr>
              <a:t>308</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min</a:t>
            </a:r>
            <a:r>
              <a:rPr lang="zh-CN" altLang="en-US" sz="1200" b="0" i="0" kern="1200" dirty="0">
                <a:solidFill>
                  <a:schemeClr val="tx1"/>
                </a:solidFill>
                <a:effectLst/>
                <a:latin typeface="+mn-lt"/>
                <a:ea typeface="+mn-ea"/>
                <a:cs typeface="+mn-cs"/>
              </a:rPr>
              <a:t>表示最小的正规约数，这个和上面的推导结果也是一致的；</a:t>
            </a:r>
            <a:r>
              <a:rPr lang="en-US" altLang="zh-CN" sz="1200" b="0" i="0" kern="1200" dirty="0" err="1">
                <a:solidFill>
                  <a:schemeClr val="tx1"/>
                </a:solidFill>
                <a:effectLst/>
                <a:latin typeface="+mn-lt"/>
                <a:ea typeface="+mn-ea"/>
                <a:cs typeface="+mn-cs"/>
              </a:rPr>
              <a:t>min_exp</a:t>
            </a:r>
            <a:r>
              <a:rPr lang="zh-CN" altLang="en-US" sz="1200" b="0" i="0" kern="1200" dirty="0">
                <a:solidFill>
                  <a:schemeClr val="tx1"/>
                </a:solidFill>
                <a:effectLst/>
                <a:latin typeface="+mn-lt"/>
                <a:ea typeface="+mn-ea"/>
                <a:cs typeface="+mn-cs"/>
              </a:rPr>
              <a:t>表示的是使得</a:t>
            </a:r>
            <a:r>
              <a:rPr lang="en-US" altLang="zh-CN" sz="1200" b="0" i="0" kern="1200" dirty="0">
                <a:solidFill>
                  <a:schemeClr val="tx1"/>
                </a:solidFill>
                <a:effectLst/>
                <a:latin typeface="+mn-lt"/>
                <a:ea typeface="+mn-ea"/>
                <a:cs typeface="+mn-cs"/>
              </a:rPr>
              <a:t>radix**(e-1)</a:t>
            </a:r>
            <a:r>
              <a:rPr lang="zh-CN" altLang="en-US" sz="1200" b="0" i="0" kern="1200" dirty="0">
                <a:solidFill>
                  <a:schemeClr val="tx1"/>
                </a:solidFill>
                <a:effectLst/>
                <a:latin typeface="+mn-lt"/>
                <a:ea typeface="+mn-ea"/>
                <a:cs typeface="+mn-cs"/>
              </a:rPr>
              <a:t>为可表示的有限浮点数最小指数，因为移码后的最小指数为</a:t>
            </a:r>
            <a:r>
              <a:rPr lang="en-US" altLang="zh-CN" sz="1200" b="0" i="0" kern="1200" dirty="0">
                <a:solidFill>
                  <a:schemeClr val="tx1"/>
                </a:solidFill>
                <a:effectLst/>
                <a:latin typeface="+mn-lt"/>
                <a:ea typeface="+mn-ea"/>
                <a:cs typeface="+mn-cs"/>
              </a:rPr>
              <a:t>-1022</a:t>
            </a:r>
            <a:r>
              <a:rPr lang="zh-CN" altLang="en-US" sz="1200" b="0" i="0" kern="1200" dirty="0">
                <a:solidFill>
                  <a:schemeClr val="tx1"/>
                </a:solidFill>
                <a:effectLst/>
                <a:latin typeface="+mn-lt"/>
                <a:ea typeface="+mn-ea"/>
                <a:cs typeface="+mn-cs"/>
              </a:rPr>
              <a:t>（尽管指数为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时，我们设定此时偏移量为</a:t>
            </a:r>
            <a:r>
              <a:rPr lang="en-US" altLang="zh-CN" sz="1200" b="0" i="0" kern="1200" dirty="0">
                <a:solidFill>
                  <a:schemeClr val="tx1"/>
                </a:solidFill>
                <a:effectLst/>
                <a:latin typeface="+mn-lt"/>
                <a:ea typeface="+mn-ea"/>
                <a:cs typeface="+mn-cs"/>
              </a:rPr>
              <a:t>1022</a:t>
            </a:r>
            <a:r>
              <a:rPr lang="zh-CN" altLang="en-US" sz="1200" b="0" i="0" kern="1200" dirty="0">
                <a:solidFill>
                  <a:schemeClr val="tx1"/>
                </a:solidFill>
                <a:effectLst/>
                <a:latin typeface="+mn-lt"/>
                <a:ea typeface="+mn-ea"/>
                <a:cs typeface="+mn-cs"/>
              </a:rPr>
              <a:t>，所以移码后的指数依然为</a:t>
            </a:r>
            <a:r>
              <a:rPr lang="en-US" altLang="zh-CN" sz="1200" b="0" i="0" kern="1200" dirty="0">
                <a:solidFill>
                  <a:schemeClr val="tx1"/>
                </a:solidFill>
                <a:effectLst/>
                <a:latin typeface="+mn-lt"/>
                <a:ea typeface="+mn-ea"/>
                <a:cs typeface="+mn-cs"/>
              </a:rPr>
              <a:t>-1022</a:t>
            </a:r>
            <a:r>
              <a:rPr lang="zh-CN" altLang="en-US" sz="1200" b="0" i="0" kern="1200" dirty="0">
                <a:solidFill>
                  <a:schemeClr val="tx1"/>
                </a:solidFill>
                <a:effectLst/>
                <a:latin typeface="+mn-lt"/>
                <a:ea typeface="+mn-ea"/>
                <a:cs typeface="+mn-cs"/>
              </a:rPr>
              <a:t>），因此最小的</a:t>
            </a:r>
            <a:r>
              <a:rPr lang="en-US" altLang="zh-CN" sz="1200" b="0" i="0" kern="1200" dirty="0">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为</a:t>
            </a:r>
            <a:r>
              <a:rPr lang="en-US" altLang="zh-CN" sz="1200" b="0" i="0" kern="1200" dirty="0">
                <a:solidFill>
                  <a:schemeClr val="tx1"/>
                </a:solidFill>
                <a:effectLst/>
                <a:latin typeface="+mn-lt"/>
                <a:ea typeface="+mn-ea"/>
                <a:cs typeface="+mn-cs"/>
              </a:rPr>
              <a:t>-1021</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min_10_exp</a:t>
            </a:r>
            <a:r>
              <a:rPr lang="zh-CN" altLang="en-US" sz="1200" b="0" i="0" kern="1200" dirty="0">
                <a:solidFill>
                  <a:schemeClr val="tx1"/>
                </a:solidFill>
                <a:effectLst/>
                <a:latin typeface="+mn-lt"/>
                <a:ea typeface="+mn-ea"/>
                <a:cs typeface="+mn-cs"/>
              </a:rPr>
              <a:t>表示的是让</a:t>
            </a:r>
            <a:r>
              <a:rPr lang="en-US" altLang="zh-CN" sz="1200" b="0" i="0" kern="1200" dirty="0">
                <a:solidFill>
                  <a:schemeClr val="tx1"/>
                </a:solidFill>
                <a:effectLst/>
                <a:latin typeface="+mn-lt"/>
                <a:ea typeface="+mn-ea"/>
                <a:cs typeface="+mn-cs"/>
              </a:rPr>
              <a:t>10**e</a:t>
            </a:r>
            <a:r>
              <a:rPr lang="zh-CN" altLang="en-US" sz="1200" b="0" i="0" kern="1200" dirty="0">
                <a:solidFill>
                  <a:schemeClr val="tx1"/>
                </a:solidFill>
                <a:effectLst/>
                <a:latin typeface="+mn-lt"/>
                <a:ea typeface="+mn-ea"/>
                <a:cs typeface="+mn-cs"/>
              </a:rPr>
              <a:t>为一个可表示的规约浮点数最小的指数，由于计算得到的最小规约数为</a:t>
            </a:r>
            <a:r>
              <a:rPr lang="en-US" altLang="zh-CN" sz="1200" b="0" i="0" kern="1200" dirty="0">
                <a:solidFill>
                  <a:schemeClr val="tx1"/>
                </a:solidFill>
                <a:effectLst/>
                <a:latin typeface="+mn-lt"/>
                <a:ea typeface="+mn-ea"/>
                <a:cs typeface="+mn-cs"/>
              </a:rPr>
              <a:t>2.2250738585072014e-308</a:t>
            </a:r>
            <a:r>
              <a:rPr lang="zh-CN" altLang="en-US" sz="1200" b="0" i="0" kern="1200" dirty="0">
                <a:solidFill>
                  <a:schemeClr val="tx1"/>
                </a:solidFill>
                <a:effectLst/>
                <a:latin typeface="+mn-lt"/>
                <a:ea typeface="+mn-ea"/>
                <a:cs typeface="+mn-cs"/>
              </a:rPr>
              <a:t>，所以这时最小的</a:t>
            </a:r>
            <a:r>
              <a:rPr lang="en-US" altLang="zh-CN" sz="1200" b="0" i="0" kern="1200" dirty="0">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为</a:t>
            </a:r>
            <a:r>
              <a:rPr lang="en-US" altLang="zh-CN" sz="1200" b="0" i="0" kern="1200" dirty="0">
                <a:solidFill>
                  <a:schemeClr val="tx1"/>
                </a:solidFill>
                <a:effectLst/>
                <a:latin typeface="+mn-lt"/>
                <a:ea typeface="+mn-ea"/>
                <a:cs typeface="+mn-cs"/>
              </a:rPr>
              <a:t>-307</a:t>
            </a:r>
            <a:r>
              <a:rPr lang="zh-CN" altLang="en-US" sz="1200" b="0" i="0" kern="1200" dirty="0">
                <a:solidFill>
                  <a:schemeClr val="tx1"/>
                </a:solidFill>
                <a:effectLst/>
                <a:latin typeface="+mn-lt"/>
                <a:ea typeface="+mn-ea"/>
                <a:cs typeface="+mn-cs"/>
              </a:rPr>
              <a:t>（要注意不是</a:t>
            </a:r>
            <a:r>
              <a:rPr lang="en-US" altLang="zh-CN" sz="1200" b="0" i="0" kern="1200" dirty="0">
                <a:solidFill>
                  <a:schemeClr val="tx1"/>
                </a:solidFill>
                <a:effectLst/>
                <a:latin typeface="+mn-lt"/>
                <a:ea typeface="+mn-ea"/>
                <a:cs typeface="+mn-cs"/>
              </a:rPr>
              <a:t>-308</a:t>
            </a:r>
            <a:r>
              <a:rPr lang="zh-CN" altLang="en-US" sz="1200" b="0" i="0" kern="1200" dirty="0">
                <a:solidFill>
                  <a:schemeClr val="tx1"/>
                </a:solidFill>
                <a:effectLst/>
                <a:latin typeface="+mn-lt"/>
                <a:ea typeface="+mn-ea"/>
                <a:cs typeface="+mn-cs"/>
              </a:rPr>
              <a:t>，因为</a:t>
            </a:r>
            <a:r>
              <a:rPr lang="en-US" altLang="zh-CN" sz="1200" b="0" i="0" kern="1200" dirty="0">
                <a:solidFill>
                  <a:schemeClr val="tx1"/>
                </a:solidFill>
                <a:effectLst/>
                <a:latin typeface="+mn-lt"/>
                <a:ea typeface="+mn-ea"/>
                <a:cs typeface="+mn-cs"/>
              </a:rPr>
              <a:t>10**</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-308</a:t>
            </a:r>
            <a:r>
              <a:rPr lang="zh-CN" altLang="en-US" sz="1200" b="0" i="0" kern="1200" dirty="0">
                <a:solidFill>
                  <a:schemeClr val="tx1"/>
                </a:solidFill>
                <a:effectLst/>
                <a:latin typeface="+mn-lt"/>
                <a:ea typeface="+mn-ea"/>
                <a:cs typeface="+mn-cs"/>
              </a:rPr>
              <a:t>）比最小正规约数</a:t>
            </a:r>
            <a:r>
              <a:rPr lang="en-US" altLang="zh-CN" sz="1200" b="0" i="0" kern="1200" dirty="0">
                <a:solidFill>
                  <a:schemeClr val="tx1"/>
                </a:solidFill>
                <a:effectLst/>
                <a:latin typeface="+mn-lt"/>
                <a:ea typeface="+mn-ea"/>
                <a:cs typeface="+mn-cs"/>
              </a:rPr>
              <a:t>2.2250738585072014e-308</a:t>
            </a:r>
            <a:r>
              <a:rPr lang="zh-CN" altLang="en-US" sz="1200" b="0" i="0" kern="1200" dirty="0">
                <a:solidFill>
                  <a:schemeClr val="tx1"/>
                </a:solidFill>
                <a:effectLst/>
                <a:latin typeface="+mn-lt"/>
                <a:ea typeface="+mn-ea"/>
                <a:cs typeface="+mn-cs"/>
              </a:rPr>
              <a:t>还小，这是不符合要求的，所以应该是</a:t>
            </a:r>
            <a:r>
              <a:rPr lang="en-US" altLang="zh-CN" sz="1200" b="0" i="0" kern="1200" dirty="0">
                <a:solidFill>
                  <a:schemeClr val="tx1"/>
                </a:solidFill>
                <a:effectLst/>
                <a:latin typeface="+mn-lt"/>
                <a:ea typeface="+mn-ea"/>
                <a:cs typeface="+mn-cs"/>
              </a:rPr>
              <a:t>-307</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dig</a:t>
            </a:r>
            <a:r>
              <a:rPr lang="zh-CN" altLang="en-US" sz="1200" b="0" i="0" kern="1200" dirty="0">
                <a:solidFill>
                  <a:schemeClr val="tx1"/>
                </a:solidFill>
                <a:effectLst/>
                <a:latin typeface="+mn-lt"/>
                <a:ea typeface="+mn-ea"/>
                <a:cs typeface="+mn-cs"/>
              </a:rPr>
              <a:t>表示可以保证被精确的转为浮点数的整数的数字个数，因为我们上面计算得到的可以保证被精确的转为浮点数的整数应该小于等于</a:t>
            </a:r>
            <a:r>
              <a:rPr lang="en-US" altLang="zh-CN" sz="1200" b="0" i="0" kern="1200" dirty="0">
                <a:solidFill>
                  <a:schemeClr val="tx1"/>
                </a:solidFill>
                <a:effectLst/>
                <a:latin typeface="+mn-lt"/>
                <a:ea typeface="+mn-ea"/>
                <a:cs typeface="+mn-cs"/>
              </a:rPr>
              <a:t>9007199254740991</a:t>
            </a:r>
            <a:r>
              <a:rPr lang="zh-CN" altLang="en-US" sz="1200" b="0" i="0" kern="1200" dirty="0">
                <a:solidFill>
                  <a:schemeClr val="tx1"/>
                </a:solidFill>
                <a:effectLst/>
                <a:latin typeface="+mn-lt"/>
                <a:ea typeface="+mn-ea"/>
                <a:cs typeface="+mn-cs"/>
              </a:rPr>
              <a:t>，该数有</a:t>
            </a:r>
            <a:r>
              <a:rPr lang="en-US" altLang="zh-CN" sz="1200" b="0" i="0" kern="1200" dirty="0">
                <a:solidFill>
                  <a:schemeClr val="tx1"/>
                </a:solidFill>
                <a:effectLst/>
                <a:latin typeface="+mn-lt"/>
                <a:ea typeface="+mn-ea"/>
                <a:cs typeface="+mn-cs"/>
              </a:rPr>
              <a:t>16</a:t>
            </a:r>
            <a:r>
              <a:rPr lang="zh-CN" altLang="en-US" sz="1200" b="0" i="0" kern="1200" dirty="0">
                <a:solidFill>
                  <a:schemeClr val="tx1"/>
                </a:solidFill>
                <a:effectLst/>
                <a:latin typeface="+mn-lt"/>
                <a:ea typeface="+mn-ea"/>
                <a:cs typeface="+mn-cs"/>
              </a:rPr>
              <a:t>位数字，但是大于该数的</a:t>
            </a:r>
            <a:r>
              <a:rPr lang="en-US" altLang="zh-CN" sz="1200" b="0" i="0" kern="1200" dirty="0">
                <a:solidFill>
                  <a:schemeClr val="tx1"/>
                </a:solidFill>
                <a:effectLst/>
                <a:latin typeface="+mn-lt"/>
                <a:ea typeface="+mn-ea"/>
                <a:cs typeface="+mn-cs"/>
              </a:rPr>
              <a:t>16</a:t>
            </a:r>
            <a:r>
              <a:rPr lang="zh-CN" altLang="en-US" sz="1200" b="0" i="0" kern="1200" dirty="0">
                <a:solidFill>
                  <a:schemeClr val="tx1"/>
                </a:solidFill>
                <a:effectLst/>
                <a:latin typeface="+mn-lt"/>
                <a:ea typeface="+mn-ea"/>
                <a:cs typeface="+mn-cs"/>
              </a:rPr>
              <a:t>位数字的整数是无法被精确的转为浮点数的，所以能够被保证可以精确表示成</a:t>
            </a:r>
            <a:r>
              <a:rPr lang="en-US" altLang="zh-CN" sz="1200" b="0" i="0" kern="1200" dirty="0">
                <a:solidFill>
                  <a:schemeClr val="tx1"/>
                </a:solidFill>
                <a:effectLst/>
                <a:latin typeface="+mn-lt"/>
                <a:ea typeface="+mn-ea"/>
                <a:cs typeface="+mn-cs"/>
              </a:rPr>
              <a:t>64</a:t>
            </a:r>
            <a:r>
              <a:rPr lang="zh-CN" altLang="en-US" sz="1200" b="0" i="0" kern="1200" dirty="0">
                <a:solidFill>
                  <a:schemeClr val="tx1"/>
                </a:solidFill>
                <a:effectLst/>
                <a:latin typeface="+mn-lt"/>
                <a:ea typeface="+mn-ea"/>
                <a:cs typeface="+mn-cs"/>
              </a:rPr>
              <a:t>位浮点数的整数的最大位数应该为</a:t>
            </a:r>
            <a:r>
              <a:rPr lang="en-US" altLang="zh-CN" sz="1200" b="0" i="0" kern="1200" dirty="0">
                <a:solidFill>
                  <a:schemeClr val="tx1"/>
                </a:solidFill>
                <a:effectLst/>
                <a:latin typeface="+mn-lt"/>
                <a:ea typeface="+mn-ea"/>
                <a:cs typeface="+mn-cs"/>
              </a:rPr>
              <a:t>15</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mant_dig</a:t>
            </a:r>
            <a:r>
              <a:rPr lang="zh-CN" altLang="en-US" sz="1200" b="0" i="0" kern="1200" dirty="0">
                <a:solidFill>
                  <a:schemeClr val="tx1"/>
                </a:solidFill>
                <a:effectLst/>
                <a:latin typeface="+mn-lt"/>
                <a:ea typeface="+mn-ea"/>
                <a:cs typeface="+mn-cs"/>
              </a:rPr>
              <a:t>就是</a:t>
            </a:r>
            <a:r>
              <a:rPr lang="en-US" altLang="zh-CN" sz="1200" b="0" i="0" kern="1200" dirty="0">
                <a:solidFill>
                  <a:schemeClr val="tx1"/>
                </a:solidFill>
                <a:effectLst/>
                <a:latin typeface="+mn-lt"/>
                <a:ea typeface="+mn-ea"/>
                <a:cs typeface="+mn-cs"/>
              </a:rPr>
              <a:t>mantissa digits</a:t>
            </a:r>
            <a:r>
              <a:rPr lang="zh-CN" altLang="en-US" sz="1200" b="0" i="0" kern="1200" dirty="0">
                <a:solidFill>
                  <a:schemeClr val="tx1"/>
                </a:solidFill>
                <a:effectLst/>
                <a:latin typeface="+mn-lt"/>
                <a:ea typeface="+mn-ea"/>
                <a:cs typeface="+mn-cs"/>
              </a:rPr>
              <a:t>，即尾数位数，由于我们知道尾数的首位</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是被隐藏的，所以真正的尾数位数共有</a:t>
            </a:r>
            <a:r>
              <a:rPr lang="en-US" altLang="zh-CN" sz="1200" b="0" i="0" kern="1200" dirty="0">
                <a:solidFill>
                  <a:schemeClr val="tx1"/>
                </a:solidFill>
                <a:effectLst/>
                <a:latin typeface="+mn-lt"/>
                <a:ea typeface="+mn-ea"/>
                <a:cs typeface="+mn-cs"/>
              </a:rPr>
              <a:t>52</a:t>
            </a:r>
            <a:r>
              <a:rPr lang="zh-CN" altLang="en-US" sz="1200" b="0" i="0" kern="1200" dirty="0">
                <a:solidFill>
                  <a:schemeClr val="tx1"/>
                </a:solidFill>
                <a:effectLst/>
                <a:latin typeface="+mn-lt"/>
                <a:ea typeface="+mn-ea"/>
                <a:cs typeface="+mn-cs"/>
              </a:rPr>
              <a:t>位小数位数加上首位的隐藏</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，共有</a:t>
            </a:r>
            <a:r>
              <a:rPr lang="en-US" altLang="zh-CN" sz="1200" b="0" i="0" kern="1200" dirty="0">
                <a:solidFill>
                  <a:schemeClr val="tx1"/>
                </a:solidFill>
                <a:effectLst/>
                <a:latin typeface="+mn-lt"/>
                <a:ea typeface="+mn-ea"/>
                <a:cs typeface="+mn-cs"/>
              </a:rPr>
              <a:t>53</a:t>
            </a:r>
            <a:r>
              <a:rPr lang="zh-CN" altLang="en-US" sz="1200" b="0" i="0" kern="1200" dirty="0">
                <a:solidFill>
                  <a:schemeClr val="tx1"/>
                </a:solidFill>
                <a:effectLst/>
                <a:latin typeface="+mn-lt"/>
                <a:ea typeface="+mn-ea"/>
                <a:cs typeface="+mn-cs"/>
              </a:rPr>
              <a:t>位；这里的</a:t>
            </a:r>
            <a:r>
              <a:rPr lang="en-US" altLang="zh-CN" sz="1200" b="0" i="0" kern="1200" dirty="0">
                <a:solidFill>
                  <a:schemeClr val="tx1"/>
                </a:solidFill>
                <a:effectLst/>
                <a:latin typeface="+mn-lt"/>
                <a:ea typeface="+mn-ea"/>
                <a:cs typeface="+mn-cs"/>
              </a:rPr>
              <a:t>epsilon</a:t>
            </a:r>
            <a:r>
              <a:rPr lang="zh-CN" altLang="en-US" sz="1200" b="0" i="0" kern="1200" dirty="0">
                <a:solidFill>
                  <a:schemeClr val="tx1"/>
                </a:solidFill>
                <a:effectLst/>
                <a:latin typeface="+mn-lt"/>
                <a:ea typeface="+mn-ea"/>
                <a:cs typeface="+mn-cs"/>
              </a:rPr>
              <a:t>和我们上面说的</a:t>
            </a:r>
            <a:r>
              <a:rPr lang="en-US" altLang="zh-CN" sz="1200" b="0" i="0" kern="1200" dirty="0">
                <a:solidFill>
                  <a:schemeClr val="tx1"/>
                </a:solidFill>
                <a:effectLst/>
                <a:latin typeface="+mn-lt"/>
                <a:ea typeface="+mn-ea"/>
                <a:cs typeface="+mn-cs"/>
              </a:rPr>
              <a:t>epsilon</a:t>
            </a:r>
            <a:r>
              <a:rPr lang="zh-CN" altLang="en-US" sz="1200" b="0" i="0" kern="1200" dirty="0">
                <a:solidFill>
                  <a:schemeClr val="tx1"/>
                </a:solidFill>
                <a:effectLst/>
                <a:latin typeface="+mn-lt"/>
                <a:ea typeface="+mn-ea"/>
                <a:cs typeface="+mn-cs"/>
              </a:rPr>
              <a:t>意义一样，就是最小的大于</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的浮点数和</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之间的差值；</a:t>
            </a:r>
            <a:r>
              <a:rPr lang="en-US" altLang="zh-CN" sz="1200" b="0" i="0" kern="1200" dirty="0">
                <a:solidFill>
                  <a:schemeClr val="tx1"/>
                </a:solidFill>
                <a:effectLst/>
                <a:latin typeface="+mn-lt"/>
                <a:ea typeface="+mn-ea"/>
                <a:cs typeface="+mn-cs"/>
              </a:rPr>
              <a:t>radix</a:t>
            </a:r>
            <a:r>
              <a:rPr lang="zh-CN" altLang="en-US" sz="1200" b="0" i="0" kern="1200" dirty="0">
                <a:solidFill>
                  <a:schemeClr val="tx1"/>
                </a:solidFill>
                <a:effectLst/>
                <a:latin typeface="+mn-lt"/>
                <a:ea typeface="+mn-ea"/>
                <a:cs typeface="+mn-cs"/>
              </a:rPr>
              <a:t>表示基数，也就是进制数，这里指的是二进制；最后</a:t>
            </a:r>
            <a:r>
              <a:rPr lang="en-US" altLang="zh-CN" sz="1200" b="0" i="0" kern="1200" dirty="0">
                <a:solidFill>
                  <a:schemeClr val="tx1"/>
                </a:solidFill>
                <a:effectLst/>
                <a:latin typeface="+mn-lt"/>
                <a:ea typeface="+mn-ea"/>
                <a:cs typeface="+mn-cs"/>
              </a:rPr>
              <a:t>rounds</a:t>
            </a:r>
            <a:r>
              <a:rPr lang="zh-CN" altLang="en-US" sz="1200" b="0" i="0" kern="1200" dirty="0">
                <a:solidFill>
                  <a:schemeClr val="tx1"/>
                </a:solidFill>
                <a:effectLst/>
                <a:latin typeface="+mn-lt"/>
                <a:ea typeface="+mn-ea"/>
                <a:cs typeface="+mn-cs"/>
              </a:rPr>
              <a:t>表示的是当一个整数转成浮点数，对无法精确表示的整数的近似模式，这里为</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表示的是取里原值最近的浮点表示，如果存在两种不同的表示距离一样近，那么去最后一位（即第</a:t>
            </a:r>
            <a:r>
              <a:rPr lang="en-US" altLang="zh-CN" sz="1200" b="0" i="0" kern="1200" dirty="0">
                <a:solidFill>
                  <a:schemeClr val="tx1"/>
                </a:solidFill>
                <a:effectLst/>
                <a:latin typeface="+mn-lt"/>
                <a:ea typeface="+mn-ea"/>
                <a:cs typeface="+mn-cs"/>
              </a:rPr>
              <a:t>52</a:t>
            </a:r>
            <a:r>
              <a:rPr lang="zh-CN" altLang="en-US" sz="1200" b="0" i="0" kern="1200" dirty="0">
                <a:solidFill>
                  <a:schemeClr val="tx1"/>
                </a:solidFill>
                <a:effectLst/>
                <a:latin typeface="+mn-lt"/>
                <a:ea typeface="+mn-ea"/>
                <a:cs typeface="+mn-cs"/>
              </a:rPr>
              <a:t>位</a:t>
            </a:r>
            <a:r>
              <a:rPr lang="en-US" altLang="zh-CN" sz="1200" b="0" i="0" kern="1200" dirty="0">
                <a:solidFill>
                  <a:schemeClr val="tx1"/>
                </a:solidFill>
                <a:effectLst/>
                <a:latin typeface="+mn-lt"/>
                <a:ea typeface="+mn-ea"/>
                <a:cs typeface="+mn-cs"/>
              </a:rPr>
              <a:t>bit</a:t>
            </a:r>
            <a:r>
              <a:rPr lang="zh-CN" altLang="en-US" sz="1200" b="0" i="0" kern="1200" dirty="0">
                <a:solidFill>
                  <a:schemeClr val="tx1"/>
                </a:solidFill>
                <a:effectLst/>
                <a:latin typeface="+mn-lt"/>
                <a:ea typeface="+mn-ea"/>
                <a:cs typeface="+mn-cs"/>
              </a:rPr>
              <a:t>）为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的情形</a:t>
            </a:r>
            <a:endParaRPr lang="zh-CN" altLang="en-US" dirty="0"/>
          </a:p>
        </p:txBody>
      </p:sp>
      <p:sp>
        <p:nvSpPr>
          <p:cNvPr id="4" name="灯片编号占位符 3"/>
          <p:cNvSpPr>
            <a:spLocks noGrp="1"/>
          </p:cNvSpPr>
          <p:nvPr>
            <p:ph type="sldNum" sz="quarter" idx="10"/>
          </p:nvPr>
        </p:nvSpPr>
        <p:spPr/>
        <p:txBody>
          <a:bodyPr/>
          <a:lstStyle/>
          <a:p>
            <a:pPr>
              <a:defRPr/>
            </a:pPr>
            <a:fld id="{37EB3F29-63AA-456A-8033-9D7C5DEBDA43}" type="slidenum">
              <a:rPr lang="zh-CN" altLang="en-US" smtClean="0"/>
              <a:pPr>
                <a:defRPr/>
              </a:pPr>
              <a:t>8</a:t>
            </a:fld>
            <a:endParaRPr lang="zh-CN" altLang="en-US"/>
          </a:p>
        </p:txBody>
      </p:sp>
    </p:spTree>
    <p:extLst>
      <p:ext uri="{BB962C8B-B14F-4D97-AF65-F5344CB8AC3E}">
        <p14:creationId xmlns:p14="http://schemas.microsoft.com/office/powerpoint/2010/main" val="1224866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41F0D5AD-C450-4527-ABF8-DD365D7085A0}" type="slidenum">
              <a:rPr kumimoji="0" lang="en-US" altLang="zh-CN" sz="1200" b="0" smtClean="0">
                <a:solidFill>
                  <a:schemeClr val="tx1"/>
                </a:solidFill>
                <a:ea typeface="宋体" pitchFamily="2" charset="-122"/>
              </a:rPr>
              <a:pPr eaLnBrk="1" hangingPunct="1"/>
              <a:t>11</a:t>
            </a:fld>
            <a:endParaRPr kumimoji="0" lang="en-US" altLang="zh-CN" sz="1200" b="0">
              <a:solidFill>
                <a:schemeClr val="tx1"/>
              </a:solidFill>
              <a:ea typeface="宋体" pitchFamily="2" charset="-122"/>
            </a:endParaRPr>
          </a:p>
        </p:txBody>
      </p:sp>
      <p:sp>
        <p:nvSpPr>
          <p:cNvPr id="84995" name="Rectangle 2"/>
          <p:cNvSpPr>
            <a:spLocks noGrp="1" noRot="1" noChangeAspect="1" noChangeArrowheads="1" noTextEdit="1"/>
          </p:cNvSpPr>
          <p:nvPr>
            <p:ph type="sldImg"/>
          </p:nvPr>
        </p:nvSpPr>
        <p:spPr>
          <a:xfrm>
            <a:off x="2128838" y="1373188"/>
            <a:ext cx="3514725" cy="1978025"/>
          </a:xfrm>
          <a:solidFill>
            <a:srgbClr val="FFFFFF"/>
          </a:solidFill>
          <a:ln w="12700" cap="flat"/>
        </p:spPr>
      </p:sp>
      <p:sp>
        <p:nvSpPr>
          <p:cNvPr id="8499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latin typeface="Arial" pitchFamily="34" charset="0"/>
            </a:endParaRPr>
          </a:p>
        </p:txBody>
      </p:sp>
    </p:spTree>
    <p:extLst>
      <p:ext uri="{BB962C8B-B14F-4D97-AF65-F5344CB8AC3E}">
        <p14:creationId xmlns:p14="http://schemas.microsoft.com/office/powerpoint/2010/main" val="4106448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es-ES" altLang="zh-CN" dirty="0"/>
              <a:t>while x!=0:</a:t>
            </a:r>
          </a:p>
          <a:p>
            <a:r>
              <a:rPr lang="es-ES" altLang="zh-CN" dirty="0"/>
              <a:t>    y = y*10+x%10</a:t>
            </a:r>
          </a:p>
          <a:p>
            <a:r>
              <a:rPr lang="es-ES" altLang="zh-CN" dirty="0"/>
              <a:t>    x=x//10</a:t>
            </a:r>
          </a:p>
          <a:p>
            <a:r>
              <a:rPr lang="es-ES" altLang="zh-CN" dirty="0"/>
              <a:t>print(y)</a:t>
            </a:r>
          </a:p>
          <a:p>
            <a:endParaRPr lang="es-ES" altLang="zh-CN" dirty="0"/>
          </a:p>
          <a:p>
            <a:endParaRPr lang="es-ES" altLang="zh-CN" dirty="0"/>
          </a:p>
          <a:p>
            <a:r>
              <a:rPr lang="es-ES" altLang="zh-CN" dirty="0"/>
              <a:t>y=0</a:t>
            </a:r>
          </a:p>
          <a:p>
            <a:r>
              <a:rPr lang="es-ES" altLang="zh-CN" dirty="0"/>
              <a:t>x= int(input("</a:t>
            </a:r>
            <a:r>
              <a:rPr lang="zh-CN" altLang="en-US" dirty="0"/>
              <a:t>请</a:t>
            </a:r>
            <a:r>
              <a:rPr lang="es-ES" altLang="zh-CN" dirty="0"/>
              <a:t>x</a:t>
            </a:r>
            <a:r>
              <a:rPr lang="zh-CN" altLang="en-US" dirty="0"/>
              <a:t>的值：</a:t>
            </a:r>
            <a:r>
              <a:rPr lang="en-US" altLang="zh-CN" dirty="0"/>
              <a:t>"))</a:t>
            </a:r>
          </a:p>
          <a:p>
            <a:r>
              <a:rPr lang="es-ES" altLang="zh-CN" dirty="0"/>
              <a:t>for i in range(3):</a:t>
            </a:r>
          </a:p>
          <a:p>
            <a:r>
              <a:rPr lang="es-ES" altLang="zh-CN" dirty="0"/>
              <a:t>    z=x%10         #</a:t>
            </a:r>
            <a:r>
              <a:rPr lang="zh-CN" altLang="en-US" dirty="0"/>
              <a:t>个位数字</a:t>
            </a:r>
          </a:p>
          <a:p>
            <a:r>
              <a:rPr lang="zh-CN" altLang="en-US" dirty="0"/>
              <a:t>    </a:t>
            </a:r>
            <a:r>
              <a:rPr lang="es-ES" altLang="zh-CN" dirty="0"/>
              <a:t>y=y*10+z</a:t>
            </a:r>
          </a:p>
          <a:p>
            <a:r>
              <a:rPr lang="es-ES" altLang="zh-CN" dirty="0"/>
              <a:t>    x=x//10</a:t>
            </a:r>
          </a:p>
          <a:p>
            <a:r>
              <a:rPr lang="es-ES" altLang="zh-CN" dirty="0"/>
              <a:t>print(y)</a:t>
            </a:r>
          </a:p>
          <a:p>
            <a:endParaRPr lang="es-ES" altLang="zh-CN" dirty="0"/>
          </a:p>
          <a:p>
            <a:endParaRPr lang="es-ES" altLang="zh-CN" dirty="0"/>
          </a:p>
          <a:p>
            <a:endParaRPr lang="es-ES" altLang="zh-CN" dirty="0"/>
          </a:p>
          <a:p>
            <a:r>
              <a:rPr lang="en-US" altLang="zh-CN" dirty="0"/>
              <a:t>x= input("</a:t>
            </a:r>
            <a:r>
              <a:rPr lang="zh-CN" altLang="en-US" dirty="0"/>
              <a:t>请</a:t>
            </a:r>
            <a:r>
              <a:rPr lang="en-US" altLang="zh-CN" dirty="0"/>
              <a:t>x</a:t>
            </a:r>
            <a:r>
              <a:rPr lang="zh-CN" altLang="en-US" dirty="0"/>
              <a:t>的值：</a:t>
            </a:r>
            <a:r>
              <a:rPr lang="en-US" altLang="zh-CN" dirty="0"/>
              <a:t>")</a:t>
            </a:r>
          </a:p>
          <a:p>
            <a:r>
              <a:rPr lang="en-US" altLang="zh-CN" dirty="0"/>
              <a:t>y=x[::-1]</a:t>
            </a:r>
          </a:p>
          <a:p>
            <a:r>
              <a:rPr lang="en-US" altLang="zh-CN" dirty="0"/>
              <a:t>print(y)</a:t>
            </a:r>
            <a:endParaRPr lang="zh-CN" altLang="en-US" dirty="0"/>
          </a:p>
        </p:txBody>
      </p:sp>
      <p:sp>
        <p:nvSpPr>
          <p:cNvPr id="4" name="灯片编号占位符 3"/>
          <p:cNvSpPr>
            <a:spLocks noGrp="1"/>
          </p:cNvSpPr>
          <p:nvPr>
            <p:ph type="sldNum" sz="quarter" idx="5"/>
          </p:nvPr>
        </p:nvSpPr>
        <p:spPr/>
        <p:txBody>
          <a:bodyPr/>
          <a:lstStyle/>
          <a:p>
            <a:pPr>
              <a:defRPr/>
            </a:pPr>
            <a:fld id="{37EB3F29-63AA-456A-8033-9D7C5DEBDA43}" type="slidenum">
              <a:rPr lang="zh-CN" altLang="en-US" smtClean="0"/>
              <a:pPr>
                <a:defRPr/>
              </a:pPr>
              <a:t>13</a:t>
            </a:fld>
            <a:endParaRPr lang="zh-CN" altLang="en-US"/>
          </a:p>
        </p:txBody>
      </p:sp>
    </p:spTree>
    <p:extLst>
      <p:ext uri="{BB962C8B-B14F-4D97-AF65-F5344CB8AC3E}">
        <p14:creationId xmlns:p14="http://schemas.microsoft.com/office/powerpoint/2010/main" val="1549367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6E29261E-0FF0-4CD0-92C5-BC9931B2CBBD}" type="slidenum">
              <a:rPr kumimoji="0" lang="en-US" altLang="zh-CN" sz="1200" b="0" smtClean="0">
                <a:solidFill>
                  <a:schemeClr val="tx1"/>
                </a:solidFill>
                <a:ea typeface="宋体" pitchFamily="2" charset="-122"/>
              </a:rPr>
              <a:pPr eaLnBrk="1" hangingPunct="1"/>
              <a:t>15</a:t>
            </a:fld>
            <a:endParaRPr kumimoji="0" lang="en-US" altLang="zh-CN" sz="1200" b="0">
              <a:solidFill>
                <a:schemeClr val="tx1"/>
              </a:solidFill>
              <a:ea typeface="宋体" pitchFamily="2" charset="-122"/>
            </a:endParaRPr>
          </a:p>
        </p:txBody>
      </p:sp>
      <p:sp>
        <p:nvSpPr>
          <p:cNvPr id="100355" name="Rectangle 2"/>
          <p:cNvSpPr>
            <a:spLocks noGrp="1" noRot="1" noChangeAspect="1" noChangeArrowheads="1" noTextEdit="1"/>
          </p:cNvSpPr>
          <p:nvPr>
            <p:ph type="sldImg"/>
          </p:nvPr>
        </p:nvSpPr>
        <p:spPr>
          <a:xfrm>
            <a:off x="2128838" y="1373188"/>
            <a:ext cx="3514725" cy="1978025"/>
          </a:xfrm>
          <a:solidFill>
            <a:srgbClr val="FFFFFF"/>
          </a:solidFill>
          <a:ln w="12700" cap="flat"/>
        </p:spPr>
      </p:sp>
      <p:sp>
        <p:nvSpPr>
          <p:cNvPr id="10035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latin typeface="Arial" pitchFamily="34" charset="0"/>
            </a:endParaRPr>
          </a:p>
        </p:txBody>
      </p:sp>
    </p:spTree>
    <p:extLst>
      <p:ext uri="{BB962C8B-B14F-4D97-AF65-F5344CB8AC3E}">
        <p14:creationId xmlns:p14="http://schemas.microsoft.com/office/powerpoint/2010/main" val="3089487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dirty="0">
                <a:solidFill>
                  <a:srgbClr val="C00000"/>
                </a:solidFill>
              </a:rPr>
              <a:t>Uniform()  </a:t>
            </a:r>
            <a:r>
              <a:rPr lang="zh-CN" altLang="en-US" b="1" dirty="0">
                <a:solidFill>
                  <a:srgbClr val="C00000"/>
                </a:solidFill>
              </a:rPr>
              <a:t>均匀分布</a:t>
            </a:r>
            <a:endParaRPr lang="en-US" altLang="zh-CN" b="1" dirty="0">
              <a:solidFill>
                <a:srgbClr val="C00000"/>
              </a:solidFill>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a:solidFill>
                  <a:srgbClr val="C00000"/>
                </a:solidFill>
              </a:rPr>
              <a:t>float(“%0.2f”%n)     </a:t>
            </a:r>
            <a:r>
              <a:rPr lang="en-US" altLang="zh-CN" b="1" dirty="0">
                <a:solidFill>
                  <a:srgbClr val="C00000"/>
                </a:solidFill>
              </a:rPr>
              <a:t>#</a:t>
            </a:r>
            <a:r>
              <a:rPr lang="zh-CN" altLang="en-US" b="1" dirty="0">
                <a:solidFill>
                  <a:srgbClr val="C00000"/>
                </a:solidFill>
              </a:rPr>
              <a:t>指定小数位数为</a:t>
            </a:r>
            <a:r>
              <a:rPr lang="en-US" altLang="zh-CN" b="1" dirty="0">
                <a:solidFill>
                  <a:srgbClr val="C00000"/>
                </a:solidFill>
              </a:rPr>
              <a:t>2</a:t>
            </a:r>
            <a:r>
              <a:rPr lang="zh-CN" altLang="en-US" b="1" dirty="0">
                <a:solidFill>
                  <a:srgbClr val="C00000"/>
                </a:solidFill>
              </a:rPr>
              <a:t>位，但末尾为</a:t>
            </a:r>
            <a:r>
              <a:rPr lang="en-US" altLang="zh-CN" b="1" dirty="0">
                <a:solidFill>
                  <a:srgbClr val="C00000"/>
                </a:solidFill>
              </a:rPr>
              <a:t>0</a:t>
            </a:r>
            <a:r>
              <a:rPr lang="zh-CN" altLang="en-US" b="1" dirty="0">
                <a:solidFill>
                  <a:srgbClr val="C00000"/>
                </a:solidFill>
              </a:rPr>
              <a:t>时会丢</a:t>
            </a:r>
            <a:r>
              <a:rPr lang="en-US" altLang="zh-CN" b="1" dirty="0">
                <a:solidFill>
                  <a:srgbClr val="C00000"/>
                </a:solidFill>
              </a:rPr>
              <a:t>0</a:t>
            </a:r>
            <a:endParaRPr lang="zh-CN" altLang="en-US" b="1" dirty="0">
              <a:solidFill>
                <a:srgbClr val="C00000"/>
              </a:solidFill>
            </a:endParaRPr>
          </a:p>
          <a:p>
            <a:endParaRPr lang="zh-CN" altLang="en-US" dirty="0"/>
          </a:p>
        </p:txBody>
      </p:sp>
      <p:sp>
        <p:nvSpPr>
          <p:cNvPr id="4" name="灯片编号占位符 3"/>
          <p:cNvSpPr>
            <a:spLocks noGrp="1"/>
          </p:cNvSpPr>
          <p:nvPr>
            <p:ph type="sldNum" sz="quarter" idx="10"/>
          </p:nvPr>
        </p:nvSpPr>
        <p:spPr/>
        <p:txBody>
          <a:bodyPr/>
          <a:lstStyle/>
          <a:p>
            <a:pPr>
              <a:defRPr/>
            </a:pPr>
            <a:fld id="{37EB3F29-63AA-456A-8033-9D7C5DEBDA43}" type="slidenum">
              <a:rPr lang="zh-CN" altLang="en-US" smtClean="0"/>
              <a:pPr>
                <a:defRPr/>
              </a:pPr>
              <a:t>16</a:t>
            </a:fld>
            <a:endParaRPr lang="zh-CN" altLang="en-US"/>
          </a:p>
        </p:txBody>
      </p:sp>
    </p:spTree>
    <p:extLst>
      <p:ext uri="{BB962C8B-B14F-4D97-AF65-F5344CB8AC3E}">
        <p14:creationId xmlns:p14="http://schemas.microsoft.com/office/powerpoint/2010/main" val="3636821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6E29261E-0FF0-4CD0-92C5-BC9931B2CBBD}" type="slidenum">
              <a:rPr kumimoji="0" lang="en-US" altLang="zh-CN" sz="1200" b="0" smtClean="0">
                <a:solidFill>
                  <a:schemeClr val="tx1"/>
                </a:solidFill>
                <a:ea typeface="宋体" pitchFamily="2" charset="-122"/>
              </a:rPr>
              <a:pPr eaLnBrk="1" hangingPunct="1"/>
              <a:t>20</a:t>
            </a:fld>
            <a:endParaRPr kumimoji="0" lang="en-US" altLang="zh-CN" sz="1200" b="0">
              <a:solidFill>
                <a:schemeClr val="tx1"/>
              </a:solidFill>
              <a:ea typeface="宋体" pitchFamily="2" charset="-122"/>
            </a:endParaRPr>
          </a:p>
        </p:txBody>
      </p:sp>
      <p:sp>
        <p:nvSpPr>
          <p:cNvPr id="100355" name="Rectangle 2"/>
          <p:cNvSpPr>
            <a:spLocks noGrp="1" noRot="1" noChangeAspect="1" noChangeArrowheads="1" noTextEdit="1"/>
          </p:cNvSpPr>
          <p:nvPr>
            <p:ph type="sldImg"/>
          </p:nvPr>
        </p:nvSpPr>
        <p:spPr>
          <a:xfrm>
            <a:off x="2128838" y="1373188"/>
            <a:ext cx="3514725" cy="1978025"/>
          </a:xfrm>
          <a:solidFill>
            <a:srgbClr val="FFFFFF"/>
          </a:solidFill>
          <a:ln w="12700" cap="flat"/>
        </p:spPr>
      </p:sp>
      <p:sp>
        <p:nvSpPr>
          <p:cNvPr id="10035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latin typeface="Arial" pitchFamily="34" charset="0"/>
            </a:endParaRPr>
          </a:p>
        </p:txBody>
      </p:sp>
    </p:spTree>
    <p:extLst>
      <p:ext uri="{BB962C8B-B14F-4D97-AF65-F5344CB8AC3E}">
        <p14:creationId xmlns:p14="http://schemas.microsoft.com/office/powerpoint/2010/main" val="756560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D936E595-0943-4D82-B194-6F3DD4BA2864}" type="slidenum">
              <a:rPr kumimoji="0" lang="en-US" altLang="zh-CN" sz="1200" b="0" smtClean="0">
                <a:solidFill>
                  <a:schemeClr val="tx1"/>
                </a:solidFill>
                <a:ea typeface="宋体" pitchFamily="2" charset="-122"/>
              </a:rPr>
              <a:pPr eaLnBrk="1" hangingPunct="1"/>
              <a:t>29</a:t>
            </a:fld>
            <a:endParaRPr kumimoji="0" lang="en-US" altLang="zh-CN" sz="1200" b="0">
              <a:solidFill>
                <a:schemeClr val="tx1"/>
              </a:solidFill>
              <a:ea typeface="宋体" pitchFamily="2" charset="-122"/>
            </a:endParaRPr>
          </a:p>
        </p:txBody>
      </p:sp>
      <p:sp>
        <p:nvSpPr>
          <p:cNvPr id="86019" name="Rectangle 2"/>
          <p:cNvSpPr>
            <a:spLocks noGrp="1" noRot="1" noChangeAspect="1" noChangeArrowheads="1" noTextEdit="1"/>
          </p:cNvSpPr>
          <p:nvPr>
            <p:ph type="sldImg"/>
          </p:nvPr>
        </p:nvSpPr>
        <p:spPr>
          <a:xfrm>
            <a:off x="2128838" y="1373188"/>
            <a:ext cx="3514725" cy="1978025"/>
          </a:xfrm>
          <a:solidFill>
            <a:srgbClr val="FFFFFF"/>
          </a:solidFill>
          <a:ln w="12700" cap="flat"/>
        </p:spPr>
      </p:sp>
      <p:sp>
        <p:nvSpPr>
          <p:cNvPr id="860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latin typeface="Arial" pitchFamily="34" charset="0"/>
            </a:endParaRPr>
          </a:p>
        </p:txBody>
      </p:sp>
    </p:spTree>
    <p:extLst>
      <p:ext uri="{BB962C8B-B14F-4D97-AF65-F5344CB8AC3E}">
        <p14:creationId xmlns:p14="http://schemas.microsoft.com/office/powerpoint/2010/main" val="625827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a:solidFill>
                  <a:schemeClr val="tx1"/>
                </a:solidFill>
                <a:effectLst/>
                <a:latin typeface="+mn-lt"/>
                <a:ea typeface="+mn-ea"/>
                <a:cs typeface="+mn-cs"/>
              </a:rPr>
              <a:t>ord</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函数用于返回字符的</a:t>
            </a:r>
            <a:r>
              <a:rPr lang="en-US" altLang="zh-CN" sz="1200" b="0" i="0" kern="1200" dirty="0">
                <a:solidFill>
                  <a:schemeClr val="tx1"/>
                </a:solidFill>
                <a:effectLst/>
                <a:latin typeface="+mn-lt"/>
                <a:ea typeface="+mn-ea"/>
                <a:cs typeface="+mn-cs"/>
              </a:rPr>
              <a:t>ASCII</a:t>
            </a:r>
            <a:r>
              <a:rPr lang="zh-CN" altLang="en-US" sz="1200" b="0" i="0" kern="1200" dirty="0">
                <a:solidFill>
                  <a:schemeClr val="tx1"/>
                </a:solidFill>
                <a:effectLst/>
                <a:latin typeface="+mn-lt"/>
                <a:ea typeface="+mn-ea"/>
                <a:cs typeface="+mn-cs"/>
              </a:rPr>
              <a:t>码或</a:t>
            </a:r>
            <a:r>
              <a:rPr lang="en-US" altLang="zh-CN" sz="1200" b="0" i="0" kern="1200" dirty="0">
                <a:solidFill>
                  <a:schemeClr val="tx1"/>
                </a:solidFill>
                <a:effectLst/>
                <a:latin typeface="+mn-lt"/>
                <a:ea typeface="+mn-ea"/>
                <a:cs typeface="+mn-cs"/>
              </a:rPr>
              <a:t>Unicode</a:t>
            </a:r>
            <a:r>
              <a:rPr lang="zh-CN" altLang="en-US" sz="1200" b="0" i="0" kern="1200" dirty="0">
                <a:solidFill>
                  <a:schemeClr val="tx1"/>
                </a:solidFill>
                <a:effectLst/>
                <a:latin typeface="+mn-lt"/>
                <a:ea typeface="+mn-ea"/>
                <a:cs typeface="+mn-cs"/>
              </a:rPr>
              <a:t>编码的整数值</a:t>
            </a:r>
            <a:endParaRPr lang="zh-CN" altLang="en-US" dirty="0"/>
          </a:p>
        </p:txBody>
      </p:sp>
      <p:sp>
        <p:nvSpPr>
          <p:cNvPr id="4" name="灯片编号占位符 3"/>
          <p:cNvSpPr>
            <a:spLocks noGrp="1"/>
          </p:cNvSpPr>
          <p:nvPr>
            <p:ph type="sldNum" sz="quarter" idx="10"/>
          </p:nvPr>
        </p:nvSpPr>
        <p:spPr/>
        <p:txBody>
          <a:bodyPr/>
          <a:lstStyle/>
          <a:p>
            <a:pPr>
              <a:defRPr/>
            </a:pPr>
            <a:fld id="{37EB3F29-63AA-456A-8033-9D7C5DEBDA43}" type="slidenum">
              <a:rPr lang="zh-CN" altLang="en-US" smtClean="0"/>
              <a:pPr>
                <a:defRPr/>
              </a:pPr>
              <a:t>30</a:t>
            </a:fld>
            <a:endParaRPr lang="zh-CN" altLang="en-US"/>
          </a:p>
        </p:txBody>
      </p:sp>
    </p:spTree>
    <p:extLst>
      <p:ext uri="{BB962C8B-B14F-4D97-AF65-F5344CB8AC3E}">
        <p14:creationId xmlns:p14="http://schemas.microsoft.com/office/powerpoint/2010/main" val="3104322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36D84A91-EAF8-4053-A05A-A2F9A0FAA067}" type="slidenum">
              <a:rPr kumimoji="0" lang="en-US" altLang="zh-CN" sz="1200" b="0" smtClean="0">
                <a:solidFill>
                  <a:schemeClr val="tx1"/>
                </a:solidFill>
                <a:ea typeface="宋体" pitchFamily="2" charset="-122"/>
              </a:rPr>
              <a:pPr eaLnBrk="1" hangingPunct="1"/>
              <a:t>35</a:t>
            </a:fld>
            <a:endParaRPr kumimoji="0" lang="en-US" altLang="zh-CN" sz="1200" b="0">
              <a:solidFill>
                <a:schemeClr val="tx1"/>
              </a:solidFill>
              <a:ea typeface="宋体" pitchFamily="2" charset="-122"/>
            </a:endParaRPr>
          </a:p>
        </p:txBody>
      </p:sp>
      <p:sp>
        <p:nvSpPr>
          <p:cNvPr id="87043" name="Rectangle 2"/>
          <p:cNvSpPr>
            <a:spLocks noGrp="1" noRot="1" noChangeAspect="1" noChangeArrowheads="1" noTextEdit="1"/>
          </p:cNvSpPr>
          <p:nvPr>
            <p:ph type="sldImg"/>
          </p:nvPr>
        </p:nvSpPr>
        <p:spPr>
          <a:xfrm>
            <a:off x="2128838" y="1373188"/>
            <a:ext cx="3514725" cy="1978025"/>
          </a:xfrm>
          <a:solidFill>
            <a:srgbClr val="FFFFFF"/>
          </a:solidFill>
          <a:ln w="12700" cap="flat"/>
        </p:spPr>
      </p:sp>
      <p:sp>
        <p:nvSpPr>
          <p:cNvPr id="8704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latin typeface="Arial" pitchFamily="34" charset="0"/>
            </a:endParaRPr>
          </a:p>
        </p:txBody>
      </p:sp>
    </p:spTree>
    <p:extLst>
      <p:ext uri="{BB962C8B-B14F-4D97-AF65-F5344CB8AC3E}">
        <p14:creationId xmlns:p14="http://schemas.microsoft.com/office/powerpoint/2010/main" val="457061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92B6CAAA-4BC5-4782-B92A-A3190079F5C2}" type="slidenum">
              <a:rPr kumimoji="0" lang="en-US" altLang="zh-CN" sz="1200" b="0" smtClean="0">
                <a:solidFill>
                  <a:schemeClr val="tx1"/>
                </a:solidFill>
                <a:ea typeface="宋体" pitchFamily="2" charset="-122"/>
              </a:rPr>
              <a:pPr eaLnBrk="1" hangingPunct="1"/>
              <a:t>37</a:t>
            </a:fld>
            <a:endParaRPr kumimoji="0" lang="en-US" altLang="zh-CN" sz="1200" b="0">
              <a:solidFill>
                <a:schemeClr val="tx1"/>
              </a:solidFill>
              <a:ea typeface="宋体" pitchFamily="2" charset="-122"/>
            </a:endParaRPr>
          </a:p>
        </p:txBody>
      </p:sp>
      <p:sp>
        <p:nvSpPr>
          <p:cNvPr id="89091" name="Rectangle 2"/>
          <p:cNvSpPr>
            <a:spLocks noGrp="1" noRot="1" noChangeAspect="1" noChangeArrowheads="1" noTextEdit="1"/>
          </p:cNvSpPr>
          <p:nvPr>
            <p:ph type="sldImg"/>
          </p:nvPr>
        </p:nvSpPr>
        <p:spPr>
          <a:xfrm>
            <a:off x="2128838" y="1373188"/>
            <a:ext cx="3514725" cy="1978025"/>
          </a:xfrm>
          <a:solidFill>
            <a:srgbClr val="FFFFFF"/>
          </a:solidFill>
          <a:ln w="12700" cap="flat"/>
        </p:spPr>
      </p:sp>
      <p:sp>
        <p:nvSpPr>
          <p:cNvPr id="8909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latin typeface="Arial" pitchFamily="34" charset="0"/>
            </a:endParaRPr>
          </a:p>
        </p:txBody>
      </p:sp>
    </p:spTree>
    <p:extLst>
      <p:ext uri="{BB962C8B-B14F-4D97-AF65-F5344CB8AC3E}">
        <p14:creationId xmlns:p14="http://schemas.microsoft.com/office/powerpoint/2010/main" val="22237155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92B6CAAA-4BC5-4782-B92A-A3190079F5C2}" type="slidenum">
              <a:rPr kumimoji="0" lang="en-US" altLang="zh-CN" sz="1200" b="0" smtClean="0">
                <a:solidFill>
                  <a:schemeClr val="tx1"/>
                </a:solidFill>
                <a:ea typeface="宋体" pitchFamily="2" charset="-122"/>
              </a:rPr>
              <a:pPr eaLnBrk="1" hangingPunct="1"/>
              <a:t>38</a:t>
            </a:fld>
            <a:endParaRPr kumimoji="0" lang="en-US" altLang="zh-CN" sz="1200" b="0">
              <a:solidFill>
                <a:schemeClr val="tx1"/>
              </a:solidFill>
              <a:ea typeface="宋体" pitchFamily="2" charset="-122"/>
            </a:endParaRPr>
          </a:p>
        </p:txBody>
      </p:sp>
      <p:sp>
        <p:nvSpPr>
          <p:cNvPr id="89091" name="Rectangle 2"/>
          <p:cNvSpPr>
            <a:spLocks noGrp="1" noRot="1" noChangeAspect="1" noChangeArrowheads="1" noTextEdit="1"/>
          </p:cNvSpPr>
          <p:nvPr>
            <p:ph type="sldImg"/>
          </p:nvPr>
        </p:nvSpPr>
        <p:spPr>
          <a:xfrm>
            <a:off x="2128838" y="1373188"/>
            <a:ext cx="3514725" cy="1978025"/>
          </a:xfrm>
          <a:solidFill>
            <a:srgbClr val="FFFFFF"/>
          </a:solidFill>
          <a:ln w="12700" cap="flat"/>
        </p:spPr>
      </p:sp>
      <p:sp>
        <p:nvSpPr>
          <p:cNvPr id="8909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latin typeface="Arial" pitchFamily="34" charset="0"/>
            </a:endParaRPr>
          </a:p>
        </p:txBody>
      </p:sp>
    </p:spTree>
    <p:extLst>
      <p:ext uri="{BB962C8B-B14F-4D97-AF65-F5344CB8AC3E}">
        <p14:creationId xmlns:p14="http://schemas.microsoft.com/office/powerpoint/2010/main" val="1210340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a=-12      0b11110100    (</a:t>
            </a:r>
            <a:r>
              <a:rPr lang="zh-CN" altLang="en-US" dirty="0"/>
              <a:t>补码</a:t>
            </a:r>
            <a:r>
              <a:rPr lang="en-US" altLang="zh-CN" dirty="0"/>
              <a:t>)</a:t>
            </a:r>
          </a:p>
          <a:p>
            <a:r>
              <a:rPr lang="en-US" altLang="zh-CN" dirty="0"/>
              <a:t>b=12       0b00001100</a:t>
            </a:r>
          </a:p>
          <a:p>
            <a:r>
              <a:rPr lang="en-US" altLang="zh-CN" dirty="0"/>
              <a:t>a &amp; b</a:t>
            </a:r>
          </a:p>
          <a:p>
            <a:r>
              <a:rPr lang="en-US" altLang="zh-CN" dirty="0"/>
              <a:t>Out[11]: 4</a:t>
            </a:r>
          </a:p>
          <a:p>
            <a:r>
              <a:rPr lang="en-US" altLang="zh-CN" dirty="0"/>
              <a:t>a ^ b</a:t>
            </a:r>
          </a:p>
          <a:p>
            <a:r>
              <a:rPr lang="en-US" altLang="zh-CN" dirty="0"/>
              <a:t>Out[12]: -8</a:t>
            </a:r>
            <a:endParaRPr lang="zh-CN" altLang="en-US" dirty="0"/>
          </a:p>
        </p:txBody>
      </p:sp>
      <p:sp>
        <p:nvSpPr>
          <p:cNvPr id="4" name="灯片编号占位符 3"/>
          <p:cNvSpPr>
            <a:spLocks noGrp="1"/>
          </p:cNvSpPr>
          <p:nvPr>
            <p:ph type="sldNum" sz="quarter" idx="5"/>
          </p:nvPr>
        </p:nvSpPr>
        <p:spPr/>
        <p:txBody>
          <a:bodyPr/>
          <a:lstStyle/>
          <a:p>
            <a:pPr>
              <a:defRPr/>
            </a:pPr>
            <a:fld id="{37EB3F29-63AA-456A-8033-9D7C5DEBDA43}" type="slidenum">
              <a:rPr lang="zh-CN" altLang="en-US" smtClean="0"/>
              <a:pPr>
                <a:defRPr/>
              </a:pPr>
              <a:t>40</a:t>
            </a:fld>
            <a:endParaRPr lang="zh-CN" altLang="en-US"/>
          </a:p>
        </p:txBody>
      </p:sp>
    </p:spTree>
    <p:extLst>
      <p:ext uri="{BB962C8B-B14F-4D97-AF65-F5344CB8AC3E}">
        <p14:creationId xmlns:p14="http://schemas.microsoft.com/office/powerpoint/2010/main" val="8489821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E82E87A9-CD4E-4956-AF88-5760DB12095C}" type="slidenum">
              <a:rPr kumimoji="0" lang="en-US" altLang="zh-CN" sz="1200" b="0" smtClean="0">
                <a:solidFill>
                  <a:schemeClr val="tx1"/>
                </a:solidFill>
                <a:ea typeface="宋体" pitchFamily="2" charset="-122"/>
              </a:rPr>
              <a:pPr eaLnBrk="1" hangingPunct="1"/>
              <a:t>51</a:t>
            </a:fld>
            <a:endParaRPr kumimoji="0" lang="en-US" altLang="zh-CN" sz="1200" b="0">
              <a:solidFill>
                <a:schemeClr val="tx1"/>
              </a:solidFill>
              <a:ea typeface="宋体" pitchFamily="2" charset="-122"/>
            </a:endParaRPr>
          </a:p>
        </p:txBody>
      </p:sp>
      <p:sp>
        <p:nvSpPr>
          <p:cNvPr id="92163" name="Rectangle 2"/>
          <p:cNvSpPr>
            <a:spLocks noGrp="1" noRot="1" noChangeAspect="1" noChangeArrowheads="1" noTextEdit="1"/>
          </p:cNvSpPr>
          <p:nvPr>
            <p:ph type="sldImg"/>
          </p:nvPr>
        </p:nvSpPr>
        <p:spPr>
          <a:xfrm>
            <a:off x="2128838" y="1373188"/>
            <a:ext cx="3514725" cy="1978025"/>
          </a:xfrm>
          <a:solidFill>
            <a:srgbClr val="FFFFFF"/>
          </a:solidFill>
          <a:ln w="12700" cap="flat"/>
        </p:spPr>
      </p:sp>
      <p:sp>
        <p:nvSpPr>
          <p:cNvPr id="9216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latin typeface="Arial" pitchFamily="34" charset="0"/>
            </a:endParaRPr>
          </a:p>
        </p:txBody>
      </p:sp>
    </p:spTree>
    <p:extLst>
      <p:ext uri="{BB962C8B-B14F-4D97-AF65-F5344CB8AC3E}">
        <p14:creationId xmlns:p14="http://schemas.microsoft.com/office/powerpoint/2010/main" val="4100932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E82E87A9-CD4E-4956-AF88-5760DB12095C}" type="slidenum">
              <a:rPr kumimoji="0" lang="en-US" altLang="zh-CN" sz="1200" b="0" smtClean="0">
                <a:solidFill>
                  <a:schemeClr val="tx1"/>
                </a:solidFill>
                <a:ea typeface="宋体" pitchFamily="2" charset="-122"/>
              </a:rPr>
              <a:pPr eaLnBrk="1" hangingPunct="1"/>
              <a:t>52</a:t>
            </a:fld>
            <a:endParaRPr kumimoji="0" lang="en-US" altLang="zh-CN" sz="1200" b="0">
              <a:solidFill>
                <a:schemeClr val="tx1"/>
              </a:solidFill>
              <a:ea typeface="宋体" pitchFamily="2" charset="-122"/>
            </a:endParaRPr>
          </a:p>
        </p:txBody>
      </p:sp>
      <p:sp>
        <p:nvSpPr>
          <p:cNvPr id="92163" name="Rectangle 2"/>
          <p:cNvSpPr>
            <a:spLocks noGrp="1" noRot="1" noChangeAspect="1" noChangeArrowheads="1" noTextEdit="1"/>
          </p:cNvSpPr>
          <p:nvPr>
            <p:ph type="sldImg"/>
          </p:nvPr>
        </p:nvSpPr>
        <p:spPr>
          <a:xfrm>
            <a:off x="2128838" y="1373188"/>
            <a:ext cx="3514725" cy="1978025"/>
          </a:xfrm>
          <a:solidFill>
            <a:srgbClr val="FFFFFF"/>
          </a:solidFill>
          <a:ln w="12700" cap="flat"/>
        </p:spPr>
      </p:sp>
      <p:sp>
        <p:nvSpPr>
          <p:cNvPr id="9216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latin typeface="Arial" pitchFamily="34" charset="0"/>
            </a:endParaRPr>
          </a:p>
        </p:txBody>
      </p:sp>
    </p:spTree>
    <p:extLst>
      <p:ext uri="{BB962C8B-B14F-4D97-AF65-F5344CB8AC3E}">
        <p14:creationId xmlns:p14="http://schemas.microsoft.com/office/powerpoint/2010/main" val="38316967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E82E87A9-CD4E-4956-AF88-5760DB12095C}" type="slidenum">
              <a:rPr kumimoji="0" lang="en-US" altLang="zh-CN" sz="1200" b="0" smtClean="0">
                <a:solidFill>
                  <a:schemeClr val="tx1"/>
                </a:solidFill>
                <a:ea typeface="宋体" pitchFamily="2" charset="-122"/>
              </a:rPr>
              <a:pPr eaLnBrk="1" hangingPunct="1"/>
              <a:t>55</a:t>
            </a:fld>
            <a:endParaRPr kumimoji="0" lang="en-US" altLang="zh-CN" sz="1200" b="0">
              <a:solidFill>
                <a:schemeClr val="tx1"/>
              </a:solidFill>
              <a:ea typeface="宋体" pitchFamily="2" charset="-122"/>
            </a:endParaRPr>
          </a:p>
        </p:txBody>
      </p:sp>
      <p:sp>
        <p:nvSpPr>
          <p:cNvPr id="92163" name="Rectangle 2"/>
          <p:cNvSpPr>
            <a:spLocks noGrp="1" noRot="1" noChangeAspect="1" noChangeArrowheads="1" noTextEdit="1"/>
          </p:cNvSpPr>
          <p:nvPr>
            <p:ph type="sldImg"/>
          </p:nvPr>
        </p:nvSpPr>
        <p:spPr>
          <a:xfrm>
            <a:off x="2128838" y="1373188"/>
            <a:ext cx="3514725" cy="1978025"/>
          </a:xfrm>
          <a:solidFill>
            <a:srgbClr val="FFFFFF"/>
          </a:solidFill>
          <a:ln w="12700" cap="flat"/>
        </p:spPr>
      </p:sp>
      <p:sp>
        <p:nvSpPr>
          <p:cNvPr id="9216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zh-CN">
              <a:latin typeface="Arial" pitchFamily="34" charset="0"/>
            </a:endParaRPr>
          </a:p>
        </p:txBody>
      </p:sp>
    </p:spTree>
    <p:extLst>
      <p:ext uri="{BB962C8B-B14F-4D97-AF65-F5344CB8AC3E}">
        <p14:creationId xmlns:p14="http://schemas.microsoft.com/office/powerpoint/2010/main" val="15285811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64"/>
          <p:cNvSpPr>
            <a:spLocks noChangeArrowheads="1"/>
          </p:cNvSpPr>
          <p:nvPr/>
        </p:nvSpPr>
        <p:spPr bwMode="gray">
          <a:xfrm>
            <a:off x="0" y="3579813"/>
            <a:ext cx="9144000" cy="1584325"/>
          </a:xfrm>
          <a:prstGeom prst="rect">
            <a:avLst/>
          </a:prstGeom>
          <a:solidFill>
            <a:srgbClr val="0070C0"/>
          </a:solidFill>
          <a:ln>
            <a:solidFill>
              <a:srgbClr val="0070C0"/>
            </a:solidFill>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defRPr/>
            </a:pPr>
            <a:endParaRPr lang="zh-CN" altLang="en-US" dirty="0"/>
          </a:p>
        </p:txBody>
      </p:sp>
      <p:sp>
        <p:nvSpPr>
          <p:cNvPr id="5" name="Text Box 46"/>
          <p:cNvSpPr txBox="1">
            <a:spLocks noChangeArrowheads="1"/>
          </p:cNvSpPr>
          <p:nvPr/>
        </p:nvSpPr>
        <p:spPr bwMode="auto">
          <a:xfrm>
            <a:off x="0" y="4826000"/>
            <a:ext cx="403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b">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fld id="{CE680026-A519-4A84-9AD5-EF3476A9A4DC}" type="slidenum">
              <a:rPr lang="en-US" altLang="zh-CN" sz="1400" b="1" smtClean="0">
                <a:solidFill>
                  <a:schemeClr val="bg1"/>
                </a:solidFill>
              </a:rPr>
              <a:pPr eaLnBrk="1" hangingPunct="1">
                <a:defRPr/>
              </a:pPr>
              <a:t>‹#›</a:t>
            </a:fld>
            <a:endParaRPr lang="en-US" altLang="zh-CN" sz="1400" b="1" dirty="0">
              <a:solidFill>
                <a:schemeClr val="bg1"/>
              </a:solidFill>
            </a:endParaRPr>
          </a:p>
        </p:txBody>
      </p:sp>
      <p:sp>
        <p:nvSpPr>
          <p:cNvPr id="88111" name="Rectangle 47"/>
          <p:cNvSpPr>
            <a:spLocks noGrp="1" noChangeArrowheads="1"/>
          </p:cNvSpPr>
          <p:nvPr>
            <p:ph type="ctrTitle" sz="quarter"/>
          </p:nvPr>
        </p:nvSpPr>
        <p:spPr>
          <a:xfrm>
            <a:off x="994086" y="1221600"/>
            <a:ext cx="7508875" cy="1102519"/>
          </a:xfrm>
        </p:spPr>
        <p:txBody>
          <a:bodyPr anchor="ctr"/>
          <a:lstStyle>
            <a:lvl1pPr algn="r">
              <a:defRPr sz="4800">
                <a:latin typeface="华文新魏" pitchFamily="2" charset="-122"/>
                <a:ea typeface="华文新魏" pitchFamily="2" charset="-122"/>
              </a:defRPr>
            </a:lvl1pPr>
          </a:lstStyle>
          <a:p>
            <a:r>
              <a:rPr lang="zh-CN" altLang="en-US" dirty="0"/>
              <a:t>单击此处编辑母版标题样式</a:t>
            </a:r>
            <a:endParaRPr lang="en-US" altLang="zh-CN" dirty="0"/>
          </a:p>
        </p:txBody>
      </p:sp>
      <p:sp>
        <p:nvSpPr>
          <p:cNvPr id="88112" name="Rectangle 48"/>
          <p:cNvSpPr>
            <a:spLocks noGrp="1" noChangeArrowheads="1"/>
          </p:cNvSpPr>
          <p:nvPr>
            <p:ph type="subTitle" sz="quarter" idx="1"/>
          </p:nvPr>
        </p:nvSpPr>
        <p:spPr>
          <a:xfrm>
            <a:off x="1907704" y="4035737"/>
            <a:ext cx="5796644" cy="576064"/>
          </a:xfrm>
          <a:noFill/>
          <a:ln>
            <a:noFill/>
          </a:ln>
        </p:spPr>
        <p:txBody>
          <a:bodyPr/>
          <a:lstStyle>
            <a:lvl1pPr marL="0" indent="0" algn="ctr">
              <a:spcBef>
                <a:spcPct val="20000"/>
              </a:spcBef>
              <a:buClrTx/>
              <a:buFontTx/>
              <a:buNone/>
              <a:defRPr sz="3600">
                <a:solidFill>
                  <a:schemeClr val="bg1"/>
                </a:solidFill>
                <a:latin typeface="Bodoni MT Black" pitchFamily="18" charset="0"/>
              </a:defRPr>
            </a:lvl1pPr>
          </a:lstStyle>
          <a:p>
            <a:r>
              <a:rPr lang="zh-CN" altLang="en-US" dirty="0"/>
              <a:t>单击以编辑母版副标题样式</a:t>
            </a:r>
            <a:endParaRPr lang="en-US" altLang="zh-CN" dirty="0"/>
          </a:p>
        </p:txBody>
      </p:sp>
      <p:pic>
        <p:nvPicPr>
          <p:cNvPr id="8" name="Picture 8" descr="http://www.rrcap.unep.org/userfiles/image/200px-Tongji_University_Logo.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7504" y="2823999"/>
            <a:ext cx="7667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http://www.rrcap.unep.org/userfiles/image/200px-Tongji_University_Logo.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927737" y="2823999"/>
            <a:ext cx="7667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8" descr="http://www.rrcap.unep.org/userfiles/image/200px-Tongji_University_Logo.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747970" y="2828819"/>
            <a:ext cx="7667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8" descr="http://www.rrcap.unep.org/userfiles/image/200px-Tongji_University_Logo.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2554403" y="2824465"/>
            <a:ext cx="7667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8" descr="http://www.rrcap.unep.org/userfiles/image/200px-Tongji_University_Logo.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3374636" y="2824465"/>
            <a:ext cx="7667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8" descr="http://www.rrcap.unep.org/userfiles/image/200px-Tongji_University_Logo.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4194869" y="2829285"/>
            <a:ext cx="7667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8" descr="http://www.rrcap.unep.org/userfiles/image/200px-Tongji_University_Logo.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5001302" y="2819179"/>
            <a:ext cx="7667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8" descr="http://www.rrcap.unep.org/userfiles/image/200px-Tongji_University_Logo.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5821535" y="2819179"/>
            <a:ext cx="7667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8" descr="http://www.rrcap.unep.org/userfiles/image/200px-Tongji_University_Logo.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6641768" y="2823999"/>
            <a:ext cx="7667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8" descr="http://www.rrcap.unep.org/userfiles/image/200px-Tongji_University_Logo.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7464596" y="2827285"/>
            <a:ext cx="7667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8" descr="http://www.rrcap.unep.org/userfiles/image/200px-Tongji_University_Logo.jpg"/>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8284829" y="2827285"/>
            <a:ext cx="7667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3960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4" name="直接连接符 8"/>
          <p:cNvCxnSpPr>
            <a:cxnSpLocks noChangeShapeType="1"/>
          </p:cNvCxnSpPr>
          <p:nvPr/>
        </p:nvCxnSpPr>
        <p:spPr bwMode="auto">
          <a:xfrm>
            <a:off x="571500" y="5143500"/>
            <a:ext cx="18573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2" name="标题 1"/>
          <p:cNvSpPr>
            <a:spLocks noGrp="1"/>
          </p:cNvSpPr>
          <p:nvPr>
            <p:ph type="title"/>
          </p:nvPr>
        </p:nvSpPr>
        <p:spPr/>
        <p:txBody>
          <a:bodyPr/>
          <a:lstStyle>
            <a:lvl1pPr>
              <a:defRPr sz="32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lnSpc>
                <a:spcPct val="110000"/>
              </a:lnSpc>
              <a:spcBef>
                <a:spcPts val="600"/>
              </a:spcBef>
              <a:defRPr b="0">
                <a:solidFill>
                  <a:srgbClr val="000096"/>
                </a:solidFill>
                <a:latin typeface="微软雅黑" panose="020B0503020204020204" pitchFamily="34" charset="-122"/>
                <a:ea typeface="微软雅黑" panose="020B0503020204020204" pitchFamily="34" charset="-122"/>
              </a:defRPr>
            </a:lvl1pPr>
            <a:lvl2pPr>
              <a:lnSpc>
                <a:spcPct val="110000"/>
              </a:lnSpc>
              <a:spcBef>
                <a:spcPts val="600"/>
              </a:spcBef>
              <a:buClr>
                <a:srgbClr val="FF9900"/>
              </a:buClr>
              <a:defRPr>
                <a:latin typeface="微软雅黑" panose="020B0503020204020204" pitchFamily="34" charset="-122"/>
                <a:ea typeface="微软雅黑" panose="020B0503020204020204" pitchFamily="34" charset="-122"/>
              </a:defRPr>
            </a:lvl2pPr>
            <a:lvl3pPr>
              <a:lnSpc>
                <a:spcPct val="110000"/>
              </a:lnSpc>
              <a:spcBef>
                <a:spcPts val="600"/>
              </a:spcBef>
              <a:defRPr>
                <a:latin typeface="微软雅黑" panose="020B0503020204020204" pitchFamily="34" charset="-122"/>
                <a:ea typeface="微软雅黑" panose="020B0503020204020204" pitchFamily="34" charset="-122"/>
              </a:defRPr>
            </a:lvl3pPr>
            <a:lvl4pPr>
              <a:lnSpc>
                <a:spcPct val="110000"/>
              </a:lnSpc>
              <a:spcBef>
                <a:spcPts val="600"/>
              </a:spcBef>
              <a:buClr>
                <a:srgbClr val="FF9900"/>
              </a:buClr>
              <a:defRPr>
                <a:latin typeface="微软雅黑" panose="020B0503020204020204" pitchFamily="34" charset="-122"/>
                <a:ea typeface="微软雅黑" panose="020B0503020204020204" pitchFamily="34" charset="-122"/>
              </a:defRPr>
            </a:lvl4pPr>
            <a:lvl5pPr>
              <a:lnSpc>
                <a:spcPct val="110000"/>
              </a:lnSpc>
              <a:spcBef>
                <a:spcPts val="600"/>
              </a:spcBef>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281619067"/>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r>
              <a:rPr lang="zh-CN" altLang="en-US"/>
              <a:t>单击此处编辑母版标题样式</a:t>
            </a:r>
          </a:p>
        </p:txBody>
      </p:sp>
      <p:sp>
        <p:nvSpPr>
          <p:cNvPr id="3" name="表格占位符 2"/>
          <p:cNvSpPr>
            <a:spLocks noGrp="1"/>
          </p:cNvSpPr>
          <p:nvPr>
            <p:ph type="tbl" idx="1"/>
          </p:nvPr>
        </p:nvSpPr>
        <p:spPr>
          <a:xfrm>
            <a:off x="457200" y="1200151"/>
            <a:ext cx="8229600" cy="3394472"/>
          </a:xfrm>
        </p:spPr>
        <p:txBody>
          <a:bodyPr/>
          <a:lstStyle/>
          <a:p>
            <a:pPr lvl="0"/>
            <a:r>
              <a:rPr lang="zh-CN" altLang="en-US" noProof="0"/>
              <a:t>单击图标添加表格</a:t>
            </a:r>
          </a:p>
        </p:txBody>
      </p:sp>
      <p:sp>
        <p:nvSpPr>
          <p:cNvPr id="4" name="页脚占位符 2"/>
          <p:cNvSpPr>
            <a:spLocks noGrp="1"/>
          </p:cNvSpPr>
          <p:nvPr>
            <p:ph type="ftr" sz="quarter" idx="10"/>
          </p:nvPr>
        </p:nvSpPr>
        <p:spPr>
          <a:xfrm>
            <a:off x="2268538" y="4818063"/>
            <a:ext cx="3455987" cy="273050"/>
          </a:xfrm>
          <a:prstGeom prst="rect">
            <a:avLst/>
          </a:prstGeom>
        </p:spPr>
        <p:txBody>
          <a:bodyPr/>
          <a:lstStyle>
            <a:lvl1pPr eaLnBrk="1" hangingPunct="1">
              <a:defRPr dirty="0">
                <a:solidFill>
                  <a:schemeClr val="bg1"/>
                </a:solidFill>
              </a:defRPr>
            </a:lvl1pPr>
          </a:lstStyle>
          <a:p>
            <a:pPr>
              <a:defRPr/>
            </a:pPr>
            <a:r>
              <a:rPr lang="en-US" altLang="zh-CN" dirty="0"/>
              <a:t>http://cal.tongji.edu.cn/soft</a:t>
            </a:r>
          </a:p>
        </p:txBody>
      </p:sp>
    </p:spTree>
    <p:extLst>
      <p:ext uri="{BB962C8B-B14F-4D97-AF65-F5344CB8AC3E}">
        <p14:creationId xmlns:p14="http://schemas.microsoft.com/office/powerpoint/2010/main" val="1124850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200151"/>
            <a:ext cx="4038600" cy="339447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2"/>
          <p:cNvSpPr>
            <a:spLocks noGrp="1"/>
          </p:cNvSpPr>
          <p:nvPr>
            <p:ph type="ftr" sz="quarter" idx="10"/>
          </p:nvPr>
        </p:nvSpPr>
        <p:spPr>
          <a:xfrm>
            <a:off x="2498725" y="4837113"/>
            <a:ext cx="5602288" cy="273050"/>
          </a:xfrm>
          <a:prstGeom prst="rect">
            <a:avLst/>
          </a:prstGeom>
        </p:spPr>
        <p:txBody>
          <a:bodyPr/>
          <a:lstStyle>
            <a:lvl1pPr eaLnBrk="1" hangingPunct="1">
              <a:defRPr dirty="0">
                <a:solidFill>
                  <a:schemeClr val="bg1"/>
                </a:solidFill>
              </a:defRPr>
            </a:lvl1pPr>
          </a:lstStyle>
          <a:p>
            <a:pPr>
              <a:defRPr/>
            </a:pPr>
            <a:r>
              <a:rPr lang="en-US" altLang="zh-CN" dirty="0"/>
              <a:t>http://cal.tongji.edu.cn/soft</a:t>
            </a:r>
          </a:p>
        </p:txBody>
      </p:sp>
    </p:spTree>
    <p:extLst>
      <p:ext uri="{BB962C8B-B14F-4D97-AF65-F5344CB8AC3E}">
        <p14:creationId xmlns:p14="http://schemas.microsoft.com/office/powerpoint/2010/main" val="399710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7"/>
          <p:cNvSpPr>
            <a:spLocks noGrp="1" noChangeArrowheads="1"/>
          </p:cNvSpPr>
          <p:nvPr>
            <p:ph type="sldNum" sz="quarter" idx="10"/>
          </p:nvPr>
        </p:nvSpPr>
        <p:spPr>
          <a:xfrm>
            <a:off x="8410575" y="4857750"/>
            <a:ext cx="733425" cy="285750"/>
          </a:xfrm>
          <a:prstGeom prst="rect">
            <a:avLst/>
          </a:prstGeom>
        </p:spPr>
        <p:txBody>
          <a:bodyPr/>
          <a:lstStyle>
            <a:lvl1pPr>
              <a:defRPr>
                <a:latin typeface="Arial" charset="0"/>
              </a:defRPr>
            </a:lvl1pPr>
          </a:lstStyle>
          <a:p>
            <a:pPr>
              <a:defRPr/>
            </a:pPr>
            <a:fld id="{6478A1C7-C138-4D5D-AB12-BA3A0F6A8AC6}" type="slidenum">
              <a:rPr lang="en-US" altLang="zh-CN"/>
              <a:pPr>
                <a:defRPr/>
              </a:pPr>
              <a:t>‹#›</a:t>
            </a:fld>
            <a:endParaRPr lang="en-US" altLang="zh-CN"/>
          </a:p>
        </p:txBody>
      </p:sp>
    </p:spTree>
    <p:extLst>
      <p:ext uri="{BB962C8B-B14F-4D97-AF65-F5344CB8AC3E}">
        <p14:creationId xmlns:p14="http://schemas.microsoft.com/office/powerpoint/2010/main" val="16734670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54"/>
          <p:cNvSpPr>
            <a:spLocks noChangeArrowheads="1"/>
          </p:cNvSpPr>
          <p:nvPr userDrawn="1"/>
        </p:nvSpPr>
        <p:spPr bwMode="gray">
          <a:xfrm>
            <a:off x="0" y="4894264"/>
            <a:ext cx="9144000" cy="249236"/>
          </a:xfrm>
          <a:prstGeom prst="rect">
            <a:avLst/>
          </a:prstGeom>
          <a:solidFill>
            <a:srgbClr val="0070C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defRPr/>
            </a:pPr>
            <a:endParaRPr lang="zh-CN" altLang="en-US"/>
          </a:p>
        </p:txBody>
      </p:sp>
      <p:sp>
        <p:nvSpPr>
          <p:cNvPr id="1029" name="Line 56"/>
          <p:cNvSpPr>
            <a:spLocks noChangeShapeType="1"/>
          </p:cNvSpPr>
          <p:nvPr/>
        </p:nvSpPr>
        <p:spPr bwMode="gray">
          <a:xfrm>
            <a:off x="0" y="4876006"/>
            <a:ext cx="9144000" cy="0"/>
          </a:xfrm>
          <a:prstGeom prst="line">
            <a:avLst/>
          </a:prstGeom>
          <a:noFill/>
          <a:ln w="25400">
            <a:solidFill>
              <a:srgbClr val="66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 name="Rectangle 44"/>
          <p:cNvSpPr>
            <a:spLocks noGrp="1" noChangeArrowheads="1"/>
          </p:cNvSpPr>
          <p:nvPr>
            <p:ph type="body" idx="1"/>
          </p:nvPr>
        </p:nvSpPr>
        <p:spPr bwMode="auto">
          <a:xfrm>
            <a:off x="450850" y="1058863"/>
            <a:ext cx="8293100" cy="3600450"/>
          </a:xfrm>
          <a:prstGeom prst="rect">
            <a:avLst/>
          </a:prstGeom>
          <a:ln>
            <a:headEnd/>
            <a:tailEnd/>
          </a:ln>
        </p:spPr>
        <p:style>
          <a:lnRef idx="2">
            <a:schemeClr val="accent1"/>
          </a:lnRef>
          <a:fillRef idx="1">
            <a:schemeClr val="lt1"/>
          </a:fillRef>
          <a:effectRef idx="0">
            <a:schemeClr val="accent1"/>
          </a:effectRef>
          <a:fontRef idx="none"/>
        </p:style>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
        <p:nvSpPr>
          <p:cNvPr id="1031" name="Rectangle 46"/>
          <p:cNvSpPr>
            <a:spLocks noGrp="1" noChangeArrowheads="1"/>
          </p:cNvSpPr>
          <p:nvPr>
            <p:ph type="title"/>
          </p:nvPr>
        </p:nvSpPr>
        <p:spPr bwMode="auto">
          <a:xfrm>
            <a:off x="450850" y="104775"/>
            <a:ext cx="8275638"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pic>
        <p:nvPicPr>
          <p:cNvPr id="1032" name="图片 3"/>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8244407" y="4896625"/>
            <a:ext cx="864667" cy="23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Lst>
  <p:transition>
    <p:zoom/>
  </p:transition>
  <p:txStyles>
    <p:titleStyle>
      <a:lvl1pPr algn="l" rtl="0" eaLnBrk="0" fontAlgn="base" hangingPunct="0">
        <a:lnSpc>
          <a:spcPct val="95000"/>
        </a:lnSpc>
        <a:spcBef>
          <a:spcPct val="0"/>
        </a:spcBef>
        <a:spcAft>
          <a:spcPct val="0"/>
        </a:spcAft>
        <a:defRPr sz="3600" b="1">
          <a:solidFill>
            <a:srgbClr val="C00000"/>
          </a:solidFill>
          <a:latin typeface="+mj-lt"/>
          <a:ea typeface="+mj-ea"/>
          <a:cs typeface="+mj-cs"/>
        </a:defRPr>
      </a:lvl1pPr>
      <a:lvl2pPr algn="l" rtl="0" eaLnBrk="0" fontAlgn="base" hangingPunct="0">
        <a:lnSpc>
          <a:spcPct val="95000"/>
        </a:lnSpc>
        <a:spcBef>
          <a:spcPct val="0"/>
        </a:spcBef>
        <a:spcAft>
          <a:spcPct val="0"/>
        </a:spcAft>
        <a:defRPr sz="3600" b="1">
          <a:solidFill>
            <a:schemeClr val="accent1"/>
          </a:solidFill>
          <a:latin typeface="Arial" pitchFamily="34" charset="0"/>
        </a:defRPr>
      </a:lvl2pPr>
      <a:lvl3pPr algn="l" rtl="0" eaLnBrk="0" fontAlgn="base" hangingPunct="0">
        <a:lnSpc>
          <a:spcPct val="95000"/>
        </a:lnSpc>
        <a:spcBef>
          <a:spcPct val="0"/>
        </a:spcBef>
        <a:spcAft>
          <a:spcPct val="0"/>
        </a:spcAft>
        <a:defRPr sz="3600" b="1">
          <a:solidFill>
            <a:schemeClr val="accent1"/>
          </a:solidFill>
          <a:latin typeface="Arial" pitchFamily="34" charset="0"/>
        </a:defRPr>
      </a:lvl3pPr>
      <a:lvl4pPr algn="l" rtl="0" eaLnBrk="0" fontAlgn="base" hangingPunct="0">
        <a:lnSpc>
          <a:spcPct val="95000"/>
        </a:lnSpc>
        <a:spcBef>
          <a:spcPct val="0"/>
        </a:spcBef>
        <a:spcAft>
          <a:spcPct val="0"/>
        </a:spcAft>
        <a:defRPr sz="3600" b="1">
          <a:solidFill>
            <a:schemeClr val="accent1"/>
          </a:solidFill>
          <a:latin typeface="Arial" pitchFamily="34" charset="0"/>
        </a:defRPr>
      </a:lvl4pPr>
      <a:lvl5pPr algn="l" rtl="0" eaLnBrk="0" fontAlgn="base" hangingPunct="0">
        <a:lnSpc>
          <a:spcPct val="95000"/>
        </a:lnSpc>
        <a:spcBef>
          <a:spcPct val="0"/>
        </a:spcBef>
        <a:spcAft>
          <a:spcPct val="0"/>
        </a:spcAft>
        <a:defRPr sz="3600" b="1">
          <a:solidFill>
            <a:schemeClr val="accent1"/>
          </a:solidFill>
          <a:latin typeface="Arial" pitchFamily="34" charset="0"/>
        </a:defRPr>
      </a:lvl5pPr>
      <a:lvl6pPr marL="457200" algn="l" rtl="0" eaLnBrk="1" fontAlgn="base" hangingPunct="1">
        <a:lnSpc>
          <a:spcPct val="95000"/>
        </a:lnSpc>
        <a:spcBef>
          <a:spcPct val="0"/>
        </a:spcBef>
        <a:spcAft>
          <a:spcPct val="0"/>
        </a:spcAft>
        <a:defRPr sz="3200" b="1">
          <a:solidFill>
            <a:schemeClr val="accent1"/>
          </a:solidFill>
          <a:latin typeface="Arial" pitchFamily="34" charset="0"/>
        </a:defRPr>
      </a:lvl6pPr>
      <a:lvl7pPr marL="914400" algn="l" rtl="0" eaLnBrk="1" fontAlgn="base" hangingPunct="1">
        <a:lnSpc>
          <a:spcPct val="95000"/>
        </a:lnSpc>
        <a:spcBef>
          <a:spcPct val="0"/>
        </a:spcBef>
        <a:spcAft>
          <a:spcPct val="0"/>
        </a:spcAft>
        <a:defRPr sz="3200" b="1">
          <a:solidFill>
            <a:schemeClr val="accent1"/>
          </a:solidFill>
          <a:latin typeface="Arial" pitchFamily="34" charset="0"/>
        </a:defRPr>
      </a:lvl7pPr>
      <a:lvl8pPr marL="1371600" algn="l" rtl="0" eaLnBrk="1" fontAlgn="base" hangingPunct="1">
        <a:lnSpc>
          <a:spcPct val="95000"/>
        </a:lnSpc>
        <a:spcBef>
          <a:spcPct val="0"/>
        </a:spcBef>
        <a:spcAft>
          <a:spcPct val="0"/>
        </a:spcAft>
        <a:defRPr sz="3200" b="1">
          <a:solidFill>
            <a:schemeClr val="accent1"/>
          </a:solidFill>
          <a:latin typeface="Arial" pitchFamily="34" charset="0"/>
        </a:defRPr>
      </a:lvl8pPr>
      <a:lvl9pPr marL="1828800" algn="l" rtl="0" eaLnBrk="1" fontAlgn="base" hangingPunct="1">
        <a:lnSpc>
          <a:spcPct val="95000"/>
        </a:lnSpc>
        <a:spcBef>
          <a:spcPct val="0"/>
        </a:spcBef>
        <a:spcAft>
          <a:spcPct val="0"/>
        </a:spcAft>
        <a:defRPr sz="3200" b="1">
          <a:solidFill>
            <a:schemeClr val="accent1"/>
          </a:solidFill>
          <a:latin typeface="Arial" pitchFamily="34" charset="0"/>
        </a:defRPr>
      </a:lvl9pPr>
    </p:titleStyle>
    <p:bodyStyle>
      <a:lvl1pPr marL="342900" indent="-342900" algn="l" rtl="0" eaLnBrk="0" fontAlgn="base" hangingPunct="0">
        <a:lnSpc>
          <a:spcPct val="110000"/>
        </a:lnSpc>
        <a:spcBef>
          <a:spcPts val="600"/>
        </a:spcBef>
        <a:spcAft>
          <a:spcPct val="0"/>
        </a:spcAft>
        <a:buClr>
          <a:schemeClr val="hlink"/>
        </a:buClr>
        <a:buChar char="•"/>
        <a:defRPr sz="2400" b="1">
          <a:solidFill>
            <a:schemeClr val="tx1"/>
          </a:solidFill>
          <a:latin typeface="华文新魏" pitchFamily="2" charset="-122"/>
          <a:ea typeface="华文新魏" pitchFamily="2" charset="-122"/>
          <a:cs typeface="+mn-cs"/>
        </a:defRPr>
      </a:lvl1pPr>
      <a:lvl2pPr marL="742950" indent="-285750" algn="l" rtl="0" eaLnBrk="0" fontAlgn="base" hangingPunct="0">
        <a:lnSpc>
          <a:spcPct val="110000"/>
        </a:lnSpc>
        <a:spcBef>
          <a:spcPts val="600"/>
        </a:spcBef>
        <a:spcAft>
          <a:spcPct val="0"/>
        </a:spcAft>
        <a:buClr>
          <a:srgbClr val="FF9900"/>
        </a:buClr>
        <a:buChar char="•"/>
        <a:defRPr sz="2200">
          <a:solidFill>
            <a:schemeClr val="tx1"/>
          </a:solidFill>
          <a:latin typeface="华文新魏" pitchFamily="2" charset="-122"/>
          <a:ea typeface="华文新魏" pitchFamily="2" charset="-122"/>
        </a:defRPr>
      </a:lvl2pPr>
      <a:lvl3pPr marL="1143000" indent="-228600" algn="l" rtl="0" eaLnBrk="0" fontAlgn="base" hangingPunct="0">
        <a:lnSpc>
          <a:spcPct val="110000"/>
        </a:lnSpc>
        <a:spcBef>
          <a:spcPts val="600"/>
        </a:spcBef>
        <a:spcAft>
          <a:spcPct val="0"/>
        </a:spcAft>
        <a:buClr>
          <a:schemeClr val="hlink"/>
        </a:buClr>
        <a:buChar char="•"/>
        <a:defRPr>
          <a:solidFill>
            <a:schemeClr val="tx1"/>
          </a:solidFill>
          <a:latin typeface="华文新魏" pitchFamily="2" charset="-122"/>
          <a:ea typeface="华文新魏" pitchFamily="2" charset="-122"/>
        </a:defRPr>
      </a:lvl3pPr>
      <a:lvl4pPr marL="1600200" indent="-228600" algn="l" rtl="0" eaLnBrk="0" fontAlgn="base" hangingPunct="0">
        <a:lnSpc>
          <a:spcPct val="110000"/>
        </a:lnSpc>
        <a:spcBef>
          <a:spcPts val="600"/>
        </a:spcBef>
        <a:spcAft>
          <a:spcPct val="0"/>
        </a:spcAft>
        <a:buClr>
          <a:srgbClr val="FF9900"/>
        </a:buClr>
        <a:buChar char="•"/>
        <a:defRPr sz="1600">
          <a:solidFill>
            <a:schemeClr val="tx1"/>
          </a:solidFill>
          <a:latin typeface="华文新魏" pitchFamily="2" charset="-122"/>
          <a:ea typeface="华文新魏" pitchFamily="2" charset="-122"/>
        </a:defRPr>
      </a:lvl4pPr>
      <a:lvl5pPr marL="2057400" indent="-228600" algn="l" rtl="0" eaLnBrk="0" fontAlgn="base" hangingPunct="0">
        <a:lnSpc>
          <a:spcPct val="110000"/>
        </a:lnSpc>
        <a:spcBef>
          <a:spcPts val="600"/>
        </a:spcBef>
        <a:spcAft>
          <a:spcPct val="0"/>
        </a:spcAft>
        <a:buClr>
          <a:schemeClr val="hlink"/>
        </a:buClr>
        <a:buChar char="•"/>
        <a:defRPr sz="2000">
          <a:solidFill>
            <a:srgbClr val="5F5F5F"/>
          </a:solidFill>
          <a:latin typeface="+mn-lt"/>
          <a:ea typeface="华文新魏" pitchFamily="2" charset="-122"/>
        </a:defRPr>
      </a:lvl5pPr>
      <a:lvl6pPr marL="25146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6pPr>
      <a:lvl7pPr marL="29718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7pPr>
      <a:lvl8pPr marL="34290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8pPr>
      <a:lvl9pPr marL="38862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ctrTitle" sz="quarter"/>
          </p:nvPr>
        </p:nvSpPr>
        <p:spPr>
          <a:xfrm>
            <a:off x="467544" y="1419622"/>
            <a:ext cx="8064896" cy="1224136"/>
          </a:xfrm>
        </p:spPr>
        <p:txBody>
          <a:bodyPr/>
          <a:lstStyle/>
          <a:p>
            <a:pPr algn="ctr" eaLnBrk="1" hangingPunct="1">
              <a:lnSpc>
                <a:spcPct val="100000"/>
              </a:lnSpc>
              <a:defRPr/>
            </a:pPr>
            <a:r>
              <a:rPr lang="zh-CN" altLang="en-US" sz="5400" dirty="0">
                <a:solidFill>
                  <a:srgbClr val="0070C0"/>
                </a:solidFill>
                <a:effectLst>
                  <a:reflection blurRad="6350" stA="55000" endA="300" endPos="45500" dir="5400000" sy="-100000" algn="bl" rotWithShape="0"/>
                </a:effectLst>
              </a:rPr>
              <a:t>第</a:t>
            </a:r>
            <a:r>
              <a:rPr lang="en-US" altLang="zh-CN" sz="5400" dirty="0">
                <a:solidFill>
                  <a:srgbClr val="0070C0"/>
                </a:solidFill>
                <a:effectLst>
                  <a:reflection blurRad="6350" stA="55000" endA="300" endPos="45500" dir="5400000" sy="-100000" algn="bl" rotWithShape="0"/>
                </a:effectLst>
              </a:rPr>
              <a:t>2</a:t>
            </a:r>
            <a:r>
              <a:rPr lang="zh-CN" altLang="en-US" sz="5400" dirty="0">
                <a:solidFill>
                  <a:srgbClr val="0070C0"/>
                </a:solidFill>
                <a:effectLst>
                  <a:reflection blurRad="6350" stA="55000" endA="300" endPos="45500" dir="5400000" sy="-100000" algn="bl" rotWithShape="0"/>
                </a:effectLst>
              </a:rPr>
              <a:t>章 数据表示和处理</a:t>
            </a:r>
            <a:endParaRPr lang="zh-CN" altLang="en-US" sz="4400" dirty="0">
              <a:solidFill>
                <a:srgbClr val="0070C0"/>
              </a:solidFill>
              <a:effectLst>
                <a:reflection blurRad="6350" stA="55000" endA="300" endPos="45500" dir="5400000" sy="-100000" algn="bl" rotWithShape="0"/>
              </a:effectLst>
            </a:endParaRPr>
          </a:p>
        </p:txBody>
      </p:sp>
      <p:sp>
        <p:nvSpPr>
          <p:cNvPr id="9219" name="副标题 1"/>
          <p:cNvSpPr>
            <a:spLocks noGrp="1"/>
          </p:cNvSpPr>
          <p:nvPr>
            <p:ph type="subTitle" sz="quarter" idx="1"/>
          </p:nvPr>
        </p:nvSpPr>
        <p:spPr>
          <a:xfrm>
            <a:off x="2051720" y="3720753"/>
            <a:ext cx="5113338" cy="1422747"/>
          </a:xfrm>
          <a:noFill/>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accent1"/>
                </a:solidFill>
                <a:miter lim="800000"/>
                <a:headEnd/>
                <a:tailEnd/>
              </a14:hiddenLine>
            </a:ext>
          </a:extLst>
        </p:spPr>
        <p:txBody>
          <a:bodyPr/>
          <a:lstStyle/>
          <a:p>
            <a:r>
              <a:rPr lang="zh-CN" altLang="en-US" dirty="0"/>
              <a:t>同济大学</a:t>
            </a:r>
            <a:endParaRPr lang="en-US" altLang="zh-CN" dirty="0"/>
          </a:p>
          <a:p>
            <a:r>
              <a:rPr lang="zh-CN" altLang="en-US" dirty="0"/>
              <a:t>计算机系基础教研室</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bwMode="auto">
          <a:xfrm>
            <a:off x="440528" y="349442"/>
            <a:ext cx="8229600" cy="51514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a:defRPr/>
            </a:pPr>
            <a:r>
              <a:rPr kumimoji="1" lang="zh-CN" altLang="en-US" sz="2400" kern="1200" dirty="0">
                <a:solidFill>
                  <a:srgbClr val="C00000"/>
                </a:solidFill>
                <a:latin typeface="微软雅黑" pitchFamily="34" charset="-122"/>
                <a:ea typeface="微软雅黑" pitchFamily="34" charset="-122"/>
                <a:cs typeface="+mn-cs"/>
              </a:rPr>
              <a:t>数据与数据类型</a:t>
            </a:r>
          </a:p>
        </p:txBody>
      </p:sp>
      <p:sp>
        <p:nvSpPr>
          <p:cNvPr id="20483" name="内容占位符 2"/>
          <p:cNvSpPr>
            <a:spLocks noGrp="1"/>
          </p:cNvSpPr>
          <p:nvPr>
            <p:ph idx="1"/>
          </p:nvPr>
        </p:nvSpPr>
        <p:spPr bwMode="auto">
          <a:xfrm>
            <a:off x="385192" y="1014995"/>
            <a:ext cx="8284936" cy="848427"/>
          </a:xfr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buFont typeface="Wingdings" panose="05000000000000000000" pitchFamily="2" charset="2"/>
              <a:buChar char="u"/>
            </a:pPr>
            <a:r>
              <a:rPr lang="zh-CN" altLang="en-US" sz="2000" dirty="0">
                <a:solidFill>
                  <a:schemeClr val="tx1"/>
                </a:solidFill>
                <a:latin typeface="微软雅黑" pitchFamily="34" charset="-122"/>
                <a:ea typeface="微软雅黑" pitchFamily="34" charset="-122"/>
              </a:rPr>
              <a:t>不同类型的</a:t>
            </a:r>
            <a:r>
              <a:rPr lang="zh-CN" altLang="en-US" sz="2000" dirty="0">
                <a:solidFill>
                  <a:schemeClr val="tx1"/>
                </a:solidFill>
              </a:rPr>
              <a:t>数据有不同的</a:t>
            </a:r>
            <a:r>
              <a:rPr lang="zh-CN" altLang="en-US" sz="2000" b="1" dirty="0">
                <a:solidFill>
                  <a:srgbClr val="00B050"/>
                </a:solidFill>
              </a:rPr>
              <a:t>存放形式</a:t>
            </a:r>
            <a:r>
              <a:rPr lang="zh-CN" altLang="en-US" sz="2000" dirty="0">
                <a:solidFill>
                  <a:srgbClr val="000066"/>
                </a:solidFill>
                <a:latin typeface="微软雅黑" pitchFamily="34" charset="-122"/>
                <a:ea typeface="微软雅黑" pitchFamily="34" charset="-122"/>
              </a:rPr>
              <a:t>、</a:t>
            </a:r>
            <a:r>
              <a:rPr lang="zh-CN" altLang="en-US" sz="2000" b="1" dirty="0">
                <a:solidFill>
                  <a:srgbClr val="00B050"/>
                </a:solidFill>
              </a:rPr>
              <a:t>取值范围</a:t>
            </a:r>
            <a:r>
              <a:rPr lang="zh-CN" altLang="en-US" sz="2000" dirty="0">
                <a:solidFill>
                  <a:schemeClr val="tx1"/>
                </a:solidFill>
                <a:latin typeface="微软雅黑" pitchFamily="34" charset="-122"/>
                <a:ea typeface="微软雅黑" pitchFamily="34" charset="-122"/>
              </a:rPr>
              <a:t>和</a:t>
            </a:r>
            <a:r>
              <a:rPr lang="zh-CN" altLang="en-US" sz="2000" b="1" dirty="0">
                <a:solidFill>
                  <a:srgbClr val="00B050"/>
                </a:solidFill>
              </a:rPr>
              <a:t>所能执行的运算</a:t>
            </a:r>
            <a:r>
              <a:rPr lang="zh-CN" altLang="en-US" sz="2000" dirty="0">
                <a:solidFill>
                  <a:srgbClr val="000066"/>
                </a:solidFill>
                <a:latin typeface="微软雅黑" pitchFamily="34" charset="-122"/>
                <a:ea typeface="微软雅黑" pitchFamily="34" charset="-122"/>
              </a:rPr>
              <a:t>。</a:t>
            </a:r>
            <a:endParaRPr lang="en-US" altLang="zh-CN" sz="2000" dirty="0">
              <a:solidFill>
                <a:srgbClr val="000066"/>
              </a:solidFill>
              <a:latin typeface="微软雅黑" pitchFamily="34" charset="-122"/>
              <a:ea typeface="微软雅黑" pitchFamily="34" charset="-122"/>
            </a:endParaRPr>
          </a:p>
          <a:p>
            <a:pPr>
              <a:buFont typeface="Wingdings" panose="05000000000000000000" pitchFamily="2" charset="2"/>
              <a:buChar char="u"/>
            </a:pPr>
            <a:r>
              <a:rPr lang="zh-CN" altLang="en-US" sz="2000" dirty="0">
                <a:solidFill>
                  <a:schemeClr val="tx1"/>
                </a:solidFill>
              </a:rPr>
              <a:t>常用：</a:t>
            </a:r>
            <a:r>
              <a:rPr lang="zh-CN" altLang="en-US" sz="2000" b="1" dirty="0">
                <a:solidFill>
                  <a:srgbClr val="00B050"/>
                </a:solidFill>
              </a:rPr>
              <a:t>整型、实型（浮点型）、字符型</a:t>
            </a:r>
            <a:endParaRPr lang="en-US" altLang="zh-CN" sz="2000" b="1" dirty="0">
              <a:solidFill>
                <a:srgbClr val="00B050"/>
              </a:solidFill>
            </a:endParaRPr>
          </a:p>
        </p:txBody>
      </p:sp>
      <p:sp>
        <p:nvSpPr>
          <p:cNvPr id="20484" name="灯片编号占位符 3"/>
          <p:cNvSpPr>
            <a:spLocks noGrp="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fld id="{9EE9CA38-C4F0-4D85-A735-5934CA3AB680}" type="slidenum">
              <a:rPr kumimoji="0" lang="en-US" altLang="zh-CN" sz="1800" smtClean="0">
                <a:solidFill>
                  <a:schemeClr val="bg1"/>
                </a:solidFill>
                <a:latin typeface="Arial Black" pitchFamily="34" charset="0"/>
                <a:ea typeface="楷体_GB2312"/>
                <a:cs typeface="楷体_GB2312"/>
              </a:rPr>
              <a:pPr eaLnBrk="1" hangingPunct="1"/>
              <a:t>2</a:t>
            </a:fld>
            <a:endParaRPr kumimoji="0" lang="en-US" altLang="zh-CN" sz="1800">
              <a:solidFill>
                <a:schemeClr val="bg1"/>
              </a:solidFill>
              <a:latin typeface="Arial Black" pitchFamily="34" charset="0"/>
              <a:ea typeface="楷体_GB2312"/>
              <a:cs typeface="楷体_GB2312"/>
            </a:endParaRPr>
          </a:p>
        </p:txBody>
      </p:sp>
      <p:sp>
        <p:nvSpPr>
          <p:cNvPr id="20485" name="矩形 1"/>
          <p:cNvSpPr>
            <a:spLocks noChangeArrowheads="1"/>
          </p:cNvSpPr>
          <p:nvPr/>
        </p:nvSpPr>
        <p:spPr bwMode="auto">
          <a:xfrm>
            <a:off x="755576" y="2571750"/>
            <a:ext cx="33123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a:latin typeface="微软雅黑" pitchFamily="34" charset="-122"/>
                <a:ea typeface="微软雅黑" pitchFamily="34" charset="-122"/>
              </a:rPr>
              <a:t>如何表示不同的数据类型？</a:t>
            </a:r>
          </a:p>
        </p:txBody>
      </p:sp>
      <p:sp>
        <p:nvSpPr>
          <p:cNvPr id="20486" name="矩形 2"/>
          <p:cNvSpPr>
            <a:spLocks noChangeArrowheads="1"/>
          </p:cNvSpPr>
          <p:nvPr/>
        </p:nvSpPr>
        <p:spPr bwMode="auto">
          <a:xfrm>
            <a:off x="467544" y="3339732"/>
            <a:ext cx="5118243" cy="1332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spcBef>
                <a:spcPts val="600"/>
              </a:spcBef>
              <a:buFont typeface="Wingdings" panose="05000000000000000000" pitchFamily="2" charset="2"/>
              <a:buChar char="u"/>
            </a:pPr>
            <a:r>
              <a:rPr lang="zh-CN" altLang="en-US" sz="2000" b="0" dirty="0">
                <a:solidFill>
                  <a:srgbClr val="C00000"/>
                </a:solidFill>
                <a:latin typeface="微软雅黑" pitchFamily="34" charset="-122"/>
                <a:ea typeface="微软雅黑" pitchFamily="34" charset="-122"/>
              </a:rPr>
              <a:t>常量：</a:t>
            </a:r>
            <a:r>
              <a:rPr lang="zh-CN" altLang="en-US" dirty="0">
                <a:latin typeface="微软雅黑" pitchFamily="34" charset="-122"/>
                <a:ea typeface="微软雅黑" pitchFamily="34" charset="-122"/>
              </a:rPr>
              <a:t>值不变的量</a:t>
            </a:r>
            <a:endParaRPr lang="en-US" altLang="zh-CN" sz="1800" b="0" dirty="0">
              <a:latin typeface="微软雅黑" pitchFamily="34" charset="-122"/>
              <a:ea typeface="微软雅黑" pitchFamily="34" charset="-122"/>
            </a:endParaRPr>
          </a:p>
          <a:p>
            <a:pPr marL="285750" indent="-285750">
              <a:spcBef>
                <a:spcPts val="600"/>
              </a:spcBef>
              <a:buFont typeface="Wingdings" panose="05000000000000000000" pitchFamily="2" charset="2"/>
              <a:buChar char="u"/>
            </a:pPr>
            <a:r>
              <a:rPr lang="zh-CN" altLang="en-US" sz="2000" b="0" dirty="0">
                <a:solidFill>
                  <a:srgbClr val="C00000"/>
                </a:solidFill>
                <a:latin typeface="微软雅黑" pitchFamily="34" charset="-122"/>
                <a:ea typeface="微软雅黑" pitchFamily="34" charset="-122"/>
              </a:rPr>
              <a:t>变量：</a:t>
            </a:r>
            <a:r>
              <a:rPr lang="zh-CN" altLang="en-US" b="0" dirty="0">
                <a:latin typeface="微软雅黑" pitchFamily="34" charset="-122"/>
                <a:ea typeface="微软雅黑" pitchFamily="34" charset="-122"/>
              </a:rPr>
              <a:t>值可变的量，类型由存放的数据决定。</a:t>
            </a:r>
            <a:endParaRPr lang="en-US" altLang="zh-CN" b="0" dirty="0">
              <a:latin typeface="微软雅黑" pitchFamily="34" charset="-122"/>
              <a:ea typeface="微软雅黑" pitchFamily="34" charset="-122"/>
            </a:endParaRPr>
          </a:p>
          <a:p>
            <a:pPr>
              <a:lnSpc>
                <a:spcPct val="200000"/>
              </a:lnSpc>
              <a:spcBef>
                <a:spcPts val="600"/>
              </a:spcBef>
            </a:pPr>
            <a:r>
              <a:rPr lang="zh-CN" altLang="en-US" sz="1800" dirty="0">
                <a:solidFill>
                  <a:srgbClr val="C00000"/>
                </a:solidFill>
                <a:latin typeface="微软雅黑" pitchFamily="34" charset="-122"/>
                <a:ea typeface="微软雅黑" pitchFamily="34" charset="-122"/>
              </a:rPr>
              <a:t>注意：</a:t>
            </a:r>
            <a:r>
              <a:rPr lang="zh-CN" altLang="en-US" sz="1800" dirty="0">
                <a:latin typeface="微软雅黑" pitchFamily="34" charset="-122"/>
                <a:ea typeface="微软雅黑" pitchFamily="34" charset="-122"/>
              </a:rPr>
              <a:t>大多数语言必须先声明数据类型</a:t>
            </a:r>
          </a:p>
        </p:txBody>
      </p:sp>
      <p:sp>
        <p:nvSpPr>
          <p:cNvPr id="17" name="内容占位符 2"/>
          <p:cNvSpPr txBox="1">
            <a:spLocks/>
          </p:cNvSpPr>
          <p:nvPr/>
        </p:nvSpPr>
        <p:spPr bwMode="auto">
          <a:xfrm>
            <a:off x="672570" y="1888367"/>
            <a:ext cx="5395982" cy="5794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FontTx/>
              <a:buNone/>
            </a:pPr>
            <a:r>
              <a:rPr lang="en-US" altLang="zh-CN" sz="2000" b="0" dirty="0">
                <a:solidFill>
                  <a:srgbClr val="000066"/>
                </a:solidFill>
                <a:highlight>
                  <a:srgbClr val="FFFF00"/>
                </a:highlight>
                <a:latin typeface="微软雅黑" pitchFamily="34" charset="-122"/>
                <a:ea typeface="微软雅黑" pitchFamily="34" charset="-122"/>
              </a:rPr>
              <a:t>  </a:t>
            </a:r>
            <a:r>
              <a:rPr lang="en-US" altLang="zh-CN" sz="2000" b="0" dirty="0">
                <a:solidFill>
                  <a:srgbClr val="C00000"/>
                </a:solidFill>
                <a:highlight>
                  <a:srgbClr val="FFFF00"/>
                </a:highlight>
                <a:latin typeface="微软雅黑" pitchFamily="34" charset="-122"/>
                <a:ea typeface="微软雅黑" pitchFamily="34" charset="-122"/>
              </a:rPr>
              <a:t>Python</a:t>
            </a:r>
            <a:r>
              <a:rPr lang="zh-CN" altLang="en-US" sz="2000" b="0" dirty="0">
                <a:solidFill>
                  <a:srgbClr val="C00000"/>
                </a:solidFill>
                <a:highlight>
                  <a:srgbClr val="FFFF00"/>
                </a:highlight>
                <a:latin typeface="微软雅黑" pitchFamily="34" charset="-122"/>
                <a:ea typeface="微软雅黑" pitchFamily="34" charset="-122"/>
              </a:rPr>
              <a:t>语言对数值</a:t>
            </a:r>
            <a:r>
              <a:rPr lang="zh-CN" altLang="en-US" sz="2000" dirty="0">
                <a:solidFill>
                  <a:srgbClr val="C00000"/>
                </a:solidFill>
                <a:highlight>
                  <a:srgbClr val="FFFF00"/>
                </a:highlight>
                <a:latin typeface="微软雅黑" pitchFamily="34" charset="-122"/>
                <a:ea typeface="微软雅黑" pitchFamily="34" charset="-122"/>
              </a:rPr>
              <a:t>取值范围没有严格规定</a:t>
            </a:r>
            <a:endParaRPr lang="en-US" altLang="zh-CN" sz="2000" dirty="0">
              <a:solidFill>
                <a:srgbClr val="C00000"/>
              </a:solidFill>
              <a:highlight>
                <a:srgbClr val="FFFF00"/>
              </a:highlight>
              <a:latin typeface="微软雅黑" pitchFamily="34" charset="-122"/>
              <a:ea typeface="微软雅黑" pitchFamily="34" charset="-122"/>
            </a:endParaRPr>
          </a:p>
        </p:txBody>
      </p:sp>
      <p:pic>
        <p:nvPicPr>
          <p:cNvPr id="3" name="图片 2">
            <a:extLst>
              <a:ext uri="{FF2B5EF4-FFF2-40B4-BE49-F238E27FC236}">
                <a16:creationId xmlns:a16="http://schemas.microsoft.com/office/drawing/2014/main" id="{61D7D627-C53B-A7DC-97A8-B0F9D8F4351D}"/>
              </a:ext>
            </a:extLst>
          </p:cNvPr>
          <p:cNvPicPr>
            <a:picLocks noChangeAspect="1"/>
          </p:cNvPicPr>
          <p:nvPr/>
        </p:nvPicPr>
        <p:blipFill>
          <a:blip r:embed="rId2"/>
          <a:stretch>
            <a:fillRect/>
          </a:stretch>
        </p:blipFill>
        <p:spPr>
          <a:xfrm>
            <a:off x="6300192" y="1452430"/>
            <a:ext cx="1266834" cy="2190766"/>
          </a:xfrm>
          <a:prstGeom prst="rect">
            <a:avLst/>
          </a:prstGeom>
        </p:spPr>
      </p:pic>
      <p:pic>
        <p:nvPicPr>
          <p:cNvPr id="5" name="图片 4">
            <a:extLst>
              <a:ext uri="{FF2B5EF4-FFF2-40B4-BE49-F238E27FC236}">
                <a16:creationId xmlns:a16="http://schemas.microsoft.com/office/drawing/2014/main" id="{13267D79-9F77-2E34-7245-9770ABB44AC9}"/>
              </a:ext>
            </a:extLst>
          </p:cNvPr>
          <p:cNvPicPr>
            <a:picLocks noChangeAspect="1"/>
          </p:cNvPicPr>
          <p:nvPr/>
        </p:nvPicPr>
        <p:blipFill>
          <a:blip r:embed="rId3"/>
          <a:stretch>
            <a:fillRect/>
          </a:stretch>
        </p:blipFill>
        <p:spPr>
          <a:xfrm>
            <a:off x="5571279" y="3669008"/>
            <a:ext cx="3552851" cy="1185871"/>
          </a:xfrm>
          <a:prstGeom prst="rect">
            <a:avLst/>
          </a:prstGeom>
        </p:spPr>
      </p:pic>
    </p:spTree>
    <p:extLst>
      <p:ext uri="{BB962C8B-B14F-4D97-AF65-F5344CB8AC3E}">
        <p14:creationId xmlns:p14="http://schemas.microsoft.com/office/powerpoint/2010/main" val="2019094075"/>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up)">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wipe(up)">
                                      <p:cBhvr>
                                        <p:cTn id="12" dur="500"/>
                                        <p:tgtEl>
                                          <p:spTgt spid="204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7">
                                            <p:txEl>
                                              <p:pRg st="0" end="0"/>
                                            </p:txEl>
                                          </p:spTgt>
                                        </p:tgtEl>
                                        <p:attrNameLst>
                                          <p:attrName>style.visibility</p:attrName>
                                        </p:attrNameLst>
                                      </p:cBhvr>
                                      <p:to>
                                        <p:strVal val="visible"/>
                                      </p:to>
                                    </p:set>
                                    <p:animEffect transition="in" filter="wipe(up)">
                                      <p:cBhvr>
                                        <p:cTn id="17" dur="500"/>
                                        <p:tgtEl>
                                          <p:spTgt spid="1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0485"/>
                                        </p:tgtEl>
                                        <p:attrNameLst>
                                          <p:attrName>style.visibility</p:attrName>
                                        </p:attrNameLst>
                                      </p:cBhvr>
                                      <p:to>
                                        <p:strVal val="visible"/>
                                      </p:to>
                                    </p:set>
                                    <p:animEffect transition="in" filter="wipe(up)">
                                      <p:cBhvr>
                                        <p:cTn id="22" dur="500"/>
                                        <p:tgtEl>
                                          <p:spTgt spid="204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0486">
                                            <p:txEl>
                                              <p:pRg st="0" end="0"/>
                                            </p:txEl>
                                          </p:spTgt>
                                        </p:tgtEl>
                                        <p:attrNameLst>
                                          <p:attrName>style.visibility</p:attrName>
                                        </p:attrNameLst>
                                      </p:cBhvr>
                                      <p:to>
                                        <p:strVal val="visible"/>
                                      </p:to>
                                    </p:set>
                                    <p:animEffect transition="in" filter="wipe(up)">
                                      <p:cBhvr>
                                        <p:cTn id="27" dur="500"/>
                                        <p:tgtEl>
                                          <p:spTgt spid="2048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0486">
                                            <p:txEl>
                                              <p:pRg st="1" end="1"/>
                                            </p:txEl>
                                          </p:spTgt>
                                        </p:tgtEl>
                                        <p:attrNameLst>
                                          <p:attrName>style.visibility</p:attrName>
                                        </p:attrNameLst>
                                      </p:cBhvr>
                                      <p:to>
                                        <p:strVal val="visible"/>
                                      </p:to>
                                    </p:set>
                                    <p:animEffect transition="in" filter="wipe(up)">
                                      <p:cBhvr>
                                        <p:cTn id="32" dur="500"/>
                                        <p:tgtEl>
                                          <p:spTgt spid="2048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0486">
                                            <p:txEl>
                                              <p:pRg st="2" end="2"/>
                                            </p:txEl>
                                          </p:spTgt>
                                        </p:tgtEl>
                                        <p:attrNameLst>
                                          <p:attrName>style.visibility</p:attrName>
                                        </p:attrNameLst>
                                      </p:cBhvr>
                                      <p:to>
                                        <p:strVal val="visible"/>
                                      </p:to>
                                    </p:set>
                                    <p:animEffect transition="in" filter="wipe(up)">
                                      <p:cBhvr>
                                        <p:cTn id="37" dur="500"/>
                                        <p:tgtEl>
                                          <p:spTgt spid="204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P spid="20485" grpId="0"/>
      <p:bldP spid="1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3"/>
          <p:cNvSpPr>
            <a:spLocks noChangeArrowheads="1"/>
          </p:cNvSpPr>
          <p:nvPr/>
        </p:nvSpPr>
        <p:spPr bwMode="auto">
          <a:xfrm>
            <a:off x="0" y="1414463"/>
            <a:ext cx="184150"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endParaRPr lang="zh-CN" altLang="en-US">
              <a:latin typeface="微软雅黑" pitchFamily="34" charset="-122"/>
              <a:ea typeface="微软雅黑" pitchFamily="34" charset="-122"/>
            </a:endParaRPr>
          </a:p>
        </p:txBody>
      </p:sp>
      <p:sp>
        <p:nvSpPr>
          <p:cNvPr id="21512" name="Rectangle 8"/>
          <p:cNvSpPr>
            <a:spLocks noChangeArrowheads="1"/>
          </p:cNvSpPr>
          <p:nvPr/>
        </p:nvSpPr>
        <p:spPr bwMode="auto">
          <a:xfrm>
            <a:off x="0" y="1460500"/>
            <a:ext cx="184150"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endParaRPr lang="zh-CN" altLang="en-US">
              <a:latin typeface="微软雅黑" pitchFamily="34" charset="-122"/>
              <a:ea typeface="微软雅黑" pitchFamily="34" charset="-122"/>
            </a:endParaRPr>
          </a:p>
        </p:txBody>
      </p:sp>
      <p:sp>
        <p:nvSpPr>
          <p:cNvPr id="21513" name="Rectangle 6"/>
          <p:cNvSpPr>
            <a:spLocks noChangeArrowheads="1"/>
          </p:cNvSpPr>
          <p:nvPr/>
        </p:nvSpPr>
        <p:spPr bwMode="auto">
          <a:xfrm>
            <a:off x="611560" y="304185"/>
            <a:ext cx="641045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wrap="square">
            <a:spAutoFit/>
          </a:bodyPr>
          <a:lstStyle/>
          <a:p>
            <a:r>
              <a:rPr lang="en-US" altLang="zh-CN" sz="2800" b="1" dirty="0">
                <a:solidFill>
                  <a:srgbClr val="0070C0"/>
                </a:solidFill>
                <a:latin typeface="微软雅黑" pitchFamily="34" charset="-122"/>
                <a:ea typeface="微软雅黑" pitchFamily="34" charset="-122"/>
              </a:rPr>
              <a:t>Python</a:t>
            </a:r>
            <a:r>
              <a:rPr lang="zh-CN" altLang="en-US" sz="2800" b="1" dirty="0">
                <a:solidFill>
                  <a:srgbClr val="0070C0"/>
                </a:solidFill>
                <a:latin typeface="微软雅黑" pitchFamily="34" charset="-122"/>
                <a:ea typeface="微软雅黑" pitchFamily="34" charset="-122"/>
              </a:rPr>
              <a:t>提供的</a:t>
            </a:r>
            <a:r>
              <a:rPr lang="zh-CN" altLang="zh-CN" sz="2800" b="1" dirty="0">
                <a:solidFill>
                  <a:srgbClr val="0070C0"/>
                </a:solidFill>
                <a:latin typeface="微软雅黑" pitchFamily="34" charset="-122"/>
                <a:ea typeface="微软雅黑" pitchFamily="34" charset="-122"/>
              </a:rPr>
              <a:t>内置</a:t>
            </a:r>
            <a:r>
              <a:rPr lang="zh-CN" altLang="en-US" sz="2800" b="1" dirty="0">
                <a:solidFill>
                  <a:srgbClr val="0070C0"/>
                </a:solidFill>
                <a:latin typeface="微软雅黑" pitchFamily="34" charset="-122"/>
                <a:ea typeface="微软雅黑" pitchFamily="34" charset="-122"/>
              </a:rPr>
              <a:t>数据类型</a:t>
            </a:r>
          </a:p>
        </p:txBody>
      </p:sp>
      <p:sp>
        <p:nvSpPr>
          <p:cNvPr id="2" name="Rectangle 8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t="3634" r="13491"/>
          <a:stretch/>
        </p:blipFill>
        <p:spPr>
          <a:xfrm>
            <a:off x="971600" y="987574"/>
            <a:ext cx="6338451" cy="3818666"/>
          </a:xfrm>
          <a:prstGeom prst="rect">
            <a:avLst/>
          </a:prstGeom>
        </p:spPr>
      </p:pic>
    </p:spTree>
    <p:extLst>
      <p:ext uri="{BB962C8B-B14F-4D97-AF65-F5344CB8AC3E}">
        <p14:creationId xmlns:p14="http://schemas.microsoft.com/office/powerpoint/2010/main" val="473804289"/>
      </p:ext>
    </p:extLst>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2119" y="195486"/>
            <a:ext cx="8275638" cy="650875"/>
          </a:xfrm>
        </p:spPr>
        <p:txBody>
          <a:bodyPr/>
          <a:lstStyle/>
          <a:p>
            <a:r>
              <a:rPr lang="zh-CN" altLang="en-US" sz="2800" dirty="0"/>
              <a:t>标识符</a:t>
            </a:r>
            <a:endParaRPr lang="zh-CN" altLang="en-US" sz="2000" b="0" dirty="0">
              <a:solidFill>
                <a:schemeClr val="tx1"/>
              </a:solidFill>
            </a:endParaRPr>
          </a:p>
        </p:txBody>
      </p:sp>
      <p:sp>
        <p:nvSpPr>
          <p:cNvPr id="5" name="内容占位符 4"/>
          <p:cNvSpPr>
            <a:spLocks noGrp="1"/>
          </p:cNvSpPr>
          <p:nvPr>
            <p:ph idx="1"/>
          </p:nvPr>
        </p:nvSpPr>
        <p:spPr>
          <a:xfrm>
            <a:off x="417289" y="1059582"/>
            <a:ext cx="8300467" cy="1800200"/>
          </a:xfrm>
        </p:spPr>
        <p:style>
          <a:lnRef idx="2">
            <a:schemeClr val="accent5"/>
          </a:lnRef>
          <a:fillRef idx="1">
            <a:schemeClr val="lt1"/>
          </a:fillRef>
          <a:effectRef idx="0">
            <a:schemeClr val="accent5"/>
          </a:effectRef>
          <a:fontRef idx="minor">
            <a:schemeClr val="dk1"/>
          </a:fontRef>
        </p:style>
        <p:txBody>
          <a:bodyPr/>
          <a:lstStyle/>
          <a:p>
            <a:pPr marL="0" indent="0">
              <a:buNone/>
            </a:pPr>
            <a:r>
              <a:rPr lang="zh-CN" altLang="en-US" sz="2000" dirty="0">
                <a:solidFill>
                  <a:schemeClr val="tx1"/>
                </a:solidFill>
              </a:rPr>
              <a:t>标识符用于标识变量名、函数名、类名、属性和方法名等等。</a:t>
            </a:r>
            <a:endParaRPr lang="en-US" altLang="zh-CN" sz="2000" dirty="0">
              <a:solidFill>
                <a:schemeClr val="tx1"/>
              </a:solidFill>
            </a:endParaRPr>
          </a:p>
          <a:p>
            <a:pPr marL="0" indent="0">
              <a:buNone/>
            </a:pPr>
            <a:r>
              <a:rPr lang="zh-CN" altLang="zh-CN" sz="2000" dirty="0">
                <a:solidFill>
                  <a:schemeClr val="tx1"/>
                </a:solidFill>
              </a:rPr>
              <a:t>合法的标识符必须遵守以下规则：</a:t>
            </a:r>
          </a:p>
          <a:p>
            <a:pPr lvl="1">
              <a:buFont typeface="Wingdings" panose="05000000000000000000" pitchFamily="2" charset="2"/>
              <a:buChar char="Ø"/>
            </a:pPr>
            <a:r>
              <a:rPr lang="zh-CN" altLang="en-US" sz="1800" dirty="0">
                <a:solidFill>
                  <a:schemeClr val="tx1"/>
                </a:solidFill>
              </a:rPr>
              <a:t>由</a:t>
            </a:r>
            <a:r>
              <a:rPr lang="zh-CN" altLang="zh-CN" sz="1800" dirty="0">
                <a:solidFill>
                  <a:schemeClr val="tx1"/>
                </a:solidFill>
              </a:rPr>
              <a:t>任意字母、数字、</a:t>
            </a:r>
            <a:r>
              <a:rPr lang="zh-CN" altLang="en-US" sz="1800" dirty="0">
                <a:solidFill>
                  <a:schemeClr val="tx1"/>
                </a:solidFill>
              </a:rPr>
              <a:t>下划线和</a:t>
            </a:r>
            <a:r>
              <a:rPr lang="zh-CN" altLang="zh-CN" sz="1800" dirty="0">
                <a:solidFill>
                  <a:schemeClr val="tx1"/>
                </a:solidFill>
              </a:rPr>
              <a:t>汉字</a:t>
            </a:r>
            <a:r>
              <a:rPr lang="zh-CN" altLang="en-US" sz="1800" dirty="0">
                <a:solidFill>
                  <a:schemeClr val="tx1"/>
                </a:solidFill>
              </a:rPr>
              <a:t>组成的字符序列</a:t>
            </a:r>
            <a:r>
              <a:rPr lang="zh-CN" altLang="zh-CN" sz="1800" dirty="0">
                <a:solidFill>
                  <a:schemeClr val="tx1"/>
                </a:solidFill>
              </a:rPr>
              <a:t>，</a:t>
            </a:r>
            <a:r>
              <a:rPr lang="zh-CN" altLang="en-US" sz="1800" dirty="0">
                <a:solidFill>
                  <a:schemeClr val="tx1"/>
                </a:solidFill>
              </a:rPr>
              <a:t>但</a:t>
            </a:r>
            <a:r>
              <a:rPr lang="zh-CN" altLang="zh-CN" sz="1800" dirty="0">
                <a:solidFill>
                  <a:schemeClr val="tx1"/>
                </a:solidFill>
              </a:rPr>
              <a:t>不能</a:t>
            </a:r>
            <a:r>
              <a:rPr lang="zh-CN" altLang="en-US" sz="1800" dirty="0">
                <a:solidFill>
                  <a:schemeClr val="tx1"/>
                </a:solidFill>
              </a:rPr>
              <a:t>以</a:t>
            </a:r>
            <a:r>
              <a:rPr lang="zh-CN" altLang="zh-CN" sz="1800" dirty="0">
                <a:solidFill>
                  <a:schemeClr val="tx1"/>
                </a:solidFill>
              </a:rPr>
              <a:t>数字</a:t>
            </a:r>
            <a:r>
              <a:rPr lang="zh-CN" altLang="en-US" sz="1800" dirty="0">
                <a:solidFill>
                  <a:schemeClr val="tx1"/>
                </a:solidFill>
              </a:rPr>
              <a:t>开头。</a:t>
            </a:r>
            <a:endParaRPr lang="zh-CN" altLang="zh-CN" sz="1800" dirty="0">
              <a:solidFill>
                <a:schemeClr val="tx1"/>
              </a:solidFill>
            </a:endParaRPr>
          </a:p>
          <a:p>
            <a:pPr lvl="1">
              <a:buFont typeface="Wingdings" panose="05000000000000000000" pitchFamily="2" charset="2"/>
              <a:buChar char="Ø"/>
            </a:pPr>
            <a:r>
              <a:rPr lang="zh-CN" altLang="zh-CN" sz="1800" dirty="0">
                <a:solidFill>
                  <a:schemeClr val="tx1"/>
                </a:solidFill>
              </a:rPr>
              <a:t>不能与关键字</a:t>
            </a:r>
            <a:r>
              <a:rPr lang="zh-CN" altLang="en-US" sz="1800" dirty="0">
                <a:solidFill>
                  <a:schemeClr val="tx1"/>
                </a:solidFill>
              </a:rPr>
              <a:t>（保留字）</a:t>
            </a:r>
            <a:r>
              <a:rPr lang="zh-CN" altLang="zh-CN" sz="1800" dirty="0">
                <a:solidFill>
                  <a:schemeClr val="tx1"/>
                </a:solidFill>
              </a:rPr>
              <a:t>同名。关键字</a:t>
            </a:r>
            <a:r>
              <a:rPr lang="zh-CN" altLang="en-US" sz="1800" dirty="0">
                <a:solidFill>
                  <a:schemeClr val="tx1"/>
                </a:solidFill>
              </a:rPr>
              <a:t>是有</a:t>
            </a:r>
            <a:r>
              <a:rPr lang="zh-CN" altLang="zh-CN" sz="1800" dirty="0">
                <a:solidFill>
                  <a:schemeClr val="tx1"/>
                </a:solidFill>
              </a:rPr>
              <a:t>特殊</a:t>
            </a:r>
            <a:r>
              <a:rPr lang="zh-CN" altLang="en-US" sz="1800" dirty="0">
                <a:solidFill>
                  <a:schemeClr val="tx1"/>
                </a:solidFill>
              </a:rPr>
              <a:t>用途</a:t>
            </a:r>
            <a:r>
              <a:rPr lang="zh-CN" altLang="zh-CN" sz="1800" dirty="0">
                <a:solidFill>
                  <a:schemeClr val="tx1"/>
                </a:solidFill>
              </a:rPr>
              <a:t>的词。</a:t>
            </a:r>
            <a:endParaRPr lang="zh-CN" altLang="en-US" sz="1800" dirty="0">
              <a:solidFill>
                <a:schemeClr val="tx1"/>
              </a:solidFill>
            </a:endParaRPr>
          </a:p>
        </p:txBody>
      </p:sp>
      <p:pic>
        <p:nvPicPr>
          <p:cNvPr id="6" name="图片 5"/>
          <p:cNvPicPr>
            <a:picLocks noChangeAspect="1"/>
          </p:cNvPicPr>
          <p:nvPr/>
        </p:nvPicPr>
        <p:blipFill>
          <a:blip r:embed="rId3"/>
          <a:stretch>
            <a:fillRect/>
          </a:stretch>
        </p:blipFill>
        <p:spPr>
          <a:xfrm>
            <a:off x="442119" y="3291830"/>
            <a:ext cx="8205836" cy="1209675"/>
          </a:xfrm>
          <a:prstGeom prst="rect">
            <a:avLst/>
          </a:prstGeom>
          <a:ln/>
        </p:spPr>
        <p:style>
          <a:lnRef idx="2">
            <a:schemeClr val="accent5"/>
          </a:lnRef>
          <a:fillRef idx="1">
            <a:schemeClr val="lt1"/>
          </a:fillRef>
          <a:effectRef idx="0">
            <a:schemeClr val="accent5"/>
          </a:effectRef>
          <a:fontRef idx="minor">
            <a:schemeClr val="dk1"/>
          </a:fontRef>
        </p:style>
      </p:pic>
    </p:spTree>
    <p:extLst>
      <p:ext uri="{BB962C8B-B14F-4D97-AF65-F5344CB8AC3E}">
        <p14:creationId xmlns:p14="http://schemas.microsoft.com/office/powerpoint/2010/main" val="18722905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1"/>
          </p:nvPr>
        </p:nvSpPr>
        <p:spPr bwMode="auto">
          <a:xfrm>
            <a:off x="337119" y="682572"/>
            <a:ext cx="5675041" cy="1385122"/>
          </a:xfrm>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p>
            <a:pPr>
              <a:lnSpc>
                <a:spcPct val="150000"/>
              </a:lnSpc>
              <a:buFont typeface="Wingdings" panose="05000000000000000000" pitchFamily="2" charset="2"/>
              <a:buChar char="u"/>
            </a:pPr>
            <a:r>
              <a:rPr lang="zh-CN" altLang="zh-CN" sz="1600" b="1" dirty="0">
                <a:solidFill>
                  <a:srgbClr val="00B050"/>
                </a:solidFill>
              </a:rPr>
              <a:t>不需要事先声明</a:t>
            </a:r>
            <a:r>
              <a:rPr lang="zh-CN" altLang="zh-CN" sz="1600" dirty="0">
                <a:solidFill>
                  <a:schemeClr val="tx1"/>
                </a:solidFill>
              </a:rPr>
              <a:t>变量</a:t>
            </a:r>
            <a:r>
              <a:rPr lang="zh-CN" altLang="en-US" sz="1600" dirty="0">
                <a:solidFill>
                  <a:schemeClr val="tx1"/>
                </a:solidFill>
              </a:rPr>
              <a:t>名</a:t>
            </a:r>
            <a:r>
              <a:rPr lang="zh-CN" altLang="zh-CN" sz="1600" dirty="0">
                <a:solidFill>
                  <a:schemeClr val="tx1"/>
                </a:solidFill>
              </a:rPr>
              <a:t>及其数据类型</a:t>
            </a:r>
            <a:endParaRPr lang="en-US" altLang="zh-CN" sz="1600" dirty="0">
              <a:solidFill>
                <a:schemeClr val="tx1"/>
              </a:solidFill>
            </a:endParaRPr>
          </a:p>
          <a:p>
            <a:pPr>
              <a:lnSpc>
                <a:spcPct val="150000"/>
              </a:lnSpc>
              <a:buFont typeface="Wingdings" panose="05000000000000000000" pitchFamily="2" charset="2"/>
              <a:buChar char="u"/>
            </a:pPr>
            <a:r>
              <a:rPr lang="zh-CN" altLang="en-US" sz="1600" dirty="0">
                <a:solidFill>
                  <a:schemeClr val="tx1"/>
                </a:solidFill>
              </a:rPr>
              <a:t>可</a:t>
            </a:r>
            <a:r>
              <a:rPr lang="zh-CN" altLang="zh-CN" sz="1600" dirty="0">
                <a:solidFill>
                  <a:schemeClr val="tx1"/>
                </a:solidFill>
              </a:rPr>
              <a:t>直接</a:t>
            </a:r>
            <a:r>
              <a:rPr lang="zh-CN" altLang="zh-CN" sz="1600" b="1" dirty="0">
                <a:solidFill>
                  <a:srgbClr val="00B050"/>
                </a:solidFill>
              </a:rPr>
              <a:t>通过赋值语句创建变量</a:t>
            </a:r>
            <a:r>
              <a:rPr lang="zh-CN" altLang="zh-CN" sz="1600" dirty="0">
                <a:solidFill>
                  <a:srgbClr val="000066"/>
                </a:solidFill>
              </a:rPr>
              <a:t>，</a:t>
            </a:r>
            <a:r>
              <a:rPr lang="zh-CN" altLang="zh-CN" sz="1600" dirty="0">
                <a:solidFill>
                  <a:schemeClr val="tx1"/>
                </a:solidFill>
              </a:rPr>
              <a:t>数据类型与所赋的值一致</a:t>
            </a:r>
            <a:endParaRPr lang="en-US" altLang="zh-CN" sz="1600" dirty="0">
              <a:solidFill>
                <a:schemeClr val="tx1"/>
              </a:solidFill>
            </a:endParaRPr>
          </a:p>
          <a:p>
            <a:pPr>
              <a:lnSpc>
                <a:spcPct val="150000"/>
              </a:lnSpc>
              <a:buFont typeface="Wingdings" panose="05000000000000000000" pitchFamily="2" charset="2"/>
              <a:buChar char="u"/>
            </a:pPr>
            <a:r>
              <a:rPr lang="zh-CN" altLang="zh-CN" sz="1600" dirty="0">
                <a:solidFill>
                  <a:schemeClr val="tx1"/>
                </a:solidFill>
              </a:rPr>
              <a:t>变量的值</a:t>
            </a:r>
            <a:r>
              <a:rPr lang="zh-CN" altLang="en-US" sz="1600" dirty="0">
                <a:solidFill>
                  <a:schemeClr val="tx1"/>
                </a:solidFill>
              </a:rPr>
              <a:t>及其</a:t>
            </a:r>
            <a:r>
              <a:rPr lang="zh-CN" altLang="zh-CN" sz="1600" dirty="0">
                <a:solidFill>
                  <a:schemeClr val="tx1"/>
                </a:solidFill>
              </a:rPr>
              <a:t>数据类型</a:t>
            </a:r>
            <a:r>
              <a:rPr lang="zh-CN" altLang="en-US" sz="1600" dirty="0">
                <a:solidFill>
                  <a:schemeClr val="tx1"/>
                </a:solidFill>
              </a:rPr>
              <a:t>都可改变，</a:t>
            </a:r>
            <a:r>
              <a:rPr lang="zh-CN" altLang="zh-CN" sz="1600" dirty="0">
                <a:solidFill>
                  <a:schemeClr val="tx1"/>
                </a:solidFill>
              </a:rPr>
              <a:t>属于</a:t>
            </a:r>
            <a:r>
              <a:rPr lang="zh-CN" altLang="zh-CN" sz="1600" b="1" dirty="0">
                <a:solidFill>
                  <a:srgbClr val="00B050"/>
                </a:solidFill>
              </a:rPr>
              <a:t>动态</a:t>
            </a:r>
            <a:r>
              <a:rPr lang="zh-CN" altLang="en-US" sz="1600" b="1" dirty="0">
                <a:solidFill>
                  <a:srgbClr val="00B050"/>
                </a:solidFill>
              </a:rPr>
              <a:t>数据</a:t>
            </a:r>
            <a:r>
              <a:rPr lang="zh-CN" altLang="zh-CN" sz="1600" b="1" dirty="0">
                <a:solidFill>
                  <a:srgbClr val="00B050"/>
                </a:solidFill>
              </a:rPr>
              <a:t>类型</a:t>
            </a:r>
            <a:endParaRPr lang="zh-CN" altLang="zh-CN" sz="1600" dirty="0">
              <a:solidFill>
                <a:schemeClr val="tx1"/>
              </a:solidFill>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标题 1"/>
          <p:cNvSpPr>
            <a:spLocks noGrp="1"/>
          </p:cNvSpPr>
          <p:nvPr>
            <p:ph type="title"/>
          </p:nvPr>
        </p:nvSpPr>
        <p:spPr>
          <a:xfrm>
            <a:off x="337119" y="223639"/>
            <a:ext cx="7882235" cy="450751"/>
          </a:xfrm>
          <a:ln>
            <a:noFill/>
          </a:ln>
        </p:spPr>
        <p:style>
          <a:lnRef idx="2">
            <a:schemeClr val="accent5"/>
          </a:lnRef>
          <a:fillRef idx="1">
            <a:schemeClr val="lt1"/>
          </a:fillRef>
          <a:effectRef idx="0">
            <a:schemeClr val="accent5"/>
          </a:effectRef>
          <a:fontRef idx="minor">
            <a:schemeClr val="dk1"/>
          </a:fontRef>
        </p:style>
        <p:txBody>
          <a:bodyPr/>
          <a:lstStyle/>
          <a:p>
            <a:r>
              <a:rPr lang="zh-CN" altLang="en-US" sz="2800" dirty="0"/>
              <a:t>变量</a:t>
            </a:r>
          </a:p>
        </p:txBody>
      </p:sp>
      <p:pic>
        <p:nvPicPr>
          <p:cNvPr id="11" name="图片 10">
            <a:extLst>
              <a:ext uri="{FF2B5EF4-FFF2-40B4-BE49-F238E27FC236}">
                <a16:creationId xmlns:a16="http://schemas.microsoft.com/office/drawing/2014/main" id="{EDC1977B-0735-ADCF-E7B6-F96FCB0776DD}"/>
              </a:ext>
            </a:extLst>
          </p:cNvPr>
          <p:cNvPicPr>
            <a:picLocks noChangeAspect="1"/>
          </p:cNvPicPr>
          <p:nvPr/>
        </p:nvPicPr>
        <p:blipFill>
          <a:blip r:embed="rId2"/>
          <a:stretch>
            <a:fillRect/>
          </a:stretch>
        </p:blipFill>
        <p:spPr>
          <a:xfrm>
            <a:off x="6272337" y="300021"/>
            <a:ext cx="2347930" cy="4543458"/>
          </a:xfrm>
          <a:prstGeom prst="rect">
            <a:avLst/>
          </a:prstGeom>
        </p:spPr>
      </p:pic>
      <p:pic>
        <p:nvPicPr>
          <p:cNvPr id="13" name="图片 12">
            <a:extLst>
              <a:ext uri="{FF2B5EF4-FFF2-40B4-BE49-F238E27FC236}">
                <a16:creationId xmlns:a16="http://schemas.microsoft.com/office/drawing/2014/main" id="{6CA40316-8D3D-C32C-70D2-94B79D0CE592}"/>
              </a:ext>
            </a:extLst>
          </p:cNvPr>
          <p:cNvPicPr>
            <a:picLocks noChangeAspect="1"/>
          </p:cNvPicPr>
          <p:nvPr/>
        </p:nvPicPr>
        <p:blipFill>
          <a:blip r:embed="rId3"/>
          <a:stretch>
            <a:fillRect/>
          </a:stretch>
        </p:blipFill>
        <p:spPr>
          <a:xfrm>
            <a:off x="660278" y="2619375"/>
            <a:ext cx="1309697" cy="2224104"/>
          </a:xfrm>
          <a:prstGeom prst="rect">
            <a:avLst/>
          </a:prstGeom>
        </p:spPr>
      </p:pic>
      <p:sp>
        <p:nvSpPr>
          <p:cNvPr id="17" name="文本框 16">
            <a:extLst>
              <a:ext uri="{FF2B5EF4-FFF2-40B4-BE49-F238E27FC236}">
                <a16:creationId xmlns:a16="http://schemas.microsoft.com/office/drawing/2014/main" id="{3A812AA0-6E7A-849E-94B8-25D0D37FA33F}"/>
              </a:ext>
            </a:extLst>
          </p:cNvPr>
          <p:cNvSpPr txBox="1"/>
          <p:nvPr/>
        </p:nvSpPr>
        <p:spPr>
          <a:xfrm>
            <a:off x="2771800" y="2643759"/>
            <a:ext cx="2808312" cy="215444"/>
          </a:xfrm>
          <a:prstGeom prst="rect">
            <a:avLst/>
          </a:prstGeom>
          <a:noFill/>
        </p:spPr>
        <p:txBody>
          <a:bodyPr wrap="square" lIns="0" tIns="0" rIns="0" bIns="0" rtlCol="0">
            <a:spAutoFit/>
          </a:bodyPr>
          <a:lstStyle/>
          <a:p>
            <a:r>
              <a:rPr lang="zh-CN" altLang="en-US" sz="1400" b="1" dirty="0">
                <a:solidFill>
                  <a:srgbClr val="C00000"/>
                </a:solidFill>
                <a:highlight>
                  <a:srgbClr val="FFFF00"/>
                </a:highlight>
                <a:latin typeface="黑体" panose="02010609060101010101" pitchFamily="49" charset="-122"/>
                <a:ea typeface="黑体" panose="02010609060101010101" pitchFamily="49" charset="-122"/>
              </a:rPr>
              <a:t>注意：</a:t>
            </a:r>
            <a:r>
              <a:rPr lang="zh-CN" altLang="en-US" sz="1400" dirty="0">
                <a:solidFill>
                  <a:srgbClr val="C00000"/>
                </a:solidFill>
                <a:highlight>
                  <a:srgbClr val="FFFF00"/>
                </a:highlight>
                <a:latin typeface="黑体" panose="02010609060101010101" pitchFamily="49" charset="-122"/>
                <a:ea typeface="黑体" panose="02010609060101010101" pitchFamily="49" charset="-122"/>
              </a:rPr>
              <a:t>变量不分配固定的存储单元</a:t>
            </a:r>
          </a:p>
        </p:txBody>
      </p:sp>
      <p:pic>
        <p:nvPicPr>
          <p:cNvPr id="19" name="图片 18">
            <a:extLst>
              <a:ext uri="{FF2B5EF4-FFF2-40B4-BE49-F238E27FC236}">
                <a16:creationId xmlns:a16="http://schemas.microsoft.com/office/drawing/2014/main" id="{B0C51E8D-BFE2-4903-235A-D58D7A9ACB2C}"/>
              </a:ext>
            </a:extLst>
          </p:cNvPr>
          <p:cNvPicPr>
            <a:picLocks noChangeAspect="1"/>
          </p:cNvPicPr>
          <p:nvPr/>
        </p:nvPicPr>
        <p:blipFill>
          <a:blip r:embed="rId4"/>
          <a:stretch>
            <a:fillRect/>
          </a:stretch>
        </p:blipFill>
        <p:spPr>
          <a:xfrm>
            <a:off x="3382994" y="2931790"/>
            <a:ext cx="1585924" cy="1890726"/>
          </a:xfrm>
          <a:prstGeom prst="rect">
            <a:avLst/>
          </a:prstGeom>
        </p:spPr>
      </p:pic>
    </p:spTree>
    <p:extLst>
      <p:ext uri="{BB962C8B-B14F-4D97-AF65-F5344CB8AC3E}">
        <p14:creationId xmlns:p14="http://schemas.microsoft.com/office/powerpoint/2010/main" val="2860538342"/>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7102" y="556294"/>
            <a:ext cx="8275638" cy="450751"/>
          </a:xfrm>
        </p:spPr>
        <p:txBody>
          <a:bodyPr/>
          <a:lstStyle/>
          <a:p>
            <a:r>
              <a:rPr lang="zh-CN" altLang="en-US" sz="2800" dirty="0"/>
              <a:t>变量</a:t>
            </a:r>
          </a:p>
        </p:txBody>
      </p:sp>
      <p:sp>
        <p:nvSpPr>
          <p:cNvPr id="3" name="内容占位符 2"/>
          <p:cNvSpPr>
            <a:spLocks noGrp="1"/>
          </p:cNvSpPr>
          <p:nvPr>
            <p:ph idx="1"/>
          </p:nvPr>
        </p:nvSpPr>
        <p:spPr>
          <a:xfrm>
            <a:off x="429640" y="1131590"/>
            <a:ext cx="8293100" cy="3528392"/>
          </a:xfrm>
        </p:spPr>
        <p:style>
          <a:lnRef idx="2">
            <a:schemeClr val="accent5"/>
          </a:lnRef>
          <a:fillRef idx="1">
            <a:schemeClr val="lt1"/>
          </a:fillRef>
          <a:effectRef idx="0">
            <a:schemeClr val="accent5"/>
          </a:effectRef>
          <a:fontRef idx="minor">
            <a:schemeClr val="dk1"/>
          </a:fontRef>
        </p:style>
        <p:txBody>
          <a:bodyPr/>
          <a:lstStyle/>
          <a:p>
            <a:pPr>
              <a:lnSpc>
                <a:spcPct val="150000"/>
              </a:lnSpc>
              <a:spcBef>
                <a:spcPts val="0"/>
              </a:spcBef>
              <a:buFont typeface="Wingdings" panose="05000000000000000000" pitchFamily="2" charset="2"/>
              <a:buChar char="u"/>
            </a:pPr>
            <a:r>
              <a:rPr lang="zh-CN" altLang="zh-CN" sz="2000" b="1" dirty="0">
                <a:solidFill>
                  <a:srgbClr val="00B050"/>
                </a:solidFill>
              </a:rPr>
              <a:t>变量</a:t>
            </a:r>
            <a:r>
              <a:rPr lang="zh-CN" altLang="en-US" sz="2000" b="1" dirty="0">
                <a:solidFill>
                  <a:srgbClr val="00B050"/>
                </a:solidFill>
              </a:rPr>
              <a:t>命名</a:t>
            </a:r>
            <a:r>
              <a:rPr lang="zh-CN" altLang="en-US" sz="2000" dirty="0">
                <a:solidFill>
                  <a:schemeClr val="tx1"/>
                </a:solidFill>
              </a:rPr>
              <a:t>：必须是一个</a:t>
            </a:r>
            <a:r>
              <a:rPr lang="zh-CN" altLang="en-US" sz="2000" b="1" dirty="0">
                <a:solidFill>
                  <a:srgbClr val="00B050"/>
                </a:solidFill>
              </a:rPr>
              <a:t>合法的</a:t>
            </a:r>
            <a:r>
              <a:rPr lang="zh-CN" altLang="zh-CN" sz="2000" b="1" dirty="0">
                <a:solidFill>
                  <a:srgbClr val="00B050"/>
                </a:solidFill>
              </a:rPr>
              <a:t>标识符</a:t>
            </a:r>
            <a:endParaRPr lang="en-US" altLang="zh-CN" sz="2000" dirty="0">
              <a:solidFill>
                <a:srgbClr val="00B050"/>
              </a:solidFill>
            </a:endParaRPr>
          </a:p>
          <a:p>
            <a:pPr marL="0" indent="0">
              <a:lnSpc>
                <a:spcPct val="150000"/>
              </a:lnSpc>
              <a:spcBef>
                <a:spcPts val="0"/>
              </a:spcBef>
              <a:buNone/>
            </a:pPr>
            <a:r>
              <a:rPr lang="en-US" altLang="zh-CN" sz="2000" dirty="0">
                <a:solidFill>
                  <a:schemeClr val="tx1"/>
                </a:solidFill>
              </a:rPr>
              <a:t>      </a:t>
            </a:r>
            <a:r>
              <a:rPr lang="zh-CN" altLang="en-US" sz="2000" dirty="0">
                <a:solidFill>
                  <a:schemeClr val="tx1"/>
                </a:solidFill>
              </a:rPr>
              <a:t>变量命名</a:t>
            </a:r>
            <a:r>
              <a:rPr lang="zh-CN" altLang="zh-CN" sz="1800" dirty="0">
                <a:solidFill>
                  <a:schemeClr val="tx1"/>
                </a:solidFill>
              </a:rPr>
              <a:t>遵循</a:t>
            </a:r>
            <a:r>
              <a:rPr lang="zh-CN" altLang="en-US" sz="1800" dirty="0">
                <a:solidFill>
                  <a:schemeClr val="tx1"/>
                </a:solidFill>
              </a:rPr>
              <a:t>以下</a:t>
            </a:r>
            <a:r>
              <a:rPr lang="zh-CN" altLang="zh-CN" sz="1800" dirty="0">
                <a:solidFill>
                  <a:schemeClr val="tx1"/>
                </a:solidFill>
              </a:rPr>
              <a:t>约定俗成的</a:t>
            </a:r>
            <a:r>
              <a:rPr lang="zh-CN" altLang="zh-CN" sz="1800" b="1" dirty="0">
                <a:solidFill>
                  <a:srgbClr val="00B050"/>
                </a:solidFill>
              </a:rPr>
              <a:t>规范</a:t>
            </a:r>
            <a:r>
              <a:rPr lang="zh-CN" altLang="zh-CN" sz="1800" dirty="0">
                <a:solidFill>
                  <a:schemeClr val="tx1"/>
                </a:solidFill>
              </a:rPr>
              <a:t>：</a:t>
            </a:r>
          </a:p>
          <a:p>
            <a:pPr lvl="1">
              <a:lnSpc>
                <a:spcPct val="150000"/>
              </a:lnSpc>
              <a:spcBef>
                <a:spcPts val="0"/>
              </a:spcBef>
              <a:buFont typeface="Wingdings" panose="05000000000000000000" pitchFamily="2" charset="2"/>
              <a:buChar char="Ø"/>
            </a:pPr>
            <a:r>
              <a:rPr lang="zh-CN" altLang="en-US" sz="1800" dirty="0">
                <a:solidFill>
                  <a:schemeClr val="tx1"/>
                </a:solidFill>
              </a:rPr>
              <a:t>见名知义，以</a:t>
            </a:r>
            <a:r>
              <a:rPr lang="zh-CN" altLang="zh-CN" sz="1800" dirty="0">
                <a:solidFill>
                  <a:schemeClr val="tx1"/>
                </a:solidFill>
              </a:rPr>
              <a:t>提高程序的可读性</a:t>
            </a:r>
            <a:endParaRPr lang="en-US" altLang="zh-CN" sz="1800" dirty="0">
              <a:solidFill>
                <a:schemeClr val="tx1"/>
              </a:solidFill>
            </a:endParaRPr>
          </a:p>
          <a:p>
            <a:pPr lvl="1">
              <a:lnSpc>
                <a:spcPct val="150000"/>
              </a:lnSpc>
              <a:spcBef>
                <a:spcPts val="0"/>
              </a:spcBef>
              <a:buFont typeface="Wingdings" panose="05000000000000000000" pitchFamily="2" charset="2"/>
              <a:buChar char="Ø"/>
            </a:pPr>
            <a:r>
              <a:rPr lang="zh-CN" altLang="en-US" sz="1800" dirty="0">
                <a:solidFill>
                  <a:schemeClr val="tx1"/>
                </a:solidFill>
              </a:rPr>
              <a:t>单词之间</a:t>
            </a:r>
            <a:r>
              <a:rPr lang="zh-CN" altLang="zh-CN" sz="1800" dirty="0">
                <a:solidFill>
                  <a:schemeClr val="tx1"/>
                </a:solidFill>
              </a:rPr>
              <a:t>用</a:t>
            </a:r>
            <a:r>
              <a:rPr lang="zh-CN" altLang="en-US" sz="1800" dirty="0">
                <a:solidFill>
                  <a:schemeClr val="tx1"/>
                </a:solidFill>
              </a:rPr>
              <a:t>下划线连接</a:t>
            </a:r>
            <a:r>
              <a:rPr lang="zh-CN" altLang="zh-CN" sz="1800" dirty="0">
                <a:solidFill>
                  <a:schemeClr val="tx1"/>
                </a:solidFill>
              </a:rPr>
              <a:t>，或者每个单词首字母大写</a:t>
            </a:r>
          </a:p>
          <a:p>
            <a:pPr lvl="1">
              <a:lnSpc>
                <a:spcPct val="150000"/>
              </a:lnSpc>
              <a:spcBef>
                <a:spcPts val="0"/>
              </a:spcBef>
              <a:buFont typeface="Wingdings" panose="05000000000000000000" pitchFamily="2" charset="2"/>
              <a:buChar char="Ø"/>
            </a:pPr>
            <a:r>
              <a:rPr lang="zh-CN" altLang="en-US" sz="1800" dirty="0">
                <a:solidFill>
                  <a:schemeClr val="tx1"/>
                </a:solidFill>
              </a:rPr>
              <a:t>值不变的尽量</a:t>
            </a:r>
            <a:r>
              <a:rPr lang="zh-CN" altLang="zh-CN" sz="1800" dirty="0">
                <a:solidFill>
                  <a:schemeClr val="tx1"/>
                </a:solidFill>
              </a:rPr>
              <a:t>用大写字母</a:t>
            </a:r>
            <a:r>
              <a:rPr lang="zh-CN" altLang="en-US" sz="1800" dirty="0">
                <a:solidFill>
                  <a:schemeClr val="tx1"/>
                </a:solidFill>
              </a:rPr>
              <a:t>命名</a:t>
            </a:r>
            <a:r>
              <a:rPr lang="zh-CN" altLang="zh-CN" sz="1800" dirty="0">
                <a:solidFill>
                  <a:schemeClr val="tx1"/>
                </a:solidFill>
              </a:rPr>
              <a:t>，例如：</a:t>
            </a:r>
            <a:r>
              <a:rPr lang="en-US" altLang="zh-CN" sz="1800" dirty="0">
                <a:solidFill>
                  <a:schemeClr val="tx1"/>
                </a:solidFill>
              </a:rPr>
              <a:t>PI=3.14</a:t>
            </a:r>
            <a:endParaRPr lang="zh-CN" altLang="zh-CN" sz="1800" dirty="0">
              <a:solidFill>
                <a:schemeClr val="tx1"/>
              </a:solidFill>
            </a:endParaRPr>
          </a:p>
          <a:p>
            <a:pPr lvl="1">
              <a:lnSpc>
                <a:spcPct val="150000"/>
              </a:lnSpc>
              <a:spcBef>
                <a:spcPts val="0"/>
              </a:spcBef>
              <a:buFont typeface="Wingdings" panose="05000000000000000000" pitchFamily="2" charset="2"/>
              <a:buChar char="Ø"/>
            </a:pPr>
            <a:r>
              <a:rPr lang="zh-CN" altLang="zh-CN" sz="1800" dirty="0">
                <a:solidFill>
                  <a:schemeClr val="tx1"/>
                </a:solidFill>
              </a:rPr>
              <a:t>标识符是</a:t>
            </a:r>
            <a:r>
              <a:rPr lang="zh-CN" altLang="zh-CN" sz="1800" b="1" dirty="0">
                <a:solidFill>
                  <a:srgbClr val="FF0000"/>
                </a:solidFill>
              </a:rPr>
              <a:t>严格区分</a:t>
            </a:r>
            <a:r>
              <a:rPr lang="zh-CN" altLang="en-US" sz="1800" b="1" dirty="0">
                <a:solidFill>
                  <a:srgbClr val="FF0000"/>
                </a:solidFill>
              </a:rPr>
              <a:t>字母的</a:t>
            </a:r>
            <a:r>
              <a:rPr lang="zh-CN" altLang="zh-CN" sz="1800" b="1" dirty="0">
                <a:solidFill>
                  <a:srgbClr val="FF0000"/>
                </a:solidFill>
              </a:rPr>
              <a:t>大小</a:t>
            </a:r>
            <a:r>
              <a:rPr lang="zh-CN" altLang="en-US" sz="1800" b="1" dirty="0">
                <a:solidFill>
                  <a:srgbClr val="FF0000"/>
                </a:solidFill>
              </a:rPr>
              <a:t>写</a:t>
            </a:r>
            <a:endParaRPr lang="en-US" altLang="zh-CN" sz="1800" b="1" dirty="0">
              <a:solidFill>
                <a:srgbClr val="FF0000"/>
              </a:solidFill>
            </a:endParaRPr>
          </a:p>
          <a:p>
            <a:pPr lvl="1">
              <a:lnSpc>
                <a:spcPct val="150000"/>
              </a:lnSpc>
              <a:spcBef>
                <a:spcPts val="0"/>
              </a:spcBef>
              <a:buFont typeface="Wingdings" panose="05000000000000000000" pitchFamily="2" charset="2"/>
              <a:buChar char="Ø"/>
            </a:pPr>
            <a:r>
              <a:rPr lang="zh-CN" altLang="en-US" sz="1800" dirty="0">
                <a:solidFill>
                  <a:schemeClr val="tx1"/>
                </a:solidFill>
              </a:rPr>
              <a:t>函数名可以作为变量名，但尽量不</a:t>
            </a:r>
            <a:r>
              <a:rPr lang="zh-CN" altLang="en-US" sz="1800" dirty="0"/>
              <a:t>这样使用</a:t>
            </a:r>
            <a:endParaRPr lang="en-US" altLang="zh-CN" sz="1800" dirty="0"/>
          </a:p>
          <a:p>
            <a:pPr marL="457200" lvl="1" indent="0">
              <a:lnSpc>
                <a:spcPct val="150000"/>
              </a:lnSpc>
              <a:spcBef>
                <a:spcPts val="0"/>
              </a:spcBef>
              <a:buNone/>
            </a:pPr>
            <a:r>
              <a:rPr lang="en-US" altLang="zh-CN" sz="1800" dirty="0"/>
              <a:t>    </a:t>
            </a:r>
            <a:r>
              <a:rPr lang="zh-CN" altLang="en-US" sz="1800" dirty="0">
                <a:solidFill>
                  <a:schemeClr val="tx1"/>
                </a:solidFill>
              </a:rPr>
              <a:t>如</a:t>
            </a:r>
            <a:r>
              <a:rPr lang="en-US" altLang="zh-CN" sz="1800" dirty="0">
                <a:solidFill>
                  <a:schemeClr val="tx1"/>
                </a:solidFill>
              </a:rPr>
              <a:t>:</a:t>
            </a:r>
            <a:r>
              <a:rPr lang="zh-CN" altLang="en-US" sz="1800" dirty="0">
                <a:solidFill>
                  <a:schemeClr val="tx1"/>
                </a:solidFill>
              </a:rPr>
              <a:t> </a:t>
            </a:r>
            <a:r>
              <a:rPr lang="en-US" altLang="zh-CN" sz="1800" dirty="0">
                <a:solidFill>
                  <a:schemeClr val="tx1"/>
                </a:solidFill>
              </a:rPr>
              <a:t>max=65535;   </a:t>
            </a:r>
            <a:r>
              <a:rPr lang="en-US" altLang="zh-CN" sz="1800" dirty="0" err="1">
                <a:solidFill>
                  <a:schemeClr val="tx1"/>
                </a:solidFill>
              </a:rPr>
              <a:t>int</a:t>
            </a:r>
            <a:r>
              <a:rPr lang="en-US" altLang="zh-CN" sz="1800" dirty="0">
                <a:solidFill>
                  <a:schemeClr val="tx1"/>
                </a:solidFill>
              </a:rPr>
              <a:t>=2;    float=1.5</a:t>
            </a:r>
            <a:endParaRPr lang="zh-CN" altLang="en-US" sz="1800" dirty="0">
              <a:solidFill>
                <a:schemeClr val="tx1"/>
              </a:solidFill>
            </a:endParaRPr>
          </a:p>
        </p:txBody>
      </p:sp>
    </p:spTree>
    <p:extLst>
      <p:ext uri="{BB962C8B-B14F-4D97-AF65-F5344CB8AC3E}">
        <p14:creationId xmlns:p14="http://schemas.microsoft.com/office/powerpoint/2010/main" val="16491298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1979712" y="843558"/>
            <a:ext cx="4752528" cy="504056"/>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zh-CN" altLang="en-US" sz="2400" dirty="0">
                <a:solidFill>
                  <a:srgbClr val="C00000"/>
                </a:solidFill>
              </a:rPr>
              <a:t>以下标识符</a:t>
            </a:r>
            <a:r>
              <a:rPr lang="zh-CN" altLang="en-US" sz="2400" dirty="0"/>
              <a:t>有啥问题？？？</a:t>
            </a:r>
            <a:endParaRPr lang="zh-CN" altLang="en-US" sz="2400" dirty="0">
              <a:solidFill>
                <a:srgbClr val="C00000"/>
              </a:solidFill>
            </a:endParaRPr>
          </a:p>
        </p:txBody>
      </p:sp>
      <p:sp>
        <p:nvSpPr>
          <p:cNvPr id="14340" name="TextBox 1"/>
          <p:cNvSpPr txBox="1">
            <a:spLocks noChangeArrowheads="1"/>
          </p:cNvSpPr>
          <p:nvPr/>
        </p:nvSpPr>
        <p:spPr bwMode="auto">
          <a:xfrm>
            <a:off x="2339752" y="1909157"/>
            <a:ext cx="1440161"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spcBef>
                <a:spcPts val="600"/>
              </a:spcBef>
            </a:pPr>
            <a:r>
              <a:rPr lang="en-US" altLang="zh-CN" dirty="0">
                <a:solidFill>
                  <a:srgbClr val="000066"/>
                </a:solidFill>
                <a:latin typeface="Courier New" pitchFamily="49" charset="0"/>
                <a:ea typeface="微软雅黑" pitchFamily="34" charset="-122"/>
                <a:cs typeface="Courier New" pitchFamily="49" charset="0"/>
              </a:rPr>
              <a:t>3xy</a:t>
            </a:r>
          </a:p>
          <a:p>
            <a:pPr eaLnBrk="1" hangingPunct="1">
              <a:spcBef>
                <a:spcPts val="600"/>
              </a:spcBef>
            </a:pPr>
            <a:r>
              <a:rPr lang="en-US" altLang="zh-CN" dirty="0">
                <a:solidFill>
                  <a:srgbClr val="000066"/>
                </a:solidFill>
                <a:latin typeface="Courier New" pitchFamily="49" charset="0"/>
                <a:ea typeface="微软雅黑" pitchFamily="34" charset="-122"/>
                <a:cs typeface="Courier New" pitchFamily="49" charset="0"/>
              </a:rPr>
              <a:t>y-z</a:t>
            </a:r>
            <a:endParaRPr lang="zh-CN" altLang="en-US" b="0" dirty="0">
              <a:solidFill>
                <a:srgbClr val="000066"/>
              </a:solidFill>
              <a:latin typeface="Courier New" pitchFamily="49" charset="0"/>
              <a:ea typeface="微软雅黑" pitchFamily="34" charset="-122"/>
              <a:cs typeface="Courier New" pitchFamily="49" charset="0"/>
            </a:endParaRPr>
          </a:p>
          <a:p>
            <a:pPr eaLnBrk="1" hangingPunct="1">
              <a:spcBef>
                <a:spcPts val="600"/>
              </a:spcBef>
            </a:pPr>
            <a:r>
              <a:rPr lang="en-US" altLang="zh-CN" dirty="0">
                <a:solidFill>
                  <a:srgbClr val="000066"/>
                </a:solidFill>
                <a:latin typeface="Courier New" pitchFamily="49" charset="0"/>
                <a:ea typeface="微软雅黑" pitchFamily="34" charset="-122"/>
                <a:cs typeface="Courier New" pitchFamily="49" charset="0"/>
              </a:rPr>
              <a:t>Wang p </a:t>
            </a:r>
          </a:p>
          <a:p>
            <a:pPr eaLnBrk="1" hangingPunct="1">
              <a:spcBef>
                <a:spcPts val="600"/>
              </a:spcBef>
            </a:pPr>
            <a:r>
              <a:rPr lang="en-US" altLang="zh-CN" dirty="0">
                <a:solidFill>
                  <a:srgbClr val="000066"/>
                </a:solidFill>
                <a:latin typeface="Courier New" pitchFamily="49" charset="0"/>
                <a:ea typeface="微软雅黑" pitchFamily="34" charset="-122"/>
                <a:cs typeface="Courier New" pitchFamily="49" charset="0"/>
              </a:rPr>
              <a:t>False</a:t>
            </a:r>
          </a:p>
          <a:p>
            <a:pPr eaLnBrk="1" hangingPunct="1">
              <a:spcBef>
                <a:spcPts val="600"/>
              </a:spcBef>
            </a:pPr>
            <a:r>
              <a:rPr lang="en-US" altLang="zh-CN" dirty="0">
                <a:solidFill>
                  <a:srgbClr val="000066"/>
                </a:solidFill>
                <a:latin typeface="Courier New" pitchFamily="49" charset="0"/>
                <a:ea typeface="微软雅黑" pitchFamily="34" charset="-122"/>
                <a:cs typeface="Courier New" pitchFamily="49" charset="0"/>
              </a:rPr>
              <a:t>sin</a:t>
            </a:r>
            <a:endParaRPr lang="zh-CN" altLang="en-US" b="0" dirty="0">
              <a:solidFill>
                <a:srgbClr val="000066"/>
              </a:solidFill>
              <a:latin typeface="Courier New" pitchFamily="49" charset="0"/>
              <a:ea typeface="微软雅黑" pitchFamily="34" charset="-122"/>
              <a:cs typeface="Courier New" pitchFamily="49" charset="0"/>
            </a:endParaRPr>
          </a:p>
        </p:txBody>
      </p:sp>
      <p:sp>
        <p:nvSpPr>
          <p:cNvPr id="4" name="椭圆 3"/>
          <p:cNvSpPr/>
          <p:nvPr/>
        </p:nvSpPr>
        <p:spPr bwMode="auto">
          <a:xfrm>
            <a:off x="8604448" y="4686908"/>
            <a:ext cx="108012" cy="108012"/>
          </a:xfrm>
          <a:prstGeom prst="ellipse">
            <a:avLst/>
          </a:prstGeom>
          <a:solidFill>
            <a:srgbClr val="C00000"/>
          </a:solidFill>
          <a:ln>
            <a:noFill/>
          </a:ln>
          <a:effectLst/>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50000"/>
              </a:spcBef>
              <a:spcAft>
                <a:spcPct val="0"/>
              </a:spcAft>
              <a:buClrTx/>
              <a:buSzTx/>
              <a:buFontTx/>
              <a:buNone/>
              <a:tabLst/>
            </a:pPr>
            <a:endParaRPr kumimoji="1" lang="zh-CN" altLang="en-US" sz="2400" b="1" i="0" u="none" strike="noStrike" cap="none" normalizeH="0" baseline="0">
              <a:ln>
                <a:noFill/>
              </a:ln>
              <a:solidFill>
                <a:srgbClr val="A50021"/>
              </a:solidFill>
              <a:effectLst/>
              <a:latin typeface="Arial" charset="0"/>
              <a:ea typeface="黑体" pitchFamily="2" charset="-122"/>
            </a:endParaRPr>
          </a:p>
        </p:txBody>
      </p:sp>
      <p:sp>
        <p:nvSpPr>
          <p:cNvPr id="5" name="TextBox 1"/>
          <p:cNvSpPr txBox="1">
            <a:spLocks noChangeArrowheads="1"/>
          </p:cNvSpPr>
          <p:nvPr/>
        </p:nvSpPr>
        <p:spPr bwMode="auto">
          <a:xfrm>
            <a:off x="5364088" y="1940319"/>
            <a:ext cx="2448272" cy="2215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lnSpc>
                <a:spcPct val="150000"/>
              </a:lnSpc>
              <a:spcBef>
                <a:spcPts val="600"/>
              </a:spcBef>
            </a:pPr>
            <a:r>
              <a:rPr lang="zh-CN" altLang="en-US" sz="1600" b="0" dirty="0">
                <a:solidFill>
                  <a:schemeClr val="tx1"/>
                </a:solidFill>
                <a:latin typeface="Courier New" pitchFamily="49" charset="0"/>
                <a:ea typeface="微软雅黑" pitchFamily="34" charset="-122"/>
                <a:cs typeface="Courier New" pitchFamily="49" charset="0"/>
              </a:rPr>
              <a:t>数字开头</a:t>
            </a:r>
          </a:p>
          <a:p>
            <a:pPr eaLnBrk="1" hangingPunct="1">
              <a:lnSpc>
                <a:spcPct val="150000"/>
              </a:lnSpc>
              <a:spcBef>
                <a:spcPts val="600"/>
              </a:spcBef>
            </a:pPr>
            <a:r>
              <a:rPr lang="zh-CN" altLang="en-US" sz="1600" b="0" dirty="0">
                <a:solidFill>
                  <a:schemeClr val="tx1"/>
                </a:solidFill>
                <a:latin typeface="Courier New" pitchFamily="49" charset="0"/>
                <a:ea typeface="微软雅黑" pitchFamily="34" charset="-122"/>
                <a:cs typeface="Courier New" pitchFamily="49" charset="0"/>
              </a:rPr>
              <a:t>不允许出现减号运算符</a:t>
            </a:r>
          </a:p>
          <a:p>
            <a:pPr eaLnBrk="1" hangingPunct="1">
              <a:lnSpc>
                <a:spcPct val="150000"/>
              </a:lnSpc>
              <a:spcBef>
                <a:spcPts val="600"/>
              </a:spcBef>
            </a:pPr>
            <a:r>
              <a:rPr lang="zh-CN" altLang="en-US" sz="1600" b="0" dirty="0">
                <a:solidFill>
                  <a:schemeClr val="tx1"/>
                </a:solidFill>
                <a:latin typeface="Courier New" pitchFamily="49" charset="0"/>
                <a:ea typeface="微软雅黑" pitchFamily="34" charset="-122"/>
                <a:cs typeface="Courier New" pitchFamily="49" charset="0"/>
              </a:rPr>
              <a:t>不允许出现空格</a:t>
            </a:r>
          </a:p>
          <a:p>
            <a:pPr eaLnBrk="1" hangingPunct="1">
              <a:lnSpc>
                <a:spcPct val="150000"/>
              </a:lnSpc>
              <a:spcBef>
                <a:spcPts val="600"/>
              </a:spcBef>
            </a:pPr>
            <a:r>
              <a:rPr lang="en-US" altLang="zh-CN" sz="1600" dirty="0">
                <a:solidFill>
                  <a:schemeClr val="tx1"/>
                </a:solidFill>
                <a:latin typeface="Courier New" pitchFamily="49" charset="0"/>
                <a:ea typeface="微软雅黑" pitchFamily="34" charset="-122"/>
                <a:cs typeface="Courier New" pitchFamily="49" charset="0"/>
              </a:rPr>
              <a:t>Python</a:t>
            </a:r>
            <a:r>
              <a:rPr lang="zh-CN" altLang="en-US" sz="1600" b="0" dirty="0">
                <a:solidFill>
                  <a:schemeClr val="tx1"/>
                </a:solidFill>
                <a:latin typeface="Courier New" pitchFamily="49" charset="0"/>
                <a:ea typeface="微软雅黑" pitchFamily="34" charset="-122"/>
                <a:cs typeface="Courier New" pitchFamily="49" charset="0"/>
              </a:rPr>
              <a:t>中的关键字</a:t>
            </a:r>
            <a:endParaRPr lang="en-US" altLang="zh-CN" sz="1600" b="0" dirty="0">
              <a:solidFill>
                <a:schemeClr val="tx1"/>
              </a:solidFill>
              <a:latin typeface="Courier New" pitchFamily="49" charset="0"/>
              <a:ea typeface="微软雅黑" pitchFamily="34" charset="-122"/>
              <a:cs typeface="Courier New" pitchFamily="49" charset="0"/>
            </a:endParaRPr>
          </a:p>
          <a:p>
            <a:pPr eaLnBrk="1" hangingPunct="1">
              <a:lnSpc>
                <a:spcPct val="150000"/>
              </a:lnSpc>
              <a:spcBef>
                <a:spcPts val="600"/>
              </a:spcBef>
            </a:pPr>
            <a:r>
              <a:rPr lang="en-US" altLang="zh-CN" sz="1600" dirty="0">
                <a:solidFill>
                  <a:schemeClr val="tx1"/>
                </a:solidFill>
                <a:latin typeface="Courier New" pitchFamily="49" charset="0"/>
                <a:ea typeface="微软雅黑" pitchFamily="34" charset="-122"/>
                <a:cs typeface="Courier New" pitchFamily="49" charset="0"/>
              </a:rPr>
              <a:t>Python</a:t>
            </a:r>
            <a:r>
              <a:rPr lang="zh-CN" altLang="en-US" sz="1600" b="0" dirty="0">
                <a:solidFill>
                  <a:schemeClr val="tx1"/>
                </a:solidFill>
                <a:latin typeface="Courier New" pitchFamily="49" charset="0"/>
                <a:ea typeface="微软雅黑" pitchFamily="34" charset="-122"/>
                <a:cs typeface="Courier New" pitchFamily="49" charset="0"/>
              </a:rPr>
              <a:t>中的函数名</a:t>
            </a:r>
          </a:p>
        </p:txBody>
      </p:sp>
      <p:grpSp>
        <p:nvGrpSpPr>
          <p:cNvPr id="6" name="组合 5"/>
          <p:cNvGrpSpPr/>
          <p:nvPr/>
        </p:nvGrpSpPr>
        <p:grpSpPr>
          <a:xfrm>
            <a:off x="3563888" y="2148022"/>
            <a:ext cx="1368152" cy="1800200"/>
            <a:chOff x="3419872" y="2139702"/>
            <a:chExt cx="1368152" cy="1800200"/>
          </a:xfrm>
        </p:grpSpPr>
        <p:cxnSp>
          <p:nvCxnSpPr>
            <p:cNvPr id="3" name="直接箭头连接符 2"/>
            <p:cNvCxnSpPr/>
            <p:nvPr/>
          </p:nvCxnSpPr>
          <p:spPr bwMode="auto">
            <a:xfrm>
              <a:off x="3419872" y="2139702"/>
              <a:ext cx="136815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bwMode="auto">
            <a:xfrm>
              <a:off x="3419872" y="2571750"/>
              <a:ext cx="136815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bwMode="auto">
            <a:xfrm>
              <a:off x="3419872" y="3015899"/>
              <a:ext cx="136815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bwMode="auto">
            <a:xfrm>
              <a:off x="3419872" y="3507854"/>
              <a:ext cx="136815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bwMode="auto">
            <a:xfrm>
              <a:off x="3419872" y="3939902"/>
              <a:ext cx="136815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9481553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ipe(left)">
                                      <p:cBhvr>
                                        <p:cTn id="7" dur="500"/>
                                        <p:tgtEl>
                                          <p:spTgt spid="143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96263"/>
            <a:ext cx="7865566" cy="650875"/>
          </a:xfrm>
        </p:spPr>
        <p:txBody>
          <a:bodyPr/>
          <a:lstStyle/>
          <a:p>
            <a:r>
              <a:rPr lang="zh-CN" altLang="zh-CN" sz="2800" dirty="0">
                <a:effectLst/>
              </a:rPr>
              <a:t>基本</a:t>
            </a:r>
            <a:r>
              <a:rPr lang="zh-CN" altLang="en-US" sz="2800" dirty="0">
                <a:effectLst/>
              </a:rPr>
              <a:t>数据类型</a:t>
            </a:r>
            <a:r>
              <a:rPr lang="en-US" altLang="zh-CN" sz="2800" dirty="0">
                <a:effectLst/>
              </a:rPr>
              <a:t>—</a:t>
            </a:r>
            <a:r>
              <a:rPr lang="zh-CN" altLang="en-US" sz="2800" dirty="0">
                <a:effectLst/>
              </a:rPr>
              <a:t>数值类型</a:t>
            </a:r>
            <a:endParaRPr lang="zh-CN" altLang="en-US" sz="2800" dirty="0"/>
          </a:p>
        </p:txBody>
      </p:sp>
      <p:sp>
        <p:nvSpPr>
          <p:cNvPr id="3" name="内容占位符 2"/>
          <p:cNvSpPr>
            <a:spLocks noGrp="1"/>
          </p:cNvSpPr>
          <p:nvPr>
            <p:ph idx="1"/>
          </p:nvPr>
        </p:nvSpPr>
        <p:spPr>
          <a:xfrm>
            <a:off x="755574" y="1045097"/>
            <a:ext cx="7344818" cy="1008113"/>
          </a:xfrm>
        </p:spPr>
        <p:style>
          <a:lnRef idx="2">
            <a:schemeClr val="accent5"/>
          </a:lnRef>
          <a:fillRef idx="1">
            <a:schemeClr val="lt1"/>
          </a:fillRef>
          <a:effectRef idx="0">
            <a:schemeClr val="accent5"/>
          </a:effectRef>
          <a:fontRef idx="minor">
            <a:schemeClr val="dk1"/>
          </a:fontRef>
        </p:style>
        <p:txBody>
          <a:bodyPr/>
          <a:lstStyle/>
          <a:p>
            <a:pPr>
              <a:buFont typeface="Wingdings" panose="05000000000000000000" pitchFamily="2" charset="2"/>
              <a:buChar char="Ø"/>
            </a:pPr>
            <a:r>
              <a:rPr lang="zh-CN" altLang="zh-CN" sz="2000" dirty="0">
                <a:latin typeface="黑体" panose="02010609060101010101" pitchFamily="49" charset="-122"/>
                <a:ea typeface="黑体" panose="02010609060101010101" pitchFamily="49" charset="-122"/>
              </a:rPr>
              <a:t>整数（</a:t>
            </a:r>
            <a:r>
              <a:rPr lang="en-US" altLang="zh-CN" sz="2000" dirty="0" err="1">
                <a:latin typeface="黑体" panose="02010609060101010101" pitchFamily="49" charset="-122"/>
                <a:ea typeface="黑体" panose="02010609060101010101" pitchFamily="49" charset="-122"/>
              </a:rPr>
              <a:t>int</a:t>
            </a:r>
            <a:r>
              <a:rPr lang="zh-CN"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-123</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0b1010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0o26,0X1E2</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100</a:t>
            </a:r>
          </a:p>
          <a:p>
            <a:pPr>
              <a:buFont typeface="Wingdings" panose="05000000000000000000" pitchFamily="2" charset="2"/>
              <a:buChar char="Ø"/>
            </a:pPr>
            <a:r>
              <a:rPr lang="zh-CN" altLang="zh-CN" sz="2000" dirty="0">
                <a:latin typeface="黑体" panose="02010609060101010101" pitchFamily="49" charset="-122"/>
                <a:ea typeface="黑体" panose="02010609060101010101" pitchFamily="49" charset="-122"/>
              </a:rPr>
              <a:t>浮点数（</a:t>
            </a:r>
            <a:r>
              <a:rPr lang="en-US" altLang="zh-CN" sz="2000" dirty="0">
                <a:latin typeface="黑体" panose="02010609060101010101" pitchFamily="49" charset="-122"/>
                <a:ea typeface="黑体" panose="02010609060101010101" pitchFamily="49" charset="-122"/>
              </a:rPr>
              <a:t>float</a:t>
            </a:r>
            <a:r>
              <a:rPr lang="zh-CN"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:0.0,-2.5,3.6e-5,4.8E2</a:t>
            </a:r>
          </a:p>
        </p:txBody>
      </p:sp>
      <p:pic>
        <p:nvPicPr>
          <p:cNvPr id="4" name="图片 3"/>
          <p:cNvPicPr>
            <a:picLocks noChangeAspect="1"/>
          </p:cNvPicPr>
          <p:nvPr/>
        </p:nvPicPr>
        <p:blipFill>
          <a:blip r:embed="rId3"/>
          <a:stretch>
            <a:fillRect/>
          </a:stretch>
        </p:blipFill>
        <p:spPr>
          <a:xfrm>
            <a:off x="1150298" y="2388324"/>
            <a:ext cx="6555370" cy="726365"/>
          </a:xfrm>
          <a:prstGeom prst="rect">
            <a:avLst/>
          </a:prstGeom>
          <a:ln>
            <a:solidFill>
              <a:srgbClr val="FF0000"/>
            </a:solidFill>
          </a:ln>
        </p:spPr>
      </p:pic>
      <p:sp>
        <p:nvSpPr>
          <p:cNvPr id="5" name="内容占位符 2"/>
          <p:cNvSpPr txBox="1">
            <a:spLocks/>
          </p:cNvSpPr>
          <p:nvPr/>
        </p:nvSpPr>
        <p:spPr bwMode="auto">
          <a:xfrm>
            <a:off x="755576" y="3507854"/>
            <a:ext cx="7344816" cy="100811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ts val="600"/>
              </a:spcBef>
              <a:spcAft>
                <a:spcPct val="0"/>
              </a:spcAft>
              <a:buClr>
                <a:schemeClr val="hlink"/>
              </a:buClr>
              <a:buChar char="•"/>
              <a:defRPr sz="2400" b="0">
                <a:solidFill>
                  <a:srgbClr val="000096"/>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lnSpc>
                <a:spcPct val="110000"/>
              </a:lnSpc>
              <a:spcBef>
                <a:spcPts val="600"/>
              </a:spcBef>
              <a:spcAft>
                <a:spcPct val="0"/>
              </a:spcAft>
              <a:buClr>
                <a:srgbClr val="FF9900"/>
              </a:buClr>
              <a:buChar char="•"/>
              <a:defRPr sz="22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lnSpc>
                <a:spcPct val="110000"/>
              </a:lnSpc>
              <a:spcBef>
                <a:spcPts val="600"/>
              </a:spcBef>
              <a:spcAft>
                <a:spcPct val="0"/>
              </a:spcAft>
              <a:buClr>
                <a:schemeClr val="hlink"/>
              </a:buClr>
              <a:buChar char="•"/>
              <a:defRPr>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lnSpc>
                <a:spcPct val="110000"/>
              </a:lnSpc>
              <a:spcBef>
                <a:spcPts val="600"/>
              </a:spcBef>
              <a:spcAft>
                <a:spcPct val="0"/>
              </a:spcAft>
              <a:buClr>
                <a:srgbClr val="FF9900"/>
              </a:buClr>
              <a:buChar char="•"/>
              <a:defRPr sz="16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lnSpc>
                <a:spcPct val="110000"/>
              </a:lnSpc>
              <a:spcBef>
                <a:spcPts val="600"/>
              </a:spcBef>
              <a:spcAft>
                <a:spcPct val="0"/>
              </a:spcAft>
              <a:buClr>
                <a:schemeClr val="hlink"/>
              </a:buClr>
              <a:buChar char="•"/>
              <a:defRPr sz="2000">
                <a:solidFill>
                  <a:srgbClr val="5F5F5F"/>
                </a:solidFill>
                <a:latin typeface="微软雅黑" panose="020B0503020204020204" pitchFamily="34" charset="-122"/>
                <a:ea typeface="微软雅黑" panose="020B0503020204020204" pitchFamily="34" charset="-122"/>
              </a:defRPr>
            </a:lvl5pPr>
            <a:lvl6pPr marL="25146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6pPr>
            <a:lvl7pPr marL="29718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7pPr>
            <a:lvl8pPr marL="34290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8pPr>
            <a:lvl9pPr marL="38862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9pPr>
          </a:lstStyle>
          <a:p>
            <a:pPr>
              <a:buFont typeface="Wingdings" panose="05000000000000000000" pitchFamily="2" charset="2"/>
              <a:buChar char="Ø"/>
            </a:pPr>
            <a:r>
              <a:rPr lang="zh-CN" altLang="zh-CN" sz="2000" dirty="0">
                <a:latin typeface="黑体" panose="02010609060101010101" pitchFamily="49" charset="-122"/>
                <a:ea typeface="黑体" panose="02010609060101010101" pitchFamily="49" charset="-122"/>
              </a:rPr>
              <a:t>布尔值（</a:t>
            </a:r>
            <a:r>
              <a:rPr lang="en-US" altLang="zh-CN" sz="2000" dirty="0">
                <a:latin typeface="黑体" panose="02010609060101010101" pitchFamily="49" charset="-122"/>
                <a:ea typeface="黑体" panose="02010609060101010101" pitchFamily="49" charset="-122"/>
              </a:rPr>
              <a:t>bool</a:t>
            </a:r>
            <a:r>
              <a:rPr lang="zh-CN"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a:t>
            </a:r>
            <a:r>
              <a:rPr lang="en-US" altLang="zh-CN" sz="2000" dirty="0">
                <a:solidFill>
                  <a:schemeClr val="tx1"/>
                </a:solidFill>
                <a:latin typeface="黑体" panose="02010609060101010101" pitchFamily="49" charset="-122"/>
                <a:ea typeface="黑体" panose="02010609060101010101" pitchFamily="49" charset="-122"/>
              </a:rPr>
              <a:t>True</a:t>
            </a:r>
            <a:r>
              <a:rPr lang="zh-CN" altLang="en-US" sz="2000" dirty="0">
                <a:solidFill>
                  <a:schemeClr val="tx1"/>
                </a:solidFill>
                <a:latin typeface="黑体" panose="02010609060101010101" pitchFamily="49" charset="-122"/>
                <a:ea typeface="黑体" panose="02010609060101010101" pitchFamily="49" charset="-122"/>
              </a:rPr>
              <a:t>、</a:t>
            </a:r>
            <a:r>
              <a:rPr lang="en-US" altLang="zh-CN" sz="2000" dirty="0">
                <a:solidFill>
                  <a:schemeClr val="tx1"/>
                </a:solidFill>
                <a:latin typeface="黑体" panose="02010609060101010101" pitchFamily="49" charset="-122"/>
                <a:ea typeface="黑体" panose="02010609060101010101" pitchFamily="49" charset="-122"/>
              </a:rPr>
              <a:t>False</a:t>
            </a:r>
          </a:p>
          <a:p>
            <a:pPr>
              <a:buFont typeface="Wingdings" panose="05000000000000000000" pitchFamily="2" charset="2"/>
              <a:buChar char="Ø"/>
            </a:pPr>
            <a:r>
              <a:rPr lang="zh-CN" altLang="zh-CN" sz="2000" dirty="0">
                <a:latin typeface="黑体" panose="02010609060101010101" pitchFamily="49" charset="-122"/>
                <a:ea typeface="黑体" panose="02010609060101010101" pitchFamily="49" charset="-122"/>
              </a:rPr>
              <a:t>复数（</a:t>
            </a:r>
            <a:r>
              <a:rPr lang="en-US" altLang="zh-CN" sz="2000" dirty="0">
                <a:latin typeface="黑体" panose="02010609060101010101" pitchFamily="49" charset="-122"/>
                <a:ea typeface="黑体" panose="02010609060101010101" pitchFamily="49" charset="-122"/>
              </a:rPr>
              <a:t>complex</a:t>
            </a:r>
            <a:r>
              <a:rPr lang="zh-CN"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a:t>
            </a:r>
            <a:r>
              <a:rPr lang="en-US" altLang="zh-CN" sz="2000" dirty="0">
                <a:solidFill>
                  <a:schemeClr val="tx1"/>
                </a:solidFill>
                <a:latin typeface="黑体" panose="02010609060101010101" pitchFamily="49" charset="-122"/>
                <a:ea typeface="黑体" panose="02010609060101010101" pitchFamily="49" charset="-122"/>
              </a:rPr>
              <a:t>1.2+5j,-5-6j</a:t>
            </a:r>
          </a:p>
        </p:txBody>
      </p:sp>
    </p:spTree>
    <p:extLst>
      <p:ext uri="{BB962C8B-B14F-4D97-AF65-F5344CB8AC3E}">
        <p14:creationId xmlns:p14="http://schemas.microsoft.com/office/powerpoint/2010/main" val="25799206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bwMode="auto">
          <a:xfrm>
            <a:off x="603957" y="987574"/>
            <a:ext cx="7640451" cy="2691432"/>
          </a:xfrm>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p>
            <a:pPr>
              <a:spcBef>
                <a:spcPts val="1200"/>
              </a:spcBef>
              <a:buFontTx/>
              <a:buNone/>
            </a:pPr>
            <a:r>
              <a:rPr lang="zh-CN" altLang="en-US" sz="1800" b="1" dirty="0">
                <a:solidFill>
                  <a:srgbClr val="C00000"/>
                </a:solidFill>
                <a:latin typeface="Courier New" pitchFamily="49" charset="0"/>
                <a:ea typeface="微软雅黑" pitchFamily="34" charset="-122"/>
                <a:cs typeface="Courier New" pitchFamily="49" charset="0"/>
              </a:rPr>
              <a:t>定义</a:t>
            </a:r>
            <a:r>
              <a:rPr lang="zh-CN" altLang="en-US" sz="1800" dirty="0">
                <a:solidFill>
                  <a:srgbClr val="C00000"/>
                </a:solidFill>
                <a:latin typeface="Courier New" pitchFamily="49" charset="0"/>
                <a:ea typeface="微软雅黑" pitchFamily="34" charset="-122"/>
                <a:cs typeface="Courier New" pitchFamily="49" charset="0"/>
              </a:rPr>
              <a:t>：</a:t>
            </a:r>
            <a:r>
              <a:rPr lang="zh-CN" altLang="en-US" sz="1800" dirty="0">
                <a:solidFill>
                  <a:schemeClr val="tx1"/>
                </a:solidFill>
                <a:latin typeface="Courier New" pitchFamily="49" charset="0"/>
                <a:ea typeface="微软雅黑" pitchFamily="34" charset="-122"/>
                <a:cs typeface="Courier New" pitchFamily="49" charset="0"/>
              </a:rPr>
              <a:t>不带小数点和指数符号的数。</a:t>
            </a:r>
            <a:endParaRPr lang="en-US" altLang="zh-CN" sz="1800" dirty="0">
              <a:solidFill>
                <a:schemeClr val="tx1"/>
              </a:solidFill>
              <a:latin typeface="Courier New" pitchFamily="49" charset="0"/>
              <a:ea typeface="微软雅黑" pitchFamily="34" charset="-122"/>
              <a:cs typeface="Courier New" pitchFamily="49" charset="0"/>
            </a:endParaRPr>
          </a:p>
          <a:p>
            <a:pPr>
              <a:spcBef>
                <a:spcPts val="1200"/>
              </a:spcBef>
              <a:buFontTx/>
              <a:buNone/>
            </a:pPr>
            <a:r>
              <a:rPr lang="zh-CN" altLang="en-US" sz="1800" b="1" dirty="0">
                <a:solidFill>
                  <a:srgbClr val="C00000"/>
                </a:solidFill>
                <a:latin typeface="Courier New" pitchFamily="49" charset="0"/>
                <a:ea typeface="微软雅黑" pitchFamily="34" charset="-122"/>
                <a:cs typeface="Courier New" pitchFamily="49" charset="0"/>
              </a:rPr>
              <a:t>特点：</a:t>
            </a:r>
            <a:r>
              <a:rPr lang="zh-CN" altLang="en-US" sz="1800" dirty="0">
                <a:solidFill>
                  <a:schemeClr val="tx1"/>
                </a:solidFill>
                <a:latin typeface="Courier New" pitchFamily="49" charset="0"/>
                <a:ea typeface="微软雅黑" pitchFamily="34" charset="-122"/>
                <a:cs typeface="Courier New" pitchFamily="49" charset="0"/>
              </a:rPr>
              <a:t>数值精确表示，但数值范围有限。</a:t>
            </a:r>
          </a:p>
          <a:p>
            <a:pPr>
              <a:spcBef>
                <a:spcPts val="1200"/>
              </a:spcBef>
              <a:buNone/>
            </a:pPr>
            <a:r>
              <a:rPr lang="zh-CN" altLang="en-US" sz="2000" b="1" dirty="0">
                <a:solidFill>
                  <a:srgbClr val="00B050"/>
                </a:solidFill>
                <a:latin typeface="Courier New" pitchFamily="49" charset="0"/>
                <a:ea typeface="微软雅黑" pitchFamily="34" charset="-122"/>
                <a:cs typeface="Courier New" pitchFamily="49" charset="0"/>
              </a:rPr>
              <a:t>①</a:t>
            </a:r>
            <a:r>
              <a:rPr lang="zh-CN" altLang="en-US" sz="1800" b="1" dirty="0">
                <a:solidFill>
                  <a:srgbClr val="00B050"/>
                </a:solidFill>
                <a:latin typeface="Courier New" pitchFamily="49" charset="0"/>
                <a:ea typeface="微软雅黑" pitchFamily="34" charset="-122"/>
                <a:cs typeface="Courier New" pitchFamily="49" charset="0"/>
              </a:rPr>
              <a:t>十进制： </a:t>
            </a:r>
            <a:r>
              <a:rPr lang="zh-CN" altLang="zh-CN" sz="1800" b="1" dirty="0">
                <a:solidFill>
                  <a:schemeClr val="tx1"/>
                </a:solidFill>
                <a:latin typeface="Courier New" pitchFamily="49" charset="0"/>
                <a:cs typeface="Courier New" pitchFamily="49" charset="0"/>
              </a:rPr>
              <a:t>±</a:t>
            </a:r>
            <a:r>
              <a:rPr lang="en-US" altLang="zh-CN" sz="1800" b="1" dirty="0">
                <a:solidFill>
                  <a:schemeClr val="tx1"/>
                </a:solidFill>
                <a:latin typeface="Courier New" pitchFamily="49" charset="0"/>
                <a:cs typeface="Courier New" pitchFamily="49" charset="0"/>
              </a:rPr>
              <a:t>n</a:t>
            </a:r>
            <a:r>
              <a:rPr lang="en-US" altLang="zh-CN" sz="1800" b="1" dirty="0">
                <a:solidFill>
                  <a:schemeClr val="tx1"/>
                </a:solidFill>
                <a:latin typeface="微软雅黑" pitchFamily="34" charset="-122"/>
                <a:ea typeface="微软雅黑" pitchFamily="34" charset="-122"/>
                <a:cs typeface="Courier New" pitchFamily="49" charset="0"/>
              </a:rPr>
              <a:t> </a:t>
            </a:r>
            <a:r>
              <a:rPr lang="zh-CN" altLang="en-US" sz="1800" b="1" dirty="0">
                <a:solidFill>
                  <a:schemeClr val="tx1"/>
                </a:solidFill>
                <a:latin typeface="微软雅黑" pitchFamily="34" charset="-122"/>
                <a:ea typeface="微软雅黑" pitchFamily="34" charset="-122"/>
                <a:cs typeface="Courier New" pitchFamily="49" charset="0"/>
              </a:rPr>
              <a:t>　</a:t>
            </a:r>
            <a:r>
              <a:rPr lang="en-US" altLang="zh-CN" sz="1800" b="1" dirty="0">
                <a:solidFill>
                  <a:schemeClr val="tx1"/>
                </a:solidFill>
                <a:latin typeface="Courier New" pitchFamily="49" charset="0"/>
                <a:ea typeface="微软雅黑" pitchFamily="34" charset="-122"/>
                <a:cs typeface="Courier New" pitchFamily="49" charset="0"/>
              </a:rPr>
              <a:t>n:0-9   123</a:t>
            </a:r>
            <a:r>
              <a:rPr lang="zh-CN" altLang="en-US" sz="1800" b="1" dirty="0">
                <a:solidFill>
                  <a:schemeClr val="tx1"/>
                </a:solidFill>
                <a:latin typeface="Courier New" pitchFamily="49" charset="0"/>
                <a:ea typeface="微软雅黑" pitchFamily="34" charset="-122"/>
                <a:cs typeface="Courier New" pitchFamily="49" charset="0"/>
              </a:rPr>
              <a:t>、</a:t>
            </a:r>
            <a:r>
              <a:rPr lang="en-US" altLang="zh-CN" sz="1800" b="1" dirty="0">
                <a:solidFill>
                  <a:schemeClr val="tx1"/>
                </a:solidFill>
                <a:latin typeface="Courier New" pitchFamily="49" charset="0"/>
                <a:ea typeface="微软雅黑" pitchFamily="34" charset="-122"/>
                <a:cs typeface="Courier New" pitchFamily="49" charset="0"/>
              </a:rPr>
              <a:t>+123</a:t>
            </a:r>
          </a:p>
          <a:p>
            <a:pPr>
              <a:spcBef>
                <a:spcPts val="1200"/>
              </a:spcBef>
              <a:buFontTx/>
              <a:buNone/>
            </a:pPr>
            <a:r>
              <a:rPr lang="en-US" altLang="zh-CN" sz="1800" b="1" dirty="0">
                <a:solidFill>
                  <a:schemeClr val="tx1"/>
                </a:solidFill>
                <a:latin typeface="Courier New" pitchFamily="49" charset="0"/>
                <a:ea typeface="微软雅黑" pitchFamily="34" charset="-122"/>
                <a:cs typeface="Courier New" pitchFamily="49" charset="0"/>
              </a:rPr>
              <a:t>          </a:t>
            </a:r>
            <a:r>
              <a:rPr lang="zh-CN" altLang="en-US" sz="1800" b="1" dirty="0">
                <a:solidFill>
                  <a:schemeClr val="tx1"/>
                </a:solidFill>
                <a:latin typeface="Courier New" pitchFamily="49" charset="0"/>
                <a:ea typeface="微软雅黑" pitchFamily="34" charset="-122"/>
                <a:cs typeface="Courier New" pitchFamily="49" charset="0"/>
              </a:rPr>
              <a:t>　　　 　    </a:t>
            </a:r>
            <a:r>
              <a:rPr lang="en-US" altLang="zh-CN" sz="1800" b="1" dirty="0">
                <a:solidFill>
                  <a:schemeClr val="tx1"/>
                </a:solidFill>
                <a:latin typeface="Courier New" pitchFamily="49" charset="0"/>
                <a:ea typeface="微软雅黑" pitchFamily="34" charset="-122"/>
                <a:cs typeface="Courier New" pitchFamily="49" charset="0"/>
              </a:rPr>
              <a:t>123.0</a:t>
            </a:r>
            <a:endParaRPr lang="zh-CN" altLang="en-US" sz="1800" b="1" dirty="0">
              <a:solidFill>
                <a:schemeClr val="tx1"/>
              </a:solidFill>
              <a:latin typeface="Courier New" pitchFamily="49" charset="0"/>
              <a:ea typeface="微软雅黑" pitchFamily="34" charset="-122"/>
              <a:cs typeface="Courier New" pitchFamily="49" charset="0"/>
            </a:endParaRPr>
          </a:p>
          <a:p>
            <a:pPr>
              <a:spcBef>
                <a:spcPts val="1200"/>
              </a:spcBef>
              <a:buNone/>
            </a:pPr>
            <a:r>
              <a:rPr lang="zh-CN" altLang="en-US" sz="1800" b="1" dirty="0">
                <a:solidFill>
                  <a:srgbClr val="00B050"/>
                </a:solidFill>
                <a:latin typeface="Courier New" pitchFamily="49" charset="0"/>
                <a:ea typeface="微软雅黑" pitchFamily="34" charset="-122"/>
                <a:cs typeface="Courier New" pitchFamily="49" charset="0"/>
              </a:rPr>
              <a:t>②八进制：  </a:t>
            </a:r>
            <a:r>
              <a:rPr lang="en-US" altLang="zh-CN" sz="1800" b="1" dirty="0">
                <a:solidFill>
                  <a:schemeClr val="tx1"/>
                </a:solidFill>
                <a:latin typeface="微软雅黑" pitchFamily="34" charset="-122"/>
                <a:ea typeface="微软雅黑" pitchFamily="34" charset="-122"/>
                <a:cs typeface="Courier New" pitchFamily="49" charset="0"/>
              </a:rPr>
              <a:t>0</a:t>
            </a:r>
            <a:r>
              <a:rPr lang="en-US" altLang="zh-CN" sz="1800" b="1" dirty="0">
                <a:solidFill>
                  <a:schemeClr val="tx1"/>
                </a:solidFill>
                <a:latin typeface="Courier New" pitchFamily="49" charset="0"/>
                <a:ea typeface="微软雅黑" pitchFamily="34" charset="-122"/>
                <a:cs typeface="Courier New" pitchFamily="49" charset="0"/>
              </a:rPr>
              <a:t>On  n:0-7          </a:t>
            </a:r>
            <a:r>
              <a:rPr lang="en-US" altLang="zh-CN" sz="1800" dirty="0">
                <a:solidFill>
                  <a:schemeClr val="tx1"/>
                </a:solidFill>
              </a:rPr>
              <a:t>0o173</a:t>
            </a:r>
            <a:endParaRPr lang="en-US" altLang="zh-CN" sz="1800" b="1" dirty="0">
              <a:solidFill>
                <a:schemeClr val="tx1"/>
              </a:solidFill>
              <a:latin typeface="Courier New" pitchFamily="49" charset="0"/>
              <a:cs typeface="Courier New" pitchFamily="49" charset="0"/>
            </a:endParaRPr>
          </a:p>
          <a:p>
            <a:pPr>
              <a:spcBef>
                <a:spcPts val="1200"/>
              </a:spcBef>
              <a:buFontTx/>
              <a:buNone/>
            </a:pPr>
            <a:r>
              <a:rPr lang="en-US" altLang="zh-CN" sz="1800" b="1" dirty="0">
                <a:solidFill>
                  <a:srgbClr val="00B050"/>
                </a:solidFill>
                <a:latin typeface="Courier New" pitchFamily="49" charset="0"/>
                <a:ea typeface="微软雅黑" pitchFamily="34" charset="-122"/>
                <a:cs typeface="Courier New" pitchFamily="49" charset="0"/>
              </a:rPr>
              <a:t>③</a:t>
            </a:r>
            <a:r>
              <a:rPr lang="zh-CN" altLang="en-US" sz="1800" b="1" dirty="0">
                <a:solidFill>
                  <a:srgbClr val="00B050"/>
                </a:solidFill>
                <a:latin typeface="Courier New" pitchFamily="49" charset="0"/>
                <a:ea typeface="微软雅黑" pitchFamily="34" charset="-122"/>
                <a:cs typeface="Courier New" pitchFamily="49" charset="0"/>
              </a:rPr>
              <a:t>十六进制：</a:t>
            </a:r>
            <a:r>
              <a:rPr lang="en-US" altLang="zh-CN" sz="1800" b="1" dirty="0">
                <a:solidFill>
                  <a:schemeClr val="tx1"/>
                </a:solidFill>
                <a:latin typeface="微软雅黑" pitchFamily="34" charset="-122"/>
                <a:ea typeface="微软雅黑" pitchFamily="34" charset="-122"/>
                <a:cs typeface="Courier New" pitchFamily="49" charset="0"/>
              </a:rPr>
              <a:t>0x</a:t>
            </a:r>
            <a:r>
              <a:rPr lang="en-US" altLang="zh-CN" sz="1800" b="1" dirty="0">
                <a:solidFill>
                  <a:schemeClr val="tx1"/>
                </a:solidFill>
                <a:latin typeface="Courier New" pitchFamily="49" charset="0"/>
                <a:ea typeface="微软雅黑" pitchFamily="34" charset="-122"/>
                <a:cs typeface="Courier New" pitchFamily="49" charset="0"/>
              </a:rPr>
              <a:t>n </a:t>
            </a:r>
            <a:r>
              <a:rPr lang="zh-CN" altLang="en-US" sz="1800" b="1" dirty="0">
                <a:solidFill>
                  <a:schemeClr val="tx1"/>
                </a:solidFill>
                <a:latin typeface="Courier New" pitchFamily="49" charset="0"/>
                <a:ea typeface="微软雅黑" pitchFamily="34" charset="-122"/>
                <a:cs typeface="Courier New" pitchFamily="49" charset="0"/>
              </a:rPr>
              <a:t>　</a:t>
            </a:r>
            <a:r>
              <a:rPr lang="en-US" altLang="zh-CN" sz="1800" b="1" dirty="0">
                <a:solidFill>
                  <a:schemeClr val="tx1"/>
                </a:solidFill>
                <a:latin typeface="Courier New" pitchFamily="49" charset="0"/>
                <a:ea typeface="微软雅黑" pitchFamily="34" charset="-122"/>
                <a:cs typeface="Courier New" pitchFamily="49" charset="0"/>
              </a:rPr>
              <a:t>n:0-9,A-F      </a:t>
            </a:r>
            <a:r>
              <a:rPr lang="en-US" altLang="zh-CN" sz="1800" dirty="0">
                <a:solidFill>
                  <a:schemeClr val="tx1"/>
                </a:solidFill>
              </a:rPr>
              <a:t>0x7B</a:t>
            </a:r>
          </a:p>
        </p:txBody>
      </p:sp>
      <p:sp>
        <p:nvSpPr>
          <p:cNvPr id="27651" name="TextBox 1"/>
          <p:cNvSpPr txBox="1">
            <a:spLocks noChangeArrowheads="1"/>
          </p:cNvSpPr>
          <p:nvPr/>
        </p:nvSpPr>
        <p:spPr bwMode="auto">
          <a:xfrm>
            <a:off x="467544" y="339502"/>
            <a:ext cx="53292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zh-CN" altLang="en-US" dirty="0">
                <a:solidFill>
                  <a:srgbClr val="0070C0"/>
                </a:solidFill>
                <a:latin typeface="Courier New" pitchFamily="49" charset="0"/>
                <a:ea typeface="微软雅黑" pitchFamily="34" charset="-122"/>
                <a:cs typeface="Courier New" pitchFamily="49" charset="0"/>
              </a:rPr>
              <a:t>数值常量：整数</a:t>
            </a:r>
          </a:p>
        </p:txBody>
      </p:sp>
      <p:sp>
        <p:nvSpPr>
          <p:cNvPr id="27652" name="TextBox 2"/>
          <p:cNvSpPr txBox="1">
            <a:spLocks noChangeArrowheads="1"/>
          </p:cNvSpPr>
          <p:nvPr/>
        </p:nvSpPr>
        <p:spPr bwMode="auto">
          <a:xfrm>
            <a:off x="4860032" y="1907709"/>
            <a:ext cx="4757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2800" dirty="0">
                <a:solidFill>
                  <a:srgbClr val="FF0000"/>
                </a:solidFill>
                <a:latin typeface="Courier New" pitchFamily="49" charset="0"/>
                <a:ea typeface="微软雅黑" pitchFamily="34" charset="-122"/>
                <a:cs typeface="Courier New" pitchFamily="49" charset="0"/>
                <a:sym typeface="Wingdings" pitchFamily="2" charset="2"/>
              </a:rPr>
              <a:t></a:t>
            </a:r>
            <a:endParaRPr lang="zh-CN" altLang="en-US" sz="2800" dirty="0">
              <a:solidFill>
                <a:srgbClr val="FF0000"/>
              </a:solidFill>
              <a:latin typeface="Courier New" pitchFamily="49" charset="0"/>
              <a:ea typeface="微软雅黑" pitchFamily="34" charset="-122"/>
              <a:cs typeface="Courier New" pitchFamily="49" charset="0"/>
            </a:endParaRPr>
          </a:p>
        </p:txBody>
      </p:sp>
      <p:sp>
        <p:nvSpPr>
          <p:cNvPr id="27653" name="TextBox 6"/>
          <p:cNvSpPr txBox="1">
            <a:spLocks noChangeArrowheads="1"/>
          </p:cNvSpPr>
          <p:nvPr/>
        </p:nvSpPr>
        <p:spPr bwMode="auto">
          <a:xfrm>
            <a:off x="4863868" y="2355726"/>
            <a:ext cx="4869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2800" dirty="0">
                <a:solidFill>
                  <a:srgbClr val="FF0000"/>
                </a:solidFill>
                <a:latin typeface="Courier New" pitchFamily="49" charset="0"/>
                <a:ea typeface="微软雅黑" pitchFamily="34" charset="-122"/>
                <a:cs typeface="Courier New" pitchFamily="49" charset="0"/>
                <a:sym typeface="Wingdings" pitchFamily="2" charset="2"/>
              </a:rPr>
              <a:t></a:t>
            </a:r>
            <a:endParaRPr lang="zh-CN" altLang="en-US" sz="2800" dirty="0">
              <a:solidFill>
                <a:srgbClr val="FF0000"/>
              </a:solidFill>
              <a:latin typeface="Courier New" pitchFamily="49" charset="0"/>
              <a:ea typeface="微软雅黑" pitchFamily="34" charset="-122"/>
              <a:cs typeface="Courier New" pitchFamily="49" charset="0"/>
            </a:endParaRPr>
          </a:p>
        </p:txBody>
      </p:sp>
      <p:sp>
        <p:nvSpPr>
          <p:cNvPr id="8" name="AutoShape 44"/>
          <p:cNvSpPr>
            <a:spLocks noChangeArrowheads="1"/>
          </p:cNvSpPr>
          <p:nvPr/>
        </p:nvSpPr>
        <p:spPr bwMode="gray">
          <a:xfrm>
            <a:off x="603957" y="3880311"/>
            <a:ext cx="3537763" cy="546587"/>
          </a:xfrm>
          <a:prstGeom prst="roundRect">
            <a:avLst>
              <a:gd name="adj" fmla="val 8014"/>
            </a:avLst>
          </a:prstGeom>
          <a:solidFill>
            <a:srgbClr val="FFFFCC"/>
          </a:solidFill>
          <a:ln w="9525">
            <a:solidFill>
              <a:srgbClr val="808000"/>
            </a:solidFill>
            <a:round/>
            <a:headEnd/>
            <a:tailEnd/>
          </a:ln>
        </p:spPr>
        <p:txBody>
          <a:bodyPr wrap="none" anchor="ctr"/>
          <a:lstStyle/>
          <a:p>
            <a:pPr>
              <a:lnSpc>
                <a:spcPct val="100000"/>
              </a:lnSpc>
              <a:spcBef>
                <a:spcPts val="0"/>
              </a:spcBef>
            </a:pPr>
            <a:r>
              <a:rPr lang="zh-CN" altLang="en-US" sz="1600" dirty="0">
                <a:solidFill>
                  <a:srgbClr val="C00000"/>
                </a:solidFill>
                <a:latin typeface="微软雅黑" pitchFamily="34" charset="-122"/>
                <a:ea typeface="微软雅黑" pitchFamily="34" charset="-122"/>
              </a:rPr>
              <a:t>注意：</a:t>
            </a:r>
            <a:r>
              <a:rPr lang="en-US" altLang="zh-CN" sz="1600" dirty="0">
                <a:solidFill>
                  <a:srgbClr val="C00000"/>
                </a:solidFill>
                <a:latin typeface="微软雅黑" pitchFamily="34" charset="-122"/>
                <a:ea typeface="微软雅黑" pitchFamily="34" charset="-122"/>
              </a:rPr>
              <a:t>Python</a:t>
            </a:r>
            <a:r>
              <a:rPr lang="zh-CN" altLang="en-US" sz="1600" dirty="0">
                <a:solidFill>
                  <a:srgbClr val="C00000"/>
                </a:solidFill>
                <a:latin typeface="微软雅黑" pitchFamily="34" charset="-122"/>
                <a:ea typeface="微软雅黑" pitchFamily="34" charset="-122"/>
              </a:rPr>
              <a:t>中，整数没有取值范围</a:t>
            </a:r>
            <a:endParaRPr lang="en-US" altLang="zh-CN" sz="1600" dirty="0">
              <a:solidFill>
                <a:srgbClr val="C00000"/>
              </a:solidFill>
              <a:latin typeface="微软雅黑" pitchFamily="34" charset="-122"/>
              <a:ea typeface="微软雅黑" pitchFamily="34" charset="-122"/>
            </a:endParaRPr>
          </a:p>
        </p:txBody>
      </p:sp>
      <p:sp>
        <p:nvSpPr>
          <p:cNvPr id="9" name="AutoShape 44"/>
          <p:cNvSpPr>
            <a:spLocks noChangeArrowheads="1"/>
          </p:cNvSpPr>
          <p:nvPr/>
        </p:nvSpPr>
        <p:spPr bwMode="gray">
          <a:xfrm>
            <a:off x="4355976" y="3679006"/>
            <a:ext cx="3348880" cy="583500"/>
          </a:xfrm>
          <a:prstGeom prst="roundRect">
            <a:avLst>
              <a:gd name="adj" fmla="val 8014"/>
            </a:avLst>
          </a:prstGeom>
          <a:noFill/>
          <a:ln w="9525">
            <a:noFill/>
            <a:round/>
            <a:headEnd/>
            <a:tailEnd/>
          </a:ln>
          <a:effectLst/>
        </p:spPr>
        <p:txBody>
          <a:bodyPr wrap="none" anchor="ctr"/>
          <a:lstStyle/>
          <a:p>
            <a:r>
              <a:rPr lang="zh-CN" altLang="zh-CN" sz="1600" b="0" dirty="0">
                <a:solidFill>
                  <a:srgbClr val="000066"/>
                </a:solidFill>
                <a:latin typeface="Courier New" pitchFamily="49" charset="0"/>
                <a:ea typeface="微软雅黑" pitchFamily="34" charset="-122"/>
                <a:cs typeface="Courier New" pitchFamily="49" charset="0"/>
              </a:rPr>
              <a:t>【</a:t>
            </a:r>
            <a:r>
              <a:rPr lang="zh-CN" altLang="zh-CN" sz="1600" dirty="0">
                <a:solidFill>
                  <a:srgbClr val="000066"/>
                </a:solidFill>
                <a:latin typeface="Courier New" pitchFamily="49" charset="0"/>
                <a:ea typeface="微软雅黑" pitchFamily="34" charset="-122"/>
                <a:cs typeface="Courier New" pitchFamily="49" charset="0"/>
              </a:rPr>
              <a:t>例</a:t>
            </a:r>
            <a:r>
              <a:rPr lang="en-US" altLang="zh-CN" sz="1600" dirty="0">
                <a:solidFill>
                  <a:srgbClr val="000066"/>
                </a:solidFill>
                <a:latin typeface="Courier New" pitchFamily="49" charset="0"/>
                <a:ea typeface="微软雅黑" pitchFamily="34" charset="-122"/>
                <a:cs typeface="Courier New" pitchFamily="49" charset="0"/>
              </a:rPr>
              <a:t>2.5</a:t>
            </a:r>
            <a:r>
              <a:rPr lang="zh-CN" altLang="zh-CN" sz="1600" b="0" dirty="0">
                <a:solidFill>
                  <a:srgbClr val="000066"/>
                </a:solidFill>
                <a:latin typeface="Courier New" pitchFamily="49" charset="0"/>
                <a:ea typeface="微软雅黑" pitchFamily="34" charset="-122"/>
                <a:cs typeface="Courier New" pitchFamily="49" charset="0"/>
              </a:rPr>
              <a:t>】整数类型没有取值范围</a:t>
            </a:r>
            <a:endParaRPr lang="en-US" altLang="zh-CN" sz="1600" b="0" dirty="0">
              <a:solidFill>
                <a:srgbClr val="000066"/>
              </a:solidFill>
              <a:latin typeface="Courier New" pitchFamily="49" charset="0"/>
              <a:ea typeface="微软雅黑" pitchFamily="34" charset="-122"/>
              <a:cs typeface="Courier New" pitchFamily="49" charset="0"/>
            </a:endParaRPr>
          </a:p>
        </p:txBody>
      </p:sp>
      <p:pic>
        <p:nvPicPr>
          <p:cNvPr id="3" name="图片 2"/>
          <p:cNvPicPr>
            <a:picLocks noChangeAspect="1"/>
          </p:cNvPicPr>
          <p:nvPr/>
        </p:nvPicPr>
        <p:blipFill>
          <a:blip r:embed="rId2"/>
          <a:stretch>
            <a:fillRect/>
          </a:stretch>
        </p:blipFill>
        <p:spPr>
          <a:xfrm>
            <a:off x="5436096" y="4153605"/>
            <a:ext cx="2057400" cy="704850"/>
          </a:xfrm>
          <a:prstGeom prst="rect">
            <a:avLst/>
          </a:prstGeom>
        </p:spPr>
      </p:pic>
    </p:spTree>
    <p:extLst>
      <p:ext uri="{BB962C8B-B14F-4D97-AF65-F5344CB8AC3E}">
        <p14:creationId xmlns:p14="http://schemas.microsoft.com/office/powerpoint/2010/main" val="11493290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7650">
                                            <p:txEl>
                                              <p:pRg st="2" end="2"/>
                                            </p:txEl>
                                          </p:spTgt>
                                        </p:tgtEl>
                                        <p:attrNameLst>
                                          <p:attrName>style.visibility</p:attrName>
                                        </p:attrNameLst>
                                      </p:cBhvr>
                                      <p:to>
                                        <p:strVal val="visible"/>
                                      </p:to>
                                    </p:set>
                                    <p:animEffect transition="in" filter="wipe(left)">
                                      <p:cBhvr>
                                        <p:cTn id="7" dur="500"/>
                                        <p:tgtEl>
                                          <p:spTgt spid="27650">
                                            <p:txEl>
                                              <p:pRg st="2" end="2"/>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7652"/>
                                        </p:tgtEl>
                                        <p:attrNameLst>
                                          <p:attrName>style.visibility</p:attrName>
                                        </p:attrNameLst>
                                      </p:cBhvr>
                                      <p:to>
                                        <p:strVal val="visible"/>
                                      </p:to>
                                    </p:set>
                                    <p:animEffect transition="in" filter="wipe(up)">
                                      <p:cBhvr>
                                        <p:cTn id="10" dur="500"/>
                                        <p:tgtEl>
                                          <p:spTgt spid="27652"/>
                                        </p:tgtEl>
                                      </p:cBhvr>
                                    </p:animEffect>
                                  </p:childTnLst>
                                </p:cTn>
                              </p:par>
                              <p:par>
                                <p:cTn id="11" presetID="22" presetClass="entr" presetSubtype="8" fill="hold" nodeType="withEffect">
                                  <p:stCondLst>
                                    <p:cond delay="0"/>
                                  </p:stCondLst>
                                  <p:childTnLst>
                                    <p:set>
                                      <p:cBhvr>
                                        <p:cTn id="12" dur="1" fill="hold">
                                          <p:stCondLst>
                                            <p:cond delay="0"/>
                                          </p:stCondLst>
                                        </p:cTn>
                                        <p:tgtEl>
                                          <p:spTgt spid="27650">
                                            <p:txEl>
                                              <p:pRg st="3" end="3"/>
                                            </p:txEl>
                                          </p:spTgt>
                                        </p:tgtEl>
                                        <p:attrNameLst>
                                          <p:attrName>style.visibility</p:attrName>
                                        </p:attrNameLst>
                                      </p:cBhvr>
                                      <p:to>
                                        <p:strVal val="visible"/>
                                      </p:to>
                                    </p:set>
                                    <p:animEffect transition="in" filter="wipe(left)">
                                      <p:cBhvr>
                                        <p:cTn id="13" dur="500"/>
                                        <p:tgtEl>
                                          <p:spTgt spid="27650">
                                            <p:txEl>
                                              <p:pRg st="3" end="3"/>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7653"/>
                                        </p:tgtEl>
                                        <p:attrNameLst>
                                          <p:attrName>style.visibility</p:attrName>
                                        </p:attrNameLst>
                                      </p:cBhvr>
                                      <p:to>
                                        <p:strVal val="visible"/>
                                      </p:to>
                                    </p:set>
                                    <p:animEffect transition="in" filter="wipe(up)">
                                      <p:cBhvr>
                                        <p:cTn id="16" dur="500"/>
                                        <p:tgtEl>
                                          <p:spTgt spid="27653"/>
                                        </p:tgtEl>
                                      </p:cBhvr>
                                    </p:animEffect>
                                  </p:childTnLst>
                                </p:cTn>
                              </p:par>
                              <p:par>
                                <p:cTn id="17" presetID="22" presetClass="entr" presetSubtype="8" fill="hold" nodeType="withEffect">
                                  <p:stCondLst>
                                    <p:cond delay="0"/>
                                  </p:stCondLst>
                                  <p:childTnLst>
                                    <p:set>
                                      <p:cBhvr>
                                        <p:cTn id="18" dur="1" fill="hold">
                                          <p:stCondLst>
                                            <p:cond delay="0"/>
                                          </p:stCondLst>
                                        </p:cTn>
                                        <p:tgtEl>
                                          <p:spTgt spid="27650">
                                            <p:txEl>
                                              <p:pRg st="4" end="4"/>
                                            </p:txEl>
                                          </p:spTgt>
                                        </p:tgtEl>
                                        <p:attrNameLst>
                                          <p:attrName>style.visibility</p:attrName>
                                        </p:attrNameLst>
                                      </p:cBhvr>
                                      <p:to>
                                        <p:strVal val="visible"/>
                                      </p:to>
                                    </p:set>
                                    <p:animEffect transition="in" filter="wipe(left)">
                                      <p:cBhvr>
                                        <p:cTn id="19" dur="500"/>
                                        <p:tgtEl>
                                          <p:spTgt spid="27650">
                                            <p:txEl>
                                              <p:pRg st="4" end="4"/>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27650">
                                            <p:txEl>
                                              <p:pRg st="5" end="5"/>
                                            </p:txEl>
                                          </p:spTgt>
                                        </p:tgtEl>
                                        <p:attrNameLst>
                                          <p:attrName>style.visibility</p:attrName>
                                        </p:attrNameLst>
                                      </p:cBhvr>
                                      <p:to>
                                        <p:strVal val="visible"/>
                                      </p:to>
                                    </p:set>
                                    <p:animEffect transition="in" filter="wipe(left)">
                                      <p:cBhvr>
                                        <p:cTn id="22" dur="500"/>
                                        <p:tgtEl>
                                          <p:spTgt spid="27650">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P spid="27653" grpId="0"/>
      <p:bldP spid="8" grpId="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2578" name="Rectangle 2"/>
          <p:cNvSpPr>
            <a:spLocks noGrp="1" noChangeArrowheads="1"/>
          </p:cNvSpPr>
          <p:nvPr>
            <p:ph type="body" idx="1"/>
          </p:nvPr>
        </p:nvSpPr>
        <p:spPr bwMode="auto">
          <a:xfrm>
            <a:off x="550367" y="801220"/>
            <a:ext cx="8149397" cy="2442638"/>
          </a:xfrm>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p>
            <a:pPr>
              <a:spcBef>
                <a:spcPts val="1200"/>
              </a:spcBef>
              <a:buFontTx/>
              <a:buNone/>
            </a:pPr>
            <a:r>
              <a:rPr lang="zh-CN" altLang="en-US" sz="2000" dirty="0">
                <a:solidFill>
                  <a:srgbClr val="C00000"/>
                </a:solidFill>
                <a:latin typeface="微软雅黑" pitchFamily="34" charset="-122"/>
                <a:ea typeface="微软雅黑" pitchFamily="34" charset="-122"/>
              </a:rPr>
              <a:t>定义：</a:t>
            </a:r>
            <a:r>
              <a:rPr lang="zh-CN" altLang="en-US" sz="1800" dirty="0">
                <a:solidFill>
                  <a:schemeClr val="tx1"/>
                </a:solidFill>
                <a:latin typeface="微软雅黑" pitchFamily="34" charset="-122"/>
                <a:ea typeface="微软雅黑" pitchFamily="34" charset="-122"/>
              </a:rPr>
              <a:t>带小数点或指数符号 </a:t>
            </a:r>
            <a:r>
              <a:rPr lang="zh-CN" altLang="en-US" sz="1800" b="1" dirty="0">
                <a:solidFill>
                  <a:schemeClr val="tx1"/>
                </a:solidFill>
              </a:rPr>
              <a:t>“</a:t>
            </a:r>
            <a:r>
              <a:rPr lang="en-US" altLang="zh-CN" sz="1800" b="1" dirty="0">
                <a:solidFill>
                  <a:srgbClr val="C00000"/>
                </a:solidFill>
              </a:rPr>
              <a:t>E</a:t>
            </a:r>
            <a:r>
              <a:rPr lang="en-US" altLang="zh-CN" sz="1800" b="1" dirty="0">
                <a:solidFill>
                  <a:schemeClr val="tx1"/>
                </a:solidFill>
                <a:latin typeface="微软雅黑" pitchFamily="34" charset="-122"/>
                <a:ea typeface="微软雅黑" pitchFamily="34" charset="-122"/>
              </a:rPr>
              <a:t>”</a:t>
            </a:r>
            <a:r>
              <a:rPr lang="zh-CN" altLang="en-US" sz="1800" dirty="0">
                <a:solidFill>
                  <a:schemeClr val="tx1"/>
                </a:solidFill>
                <a:latin typeface="微软雅黑" pitchFamily="34" charset="-122"/>
                <a:ea typeface="微软雅黑" pitchFamily="34" charset="-122"/>
              </a:rPr>
              <a:t>的数</a:t>
            </a:r>
          </a:p>
          <a:p>
            <a:pPr>
              <a:spcBef>
                <a:spcPts val="1200"/>
              </a:spcBef>
              <a:buFontTx/>
              <a:buNone/>
            </a:pPr>
            <a:r>
              <a:rPr lang="zh-CN" altLang="en-US" sz="2000" dirty="0">
                <a:solidFill>
                  <a:srgbClr val="C00000"/>
                </a:solidFill>
                <a:latin typeface="微软雅黑" pitchFamily="34" charset="-122"/>
                <a:ea typeface="微软雅黑" pitchFamily="34" charset="-122"/>
              </a:rPr>
              <a:t>特点：</a:t>
            </a:r>
            <a:r>
              <a:rPr lang="zh-CN" altLang="en-US" sz="1800" dirty="0">
                <a:solidFill>
                  <a:schemeClr val="tx1"/>
                </a:solidFill>
                <a:latin typeface="微软雅黑" pitchFamily="34" charset="-122"/>
                <a:ea typeface="微软雅黑" pitchFamily="34" charset="-122"/>
              </a:rPr>
              <a:t>数值不精确表示</a:t>
            </a:r>
          </a:p>
          <a:p>
            <a:pPr>
              <a:spcBef>
                <a:spcPts val="1200"/>
              </a:spcBef>
              <a:buFontTx/>
              <a:buNone/>
            </a:pPr>
            <a:r>
              <a:rPr lang="zh-CN" altLang="en-US" sz="2000" dirty="0">
                <a:solidFill>
                  <a:srgbClr val="C00000"/>
                </a:solidFill>
                <a:latin typeface="微软雅黑" pitchFamily="34" charset="-122"/>
                <a:ea typeface="微软雅黑" pitchFamily="34" charset="-122"/>
              </a:rPr>
              <a:t>形式：  </a:t>
            </a:r>
            <a:endParaRPr lang="en-US" altLang="zh-CN" sz="2000" dirty="0">
              <a:solidFill>
                <a:srgbClr val="C00000"/>
              </a:solidFill>
              <a:latin typeface="微软雅黑" pitchFamily="34" charset="-122"/>
              <a:ea typeface="微软雅黑" pitchFamily="34" charset="-122"/>
            </a:endParaRPr>
          </a:p>
          <a:p>
            <a:pPr>
              <a:spcBef>
                <a:spcPts val="1200"/>
              </a:spcBef>
              <a:buFontTx/>
              <a:buNone/>
            </a:pPr>
            <a:endParaRPr lang="en-US" altLang="zh-CN" sz="2000" dirty="0">
              <a:solidFill>
                <a:srgbClr val="C00000"/>
              </a:solidFill>
              <a:latin typeface="微软雅黑" pitchFamily="34" charset="-122"/>
              <a:ea typeface="微软雅黑" pitchFamily="34" charset="-122"/>
            </a:endParaRPr>
          </a:p>
          <a:p>
            <a:pPr>
              <a:spcBef>
                <a:spcPts val="1200"/>
              </a:spcBef>
              <a:buFontTx/>
              <a:buNone/>
            </a:pPr>
            <a:r>
              <a:rPr lang="zh-CN" altLang="en-US" sz="2000" dirty="0">
                <a:solidFill>
                  <a:srgbClr val="C00000"/>
                </a:solidFill>
                <a:latin typeface="微软雅黑" pitchFamily="34" charset="-122"/>
                <a:ea typeface="微软雅黑" pitchFamily="34" charset="-122"/>
              </a:rPr>
              <a:t>例：    </a:t>
            </a:r>
            <a:r>
              <a:rPr lang="en-US" altLang="zh-CN" sz="2000" b="1" dirty="0">
                <a:solidFill>
                  <a:srgbClr val="000066"/>
                </a:solidFill>
                <a:latin typeface="Courier New" pitchFamily="49" charset="0"/>
                <a:ea typeface="微软雅黑" pitchFamily="34" charset="-122"/>
              </a:rPr>
              <a:t>123.45</a:t>
            </a:r>
            <a:r>
              <a:rPr lang="zh-CN" altLang="en-US" sz="2000" b="1" dirty="0">
                <a:solidFill>
                  <a:srgbClr val="000066"/>
                </a:solidFill>
                <a:latin typeface="Courier New" pitchFamily="49" charset="0"/>
                <a:ea typeface="微软雅黑" pitchFamily="34" charset="-122"/>
              </a:rPr>
              <a:t>、</a:t>
            </a:r>
            <a:r>
              <a:rPr lang="en-US" altLang="zh-CN" sz="2000" b="1" dirty="0">
                <a:solidFill>
                  <a:srgbClr val="000066"/>
                </a:solidFill>
                <a:latin typeface="Courier New" pitchFamily="49" charset="0"/>
                <a:ea typeface="微软雅黑" pitchFamily="34" charset="-122"/>
              </a:rPr>
              <a:t>0.12345E+3</a:t>
            </a:r>
            <a:r>
              <a:rPr lang="zh-CN" altLang="en-US" sz="2000" b="1" dirty="0">
                <a:solidFill>
                  <a:srgbClr val="000066"/>
                </a:solidFill>
                <a:latin typeface="Courier New" pitchFamily="49" charset="0"/>
                <a:ea typeface="微软雅黑" pitchFamily="34" charset="-122"/>
              </a:rPr>
              <a:t>、</a:t>
            </a:r>
            <a:r>
              <a:rPr lang="en-US" altLang="zh-CN" sz="2000" b="1" dirty="0">
                <a:solidFill>
                  <a:srgbClr val="000066"/>
                </a:solidFill>
                <a:latin typeface="Courier New" pitchFamily="49" charset="0"/>
                <a:ea typeface="微软雅黑" pitchFamily="34" charset="-122"/>
              </a:rPr>
              <a:t>12345E-2</a:t>
            </a:r>
          </a:p>
        </p:txBody>
      </p:sp>
      <p:sp>
        <p:nvSpPr>
          <p:cNvPr id="28675" name="TextBox 1"/>
          <p:cNvSpPr txBox="1">
            <a:spLocks noChangeArrowheads="1"/>
          </p:cNvSpPr>
          <p:nvPr/>
        </p:nvSpPr>
        <p:spPr bwMode="auto">
          <a:xfrm>
            <a:off x="530848" y="306926"/>
            <a:ext cx="18716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zh-CN" altLang="en-US" dirty="0">
                <a:solidFill>
                  <a:srgbClr val="0070C0"/>
                </a:solidFill>
                <a:latin typeface="微软雅黑" pitchFamily="34" charset="-122"/>
                <a:ea typeface="微软雅黑" pitchFamily="34" charset="-122"/>
              </a:rPr>
              <a:t>实数</a:t>
            </a:r>
          </a:p>
        </p:txBody>
      </p:sp>
      <p:sp>
        <p:nvSpPr>
          <p:cNvPr id="8" name="TextBox 7"/>
          <p:cNvSpPr txBox="1"/>
          <p:nvPr/>
        </p:nvSpPr>
        <p:spPr>
          <a:xfrm>
            <a:off x="6156176" y="2859782"/>
            <a:ext cx="2232248" cy="338554"/>
          </a:xfrm>
          <a:prstGeom prst="rect">
            <a:avLst/>
          </a:prstGeom>
          <a:noFill/>
        </p:spPr>
        <p:txBody>
          <a:bodyPr wrap="square" rtlCol="0">
            <a:spAutoFit/>
          </a:bodyPr>
          <a:lstStyle/>
          <a:p>
            <a:r>
              <a:rPr lang="zh-CN" altLang="en-US" sz="1600" dirty="0">
                <a:solidFill>
                  <a:srgbClr val="FF0000"/>
                </a:solidFill>
                <a:latin typeface="微软雅黑" pitchFamily="34" charset="-122"/>
                <a:ea typeface="微软雅黑" pitchFamily="34" charset="-122"/>
              </a:rPr>
              <a:t>表示的是</a:t>
            </a:r>
            <a:r>
              <a:rPr lang="zh-CN" altLang="en-US" sz="1600" b="0" dirty="0">
                <a:solidFill>
                  <a:srgbClr val="FF0000"/>
                </a:solidFill>
                <a:latin typeface="微软雅黑" pitchFamily="34" charset="-122"/>
                <a:ea typeface="微软雅黑" pitchFamily="34" charset="-122"/>
              </a:rPr>
              <a:t>同一个实数</a:t>
            </a:r>
            <a:endParaRPr lang="zh-CN" altLang="en-US" dirty="0">
              <a:solidFill>
                <a:srgbClr val="FF0000"/>
              </a:solidFill>
            </a:endParaRPr>
          </a:p>
        </p:txBody>
      </p:sp>
      <p:sp>
        <p:nvSpPr>
          <p:cNvPr id="2" name="TextBox 1"/>
          <p:cNvSpPr txBox="1"/>
          <p:nvPr/>
        </p:nvSpPr>
        <p:spPr>
          <a:xfrm>
            <a:off x="1259632" y="1798801"/>
            <a:ext cx="4176464" cy="761747"/>
          </a:xfrm>
          <a:prstGeom prst="rect">
            <a:avLst/>
          </a:prstGeom>
          <a:noFill/>
        </p:spPr>
        <p:txBody>
          <a:bodyPr wrap="square" rtlCol="0">
            <a:spAutoFit/>
          </a:bodyPr>
          <a:lstStyle/>
          <a:p>
            <a:pPr>
              <a:spcAft>
                <a:spcPts val="900"/>
              </a:spcAft>
            </a:pPr>
            <a:r>
              <a:rPr lang="zh-CN" altLang="zh-CN" sz="1800" b="0" dirty="0">
                <a:latin typeface="微软雅黑" pitchFamily="34" charset="-122"/>
                <a:ea typeface="微软雅黑" pitchFamily="34" charset="-122"/>
              </a:rPr>
              <a:t>①</a:t>
            </a:r>
            <a:r>
              <a:rPr lang="en-US" altLang="zh-CN" sz="1800" b="0" dirty="0">
                <a:latin typeface="微软雅黑" pitchFamily="34" charset="-122"/>
                <a:ea typeface="微软雅黑" pitchFamily="34" charset="-122"/>
              </a:rPr>
              <a:t> </a:t>
            </a:r>
            <a:r>
              <a:rPr lang="zh-CN" altLang="zh-CN" sz="1800" b="0" dirty="0">
                <a:latin typeface="微软雅黑" pitchFamily="34" charset="-122"/>
                <a:ea typeface="微软雅黑" pitchFamily="34" charset="-122"/>
              </a:rPr>
              <a:t>小数形式</a:t>
            </a:r>
            <a:r>
              <a:rPr lang="en-US" altLang="zh-CN" sz="1800" b="0" dirty="0">
                <a:latin typeface="微软雅黑" pitchFamily="34" charset="-122"/>
                <a:ea typeface="微软雅黑" pitchFamily="34" charset="-122"/>
              </a:rPr>
              <a:t> ±</a:t>
            </a:r>
            <a:r>
              <a:rPr lang="en-US" altLang="zh-CN" sz="1800" b="0" dirty="0" err="1">
                <a:latin typeface="微软雅黑" pitchFamily="34" charset="-122"/>
                <a:ea typeface="微软雅黑" pitchFamily="34" charset="-122"/>
              </a:rPr>
              <a:t>m.n</a:t>
            </a:r>
            <a:endParaRPr lang="zh-CN" altLang="zh-CN" sz="1800" b="0" dirty="0">
              <a:latin typeface="微软雅黑" pitchFamily="34" charset="-122"/>
              <a:ea typeface="微软雅黑" pitchFamily="34" charset="-122"/>
            </a:endParaRPr>
          </a:p>
          <a:p>
            <a:pPr>
              <a:spcAft>
                <a:spcPts val="900"/>
              </a:spcAft>
            </a:pPr>
            <a:r>
              <a:rPr lang="zh-CN" altLang="zh-CN" sz="1800" b="0" dirty="0">
                <a:latin typeface="微软雅黑" pitchFamily="34" charset="-122"/>
                <a:ea typeface="微软雅黑" pitchFamily="34" charset="-122"/>
              </a:rPr>
              <a:t>②</a:t>
            </a:r>
            <a:r>
              <a:rPr lang="en-US" altLang="zh-CN" sz="1800" b="0" dirty="0">
                <a:latin typeface="微软雅黑" pitchFamily="34" charset="-122"/>
                <a:ea typeface="微软雅黑" pitchFamily="34" charset="-122"/>
              </a:rPr>
              <a:t> </a:t>
            </a:r>
            <a:r>
              <a:rPr lang="zh-CN" altLang="zh-CN" sz="1800" b="0" dirty="0">
                <a:latin typeface="微软雅黑" pitchFamily="34" charset="-122"/>
                <a:ea typeface="微软雅黑" pitchFamily="34" charset="-122"/>
              </a:rPr>
              <a:t>指数形式：</a:t>
            </a:r>
            <a:r>
              <a:rPr lang="en-US" altLang="zh-CN" sz="1800" b="0" dirty="0">
                <a:latin typeface="微软雅黑" pitchFamily="34" charset="-122"/>
                <a:ea typeface="微软雅黑" pitchFamily="34" charset="-122"/>
              </a:rPr>
              <a:t>±m[.n]</a:t>
            </a:r>
            <a:r>
              <a:rPr lang="en-US" altLang="zh-CN" sz="1800" b="0" dirty="0" err="1">
                <a:latin typeface="微软雅黑" pitchFamily="34" charset="-122"/>
                <a:ea typeface="微软雅黑" pitchFamily="34" charset="-122"/>
              </a:rPr>
              <a:t>E±k</a:t>
            </a:r>
            <a:endParaRPr lang="zh-CN" altLang="en-US" sz="1800" b="0" dirty="0">
              <a:latin typeface="微软雅黑" pitchFamily="34" charset="-122"/>
              <a:ea typeface="微软雅黑" pitchFamily="34" charset="-122"/>
            </a:endParaRPr>
          </a:p>
        </p:txBody>
      </p:sp>
      <p:pic>
        <p:nvPicPr>
          <p:cNvPr id="4" name="图片 3">
            <a:extLst>
              <a:ext uri="{FF2B5EF4-FFF2-40B4-BE49-F238E27FC236}">
                <a16:creationId xmlns:a16="http://schemas.microsoft.com/office/drawing/2014/main" id="{207D4788-E5D1-3AF5-13D5-2A3A1C079424}"/>
              </a:ext>
            </a:extLst>
          </p:cNvPr>
          <p:cNvPicPr>
            <a:picLocks noChangeAspect="1"/>
          </p:cNvPicPr>
          <p:nvPr/>
        </p:nvPicPr>
        <p:blipFill>
          <a:blip r:embed="rId2"/>
          <a:stretch>
            <a:fillRect/>
          </a:stretch>
        </p:blipFill>
        <p:spPr>
          <a:xfrm>
            <a:off x="1187624" y="3363838"/>
            <a:ext cx="5491203" cy="1466861"/>
          </a:xfrm>
          <a:prstGeom prst="rect">
            <a:avLst/>
          </a:prstGeom>
        </p:spPr>
      </p:pic>
    </p:spTree>
    <p:extLst>
      <p:ext uri="{BB962C8B-B14F-4D97-AF65-F5344CB8AC3E}">
        <p14:creationId xmlns:p14="http://schemas.microsoft.com/office/powerpoint/2010/main" val="34099220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2578">
                                            <p:txEl>
                                              <p:pRg st="4" end="4"/>
                                            </p:txEl>
                                          </p:spTgt>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416752874"/>
              </p:ext>
            </p:extLst>
          </p:nvPr>
        </p:nvGraphicFramePr>
        <p:xfrm>
          <a:off x="1835621" y="1407989"/>
          <a:ext cx="5400675" cy="827103"/>
        </p:xfrm>
        <a:graphic>
          <a:graphicData uri="http://schemas.openxmlformats.org/drawingml/2006/table">
            <a:tbl>
              <a:tblPr firstRow="1" bandRow="1">
                <a:tableStyleId>{5C22544A-7EE6-4342-B048-85BDC9FD1C3A}</a:tableStyleId>
              </a:tblPr>
              <a:tblGrid>
                <a:gridCol w="719485">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gridCol w="2952983">
                  <a:extLst>
                    <a:ext uri="{9D8B030D-6E8A-4147-A177-3AD203B41FA5}">
                      <a16:colId xmlns:a16="http://schemas.microsoft.com/office/drawing/2014/main" val="20002"/>
                    </a:ext>
                  </a:extLst>
                </a:gridCol>
                <a:gridCol w="1080135">
                  <a:extLst>
                    <a:ext uri="{9D8B030D-6E8A-4147-A177-3AD203B41FA5}">
                      <a16:colId xmlns:a16="http://schemas.microsoft.com/office/drawing/2014/main" val="20003"/>
                    </a:ext>
                  </a:extLst>
                </a:gridCol>
              </a:tblGrid>
              <a:tr h="456998">
                <a:tc>
                  <a:txBody>
                    <a:bodyPr/>
                    <a:lstStyle/>
                    <a:p>
                      <a:r>
                        <a:rPr lang="en-US" altLang="zh-CN" sz="2400" dirty="0">
                          <a:solidFill>
                            <a:srgbClr val="000066"/>
                          </a:solidFill>
                        </a:rPr>
                        <a:t>  -</a:t>
                      </a:r>
                      <a:endParaRPr lang="zh-CN" altLang="en-US" sz="2000" dirty="0">
                        <a:solidFill>
                          <a:srgbClr val="000066"/>
                        </a:solidFill>
                      </a:endParaRPr>
                    </a:p>
                  </a:txBody>
                  <a:tcPr marL="91451" marR="91451" marT="45627" marB="45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F3F4"/>
                    </a:solidFill>
                  </a:tcPr>
                </a:tc>
                <a:tc>
                  <a:txBody>
                    <a:bodyPr/>
                    <a:lstStyle/>
                    <a:p>
                      <a:r>
                        <a:rPr lang="zh-CN" altLang="en-US" sz="2000" dirty="0">
                          <a:solidFill>
                            <a:srgbClr val="000066"/>
                          </a:solidFill>
                        </a:rPr>
                        <a:t>**</a:t>
                      </a:r>
                    </a:p>
                  </a:txBody>
                  <a:tcPr marL="91451" marR="91451" marT="45627" marB="45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F3F4"/>
                    </a:solidFill>
                  </a:tcPr>
                </a:tc>
                <a:tc>
                  <a:txBody>
                    <a:bodyPr/>
                    <a:lstStyle/>
                    <a:p>
                      <a:r>
                        <a:rPr lang="en-US" altLang="zh-CN" sz="2400" dirty="0">
                          <a:solidFill>
                            <a:srgbClr val="000066"/>
                          </a:solidFill>
                        </a:rPr>
                        <a:t>* </a:t>
                      </a:r>
                      <a:r>
                        <a:rPr lang="zh-CN" altLang="en-US" sz="2400" dirty="0">
                          <a:solidFill>
                            <a:srgbClr val="000066"/>
                          </a:solidFill>
                        </a:rPr>
                        <a:t>　</a:t>
                      </a:r>
                      <a:r>
                        <a:rPr lang="en-US" altLang="zh-CN" sz="2000" b="0" dirty="0">
                          <a:solidFill>
                            <a:srgbClr val="000066"/>
                          </a:solidFill>
                        </a:rPr>
                        <a:t> </a:t>
                      </a:r>
                      <a:r>
                        <a:rPr lang="en-US" altLang="zh-CN" sz="2400" dirty="0">
                          <a:solidFill>
                            <a:srgbClr val="000066"/>
                          </a:solidFill>
                        </a:rPr>
                        <a:t> /       //         %</a:t>
                      </a:r>
                      <a:endParaRPr lang="zh-CN" altLang="en-US" sz="1800" dirty="0">
                        <a:solidFill>
                          <a:srgbClr val="000066"/>
                        </a:solidFill>
                      </a:endParaRPr>
                    </a:p>
                  </a:txBody>
                  <a:tcPr marL="91451" marR="91451" marT="45627" marB="45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F3F4"/>
                    </a:solidFill>
                  </a:tcPr>
                </a:tc>
                <a:tc>
                  <a:txBody>
                    <a:bodyPr/>
                    <a:lstStyle/>
                    <a:p>
                      <a:r>
                        <a:rPr lang="en-US" altLang="zh-CN" sz="1800" dirty="0">
                          <a:solidFill>
                            <a:srgbClr val="000066"/>
                          </a:solidFill>
                        </a:rPr>
                        <a:t>  +</a:t>
                      </a:r>
                      <a:r>
                        <a:rPr lang="zh-CN" altLang="en-US" sz="1800" dirty="0">
                          <a:solidFill>
                            <a:srgbClr val="000066"/>
                          </a:solidFill>
                        </a:rPr>
                        <a:t>　</a:t>
                      </a:r>
                      <a:r>
                        <a:rPr lang="en-US" altLang="zh-CN" sz="1800" dirty="0">
                          <a:solidFill>
                            <a:srgbClr val="000066"/>
                          </a:solidFill>
                        </a:rPr>
                        <a:t>  -</a:t>
                      </a:r>
                      <a:endParaRPr lang="zh-CN" altLang="en-US" sz="1800" dirty="0">
                        <a:solidFill>
                          <a:srgbClr val="000066"/>
                        </a:solidFill>
                      </a:endParaRPr>
                    </a:p>
                  </a:txBody>
                  <a:tcPr marL="91451" marR="91451" marT="45627" marB="45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F3F4"/>
                    </a:solidFill>
                  </a:tcPr>
                </a:tc>
                <a:extLst>
                  <a:ext uri="{0D108BD9-81ED-4DB2-BD59-A6C34878D82A}">
                    <a16:rowId xmlns:a16="http://schemas.microsoft.com/office/drawing/2014/main" val="10000"/>
                  </a:ext>
                </a:extLst>
              </a:tr>
              <a:tr h="370089">
                <a:tc>
                  <a:txBody>
                    <a:bodyPr/>
                    <a:lstStyle/>
                    <a:p>
                      <a:pPr algn="ctr"/>
                      <a:r>
                        <a:rPr lang="en-US" altLang="zh-CN" sz="1800" dirty="0">
                          <a:solidFill>
                            <a:srgbClr val="000066"/>
                          </a:solidFill>
                        </a:rPr>
                        <a:t> 1</a:t>
                      </a:r>
                      <a:endParaRPr lang="zh-CN" altLang="en-US" sz="1800" dirty="0">
                        <a:solidFill>
                          <a:srgbClr val="000066"/>
                        </a:solidFill>
                      </a:endParaRPr>
                    </a:p>
                  </a:txBody>
                  <a:tcPr marL="91451" marR="91451" marT="45627" marB="456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F3F4"/>
                    </a:solidFill>
                  </a:tcPr>
                </a:tc>
                <a:tc>
                  <a:txBody>
                    <a:bodyPr/>
                    <a:lstStyle/>
                    <a:p>
                      <a:pPr algn="ctr"/>
                      <a:r>
                        <a:rPr lang="en-US" altLang="zh-CN" sz="1800" dirty="0">
                          <a:solidFill>
                            <a:srgbClr val="000066"/>
                          </a:solidFill>
                        </a:rPr>
                        <a:t>2</a:t>
                      </a:r>
                      <a:endParaRPr lang="zh-CN" altLang="en-US" sz="1800" dirty="0">
                        <a:solidFill>
                          <a:srgbClr val="000066"/>
                        </a:solidFill>
                      </a:endParaRPr>
                    </a:p>
                  </a:txBody>
                  <a:tcPr marL="91451" marR="91451" marT="45627" marB="456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F3F4"/>
                    </a:solidFill>
                  </a:tcPr>
                </a:tc>
                <a:tc>
                  <a:txBody>
                    <a:bodyPr/>
                    <a:lstStyle/>
                    <a:p>
                      <a:pPr algn="ctr"/>
                      <a:r>
                        <a:rPr lang="en-US" altLang="zh-CN" sz="1800" dirty="0">
                          <a:solidFill>
                            <a:srgbClr val="000066"/>
                          </a:solidFill>
                        </a:rPr>
                        <a:t>3</a:t>
                      </a:r>
                      <a:endParaRPr lang="zh-CN" altLang="en-US" sz="1800" dirty="0">
                        <a:solidFill>
                          <a:srgbClr val="000066"/>
                        </a:solidFill>
                      </a:endParaRPr>
                    </a:p>
                  </a:txBody>
                  <a:tcPr marL="91451" marR="91451" marT="45627" marB="456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F3F4"/>
                    </a:solidFill>
                  </a:tcPr>
                </a:tc>
                <a:tc>
                  <a:txBody>
                    <a:bodyPr/>
                    <a:lstStyle/>
                    <a:p>
                      <a:pPr algn="ctr"/>
                      <a:r>
                        <a:rPr lang="en-US" altLang="zh-CN" sz="1800" dirty="0">
                          <a:solidFill>
                            <a:srgbClr val="000066"/>
                          </a:solidFill>
                        </a:rPr>
                        <a:t>4</a:t>
                      </a:r>
                      <a:endParaRPr lang="zh-CN" altLang="en-US" sz="1800" dirty="0">
                        <a:solidFill>
                          <a:srgbClr val="000066"/>
                        </a:solidFill>
                      </a:endParaRPr>
                    </a:p>
                  </a:txBody>
                  <a:tcPr marL="91451" marR="91451" marT="45627" marB="4562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F3F4"/>
                    </a:solidFill>
                  </a:tcPr>
                </a:tc>
                <a:extLst>
                  <a:ext uri="{0D108BD9-81ED-4DB2-BD59-A6C34878D82A}">
                    <a16:rowId xmlns:a16="http://schemas.microsoft.com/office/drawing/2014/main" val="10001"/>
                  </a:ext>
                </a:extLst>
              </a:tr>
            </a:tbl>
          </a:graphicData>
        </a:graphic>
      </p:graphicFrame>
      <p:sp>
        <p:nvSpPr>
          <p:cNvPr id="38934" name="Rectangle 2"/>
          <p:cNvSpPr>
            <a:spLocks noGrp="1" noChangeArrowheads="1"/>
          </p:cNvSpPr>
          <p:nvPr>
            <p:ph type="title"/>
          </p:nvPr>
        </p:nvSpPr>
        <p:spPr bwMode="auto">
          <a:xfrm>
            <a:off x="451126" y="547726"/>
            <a:ext cx="3112762" cy="530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b" anchorCtr="0" compatLnSpc="1">
            <a:prstTxWarp prst="textNoShape">
              <a:avLst/>
            </a:prstTxWarp>
          </a:bodyPr>
          <a:lstStyle/>
          <a:p>
            <a:pPr algn="l"/>
            <a:r>
              <a:rPr lang="en-US" altLang="zh-CN" sz="2400" dirty="0">
                <a:solidFill>
                  <a:srgbClr val="0070C0"/>
                </a:solidFill>
                <a:latin typeface="Courier New" pitchFamily="49" charset="0"/>
                <a:cs typeface="Courier New" pitchFamily="49" charset="0"/>
              </a:rPr>
              <a:t>1.</a:t>
            </a:r>
            <a:r>
              <a:rPr lang="zh-CN" altLang="en-US" sz="2400" b="1" dirty="0">
                <a:solidFill>
                  <a:srgbClr val="0070C0"/>
                </a:solidFill>
                <a:latin typeface="Courier New" pitchFamily="49" charset="0"/>
                <a:ea typeface="微软雅黑" pitchFamily="34" charset="-122"/>
                <a:cs typeface="Courier New" pitchFamily="49" charset="0"/>
              </a:rPr>
              <a:t>算术运算符</a:t>
            </a:r>
          </a:p>
        </p:txBody>
      </p:sp>
      <p:sp>
        <p:nvSpPr>
          <p:cNvPr id="38935" name="圆角矩形 9"/>
          <p:cNvSpPr>
            <a:spLocks noChangeArrowheads="1"/>
          </p:cNvSpPr>
          <p:nvPr/>
        </p:nvSpPr>
        <p:spPr bwMode="auto">
          <a:xfrm>
            <a:off x="4391223" y="1441971"/>
            <a:ext cx="1692275" cy="409575"/>
          </a:xfrm>
          <a:prstGeom prst="roundRect">
            <a:avLst>
              <a:gd name="adj" fmla="val 16667"/>
            </a:avLst>
          </a:prstGeom>
          <a:noFill/>
          <a:ln w="44450">
            <a:solidFill>
              <a:srgbClr val="C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a:lnSpc>
                <a:spcPct val="100000"/>
              </a:lnSpc>
              <a:spcBef>
                <a:spcPts val="600"/>
              </a:spcBef>
            </a:pPr>
            <a:endParaRPr lang="zh-CN" altLang="en-US" sz="1800">
              <a:solidFill>
                <a:srgbClr val="000066"/>
              </a:solidFill>
              <a:latin typeface="Courier New" pitchFamily="49" charset="0"/>
              <a:ea typeface="微软雅黑" pitchFamily="34" charset="-122"/>
              <a:cs typeface="Courier New" pitchFamily="49" charset="0"/>
            </a:endParaRPr>
          </a:p>
        </p:txBody>
      </p:sp>
      <p:sp>
        <p:nvSpPr>
          <p:cNvPr id="38936" name="TextBox 2"/>
          <p:cNvSpPr txBox="1">
            <a:spLocks noChangeArrowheads="1"/>
          </p:cNvSpPr>
          <p:nvPr/>
        </p:nvSpPr>
        <p:spPr bwMode="auto">
          <a:xfrm>
            <a:off x="467196" y="1407989"/>
            <a:ext cx="136842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zh-CN" altLang="en-US" sz="1800">
                <a:solidFill>
                  <a:srgbClr val="000066"/>
                </a:solidFill>
                <a:latin typeface="Courier New" pitchFamily="49" charset="0"/>
                <a:ea typeface="微软雅黑" pitchFamily="34" charset="-122"/>
                <a:cs typeface="Courier New" pitchFamily="49" charset="0"/>
              </a:rPr>
              <a:t>运算符：</a:t>
            </a:r>
          </a:p>
        </p:txBody>
      </p:sp>
      <p:sp>
        <p:nvSpPr>
          <p:cNvPr id="38937" name="TextBox 11"/>
          <p:cNvSpPr txBox="1">
            <a:spLocks noChangeArrowheads="1"/>
          </p:cNvSpPr>
          <p:nvPr/>
        </p:nvSpPr>
        <p:spPr bwMode="auto">
          <a:xfrm>
            <a:off x="475134" y="1931864"/>
            <a:ext cx="1360487"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zh-CN" altLang="en-US" sz="1800">
                <a:latin typeface="Courier New" pitchFamily="49" charset="0"/>
                <a:ea typeface="微软雅黑" pitchFamily="34" charset="-122"/>
                <a:cs typeface="Courier New" pitchFamily="49" charset="0"/>
              </a:rPr>
              <a:t>优先级：   </a:t>
            </a:r>
          </a:p>
        </p:txBody>
      </p:sp>
      <p:sp>
        <p:nvSpPr>
          <p:cNvPr id="3" name="TextBox 2"/>
          <p:cNvSpPr txBox="1"/>
          <p:nvPr/>
        </p:nvSpPr>
        <p:spPr>
          <a:xfrm>
            <a:off x="4390850" y="915541"/>
            <a:ext cx="1692647" cy="387798"/>
          </a:xfrm>
          <a:prstGeom prst="rect">
            <a:avLst/>
          </a:prstGeom>
          <a:noFill/>
        </p:spPr>
        <p:txBody>
          <a:bodyPr wrap="square" rtlCol="0">
            <a:spAutoFit/>
          </a:bodyPr>
          <a:lstStyle/>
          <a:p>
            <a:r>
              <a:rPr lang="zh-CN" altLang="en-US" sz="1600" dirty="0"/>
              <a:t>整除　　　取余</a:t>
            </a:r>
          </a:p>
        </p:txBody>
      </p:sp>
      <p:cxnSp>
        <p:nvCxnSpPr>
          <p:cNvPr id="6" name="直接连接符 5"/>
          <p:cNvCxnSpPr/>
          <p:nvPr/>
        </p:nvCxnSpPr>
        <p:spPr bwMode="auto">
          <a:xfrm>
            <a:off x="4715668" y="1203573"/>
            <a:ext cx="0" cy="237852"/>
          </a:xfrm>
          <a:prstGeom prst="line">
            <a:avLst/>
          </a:prstGeom>
          <a:noFill/>
          <a:ln w="254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cxnSp>
      <p:cxnSp>
        <p:nvCxnSpPr>
          <p:cNvPr id="19" name="直接连接符 18"/>
          <p:cNvCxnSpPr/>
          <p:nvPr/>
        </p:nvCxnSpPr>
        <p:spPr bwMode="auto">
          <a:xfrm>
            <a:off x="5686995" y="1203573"/>
            <a:ext cx="0" cy="237852"/>
          </a:xfrm>
          <a:prstGeom prst="line">
            <a:avLst/>
          </a:prstGeom>
          <a:noFill/>
          <a:ln w="25400" cap="flat" cmpd="sng" algn="ctr">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cxnSp>
      <p:sp>
        <p:nvSpPr>
          <p:cNvPr id="20" name="AutoShape 44"/>
          <p:cNvSpPr>
            <a:spLocks noChangeArrowheads="1"/>
          </p:cNvSpPr>
          <p:nvPr/>
        </p:nvSpPr>
        <p:spPr bwMode="gray">
          <a:xfrm>
            <a:off x="4860032" y="2842860"/>
            <a:ext cx="4184978" cy="2001829"/>
          </a:xfrm>
          <a:prstGeom prst="roundRect">
            <a:avLst>
              <a:gd name="adj" fmla="val 8014"/>
            </a:avLst>
          </a:prstGeom>
          <a:solidFill>
            <a:srgbClr val="F8F8F8"/>
          </a:solidFill>
          <a:ln w="9525">
            <a:solidFill>
              <a:srgbClr val="8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spcBef>
                <a:spcPts val="0"/>
              </a:spcBef>
            </a:pPr>
            <a:r>
              <a:rPr lang="zh-CN" altLang="zh-CN" sz="1600" b="0" dirty="0">
                <a:latin typeface="Courier New" pitchFamily="49" charset="0"/>
                <a:ea typeface="微软雅黑" pitchFamily="34" charset="-122"/>
                <a:cs typeface="Courier New" pitchFamily="49" charset="0"/>
              </a:rPr>
              <a:t>【</a:t>
            </a:r>
            <a:r>
              <a:rPr lang="zh-CN" altLang="zh-CN" sz="1600" dirty="0">
                <a:latin typeface="Courier New" pitchFamily="49" charset="0"/>
                <a:ea typeface="微软雅黑" pitchFamily="34" charset="-122"/>
                <a:cs typeface="Courier New" pitchFamily="49" charset="0"/>
              </a:rPr>
              <a:t>例</a:t>
            </a:r>
            <a:r>
              <a:rPr lang="en-US" altLang="zh-CN" sz="1600" dirty="0">
                <a:latin typeface="Courier New" pitchFamily="49" charset="0"/>
                <a:ea typeface="微软雅黑" pitchFamily="34" charset="-122"/>
                <a:cs typeface="Courier New" pitchFamily="49" charset="0"/>
              </a:rPr>
              <a:t>2.8</a:t>
            </a:r>
            <a:r>
              <a:rPr lang="zh-CN" altLang="zh-CN" sz="1600" b="0" dirty="0">
                <a:latin typeface="Courier New" pitchFamily="49" charset="0"/>
                <a:ea typeface="微软雅黑" pitchFamily="34" charset="-122"/>
                <a:cs typeface="Courier New" pitchFamily="49" charset="0"/>
              </a:rPr>
              <a:t>】利用运算符，输入秒数，以小时、</a:t>
            </a:r>
            <a:endParaRPr lang="en-US" altLang="zh-CN" sz="1600" b="0" dirty="0">
              <a:latin typeface="Courier New" pitchFamily="49" charset="0"/>
              <a:ea typeface="微软雅黑" pitchFamily="34" charset="-122"/>
              <a:cs typeface="Courier New" pitchFamily="49" charset="0"/>
            </a:endParaRPr>
          </a:p>
          <a:p>
            <a:pPr>
              <a:lnSpc>
                <a:spcPct val="150000"/>
              </a:lnSpc>
              <a:spcBef>
                <a:spcPts val="0"/>
              </a:spcBef>
            </a:pPr>
            <a:r>
              <a:rPr lang="en-US" altLang="zh-CN" sz="1600" b="0" dirty="0">
                <a:latin typeface="Courier New" pitchFamily="49" charset="0"/>
                <a:ea typeface="微软雅黑" pitchFamily="34" charset="-122"/>
                <a:cs typeface="Courier New" pitchFamily="49" charset="0"/>
              </a:rPr>
              <a:t>         </a:t>
            </a:r>
            <a:r>
              <a:rPr lang="zh-CN" altLang="zh-CN" sz="1600" b="0" dirty="0">
                <a:latin typeface="Courier New" pitchFamily="49" charset="0"/>
                <a:ea typeface="微软雅黑" pitchFamily="34" charset="-122"/>
                <a:cs typeface="Courier New" pitchFamily="49" charset="0"/>
              </a:rPr>
              <a:t>分、秒形式显示</a:t>
            </a:r>
            <a:endParaRPr lang="en-US" altLang="zh-CN" sz="1600" b="0" dirty="0">
              <a:latin typeface="Courier New" pitchFamily="49" charset="0"/>
              <a:ea typeface="微软雅黑" pitchFamily="34" charset="-122"/>
              <a:cs typeface="Courier New" pitchFamily="49" charset="0"/>
            </a:endParaRPr>
          </a:p>
          <a:p>
            <a:pPr>
              <a:spcBef>
                <a:spcPts val="0"/>
              </a:spcBef>
            </a:pPr>
            <a:r>
              <a:rPr lang="en-US" altLang="zh-CN" sz="1400" dirty="0">
                <a:solidFill>
                  <a:srgbClr val="000066"/>
                </a:solidFill>
                <a:latin typeface="Courier New" pitchFamily="49" charset="0"/>
                <a:ea typeface="微软雅黑" pitchFamily="34" charset="-122"/>
                <a:cs typeface="Courier New" pitchFamily="49" charset="0"/>
              </a:rPr>
              <a:t>x =</a:t>
            </a:r>
            <a:r>
              <a:rPr lang="en-US" altLang="zh-CN" sz="1400" dirty="0" err="1">
                <a:solidFill>
                  <a:srgbClr val="000066"/>
                </a:solidFill>
                <a:latin typeface="Courier New" pitchFamily="49" charset="0"/>
                <a:ea typeface="微软雅黑" pitchFamily="34" charset="-122"/>
                <a:cs typeface="Courier New" pitchFamily="49" charset="0"/>
              </a:rPr>
              <a:t>int</a:t>
            </a:r>
            <a:r>
              <a:rPr lang="en-US" altLang="zh-CN" sz="1400" dirty="0">
                <a:solidFill>
                  <a:srgbClr val="000066"/>
                </a:solidFill>
                <a:latin typeface="Courier New" pitchFamily="49" charset="0"/>
                <a:ea typeface="微软雅黑" pitchFamily="34" charset="-122"/>
                <a:cs typeface="Courier New" pitchFamily="49" charset="0"/>
              </a:rPr>
              <a:t>(input("</a:t>
            </a:r>
            <a:r>
              <a:rPr lang="zh-CN" altLang="zh-CN" sz="1400" dirty="0">
                <a:solidFill>
                  <a:srgbClr val="000066"/>
                </a:solidFill>
                <a:latin typeface="Courier New" pitchFamily="49" charset="0"/>
                <a:ea typeface="微软雅黑" pitchFamily="34" charset="-122"/>
                <a:cs typeface="Courier New" pitchFamily="49" charset="0"/>
              </a:rPr>
              <a:t>输入秒数</a:t>
            </a:r>
            <a:r>
              <a:rPr lang="en-US" altLang="zh-CN" sz="1400" dirty="0">
                <a:solidFill>
                  <a:srgbClr val="000066"/>
                </a:solidFill>
                <a:latin typeface="Courier New" pitchFamily="49" charset="0"/>
                <a:ea typeface="微软雅黑" pitchFamily="34" charset="-122"/>
                <a:cs typeface="Courier New" pitchFamily="49" charset="0"/>
              </a:rPr>
              <a:t>"))</a:t>
            </a:r>
            <a:endParaRPr lang="zh-CN" altLang="zh-CN" sz="1400" dirty="0">
              <a:solidFill>
                <a:srgbClr val="000066"/>
              </a:solidFill>
              <a:latin typeface="Courier New" pitchFamily="49" charset="0"/>
              <a:ea typeface="微软雅黑" pitchFamily="34" charset="-122"/>
              <a:cs typeface="Courier New" pitchFamily="49" charset="0"/>
            </a:endParaRPr>
          </a:p>
          <a:p>
            <a:pPr>
              <a:spcBef>
                <a:spcPts val="0"/>
              </a:spcBef>
            </a:pPr>
            <a:r>
              <a:rPr lang="en-US" altLang="zh-CN" sz="1400" dirty="0">
                <a:solidFill>
                  <a:srgbClr val="000066"/>
                </a:solidFill>
                <a:latin typeface="Courier New" pitchFamily="49" charset="0"/>
                <a:ea typeface="微软雅黑" pitchFamily="34" charset="-122"/>
                <a:cs typeface="Courier New" pitchFamily="49" charset="0"/>
              </a:rPr>
              <a:t>s = x % 60                  # </a:t>
            </a:r>
            <a:r>
              <a:rPr lang="zh-CN" altLang="zh-CN" sz="1400" dirty="0">
                <a:solidFill>
                  <a:srgbClr val="000066"/>
                </a:solidFill>
                <a:latin typeface="Courier New" pitchFamily="49" charset="0"/>
                <a:ea typeface="微软雅黑" pitchFamily="34" charset="-122"/>
                <a:cs typeface="Courier New" pitchFamily="49" charset="0"/>
              </a:rPr>
              <a:t>求得秒</a:t>
            </a:r>
          </a:p>
          <a:p>
            <a:pPr>
              <a:spcBef>
                <a:spcPts val="0"/>
              </a:spcBef>
            </a:pPr>
            <a:r>
              <a:rPr lang="en-US" altLang="zh-CN" sz="1400" dirty="0">
                <a:solidFill>
                  <a:srgbClr val="000066"/>
                </a:solidFill>
                <a:latin typeface="Courier New" pitchFamily="49" charset="0"/>
                <a:ea typeface="微软雅黑" pitchFamily="34" charset="-122"/>
                <a:cs typeface="Courier New" pitchFamily="49" charset="0"/>
              </a:rPr>
              <a:t>m = x //60 % 60             # </a:t>
            </a:r>
            <a:r>
              <a:rPr lang="zh-CN" altLang="zh-CN" sz="1400" dirty="0">
                <a:solidFill>
                  <a:srgbClr val="000066"/>
                </a:solidFill>
                <a:latin typeface="Courier New" pitchFamily="49" charset="0"/>
                <a:ea typeface="微软雅黑" pitchFamily="34" charset="-122"/>
                <a:cs typeface="Courier New" pitchFamily="49" charset="0"/>
              </a:rPr>
              <a:t>求得分钟</a:t>
            </a:r>
          </a:p>
          <a:p>
            <a:pPr>
              <a:spcBef>
                <a:spcPts val="0"/>
              </a:spcBef>
            </a:pPr>
            <a:r>
              <a:rPr lang="en-US" altLang="zh-CN" sz="1400" dirty="0">
                <a:solidFill>
                  <a:srgbClr val="000066"/>
                </a:solidFill>
                <a:latin typeface="Courier New" pitchFamily="49" charset="0"/>
                <a:ea typeface="微软雅黑" pitchFamily="34" charset="-122"/>
                <a:cs typeface="Courier New" pitchFamily="49" charset="0"/>
              </a:rPr>
              <a:t>h = x // 3600               # </a:t>
            </a:r>
            <a:r>
              <a:rPr lang="zh-CN" altLang="zh-CN" sz="1400" dirty="0">
                <a:solidFill>
                  <a:srgbClr val="000066"/>
                </a:solidFill>
                <a:latin typeface="Courier New" pitchFamily="49" charset="0"/>
                <a:ea typeface="微软雅黑" pitchFamily="34" charset="-122"/>
                <a:cs typeface="Courier New" pitchFamily="49" charset="0"/>
              </a:rPr>
              <a:t>求得小时</a:t>
            </a:r>
          </a:p>
          <a:p>
            <a:pPr>
              <a:spcBef>
                <a:spcPts val="0"/>
              </a:spcBef>
            </a:pPr>
            <a:r>
              <a:rPr lang="en-US" altLang="zh-CN" sz="1400" dirty="0">
                <a:solidFill>
                  <a:srgbClr val="000066"/>
                </a:solidFill>
                <a:latin typeface="Courier New" pitchFamily="49" charset="0"/>
                <a:ea typeface="微软雅黑" pitchFamily="34" charset="-122"/>
                <a:cs typeface="Courier New" pitchFamily="49" charset="0"/>
              </a:rPr>
              <a:t>print(</a:t>
            </a:r>
            <a:r>
              <a:rPr lang="en-US" altLang="zh-CN" sz="1400" dirty="0" err="1">
                <a:solidFill>
                  <a:srgbClr val="000066"/>
                </a:solidFill>
                <a:latin typeface="Courier New" pitchFamily="49" charset="0"/>
                <a:ea typeface="微软雅黑" pitchFamily="34" charset="-122"/>
                <a:cs typeface="Courier New" pitchFamily="49" charset="0"/>
              </a:rPr>
              <a:t>h,":",m,":",s</a:t>
            </a:r>
            <a:r>
              <a:rPr lang="en-US" altLang="zh-CN" sz="1400" dirty="0">
                <a:solidFill>
                  <a:srgbClr val="000066"/>
                </a:solidFill>
                <a:latin typeface="Courier New" pitchFamily="49" charset="0"/>
                <a:ea typeface="微软雅黑" pitchFamily="34" charset="-122"/>
                <a:cs typeface="Courier New" pitchFamily="49" charset="0"/>
              </a:rPr>
              <a:t>)</a:t>
            </a:r>
            <a:endParaRPr lang="zh-CN" altLang="zh-CN" sz="1400" dirty="0">
              <a:solidFill>
                <a:srgbClr val="000066"/>
              </a:solidFill>
              <a:latin typeface="Courier New" pitchFamily="49" charset="0"/>
              <a:ea typeface="微软雅黑" pitchFamily="34" charset="-122"/>
              <a:cs typeface="Courier New" pitchFamily="49" charset="0"/>
            </a:endParaRPr>
          </a:p>
        </p:txBody>
      </p:sp>
      <p:grpSp>
        <p:nvGrpSpPr>
          <p:cNvPr id="9" name="组合 8"/>
          <p:cNvGrpSpPr/>
          <p:nvPr/>
        </p:nvGrpSpPr>
        <p:grpSpPr>
          <a:xfrm>
            <a:off x="451126" y="2859782"/>
            <a:ext cx="4561060" cy="1776668"/>
            <a:chOff x="725414" y="2507544"/>
            <a:chExt cx="4561060" cy="1776668"/>
          </a:xfrm>
        </p:grpSpPr>
        <p:grpSp>
          <p:nvGrpSpPr>
            <p:cNvPr id="5" name="组合 4"/>
            <p:cNvGrpSpPr/>
            <p:nvPr/>
          </p:nvGrpSpPr>
          <p:grpSpPr>
            <a:xfrm>
              <a:off x="725414" y="2507544"/>
              <a:ext cx="4561060" cy="463573"/>
              <a:chOff x="443087" y="2396209"/>
              <a:chExt cx="4561060" cy="463573"/>
            </a:xfrm>
          </p:grpSpPr>
          <p:sp>
            <p:nvSpPr>
              <p:cNvPr id="26655" name="TextBox 15"/>
              <p:cNvSpPr txBox="1">
                <a:spLocks noChangeArrowheads="1"/>
              </p:cNvSpPr>
              <p:nvPr/>
            </p:nvSpPr>
            <p:spPr bwMode="auto">
              <a:xfrm>
                <a:off x="443087" y="2396209"/>
                <a:ext cx="17208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1800" dirty="0">
                    <a:solidFill>
                      <a:srgbClr val="000066"/>
                    </a:solidFill>
                    <a:latin typeface="Courier New" pitchFamily="49" charset="0"/>
                    <a:ea typeface="微软雅黑" pitchFamily="34" charset="-122"/>
                    <a:cs typeface="Courier New" pitchFamily="49" charset="0"/>
                  </a:rPr>
                  <a:t>10/3</a:t>
                </a:r>
                <a:endParaRPr lang="zh-CN" altLang="en-US" sz="1800" dirty="0">
                  <a:solidFill>
                    <a:srgbClr val="000066"/>
                  </a:solidFill>
                  <a:latin typeface="Courier New" pitchFamily="49" charset="0"/>
                  <a:ea typeface="微软雅黑" pitchFamily="34" charset="-122"/>
                  <a:cs typeface="Courier New" pitchFamily="49" charset="0"/>
                </a:endParaRPr>
              </a:p>
            </p:txBody>
          </p:sp>
          <p:sp>
            <p:nvSpPr>
              <p:cNvPr id="26656" name="TextBox 16"/>
              <p:cNvSpPr txBox="1">
                <a:spLocks noChangeArrowheads="1"/>
              </p:cNvSpPr>
              <p:nvPr/>
            </p:nvSpPr>
            <p:spPr bwMode="auto">
              <a:xfrm>
                <a:off x="2195736" y="2448900"/>
                <a:ext cx="2808411" cy="410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1800" dirty="0">
                    <a:latin typeface="Courier New" pitchFamily="49" charset="0"/>
                    <a:ea typeface="微软雅黑" pitchFamily="34" charset="-122"/>
                    <a:cs typeface="Courier New" pitchFamily="49" charset="0"/>
                  </a:rPr>
                  <a:t>3.3333333333333335</a:t>
                </a:r>
                <a:endParaRPr lang="zh-CN" altLang="en-US" sz="1800" dirty="0">
                  <a:latin typeface="Courier New" pitchFamily="49" charset="0"/>
                  <a:ea typeface="微软雅黑" pitchFamily="34" charset="-122"/>
                  <a:cs typeface="Courier New" pitchFamily="49" charset="0"/>
                </a:endParaRPr>
              </a:p>
            </p:txBody>
          </p:sp>
          <p:sp>
            <p:nvSpPr>
              <p:cNvPr id="2" name="右箭头 1"/>
              <p:cNvSpPr>
                <a:spLocks noChangeArrowheads="1"/>
              </p:cNvSpPr>
              <p:nvPr/>
            </p:nvSpPr>
            <p:spPr bwMode="auto">
              <a:xfrm>
                <a:off x="1350090" y="2571750"/>
                <a:ext cx="629622" cy="116558"/>
              </a:xfrm>
              <a:prstGeom prst="rightArrow">
                <a:avLst>
                  <a:gd name="adj1" fmla="val 45090"/>
                  <a:gd name="adj2" fmla="val 133478"/>
                </a:avLst>
              </a:prstGeom>
              <a:solidFill>
                <a:srgbClr val="C00000"/>
              </a:solidFill>
              <a:ln w="9525" algn="ctr">
                <a:solidFill>
                  <a:srgbClr val="000000"/>
                </a:solidFill>
                <a:round/>
                <a:headEnd/>
                <a:tailEnd/>
              </a:ln>
            </p:spPr>
            <p:txBody>
              <a:bodyPr wrap="square">
                <a:spAutoFit/>
              </a:bodyPr>
              <a:lstStyle/>
              <a:p>
                <a:endParaRPr lang="zh-CN" altLang="en-US"/>
              </a:p>
            </p:txBody>
          </p:sp>
        </p:grpSp>
        <p:grpSp>
          <p:nvGrpSpPr>
            <p:cNvPr id="7" name="组合 6"/>
            <p:cNvGrpSpPr/>
            <p:nvPr/>
          </p:nvGrpSpPr>
          <p:grpSpPr>
            <a:xfrm>
              <a:off x="737108" y="3212166"/>
              <a:ext cx="2370138" cy="407455"/>
              <a:chOff x="473249" y="2907384"/>
              <a:chExt cx="2370138" cy="407455"/>
            </a:xfrm>
          </p:grpSpPr>
          <p:sp>
            <p:nvSpPr>
              <p:cNvPr id="26654" name="TextBox 14"/>
              <p:cNvSpPr txBox="1">
                <a:spLocks noChangeArrowheads="1"/>
              </p:cNvSpPr>
              <p:nvPr/>
            </p:nvSpPr>
            <p:spPr bwMode="auto">
              <a:xfrm>
                <a:off x="473249" y="2907384"/>
                <a:ext cx="2370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1800" dirty="0">
                    <a:solidFill>
                      <a:srgbClr val="000066"/>
                    </a:solidFill>
                    <a:latin typeface="Courier New" pitchFamily="49" charset="0"/>
                    <a:ea typeface="微软雅黑" pitchFamily="34" charset="-122"/>
                    <a:cs typeface="Courier New" pitchFamily="49" charset="0"/>
                  </a:rPr>
                  <a:t>10//3</a:t>
                </a:r>
                <a:endParaRPr lang="zh-CN" altLang="en-US" sz="1800" dirty="0">
                  <a:solidFill>
                    <a:srgbClr val="000066"/>
                  </a:solidFill>
                  <a:latin typeface="Courier New" pitchFamily="49" charset="0"/>
                  <a:ea typeface="微软雅黑" pitchFamily="34" charset="-122"/>
                  <a:cs typeface="Courier New" pitchFamily="49" charset="0"/>
                </a:endParaRPr>
              </a:p>
            </p:txBody>
          </p:sp>
          <p:sp>
            <p:nvSpPr>
              <p:cNvPr id="26657" name="TextBox 17"/>
              <p:cNvSpPr txBox="1">
                <a:spLocks noChangeArrowheads="1"/>
              </p:cNvSpPr>
              <p:nvPr/>
            </p:nvSpPr>
            <p:spPr bwMode="auto">
              <a:xfrm>
                <a:off x="2195736" y="2945507"/>
                <a:ext cx="4320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1800" dirty="0">
                    <a:latin typeface="Courier New" pitchFamily="49" charset="0"/>
                    <a:ea typeface="微软雅黑" pitchFamily="34" charset="-122"/>
                    <a:cs typeface="Courier New" pitchFamily="49" charset="0"/>
                  </a:rPr>
                  <a:t>3</a:t>
                </a:r>
                <a:endParaRPr lang="zh-CN" altLang="en-US" sz="1800" dirty="0">
                  <a:latin typeface="Courier New" pitchFamily="49" charset="0"/>
                  <a:ea typeface="微软雅黑" pitchFamily="34" charset="-122"/>
                  <a:cs typeface="Courier New" pitchFamily="49" charset="0"/>
                </a:endParaRPr>
              </a:p>
            </p:txBody>
          </p:sp>
          <p:sp>
            <p:nvSpPr>
              <p:cNvPr id="23" name="右箭头 22"/>
              <p:cNvSpPr>
                <a:spLocks noChangeArrowheads="1"/>
              </p:cNvSpPr>
              <p:nvPr/>
            </p:nvSpPr>
            <p:spPr bwMode="auto">
              <a:xfrm>
                <a:off x="1350090" y="3033618"/>
                <a:ext cx="629622" cy="116558"/>
              </a:xfrm>
              <a:prstGeom prst="rightArrow">
                <a:avLst>
                  <a:gd name="adj1" fmla="val 45090"/>
                  <a:gd name="adj2" fmla="val 133478"/>
                </a:avLst>
              </a:prstGeom>
              <a:solidFill>
                <a:srgbClr val="C00000"/>
              </a:solidFill>
              <a:ln w="9525" algn="ctr">
                <a:solidFill>
                  <a:srgbClr val="000000"/>
                </a:solidFill>
                <a:round/>
                <a:headEnd/>
                <a:tailEnd/>
              </a:ln>
            </p:spPr>
            <p:txBody>
              <a:bodyPr wrap="square">
                <a:spAutoFit/>
              </a:bodyPr>
              <a:lstStyle/>
              <a:p>
                <a:endParaRPr lang="zh-CN" altLang="en-US"/>
              </a:p>
            </p:txBody>
          </p:sp>
        </p:grpSp>
        <p:grpSp>
          <p:nvGrpSpPr>
            <p:cNvPr id="8" name="组合 7"/>
            <p:cNvGrpSpPr/>
            <p:nvPr/>
          </p:nvGrpSpPr>
          <p:grpSpPr>
            <a:xfrm>
              <a:off x="725414" y="3822547"/>
              <a:ext cx="2370138" cy="461665"/>
              <a:chOff x="473249" y="3404272"/>
              <a:chExt cx="2370138" cy="461665"/>
            </a:xfrm>
          </p:grpSpPr>
          <p:sp>
            <p:nvSpPr>
              <p:cNvPr id="26653" name="TextBox 4"/>
              <p:cNvSpPr txBox="1">
                <a:spLocks noChangeArrowheads="1"/>
              </p:cNvSpPr>
              <p:nvPr/>
            </p:nvSpPr>
            <p:spPr bwMode="auto">
              <a:xfrm>
                <a:off x="473249" y="3404272"/>
                <a:ext cx="23701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1800" dirty="0">
                    <a:solidFill>
                      <a:srgbClr val="000066"/>
                    </a:solidFill>
                    <a:latin typeface="Courier New" pitchFamily="49" charset="0"/>
                    <a:ea typeface="微软雅黑" pitchFamily="34" charset="-122"/>
                    <a:cs typeface="Courier New" pitchFamily="49" charset="0"/>
                  </a:rPr>
                  <a:t>10</a:t>
                </a:r>
                <a:r>
                  <a:rPr lang="en-US" altLang="zh-CN" dirty="0">
                    <a:solidFill>
                      <a:srgbClr val="000066"/>
                    </a:solidFill>
                    <a:latin typeface="+mn-lt"/>
                    <a:ea typeface="+mn-ea"/>
                  </a:rPr>
                  <a:t>%</a:t>
                </a:r>
                <a:r>
                  <a:rPr lang="en-US" altLang="zh-CN" sz="1800" dirty="0">
                    <a:solidFill>
                      <a:srgbClr val="000066"/>
                    </a:solidFill>
                    <a:latin typeface="Courier New" pitchFamily="49" charset="0"/>
                    <a:ea typeface="微软雅黑" pitchFamily="34" charset="-122"/>
                    <a:cs typeface="Courier New" pitchFamily="49" charset="0"/>
                  </a:rPr>
                  <a:t>3</a:t>
                </a:r>
                <a:endParaRPr lang="zh-CN" altLang="en-US" sz="1800" dirty="0">
                  <a:solidFill>
                    <a:srgbClr val="000066"/>
                  </a:solidFill>
                  <a:latin typeface="Courier New" pitchFamily="49" charset="0"/>
                  <a:ea typeface="微软雅黑" pitchFamily="34" charset="-122"/>
                  <a:cs typeface="Courier New" pitchFamily="49" charset="0"/>
                </a:endParaRPr>
              </a:p>
            </p:txBody>
          </p:sp>
          <p:sp>
            <p:nvSpPr>
              <p:cNvPr id="26658" name="TextBox 18"/>
              <p:cNvSpPr txBox="1">
                <a:spLocks noChangeArrowheads="1"/>
              </p:cNvSpPr>
              <p:nvPr/>
            </p:nvSpPr>
            <p:spPr bwMode="auto">
              <a:xfrm>
                <a:off x="2195737" y="3496605"/>
                <a:ext cx="4320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1800" dirty="0">
                    <a:latin typeface="Courier New" pitchFamily="49" charset="0"/>
                    <a:ea typeface="微软雅黑" pitchFamily="34" charset="-122"/>
                    <a:cs typeface="Courier New" pitchFamily="49" charset="0"/>
                  </a:rPr>
                  <a:t>1</a:t>
                </a:r>
                <a:endParaRPr lang="zh-CN" altLang="en-US" sz="1800" dirty="0">
                  <a:latin typeface="Courier New" pitchFamily="49" charset="0"/>
                  <a:ea typeface="微软雅黑" pitchFamily="34" charset="-122"/>
                  <a:cs typeface="Courier New" pitchFamily="49" charset="0"/>
                </a:endParaRPr>
              </a:p>
            </p:txBody>
          </p:sp>
          <p:sp>
            <p:nvSpPr>
              <p:cNvPr id="24" name="右箭头 23"/>
              <p:cNvSpPr>
                <a:spLocks noChangeArrowheads="1"/>
              </p:cNvSpPr>
              <p:nvPr/>
            </p:nvSpPr>
            <p:spPr bwMode="auto">
              <a:xfrm>
                <a:off x="1355201" y="3607853"/>
                <a:ext cx="629622" cy="116558"/>
              </a:xfrm>
              <a:prstGeom prst="rightArrow">
                <a:avLst>
                  <a:gd name="adj1" fmla="val 45090"/>
                  <a:gd name="adj2" fmla="val 133478"/>
                </a:avLst>
              </a:prstGeom>
              <a:solidFill>
                <a:srgbClr val="C00000"/>
              </a:solidFill>
              <a:ln w="9525" algn="ctr">
                <a:solidFill>
                  <a:srgbClr val="000000"/>
                </a:solidFill>
                <a:round/>
                <a:headEnd/>
                <a:tailEnd/>
              </a:ln>
            </p:spPr>
            <p:txBody>
              <a:bodyPr wrap="square">
                <a:spAutoFit/>
              </a:bodyPr>
              <a:lstStyle/>
              <a:p>
                <a:endParaRPr lang="zh-CN" altLang="en-US"/>
              </a:p>
            </p:txBody>
          </p:sp>
        </p:grpSp>
      </p:grpSp>
    </p:spTree>
    <p:extLst>
      <p:ext uri="{BB962C8B-B14F-4D97-AF65-F5344CB8AC3E}">
        <p14:creationId xmlns:p14="http://schemas.microsoft.com/office/powerpoint/2010/main" val="171989725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6"/>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标题 1"/>
          <p:cNvSpPr>
            <a:spLocks noGrp="1"/>
          </p:cNvSpPr>
          <p:nvPr>
            <p:ph type="title"/>
          </p:nvPr>
        </p:nvSpPr>
        <p:spPr>
          <a:xfrm>
            <a:off x="411357" y="483518"/>
            <a:ext cx="5076565" cy="650875"/>
          </a:xfrm>
        </p:spPr>
        <p:txBody>
          <a:bodyPr/>
          <a:lstStyle/>
          <a:p>
            <a:r>
              <a:rPr lang="en-US" altLang="zh-CN" sz="2400" dirty="0"/>
              <a:t>Python</a:t>
            </a:r>
            <a:r>
              <a:rPr lang="zh-CN" altLang="en-US" sz="2400" dirty="0"/>
              <a:t>中的算术运算符</a:t>
            </a:r>
          </a:p>
        </p:txBody>
      </p:sp>
      <p:graphicFrame>
        <p:nvGraphicFramePr>
          <p:cNvPr id="3" name="表格 2"/>
          <p:cNvGraphicFramePr>
            <a:graphicFrameLocks noGrp="1"/>
          </p:cNvGraphicFramePr>
          <p:nvPr>
            <p:extLst>
              <p:ext uri="{D42A27DB-BD31-4B8C-83A1-F6EECF244321}">
                <p14:modId xmlns:p14="http://schemas.microsoft.com/office/powerpoint/2010/main" val="3988211639"/>
              </p:ext>
            </p:extLst>
          </p:nvPr>
        </p:nvGraphicFramePr>
        <p:xfrm>
          <a:off x="395536" y="1275606"/>
          <a:ext cx="5364597" cy="3572849"/>
        </p:xfrm>
        <a:graphic>
          <a:graphicData uri="http://schemas.openxmlformats.org/drawingml/2006/table">
            <a:tbl>
              <a:tblPr>
                <a:tableStyleId>{BC89EF96-8CEA-46FF-86C4-4CE0E7609802}</a:tableStyleId>
              </a:tblPr>
              <a:tblGrid>
                <a:gridCol w="942429">
                  <a:extLst>
                    <a:ext uri="{9D8B030D-6E8A-4147-A177-3AD203B41FA5}">
                      <a16:colId xmlns:a16="http://schemas.microsoft.com/office/drawing/2014/main" val="1465960320"/>
                    </a:ext>
                  </a:extLst>
                </a:gridCol>
                <a:gridCol w="2549959">
                  <a:extLst>
                    <a:ext uri="{9D8B030D-6E8A-4147-A177-3AD203B41FA5}">
                      <a16:colId xmlns:a16="http://schemas.microsoft.com/office/drawing/2014/main" val="1974703222"/>
                    </a:ext>
                  </a:extLst>
                </a:gridCol>
                <a:gridCol w="1872209">
                  <a:extLst>
                    <a:ext uri="{9D8B030D-6E8A-4147-A177-3AD203B41FA5}">
                      <a16:colId xmlns:a16="http://schemas.microsoft.com/office/drawing/2014/main" val="172277159"/>
                    </a:ext>
                  </a:extLst>
                </a:gridCol>
              </a:tblGrid>
              <a:tr h="335523">
                <a:tc>
                  <a:txBody>
                    <a:bodyPr/>
                    <a:lstStyle/>
                    <a:p>
                      <a:pPr algn="ctr" fontAlgn="t"/>
                      <a:r>
                        <a:rPr lang="zh-CN" altLang="en-US" sz="1800" dirty="0">
                          <a:effectLst/>
                        </a:rPr>
                        <a:t>算术</a:t>
                      </a:r>
                      <a:endParaRPr lang="en-US" altLang="zh-CN" sz="1800" dirty="0">
                        <a:effectLst/>
                      </a:endParaRPr>
                    </a:p>
                    <a:p>
                      <a:pPr algn="ctr" fontAlgn="t"/>
                      <a:r>
                        <a:rPr lang="zh-CN" altLang="en-US" sz="1800" dirty="0">
                          <a:effectLst/>
                        </a:rPr>
                        <a:t>运算符</a:t>
                      </a:r>
                      <a:endParaRPr lang="zh-CN" altLang="en-US" sz="1800" dirty="0">
                        <a:solidFill>
                          <a:srgbClr val="FFFFFF"/>
                        </a:solidFill>
                        <a:effectLst/>
                      </a:endParaRPr>
                    </a:p>
                  </a:txBody>
                  <a:tcPr marL="25737" marR="25737" marT="25737" marB="25737" anchor="ctr">
                    <a:solidFill>
                      <a:schemeClr val="accent1">
                        <a:lumMod val="20000"/>
                        <a:lumOff val="80000"/>
                      </a:schemeClr>
                    </a:solidFill>
                  </a:tcPr>
                </a:tc>
                <a:tc>
                  <a:txBody>
                    <a:bodyPr/>
                    <a:lstStyle/>
                    <a:p>
                      <a:pPr algn="ctr" fontAlgn="t"/>
                      <a:r>
                        <a:rPr lang="zh-CN" altLang="en-US" sz="1800" dirty="0">
                          <a:effectLst/>
                        </a:rPr>
                        <a:t>描述</a:t>
                      </a:r>
                      <a:endParaRPr lang="zh-CN" altLang="en-US" sz="1800" dirty="0">
                        <a:solidFill>
                          <a:srgbClr val="FFFFFF"/>
                        </a:solidFill>
                        <a:effectLst/>
                      </a:endParaRPr>
                    </a:p>
                  </a:txBody>
                  <a:tcPr marL="25737" marR="25737" marT="25737" marB="25737" anchor="ctr">
                    <a:solidFill>
                      <a:schemeClr val="accent1">
                        <a:lumMod val="20000"/>
                        <a:lumOff val="80000"/>
                      </a:schemeClr>
                    </a:solidFill>
                  </a:tcPr>
                </a:tc>
                <a:tc>
                  <a:txBody>
                    <a:bodyPr/>
                    <a:lstStyle/>
                    <a:p>
                      <a:pPr algn="ctr" fontAlgn="t"/>
                      <a:r>
                        <a:rPr lang="zh-CN" altLang="en-US" sz="1800" dirty="0">
                          <a:effectLst/>
                        </a:rPr>
                        <a:t>实例</a:t>
                      </a:r>
                      <a:endParaRPr lang="zh-CN" altLang="en-US" sz="1800" dirty="0">
                        <a:solidFill>
                          <a:srgbClr val="FFFFFF"/>
                        </a:solidFill>
                        <a:effectLst/>
                      </a:endParaRPr>
                    </a:p>
                  </a:txBody>
                  <a:tcPr marL="25737" marR="25737" marT="25737" marB="25737" anchor="ctr">
                    <a:solidFill>
                      <a:schemeClr val="accent1">
                        <a:lumMod val="20000"/>
                        <a:lumOff val="80000"/>
                      </a:schemeClr>
                    </a:solidFill>
                  </a:tcPr>
                </a:tc>
                <a:extLst>
                  <a:ext uri="{0D108BD9-81ED-4DB2-BD59-A6C34878D82A}">
                    <a16:rowId xmlns:a16="http://schemas.microsoft.com/office/drawing/2014/main" val="2068006332"/>
                  </a:ext>
                </a:extLst>
              </a:tr>
              <a:tr h="340951">
                <a:tc>
                  <a:txBody>
                    <a:bodyPr/>
                    <a:lstStyle/>
                    <a:p>
                      <a:pPr algn="ctr" fontAlgn="t"/>
                      <a:r>
                        <a:rPr lang="en-US" altLang="zh-CN" sz="1600" dirty="0">
                          <a:effectLst/>
                        </a:rPr>
                        <a:t>+</a:t>
                      </a:r>
                    </a:p>
                  </a:txBody>
                  <a:tcPr marL="42896" marR="42896" marT="60054" marB="60054" anchor="ctr"/>
                </a:tc>
                <a:tc>
                  <a:txBody>
                    <a:bodyPr/>
                    <a:lstStyle/>
                    <a:p>
                      <a:pPr algn="ctr" fontAlgn="t"/>
                      <a:r>
                        <a:rPr lang="zh-CN" altLang="en-US" sz="1600" dirty="0">
                          <a:effectLst/>
                        </a:rPr>
                        <a:t>加法</a:t>
                      </a:r>
                    </a:p>
                  </a:txBody>
                  <a:tcPr marL="42896" marR="42896" marT="60054" marB="60054" anchor="ctr"/>
                </a:tc>
                <a:tc>
                  <a:txBody>
                    <a:bodyPr/>
                    <a:lstStyle/>
                    <a:p>
                      <a:pPr algn="ctr" fontAlgn="t"/>
                      <a:r>
                        <a:rPr lang="en-US" altLang="zh-CN" sz="1600" dirty="0">
                          <a:effectLst/>
                        </a:rPr>
                        <a:t>10</a:t>
                      </a:r>
                      <a:r>
                        <a:rPr lang="en-US" sz="1600" dirty="0">
                          <a:effectLst/>
                        </a:rPr>
                        <a:t> + </a:t>
                      </a:r>
                      <a:r>
                        <a:rPr lang="en-US" altLang="zh-CN" sz="1600" dirty="0">
                          <a:effectLst/>
                        </a:rPr>
                        <a:t>20=30</a:t>
                      </a:r>
                    </a:p>
                  </a:txBody>
                  <a:tcPr marL="42896" marR="42896" marT="60054" marB="60054" anchor="ctr"/>
                </a:tc>
                <a:extLst>
                  <a:ext uri="{0D108BD9-81ED-4DB2-BD59-A6C34878D82A}">
                    <a16:rowId xmlns:a16="http://schemas.microsoft.com/office/drawing/2014/main" val="1877814464"/>
                  </a:ext>
                </a:extLst>
              </a:tr>
              <a:tr h="340951">
                <a:tc>
                  <a:txBody>
                    <a:bodyPr/>
                    <a:lstStyle/>
                    <a:p>
                      <a:pPr algn="ctr" fontAlgn="t"/>
                      <a:r>
                        <a:rPr lang="en-US" altLang="zh-CN" sz="1600" dirty="0">
                          <a:effectLst/>
                        </a:rPr>
                        <a:t>-</a:t>
                      </a:r>
                    </a:p>
                  </a:txBody>
                  <a:tcPr marL="42896" marR="42896" marT="60054" marB="60054" anchor="ctr"/>
                </a:tc>
                <a:tc>
                  <a:txBody>
                    <a:bodyPr/>
                    <a:lstStyle/>
                    <a:p>
                      <a:pPr algn="ctr" fontAlgn="t"/>
                      <a:r>
                        <a:rPr lang="zh-CN" altLang="en-US" sz="1600" dirty="0">
                          <a:effectLst/>
                        </a:rPr>
                        <a:t>减法</a:t>
                      </a:r>
                    </a:p>
                  </a:txBody>
                  <a:tcPr marL="42896" marR="42896" marT="60054" marB="60054" anchor="ctr"/>
                </a:tc>
                <a:tc>
                  <a:txBody>
                    <a:bodyPr/>
                    <a:lstStyle/>
                    <a:p>
                      <a:pPr algn="ctr" fontAlgn="t"/>
                      <a:r>
                        <a:rPr lang="en-US" altLang="zh-CN" sz="1600" dirty="0">
                          <a:effectLst/>
                        </a:rPr>
                        <a:t>10-20=-10</a:t>
                      </a:r>
                    </a:p>
                  </a:txBody>
                  <a:tcPr marL="42896" marR="42896" marT="60054" marB="60054" anchor="ctr"/>
                </a:tc>
                <a:extLst>
                  <a:ext uri="{0D108BD9-81ED-4DB2-BD59-A6C34878D82A}">
                    <a16:rowId xmlns:a16="http://schemas.microsoft.com/office/drawing/2014/main" val="3615987512"/>
                  </a:ext>
                </a:extLst>
              </a:tr>
              <a:tr h="340951">
                <a:tc>
                  <a:txBody>
                    <a:bodyPr/>
                    <a:lstStyle/>
                    <a:p>
                      <a:pPr algn="ctr" fontAlgn="t"/>
                      <a:r>
                        <a:rPr lang="zh-CN" altLang="en-US" sz="1600" dirty="0">
                          <a:effectLst/>
                        </a:rPr>
                        <a:t>*</a:t>
                      </a:r>
                    </a:p>
                  </a:txBody>
                  <a:tcPr marL="42896" marR="42896" marT="60054" marB="60054" anchor="ctr"/>
                </a:tc>
                <a:tc>
                  <a:txBody>
                    <a:bodyPr/>
                    <a:lstStyle/>
                    <a:p>
                      <a:pPr algn="ctr" fontAlgn="t"/>
                      <a:r>
                        <a:rPr lang="zh-CN" altLang="en-US" sz="1600" dirty="0">
                          <a:effectLst/>
                        </a:rPr>
                        <a:t>乘法</a:t>
                      </a:r>
                      <a:endParaRPr lang="en-US" altLang="zh-CN" sz="1600" dirty="0">
                        <a:effectLst/>
                      </a:endParaRPr>
                    </a:p>
                  </a:txBody>
                  <a:tcPr marL="42896" marR="42896" marT="60054" marB="60054" anchor="ctr"/>
                </a:tc>
                <a:tc>
                  <a:txBody>
                    <a:bodyPr/>
                    <a:lstStyle/>
                    <a:p>
                      <a:pPr algn="ctr" fontAlgn="t"/>
                      <a:r>
                        <a:rPr lang="en-US" altLang="zh-CN" sz="1600" dirty="0">
                          <a:effectLst/>
                        </a:rPr>
                        <a:t>10</a:t>
                      </a:r>
                      <a:r>
                        <a:rPr lang="zh-CN" altLang="en-US" sz="1600" dirty="0">
                          <a:effectLst/>
                        </a:rPr>
                        <a:t>*</a:t>
                      </a:r>
                      <a:r>
                        <a:rPr lang="en-US" altLang="zh-CN" sz="1600" dirty="0">
                          <a:effectLst/>
                        </a:rPr>
                        <a:t>20=200</a:t>
                      </a:r>
                    </a:p>
                  </a:txBody>
                  <a:tcPr marL="42896" marR="42896" marT="60054" marB="60054" anchor="ctr"/>
                </a:tc>
                <a:extLst>
                  <a:ext uri="{0D108BD9-81ED-4DB2-BD59-A6C34878D82A}">
                    <a16:rowId xmlns:a16="http://schemas.microsoft.com/office/drawing/2014/main" val="3156814344"/>
                  </a:ext>
                </a:extLst>
              </a:tr>
              <a:tr h="340951">
                <a:tc>
                  <a:txBody>
                    <a:bodyPr/>
                    <a:lstStyle/>
                    <a:p>
                      <a:pPr algn="ctr" fontAlgn="t"/>
                      <a:r>
                        <a:rPr lang="en-US" altLang="zh-CN" sz="1600">
                          <a:effectLst/>
                        </a:rPr>
                        <a:t>/</a:t>
                      </a:r>
                    </a:p>
                  </a:txBody>
                  <a:tcPr marL="42896" marR="42896" marT="60054" marB="60054" anchor="ctr"/>
                </a:tc>
                <a:tc>
                  <a:txBody>
                    <a:bodyPr/>
                    <a:lstStyle/>
                    <a:p>
                      <a:pPr algn="ctr" fontAlgn="t"/>
                      <a:r>
                        <a:rPr lang="zh-CN" altLang="en-US" sz="1600" dirty="0">
                          <a:effectLst/>
                        </a:rPr>
                        <a:t>除法</a:t>
                      </a:r>
                      <a:endParaRPr lang="en-US" sz="1600" dirty="0">
                        <a:effectLst/>
                      </a:endParaRPr>
                    </a:p>
                  </a:txBody>
                  <a:tcPr marL="42896" marR="42896" marT="60054" marB="60054" anchor="ctr"/>
                </a:tc>
                <a:tc>
                  <a:txBody>
                    <a:bodyPr/>
                    <a:lstStyle/>
                    <a:p>
                      <a:pPr algn="ctr" fontAlgn="t"/>
                      <a:r>
                        <a:rPr lang="en-US" altLang="zh-CN" sz="1600" dirty="0">
                          <a:effectLst/>
                        </a:rPr>
                        <a:t>20/10=</a:t>
                      </a:r>
                      <a:r>
                        <a:rPr lang="zh-CN" altLang="en-US" sz="1600" dirty="0">
                          <a:effectLst/>
                        </a:rPr>
                        <a:t> </a:t>
                      </a:r>
                      <a:r>
                        <a:rPr lang="en-US" altLang="zh-CN" sz="1600" dirty="0">
                          <a:effectLst/>
                        </a:rPr>
                        <a:t>2</a:t>
                      </a:r>
                    </a:p>
                  </a:txBody>
                  <a:tcPr marL="42896" marR="42896" marT="60054" marB="60054" anchor="ctr"/>
                </a:tc>
                <a:extLst>
                  <a:ext uri="{0D108BD9-81ED-4DB2-BD59-A6C34878D82A}">
                    <a16:rowId xmlns:a16="http://schemas.microsoft.com/office/drawing/2014/main" val="2485205427"/>
                  </a:ext>
                </a:extLst>
              </a:tr>
              <a:tr h="340951">
                <a:tc>
                  <a:txBody>
                    <a:bodyPr/>
                    <a:lstStyle/>
                    <a:p>
                      <a:pPr algn="ctr" fontAlgn="t"/>
                      <a:r>
                        <a:rPr lang="en-US" altLang="zh-CN" sz="1600">
                          <a:effectLst/>
                        </a:rPr>
                        <a:t>%</a:t>
                      </a:r>
                    </a:p>
                  </a:txBody>
                  <a:tcPr marL="42896" marR="42896" marT="60054" marB="60054" anchor="ctr"/>
                </a:tc>
                <a:tc>
                  <a:txBody>
                    <a:bodyPr/>
                    <a:lstStyle/>
                    <a:p>
                      <a:pPr algn="ctr" fontAlgn="t"/>
                      <a:r>
                        <a:rPr lang="zh-CN" altLang="en-US" sz="1600" dirty="0">
                          <a:effectLst/>
                        </a:rPr>
                        <a:t>取模 （求余数）</a:t>
                      </a:r>
                    </a:p>
                  </a:txBody>
                  <a:tcPr marL="42896" marR="42896" marT="60054" marB="60054" anchor="ctr"/>
                </a:tc>
                <a:tc>
                  <a:txBody>
                    <a:bodyPr/>
                    <a:lstStyle/>
                    <a:p>
                      <a:pPr algn="ctr" fontAlgn="t"/>
                      <a:r>
                        <a:rPr lang="en-US" altLang="zh-CN" sz="1600" dirty="0">
                          <a:effectLst/>
                        </a:rPr>
                        <a:t>20</a:t>
                      </a:r>
                      <a:r>
                        <a:rPr lang="en-US" sz="1600" dirty="0">
                          <a:effectLst/>
                        </a:rPr>
                        <a:t> % </a:t>
                      </a:r>
                      <a:r>
                        <a:rPr lang="en-US" altLang="zh-CN" sz="1600" dirty="0">
                          <a:effectLst/>
                        </a:rPr>
                        <a:t>3</a:t>
                      </a:r>
                      <a:r>
                        <a:rPr lang="en-US" sz="1600" dirty="0">
                          <a:effectLst/>
                        </a:rPr>
                        <a:t> </a:t>
                      </a:r>
                      <a:r>
                        <a:rPr lang="en-US" altLang="zh-CN" sz="1600" dirty="0">
                          <a:effectLst/>
                        </a:rPr>
                        <a:t>= 2</a:t>
                      </a:r>
                    </a:p>
                  </a:txBody>
                  <a:tcPr marL="42896" marR="42896" marT="60054" marB="60054" anchor="ctr"/>
                </a:tc>
                <a:extLst>
                  <a:ext uri="{0D108BD9-81ED-4DB2-BD59-A6C34878D82A}">
                    <a16:rowId xmlns:a16="http://schemas.microsoft.com/office/drawing/2014/main" val="2231957123"/>
                  </a:ext>
                </a:extLst>
              </a:tr>
              <a:tr h="388209">
                <a:tc>
                  <a:txBody>
                    <a:bodyPr/>
                    <a:lstStyle/>
                    <a:p>
                      <a:pPr algn="ctr" fontAlgn="t"/>
                      <a:r>
                        <a:rPr lang="en-US" altLang="zh-CN" sz="1600" dirty="0">
                          <a:effectLst/>
                        </a:rPr>
                        <a:t>//</a:t>
                      </a:r>
                    </a:p>
                  </a:txBody>
                  <a:tcPr marL="42896" marR="42896" marT="60054" marB="60054" anchor="ctr"/>
                </a:tc>
                <a:tc>
                  <a:txBody>
                    <a:bodyPr/>
                    <a:lstStyle/>
                    <a:p>
                      <a:pPr algn="ctr" fontAlgn="t"/>
                      <a:r>
                        <a:rPr lang="zh-CN" altLang="en-US" sz="1600" dirty="0">
                          <a:effectLst/>
                        </a:rPr>
                        <a:t>整除 （向下取整）</a:t>
                      </a:r>
                    </a:p>
                  </a:txBody>
                  <a:tcPr marL="42896" marR="42896" marT="60054" marB="60054" anchor="ctr"/>
                </a:tc>
                <a:tc>
                  <a:txBody>
                    <a:bodyPr/>
                    <a:lstStyle/>
                    <a:p>
                      <a:pPr algn="ctr" fontAlgn="t"/>
                      <a:r>
                        <a:rPr lang="en-US" altLang="zh-CN" sz="1600" dirty="0">
                          <a:effectLst/>
                        </a:rPr>
                        <a:t>-9//2 = -5</a:t>
                      </a:r>
                    </a:p>
                  </a:txBody>
                  <a:tcPr marL="42896" marR="42896" marT="60054" marB="60054" anchor="ctr"/>
                </a:tc>
                <a:extLst>
                  <a:ext uri="{0D108BD9-81ED-4DB2-BD59-A6C34878D82A}">
                    <a16:rowId xmlns:a16="http://schemas.microsoft.com/office/drawing/2014/main" val="3750491342"/>
                  </a:ext>
                </a:extLst>
              </a:tr>
              <a:tr h="369505">
                <a:tc>
                  <a:txBody>
                    <a:bodyPr/>
                    <a:lstStyle/>
                    <a:p>
                      <a:pPr algn="ctr" fontAlgn="t"/>
                      <a:r>
                        <a:rPr lang="zh-CN" altLang="en-US" sz="1600" dirty="0">
                          <a:effectLst/>
                        </a:rPr>
                        <a:t>**</a:t>
                      </a:r>
                    </a:p>
                  </a:txBody>
                  <a:tcPr marL="42896" marR="42896" marT="60054" marB="60054" anchor="ctr"/>
                </a:tc>
                <a:tc>
                  <a:txBody>
                    <a:bodyPr/>
                    <a:lstStyle/>
                    <a:p>
                      <a:pPr algn="ctr" fontAlgn="t"/>
                      <a:r>
                        <a:rPr lang="en-US" altLang="zh-CN" sz="1600" dirty="0">
                          <a:effectLst/>
                        </a:rPr>
                        <a:t>x**y </a:t>
                      </a:r>
                      <a:r>
                        <a:rPr lang="zh-CN" altLang="en-US" sz="1600" dirty="0">
                          <a:effectLst/>
                        </a:rPr>
                        <a:t>（幂运算：</a:t>
                      </a:r>
                      <a:r>
                        <a:rPr lang="en-US" altLang="zh-CN" sz="1800" baseline="0" dirty="0" err="1">
                          <a:effectLst/>
                        </a:rPr>
                        <a:t>x</a:t>
                      </a:r>
                      <a:r>
                        <a:rPr lang="en-US" altLang="zh-CN" sz="1800" baseline="30000" dirty="0" err="1">
                          <a:effectLst/>
                        </a:rPr>
                        <a:t>y</a:t>
                      </a:r>
                      <a:r>
                        <a:rPr lang="zh-CN" altLang="en-US" sz="1600" dirty="0">
                          <a:effectLst/>
                        </a:rPr>
                        <a:t>）</a:t>
                      </a:r>
                    </a:p>
                  </a:txBody>
                  <a:tcPr marL="42896" marR="42896" marT="60054" marB="60054" anchor="ctr"/>
                </a:tc>
                <a:tc>
                  <a:txBody>
                    <a:bodyPr/>
                    <a:lstStyle/>
                    <a:p>
                      <a:pPr algn="ctr" fontAlgn="t"/>
                      <a:r>
                        <a:rPr lang="en-US" altLang="zh-CN" sz="1600" dirty="0">
                          <a:effectLst/>
                          <a:latin typeface="华文中宋" panose="02010600040101010101" pitchFamily="2" charset="-122"/>
                          <a:ea typeface="华文中宋" panose="02010600040101010101" pitchFamily="2" charset="-122"/>
                        </a:rPr>
                        <a:t>5</a:t>
                      </a:r>
                      <a:r>
                        <a:rPr lang="en-US" sz="1600" dirty="0">
                          <a:effectLst/>
                          <a:latin typeface="华文中宋" panose="02010600040101010101" pitchFamily="2" charset="-122"/>
                          <a:ea typeface="华文中宋" panose="02010600040101010101" pitchFamily="2" charset="-122"/>
                        </a:rPr>
                        <a:t>**</a:t>
                      </a:r>
                      <a:r>
                        <a:rPr lang="en-US" altLang="zh-CN" sz="1600" dirty="0">
                          <a:effectLst/>
                          <a:latin typeface="华文中宋" panose="02010600040101010101" pitchFamily="2" charset="-122"/>
                          <a:ea typeface="华文中宋" panose="02010600040101010101" pitchFamily="2" charset="-122"/>
                        </a:rPr>
                        <a:t>2</a:t>
                      </a:r>
                      <a:r>
                        <a:rPr lang="en-US" sz="1600" dirty="0">
                          <a:effectLst/>
                          <a:latin typeface="华文中宋" panose="02010600040101010101" pitchFamily="2" charset="-122"/>
                          <a:ea typeface="华文中宋" panose="02010600040101010101" pitchFamily="2" charset="-122"/>
                        </a:rPr>
                        <a:t> </a:t>
                      </a:r>
                      <a:r>
                        <a:rPr lang="zh-CN" altLang="en-US" sz="1600" dirty="0">
                          <a:effectLst/>
                          <a:latin typeface="华文中宋" panose="02010600040101010101" pitchFamily="2" charset="-122"/>
                          <a:ea typeface="华文中宋" panose="02010600040101010101" pitchFamily="2" charset="-122"/>
                        </a:rPr>
                        <a:t>表示</a:t>
                      </a:r>
                      <a:r>
                        <a:rPr lang="en-US" altLang="zh-CN" sz="1600" dirty="0">
                          <a:effectLst/>
                          <a:latin typeface="华文中宋" panose="02010600040101010101" pitchFamily="2" charset="-122"/>
                          <a:ea typeface="华文中宋" panose="02010600040101010101" pitchFamily="2" charset="-122"/>
                        </a:rPr>
                        <a:t>5</a:t>
                      </a:r>
                      <a:r>
                        <a:rPr lang="en-US" altLang="zh-CN" sz="1600" baseline="30000" dirty="0">
                          <a:effectLst/>
                          <a:latin typeface="华文中宋" panose="02010600040101010101" pitchFamily="2" charset="-122"/>
                          <a:ea typeface="华文中宋" panose="02010600040101010101" pitchFamily="2" charset="-122"/>
                        </a:rPr>
                        <a:t>2</a:t>
                      </a:r>
                    </a:p>
                  </a:txBody>
                  <a:tcPr marL="42896" marR="42896" marT="60054" marB="60054" anchor="ctr"/>
                </a:tc>
                <a:extLst>
                  <a:ext uri="{0D108BD9-81ED-4DB2-BD59-A6C34878D82A}">
                    <a16:rowId xmlns:a16="http://schemas.microsoft.com/office/drawing/2014/main" val="3597881232"/>
                  </a:ext>
                </a:extLst>
              </a:tr>
              <a:tr h="370358">
                <a:tc>
                  <a:txBody>
                    <a:bodyPr/>
                    <a:lstStyle/>
                    <a:p>
                      <a:pPr algn="ctr" fontAlgn="t"/>
                      <a:r>
                        <a:rPr lang="en-US" altLang="zh-CN" sz="1600" dirty="0">
                          <a:effectLst/>
                        </a:rPr>
                        <a:t>+</a:t>
                      </a:r>
                      <a:r>
                        <a:rPr lang="zh-CN" altLang="en-US" sz="1600" dirty="0">
                          <a:effectLst/>
                        </a:rPr>
                        <a:t>、</a:t>
                      </a:r>
                      <a:r>
                        <a:rPr lang="en-US" altLang="zh-CN" sz="1600" dirty="0">
                          <a:effectLst/>
                        </a:rPr>
                        <a:t> -</a:t>
                      </a:r>
                      <a:endParaRPr lang="zh-CN" altLang="en-US" sz="1600" dirty="0">
                        <a:effectLst/>
                      </a:endParaRPr>
                    </a:p>
                  </a:txBody>
                  <a:tcPr marL="42896" marR="42896" marT="60054" marB="60054" anchor="ctr"/>
                </a:tc>
                <a:tc>
                  <a:txBody>
                    <a:bodyPr/>
                    <a:lstStyle/>
                    <a:p>
                      <a:pPr algn="ctr" fontAlgn="t"/>
                      <a:r>
                        <a:rPr lang="zh-CN" altLang="en-US" sz="1600" dirty="0">
                          <a:effectLst/>
                        </a:rPr>
                        <a:t>表示正负</a:t>
                      </a:r>
                    </a:p>
                  </a:txBody>
                  <a:tcPr marL="42896" marR="42896" marT="60054" marB="60054" anchor="ctr"/>
                </a:tc>
                <a:tc>
                  <a:txBody>
                    <a:bodyPr/>
                    <a:lstStyle/>
                    <a:p>
                      <a:pPr algn="ctr" fontAlgn="t"/>
                      <a:r>
                        <a:rPr lang="en-US" altLang="zh-CN" sz="1600" dirty="0">
                          <a:effectLst/>
                        </a:rPr>
                        <a:t>-a</a:t>
                      </a:r>
                      <a:endParaRPr lang="en-US" altLang="zh-CN" sz="1600" dirty="0">
                        <a:effectLst/>
                        <a:latin typeface="黑体" panose="02010609060101010101" pitchFamily="49" charset="-122"/>
                        <a:ea typeface="黑体" panose="02010609060101010101" pitchFamily="49" charset="-122"/>
                      </a:endParaRPr>
                    </a:p>
                  </a:txBody>
                  <a:tcPr marL="42896" marR="42896" marT="60054" marB="60054" anchor="ctr"/>
                </a:tc>
                <a:extLst>
                  <a:ext uri="{0D108BD9-81ED-4DB2-BD59-A6C34878D82A}">
                    <a16:rowId xmlns:a16="http://schemas.microsoft.com/office/drawing/2014/main" val="2288524943"/>
                  </a:ext>
                </a:extLst>
              </a:tr>
            </a:tbl>
          </a:graphicData>
        </a:graphic>
      </p:graphicFrame>
      <p:pic>
        <p:nvPicPr>
          <p:cNvPr id="4" name="图片 3"/>
          <p:cNvPicPr>
            <a:picLocks noChangeAspect="1"/>
          </p:cNvPicPr>
          <p:nvPr/>
        </p:nvPicPr>
        <p:blipFill>
          <a:blip r:embed="rId2"/>
          <a:stretch>
            <a:fillRect/>
          </a:stretch>
        </p:blipFill>
        <p:spPr>
          <a:xfrm>
            <a:off x="5898408" y="1851670"/>
            <a:ext cx="3095625" cy="2095500"/>
          </a:xfrm>
          <a:prstGeom prst="rect">
            <a:avLst/>
          </a:prstGeom>
        </p:spPr>
      </p:pic>
      <p:pic>
        <p:nvPicPr>
          <p:cNvPr id="5" name="图片 4"/>
          <p:cNvPicPr>
            <a:picLocks noChangeAspect="1"/>
          </p:cNvPicPr>
          <p:nvPr/>
        </p:nvPicPr>
        <p:blipFill>
          <a:blip r:embed="rId3"/>
          <a:stretch>
            <a:fillRect/>
          </a:stretch>
        </p:blipFill>
        <p:spPr>
          <a:xfrm>
            <a:off x="5898408" y="4083918"/>
            <a:ext cx="2736304" cy="555877"/>
          </a:xfrm>
          <a:prstGeom prst="rect">
            <a:avLst/>
          </a:prstGeom>
        </p:spPr>
      </p:pic>
    </p:spTree>
    <p:extLst>
      <p:ext uri="{BB962C8B-B14F-4D97-AF65-F5344CB8AC3E}">
        <p14:creationId xmlns:p14="http://schemas.microsoft.com/office/powerpoint/2010/main" val="7981643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F8EC6A5-DC15-40C9-B789-DFC2DB820634}"/>
              </a:ext>
            </a:extLst>
          </p:cNvPr>
          <p:cNvSpPr>
            <a:spLocks noGrp="1"/>
          </p:cNvSpPr>
          <p:nvPr>
            <p:ph type="sldNum" sz="quarter" idx="4294967295"/>
          </p:nvPr>
        </p:nvSpPr>
        <p:spPr/>
        <p:txBody>
          <a:bodyPr/>
          <a:lstStyle/>
          <a:p>
            <a:pPr>
              <a:defRPr/>
            </a:pPr>
            <a:fld id="{42D78CFB-3E4E-450F-81D6-18CCF5CF71D1}" type="slidenum">
              <a:rPr lang="en-US" altLang="zh-CN" smtClean="0"/>
              <a:pPr>
                <a:defRPr/>
              </a:pPr>
              <a:t>13</a:t>
            </a:fld>
            <a:endParaRPr lang="en-US" altLang="zh-CN"/>
          </a:p>
        </p:txBody>
      </p:sp>
      <p:sp>
        <p:nvSpPr>
          <p:cNvPr id="5" name="文本框 4">
            <a:extLst>
              <a:ext uri="{FF2B5EF4-FFF2-40B4-BE49-F238E27FC236}">
                <a16:creationId xmlns:a16="http://schemas.microsoft.com/office/drawing/2014/main" id="{E62C2BC0-56A5-4E4E-ABFA-3CA812AE6956}"/>
              </a:ext>
            </a:extLst>
          </p:cNvPr>
          <p:cNvSpPr txBox="1"/>
          <p:nvPr/>
        </p:nvSpPr>
        <p:spPr>
          <a:xfrm>
            <a:off x="827584" y="1707654"/>
            <a:ext cx="3024336" cy="2862322"/>
          </a:xfrm>
          <a:prstGeom prst="rect">
            <a:avLst/>
          </a:prstGeom>
          <a:solidFill>
            <a:schemeClr val="accent5">
              <a:lumMod val="60000"/>
              <a:lumOff val="40000"/>
            </a:schemeClr>
          </a:solidFill>
        </p:spPr>
        <p:txBody>
          <a:bodyPr wrap="square" rtlCol="0">
            <a:spAutoFit/>
          </a:bodyPr>
          <a:lstStyle/>
          <a:p>
            <a:r>
              <a:rPr lang="zh-CN" altLang="en-US" dirty="0">
                <a:latin typeface="+mn-ea"/>
                <a:ea typeface="+mn-ea"/>
              </a:rPr>
              <a:t>方法一</a:t>
            </a:r>
            <a:endParaRPr lang="en-US" altLang="zh-CN" dirty="0">
              <a:latin typeface="+mn-ea"/>
              <a:ea typeface="+mn-ea"/>
            </a:endParaRPr>
          </a:p>
          <a:p>
            <a:r>
              <a:rPr lang="en-US" altLang="zh-CN" dirty="0">
                <a:latin typeface="+mn-ea"/>
                <a:ea typeface="+mn-ea"/>
              </a:rPr>
              <a:t>y=0</a:t>
            </a:r>
          </a:p>
          <a:p>
            <a:r>
              <a:rPr lang="en-US" altLang="zh-CN" dirty="0">
                <a:latin typeface="+mn-ea"/>
                <a:ea typeface="+mn-ea"/>
              </a:rPr>
              <a:t>x= int(input("</a:t>
            </a:r>
            <a:r>
              <a:rPr lang="zh-CN" altLang="en-US" dirty="0">
                <a:latin typeface="+mn-ea"/>
                <a:ea typeface="+mn-ea"/>
              </a:rPr>
              <a:t>请</a:t>
            </a:r>
            <a:r>
              <a:rPr lang="en-US" altLang="zh-CN" dirty="0">
                <a:latin typeface="+mn-ea"/>
                <a:ea typeface="+mn-ea"/>
              </a:rPr>
              <a:t>x</a:t>
            </a:r>
            <a:r>
              <a:rPr lang="zh-CN" altLang="en-US" dirty="0">
                <a:latin typeface="+mn-ea"/>
                <a:ea typeface="+mn-ea"/>
              </a:rPr>
              <a:t>的值：</a:t>
            </a:r>
            <a:r>
              <a:rPr lang="en-US" altLang="zh-CN" dirty="0">
                <a:latin typeface="+mn-ea"/>
                <a:ea typeface="+mn-ea"/>
              </a:rPr>
              <a:t>"))</a:t>
            </a:r>
          </a:p>
          <a:p>
            <a:r>
              <a:rPr lang="en-US" altLang="zh-CN" dirty="0">
                <a:latin typeface="+mn-ea"/>
                <a:ea typeface="+mn-ea"/>
              </a:rPr>
              <a:t>z=x%10         #</a:t>
            </a:r>
            <a:r>
              <a:rPr lang="zh-CN" altLang="en-US" dirty="0">
                <a:latin typeface="+mn-ea"/>
                <a:ea typeface="+mn-ea"/>
              </a:rPr>
              <a:t>个位数字</a:t>
            </a:r>
            <a:endParaRPr lang="en-US" altLang="zh-CN" dirty="0">
              <a:latin typeface="+mn-ea"/>
              <a:ea typeface="+mn-ea"/>
            </a:endParaRPr>
          </a:p>
          <a:p>
            <a:r>
              <a:rPr lang="en-US" altLang="zh-CN" dirty="0">
                <a:latin typeface="+mn-ea"/>
                <a:ea typeface="+mn-ea"/>
              </a:rPr>
              <a:t>y=y*10+z</a:t>
            </a:r>
          </a:p>
          <a:p>
            <a:r>
              <a:rPr lang="en-US" altLang="zh-CN" dirty="0">
                <a:latin typeface="+mn-ea"/>
                <a:ea typeface="+mn-ea"/>
              </a:rPr>
              <a:t>z=x//10%10   #</a:t>
            </a:r>
            <a:r>
              <a:rPr lang="zh-CN" altLang="en-US" dirty="0">
                <a:latin typeface="+mn-ea"/>
                <a:ea typeface="+mn-ea"/>
              </a:rPr>
              <a:t>十位数字</a:t>
            </a:r>
            <a:endParaRPr lang="en-US" altLang="zh-CN" dirty="0">
              <a:latin typeface="+mn-ea"/>
              <a:ea typeface="+mn-ea"/>
            </a:endParaRPr>
          </a:p>
          <a:p>
            <a:r>
              <a:rPr lang="en-US" altLang="zh-CN" dirty="0">
                <a:latin typeface="+mn-ea"/>
                <a:ea typeface="+mn-ea"/>
              </a:rPr>
              <a:t>y=y*10+z</a:t>
            </a:r>
          </a:p>
          <a:p>
            <a:r>
              <a:rPr lang="en-US" altLang="zh-CN" dirty="0">
                <a:latin typeface="+mn-ea"/>
                <a:ea typeface="+mn-ea"/>
              </a:rPr>
              <a:t>z=x//100	       #</a:t>
            </a:r>
            <a:r>
              <a:rPr lang="zh-CN" altLang="en-US" dirty="0">
                <a:latin typeface="+mn-ea"/>
                <a:ea typeface="+mn-ea"/>
              </a:rPr>
              <a:t>百位数字</a:t>
            </a:r>
            <a:endParaRPr lang="en-US" altLang="zh-CN" dirty="0">
              <a:latin typeface="+mn-ea"/>
              <a:ea typeface="+mn-ea"/>
            </a:endParaRPr>
          </a:p>
          <a:p>
            <a:r>
              <a:rPr lang="en-US" altLang="zh-CN" dirty="0">
                <a:latin typeface="+mn-ea"/>
                <a:ea typeface="+mn-ea"/>
              </a:rPr>
              <a:t>y=y*10+z	</a:t>
            </a:r>
          </a:p>
          <a:p>
            <a:r>
              <a:rPr lang="en-US" altLang="zh-CN" dirty="0">
                <a:latin typeface="+mn-ea"/>
                <a:ea typeface="+mn-ea"/>
              </a:rPr>
              <a:t>print(y)</a:t>
            </a:r>
            <a:endParaRPr lang="zh-CN" altLang="en-US" dirty="0">
              <a:latin typeface="+mn-ea"/>
              <a:ea typeface="+mn-ea"/>
            </a:endParaRPr>
          </a:p>
        </p:txBody>
      </p:sp>
      <p:sp>
        <p:nvSpPr>
          <p:cNvPr id="6" name="AutoShape 44">
            <a:extLst>
              <a:ext uri="{FF2B5EF4-FFF2-40B4-BE49-F238E27FC236}">
                <a16:creationId xmlns:a16="http://schemas.microsoft.com/office/drawing/2014/main" id="{8A09C29D-4D6E-4FEC-AA6A-F7EB6FB14819}"/>
              </a:ext>
            </a:extLst>
          </p:cNvPr>
          <p:cNvSpPr>
            <a:spLocks noGrp="1" noChangeArrowheads="1"/>
          </p:cNvSpPr>
          <p:nvPr>
            <p:ph idx="1"/>
          </p:nvPr>
        </p:nvSpPr>
        <p:spPr bwMode="gray">
          <a:xfrm>
            <a:off x="827584" y="411510"/>
            <a:ext cx="6984776" cy="1224135"/>
          </a:xfrm>
          <a:prstGeom prst="roundRect">
            <a:avLst>
              <a:gd name="adj" fmla="val 8014"/>
            </a:avLst>
          </a:prstGeom>
          <a:noFill/>
          <a:ln w="9525">
            <a:noFill/>
            <a:round/>
            <a:headEnd/>
            <a:tailEnd/>
          </a:ln>
        </p:spPr>
        <p:txBody>
          <a:bodyPr wrap="none" anchor="ctr"/>
          <a:lstStyle/>
          <a:p>
            <a:pPr marL="0" indent="0">
              <a:lnSpc>
                <a:spcPct val="100000"/>
              </a:lnSpc>
              <a:spcBef>
                <a:spcPts val="600"/>
              </a:spcBef>
              <a:buNone/>
            </a:pPr>
            <a:r>
              <a:rPr lang="zh-CN" altLang="en-US" b="0" dirty="0">
                <a:solidFill>
                  <a:srgbClr val="C00000"/>
                </a:solidFill>
                <a:latin typeface="Courier New" pitchFamily="49" charset="0"/>
                <a:ea typeface="微软雅黑" pitchFamily="34" charset="-122"/>
                <a:cs typeface="Courier New" pitchFamily="49" charset="0"/>
              </a:rPr>
              <a:t>思考：</a:t>
            </a:r>
            <a:r>
              <a:rPr lang="zh-CN" altLang="zh-CN" sz="2000" b="0" dirty="0">
                <a:solidFill>
                  <a:schemeClr val="tx1"/>
                </a:solidFill>
              </a:rPr>
              <a:t>如何将一个三位</a:t>
            </a:r>
            <a:r>
              <a:rPr lang="zh-CN" altLang="en-US" sz="2000" b="0" dirty="0">
                <a:solidFill>
                  <a:schemeClr val="tx1"/>
                </a:solidFill>
              </a:rPr>
              <a:t>整</a:t>
            </a:r>
            <a:r>
              <a:rPr lang="zh-CN" altLang="zh-CN" sz="2000" b="0" dirty="0">
                <a:solidFill>
                  <a:schemeClr val="tx1"/>
                </a:solidFill>
              </a:rPr>
              <a:t>数</a:t>
            </a:r>
            <a:r>
              <a:rPr lang="zh-CN" altLang="en-US" sz="2000" b="0" dirty="0">
                <a:solidFill>
                  <a:schemeClr val="tx1"/>
                </a:solidFill>
              </a:rPr>
              <a:t>逆序输出？</a:t>
            </a:r>
            <a:endParaRPr lang="en-US" altLang="zh-CN" sz="2000" b="0" dirty="0">
              <a:solidFill>
                <a:schemeClr val="tx1"/>
              </a:solidFill>
            </a:endParaRPr>
          </a:p>
          <a:p>
            <a:pPr marL="0" indent="0">
              <a:lnSpc>
                <a:spcPct val="100000"/>
              </a:lnSpc>
              <a:spcBef>
                <a:spcPts val="600"/>
              </a:spcBef>
              <a:buNone/>
            </a:pPr>
            <a:r>
              <a:rPr lang="en-US" altLang="zh-CN" sz="2000" b="0" dirty="0">
                <a:solidFill>
                  <a:schemeClr val="tx1"/>
                </a:solidFill>
              </a:rPr>
              <a:t>            </a:t>
            </a:r>
            <a:r>
              <a:rPr lang="zh-CN" altLang="zh-CN" sz="2000" b="0" dirty="0">
                <a:solidFill>
                  <a:schemeClr val="tx1"/>
                </a:solidFill>
              </a:rPr>
              <a:t>例如</a:t>
            </a:r>
            <a:r>
              <a:rPr lang="en-US" altLang="zh-CN" sz="2000" b="0" dirty="0">
                <a:solidFill>
                  <a:schemeClr val="tx1"/>
                </a:solidFill>
              </a:rPr>
              <a:t>n=345</a:t>
            </a:r>
            <a:r>
              <a:rPr lang="zh-CN" altLang="zh-CN" sz="2000" b="0" dirty="0">
                <a:solidFill>
                  <a:schemeClr val="tx1"/>
                </a:solidFill>
              </a:rPr>
              <a:t>，倒置后为</a:t>
            </a:r>
            <a:r>
              <a:rPr lang="en-US" altLang="zh-CN" sz="2000" b="0" dirty="0">
                <a:solidFill>
                  <a:schemeClr val="tx1"/>
                </a:solidFill>
              </a:rPr>
              <a:t>543</a:t>
            </a:r>
            <a:endParaRPr lang="zh-CN" altLang="en-US" sz="1800" b="0" dirty="0">
              <a:solidFill>
                <a:schemeClr val="tx1"/>
              </a:solidFill>
              <a:latin typeface="Courier New" pitchFamily="49" charset="0"/>
              <a:cs typeface="Courier New" pitchFamily="49" charset="0"/>
            </a:endParaRPr>
          </a:p>
        </p:txBody>
      </p:sp>
      <p:sp>
        <p:nvSpPr>
          <p:cNvPr id="7" name="文本框 6">
            <a:extLst>
              <a:ext uri="{FF2B5EF4-FFF2-40B4-BE49-F238E27FC236}">
                <a16:creationId xmlns:a16="http://schemas.microsoft.com/office/drawing/2014/main" id="{E62C2BC0-56A5-4E4E-ABFA-3CA812AE6956}"/>
              </a:ext>
            </a:extLst>
          </p:cNvPr>
          <p:cNvSpPr txBox="1"/>
          <p:nvPr/>
        </p:nvSpPr>
        <p:spPr>
          <a:xfrm>
            <a:off x="4499992" y="1711017"/>
            <a:ext cx="3024336" cy="2031325"/>
          </a:xfrm>
          <a:prstGeom prst="rect">
            <a:avLst/>
          </a:prstGeom>
          <a:solidFill>
            <a:schemeClr val="accent5">
              <a:lumMod val="60000"/>
              <a:lumOff val="40000"/>
            </a:schemeClr>
          </a:solidFill>
        </p:spPr>
        <p:txBody>
          <a:bodyPr wrap="square" rtlCol="0">
            <a:spAutoFit/>
          </a:bodyPr>
          <a:lstStyle/>
          <a:p>
            <a:r>
              <a:rPr lang="zh-CN" altLang="en-US" dirty="0">
                <a:latin typeface="+mn-ea"/>
                <a:ea typeface="+mn-ea"/>
              </a:rPr>
              <a:t>方法二</a:t>
            </a:r>
            <a:endParaRPr lang="en-US" altLang="zh-CN" dirty="0">
              <a:latin typeface="+mn-ea"/>
              <a:ea typeface="+mn-ea"/>
            </a:endParaRPr>
          </a:p>
          <a:p>
            <a:r>
              <a:rPr lang="en-US" altLang="zh-CN" dirty="0">
                <a:latin typeface="+mn-ea"/>
                <a:ea typeface="+mn-ea"/>
              </a:rPr>
              <a:t>x= </a:t>
            </a:r>
            <a:r>
              <a:rPr lang="en-US" altLang="zh-CN" dirty="0" err="1">
                <a:latin typeface="+mn-ea"/>
                <a:ea typeface="+mn-ea"/>
              </a:rPr>
              <a:t>int</a:t>
            </a:r>
            <a:r>
              <a:rPr lang="en-US" altLang="zh-CN" dirty="0">
                <a:latin typeface="+mn-ea"/>
                <a:ea typeface="+mn-ea"/>
              </a:rPr>
              <a:t>(input("</a:t>
            </a:r>
            <a:r>
              <a:rPr lang="zh-CN" altLang="en-US" dirty="0">
                <a:latin typeface="+mn-ea"/>
                <a:ea typeface="+mn-ea"/>
              </a:rPr>
              <a:t>请</a:t>
            </a:r>
            <a:r>
              <a:rPr lang="en-US" altLang="zh-CN" dirty="0">
                <a:latin typeface="+mn-ea"/>
                <a:ea typeface="+mn-ea"/>
              </a:rPr>
              <a:t>x</a:t>
            </a:r>
            <a:r>
              <a:rPr lang="zh-CN" altLang="en-US" dirty="0">
                <a:latin typeface="+mn-ea"/>
                <a:ea typeface="+mn-ea"/>
              </a:rPr>
              <a:t>的值：</a:t>
            </a:r>
            <a:r>
              <a:rPr lang="en-US" altLang="zh-CN" dirty="0">
                <a:latin typeface="+mn-ea"/>
                <a:ea typeface="+mn-ea"/>
              </a:rPr>
              <a:t>"))</a:t>
            </a:r>
          </a:p>
          <a:p>
            <a:r>
              <a:rPr lang="en-US" altLang="zh-CN" dirty="0">
                <a:latin typeface="+mn-ea"/>
                <a:ea typeface="+mn-ea"/>
              </a:rPr>
              <a:t>a=x%10      #</a:t>
            </a:r>
            <a:r>
              <a:rPr lang="zh-CN" altLang="en-US" dirty="0">
                <a:latin typeface="+mn-ea"/>
                <a:ea typeface="+mn-ea"/>
              </a:rPr>
              <a:t>个位数字</a:t>
            </a:r>
          </a:p>
          <a:p>
            <a:r>
              <a:rPr lang="en-US" altLang="zh-CN" dirty="0">
                <a:latin typeface="+mn-ea"/>
                <a:ea typeface="+mn-ea"/>
              </a:rPr>
              <a:t>b=x//10%10  #</a:t>
            </a:r>
            <a:r>
              <a:rPr lang="zh-CN" altLang="en-US" dirty="0">
                <a:latin typeface="+mn-ea"/>
                <a:ea typeface="+mn-ea"/>
              </a:rPr>
              <a:t>十位数字</a:t>
            </a:r>
          </a:p>
          <a:p>
            <a:r>
              <a:rPr lang="en-US" altLang="zh-CN" dirty="0">
                <a:latin typeface="+mn-ea"/>
                <a:ea typeface="+mn-ea"/>
              </a:rPr>
              <a:t>c=x//100    #</a:t>
            </a:r>
            <a:r>
              <a:rPr lang="zh-CN" altLang="en-US" dirty="0">
                <a:latin typeface="+mn-ea"/>
                <a:ea typeface="+mn-ea"/>
              </a:rPr>
              <a:t>百位数字	</a:t>
            </a:r>
          </a:p>
          <a:p>
            <a:r>
              <a:rPr lang="en-US" altLang="zh-CN" dirty="0">
                <a:latin typeface="+mn-ea"/>
                <a:ea typeface="+mn-ea"/>
              </a:rPr>
              <a:t>y=a*100+b*10+c	</a:t>
            </a:r>
          </a:p>
          <a:p>
            <a:r>
              <a:rPr lang="en-US" altLang="zh-CN" dirty="0">
                <a:latin typeface="+mn-ea"/>
                <a:ea typeface="+mn-ea"/>
              </a:rPr>
              <a:t>print(y)</a:t>
            </a:r>
            <a:endParaRPr lang="zh-CN" altLang="en-US" dirty="0">
              <a:latin typeface="+mn-ea"/>
              <a:ea typeface="+mn-ea"/>
            </a:endParaRPr>
          </a:p>
        </p:txBody>
      </p:sp>
    </p:spTree>
    <p:extLst>
      <p:ext uri="{BB962C8B-B14F-4D97-AF65-F5344CB8AC3E}">
        <p14:creationId xmlns:p14="http://schemas.microsoft.com/office/powerpoint/2010/main" val="55482250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a:xfrm>
            <a:off x="755576" y="555526"/>
            <a:ext cx="5829300" cy="5940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b" anchorCtr="0" compatLnSpc="1">
            <a:prstTxWarp prst="textNoShape">
              <a:avLst/>
            </a:prstTxWarp>
          </a:bodyPr>
          <a:lstStyle/>
          <a:p>
            <a:pPr algn="l"/>
            <a:r>
              <a:rPr lang="zh-CN" altLang="en-US" sz="2800" dirty="0">
                <a:solidFill>
                  <a:srgbClr val="0070C0"/>
                </a:solidFill>
              </a:rPr>
              <a:t>关于浮点数的运算精度</a:t>
            </a:r>
          </a:p>
        </p:txBody>
      </p:sp>
      <p:sp>
        <p:nvSpPr>
          <p:cNvPr id="9" name="内容占位符 2"/>
          <p:cNvSpPr txBox="1">
            <a:spLocks/>
          </p:cNvSpPr>
          <p:nvPr/>
        </p:nvSpPr>
        <p:spPr bwMode="auto">
          <a:xfrm>
            <a:off x="755576" y="1200910"/>
            <a:ext cx="3168352" cy="3600400"/>
          </a:xfrm>
          <a:prstGeom prst="rect">
            <a:avLst/>
          </a:prstGeom>
          <a:ln/>
        </p:spPr>
        <p:style>
          <a:lnRef idx="2">
            <a:schemeClr val="accent5"/>
          </a:lnRef>
          <a:fillRef idx="1">
            <a:schemeClr val="lt1"/>
          </a:fillRef>
          <a:effectRef idx="0">
            <a:schemeClr val="accent5"/>
          </a:effectRef>
          <a:fontRef idx="minor">
            <a:schemeClr val="dk1"/>
          </a:fontRef>
        </p:style>
        <p:txBody>
          <a:bodyPr vert="horz" wrap="square" lIns="68580" tIns="34290" rIns="68580" bIns="34290" numCol="1" anchor="t" anchorCtr="0" compatLnSpc="1">
            <a:prstTxWarp prst="textNoShape">
              <a:avLst/>
            </a:prstTxWarp>
          </a:bodyPr>
          <a:lstStyle>
            <a:lvl1pPr marL="411163" indent="-342900" algn="l" rtl="0" eaLnBrk="0" fontAlgn="base" hangingPunct="0">
              <a:spcBef>
                <a:spcPts val="700"/>
              </a:spcBef>
              <a:spcAft>
                <a:spcPct val="0"/>
              </a:spcAft>
              <a:buClr>
                <a:schemeClr val="tx2"/>
              </a:buClr>
              <a:buSzPct val="95000"/>
              <a:buFont typeface="Wingdings"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a:lstStyle>
          <a:p>
            <a:pPr algn="just" eaLnBrk="1" hangingPunct="1">
              <a:buFont typeface="Wingdings" panose="05000000000000000000" pitchFamily="2" charset="2"/>
              <a:buChar char="u"/>
            </a:pPr>
            <a:r>
              <a:rPr lang="zh-CN" altLang="en-US" sz="1800" dirty="0"/>
              <a:t>整数运算，结果精确</a:t>
            </a:r>
            <a:r>
              <a:rPr lang="zh-CN" altLang="en-US" sz="1800" dirty="0">
                <a:solidFill>
                  <a:srgbClr val="FFFF00"/>
                </a:solidFill>
              </a:rPr>
              <a:t> </a:t>
            </a:r>
            <a:endParaRPr lang="en-US" altLang="zh-CN" sz="1800" dirty="0">
              <a:solidFill>
                <a:srgbClr val="FFFF00"/>
              </a:solidFill>
            </a:endParaRPr>
          </a:p>
          <a:p>
            <a:pPr algn="just" eaLnBrk="1" hangingPunct="1">
              <a:buFontTx/>
              <a:buNone/>
            </a:pPr>
            <a:r>
              <a:rPr lang="en-US" altLang="zh-CN" sz="1800" dirty="0"/>
              <a:t>&gt;&gt;&gt;14-5</a:t>
            </a:r>
          </a:p>
          <a:p>
            <a:pPr algn="just" eaLnBrk="1" hangingPunct="1">
              <a:buFontTx/>
              <a:buNone/>
            </a:pPr>
            <a:r>
              <a:rPr lang="en-US" altLang="zh-CN" sz="1800" dirty="0"/>
              <a:t>9</a:t>
            </a:r>
          </a:p>
          <a:p>
            <a:pPr algn="just" eaLnBrk="1" hangingPunct="1">
              <a:buFont typeface="Wingdings" panose="05000000000000000000" pitchFamily="2" charset="2"/>
              <a:buChar char="u"/>
            </a:pPr>
            <a:r>
              <a:rPr lang="zh-CN" altLang="en-US" sz="1800" dirty="0">
                <a:solidFill>
                  <a:srgbClr val="FF0000"/>
                </a:solidFill>
              </a:rPr>
              <a:t>浮点运算，引起重视</a:t>
            </a:r>
            <a:endParaRPr lang="en-US" altLang="zh-CN" sz="1800" dirty="0">
              <a:solidFill>
                <a:srgbClr val="FF0000"/>
              </a:solidFill>
            </a:endParaRPr>
          </a:p>
          <a:p>
            <a:pPr algn="just" eaLnBrk="1" hangingPunct="1">
              <a:buFontTx/>
              <a:buNone/>
            </a:pPr>
            <a:r>
              <a:rPr lang="en-US" altLang="zh-CN" sz="1800" dirty="0"/>
              <a:t>&gt;&gt;&gt;1.2-1.0                                </a:t>
            </a:r>
          </a:p>
          <a:p>
            <a:pPr algn="just" eaLnBrk="1" hangingPunct="1">
              <a:buFontTx/>
              <a:buNone/>
            </a:pPr>
            <a:r>
              <a:rPr lang="en-US" altLang="zh-CN" sz="1800" dirty="0"/>
              <a:t>0.19999999999999996</a:t>
            </a:r>
          </a:p>
          <a:p>
            <a:pPr algn="just" eaLnBrk="1" hangingPunct="1">
              <a:buFontTx/>
              <a:buNone/>
            </a:pPr>
            <a:r>
              <a:rPr lang="en-US" altLang="zh-CN" sz="1800" dirty="0"/>
              <a:t>&gt;&gt;&gt;2.2-1.2</a:t>
            </a:r>
          </a:p>
          <a:p>
            <a:pPr algn="just" eaLnBrk="1" hangingPunct="1">
              <a:buFontTx/>
              <a:buNone/>
            </a:pPr>
            <a:r>
              <a:rPr lang="en-US" altLang="zh-CN" sz="1800" dirty="0"/>
              <a:t>1.0000000000000002</a:t>
            </a:r>
          </a:p>
          <a:p>
            <a:pPr algn="just" eaLnBrk="1" hangingPunct="1">
              <a:buFontTx/>
              <a:buNone/>
            </a:pPr>
            <a:r>
              <a:rPr lang="en-US" altLang="zh-CN" sz="1800" dirty="0"/>
              <a:t>&gt;&gt;&gt; 5.0-4.0</a:t>
            </a:r>
          </a:p>
          <a:p>
            <a:pPr algn="just" eaLnBrk="1" hangingPunct="1">
              <a:buFontTx/>
              <a:buNone/>
            </a:pPr>
            <a:r>
              <a:rPr lang="en-US" altLang="zh-CN" sz="1800" dirty="0"/>
              <a:t>1.0</a:t>
            </a:r>
          </a:p>
        </p:txBody>
      </p:sp>
      <p:pic>
        <p:nvPicPr>
          <p:cNvPr id="2" name="图片 1"/>
          <p:cNvPicPr>
            <a:picLocks noChangeAspect="1"/>
          </p:cNvPicPr>
          <p:nvPr/>
        </p:nvPicPr>
        <p:blipFill>
          <a:blip r:embed="rId2"/>
          <a:stretch>
            <a:fillRect/>
          </a:stretch>
        </p:blipFill>
        <p:spPr>
          <a:xfrm>
            <a:off x="5220072" y="1203920"/>
            <a:ext cx="3024336" cy="3167594"/>
          </a:xfrm>
          <a:prstGeom prst="rect">
            <a:avLst/>
          </a:prstGeom>
        </p:spPr>
      </p:pic>
    </p:spTree>
    <p:extLst>
      <p:ext uri="{BB962C8B-B14F-4D97-AF65-F5344CB8AC3E}">
        <p14:creationId xmlns:p14="http://schemas.microsoft.com/office/powerpoint/2010/main" val="1630566701"/>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1034"/>
          <p:cNvSpPr>
            <a:spLocks noChangeArrowheads="1"/>
          </p:cNvSpPr>
          <p:nvPr/>
        </p:nvSpPr>
        <p:spPr bwMode="auto">
          <a:xfrm>
            <a:off x="-252413" y="1851025"/>
            <a:ext cx="184150"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endParaRPr lang="zh-CN" altLang="en-US">
              <a:latin typeface="Courier New" pitchFamily="49" charset="0"/>
              <a:ea typeface="微软雅黑" pitchFamily="34" charset="-122"/>
              <a:cs typeface="Courier New" pitchFamily="49" charset="0"/>
            </a:endParaRPr>
          </a:p>
        </p:txBody>
      </p:sp>
      <p:grpSp>
        <p:nvGrpSpPr>
          <p:cNvPr id="5" name="组合 4"/>
          <p:cNvGrpSpPr/>
          <p:nvPr/>
        </p:nvGrpSpPr>
        <p:grpSpPr>
          <a:xfrm>
            <a:off x="611560" y="1363560"/>
            <a:ext cx="7532178" cy="992166"/>
            <a:chOff x="611560" y="1363560"/>
            <a:chExt cx="7532178" cy="992166"/>
          </a:xfrm>
        </p:grpSpPr>
        <p:sp>
          <p:nvSpPr>
            <p:cNvPr id="19" name="TextBox 18"/>
            <p:cNvSpPr txBox="1">
              <a:spLocks noChangeArrowheads="1"/>
            </p:cNvSpPr>
            <p:nvPr/>
          </p:nvSpPr>
          <p:spPr bwMode="auto">
            <a:xfrm>
              <a:off x="3563888" y="1409726"/>
              <a:ext cx="44358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zh-CN" altLang="en-US" sz="1800" dirty="0">
                  <a:solidFill>
                    <a:srgbClr val="C00000"/>
                  </a:solidFill>
                  <a:latin typeface="Courier New" pitchFamily="49" charset="0"/>
                  <a:ea typeface="微软雅黑" pitchFamily="34" charset="-122"/>
                  <a:cs typeface="Courier New" pitchFamily="49" charset="0"/>
                </a:rPr>
                <a:t>作用：</a:t>
              </a:r>
              <a:r>
                <a:rPr lang="zh-CN" altLang="zh-CN" sz="1800" b="0" dirty="0">
                  <a:solidFill>
                    <a:schemeClr val="tx1"/>
                  </a:solidFill>
                  <a:latin typeface="Courier New" pitchFamily="49" charset="0"/>
                  <a:ea typeface="微软雅黑" pitchFamily="34" charset="-122"/>
                  <a:cs typeface="Courier New" pitchFamily="49" charset="0"/>
                </a:rPr>
                <a:t>给多个变量赋值</a:t>
              </a:r>
              <a:endParaRPr lang="zh-CN" altLang="en-US" sz="1800" b="0" dirty="0">
                <a:solidFill>
                  <a:schemeClr val="tx1"/>
                </a:solidFill>
                <a:latin typeface="Courier New" pitchFamily="49" charset="0"/>
                <a:ea typeface="微软雅黑" pitchFamily="34" charset="-122"/>
                <a:cs typeface="Courier New" pitchFamily="49" charset="0"/>
              </a:endParaRPr>
            </a:p>
          </p:txBody>
        </p:sp>
        <p:sp>
          <p:nvSpPr>
            <p:cNvPr id="23" name="TextBox 22"/>
            <p:cNvSpPr txBox="1">
              <a:spLocks noChangeArrowheads="1"/>
            </p:cNvSpPr>
            <p:nvPr/>
          </p:nvSpPr>
          <p:spPr bwMode="auto">
            <a:xfrm>
              <a:off x="1475656" y="1986394"/>
              <a:ext cx="6668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1800" b="0" dirty="0">
                  <a:solidFill>
                    <a:schemeClr val="tx1"/>
                  </a:solidFill>
                  <a:latin typeface="Courier New" pitchFamily="49" charset="0"/>
                  <a:ea typeface="微软雅黑" pitchFamily="34" charset="-122"/>
                  <a:cs typeface="Courier New" pitchFamily="49" charset="0"/>
                </a:rPr>
                <a:t>x=y=z=1     #x</a:t>
              </a:r>
              <a:r>
                <a:rPr lang="zh-CN" altLang="zh-CN" sz="1800" b="0" dirty="0">
                  <a:solidFill>
                    <a:schemeClr val="tx1"/>
                  </a:solidFill>
                  <a:latin typeface="Courier New" pitchFamily="49" charset="0"/>
                  <a:ea typeface="微软雅黑" pitchFamily="34" charset="-122"/>
                  <a:cs typeface="Courier New" pitchFamily="49" charset="0"/>
                </a:rPr>
                <a:t>、</a:t>
              </a:r>
              <a:r>
                <a:rPr lang="en-US" altLang="zh-CN" sz="1800" b="0" dirty="0">
                  <a:solidFill>
                    <a:schemeClr val="tx1"/>
                  </a:solidFill>
                  <a:latin typeface="Courier New" pitchFamily="49" charset="0"/>
                  <a:ea typeface="微软雅黑" pitchFamily="34" charset="-122"/>
                  <a:cs typeface="Courier New" pitchFamily="49" charset="0"/>
                </a:rPr>
                <a:t>y</a:t>
              </a:r>
              <a:r>
                <a:rPr lang="zh-CN" altLang="zh-CN" sz="1800" b="0" dirty="0">
                  <a:solidFill>
                    <a:schemeClr val="tx1"/>
                  </a:solidFill>
                  <a:latin typeface="Courier New" pitchFamily="49" charset="0"/>
                  <a:ea typeface="微软雅黑" pitchFamily="34" charset="-122"/>
                  <a:cs typeface="Courier New" pitchFamily="49" charset="0"/>
                </a:rPr>
                <a:t>、</a:t>
              </a:r>
              <a:r>
                <a:rPr lang="en-US" altLang="zh-CN" sz="1800" b="0" dirty="0">
                  <a:solidFill>
                    <a:schemeClr val="tx1"/>
                  </a:solidFill>
                  <a:latin typeface="Courier New" pitchFamily="49" charset="0"/>
                  <a:ea typeface="微软雅黑" pitchFamily="34" charset="-122"/>
                  <a:cs typeface="Courier New" pitchFamily="49" charset="0"/>
                </a:rPr>
                <a:t>z</a:t>
              </a:r>
              <a:r>
                <a:rPr lang="zh-CN" altLang="zh-CN" sz="1800" b="0" dirty="0">
                  <a:solidFill>
                    <a:schemeClr val="tx1"/>
                  </a:solidFill>
                  <a:latin typeface="Courier New" pitchFamily="49" charset="0"/>
                  <a:ea typeface="微软雅黑" pitchFamily="34" charset="-122"/>
                  <a:cs typeface="Courier New" pitchFamily="49" charset="0"/>
                </a:rPr>
                <a:t>三个变量获得相同值</a:t>
              </a:r>
              <a:r>
                <a:rPr lang="en-US" altLang="zh-CN" sz="1800" b="0" dirty="0">
                  <a:solidFill>
                    <a:schemeClr val="tx1"/>
                  </a:solidFill>
                  <a:latin typeface="Courier New" pitchFamily="49" charset="0"/>
                  <a:ea typeface="微软雅黑" pitchFamily="34" charset="-122"/>
                  <a:cs typeface="Courier New" pitchFamily="49" charset="0"/>
                </a:rPr>
                <a:t>1</a:t>
              </a:r>
              <a:endParaRPr lang="zh-CN" altLang="en-US" sz="1800" b="0" dirty="0">
                <a:solidFill>
                  <a:schemeClr val="tx1"/>
                </a:solidFill>
                <a:latin typeface="Courier New" pitchFamily="49" charset="0"/>
                <a:ea typeface="微软雅黑" pitchFamily="34" charset="-122"/>
                <a:cs typeface="Courier New" pitchFamily="49" charset="0"/>
              </a:endParaRPr>
            </a:p>
          </p:txBody>
        </p:sp>
        <p:sp>
          <p:nvSpPr>
            <p:cNvPr id="24" name="TextBox 23"/>
            <p:cNvSpPr txBox="1"/>
            <p:nvPr/>
          </p:nvSpPr>
          <p:spPr>
            <a:xfrm>
              <a:off x="611560" y="1363560"/>
              <a:ext cx="2520280" cy="461665"/>
            </a:xfrm>
            <a:prstGeom prst="rect">
              <a:avLst/>
            </a:prstGeom>
            <a:noFill/>
          </p:spPr>
          <p:txBody>
            <a:bodyPr wrap="square" rtlCol="0">
              <a:spAutoFit/>
            </a:bodyPr>
            <a:lstStyle/>
            <a:p>
              <a:r>
                <a:rPr lang="zh-CN" altLang="en-US" sz="2400" b="1" dirty="0">
                  <a:solidFill>
                    <a:srgbClr val="00B050"/>
                  </a:solidFill>
                  <a:latin typeface="微软雅黑" pitchFamily="34" charset="-122"/>
                  <a:ea typeface="微软雅黑" pitchFamily="34" charset="-122"/>
                </a:rPr>
                <a:t>（</a:t>
              </a:r>
              <a:r>
                <a:rPr lang="en-US" altLang="zh-CN" sz="2400" b="1" dirty="0">
                  <a:solidFill>
                    <a:srgbClr val="00B050"/>
                  </a:solidFill>
                  <a:latin typeface="微软雅黑" pitchFamily="34" charset="-122"/>
                  <a:ea typeface="微软雅黑" pitchFamily="34" charset="-122"/>
                </a:rPr>
                <a:t>3</a:t>
              </a:r>
              <a:r>
                <a:rPr lang="zh-CN" altLang="en-US" sz="2400" b="1" dirty="0">
                  <a:solidFill>
                    <a:srgbClr val="00B050"/>
                  </a:solidFill>
                  <a:latin typeface="微软雅黑" pitchFamily="34" charset="-122"/>
                  <a:ea typeface="微软雅黑" pitchFamily="34" charset="-122"/>
                </a:rPr>
                <a:t>）</a:t>
              </a:r>
              <a:r>
                <a:rPr lang="zh-CN" altLang="zh-CN" sz="2400" b="1" dirty="0">
                  <a:solidFill>
                    <a:srgbClr val="00B050"/>
                  </a:solidFill>
                  <a:latin typeface="微软雅黑" pitchFamily="34" charset="-122"/>
                  <a:ea typeface="微软雅黑" pitchFamily="34" charset="-122"/>
                </a:rPr>
                <a:t>链式赋值</a:t>
              </a:r>
              <a:endParaRPr lang="zh-CN" altLang="en-US" sz="2400" b="1" dirty="0">
                <a:solidFill>
                  <a:srgbClr val="00B050"/>
                </a:solidFill>
                <a:latin typeface="微软雅黑" pitchFamily="34" charset="-122"/>
                <a:ea typeface="微软雅黑" pitchFamily="34" charset="-122"/>
              </a:endParaRPr>
            </a:p>
          </p:txBody>
        </p:sp>
      </p:grpSp>
      <p:grpSp>
        <p:nvGrpSpPr>
          <p:cNvPr id="2" name="组合 1"/>
          <p:cNvGrpSpPr/>
          <p:nvPr/>
        </p:nvGrpSpPr>
        <p:grpSpPr>
          <a:xfrm>
            <a:off x="611560" y="3159745"/>
            <a:ext cx="7460170" cy="1212205"/>
            <a:chOff x="611560" y="3159745"/>
            <a:chExt cx="7460170" cy="1212205"/>
          </a:xfrm>
        </p:grpSpPr>
        <p:sp>
          <p:nvSpPr>
            <p:cNvPr id="3" name="TextBox 2"/>
            <p:cNvSpPr txBox="1"/>
            <p:nvPr/>
          </p:nvSpPr>
          <p:spPr>
            <a:xfrm>
              <a:off x="611560" y="3159745"/>
              <a:ext cx="2952328" cy="461665"/>
            </a:xfrm>
            <a:prstGeom prst="rect">
              <a:avLst/>
            </a:prstGeom>
            <a:noFill/>
          </p:spPr>
          <p:txBody>
            <a:bodyPr wrap="square" rtlCol="0">
              <a:spAutoFit/>
            </a:bodyPr>
            <a:lstStyle/>
            <a:p>
              <a:r>
                <a:rPr lang="zh-CN" altLang="en-US" sz="2400" b="1" dirty="0">
                  <a:solidFill>
                    <a:srgbClr val="00B050"/>
                  </a:solidFill>
                  <a:latin typeface="微软雅黑" pitchFamily="34" charset="-122"/>
                  <a:ea typeface="微软雅黑" pitchFamily="34" charset="-122"/>
                </a:rPr>
                <a:t>（</a:t>
              </a:r>
              <a:r>
                <a:rPr lang="en-US" altLang="zh-CN" sz="2400" b="1" dirty="0">
                  <a:solidFill>
                    <a:srgbClr val="00B050"/>
                  </a:solidFill>
                  <a:latin typeface="微软雅黑" pitchFamily="34" charset="-122"/>
                  <a:ea typeface="微软雅黑" pitchFamily="34" charset="-122"/>
                </a:rPr>
                <a:t>4</a:t>
              </a:r>
              <a:r>
                <a:rPr lang="zh-CN" altLang="en-US" sz="2400" b="1" dirty="0">
                  <a:solidFill>
                    <a:srgbClr val="00B050"/>
                  </a:solidFill>
                  <a:latin typeface="微软雅黑" pitchFamily="34" charset="-122"/>
                  <a:ea typeface="微软雅黑" pitchFamily="34" charset="-122"/>
                </a:rPr>
                <a:t>）</a:t>
              </a:r>
              <a:r>
                <a:rPr lang="zh-CN" altLang="zh-CN" sz="2400" b="1" dirty="0">
                  <a:solidFill>
                    <a:srgbClr val="00B050"/>
                  </a:solidFill>
                  <a:latin typeface="微软雅黑" pitchFamily="34" charset="-122"/>
                  <a:ea typeface="微软雅黑" pitchFamily="34" charset="-122"/>
                </a:rPr>
                <a:t>序列解包赋值</a:t>
              </a:r>
              <a:endParaRPr lang="zh-CN" altLang="en-US" sz="2400" b="1" dirty="0">
                <a:solidFill>
                  <a:srgbClr val="00B050"/>
                </a:solidFill>
                <a:latin typeface="微软雅黑" pitchFamily="34" charset="-122"/>
                <a:ea typeface="微软雅黑" pitchFamily="34" charset="-122"/>
              </a:endParaRPr>
            </a:p>
          </p:txBody>
        </p:sp>
        <p:sp>
          <p:nvSpPr>
            <p:cNvPr id="25" name="TextBox 24"/>
            <p:cNvSpPr txBox="1">
              <a:spLocks noChangeArrowheads="1"/>
            </p:cNvSpPr>
            <p:nvPr/>
          </p:nvSpPr>
          <p:spPr bwMode="auto">
            <a:xfrm>
              <a:off x="3635896" y="3252078"/>
              <a:ext cx="36724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zh-CN" altLang="en-US" sz="1800" dirty="0">
                  <a:solidFill>
                    <a:srgbClr val="C00000"/>
                  </a:solidFill>
                  <a:latin typeface="Courier New" pitchFamily="49" charset="0"/>
                  <a:ea typeface="微软雅黑" pitchFamily="34" charset="-122"/>
                  <a:cs typeface="Courier New" pitchFamily="49" charset="0"/>
                </a:rPr>
                <a:t>作用：</a:t>
              </a:r>
              <a:r>
                <a:rPr lang="zh-CN" altLang="zh-CN" sz="1800" b="0" dirty="0">
                  <a:solidFill>
                    <a:schemeClr val="tx1"/>
                  </a:solidFill>
                  <a:latin typeface="Courier New" pitchFamily="49" charset="0"/>
                  <a:ea typeface="微软雅黑" pitchFamily="34" charset="-122"/>
                  <a:cs typeface="Courier New" pitchFamily="49" charset="0"/>
                </a:rPr>
                <a:t>给不同的变量分别赋值</a:t>
              </a:r>
              <a:endParaRPr lang="zh-CN" altLang="en-US" sz="1800" b="0" dirty="0">
                <a:solidFill>
                  <a:schemeClr val="tx1"/>
                </a:solidFill>
                <a:latin typeface="Courier New" pitchFamily="49" charset="0"/>
                <a:ea typeface="微软雅黑" pitchFamily="34" charset="-122"/>
                <a:cs typeface="Courier New" pitchFamily="49" charset="0"/>
              </a:endParaRPr>
            </a:p>
          </p:txBody>
        </p:sp>
        <p:sp>
          <p:nvSpPr>
            <p:cNvPr id="26" name="TextBox 25"/>
            <p:cNvSpPr txBox="1">
              <a:spLocks noChangeArrowheads="1"/>
            </p:cNvSpPr>
            <p:nvPr/>
          </p:nvSpPr>
          <p:spPr bwMode="auto">
            <a:xfrm>
              <a:off x="1403648" y="4002618"/>
              <a:ext cx="6668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1800" b="0" dirty="0" err="1">
                  <a:solidFill>
                    <a:schemeClr val="tx1"/>
                  </a:solidFill>
                  <a:latin typeface="Courier New" pitchFamily="49" charset="0"/>
                  <a:ea typeface="微软雅黑" pitchFamily="34" charset="-122"/>
                  <a:cs typeface="Courier New" pitchFamily="49" charset="0"/>
                </a:rPr>
                <a:t>x,y,z</a:t>
              </a:r>
              <a:r>
                <a:rPr lang="en-US" altLang="zh-CN" sz="1800" b="0" dirty="0">
                  <a:solidFill>
                    <a:schemeClr val="tx1"/>
                  </a:solidFill>
                  <a:latin typeface="Courier New" pitchFamily="49" charset="0"/>
                  <a:ea typeface="微软雅黑" pitchFamily="34" charset="-122"/>
                  <a:cs typeface="Courier New" pitchFamily="49" charset="0"/>
                </a:rPr>
                <a:t>=1,2,3   #x</a:t>
              </a:r>
              <a:r>
                <a:rPr lang="zh-CN" altLang="zh-CN" sz="1800" b="0" dirty="0">
                  <a:solidFill>
                    <a:schemeClr val="tx1"/>
                  </a:solidFill>
                  <a:latin typeface="Courier New" pitchFamily="49" charset="0"/>
                  <a:ea typeface="微软雅黑" pitchFamily="34" charset="-122"/>
                  <a:cs typeface="Courier New" pitchFamily="49" charset="0"/>
                </a:rPr>
                <a:t>、</a:t>
              </a:r>
              <a:r>
                <a:rPr lang="en-US" altLang="zh-CN" sz="1800" b="0" dirty="0">
                  <a:solidFill>
                    <a:schemeClr val="tx1"/>
                  </a:solidFill>
                  <a:latin typeface="Courier New" pitchFamily="49" charset="0"/>
                  <a:ea typeface="微软雅黑" pitchFamily="34" charset="-122"/>
                  <a:cs typeface="Courier New" pitchFamily="49" charset="0"/>
                </a:rPr>
                <a:t>y</a:t>
              </a:r>
              <a:r>
                <a:rPr lang="zh-CN" altLang="zh-CN" sz="1800" b="0" dirty="0">
                  <a:solidFill>
                    <a:schemeClr val="tx1"/>
                  </a:solidFill>
                  <a:latin typeface="Courier New" pitchFamily="49" charset="0"/>
                  <a:ea typeface="微软雅黑" pitchFamily="34" charset="-122"/>
                  <a:cs typeface="Courier New" pitchFamily="49" charset="0"/>
                </a:rPr>
                <a:t>、</a:t>
              </a:r>
              <a:r>
                <a:rPr lang="en-US" altLang="zh-CN" sz="1800" b="0" dirty="0">
                  <a:solidFill>
                    <a:schemeClr val="tx1"/>
                  </a:solidFill>
                  <a:latin typeface="Courier New" pitchFamily="49" charset="0"/>
                  <a:ea typeface="微软雅黑" pitchFamily="34" charset="-122"/>
                  <a:cs typeface="Courier New" pitchFamily="49" charset="0"/>
                </a:rPr>
                <a:t>z </a:t>
              </a:r>
              <a:r>
                <a:rPr lang="zh-CN" altLang="zh-CN" sz="1800" b="0" dirty="0">
                  <a:solidFill>
                    <a:schemeClr val="tx1"/>
                  </a:solidFill>
                  <a:latin typeface="Courier New" pitchFamily="49" charset="0"/>
                  <a:ea typeface="微软雅黑" pitchFamily="34" charset="-122"/>
                  <a:cs typeface="Courier New" pitchFamily="49" charset="0"/>
                </a:rPr>
                <a:t>依次获得</a:t>
              </a:r>
              <a:r>
                <a:rPr lang="en-US" altLang="zh-CN" sz="1800" b="0" dirty="0">
                  <a:solidFill>
                    <a:schemeClr val="tx1"/>
                  </a:solidFill>
                  <a:latin typeface="Courier New" pitchFamily="49" charset="0"/>
                  <a:ea typeface="微软雅黑" pitchFamily="34" charset="-122"/>
                  <a:cs typeface="Courier New" pitchFamily="49" charset="0"/>
                </a:rPr>
                <a:t>1</a:t>
              </a:r>
              <a:r>
                <a:rPr lang="zh-CN" altLang="zh-CN" sz="1800" b="0" dirty="0">
                  <a:solidFill>
                    <a:schemeClr val="tx1"/>
                  </a:solidFill>
                  <a:latin typeface="Courier New" pitchFamily="49" charset="0"/>
                  <a:ea typeface="微软雅黑" pitchFamily="34" charset="-122"/>
                  <a:cs typeface="Courier New" pitchFamily="49" charset="0"/>
                </a:rPr>
                <a:t>、</a:t>
              </a:r>
              <a:r>
                <a:rPr lang="en-US" altLang="zh-CN" sz="1800" b="0" dirty="0">
                  <a:solidFill>
                    <a:schemeClr val="tx1"/>
                  </a:solidFill>
                  <a:latin typeface="Courier New" pitchFamily="49" charset="0"/>
                  <a:ea typeface="微软雅黑" pitchFamily="34" charset="-122"/>
                  <a:cs typeface="Courier New" pitchFamily="49" charset="0"/>
                </a:rPr>
                <a:t>2</a:t>
              </a:r>
              <a:r>
                <a:rPr lang="zh-CN" altLang="zh-CN" sz="1800" b="0" dirty="0">
                  <a:solidFill>
                    <a:schemeClr val="tx1"/>
                  </a:solidFill>
                  <a:latin typeface="Courier New" pitchFamily="49" charset="0"/>
                  <a:ea typeface="微软雅黑" pitchFamily="34" charset="-122"/>
                  <a:cs typeface="Courier New" pitchFamily="49" charset="0"/>
                </a:rPr>
                <a:t>、</a:t>
              </a:r>
              <a:r>
                <a:rPr lang="en-US" altLang="zh-CN" sz="1800" b="0" dirty="0">
                  <a:solidFill>
                    <a:schemeClr val="tx1"/>
                  </a:solidFill>
                  <a:latin typeface="Courier New" pitchFamily="49" charset="0"/>
                  <a:ea typeface="微软雅黑" pitchFamily="34" charset="-122"/>
                  <a:cs typeface="Courier New" pitchFamily="49" charset="0"/>
                </a:rPr>
                <a:t>3</a:t>
              </a:r>
              <a:r>
                <a:rPr lang="zh-CN" altLang="zh-CN" sz="1800" b="0" dirty="0">
                  <a:solidFill>
                    <a:schemeClr val="tx1"/>
                  </a:solidFill>
                  <a:latin typeface="Courier New" pitchFamily="49" charset="0"/>
                  <a:ea typeface="微软雅黑" pitchFamily="34" charset="-122"/>
                  <a:cs typeface="Courier New" pitchFamily="49" charset="0"/>
                </a:rPr>
                <a:t>的值</a:t>
              </a:r>
              <a:endParaRPr lang="zh-CN" altLang="en-US" sz="1800" b="0" dirty="0">
                <a:solidFill>
                  <a:schemeClr val="tx1"/>
                </a:solidFill>
                <a:latin typeface="Courier New" pitchFamily="49" charset="0"/>
                <a:ea typeface="微软雅黑" pitchFamily="34" charset="-122"/>
                <a:cs typeface="Courier New" pitchFamily="49" charset="0"/>
              </a:endParaRPr>
            </a:p>
          </p:txBody>
        </p:sp>
      </p:grpSp>
    </p:spTree>
    <p:extLst>
      <p:ext uri="{BB962C8B-B14F-4D97-AF65-F5344CB8AC3E}">
        <p14:creationId xmlns:p14="http://schemas.microsoft.com/office/powerpoint/2010/main" val="1238961813"/>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2" y="483518"/>
            <a:ext cx="8275638" cy="650875"/>
          </a:xfrm>
        </p:spPr>
        <p:txBody>
          <a:bodyPr/>
          <a:lstStyle/>
          <a:p>
            <a:r>
              <a:rPr lang="zh-CN" altLang="en-US" sz="2400" dirty="0"/>
              <a:t>数据类型转换</a:t>
            </a:r>
          </a:p>
        </p:txBody>
      </p:sp>
      <p:sp>
        <p:nvSpPr>
          <p:cNvPr id="3" name="内容占位符 2"/>
          <p:cNvSpPr>
            <a:spLocks noGrp="1"/>
          </p:cNvSpPr>
          <p:nvPr>
            <p:ph idx="1"/>
          </p:nvPr>
        </p:nvSpPr>
        <p:spPr>
          <a:xfrm>
            <a:off x="450850" y="1203598"/>
            <a:ext cx="8293100" cy="3600450"/>
          </a:xfrm>
        </p:spPr>
        <p:style>
          <a:lnRef idx="2">
            <a:schemeClr val="accent5"/>
          </a:lnRef>
          <a:fillRef idx="1">
            <a:schemeClr val="lt1"/>
          </a:fillRef>
          <a:effectRef idx="0">
            <a:schemeClr val="accent5"/>
          </a:effectRef>
          <a:fontRef idx="minor">
            <a:schemeClr val="dk1"/>
          </a:fontRef>
        </p:style>
        <p:txBody>
          <a:bodyPr/>
          <a:lstStyle/>
          <a:p>
            <a:pPr marL="0" indent="0">
              <a:buNone/>
            </a:pPr>
            <a:r>
              <a:rPr lang="zh-CN" altLang="en-US" b="1" dirty="0">
                <a:solidFill>
                  <a:srgbClr val="0070C0"/>
                </a:solidFill>
                <a:latin typeface="黑体" panose="02010609060101010101" pitchFamily="49" charset="-122"/>
                <a:ea typeface="黑体" panose="02010609060101010101" pitchFamily="49" charset="-122"/>
              </a:rPr>
              <a:t>（</a:t>
            </a:r>
            <a:r>
              <a:rPr lang="en-US" altLang="zh-CN" b="1" dirty="0">
                <a:solidFill>
                  <a:srgbClr val="0070C0"/>
                </a:solidFill>
                <a:latin typeface="黑体" panose="02010609060101010101" pitchFamily="49" charset="-122"/>
                <a:ea typeface="黑体" panose="02010609060101010101" pitchFamily="49" charset="-122"/>
              </a:rPr>
              <a:t>1</a:t>
            </a:r>
            <a:r>
              <a:rPr lang="zh-CN" altLang="en-US" b="1" dirty="0">
                <a:solidFill>
                  <a:srgbClr val="0070C0"/>
                </a:solidFill>
                <a:latin typeface="黑体" panose="02010609060101010101" pitchFamily="49" charset="-122"/>
                <a:ea typeface="黑体" panose="02010609060101010101" pitchFamily="49" charset="-122"/>
              </a:rPr>
              <a:t>）隐式转换</a:t>
            </a:r>
            <a:endParaRPr lang="en-US" altLang="zh-CN" b="1" dirty="0">
              <a:solidFill>
                <a:srgbClr val="0070C0"/>
              </a:solidFill>
              <a:latin typeface="黑体" panose="02010609060101010101" pitchFamily="49" charset="-122"/>
              <a:ea typeface="黑体" panose="02010609060101010101" pitchFamily="49" charset="-122"/>
            </a:endParaRPr>
          </a:p>
          <a:p>
            <a:pPr marL="0" indent="0">
              <a:buNone/>
            </a:pPr>
            <a:r>
              <a:rPr lang="en-US" altLang="zh-CN" sz="2000" dirty="0"/>
              <a:t>         </a:t>
            </a:r>
            <a:r>
              <a:rPr lang="zh-CN" altLang="en-US" sz="2000" dirty="0">
                <a:solidFill>
                  <a:schemeClr val="tx1"/>
                </a:solidFill>
              </a:rPr>
              <a:t>低精度类型向高精度类型自动转换</a:t>
            </a:r>
            <a:endParaRPr lang="en-US" altLang="zh-CN" sz="2000" dirty="0">
              <a:solidFill>
                <a:schemeClr val="tx1"/>
              </a:solidFill>
            </a:endParaRPr>
          </a:p>
          <a:p>
            <a:pPr marL="0" indent="0">
              <a:buNone/>
            </a:pPr>
            <a:r>
              <a:rPr lang="en-US" altLang="zh-CN" sz="2000" dirty="0">
                <a:solidFill>
                  <a:schemeClr val="tx1"/>
                </a:solidFill>
              </a:rPr>
              <a:t>          </a:t>
            </a:r>
            <a:r>
              <a:rPr lang="zh-CN" altLang="en-US" sz="2000" dirty="0">
                <a:solidFill>
                  <a:schemeClr val="tx1"/>
                </a:solidFill>
              </a:rPr>
              <a:t>如   </a:t>
            </a:r>
            <a:r>
              <a:rPr lang="en-US" altLang="zh-CN" sz="2000" dirty="0">
                <a:solidFill>
                  <a:schemeClr val="tx1"/>
                </a:solidFill>
              </a:rPr>
              <a:t>x = 10 + 5.5</a:t>
            </a:r>
          </a:p>
          <a:p>
            <a:pPr marL="0" indent="0">
              <a:buNone/>
            </a:pPr>
            <a:r>
              <a:rPr lang="zh-CN" altLang="en-US" b="1" dirty="0">
                <a:solidFill>
                  <a:srgbClr val="0070C0"/>
                </a:solidFill>
                <a:latin typeface="黑体" panose="02010609060101010101" pitchFamily="49" charset="-122"/>
                <a:ea typeface="黑体" panose="02010609060101010101" pitchFamily="49" charset="-122"/>
              </a:rPr>
              <a:t>（</a:t>
            </a:r>
            <a:r>
              <a:rPr lang="en-US" altLang="zh-CN" b="1" dirty="0">
                <a:solidFill>
                  <a:srgbClr val="0070C0"/>
                </a:solidFill>
                <a:latin typeface="黑体" panose="02010609060101010101" pitchFamily="49" charset="-122"/>
                <a:ea typeface="黑体" panose="02010609060101010101" pitchFamily="49" charset="-122"/>
              </a:rPr>
              <a:t>2</a:t>
            </a:r>
            <a:r>
              <a:rPr lang="zh-CN" altLang="en-US" b="1" dirty="0">
                <a:solidFill>
                  <a:srgbClr val="0070C0"/>
                </a:solidFill>
                <a:latin typeface="黑体" panose="02010609060101010101" pitchFamily="49" charset="-122"/>
                <a:ea typeface="黑体" panose="02010609060101010101" pitchFamily="49" charset="-122"/>
              </a:rPr>
              <a:t>）显式转换</a:t>
            </a:r>
            <a:endParaRPr lang="en-US" altLang="zh-CN" b="1" dirty="0">
              <a:solidFill>
                <a:srgbClr val="0070C0"/>
              </a:solidFill>
              <a:latin typeface="黑体" panose="02010609060101010101" pitchFamily="49" charset="-122"/>
              <a:ea typeface="黑体" panose="02010609060101010101" pitchFamily="49" charset="-122"/>
            </a:endParaRPr>
          </a:p>
          <a:p>
            <a:pPr marL="0" indent="0">
              <a:buNone/>
            </a:pPr>
            <a:r>
              <a:rPr lang="en-US" altLang="zh-CN" sz="2000" dirty="0"/>
              <a:t>         </a:t>
            </a:r>
            <a:r>
              <a:rPr lang="zh-CN" altLang="en-US" sz="2000" dirty="0">
                <a:solidFill>
                  <a:schemeClr val="tx1"/>
                </a:solidFill>
              </a:rPr>
              <a:t>转换函数（表达式）</a:t>
            </a:r>
            <a:endParaRPr lang="en-US" altLang="zh-CN" sz="2000" dirty="0">
              <a:solidFill>
                <a:schemeClr val="tx1"/>
              </a:solidFill>
            </a:endParaRPr>
          </a:p>
          <a:p>
            <a:pPr marL="0" indent="0">
              <a:buNone/>
            </a:pPr>
            <a:r>
              <a:rPr lang="en-US" altLang="zh-CN" sz="2000" dirty="0">
                <a:solidFill>
                  <a:schemeClr val="tx1"/>
                </a:solidFill>
              </a:rPr>
              <a:t>          </a:t>
            </a:r>
            <a:r>
              <a:rPr lang="zh-CN" altLang="en-US" sz="2000" dirty="0">
                <a:solidFill>
                  <a:schemeClr val="tx1"/>
                </a:solidFill>
              </a:rPr>
              <a:t>如  </a:t>
            </a:r>
            <a:r>
              <a:rPr lang="en-US" altLang="zh-CN" sz="2000" dirty="0" err="1">
                <a:solidFill>
                  <a:schemeClr val="tx1"/>
                </a:solidFill>
              </a:rPr>
              <a:t>int</a:t>
            </a:r>
            <a:r>
              <a:rPr lang="en-US" altLang="zh-CN" sz="2000" dirty="0">
                <a:solidFill>
                  <a:schemeClr val="tx1"/>
                </a:solidFill>
              </a:rPr>
              <a:t>(1.2)</a:t>
            </a:r>
          </a:p>
          <a:p>
            <a:pPr marL="0" indent="0">
              <a:buNone/>
            </a:pPr>
            <a:r>
              <a:rPr lang="en-US" altLang="zh-CN" sz="2000" dirty="0">
                <a:solidFill>
                  <a:schemeClr val="tx1"/>
                </a:solidFill>
              </a:rPr>
              <a:t>               float(1)</a:t>
            </a:r>
          </a:p>
          <a:p>
            <a:pPr marL="0" indent="0">
              <a:buNone/>
            </a:pPr>
            <a:r>
              <a:rPr lang="en-US" altLang="zh-CN" sz="2000" dirty="0">
                <a:solidFill>
                  <a:schemeClr val="tx1"/>
                </a:solidFill>
              </a:rPr>
              <a:t>               complex(1</a:t>
            </a:r>
            <a:r>
              <a:rPr lang="zh-CN" altLang="en-US" sz="2000" dirty="0">
                <a:solidFill>
                  <a:schemeClr val="tx1"/>
                </a:solidFill>
              </a:rPr>
              <a:t>，</a:t>
            </a:r>
            <a:r>
              <a:rPr lang="en-US" altLang="zh-CN" sz="2000" dirty="0">
                <a:solidFill>
                  <a:schemeClr val="tx1"/>
                </a:solidFill>
              </a:rPr>
              <a:t>2 )   #</a:t>
            </a:r>
            <a:r>
              <a:rPr lang="zh-CN" altLang="en-US" sz="2000" dirty="0">
                <a:solidFill>
                  <a:schemeClr val="tx1"/>
                </a:solidFill>
              </a:rPr>
              <a:t>转为复数 </a:t>
            </a:r>
            <a:r>
              <a:rPr lang="en-US" altLang="zh-CN" sz="2000" dirty="0">
                <a:solidFill>
                  <a:schemeClr val="tx1"/>
                </a:solidFill>
              </a:rPr>
              <a:t>1+2j</a:t>
            </a:r>
            <a:endParaRPr lang="zh-CN" altLang="en-US" sz="2000" dirty="0">
              <a:solidFill>
                <a:schemeClr val="tx1"/>
              </a:solidFill>
            </a:endParaRPr>
          </a:p>
        </p:txBody>
      </p:sp>
      <p:sp>
        <p:nvSpPr>
          <p:cNvPr id="4" name="矩形 3">
            <a:extLst>
              <a:ext uri="{FF2B5EF4-FFF2-40B4-BE49-F238E27FC236}">
                <a16:creationId xmlns:a16="http://schemas.microsoft.com/office/drawing/2014/main" id="{7EE2BBA8-F39F-4063-9B8D-C16D25FD0807}"/>
              </a:ext>
            </a:extLst>
          </p:cNvPr>
          <p:cNvSpPr/>
          <p:nvPr/>
        </p:nvSpPr>
        <p:spPr>
          <a:xfrm>
            <a:off x="5431582" y="2283718"/>
            <a:ext cx="3312368" cy="1754326"/>
          </a:xfrm>
          <a:prstGeom prst="rect">
            <a:avLst/>
          </a:prstGeom>
          <a:solidFill>
            <a:srgbClr val="FFFFE5"/>
          </a:solidFill>
        </p:spPr>
        <p:txBody>
          <a:bodyPr wrap="square">
            <a:spAutoFit/>
          </a:bodyPr>
          <a:lstStyle/>
          <a:p>
            <a:r>
              <a:rPr lang="en-US" altLang="zh-CN" dirty="0"/>
              <a:t>import random</a:t>
            </a:r>
          </a:p>
          <a:p>
            <a:r>
              <a:rPr lang="zh-CN" altLang="en-US" dirty="0"/>
              <a:t>for i in range(20):</a:t>
            </a:r>
          </a:p>
          <a:p>
            <a:r>
              <a:rPr lang="zh-CN" altLang="en-US" dirty="0"/>
              <a:t>    n=random.uniform(10,50)</a:t>
            </a:r>
          </a:p>
          <a:p>
            <a:r>
              <a:rPr lang="zh-CN" altLang="en-US" dirty="0"/>
              <a:t>    n=</a:t>
            </a:r>
            <a:r>
              <a:rPr lang="zh-CN" altLang="en-US" b="1" dirty="0">
                <a:solidFill>
                  <a:srgbClr val="C00000"/>
                </a:solidFill>
              </a:rPr>
              <a:t>float("%0.2f"%n)</a:t>
            </a:r>
          </a:p>
          <a:p>
            <a:r>
              <a:rPr lang="zh-CN" altLang="en-US" dirty="0"/>
              <a:t>    x.append(n)</a:t>
            </a:r>
            <a:endParaRPr lang="en-US" altLang="zh-CN" dirty="0"/>
          </a:p>
          <a:p>
            <a:r>
              <a:rPr lang="en-US" altLang="zh-CN" dirty="0"/>
              <a:t>print(x)</a:t>
            </a:r>
          </a:p>
        </p:txBody>
      </p:sp>
    </p:spTree>
    <p:extLst>
      <p:ext uri="{BB962C8B-B14F-4D97-AF65-F5344CB8AC3E}">
        <p14:creationId xmlns:p14="http://schemas.microsoft.com/office/powerpoint/2010/main" val="579024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wipe(left)">
                                      <p:cBhvr>
                                        <p:cTn id="24" dur="500"/>
                                        <p:tgtEl>
                                          <p:spTgt spid="3">
                                            <p:txEl>
                                              <p:pRg st="3" end="3"/>
                                            </p:txEl>
                                          </p:spTgt>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wipe(left)">
                                      <p:cBhvr>
                                        <p:cTn id="28" dur="500"/>
                                        <p:tgtEl>
                                          <p:spTgt spid="3">
                                            <p:txEl>
                                              <p:pRg st="4" end="4"/>
                                            </p:txEl>
                                          </p:spTgt>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wipe(left)">
                                      <p:cBhvr>
                                        <p:cTn id="36" dur="500"/>
                                        <p:tgtEl>
                                          <p:spTgt spid="3">
                                            <p:txEl>
                                              <p:pRg st="6" end="6"/>
                                            </p:txEl>
                                          </p:spTgt>
                                        </p:tgtEl>
                                      </p:cBhvr>
                                    </p:animEffect>
                                  </p:childTnLst>
                                </p:cTn>
                              </p:par>
                            </p:childTnLst>
                          </p:cTn>
                        </p:par>
                        <p:par>
                          <p:cTn id="37" fill="hold">
                            <p:stCondLst>
                              <p:cond delay="2000"/>
                            </p:stCondLst>
                            <p:childTnLst>
                              <p:par>
                                <p:cTn id="38" presetID="22" presetClass="entr" presetSubtype="8" fill="hold" grpId="0" nodeType="after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wipe(left)">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8312" y="508891"/>
            <a:ext cx="8275638" cy="416148"/>
          </a:xfrm>
        </p:spPr>
        <p:txBody>
          <a:bodyPr/>
          <a:lstStyle/>
          <a:p>
            <a:r>
              <a:rPr lang="zh-CN" altLang="en-US" sz="2400" dirty="0">
                <a:solidFill>
                  <a:srgbClr val="0070C0"/>
                </a:solidFill>
              </a:rPr>
              <a:t>常用系统函数</a:t>
            </a:r>
          </a:p>
        </p:txBody>
      </p:sp>
      <p:sp>
        <p:nvSpPr>
          <p:cNvPr id="3" name="内容占位符 2"/>
          <p:cNvSpPr>
            <a:spLocks noGrp="1"/>
          </p:cNvSpPr>
          <p:nvPr>
            <p:ph idx="1"/>
          </p:nvPr>
        </p:nvSpPr>
        <p:spPr>
          <a:xfrm>
            <a:off x="450850" y="1023662"/>
            <a:ext cx="8293100" cy="1296144"/>
          </a:xfrm>
          <a:ln>
            <a:noFill/>
          </a:ln>
        </p:spPr>
        <p:style>
          <a:lnRef idx="2">
            <a:schemeClr val="accent5"/>
          </a:lnRef>
          <a:fillRef idx="1">
            <a:schemeClr val="lt1"/>
          </a:fillRef>
          <a:effectRef idx="0">
            <a:schemeClr val="accent5"/>
          </a:effectRef>
          <a:fontRef idx="minor">
            <a:schemeClr val="dk1"/>
          </a:fontRef>
        </p:style>
        <p:txBody>
          <a:bodyPr/>
          <a:lstStyle/>
          <a:p>
            <a:pPr>
              <a:buFont typeface="Wingdings" pitchFamily="2" charset="2"/>
              <a:buChar char="p"/>
            </a:pPr>
            <a:r>
              <a:rPr lang="zh-CN" altLang="en-US" sz="2000" b="1" dirty="0">
                <a:solidFill>
                  <a:srgbClr val="00B050"/>
                </a:solidFill>
              </a:rPr>
              <a:t>内置模块：</a:t>
            </a:r>
            <a:r>
              <a:rPr lang="en-US" altLang="zh-CN" sz="1800" dirty="0">
                <a:solidFill>
                  <a:schemeClr val="tx1"/>
                </a:solidFill>
              </a:rPr>
              <a:t>_</a:t>
            </a:r>
            <a:r>
              <a:rPr lang="en-US" altLang="zh-CN" sz="1800" dirty="0" err="1">
                <a:solidFill>
                  <a:schemeClr val="tx1"/>
                </a:solidFill>
              </a:rPr>
              <a:t>builtin</a:t>
            </a:r>
            <a:r>
              <a:rPr lang="en-US" altLang="zh-CN" sz="1800" dirty="0">
                <a:solidFill>
                  <a:schemeClr val="tx1"/>
                </a:solidFill>
              </a:rPr>
              <a:t>_</a:t>
            </a:r>
            <a:r>
              <a:rPr lang="zh-CN" altLang="en-US" sz="1800" dirty="0">
                <a:solidFill>
                  <a:schemeClr val="tx1"/>
                </a:solidFill>
              </a:rPr>
              <a:t>中的函数可直接调用</a:t>
            </a:r>
            <a:endParaRPr lang="en-US" altLang="zh-CN" sz="1800" dirty="0">
              <a:solidFill>
                <a:schemeClr val="tx1"/>
              </a:solidFill>
            </a:endParaRPr>
          </a:p>
          <a:p>
            <a:pPr>
              <a:buFont typeface="Wingdings" pitchFamily="2" charset="2"/>
              <a:buChar char="p"/>
            </a:pPr>
            <a:r>
              <a:rPr lang="zh-CN" altLang="en-US" sz="2000" b="1" dirty="0">
                <a:solidFill>
                  <a:srgbClr val="00B050"/>
                </a:solidFill>
              </a:rPr>
              <a:t>非内置模块：</a:t>
            </a:r>
            <a:r>
              <a:rPr lang="zh-CN" altLang="en-US" sz="1800" dirty="0">
                <a:solidFill>
                  <a:schemeClr val="tx1"/>
                </a:solidFill>
              </a:rPr>
              <a:t>必须用</a:t>
            </a:r>
            <a:r>
              <a:rPr lang="en-US" altLang="zh-CN" sz="1800" dirty="0">
                <a:solidFill>
                  <a:schemeClr val="tx1"/>
                </a:solidFill>
              </a:rPr>
              <a:t>import   </a:t>
            </a:r>
            <a:r>
              <a:rPr lang="zh-CN" altLang="en-US" sz="1800" dirty="0">
                <a:solidFill>
                  <a:schemeClr val="tx1"/>
                </a:solidFill>
              </a:rPr>
              <a:t>模块名  或 </a:t>
            </a:r>
            <a:r>
              <a:rPr lang="en-US" altLang="zh-CN" sz="1800" dirty="0">
                <a:solidFill>
                  <a:schemeClr val="tx1"/>
                </a:solidFill>
              </a:rPr>
              <a:t>from </a:t>
            </a:r>
            <a:r>
              <a:rPr lang="zh-CN" altLang="en-US" sz="1800" dirty="0">
                <a:solidFill>
                  <a:schemeClr val="tx1"/>
                </a:solidFill>
              </a:rPr>
              <a:t>模块名  </a:t>
            </a:r>
            <a:r>
              <a:rPr lang="en-US" altLang="zh-CN" sz="1800" dirty="0">
                <a:solidFill>
                  <a:schemeClr val="tx1"/>
                </a:solidFill>
              </a:rPr>
              <a:t>import  </a:t>
            </a:r>
            <a:r>
              <a:rPr lang="zh-CN" altLang="en-US" sz="1800" dirty="0">
                <a:solidFill>
                  <a:schemeClr val="tx1"/>
                </a:solidFill>
              </a:rPr>
              <a:t>函数名</a:t>
            </a:r>
            <a:endParaRPr lang="en-US" altLang="zh-CN" sz="1800" dirty="0">
              <a:solidFill>
                <a:schemeClr val="tx1"/>
              </a:solidFill>
            </a:endParaRPr>
          </a:p>
          <a:p>
            <a:pPr marL="0" indent="0">
              <a:buNone/>
            </a:pPr>
            <a:r>
              <a:rPr lang="zh-CN" altLang="en-US" sz="1800" dirty="0">
                <a:solidFill>
                  <a:schemeClr val="tx1"/>
                </a:solidFill>
              </a:rPr>
              <a:t>                           函数调用形式： </a:t>
            </a:r>
            <a:r>
              <a:rPr lang="zh-CN" altLang="en-US" sz="1800" dirty="0">
                <a:solidFill>
                  <a:srgbClr val="C00000"/>
                </a:solidFill>
              </a:rPr>
              <a:t>函数名（参数列表）</a:t>
            </a:r>
            <a:endParaRPr lang="zh-CN" altLang="en-US" dirty="0">
              <a:solidFill>
                <a:srgbClr val="C00000"/>
              </a:solidFill>
            </a:endParaRPr>
          </a:p>
        </p:txBody>
      </p:sp>
      <p:graphicFrame>
        <p:nvGraphicFramePr>
          <p:cNvPr id="4" name="表格 3"/>
          <p:cNvGraphicFramePr>
            <a:graphicFrameLocks noGrp="1"/>
          </p:cNvGraphicFramePr>
          <p:nvPr>
            <p:extLst>
              <p:ext uri="{D42A27DB-BD31-4B8C-83A1-F6EECF244321}">
                <p14:modId xmlns:p14="http://schemas.microsoft.com/office/powerpoint/2010/main" val="1051280546"/>
              </p:ext>
            </p:extLst>
          </p:nvPr>
        </p:nvGraphicFramePr>
        <p:xfrm>
          <a:off x="899592" y="2643758"/>
          <a:ext cx="7217402" cy="2164080"/>
        </p:xfrm>
        <a:graphic>
          <a:graphicData uri="http://schemas.openxmlformats.org/drawingml/2006/table">
            <a:tbl>
              <a:tblPr firstRow="1" bandRow="1">
                <a:tableStyleId>{5940675A-B579-460E-94D1-54222C63F5DA}</a:tableStyleId>
              </a:tblPr>
              <a:tblGrid>
                <a:gridCol w="1767922">
                  <a:extLst>
                    <a:ext uri="{9D8B030D-6E8A-4147-A177-3AD203B41FA5}">
                      <a16:colId xmlns:a16="http://schemas.microsoft.com/office/drawing/2014/main" val="20000"/>
                    </a:ext>
                  </a:extLst>
                </a:gridCol>
                <a:gridCol w="2077575">
                  <a:extLst>
                    <a:ext uri="{9D8B030D-6E8A-4147-A177-3AD203B41FA5}">
                      <a16:colId xmlns:a16="http://schemas.microsoft.com/office/drawing/2014/main" val="20001"/>
                    </a:ext>
                  </a:extLst>
                </a:gridCol>
                <a:gridCol w="1752954">
                  <a:extLst>
                    <a:ext uri="{9D8B030D-6E8A-4147-A177-3AD203B41FA5}">
                      <a16:colId xmlns:a16="http://schemas.microsoft.com/office/drawing/2014/main" val="20002"/>
                    </a:ext>
                  </a:extLst>
                </a:gridCol>
                <a:gridCol w="1618951">
                  <a:extLst>
                    <a:ext uri="{9D8B030D-6E8A-4147-A177-3AD203B41FA5}">
                      <a16:colId xmlns:a16="http://schemas.microsoft.com/office/drawing/2014/main" val="20003"/>
                    </a:ext>
                  </a:extLst>
                </a:gridCol>
              </a:tblGrid>
              <a:tr h="252000">
                <a:tc>
                  <a:txBody>
                    <a:bodyPr/>
                    <a:lstStyle/>
                    <a:p>
                      <a:pPr algn="ctr"/>
                      <a:r>
                        <a:rPr lang="zh-CN" altLang="en-US" sz="1600" dirty="0"/>
                        <a:t>函数</a:t>
                      </a:r>
                    </a:p>
                  </a:txBody>
                  <a:tcPr>
                    <a:solidFill>
                      <a:schemeClr val="accent1">
                        <a:lumMod val="20000"/>
                        <a:lumOff val="80000"/>
                      </a:schemeClr>
                    </a:solidFill>
                  </a:tcPr>
                </a:tc>
                <a:tc>
                  <a:txBody>
                    <a:bodyPr/>
                    <a:lstStyle/>
                    <a:p>
                      <a:pPr algn="ctr"/>
                      <a:r>
                        <a:rPr lang="zh-CN" altLang="en-US" sz="1600" dirty="0"/>
                        <a:t>含义</a:t>
                      </a:r>
                    </a:p>
                  </a:txBody>
                  <a:tcPr>
                    <a:solidFill>
                      <a:schemeClr val="accent1">
                        <a:lumMod val="20000"/>
                        <a:lumOff val="80000"/>
                      </a:schemeClr>
                    </a:solidFill>
                  </a:tcPr>
                </a:tc>
                <a:tc>
                  <a:txBody>
                    <a:bodyPr/>
                    <a:lstStyle/>
                    <a:p>
                      <a:pPr algn="ctr"/>
                      <a:r>
                        <a:rPr lang="zh-CN" altLang="en-US" sz="1600" dirty="0"/>
                        <a:t>实例</a:t>
                      </a:r>
                    </a:p>
                  </a:txBody>
                  <a:tcPr>
                    <a:solidFill>
                      <a:schemeClr val="accent1">
                        <a:lumMod val="20000"/>
                        <a:lumOff val="80000"/>
                      </a:schemeClr>
                    </a:solidFill>
                  </a:tcPr>
                </a:tc>
                <a:tc>
                  <a:txBody>
                    <a:bodyPr/>
                    <a:lstStyle/>
                    <a:p>
                      <a:pPr algn="ctr"/>
                      <a:r>
                        <a:rPr lang="zh-CN" altLang="en-US" sz="1600" dirty="0"/>
                        <a:t>结果</a:t>
                      </a:r>
                    </a:p>
                  </a:txBody>
                  <a:tcPr>
                    <a:solidFill>
                      <a:schemeClr val="accent1">
                        <a:lumMod val="20000"/>
                        <a:lumOff val="80000"/>
                      </a:schemeClr>
                    </a:solidFill>
                  </a:tcPr>
                </a:tc>
                <a:extLst>
                  <a:ext uri="{0D108BD9-81ED-4DB2-BD59-A6C34878D82A}">
                    <a16:rowId xmlns:a16="http://schemas.microsoft.com/office/drawing/2014/main" val="10000"/>
                  </a:ext>
                </a:extLst>
              </a:tr>
              <a:tr h="252000">
                <a:tc>
                  <a:txBody>
                    <a:bodyPr/>
                    <a:lstStyle/>
                    <a:p>
                      <a:pPr algn="ctr"/>
                      <a:r>
                        <a:rPr lang="en-US" altLang="zh-CN" sz="1400" dirty="0"/>
                        <a:t>abs(x)</a:t>
                      </a:r>
                      <a:endParaRPr lang="zh-CN" altLang="en-US" sz="1400" dirty="0"/>
                    </a:p>
                  </a:txBody>
                  <a:tcPr/>
                </a:tc>
                <a:tc>
                  <a:txBody>
                    <a:bodyPr/>
                    <a:lstStyle/>
                    <a:p>
                      <a:pPr algn="ctr"/>
                      <a:r>
                        <a:rPr lang="zh-CN" altLang="en-US" sz="1400" dirty="0"/>
                        <a:t>取绝对值</a:t>
                      </a:r>
                    </a:p>
                  </a:txBody>
                  <a:tcPr/>
                </a:tc>
                <a:tc>
                  <a:txBody>
                    <a:bodyPr/>
                    <a:lstStyle/>
                    <a:p>
                      <a:pPr algn="ctr"/>
                      <a:r>
                        <a:rPr lang="en-US" altLang="zh-CN" sz="1400"/>
                        <a:t>abs(-3.5</a:t>
                      </a:r>
                      <a:r>
                        <a:rPr lang="en-US" altLang="zh-CN" sz="1400" dirty="0"/>
                        <a:t>)</a:t>
                      </a:r>
                      <a:endParaRPr lang="zh-CN" altLang="en-US" sz="1400" dirty="0"/>
                    </a:p>
                  </a:txBody>
                  <a:tcPr/>
                </a:tc>
                <a:tc>
                  <a:txBody>
                    <a:bodyPr/>
                    <a:lstStyle/>
                    <a:p>
                      <a:pPr algn="ctr"/>
                      <a:r>
                        <a:rPr lang="en-US" altLang="zh-CN" sz="1400" dirty="0"/>
                        <a:t>3.5</a:t>
                      </a:r>
                      <a:endParaRPr lang="zh-CN" altLang="en-US" sz="1400" dirty="0"/>
                    </a:p>
                  </a:txBody>
                  <a:tcPr/>
                </a:tc>
                <a:extLst>
                  <a:ext uri="{0D108BD9-81ED-4DB2-BD59-A6C34878D82A}">
                    <a16:rowId xmlns:a16="http://schemas.microsoft.com/office/drawing/2014/main" val="10001"/>
                  </a:ext>
                </a:extLst>
              </a:tr>
              <a:tr h="252000">
                <a:tc>
                  <a:txBody>
                    <a:bodyPr/>
                    <a:lstStyle/>
                    <a:p>
                      <a:pPr algn="ctr"/>
                      <a:r>
                        <a:rPr lang="en-US" altLang="zh-CN" sz="1400" dirty="0" err="1"/>
                        <a:t>divmod</a:t>
                      </a:r>
                      <a:r>
                        <a:rPr lang="en-US" altLang="zh-CN" sz="1400" dirty="0"/>
                        <a:t>(</a:t>
                      </a:r>
                      <a:r>
                        <a:rPr lang="en-US" altLang="zh-CN" sz="1400" dirty="0" err="1"/>
                        <a:t>x,y</a:t>
                      </a:r>
                      <a:r>
                        <a:rPr lang="en-US" altLang="zh-CN" sz="1400" dirty="0"/>
                        <a:t>)</a:t>
                      </a:r>
                      <a:endParaRPr lang="zh-CN" altLang="en-US" sz="1400" dirty="0"/>
                    </a:p>
                  </a:txBody>
                  <a:tcPr/>
                </a:tc>
                <a:tc>
                  <a:txBody>
                    <a:bodyPr/>
                    <a:lstStyle/>
                    <a:p>
                      <a:pPr algn="ctr"/>
                      <a:r>
                        <a:rPr lang="en-US" altLang="zh-CN" sz="1400" dirty="0"/>
                        <a:t>(x//</a:t>
                      </a:r>
                      <a:r>
                        <a:rPr lang="en-US" altLang="zh-CN" sz="1400" dirty="0" err="1"/>
                        <a:t>y,x%y</a:t>
                      </a:r>
                      <a:r>
                        <a:rPr lang="en-US" altLang="zh-CN" sz="1400" dirty="0"/>
                        <a:t>)</a:t>
                      </a:r>
                      <a:endParaRPr lang="zh-CN"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divmod</a:t>
                      </a:r>
                      <a:r>
                        <a:rPr lang="en-US" altLang="zh-CN" sz="1400" dirty="0"/>
                        <a:t>(10,3)</a:t>
                      </a:r>
                      <a:endParaRPr lang="zh-CN" altLang="en-US" sz="1400" dirty="0"/>
                    </a:p>
                  </a:txBody>
                  <a:tcPr/>
                </a:tc>
                <a:tc>
                  <a:txBody>
                    <a:bodyPr/>
                    <a:lstStyle/>
                    <a:p>
                      <a:pPr algn="ctr"/>
                      <a:r>
                        <a:rPr lang="en-US" altLang="zh-CN" sz="1400" dirty="0"/>
                        <a:t>(3,1)</a:t>
                      </a:r>
                      <a:endParaRPr lang="zh-CN" altLang="en-US" sz="1400" dirty="0"/>
                    </a:p>
                  </a:txBody>
                  <a:tcPr/>
                </a:tc>
                <a:extLst>
                  <a:ext uri="{0D108BD9-81ED-4DB2-BD59-A6C34878D82A}">
                    <a16:rowId xmlns:a16="http://schemas.microsoft.com/office/drawing/2014/main" val="10002"/>
                  </a:ext>
                </a:extLst>
              </a:tr>
              <a:tr h="252000">
                <a:tc>
                  <a:txBody>
                    <a:bodyPr/>
                    <a:lstStyle/>
                    <a:p>
                      <a:pPr algn="ctr"/>
                      <a:r>
                        <a:rPr lang="en-US" altLang="zh-CN" sz="1400" dirty="0" err="1"/>
                        <a:t>pow</a:t>
                      </a:r>
                      <a:r>
                        <a:rPr lang="en-US" altLang="zh-CN" sz="1400" dirty="0"/>
                        <a:t>(</a:t>
                      </a:r>
                      <a:r>
                        <a:rPr lang="en-US" altLang="zh-CN" sz="1400" dirty="0" err="1"/>
                        <a:t>x,y</a:t>
                      </a:r>
                      <a:r>
                        <a:rPr lang="en-US" altLang="zh-CN" sz="1400" dirty="0"/>
                        <a:t>)</a:t>
                      </a:r>
                      <a:endParaRPr lang="zh-CN" altLang="en-US" sz="1400" dirty="0"/>
                    </a:p>
                  </a:txBody>
                  <a:tcPr/>
                </a:tc>
                <a:tc>
                  <a:txBody>
                    <a:bodyPr/>
                    <a:lstStyle/>
                    <a:p>
                      <a:pPr algn="ctr"/>
                      <a:r>
                        <a:rPr lang="zh-CN" altLang="en-US" sz="1400" dirty="0"/>
                        <a:t>幂运算</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pow</a:t>
                      </a:r>
                      <a:r>
                        <a:rPr lang="en-US" altLang="zh-CN" sz="1400" dirty="0"/>
                        <a:t>(3,4)</a:t>
                      </a:r>
                      <a:endParaRPr lang="zh-CN" altLang="en-US" sz="1400" dirty="0"/>
                    </a:p>
                  </a:txBody>
                  <a:tcPr/>
                </a:tc>
                <a:tc>
                  <a:txBody>
                    <a:bodyPr/>
                    <a:lstStyle/>
                    <a:p>
                      <a:pPr algn="ctr"/>
                      <a:r>
                        <a:rPr lang="en-US" altLang="zh-CN" sz="1400" dirty="0"/>
                        <a:t>81.0</a:t>
                      </a:r>
                      <a:endParaRPr lang="zh-CN" altLang="en-US" sz="1400" dirty="0"/>
                    </a:p>
                  </a:txBody>
                  <a:tcPr/>
                </a:tc>
                <a:extLst>
                  <a:ext uri="{0D108BD9-81ED-4DB2-BD59-A6C34878D82A}">
                    <a16:rowId xmlns:a16="http://schemas.microsoft.com/office/drawing/2014/main" val="10003"/>
                  </a:ext>
                </a:extLst>
              </a:tr>
              <a:tr h="252000">
                <a:tc>
                  <a:txBody>
                    <a:bodyPr/>
                    <a:lstStyle/>
                    <a:p>
                      <a:pPr algn="ctr"/>
                      <a:r>
                        <a:rPr lang="en-US" altLang="zh-CN" sz="1400" dirty="0"/>
                        <a:t>round(x[,n])</a:t>
                      </a:r>
                      <a:endParaRPr lang="zh-CN" altLang="en-US" sz="1400" dirty="0"/>
                    </a:p>
                  </a:txBody>
                  <a:tcPr/>
                </a:tc>
                <a:tc>
                  <a:txBody>
                    <a:bodyPr/>
                    <a:lstStyle/>
                    <a:p>
                      <a:pPr algn="ctr"/>
                      <a:r>
                        <a:rPr lang="zh-CN" altLang="en-US" sz="1400" dirty="0"/>
                        <a:t>四舍五入</a:t>
                      </a:r>
                      <a:r>
                        <a:rPr lang="en-US" altLang="zh-CN" sz="1400" dirty="0"/>
                        <a:t>(</a:t>
                      </a:r>
                      <a:r>
                        <a:rPr lang="zh-CN" altLang="en-US" sz="1400" dirty="0"/>
                        <a:t>保留</a:t>
                      </a:r>
                      <a:r>
                        <a:rPr lang="en-US" altLang="zh-CN" sz="1400" dirty="0"/>
                        <a:t>n</a:t>
                      </a:r>
                      <a:r>
                        <a:rPr lang="zh-CN" altLang="en-US" sz="1400" dirty="0"/>
                        <a:t>位小数</a:t>
                      </a:r>
                      <a:r>
                        <a:rPr lang="en-US" altLang="zh-CN" sz="1400" dirty="0"/>
                        <a:t>)</a:t>
                      </a:r>
                      <a:endParaRPr lang="zh-CN" alt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round(10.4456,2)</a:t>
                      </a:r>
                      <a:endParaRPr lang="zh-CN" altLang="en-US" sz="1400" dirty="0"/>
                    </a:p>
                  </a:txBody>
                  <a:tcPr/>
                </a:tc>
                <a:tc>
                  <a:txBody>
                    <a:bodyPr/>
                    <a:lstStyle/>
                    <a:p>
                      <a:pPr algn="ctr"/>
                      <a:r>
                        <a:rPr lang="en-US" altLang="zh-CN" sz="1400" dirty="0"/>
                        <a:t>10.45</a:t>
                      </a:r>
                      <a:endParaRPr lang="zh-CN" altLang="en-US" sz="1400" dirty="0"/>
                    </a:p>
                  </a:txBody>
                  <a:tcPr/>
                </a:tc>
                <a:extLst>
                  <a:ext uri="{0D108BD9-81ED-4DB2-BD59-A6C34878D82A}">
                    <a16:rowId xmlns:a16="http://schemas.microsoft.com/office/drawing/2014/main" val="10004"/>
                  </a:ext>
                </a:extLst>
              </a:tr>
              <a:tr h="252000">
                <a:tc>
                  <a:txBody>
                    <a:bodyPr/>
                    <a:lstStyle/>
                    <a:p>
                      <a:pPr algn="ctr"/>
                      <a:r>
                        <a:rPr lang="en-US" altLang="zh-CN" sz="1400" dirty="0"/>
                        <a:t>max(x</a:t>
                      </a:r>
                      <a:r>
                        <a:rPr lang="en-US" altLang="zh-CN" sz="1400" baseline="-25000" dirty="0"/>
                        <a:t>1</a:t>
                      </a:r>
                      <a:r>
                        <a:rPr lang="en-US" altLang="zh-CN" sz="1400" dirty="0"/>
                        <a:t>,x</a:t>
                      </a:r>
                      <a:r>
                        <a:rPr lang="en-US" altLang="zh-CN" sz="1400" baseline="-25000" dirty="0"/>
                        <a:t>2</a:t>
                      </a:r>
                      <a:r>
                        <a:rPr lang="en-US" altLang="zh-CN" sz="1400" dirty="0"/>
                        <a:t>,…,</a:t>
                      </a:r>
                      <a:r>
                        <a:rPr lang="en-US" altLang="zh-CN" sz="1400" dirty="0" err="1"/>
                        <a:t>x</a:t>
                      </a:r>
                      <a:r>
                        <a:rPr lang="en-US" altLang="zh-CN" sz="1400" baseline="-25000" dirty="0" err="1"/>
                        <a:t>n</a:t>
                      </a:r>
                      <a:r>
                        <a:rPr lang="en-US" altLang="zh-CN" sz="1400" dirty="0"/>
                        <a:t>)</a:t>
                      </a:r>
                      <a:endParaRPr lang="zh-CN" altLang="en-US" sz="1400" dirty="0"/>
                    </a:p>
                  </a:txBody>
                  <a:tcPr/>
                </a:tc>
                <a:tc>
                  <a:txBody>
                    <a:bodyPr/>
                    <a:lstStyle/>
                    <a:p>
                      <a:pPr algn="ctr"/>
                      <a:r>
                        <a:rPr lang="zh-CN" altLang="en-US" sz="1400" dirty="0"/>
                        <a:t>求最大</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max(12,3,1,45)</a:t>
                      </a:r>
                      <a:endParaRPr lang="zh-CN" altLang="en-US" sz="1400" dirty="0"/>
                    </a:p>
                  </a:txBody>
                  <a:tcPr/>
                </a:tc>
                <a:tc>
                  <a:txBody>
                    <a:bodyPr/>
                    <a:lstStyle/>
                    <a:p>
                      <a:pPr algn="ctr"/>
                      <a:r>
                        <a:rPr lang="en-US" altLang="zh-CN" sz="1400" dirty="0"/>
                        <a:t>45</a:t>
                      </a:r>
                      <a:endParaRPr lang="zh-CN" altLang="en-US" sz="1400" dirty="0"/>
                    </a:p>
                  </a:txBody>
                  <a:tcPr/>
                </a:tc>
                <a:extLst>
                  <a:ext uri="{0D108BD9-81ED-4DB2-BD59-A6C34878D82A}">
                    <a16:rowId xmlns:a16="http://schemas.microsoft.com/office/drawing/2014/main" val="10005"/>
                  </a:ext>
                </a:extLst>
              </a:tr>
              <a:tr h="25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min(x</a:t>
                      </a:r>
                      <a:r>
                        <a:rPr lang="en-US" altLang="zh-CN" sz="1400" baseline="-25000" dirty="0"/>
                        <a:t>1</a:t>
                      </a:r>
                      <a:r>
                        <a:rPr lang="en-US" altLang="zh-CN" sz="1400" dirty="0"/>
                        <a:t>,x</a:t>
                      </a:r>
                      <a:r>
                        <a:rPr lang="en-US" altLang="zh-CN" sz="1400" baseline="-25000" dirty="0"/>
                        <a:t>2</a:t>
                      </a:r>
                      <a:r>
                        <a:rPr lang="en-US" altLang="zh-CN" sz="1400" dirty="0"/>
                        <a:t>,…,</a:t>
                      </a:r>
                      <a:r>
                        <a:rPr lang="en-US" altLang="zh-CN" sz="1400" dirty="0" err="1"/>
                        <a:t>x</a:t>
                      </a:r>
                      <a:r>
                        <a:rPr lang="en-US" altLang="zh-CN" sz="1400" baseline="-25000" dirty="0" err="1"/>
                        <a:t>n</a:t>
                      </a:r>
                      <a:r>
                        <a:rPr lang="en-US" altLang="zh-CN" sz="1400" dirty="0"/>
                        <a:t>)</a:t>
                      </a:r>
                      <a:endParaRPr lang="zh-CN" altLang="en-US" sz="1400" dirty="0"/>
                    </a:p>
                  </a:txBody>
                  <a:tcPr/>
                </a:tc>
                <a:tc>
                  <a:txBody>
                    <a:bodyPr/>
                    <a:lstStyle/>
                    <a:p>
                      <a:pPr algn="ctr"/>
                      <a:r>
                        <a:rPr lang="zh-CN" altLang="en-US" sz="1400" dirty="0"/>
                        <a:t>求最小</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min(12,3,1,45)</a:t>
                      </a:r>
                      <a:endParaRPr lang="zh-CN" altLang="en-US" sz="1400" dirty="0"/>
                    </a:p>
                  </a:txBody>
                  <a:tcPr/>
                </a:tc>
                <a:tc>
                  <a:txBody>
                    <a:bodyPr/>
                    <a:lstStyle/>
                    <a:p>
                      <a:pPr algn="ctr"/>
                      <a:r>
                        <a:rPr lang="en-US" altLang="zh-CN" sz="1400" dirty="0"/>
                        <a:t>1</a:t>
                      </a:r>
                      <a:endParaRPr lang="zh-CN" altLang="en-US" sz="1400" dirty="0"/>
                    </a:p>
                  </a:txBody>
                  <a:tcPr/>
                </a:tc>
                <a:extLst>
                  <a:ext uri="{0D108BD9-81ED-4DB2-BD59-A6C34878D82A}">
                    <a16:rowId xmlns:a16="http://schemas.microsoft.com/office/drawing/2014/main" val="10006"/>
                  </a:ext>
                </a:extLst>
              </a:tr>
            </a:tbl>
          </a:graphicData>
        </a:graphic>
      </p:graphicFrame>
      <p:sp>
        <p:nvSpPr>
          <p:cNvPr id="5" name="标题 1"/>
          <p:cNvSpPr txBox="1">
            <a:spLocks/>
          </p:cNvSpPr>
          <p:nvPr/>
        </p:nvSpPr>
        <p:spPr bwMode="auto">
          <a:xfrm>
            <a:off x="827584" y="2210355"/>
            <a:ext cx="2413224" cy="41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lnSpc>
                <a:spcPct val="95000"/>
              </a:lnSpc>
              <a:spcBef>
                <a:spcPct val="0"/>
              </a:spcBef>
              <a:spcAft>
                <a:spcPct val="0"/>
              </a:spcAft>
              <a:defRPr sz="3200" b="1">
                <a:solidFill>
                  <a:srgbClr val="C00000"/>
                </a:solidFill>
                <a:latin typeface="微软雅黑" panose="020B0503020204020204" pitchFamily="34" charset="-122"/>
                <a:ea typeface="微软雅黑" panose="020B0503020204020204" pitchFamily="34" charset="-122"/>
                <a:cs typeface="+mj-cs"/>
              </a:defRPr>
            </a:lvl1pPr>
            <a:lvl2pPr algn="l" rtl="0" eaLnBrk="0" fontAlgn="base" hangingPunct="0">
              <a:lnSpc>
                <a:spcPct val="95000"/>
              </a:lnSpc>
              <a:spcBef>
                <a:spcPct val="0"/>
              </a:spcBef>
              <a:spcAft>
                <a:spcPct val="0"/>
              </a:spcAft>
              <a:defRPr sz="3600" b="1">
                <a:solidFill>
                  <a:schemeClr val="accent1"/>
                </a:solidFill>
                <a:latin typeface="Arial" pitchFamily="34" charset="0"/>
              </a:defRPr>
            </a:lvl2pPr>
            <a:lvl3pPr algn="l" rtl="0" eaLnBrk="0" fontAlgn="base" hangingPunct="0">
              <a:lnSpc>
                <a:spcPct val="95000"/>
              </a:lnSpc>
              <a:spcBef>
                <a:spcPct val="0"/>
              </a:spcBef>
              <a:spcAft>
                <a:spcPct val="0"/>
              </a:spcAft>
              <a:defRPr sz="3600" b="1">
                <a:solidFill>
                  <a:schemeClr val="accent1"/>
                </a:solidFill>
                <a:latin typeface="Arial" pitchFamily="34" charset="0"/>
              </a:defRPr>
            </a:lvl3pPr>
            <a:lvl4pPr algn="l" rtl="0" eaLnBrk="0" fontAlgn="base" hangingPunct="0">
              <a:lnSpc>
                <a:spcPct val="95000"/>
              </a:lnSpc>
              <a:spcBef>
                <a:spcPct val="0"/>
              </a:spcBef>
              <a:spcAft>
                <a:spcPct val="0"/>
              </a:spcAft>
              <a:defRPr sz="3600" b="1">
                <a:solidFill>
                  <a:schemeClr val="accent1"/>
                </a:solidFill>
                <a:latin typeface="Arial" pitchFamily="34" charset="0"/>
              </a:defRPr>
            </a:lvl4pPr>
            <a:lvl5pPr algn="l" rtl="0" eaLnBrk="0" fontAlgn="base" hangingPunct="0">
              <a:lnSpc>
                <a:spcPct val="95000"/>
              </a:lnSpc>
              <a:spcBef>
                <a:spcPct val="0"/>
              </a:spcBef>
              <a:spcAft>
                <a:spcPct val="0"/>
              </a:spcAft>
              <a:defRPr sz="3600" b="1">
                <a:solidFill>
                  <a:schemeClr val="accent1"/>
                </a:solidFill>
                <a:latin typeface="Arial" pitchFamily="34" charset="0"/>
              </a:defRPr>
            </a:lvl5pPr>
            <a:lvl6pPr marL="457200" algn="l" rtl="0" eaLnBrk="1" fontAlgn="base" hangingPunct="1">
              <a:lnSpc>
                <a:spcPct val="95000"/>
              </a:lnSpc>
              <a:spcBef>
                <a:spcPct val="0"/>
              </a:spcBef>
              <a:spcAft>
                <a:spcPct val="0"/>
              </a:spcAft>
              <a:defRPr sz="3200" b="1">
                <a:solidFill>
                  <a:schemeClr val="accent1"/>
                </a:solidFill>
                <a:latin typeface="Arial" pitchFamily="34" charset="0"/>
              </a:defRPr>
            </a:lvl6pPr>
            <a:lvl7pPr marL="914400" algn="l" rtl="0" eaLnBrk="1" fontAlgn="base" hangingPunct="1">
              <a:lnSpc>
                <a:spcPct val="95000"/>
              </a:lnSpc>
              <a:spcBef>
                <a:spcPct val="0"/>
              </a:spcBef>
              <a:spcAft>
                <a:spcPct val="0"/>
              </a:spcAft>
              <a:defRPr sz="3200" b="1">
                <a:solidFill>
                  <a:schemeClr val="accent1"/>
                </a:solidFill>
                <a:latin typeface="Arial" pitchFamily="34" charset="0"/>
              </a:defRPr>
            </a:lvl7pPr>
            <a:lvl8pPr marL="1371600" algn="l" rtl="0" eaLnBrk="1" fontAlgn="base" hangingPunct="1">
              <a:lnSpc>
                <a:spcPct val="95000"/>
              </a:lnSpc>
              <a:spcBef>
                <a:spcPct val="0"/>
              </a:spcBef>
              <a:spcAft>
                <a:spcPct val="0"/>
              </a:spcAft>
              <a:defRPr sz="3200" b="1">
                <a:solidFill>
                  <a:schemeClr val="accent1"/>
                </a:solidFill>
                <a:latin typeface="Arial" pitchFamily="34" charset="0"/>
              </a:defRPr>
            </a:lvl8pPr>
            <a:lvl9pPr marL="1828800" algn="l" rtl="0" eaLnBrk="1" fontAlgn="base" hangingPunct="1">
              <a:lnSpc>
                <a:spcPct val="95000"/>
              </a:lnSpc>
              <a:spcBef>
                <a:spcPct val="0"/>
              </a:spcBef>
              <a:spcAft>
                <a:spcPct val="0"/>
              </a:spcAft>
              <a:defRPr sz="3200" b="1">
                <a:solidFill>
                  <a:schemeClr val="accent1"/>
                </a:solidFill>
                <a:latin typeface="Arial" pitchFamily="34" charset="0"/>
              </a:defRPr>
            </a:lvl9pPr>
          </a:lstStyle>
          <a:p>
            <a:r>
              <a:rPr lang="zh-CN" altLang="en-US" sz="1800" dirty="0">
                <a:solidFill>
                  <a:srgbClr val="0070C0"/>
                </a:solidFill>
              </a:rPr>
              <a:t>内置数值型函数</a:t>
            </a:r>
          </a:p>
        </p:txBody>
      </p:sp>
    </p:spTree>
    <p:extLst>
      <p:ext uri="{BB962C8B-B14F-4D97-AF65-F5344CB8AC3E}">
        <p14:creationId xmlns:p14="http://schemas.microsoft.com/office/powerpoint/2010/main" val="35521346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421363" y="771550"/>
            <a:ext cx="5544616" cy="41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lnSpc>
                <a:spcPct val="95000"/>
              </a:lnSpc>
              <a:spcBef>
                <a:spcPct val="0"/>
              </a:spcBef>
              <a:spcAft>
                <a:spcPct val="0"/>
              </a:spcAft>
              <a:defRPr sz="3200" b="1">
                <a:solidFill>
                  <a:srgbClr val="C00000"/>
                </a:solidFill>
                <a:latin typeface="微软雅黑" panose="020B0503020204020204" pitchFamily="34" charset="-122"/>
                <a:ea typeface="微软雅黑" panose="020B0503020204020204" pitchFamily="34" charset="-122"/>
                <a:cs typeface="+mj-cs"/>
              </a:defRPr>
            </a:lvl1pPr>
            <a:lvl2pPr algn="l" rtl="0" eaLnBrk="0" fontAlgn="base" hangingPunct="0">
              <a:lnSpc>
                <a:spcPct val="95000"/>
              </a:lnSpc>
              <a:spcBef>
                <a:spcPct val="0"/>
              </a:spcBef>
              <a:spcAft>
                <a:spcPct val="0"/>
              </a:spcAft>
              <a:defRPr sz="3600" b="1">
                <a:solidFill>
                  <a:schemeClr val="accent1"/>
                </a:solidFill>
                <a:latin typeface="Arial" pitchFamily="34" charset="0"/>
              </a:defRPr>
            </a:lvl2pPr>
            <a:lvl3pPr algn="l" rtl="0" eaLnBrk="0" fontAlgn="base" hangingPunct="0">
              <a:lnSpc>
                <a:spcPct val="95000"/>
              </a:lnSpc>
              <a:spcBef>
                <a:spcPct val="0"/>
              </a:spcBef>
              <a:spcAft>
                <a:spcPct val="0"/>
              </a:spcAft>
              <a:defRPr sz="3600" b="1">
                <a:solidFill>
                  <a:schemeClr val="accent1"/>
                </a:solidFill>
                <a:latin typeface="Arial" pitchFamily="34" charset="0"/>
              </a:defRPr>
            </a:lvl3pPr>
            <a:lvl4pPr algn="l" rtl="0" eaLnBrk="0" fontAlgn="base" hangingPunct="0">
              <a:lnSpc>
                <a:spcPct val="95000"/>
              </a:lnSpc>
              <a:spcBef>
                <a:spcPct val="0"/>
              </a:spcBef>
              <a:spcAft>
                <a:spcPct val="0"/>
              </a:spcAft>
              <a:defRPr sz="3600" b="1">
                <a:solidFill>
                  <a:schemeClr val="accent1"/>
                </a:solidFill>
                <a:latin typeface="Arial" pitchFamily="34" charset="0"/>
              </a:defRPr>
            </a:lvl4pPr>
            <a:lvl5pPr algn="l" rtl="0" eaLnBrk="0" fontAlgn="base" hangingPunct="0">
              <a:lnSpc>
                <a:spcPct val="95000"/>
              </a:lnSpc>
              <a:spcBef>
                <a:spcPct val="0"/>
              </a:spcBef>
              <a:spcAft>
                <a:spcPct val="0"/>
              </a:spcAft>
              <a:defRPr sz="3600" b="1">
                <a:solidFill>
                  <a:schemeClr val="accent1"/>
                </a:solidFill>
                <a:latin typeface="Arial" pitchFamily="34" charset="0"/>
              </a:defRPr>
            </a:lvl5pPr>
            <a:lvl6pPr marL="457200" algn="l" rtl="0" eaLnBrk="1" fontAlgn="base" hangingPunct="1">
              <a:lnSpc>
                <a:spcPct val="95000"/>
              </a:lnSpc>
              <a:spcBef>
                <a:spcPct val="0"/>
              </a:spcBef>
              <a:spcAft>
                <a:spcPct val="0"/>
              </a:spcAft>
              <a:defRPr sz="3200" b="1">
                <a:solidFill>
                  <a:schemeClr val="accent1"/>
                </a:solidFill>
                <a:latin typeface="Arial" pitchFamily="34" charset="0"/>
              </a:defRPr>
            </a:lvl6pPr>
            <a:lvl7pPr marL="914400" algn="l" rtl="0" eaLnBrk="1" fontAlgn="base" hangingPunct="1">
              <a:lnSpc>
                <a:spcPct val="95000"/>
              </a:lnSpc>
              <a:spcBef>
                <a:spcPct val="0"/>
              </a:spcBef>
              <a:spcAft>
                <a:spcPct val="0"/>
              </a:spcAft>
              <a:defRPr sz="3200" b="1">
                <a:solidFill>
                  <a:schemeClr val="accent1"/>
                </a:solidFill>
                <a:latin typeface="Arial" pitchFamily="34" charset="0"/>
              </a:defRPr>
            </a:lvl7pPr>
            <a:lvl8pPr marL="1371600" algn="l" rtl="0" eaLnBrk="1" fontAlgn="base" hangingPunct="1">
              <a:lnSpc>
                <a:spcPct val="95000"/>
              </a:lnSpc>
              <a:spcBef>
                <a:spcPct val="0"/>
              </a:spcBef>
              <a:spcAft>
                <a:spcPct val="0"/>
              </a:spcAft>
              <a:defRPr sz="3200" b="1">
                <a:solidFill>
                  <a:schemeClr val="accent1"/>
                </a:solidFill>
                <a:latin typeface="Arial" pitchFamily="34" charset="0"/>
              </a:defRPr>
            </a:lvl8pPr>
            <a:lvl9pPr marL="1828800" algn="l" rtl="0" eaLnBrk="1" fontAlgn="base" hangingPunct="1">
              <a:lnSpc>
                <a:spcPct val="95000"/>
              </a:lnSpc>
              <a:spcBef>
                <a:spcPct val="0"/>
              </a:spcBef>
              <a:spcAft>
                <a:spcPct val="0"/>
              </a:spcAft>
              <a:defRPr sz="3200" b="1">
                <a:solidFill>
                  <a:schemeClr val="accent1"/>
                </a:solidFill>
                <a:latin typeface="Arial" pitchFamily="34" charset="0"/>
              </a:defRPr>
            </a:lvl9pPr>
          </a:lstStyle>
          <a:p>
            <a:r>
              <a:rPr lang="zh-CN" altLang="en-US" sz="2400" dirty="0">
                <a:solidFill>
                  <a:srgbClr val="0070C0"/>
                </a:solidFill>
              </a:rPr>
              <a:t>内置转换类型函数</a:t>
            </a:r>
          </a:p>
        </p:txBody>
      </p:sp>
      <p:graphicFrame>
        <p:nvGraphicFramePr>
          <p:cNvPr id="5" name="表格 4"/>
          <p:cNvGraphicFramePr>
            <a:graphicFrameLocks noGrp="1"/>
          </p:cNvGraphicFramePr>
          <p:nvPr>
            <p:extLst>
              <p:ext uri="{D42A27DB-BD31-4B8C-83A1-F6EECF244321}">
                <p14:modId xmlns:p14="http://schemas.microsoft.com/office/powerpoint/2010/main" val="975716691"/>
              </p:ext>
            </p:extLst>
          </p:nvPr>
        </p:nvGraphicFramePr>
        <p:xfrm>
          <a:off x="421363" y="1275606"/>
          <a:ext cx="5734813" cy="3523064"/>
        </p:xfrm>
        <a:graphic>
          <a:graphicData uri="http://schemas.openxmlformats.org/drawingml/2006/table">
            <a:tbl>
              <a:tblPr firstRow="1" bandRow="1">
                <a:tableStyleId>{5940675A-B579-460E-94D1-54222C63F5DA}</a:tableStyleId>
              </a:tblPr>
              <a:tblGrid>
                <a:gridCol w="1368152">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766261">
                  <a:extLst>
                    <a:ext uri="{9D8B030D-6E8A-4147-A177-3AD203B41FA5}">
                      <a16:colId xmlns:a16="http://schemas.microsoft.com/office/drawing/2014/main" val="20003"/>
                    </a:ext>
                  </a:extLst>
                </a:gridCol>
              </a:tblGrid>
              <a:tr h="252000">
                <a:tc>
                  <a:txBody>
                    <a:bodyPr/>
                    <a:lstStyle/>
                    <a:p>
                      <a:pPr algn="ctr"/>
                      <a:r>
                        <a:rPr lang="zh-CN" altLang="en-US" sz="1800" dirty="0"/>
                        <a:t>函数</a:t>
                      </a:r>
                    </a:p>
                  </a:txBody>
                  <a:tcPr anchor="ctr">
                    <a:solidFill>
                      <a:schemeClr val="accent1">
                        <a:lumMod val="20000"/>
                        <a:lumOff val="80000"/>
                      </a:schemeClr>
                    </a:solidFill>
                  </a:tcPr>
                </a:tc>
                <a:tc>
                  <a:txBody>
                    <a:bodyPr/>
                    <a:lstStyle/>
                    <a:p>
                      <a:pPr algn="ctr"/>
                      <a:r>
                        <a:rPr lang="zh-CN" altLang="en-US" sz="1800" dirty="0"/>
                        <a:t>含义</a:t>
                      </a:r>
                    </a:p>
                  </a:txBody>
                  <a:tcPr anchor="ctr">
                    <a:solidFill>
                      <a:schemeClr val="accent1">
                        <a:lumMod val="20000"/>
                        <a:lumOff val="80000"/>
                      </a:schemeClr>
                    </a:solidFill>
                  </a:tcPr>
                </a:tc>
                <a:tc>
                  <a:txBody>
                    <a:bodyPr/>
                    <a:lstStyle/>
                    <a:p>
                      <a:pPr algn="ctr"/>
                      <a:r>
                        <a:rPr lang="zh-CN" altLang="en-US" sz="1800" dirty="0"/>
                        <a:t>实例</a:t>
                      </a:r>
                    </a:p>
                  </a:txBody>
                  <a:tcPr anchor="ctr">
                    <a:solidFill>
                      <a:schemeClr val="accent1">
                        <a:lumMod val="20000"/>
                        <a:lumOff val="80000"/>
                      </a:schemeClr>
                    </a:solidFill>
                  </a:tcPr>
                </a:tc>
                <a:tc>
                  <a:txBody>
                    <a:bodyPr/>
                    <a:lstStyle/>
                    <a:p>
                      <a:pPr algn="ctr"/>
                      <a:r>
                        <a:rPr lang="zh-CN" altLang="en-US" sz="1800" dirty="0"/>
                        <a:t>结果</a:t>
                      </a:r>
                    </a:p>
                  </a:txBody>
                  <a:tcPr anchor="ctr">
                    <a:solidFill>
                      <a:schemeClr val="accent1">
                        <a:lumMod val="20000"/>
                        <a:lumOff val="80000"/>
                      </a:schemeClr>
                    </a:solidFill>
                  </a:tcPr>
                </a:tc>
                <a:extLst>
                  <a:ext uri="{0D108BD9-81ED-4DB2-BD59-A6C34878D82A}">
                    <a16:rowId xmlns:a16="http://schemas.microsoft.com/office/drawing/2014/main" val="10000"/>
                  </a:ext>
                </a:extLst>
              </a:tr>
              <a:tr h="252000">
                <a:tc>
                  <a:txBody>
                    <a:bodyPr/>
                    <a:lstStyle/>
                    <a:p>
                      <a:pPr algn="ctr"/>
                      <a:r>
                        <a:rPr lang="en-US" altLang="zh-CN" sz="1400" dirty="0" err="1"/>
                        <a:t>int</a:t>
                      </a:r>
                      <a:r>
                        <a:rPr lang="en-US" altLang="zh-CN" sz="1400" dirty="0"/>
                        <a:t>(x)</a:t>
                      </a:r>
                      <a:endParaRPr lang="zh-CN" altLang="en-US" sz="1400" dirty="0"/>
                    </a:p>
                  </a:txBody>
                  <a:tcPr anchor="ctr"/>
                </a:tc>
                <a:tc>
                  <a:txBody>
                    <a:bodyPr/>
                    <a:lstStyle/>
                    <a:p>
                      <a:pPr algn="ctr"/>
                      <a:r>
                        <a:rPr lang="zh-CN" altLang="en-US" sz="1400" dirty="0"/>
                        <a:t>转为不大于</a:t>
                      </a:r>
                      <a:r>
                        <a:rPr lang="en-US" altLang="zh-CN" sz="1400" dirty="0"/>
                        <a:t>x</a:t>
                      </a:r>
                      <a:r>
                        <a:rPr lang="zh-CN" altLang="en-US" sz="1400" dirty="0"/>
                        <a:t>的整型</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int</a:t>
                      </a:r>
                      <a:r>
                        <a:rPr lang="en-US" altLang="zh-CN" sz="1400" dirty="0"/>
                        <a:t>('123')</a:t>
                      </a:r>
                      <a:endParaRPr lang="zh-CN" altLang="en-US" sz="1400" dirty="0"/>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int</a:t>
                      </a:r>
                      <a:r>
                        <a:rPr lang="en-US" altLang="zh-CN" sz="1400" dirty="0"/>
                        <a:t>(1.5)</a:t>
                      </a:r>
                      <a:endParaRPr lang="zh-CN" altLang="en-US" sz="1400" dirty="0"/>
                    </a:p>
                  </a:txBody>
                  <a:tcPr anchor="ctr"/>
                </a:tc>
                <a:tc>
                  <a:txBody>
                    <a:bodyPr/>
                    <a:lstStyle/>
                    <a:p>
                      <a:pPr algn="ctr"/>
                      <a:r>
                        <a:rPr lang="en-US" altLang="zh-CN" sz="1400" dirty="0"/>
                        <a:t>123</a:t>
                      </a:r>
                    </a:p>
                    <a:p>
                      <a:pPr algn="ctr"/>
                      <a:r>
                        <a:rPr lang="en-US" altLang="zh-CN" sz="1400" dirty="0"/>
                        <a:t>1</a:t>
                      </a:r>
                      <a:endParaRPr lang="zh-CN" altLang="en-US" sz="1400" dirty="0"/>
                    </a:p>
                  </a:txBody>
                  <a:tcPr anchor="ctr"/>
                </a:tc>
                <a:extLst>
                  <a:ext uri="{0D108BD9-81ED-4DB2-BD59-A6C34878D82A}">
                    <a16:rowId xmlns:a16="http://schemas.microsoft.com/office/drawing/2014/main" val="10001"/>
                  </a:ext>
                </a:extLst>
              </a:tr>
              <a:tr h="252000">
                <a:tc>
                  <a:txBody>
                    <a:bodyPr/>
                    <a:lstStyle/>
                    <a:p>
                      <a:pPr algn="ctr"/>
                      <a:r>
                        <a:rPr lang="en-US" altLang="zh-CN" sz="1400" dirty="0"/>
                        <a:t>float(x)</a:t>
                      </a:r>
                      <a:endParaRPr lang="zh-CN" altLang="en-US" sz="1400" dirty="0"/>
                    </a:p>
                  </a:txBody>
                  <a:tcPr anchor="ctr"/>
                </a:tc>
                <a:tc>
                  <a:txBody>
                    <a:bodyPr/>
                    <a:lstStyle/>
                    <a:p>
                      <a:pPr algn="ctr"/>
                      <a:r>
                        <a:rPr lang="zh-CN" altLang="en-US" sz="1400" dirty="0"/>
                        <a:t>转为实型</a:t>
                      </a:r>
                    </a:p>
                  </a:txBody>
                  <a:tcPr anchor="ctr"/>
                </a:tc>
                <a:tc>
                  <a:txBody>
                    <a:bodyPr/>
                    <a:lstStyle/>
                    <a:p>
                      <a:pPr algn="ctr"/>
                      <a:r>
                        <a:rPr lang="en-US" altLang="zh-CN" sz="1400" dirty="0"/>
                        <a:t>float('12.3')</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float(2)</a:t>
                      </a:r>
                      <a:endParaRPr lang="zh-CN" altLang="en-US" sz="1400" dirty="0"/>
                    </a:p>
                  </a:txBody>
                  <a:tcPr anchor="ctr"/>
                </a:tc>
                <a:tc>
                  <a:txBody>
                    <a:bodyPr/>
                    <a:lstStyle/>
                    <a:p>
                      <a:pPr algn="ctr"/>
                      <a:r>
                        <a:rPr lang="en-US" altLang="zh-CN" sz="1400" dirty="0"/>
                        <a:t>12.3</a:t>
                      </a:r>
                    </a:p>
                    <a:p>
                      <a:pPr algn="ctr"/>
                      <a:r>
                        <a:rPr lang="en-US" altLang="zh-CN" sz="1400" dirty="0"/>
                        <a:t>2.0</a:t>
                      </a:r>
                      <a:endParaRPr lang="zh-CN" altLang="en-US" sz="1400" dirty="0"/>
                    </a:p>
                  </a:txBody>
                  <a:tcPr anchor="ctr"/>
                </a:tc>
                <a:extLst>
                  <a:ext uri="{0D108BD9-81ED-4DB2-BD59-A6C34878D82A}">
                    <a16:rowId xmlns:a16="http://schemas.microsoft.com/office/drawing/2014/main" val="10002"/>
                  </a:ext>
                </a:extLst>
              </a:tr>
              <a:tr h="252000">
                <a:tc>
                  <a:txBody>
                    <a:bodyPr/>
                    <a:lstStyle/>
                    <a:p>
                      <a:pPr algn="ctr"/>
                      <a:r>
                        <a:rPr lang="en-US" altLang="zh-CN" sz="1400" dirty="0" err="1"/>
                        <a:t>str</a:t>
                      </a:r>
                      <a:r>
                        <a:rPr lang="en-US" altLang="zh-CN" sz="1400" dirty="0"/>
                        <a:t>(x)</a:t>
                      </a:r>
                      <a:endParaRPr lang="zh-CN" altLang="en-US" sz="1400" dirty="0"/>
                    </a:p>
                  </a:txBody>
                  <a:tcPr anchor="ctr"/>
                </a:tc>
                <a:tc>
                  <a:txBody>
                    <a:bodyPr/>
                    <a:lstStyle/>
                    <a:p>
                      <a:pPr algn="ctr"/>
                      <a:r>
                        <a:rPr lang="zh-CN" altLang="en-US" sz="1400" dirty="0"/>
                        <a:t>将数值</a:t>
                      </a:r>
                      <a:r>
                        <a:rPr lang="en-US" altLang="zh-CN" sz="1400" dirty="0"/>
                        <a:t>x</a:t>
                      </a:r>
                      <a:r>
                        <a:rPr lang="zh-CN" altLang="en-US" sz="1400" dirty="0"/>
                        <a:t>转换成字符串</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str</a:t>
                      </a:r>
                      <a:r>
                        <a:rPr lang="en-US" altLang="zh-CN" sz="1400" dirty="0"/>
                        <a:t>(3)</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str</a:t>
                      </a:r>
                      <a:r>
                        <a:rPr lang="en-US" altLang="zh-CN" sz="1400" dirty="0"/>
                        <a:t>(True)</a:t>
                      </a:r>
                      <a:endParaRPr lang="zh-CN" altLang="en-US" sz="1400" dirty="0"/>
                    </a:p>
                  </a:txBody>
                  <a:tcPr anchor="ctr"/>
                </a:tc>
                <a:tc>
                  <a:txBody>
                    <a:bodyPr/>
                    <a:lstStyle/>
                    <a:p>
                      <a:pPr algn="ctr"/>
                      <a:r>
                        <a:rPr lang="en-US" altLang="zh-CN" sz="1400" dirty="0"/>
                        <a:t>'3'</a:t>
                      </a:r>
                    </a:p>
                    <a:p>
                      <a:pPr algn="ctr"/>
                      <a:r>
                        <a:rPr lang="en-US" altLang="zh-CN" sz="1400" dirty="0"/>
                        <a:t>'True'</a:t>
                      </a:r>
                      <a:endParaRPr lang="zh-CN" altLang="en-US" sz="1400" dirty="0"/>
                    </a:p>
                  </a:txBody>
                  <a:tcPr anchor="ctr"/>
                </a:tc>
                <a:extLst>
                  <a:ext uri="{0D108BD9-81ED-4DB2-BD59-A6C34878D82A}">
                    <a16:rowId xmlns:a16="http://schemas.microsoft.com/office/drawing/2014/main" val="10003"/>
                  </a:ext>
                </a:extLst>
              </a:tr>
              <a:tr h="252000">
                <a:tc>
                  <a:txBody>
                    <a:bodyPr/>
                    <a:lstStyle/>
                    <a:p>
                      <a:pPr algn="ctr"/>
                      <a:r>
                        <a:rPr lang="en-US" altLang="zh-CN" sz="1400" dirty="0" err="1"/>
                        <a:t>bool</a:t>
                      </a:r>
                      <a:r>
                        <a:rPr lang="en-US" altLang="zh-CN" sz="1400" dirty="0"/>
                        <a:t>(x)</a:t>
                      </a:r>
                      <a:endParaRPr lang="zh-CN" altLang="en-US" sz="1400" dirty="0"/>
                    </a:p>
                  </a:txBody>
                  <a:tcPr anchor="ctr"/>
                </a:tc>
                <a:tc>
                  <a:txBody>
                    <a:bodyPr/>
                    <a:lstStyle/>
                    <a:p>
                      <a:pPr algn="ctr"/>
                      <a:r>
                        <a:rPr lang="zh-CN" altLang="en-US" sz="1400" dirty="0"/>
                        <a:t>转为布尔值</a:t>
                      </a:r>
                      <a:endParaRPr lang="en-US" altLang="zh-CN" sz="1400" dirty="0"/>
                    </a:p>
                    <a:p>
                      <a:pPr algn="ctr"/>
                      <a:r>
                        <a:rPr lang="zh-CN" altLang="en-US" sz="1400" dirty="0"/>
                        <a:t>非</a:t>
                      </a:r>
                      <a:r>
                        <a:rPr lang="en-US" altLang="zh-CN" sz="1400" dirty="0"/>
                        <a:t>0</a:t>
                      </a:r>
                      <a:r>
                        <a:rPr lang="zh-CN" altLang="en-US" sz="1400" dirty="0"/>
                        <a:t>为</a:t>
                      </a:r>
                      <a:r>
                        <a:rPr lang="en-US" altLang="zh-CN" sz="1400" dirty="0"/>
                        <a:t>True,0</a:t>
                      </a:r>
                      <a:r>
                        <a:rPr lang="zh-CN" altLang="en-US" sz="1400" dirty="0"/>
                        <a:t>为</a:t>
                      </a:r>
                      <a:r>
                        <a:rPr lang="en-US" altLang="zh-CN" sz="1400" dirty="0"/>
                        <a:t>False</a:t>
                      </a:r>
                      <a:endParaRPr lang="zh-CN" altLang="en-US" sz="140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bool('12.3')</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bool</a:t>
                      </a:r>
                      <a:r>
                        <a:rPr lang="en-US" altLang="zh-CN" sz="1400" dirty="0"/>
                        <a:t>(0)</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bool('0')</a:t>
                      </a:r>
                    </a:p>
                  </a:txBody>
                  <a:tcPr anchor="ctr"/>
                </a:tc>
                <a:tc>
                  <a:txBody>
                    <a:bodyPr/>
                    <a:lstStyle/>
                    <a:p>
                      <a:pPr algn="ctr"/>
                      <a:r>
                        <a:rPr lang="en-US" altLang="zh-CN" sz="1400" dirty="0"/>
                        <a:t>True</a:t>
                      </a:r>
                    </a:p>
                    <a:p>
                      <a:pPr algn="ctr"/>
                      <a:r>
                        <a:rPr lang="en-US" altLang="zh-CN" sz="1400" dirty="0"/>
                        <a:t>False</a:t>
                      </a:r>
                    </a:p>
                    <a:p>
                      <a:pPr algn="ctr"/>
                      <a:r>
                        <a:rPr lang="en-US" altLang="zh-CN" sz="1400" dirty="0"/>
                        <a:t>True</a:t>
                      </a:r>
                      <a:endParaRPr lang="zh-CN" altLang="en-US" sz="1400" dirty="0"/>
                    </a:p>
                  </a:txBody>
                  <a:tcPr anchor="ctr"/>
                </a:tc>
                <a:extLst>
                  <a:ext uri="{0D108BD9-81ED-4DB2-BD59-A6C34878D82A}">
                    <a16:rowId xmlns:a16="http://schemas.microsoft.com/office/drawing/2014/main" val="10004"/>
                  </a:ext>
                </a:extLst>
              </a:tr>
              <a:tr h="378296">
                <a:tc>
                  <a:txBody>
                    <a:bodyPr/>
                    <a:lstStyle/>
                    <a:p>
                      <a:pPr algn="ctr"/>
                      <a:r>
                        <a:rPr lang="en-US" altLang="zh-CN" sz="1400" dirty="0" err="1"/>
                        <a:t>eval</a:t>
                      </a:r>
                      <a:r>
                        <a:rPr lang="en-US" altLang="zh-CN" sz="1400" dirty="0"/>
                        <a:t>(x</a:t>
                      </a:r>
                      <a:r>
                        <a:rPr lang="en-US" altLang="zh-CN" sz="1400" baseline="-25000" dirty="0"/>
                        <a:t>1</a:t>
                      </a:r>
                      <a:r>
                        <a:rPr lang="en-US" altLang="zh-CN" sz="1400" dirty="0"/>
                        <a:t>,x</a:t>
                      </a:r>
                      <a:r>
                        <a:rPr lang="en-US" altLang="zh-CN" sz="1400" baseline="-25000" dirty="0"/>
                        <a:t>2</a:t>
                      </a:r>
                      <a:r>
                        <a:rPr lang="en-US" altLang="zh-CN" sz="1400" dirty="0"/>
                        <a:t>,…,</a:t>
                      </a:r>
                      <a:r>
                        <a:rPr lang="en-US" altLang="zh-CN" sz="1400" dirty="0" err="1"/>
                        <a:t>x</a:t>
                      </a:r>
                      <a:r>
                        <a:rPr lang="en-US" altLang="zh-CN" sz="1400" baseline="-25000" dirty="0" err="1"/>
                        <a:t>n</a:t>
                      </a:r>
                      <a:r>
                        <a:rPr lang="en-US" altLang="zh-CN" sz="1400" dirty="0"/>
                        <a:t>)</a:t>
                      </a:r>
                      <a:endParaRPr lang="zh-CN" altLang="en-US" sz="1400" dirty="0"/>
                    </a:p>
                  </a:txBody>
                  <a:tcPr anchor="ctr"/>
                </a:tc>
                <a:tc>
                  <a:txBody>
                    <a:bodyPr/>
                    <a:lstStyle/>
                    <a:p>
                      <a:pPr algn="ctr"/>
                      <a:r>
                        <a:rPr lang="zh-CN" altLang="en-US" sz="1400" dirty="0"/>
                        <a:t>计算字符串</a:t>
                      </a:r>
                      <a:r>
                        <a:rPr lang="en-US" altLang="zh-CN" sz="1400" dirty="0"/>
                        <a:t>x</a:t>
                      </a:r>
                      <a:r>
                        <a:rPr lang="zh-CN" altLang="en-US" sz="1400" dirty="0"/>
                        <a:t>的值</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eval</a:t>
                      </a:r>
                      <a:r>
                        <a:rPr lang="en-US" altLang="zh-CN" sz="1400" dirty="0"/>
                        <a:t>('3+4')</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eval</a:t>
                      </a:r>
                      <a:r>
                        <a:rPr lang="en-US" altLang="zh-CN" sz="1400" dirty="0"/>
                        <a:t>('True')</a:t>
                      </a:r>
                      <a:endParaRPr lang="zh-CN" altLang="en-US" sz="1400" dirty="0"/>
                    </a:p>
                  </a:txBody>
                  <a:tcPr anchor="ctr"/>
                </a:tc>
                <a:tc>
                  <a:txBody>
                    <a:bodyPr/>
                    <a:lstStyle/>
                    <a:p>
                      <a:pPr algn="ctr"/>
                      <a:r>
                        <a:rPr lang="en-US" altLang="zh-CN" sz="1400" dirty="0"/>
                        <a:t>7</a:t>
                      </a:r>
                    </a:p>
                    <a:p>
                      <a:pPr algn="ctr"/>
                      <a:r>
                        <a:rPr lang="en-US" altLang="zh-CN" sz="1400" dirty="0"/>
                        <a:t>True</a:t>
                      </a:r>
                      <a:endParaRPr lang="zh-CN" altLang="en-US" sz="1400" dirty="0"/>
                    </a:p>
                  </a:txBody>
                  <a:tcPr anchor="ctr"/>
                </a:tc>
                <a:extLst>
                  <a:ext uri="{0D108BD9-81ED-4DB2-BD59-A6C34878D82A}">
                    <a16:rowId xmlns:a16="http://schemas.microsoft.com/office/drawing/2014/main" val="10005"/>
                  </a:ext>
                </a:extLst>
              </a:tr>
              <a:tr h="35314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complex(x</a:t>
                      </a:r>
                      <a:r>
                        <a:rPr lang="en-US" altLang="zh-CN" sz="1400" baseline="-25000" dirty="0"/>
                        <a:t>1</a:t>
                      </a:r>
                      <a:r>
                        <a:rPr lang="en-US" altLang="zh-CN" sz="1400" baseline="0" dirty="0"/>
                        <a:t>[</a:t>
                      </a:r>
                      <a:r>
                        <a:rPr lang="en-US" altLang="zh-CN" sz="1400" dirty="0"/>
                        <a:t>,x</a:t>
                      </a:r>
                      <a:r>
                        <a:rPr lang="en-US" altLang="zh-CN" sz="1400" baseline="-25000" dirty="0"/>
                        <a:t>2</a:t>
                      </a:r>
                      <a:r>
                        <a:rPr lang="en-US" altLang="zh-CN" sz="1400" dirty="0"/>
                        <a:t>])</a:t>
                      </a:r>
                      <a:endParaRPr lang="zh-CN" altLang="en-US" sz="1400" dirty="0"/>
                    </a:p>
                  </a:txBody>
                  <a:tcPr anchor="ctr"/>
                </a:tc>
                <a:tc>
                  <a:txBody>
                    <a:bodyPr/>
                    <a:lstStyle/>
                    <a:p>
                      <a:pPr algn="ctr"/>
                      <a:r>
                        <a:rPr lang="zh-CN" altLang="en-US" sz="1400" dirty="0"/>
                        <a:t>转换为复数</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complex(1,3)</a:t>
                      </a:r>
                      <a:endParaRPr lang="zh-CN" altLang="en-US" sz="1400" dirty="0"/>
                    </a:p>
                  </a:txBody>
                  <a:tcPr anchor="ctr"/>
                </a:tc>
                <a:tc>
                  <a:txBody>
                    <a:bodyPr/>
                    <a:lstStyle/>
                    <a:p>
                      <a:pPr algn="ctr"/>
                      <a:r>
                        <a:rPr lang="en-US" altLang="zh-CN" sz="1400" dirty="0"/>
                        <a:t>(1+3j)</a:t>
                      </a:r>
                      <a:endParaRPr lang="zh-CN" altLang="en-US" sz="1400" dirty="0"/>
                    </a:p>
                  </a:txBody>
                  <a:tcPr anchor="ctr"/>
                </a:tc>
                <a:extLst>
                  <a:ext uri="{0D108BD9-81ED-4DB2-BD59-A6C34878D82A}">
                    <a16:rowId xmlns:a16="http://schemas.microsoft.com/office/drawing/2014/main" val="10006"/>
                  </a:ext>
                </a:extLst>
              </a:tr>
            </a:tbl>
          </a:graphicData>
        </a:graphic>
      </p:graphicFrame>
      <p:pic>
        <p:nvPicPr>
          <p:cNvPr id="2" name="图片 1"/>
          <p:cNvPicPr>
            <a:picLocks noChangeAspect="1"/>
          </p:cNvPicPr>
          <p:nvPr/>
        </p:nvPicPr>
        <p:blipFill>
          <a:blip r:embed="rId2"/>
          <a:stretch>
            <a:fillRect/>
          </a:stretch>
        </p:blipFill>
        <p:spPr>
          <a:xfrm>
            <a:off x="6228184" y="2466381"/>
            <a:ext cx="2667000" cy="1924050"/>
          </a:xfrm>
          <a:prstGeom prst="rect">
            <a:avLst/>
          </a:prstGeom>
        </p:spPr>
      </p:pic>
    </p:spTree>
    <p:extLst>
      <p:ext uri="{BB962C8B-B14F-4D97-AF65-F5344CB8AC3E}">
        <p14:creationId xmlns:p14="http://schemas.microsoft.com/office/powerpoint/2010/main" val="11632792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417071" y="411510"/>
            <a:ext cx="7416824" cy="528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lnSpc>
                <a:spcPct val="95000"/>
              </a:lnSpc>
              <a:spcBef>
                <a:spcPct val="0"/>
              </a:spcBef>
              <a:spcAft>
                <a:spcPct val="0"/>
              </a:spcAft>
              <a:defRPr sz="3200" b="1">
                <a:solidFill>
                  <a:srgbClr val="C00000"/>
                </a:solidFill>
                <a:latin typeface="微软雅黑" panose="020B0503020204020204" pitchFamily="34" charset="-122"/>
                <a:ea typeface="微软雅黑" panose="020B0503020204020204" pitchFamily="34" charset="-122"/>
                <a:cs typeface="+mj-cs"/>
              </a:defRPr>
            </a:lvl1pPr>
            <a:lvl2pPr algn="l" rtl="0" eaLnBrk="0" fontAlgn="base" hangingPunct="0">
              <a:lnSpc>
                <a:spcPct val="95000"/>
              </a:lnSpc>
              <a:spcBef>
                <a:spcPct val="0"/>
              </a:spcBef>
              <a:spcAft>
                <a:spcPct val="0"/>
              </a:spcAft>
              <a:defRPr sz="3600" b="1">
                <a:solidFill>
                  <a:schemeClr val="accent1"/>
                </a:solidFill>
                <a:latin typeface="Arial" pitchFamily="34" charset="0"/>
              </a:defRPr>
            </a:lvl2pPr>
            <a:lvl3pPr algn="l" rtl="0" eaLnBrk="0" fontAlgn="base" hangingPunct="0">
              <a:lnSpc>
                <a:spcPct val="95000"/>
              </a:lnSpc>
              <a:spcBef>
                <a:spcPct val="0"/>
              </a:spcBef>
              <a:spcAft>
                <a:spcPct val="0"/>
              </a:spcAft>
              <a:defRPr sz="3600" b="1">
                <a:solidFill>
                  <a:schemeClr val="accent1"/>
                </a:solidFill>
                <a:latin typeface="Arial" pitchFamily="34" charset="0"/>
              </a:defRPr>
            </a:lvl3pPr>
            <a:lvl4pPr algn="l" rtl="0" eaLnBrk="0" fontAlgn="base" hangingPunct="0">
              <a:lnSpc>
                <a:spcPct val="95000"/>
              </a:lnSpc>
              <a:spcBef>
                <a:spcPct val="0"/>
              </a:spcBef>
              <a:spcAft>
                <a:spcPct val="0"/>
              </a:spcAft>
              <a:defRPr sz="3600" b="1">
                <a:solidFill>
                  <a:schemeClr val="accent1"/>
                </a:solidFill>
                <a:latin typeface="Arial" pitchFamily="34" charset="0"/>
              </a:defRPr>
            </a:lvl4pPr>
            <a:lvl5pPr algn="l" rtl="0" eaLnBrk="0" fontAlgn="base" hangingPunct="0">
              <a:lnSpc>
                <a:spcPct val="95000"/>
              </a:lnSpc>
              <a:spcBef>
                <a:spcPct val="0"/>
              </a:spcBef>
              <a:spcAft>
                <a:spcPct val="0"/>
              </a:spcAft>
              <a:defRPr sz="3600" b="1">
                <a:solidFill>
                  <a:schemeClr val="accent1"/>
                </a:solidFill>
                <a:latin typeface="Arial" pitchFamily="34" charset="0"/>
              </a:defRPr>
            </a:lvl5pPr>
            <a:lvl6pPr marL="457200" algn="l" rtl="0" eaLnBrk="1" fontAlgn="base" hangingPunct="1">
              <a:lnSpc>
                <a:spcPct val="95000"/>
              </a:lnSpc>
              <a:spcBef>
                <a:spcPct val="0"/>
              </a:spcBef>
              <a:spcAft>
                <a:spcPct val="0"/>
              </a:spcAft>
              <a:defRPr sz="3200" b="1">
                <a:solidFill>
                  <a:schemeClr val="accent1"/>
                </a:solidFill>
                <a:latin typeface="Arial" pitchFamily="34" charset="0"/>
              </a:defRPr>
            </a:lvl6pPr>
            <a:lvl7pPr marL="914400" algn="l" rtl="0" eaLnBrk="1" fontAlgn="base" hangingPunct="1">
              <a:lnSpc>
                <a:spcPct val="95000"/>
              </a:lnSpc>
              <a:spcBef>
                <a:spcPct val="0"/>
              </a:spcBef>
              <a:spcAft>
                <a:spcPct val="0"/>
              </a:spcAft>
              <a:defRPr sz="3200" b="1">
                <a:solidFill>
                  <a:schemeClr val="accent1"/>
                </a:solidFill>
                <a:latin typeface="Arial" pitchFamily="34" charset="0"/>
              </a:defRPr>
            </a:lvl7pPr>
            <a:lvl8pPr marL="1371600" algn="l" rtl="0" eaLnBrk="1" fontAlgn="base" hangingPunct="1">
              <a:lnSpc>
                <a:spcPct val="95000"/>
              </a:lnSpc>
              <a:spcBef>
                <a:spcPct val="0"/>
              </a:spcBef>
              <a:spcAft>
                <a:spcPct val="0"/>
              </a:spcAft>
              <a:defRPr sz="3200" b="1">
                <a:solidFill>
                  <a:schemeClr val="accent1"/>
                </a:solidFill>
                <a:latin typeface="Arial" pitchFamily="34" charset="0"/>
              </a:defRPr>
            </a:lvl8pPr>
            <a:lvl9pPr marL="1828800" algn="l" rtl="0" eaLnBrk="1" fontAlgn="base" hangingPunct="1">
              <a:lnSpc>
                <a:spcPct val="95000"/>
              </a:lnSpc>
              <a:spcBef>
                <a:spcPct val="0"/>
              </a:spcBef>
              <a:spcAft>
                <a:spcPct val="0"/>
              </a:spcAft>
              <a:defRPr sz="3200" b="1">
                <a:solidFill>
                  <a:schemeClr val="accent1"/>
                </a:solidFill>
                <a:latin typeface="Arial" pitchFamily="34" charset="0"/>
              </a:defRPr>
            </a:lvl9pPr>
          </a:lstStyle>
          <a:p>
            <a:r>
              <a:rPr lang="zh-CN" altLang="en-US" sz="2800" dirty="0">
                <a:solidFill>
                  <a:srgbClr val="0070C0"/>
                </a:solidFill>
              </a:rPr>
              <a:t>数学库 </a:t>
            </a:r>
            <a:r>
              <a:rPr lang="en-US" altLang="zh-CN" sz="2800" dirty="0">
                <a:solidFill>
                  <a:srgbClr val="0070C0"/>
                </a:solidFill>
              </a:rPr>
              <a:t>math</a:t>
            </a:r>
            <a:endParaRPr lang="zh-CN" altLang="en-US" sz="2800" dirty="0">
              <a:solidFill>
                <a:srgbClr val="0070C0"/>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3745823329"/>
              </p:ext>
            </p:extLst>
          </p:nvPr>
        </p:nvGraphicFramePr>
        <p:xfrm>
          <a:off x="323528" y="2283718"/>
          <a:ext cx="8424935" cy="2603336"/>
        </p:xfrm>
        <a:graphic>
          <a:graphicData uri="http://schemas.openxmlformats.org/drawingml/2006/table">
            <a:tbl>
              <a:tblPr firstRow="1" bandRow="1">
                <a:tableStyleId>{5940675A-B579-460E-94D1-54222C63F5DA}</a:tableStyleId>
              </a:tblPr>
              <a:tblGrid>
                <a:gridCol w="1872208">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2397108">
                  <a:extLst>
                    <a:ext uri="{9D8B030D-6E8A-4147-A177-3AD203B41FA5}">
                      <a16:colId xmlns:a16="http://schemas.microsoft.com/office/drawing/2014/main" val="20002"/>
                    </a:ext>
                  </a:extLst>
                </a:gridCol>
                <a:gridCol w="1995379">
                  <a:extLst>
                    <a:ext uri="{9D8B030D-6E8A-4147-A177-3AD203B41FA5}">
                      <a16:colId xmlns:a16="http://schemas.microsoft.com/office/drawing/2014/main" val="20003"/>
                    </a:ext>
                  </a:extLst>
                </a:gridCol>
              </a:tblGrid>
              <a:tr h="252000">
                <a:tc>
                  <a:txBody>
                    <a:bodyPr/>
                    <a:lstStyle/>
                    <a:p>
                      <a:pPr algn="ctr"/>
                      <a:r>
                        <a:rPr lang="zh-CN" altLang="en-US" sz="1800" dirty="0"/>
                        <a:t>函数</a:t>
                      </a:r>
                    </a:p>
                  </a:txBody>
                  <a:tcPr anchor="ctr">
                    <a:solidFill>
                      <a:schemeClr val="accent1">
                        <a:lumMod val="20000"/>
                        <a:lumOff val="80000"/>
                      </a:schemeClr>
                    </a:solidFill>
                  </a:tcPr>
                </a:tc>
                <a:tc>
                  <a:txBody>
                    <a:bodyPr/>
                    <a:lstStyle/>
                    <a:p>
                      <a:pPr algn="ctr"/>
                      <a:r>
                        <a:rPr lang="zh-CN" altLang="en-US" sz="1800" dirty="0"/>
                        <a:t>含义</a:t>
                      </a:r>
                    </a:p>
                  </a:txBody>
                  <a:tcPr anchor="ctr">
                    <a:solidFill>
                      <a:schemeClr val="accent1">
                        <a:lumMod val="20000"/>
                        <a:lumOff val="80000"/>
                      </a:schemeClr>
                    </a:solidFill>
                  </a:tcPr>
                </a:tc>
                <a:tc>
                  <a:txBody>
                    <a:bodyPr/>
                    <a:lstStyle/>
                    <a:p>
                      <a:pPr algn="ctr"/>
                      <a:r>
                        <a:rPr lang="zh-CN" altLang="en-US" sz="1800" dirty="0"/>
                        <a:t>实例</a:t>
                      </a:r>
                    </a:p>
                  </a:txBody>
                  <a:tcPr anchor="ctr">
                    <a:solidFill>
                      <a:schemeClr val="accent1">
                        <a:lumMod val="20000"/>
                        <a:lumOff val="80000"/>
                      </a:schemeClr>
                    </a:solidFill>
                  </a:tcPr>
                </a:tc>
                <a:tc>
                  <a:txBody>
                    <a:bodyPr/>
                    <a:lstStyle/>
                    <a:p>
                      <a:pPr algn="ctr"/>
                      <a:r>
                        <a:rPr lang="zh-CN" altLang="en-US" sz="1800" dirty="0"/>
                        <a:t>结果</a:t>
                      </a:r>
                    </a:p>
                  </a:txBody>
                  <a:tcPr anchor="ctr">
                    <a:solidFill>
                      <a:schemeClr val="accent1">
                        <a:lumMod val="20000"/>
                        <a:lumOff val="80000"/>
                      </a:schemeClr>
                    </a:solidFill>
                  </a:tcPr>
                </a:tc>
                <a:extLst>
                  <a:ext uri="{0D108BD9-81ED-4DB2-BD59-A6C34878D82A}">
                    <a16:rowId xmlns:a16="http://schemas.microsoft.com/office/drawing/2014/main" val="10000"/>
                  </a:ext>
                </a:extLst>
              </a:tr>
              <a:tr h="252000">
                <a:tc>
                  <a:txBody>
                    <a:bodyPr/>
                    <a:lstStyle/>
                    <a:p>
                      <a:pPr algn="ctr"/>
                      <a:r>
                        <a:rPr lang="en-US" altLang="zh-CN" sz="1400" dirty="0"/>
                        <a:t>pi</a:t>
                      </a:r>
                      <a:r>
                        <a:rPr lang="zh-CN" altLang="en-US" sz="1400" dirty="0"/>
                        <a:t>、</a:t>
                      </a:r>
                      <a:r>
                        <a:rPr lang="en-US" altLang="zh-CN" sz="1400" dirty="0"/>
                        <a:t>e</a:t>
                      </a:r>
                      <a:endParaRPr lang="zh-CN" altLang="en-US" sz="1400" dirty="0"/>
                    </a:p>
                  </a:txBody>
                  <a:tcPr anchor="ctr"/>
                </a:tc>
                <a:tc>
                  <a:txBody>
                    <a:bodyPr/>
                    <a:lstStyle/>
                    <a:p>
                      <a:pPr algn="ctr"/>
                      <a:r>
                        <a:rPr lang="zh-CN" altLang="en-US" sz="1400" dirty="0"/>
                        <a:t>数学常数</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pi</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e</a:t>
                      </a:r>
                      <a:endParaRPr lang="zh-CN" altLang="en-US" sz="1400" dirty="0"/>
                    </a:p>
                  </a:txBody>
                  <a:tcPr anchor="ctr"/>
                </a:tc>
                <a:tc>
                  <a:txBody>
                    <a:bodyPr/>
                    <a:lstStyle/>
                    <a:p>
                      <a:pPr algn="ctr"/>
                      <a:r>
                        <a:rPr lang="en-US" altLang="zh-CN" sz="1400" dirty="0"/>
                        <a:t>3.141592653589793</a:t>
                      </a:r>
                    </a:p>
                    <a:p>
                      <a:pPr algn="ctr"/>
                      <a:r>
                        <a:rPr lang="en-US" altLang="zh-CN" sz="1400" dirty="0"/>
                        <a:t>2.718281828459045</a:t>
                      </a:r>
                      <a:endParaRPr lang="zh-CN" altLang="en-US" sz="1400" dirty="0"/>
                    </a:p>
                  </a:txBody>
                  <a:tcPr anchor="ctr"/>
                </a:tc>
                <a:extLst>
                  <a:ext uri="{0D108BD9-81ED-4DB2-BD59-A6C34878D82A}">
                    <a16:rowId xmlns:a16="http://schemas.microsoft.com/office/drawing/2014/main" val="10001"/>
                  </a:ext>
                </a:extLst>
              </a:tr>
              <a:tr h="252000">
                <a:tc>
                  <a:txBody>
                    <a:bodyPr/>
                    <a:lstStyle/>
                    <a:p>
                      <a:pPr algn="ctr"/>
                      <a:r>
                        <a:rPr lang="en-US" altLang="zh-CN" sz="1400" dirty="0"/>
                        <a:t>sin(x)</a:t>
                      </a:r>
                      <a:r>
                        <a:rPr lang="zh-CN" altLang="en-US" sz="1400" dirty="0"/>
                        <a:t>、</a:t>
                      </a:r>
                      <a:r>
                        <a:rPr lang="en-US" altLang="zh-CN" sz="1400" dirty="0"/>
                        <a:t>cos(x)</a:t>
                      </a:r>
                      <a:r>
                        <a:rPr lang="zh-CN" altLang="en-US" sz="1400" dirty="0"/>
                        <a:t>、</a:t>
                      </a:r>
                      <a:r>
                        <a:rPr lang="en-US" altLang="zh-CN" sz="1400" dirty="0"/>
                        <a:t>tan(x)</a:t>
                      </a:r>
                      <a:endParaRPr lang="zh-CN" altLang="en-US" sz="1400" dirty="0"/>
                    </a:p>
                  </a:txBody>
                  <a:tcPr anchor="ctr"/>
                </a:tc>
                <a:tc>
                  <a:txBody>
                    <a:bodyPr/>
                    <a:lstStyle/>
                    <a:p>
                      <a:pPr algn="ctr"/>
                      <a:r>
                        <a:rPr lang="zh-CN" altLang="en-US" sz="1400" dirty="0"/>
                        <a:t>正弦、余弦、正切</a:t>
                      </a:r>
                    </a:p>
                  </a:txBody>
                  <a:tcPr anchor="ctr"/>
                </a:tc>
                <a:tc>
                  <a:txBody>
                    <a:bodyPr/>
                    <a:lstStyle/>
                    <a:p>
                      <a:pPr algn="ctr"/>
                      <a:r>
                        <a:rPr lang="en-US" altLang="zh-CN" sz="1400" dirty="0"/>
                        <a:t>sin(1.57)</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cos(0)</a:t>
                      </a:r>
                      <a:endParaRPr lang="zh-CN" altLang="en-US" sz="1400" dirty="0"/>
                    </a:p>
                  </a:txBody>
                  <a:tcPr anchor="ctr"/>
                </a:tc>
                <a:tc>
                  <a:txBody>
                    <a:bodyPr/>
                    <a:lstStyle/>
                    <a:p>
                      <a:pPr algn="ctr"/>
                      <a:r>
                        <a:rPr lang="en-US" altLang="zh-CN" sz="1400" dirty="0"/>
                        <a:t>0.999999</a:t>
                      </a:r>
                    </a:p>
                    <a:p>
                      <a:pPr algn="ctr"/>
                      <a:r>
                        <a:rPr lang="en-US" altLang="zh-CN" sz="1400" dirty="0"/>
                        <a:t>1.0</a:t>
                      </a:r>
                      <a:endParaRPr lang="zh-CN" altLang="en-US" sz="1400" dirty="0"/>
                    </a:p>
                  </a:txBody>
                  <a:tcPr anchor="ctr"/>
                </a:tc>
                <a:extLst>
                  <a:ext uri="{0D108BD9-81ED-4DB2-BD59-A6C34878D82A}">
                    <a16:rowId xmlns:a16="http://schemas.microsoft.com/office/drawing/2014/main" val="10002"/>
                  </a:ext>
                </a:extLst>
              </a:tr>
              <a:tr h="252000">
                <a:tc>
                  <a:txBody>
                    <a:bodyPr/>
                    <a:lstStyle/>
                    <a:p>
                      <a:pPr algn="ctr"/>
                      <a:r>
                        <a:rPr lang="en-US" altLang="zh-CN" sz="1400" dirty="0" err="1"/>
                        <a:t>exp</a:t>
                      </a:r>
                      <a:r>
                        <a:rPr lang="en-US" altLang="zh-CN" sz="1400" dirty="0"/>
                        <a:t>(x)</a:t>
                      </a:r>
                      <a:endParaRPr lang="zh-CN" altLang="en-US" sz="1400" dirty="0"/>
                    </a:p>
                  </a:txBody>
                  <a:tcPr anchor="ctr"/>
                </a:tc>
                <a:tc>
                  <a:txBody>
                    <a:bodyPr/>
                    <a:lstStyle/>
                    <a:p>
                      <a:pPr algn="ctr"/>
                      <a:r>
                        <a:rPr lang="zh-CN" altLang="en-US" sz="1400" dirty="0"/>
                        <a:t>以</a:t>
                      </a:r>
                      <a:r>
                        <a:rPr lang="en-US" altLang="zh-CN" sz="1400" dirty="0"/>
                        <a:t>e</a:t>
                      </a:r>
                      <a:r>
                        <a:rPr lang="zh-CN" altLang="en-US" sz="1400" dirty="0"/>
                        <a:t>为底的幂</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exp</a:t>
                      </a:r>
                      <a:r>
                        <a:rPr lang="en-US" altLang="zh-CN" sz="1400" dirty="0"/>
                        <a:t>(3)</a:t>
                      </a:r>
                      <a:endParaRPr lang="zh-CN" altLang="en-US" sz="1400" dirty="0"/>
                    </a:p>
                  </a:txBody>
                  <a:tcPr anchor="ctr"/>
                </a:tc>
                <a:tc>
                  <a:txBody>
                    <a:bodyPr/>
                    <a:lstStyle/>
                    <a:p>
                      <a:pPr algn="ctr"/>
                      <a:r>
                        <a:rPr lang="en-US" altLang="zh-CN" sz="1400" dirty="0"/>
                        <a:t>20.085536923187668</a:t>
                      </a:r>
                      <a:endParaRPr lang="zh-CN" altLang="en-US" sz="1400" dirty="0"/>
                    </a:p>
                  </a:txBody>
                  <a:tcPr anchor="ctr"/>
                </a:tc>
                <a:extLst>
                  <a:ext uri="{0D108BD9-81ED-4DB2-BD59-A6C34878D82A}">
                    <a16:rowId xmlns:a16="http://schemas.microsoft.com/office/drawing/2014/main" val="10003"/>
                  </a:ext>
                </a:extLst>
              </a:tr>
              <a:tr h="252000">
                <a:tc>
                  <a:txBody>
                    <a:bodyPr/>
                    <a:lstStyle/>
                    <a:p>
                      <a:pPr algn="ctr"/>
                      <a:r>
                        <a:rPr lang="en-US" altLang="zh-CN" sz="1400" dirty="0"/>
                        <a:t>log(x)</a:t>
                      </a:r>
                      <a:r>
                        <a:rPr lang="zh-CN" altLang="en-US" sz="1400" dirty="0"/>
                        <a:t>、</a:t>
                      </a:r>
                      <a:r>
                        <a:rPr lang="en-US" altLang="zh-CN" sz="1400" dirty="0"/>
                        <a:t>log10(x)</a:t>
                      </a:r>
                      <a:endParaRPr lang="zh-CN" altLang="en-US" sz="1400" dirty="0"/>
                    </a:p>
                  </a:txBody>
                  <a:tcPr anchor="ctr"/>
                </a:tc>
                <a:tc>
                  <a:txBody>
                    <a:bodyPr/>
                    <a:lstStyle/>
                    <a:p>
                      <a:pPr algn="ctr"/>
                      <a:r>
                        <a:rPr lang="zh-CN" altLang="en-US" sz="1400" dirty="0"/>
                        <a:t>自然对数，</a:t>
                      </a:r>
                      <a:r>
                        <a:rPr lang="en-US" altLang="zh-CN" sz="1400" dirty="0"/>
                        <a:t>10</a:t>
                      </a:r>
                      <a:r>
                        <a:rPr lang="zh-CN" altLang="en-US" sz="1400" dirty="0"/>
                        <a:t>为底的对数</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log(2.718281828459045)</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log10(10)</a:t>
                      </a:r>
                    </a:p>
                  </a:txBody>
                  <a:tcPr anchor="ctr"/>
                </a:tc>
                <a:tc>
                  <a:txBody>
                    <a:bodyPr/>
                    <a:lstStyle/>
                    <a:p>
                      <a:pPr algn="ctr"/>
                      <a:r>
                        <a:rPr lang="en-US" altLang="zh-CN" sz="1400" dirty="0"/>
                        <a:t>1.0</a:t>
                      </a:r>
                    </a:p>
                    <a:p>
                      <a:pPr algn="ctr"/>
                      <a:r>
                        <a:rPr lang="en-US" altLang="zh-CN" sz="1400" dirty="0"/>
                        <a:t>1.0</a:t>
                      </a:r>
                      <a:endParaRPr lang="zh-CN" altLang="en-US" sz="1400" dirty="0"/>
                    </a:p>
                  </a:txBody>
                  <a:tcPr anchor="ctr"/>
                </a:tc>
                <a:extLst>
                  <a:ext uri="{0D108BD9-81ED-4DB2-BD59-A6C34878D82A}">
                    <a16:rowId xmlns:a16="http://schemas.microsoft.com/office/drawing/2014/main" val="10004"/>
                  </a:ext>
                </a:extLst>
              </a:tr>
              <a:tr h="378296">
                <a:tc>
                  <a:txBody>
                    <a:bodyPr/>
                    <a:lstStyle/>
                    <a:p>
                      <a:pPr algn="ctr"/>
                      <a:r>
                        <a:rPr lang="en-US" altLang="zh-CN" sz="1400" dirty="0" err="1"/>
                        <a:t>sqrt</a:t>
                      </a:r>
                      <a:r>
                        <a:rPr lang="en-US" altLang="zh-CN" sz="1400" dirty="0"/>
                        <a:t>(x)</a:t>
                      </a:r>
                      <a:endParaRPr lang="zh-CN" altLang="en-US" sz="1400" dirty="0"/>
                    </a:p>
                  </a:txBody>
                  <a:tcPr anchor="ctr"/>
                </a:tc>
                <a:tc>
                  <a:txBody>
                    <a:bodyPr/>
                    <a:lstStyle/>
                    <a:p>
                      <a:pPr algn="ctr"/>
                      <a:r>
                        <a:rPr lang="en-US" altLang="zh-CN" sz="1400" dirty="0"/>
                        <a:t>x</a:t>
                      </a:r>
                      <a:r>
                        <a:rPr lang="zh-CN" altLang="en-US" sz="1400" dirty="0"/>
                        <a:t>的平方根</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sqrt</a:t>
                      </a:r>
                      <a:r>
                        <a:rPr lang="en-US" altLang="zh-CN" sz="1400" dirty="0"/>
                        <a:t>(2)</a:t>
                      </a:r>
                    </a:p>
                  </a:txBody>
                  <a:tcPr anchor="ctr"/>
                </a:tc>
                <a:tc>
                  <a:txBody>
                    <a:bodyPr/>
                    <a:lstStyle/>
                    <a:p>
                      <a:pPr algn="ctr"/>
                      <a:r>
                        <a:rPr lang="en-US" altLang="zh-CN" sz="1400" dirty="0"/>
                        <a:t>1.4142135623730951</a:t>
                      </a:r>
                      <a:endParaRPr lang="zh-CN" altLang="en-US" sz="1400" dirty="0"/>
                    </a:p>
                  </a:txBody>
                  <a:tcPr anchor="ctr"/>
                </a:tc>
                <a:extLst>
                  <a:ext uri="{0D108BD9-81ED-4DB2-BD59-A6C34878D82A}">
                    <a16:rowId xmlns:a16="http://schemas.microsoft.com/office/drawing/2014/main" val="10005"/>
                  </a:ext>
                </a:extLst>
              </a:tr>
            </a:tbl>
          </a:graphicData>
        </a:graphic>
      </p:graphicFrame>
      <p:sp>
        <p:nvSpPr>
          <p:cNvPr id="6" name="内容占位符 5"/>
          <p:cNvSpPr>
            <a:spLocks noGrp="1"/>
          </p:cNvSpPr>
          <p:nvPr>
            <p:ph idx="1"/>
          </p:nvPr>
        </p:nvSpPr>
        <p:spPr>
          <a:xfrm>
            <a:off x="417070" y="1020991"/>
            <a:ext cx="8475409" cy="1248122"/>
          </a:xfrm>
          <a:ln>
            <a:noFill/>
          </a:ln>
        </p:spPr>
        <p:txBody>
          <a:bodyPr/>
          <a:lstStyle/>
          <a:p>
            <a:pPr>
              <a:buFont typeface="Wingdings" panose="05000000000000000000" pitchFamily="2" charset="2"/>
              <a:buChar char="u"/>
            </a:pPr>
            <a:r>
              <a:rPr lang="en-US" altLang="zh-CN" sz="1800" b="1" dirty="0">
                <a:solidFill>
                  <a:srgbClr val="00B050"/>
                </a:solidFill>
              </a:rPr>
              <a:t>import math                   </a:t>
            </a:r>
            <a:r>
              <a:rPr lang="en-US" altLang="zh-CN" sz="1800" dirty="0">
                <a:solidFill>
                  <a:schemeClr val="tx1"/>
                </a:solidFill>
              </a:rPr>
              <a:t>#</a:t>
            </a:r>
            <a:r>
              <a:rPr lang="zh-CN" altLang="en-US" sz="1800" dirty="0">
                <a:solidFill>
                  <a:schemeClr val="tx1"/>
                </a:solidFill>
              </a:rPr>
              <a:t>调用时用</a:t>
            </a:r>
            <a:r>
              <a:rPr lang="en-US" altLang="zh-CN" sz="1800" dirty="0" err="1">
                <a:solidFill>
                  <a:schemeClr val="tx1"/>
                </a:solidFill>
              </a:rPr>
              <a:t>math.sin</a:t>
            </a:r>
            <a:r>
              <a:rPr lang="en-US" altLang="zh-CN" sz="1800" dirty="0">
                <a:solidFill>
                  <a:schemeClr val="tx1"/>
                </a:solidFill>
              </a:rPr>
              <a:t>(1.57)</a:t>
            </a:r>
          </a:p>
          <a:p>
            <a:pPr>
              <a:buFont typeface="Wingdings" panose="05000000000000000000" pitchFamily="2" charset="2"/>
              <a:buChar char="u"/>
            </a:pPr>
            <a:r>
              <a:rPr lang="en-US" altLang="zh-CN" sz="1800" b="1" dirty="0">
                <a:solidFill>
                  <a:srgbClr val="00B050"/>
                </a:solidFill>
              </a:rPr>
              <a:t>from  math import  *     </a:t>
            </a:r>
            <a:r>
              <a:rPr lang="en-US" altLang="zh-CN" sz="1800" dirty="0">
                <a:solidFill>
                  <a:schemeClr val="tx1"/>
                </a:solidFill>
              </a:rPr>
              <a:t>#</a:t>
            </a:r>
            <a:r>
              <a:rPr lang="zh-CN" altLang="en-US" sz="1800" dirty="0">
                <a:solidFill>
                  <a:schemeClr val="tx1"/>
                </a:solidFill>
              </a:rPr>
              <a:t>调用时直接用</a:t>
            </a:r>
            <a:r>
              <a:rPr lang="en-US" altLang="zh-CN" sz="1800" dirty="0">
                <a:solidFill>
                  <a:schemeClr val="tx1"/>
                </a:solidFill>
              </a:rPr>
              <a:t>sin(1.57)</a:t>
            </a:r>
            <a:r>
              <a:rPr lang="zh-CN" altLang="en-US" sz="1800" dirty="0">
                <a:solidFill>
                  <a:schemeClr val="tx1"/>
                </a:solidFill>
              </a:rPr>
              <a:t>，可直接调用所有数学函数</a:t>
            </a:r>
            <a:endParaRPr lang="en-US" altLang="zh-CN" sz="1800" dirty="0">
              <a:solidFill>
                <a:schemeClr val="tx1"/>
              </a:solidFill>
            </a:endParaRPr>
          </a:p>
          <a:p>
            <a:pPr>
              <a:buFont typeface="Wingdings" panose="05000000000000000000" pitchFamily="2" charset="2"/>
              <a:buChar char="u"/>
            </a:pPr>
            <a:r>
              <a:rPr lang="en-US" altLang="zh-CN" sz="1800" b="1" dirty="0">
                <a:solidFill>
                  <a:srgbClr val="00B050"/>
                </a:solidFill>
              </a:rPr>
              <a:t>from math import  sin   </a:t>
            </a:r>
            <a:r>
              <a:rPr lang="en-US" altLang="zh-CN" sz="1800" dirty="0">
                <a:solidFill>
                  <a:schemeClr val="tx1"/>
                </a:solidFill>
              </a:rPr>
              <a:t>#</a:t>
            </a:r>
            <a:r>
              <a:rPr lang="zh-CN" altLang="en-US" sz="1800" dirty="0">
                <a:solidFill>
                  <a:schemeClr val="tx1"/>
                </a:solidFill>
              </a:rPr>
              <a:t>只能调用指定的</a:t>
            </a:r>
            <a:r>
              <a:rPr lang="en-US" altLang="zh-CN" sz="1800" dirty="0">
                <a:solidFill>
                  <a:schemeClr val="tx1"/>
                </a:solidFill>
              </a:rPr>
              <a:t>sin</a:t>
            </a:r>
            <a:r>
              <a:rPr lang="zh-CN" altLang="en-US" sz="1800" dirty="0">
                <a:solidFill>
                  <a:schemeClr val="tx1"/>
                </a:solidFill>
              </a:rPr>
              <a:t>函数</a:t>
            </a:r>
          </a:p>
        </p:txBody>
      </p:sp>
    </p:spTree>
    <p:extLst>
      <p:ext uri="{BB962C8B-B14F-4D97-AF65-F5344CB8AC3E}">
        <p14:creationId xmlns:p14="http://schemas.microsoft.com/office/powerpoint/2010/main" val="3621752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bwMode="auto">
          <a:xfrm>
            <a:off x="8460432" y="4443958"/>
            <a:ext cx="288032" cy="216024"/>
          </a:xfrm>
          <a:prstGeom prst="ellipse">
            <a:avLst/>
          </a:prstGeom>
          <a:solidFill>
            <a:srgbClr val="C00000"/>
          </a:solidFill>
          <a:ln>
            <a:noFill/>
          </a:ln>
          <a:effectLst/>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50000"/>
              </a:spcBef>
              <a:spcAft>
                <a:spcPct val="0"/>
              </a:spcAft>
              <a:buClrTx/>
              <a:buSzTx/>
              <a:buFontTx/>
              <a:buNone/>
              <a:tabLst/>
            </a:pPr>
            <a:endParaRPr kumimoji="1" lang="zh-CN" altLang="en-US" sz="2400" b="1" i="0" u="none" strike="noStrike" cap="none" normalizeH="0" baseline="0">
              <a:ln>
                <a:noFill/>
              </a:ln>
              <a:solidFill>
                <a:srgbClr val="A50021"/>
              </a:solidFill>
              <a:effectLst/>
              <a:latin typeface="Arial" charset="0"/>
              <a:ea typeface="黑体" pitchFamily="2" charset="-122"/>
            </a:endParaRPr>
          </a:p>
        </p:txBody>
      </p:sp>
      <p:sp>
        <p:nvSpPr>
          <p:cNvPr id="19" name="AutoShape 44"/>
          <p:cNvSpPr>
            <a:spLocks noChangeArrowheads="1"/>
          </p:cNvSpPr>
          <p:nvPr/>
        </p:nvSpPr>
        <p:spPr bwMode="gray">
          <a:xfrm>
            <a:off x="563579" y="1059582"/>
            <a:ext cx="7941418" cy="2808312"/>
          </a:xfrm>
          <a:prstGeom prst="roundRect">
            <a:avLst>
              <a:gd name="adj" fmla="val 8014"/>
            </a:avLst>
          </a:prstGeom>
          <a:solidFill>
            <a:srgbClr val="F8F8F8"/>
          </a:solidFill>
          <a:ln w="9525">
            <a:solidFill>
              <a:srgbClr val="8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spcBef>
                <a:spcPts val="0"/>
              </a:spcBef>
            </a:pPr>
            <a:r>
              <a:rPr lang="zh-CN" altLang="zh-CN" sz="2000" b="0" dirty="0">
                <a:solidFill>
                  <a:srgbClr val="000066"/>
                </a:solidFill>
                <a:latin typeface="微软雅黑" pitchFamily="34" charset="-122"/>
                <a:ea typeface="微软雅黑" pitchFamily="34" charset="-122"/>
              </a:rPr>
              <a:t>【例</a:t>
            </a:r>
            <a:r>
              <a:rPr lang="en-US" altLang="zh-CN" sz="2000" b="0" dirty="0">
                <a:solidFill>
                  <a:srgbClr val="000066"/>
                </a:solidFill>
                <a:latin typeface="微软雅黑" pitchFamily="34" charset="-122"/>
                <a:ea typeface="微软雅黑" pitchFamily="34" charset="-122"/>
              </a:rPr>
              <a:t>2.10</a:t>
            </a:r>
            <a:r>
              <a:rPr lang="zh-CN" altLang="zh-CN" sz="2000" b="0" dirty="0">
                <a:solidFill>
                  <a:srgbClr val="000066"/>
                </a:solidFill>
                <a:latin typeface="微软雅黑" pitchFamily="34" charset="-122"/>
                <a:ea typeface="微软雅黑" pitchFamily="34" charset="-122"/>
              </a:rPr>
              <a:t>】输入角度，显示对应的正弦</a:t>
            </a:r>
            <a:r>
              <a:rPr lang="zh-CN" altLang="en-US" sz="2000" b="0" dirty="0">
                <a:solidFill>
                  <a:srgbClr val="000066"/>
                </a:solidFill>
                <a:latin typeface="微软雅黑" pitchFamily="34" charset="-122"/>
                <a:ea typeface="微软雅黑" pitchFamily="34" charset="-122"/>
              </a:rPr>
              <a:t>函数</a:t>
            </a:r>
            <a:r>
              <a:rPr lang="zh-CN" altLang="zh-CN" sz="2000" b="0" dirty="0">
                <a:solidFill>
                  <a:srgbClr val="000066"/>
                </a:solidFill>
                <a:latin typeface="微软雅黑" pitchFamily="34" charset="-122"/>
                <a:ea typeface="微软雅黑" pitchFamily="34" charset="-122"/>
              </a:rPr>
              <a:t>值</a:t>
            </a:r>
            <a:endParaRPr lang="en-US" altLang="zh-CN" sz="2000" b="0" dirty="0">
              <a:solidFill>
                <a:srgbClr val="000066"/>
              </a:solidFill>
              <a:latin typeface="微软雅黑" pitchFamily="34" charset="-122"/>
              <a:ea typeface="微软雅黑" pitchFamily="34" charset="-122"/>
            </a:endParaRPr>
          </a:p>
          <a:p>
            <a:pPr>
              <a:lnSpc>
                <a:spcPct val="150000"/>
              </a:lnSpc>
            </a:pPr>
            <a:r>
              <a:rPr lang="en-US" altLang="zh-CN" sz="2000" b="0" dirty="0">
                <a:latin typeface="微软雅黑" pitchFamily="34" charset="-122"/>
                <a:ea typeface="微软雅黑" pitchFamily="34" charset="-122"/>
              </a:rPr>
              <a:t>import  math</a:t>
            </a:r>
            <a:endParaRPr lang="zh-CN" altLang="zh-CN" sz="2000" b="0" dirty="0">
              <a:latin typeface="微软雅黑" pitchFamily="34" charset="-122"/>
              <a:ea typeface="微软雅黑" pitchFamily="34" charset="-122"/>
            </a:endParaRPr>
          </a:p>
          <a:p>
            <a:pPr>
              <a:lnSpc>
                <a:spcPct val="150000"/>
              </a:lnSpc>
            </a:pPr>
            <a:r>
              <a:rPr lang="en-US" altLang="zh-CN" sz="2000" b="0" dirty="0">
                <a:latin typeface="微软雅黑" pitchFamily="34" charset="-122"/>
                <a:ea typeface="微软雅黑" pitchFamily="34" charset="-122"/>
              </a:rPr>
              <a:t>x=</a:t>
            </a:r>
            <a:r>
              <a:rPr lang="en-US" altLang="zh-CN" sz="2000" b="0" dirty="0" err="1">
                <a:latin typeface="微软雅黑" pitchFamily="34" charset="-122"/>
                <a:ea typeface="微软雅黑" pitchFamily="34" charset="-122"/>
              </a:rPr>
              <a:t>int</a:t>
            </a:r>
            <a:r>
              <a:rPr lang="en-US" altLang="zh-CN" sz="2000" b="0" dirty="0">
                <a:latin typeface="微软雅黑" pitchFamily="34" charset="-122"/>
                <a:ea typeface="微软雅黑" pitchFamily="34" charset="-122"/>
              </a:rPr>
              <a:t>(input("</a:t>
            </a:r>
            <a:r>
              <a:rPr lang="zh-CN" altLang="zh-CN" sz="2000" b="0" dirty="0">
                <a:latin typeface="微软雅黑" pitchFamily="34" charset="-122"/>
                <a:ea typeface="微软雅黑" pitchFamily="34" charset="-122"/>
              </a:rPr>
              <a:t>输入角度</a:t>
            </a:r>
            <a:r>
              <a:rPr lang="en-US" altLang="zh-CN" sz="2000" b="0" dirty="0">
                <a:latin typeface="微软雅黑" pitchFamily="34" charset="-122"/>
                <a:ea typeface="微软雅黑" pitchFamily="34" charset="-122"/>
              </a:rPr>
              <a:t>:"))</a:t>
            </a:r>
            <a:endParaRPr lang="zh-CN" altLang="zh-CN" sz="2000" b="0" dirty="0">
              <a:latin typeface="微软雅黑" pitchFamily="34" charset="-122"/>
              <a:ea typeface="微软雅黑" pitchFamily="34" charset="-122"/>
            </a:endParaRPr>
          </a:p>
          <a:p>
            <a:pPr>
              <a:lnSpc>
                <a:spcPct val="150000"/>
              </a:lnSpc>
            </a:pPr>
            <a:r>
              <a:rPr lang="en-US" altLang="zh-CN" sz="2000" b="0" dirty="0">
                <a:latin typeface="微软雅黑" pitchFamily="34" charset="-122"/>
                <a:ea typeface="微软雅黑" pitchFamily="34" charset="-122"/>
              </a:rPr>
              <a:t>y= </a:t>
            </a:r>
            <a:r>
              <a:rPr lang="en-US" altLang="zh-CN" sz="2000" dirty="0" err="1">
                <a:latin typeface="微软雅黑" pitchFamily="34" charset="-122"/>
                <a:ea typeface="微软雅黑" pitchFamily="34" charset="-122"/>
              </a:rPr>
              <a:t>math.sin</a:t>
            </a:r>
            <a:r>
              <a:rPr lang="en-US" altLang="zh-CN" sz="2000" b="0" dirty="0">
                <a:latin typeface="微软雅黑" pitchFamily="34" charset="-122"/>
                <a:ea typeface="微软雅黑" pitchFamily="34" charset="-122"/>
              </a:rPr>
              <a:t>(x*</a:t>
            </a:r>
            <a:r>
              <a:rPr lang="en-US" altLang="zh-CN" sz="2000" dirty="0" err="1">
                <a:latin typeface="微软雅黑" pitchFamily="34" charset="-122"/>
                <a:ea typeface="微软雅黑" pitchFamily="34" charset="-122"/>
              </a:rPr>
              <a:t>math.pi</a:t>
            </a:r>
            <a:r>
              <a:rPr lang="en-US" altLang="zh-CN" sz="2000" dirty="0">
                <a:latin typeface="微软雅黑" pitchFamily="34" charset="-122"/>
                <a:ea typeface="微软雅黑" pitchFamily="34" charset="-122"/>
              </a:rPr>
              <a:t>/</a:t>
            </a:r>
            <a:r>
              <a:rPr lang="en-US" altLang="zh-CN" sz="2000" b="0" dirty="0">
                <a:latin typeface="微软雅黑" pitchFamily="34" charset="-122"/>
                <a:ea typeface="微软雅黑" pitchFamily="34" charset="-122"/>
              </a:rPr>
              <a:t>180)	 #</a:t>
            </a:r>
            <a:r>
              <a:rPr lang="zh-CN" altLang="zh-CN" sz="2000" b="0" dirty="0">
                <a:latin typeface="微软雅黑" pitchFamily="34" charset="-122"/>
                <a:ea typeface="微软雅黑" pitchFamily="34" charset="-122"/>
              </a:rPr>
              <a:t>输入角度，函数要求是弧度</a:t>
            </a:r>
          </a:p>
          <a:p>
            <a:pPr>
              <a:lnSpc>
                <a:spcPct val="150000"/>
              </a:lnSpc>
            </a:pPr>
            <a:r>
              <a:rPr lang="en-US" altLang="zh-CN" sz="2000" b="0" dirty="0">
                <a:latin typeface="微软雅黑" pitchFamily="34" charset="-122"/>
                <a:ea typeface="微软雅黑" pitchFamily="34" charset="-122"/>
              </a:rPr>
              <a:t>print("x=",</a:t>
            </a:r>
            <a:r>
              <a:rPr lang="en-US" altLang="zh-CN" sz="2000" b="0" dirty="0" err="1">
                <a:latin typeface="微软雅黑" pitchFamily="34" charset="-122"/>
                <a:ea typeface="微软雅黑" pitchFamily="34" charset="-122"/>
              </a:rPr>
              <a:t>x,"sin</a:t>
            </a:r>
            <a:r>
              <a:rPr lang="en-US" altLang="zh-CN" sz="2000" b="0" dirty="0">
                <a:latin typeface="微软雅黑" pitchFamily="34" charset="-122"/>
                <a:ea typeface="微软雅黑" pitchFamily="34" charset="-122"/>
              </a:rPr>
              <a:t>(x)=",y)</a:t>
            </a:r>
            <a:endParaRPr lang="zh-CN" altLang="zh-CN" sz="2000" b="0" dirty="0">
              <a:latin typeface="微软雅黑" pitchFamily="34" charset="-122"/>
              <a:ea typeface="微软雅黑" pitchFamily="34" charset="-122"/>
            </a:endParaRPr>
          </a:p>
          <a:p>
            <a:pPr>
              <a:lnSpc>
                <a:spcPct val="150000"/>
              </a:lnSpc>
              <a:spcBef>
                <a:spcPts val="0"/>
              </a:spcBef>
            </a:pPr>
            <a:endParaRPr lang="zh-CN" altLang="zh-CN" sz="1600" b="0" dirty="0">
              <a:solidFill>
                <a:srgbClr val="000066"/>
              </a:solidFill>
              <a:latin typeface="微软雅黑" pitchFamily="34" charset="-122"/>
              <a:ea typeface="微软雅黑" pitchFamily="34" charset="-122"/>
              <a:cs typeface="Courier New" pitchFamily="49" charset="0"/>
            </a:endParaRPr>
          </a:p>
        </p:txBody>
      </p:sp>
    </p:spTree>
    <p:extLst>
      <p:ext uri="{BB962C8B-B14F-4D97-AF65-F5344CB8AC3E}">
        <p14:creationId xmlns:p14="http://schemas.microsoft.com/office/powerpoint/2010/main" val="128308926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a:xfrm>
            <a:off x="608515" y="1059582"/>
            <a:ext cx="7324632" cy="5940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b" anchorCtr="0" compatLnSpc="1">
            <a:prstTxWarp prst="textNoShape">
              <a:avLst/>
            </a:prstTxWarp>
          </a:bodyPr>
          <a:lstStyle/>
          <a:p>
            <a:r>
              <a:rPr lang="en-US" altLang="zh-CN" sz="2800" b="1" dirty="0">
                <a:solidFill>
                  <a:srgbClr val="0070C0"/>
                </a:solidFill>
              </a:rPr>
              <a:t>Math</a:t>
            </a:r>
            <a:r>
              <a:rPr lang="zh-CN" altLang="en-US" sz="2800" b="1" dirty="0">
                <a:solidFill>
                  <a:srgbClr val="0070C0"/>
                </a:solidFill>
              </a:rPr>
              <a:t>函数应用</a:t>
            </a:r>
            <a:r>
              <a:rPr lang="en-US" altLang="zh-CN" sz="2800" b="1" dirty="0">
                <a:solidFill>
                  <a:srgbClr val="0070C0"/>
                </a:solidFill>
              </a:rPr>
              <a:t>--</a:t>
            </a:r>
            <a:r>
              <a:rPr lang="zh-CN" altLang="en-US" sz="2800" b="1" dirty="0">
                <a:solidFill>
                  <a:srgbClr val="0070C0"/>
                </a:solidFill>
              </a:rPr>
              <a:t>好好学习，天天向上</a:t>
            </a:r>
          </a:p>
        </p:txBody>
      </p:sp>
      <p:sp>
        <p:nvSpPr>
          <p:cNvPr id="9" name="内容占位符 2"/>
          <p:cNvSpPr txBox="1">
            <a:spLocks/>
          </p:cNvSpPr>
          <p:nvPr/>
        </p:nvSpPr>
        <p:spPr bwMode="auto">
          <a:xfrm>
            <a:off x="593220" y="1851670"/>
            <a:ext cx="8011227" cy="2664296"/>
          </a:xfrm>
          <a:prstGeom prst="rect">
            <a:avLst/>
          </a:prstGeom>
          <a:solidFill>
            <a:schemeClr val="bg1"/>
          </a:solidFill>
          <a:ln>
            <a:solidFill>
              <a:schemeClr val="accent1"/>
            </a:solidFill>
          </a:ln>
        </p:spPr>
        <p:txBody>
          <a:bodyPr vert="horz" wrap="square" lIns="68580" tIns="34290" rIns="68580" bIns="34290" numCol="1" anchor="t" anchorCtr="0" compatLnSpc="1">
            <a:prstTxWarp prst="textNoShape">
              <a:avLst/>
            </a:prstTxWarp>
          </a:bodyPr>
          <a:lstStyle>
            <a:lvl1pPr marL="411163" indent="-342900" algn="l" rtl="0" eaLnBrk="0" fontAlgn="base" hangingPunct="0">
              <a:spcBef>
                <a:spcPts val="700"/>
              </a:spcBef>
              <a:spcAft>
                <a:spcPct val="0"/>
              </a:spcAft>
              <a:buClr>
                <a:schemeClr val="tx2"/>
              </a:buClr>
              <a:buSzPct val="95000"/>
              <a:buFont typeface="Wingdings"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a:lstStyle>
          <a:p>
            <a:pPr algn="just" eaLnBrk="1" hangingPunct="1">
              <a:buFont typeface="Wingdings" panose="05000000000000000000" pitchFamily="2" charset="2"/>
              <a:buChar char="u"/>
            </a:pPr>
            <a:r>
              <a:rPr lang="en-US" altLang="zh-CN" sz="2100" dirty="0">
                <a:latin typeface="等线" panose="02010600030101010101" pitchFamily="2" charset="-122"/>
                <a:ea typeface="等线" panose="02010600030101010101" pitchFamily="2" charset="-122"/>
              </a:rPr>
              <a:t>1951</a:t>
            </a:r>
            <a:r>
              <a:rPr lang="zh-CN" altLang="en-US" sz="2100" dirty="0">
                <a:latin typeface="等线" panose="02010600030101010101" pitchFamily="2" charset="-122"/>
                <a:ea typeface="等线" panose="02010600030101010101" pitchFamily="2" charset="-122"/>
              </a:rPr>
              <a:t>年，毛泽东主席题词，“好好学习，天天向上”</a:t>
            </a:r>
            <a:endParaRPr lang="en-US" altLang="zh-CN" sz="2100" dirty="0">
              <a:latin typeface="等线" panose="02010600030101010101" pitchFamily="2" charset="-122"/>
              <a:ea typeface="等线" panose="02010600030101010101" pitchFamily="2" charset="-122"/>
            </a:endParaRPr>
          </a:p>
          <a:p>
            <a:pPr marL="68263" indent="0" algn="just" eaLnBrk="1" hangingPunct="1">
              <a:buNone/>
            </a:pPr>
            <a:r>
              <a:rPr lang="zh-CN" altLang="en-US" sz="2100" dirty="0">
                <a:latin typeface="等线" panose="02010600030101010101" pitchFamily="2" charset="-122"/>
                <a:ea typeface="等线" panose="02010600030101010101" pitchFamily="2" charset="-122"/>
              </a:rPr>
              <a:t>     </a:t>
            </a:r>
            <a:r>
              <a:rPr lang="zh-CN" altLang="en-US" sz="2100" b="1" dirty="0">
                <a:solidFill>
                  <a:srgbClr val="00B050"/>
                </a:solidFill>
                <a:latin typeface="等线" panose="02010600030101010101" pitchFamily="2" charset="-122"/>
                <a:ea typeface="等线" panose="02010600030101010101" pitchFamily="2" charset="-122"/>
              </a:rPr>
              <a:t>体会 “天天向上” 的积累力量</a:t>
            </a:r>
            <a:endParaRPr lang="en-US" altLang="zh-CN" sz="2100" b="1" dirty="0">
              <a:solidFill>
                <a:srgbClr val="00B050"/>
              </a:solidFill>
              <a:latin typeface="等线" panose="02010600030101010101" pitchFamily="2" charset="-122"/>
              <a:ea typeface="等线" panose="02010600030101010101" pitchFamily="2" charset="-122"/>
            </a:endParaRPr>
          </a:p>
          <a:p>
            <a:pPr algn="just" eaLnBrk="1" hangingPunct="1">
              <a:buFont typeface="Wingdings" panose="05000000000000000000" pitchFamily="2" charset="2"/>
              <a:buChar char="u"/>
            </a:pPr>
            <a:r>
              <a:rPr lang="zh-CN" altLang="en-US" sz="2100" dirty="0">
                <a:latin typeface="等线" panose="02010600030101010101" pitchFamily="2" charset="-122"/>
                <a:ea typeface="等线" panose="02010600030101010101" pitchFamily="2" charset="-122"/>
              </a:rPr>
              <a:t>每年</a:t>
            </a:r>
            <a:r>
              <a:rPr lang="en-US" altLang="zh-CN" sz="2100" dirty="0">
                <a:latin typeface="等线" panose="02010600030101010101" pitchFamily="2" charset="-122"/>
                <a:ea typeface="等线" panose="02010600030101010101" pitchFamily="2" charset="-122"/>
              </a:rPr>
              <a:t>365</a:t>
            </a:r>
            <a:r>
              <a:rPr lang="zh-CN" altLang="en-US" sz="2100" dirty="0">
                <a:latin typeface="等线" panose="02010600030101010101" pitchFamily="2" charset="-122"/>
                <a:ea typeface="等线" panose="02010600030101010101" pitchFamily="2" charset="-122"/>
              </a:rPr>
              <a:t>天，以第一天的学习水平为基数</a:t>
            </a:r>
            <a:r>
              <a:rPr lang="en-US" altLang="zh-CN" sz="2100" dirty="0">
                <a:latin typeface="等线" panose="02010600030101010101" pitchFamily="2" charset="-122"/>
                <a:ea typeface="等线" panose="02010600030101010101" pitchFamily="2" charset="-122"/>
              </a:rPr>
              <a:t>1</a:t>
            </a:r>
            <a:r>
              <a:rPr lang="zh-CN" altLang="en-US" sz="2100" dirty="0">
                <a:latin typeface="等线" panose="02010600030101010101" pitchFamily="2" charset="-122"/>
                <a:ea typeface="等线" panose="02010600030101010101" pitchFamily="2" charset="-122"/>
              </a:rPr>
              <a:t>，每天增长</a:t>
            </a:r>
            <a:r>
              <a:rPr lang="en-US" altLang="zh-CN" sz="2100" dirty="0">
                <a:latin typeface="等线" panose="02010600030101010101" pitchFamily="2" charset="-122"/>
                <a:ea typeface="等线" panose="02010600030101010101" pitchFamily="2" charset="-122"/>
              </a:rPr>
              <a:t>0.001</a:t>
            </a:r>
            <a:r>
              <a:rPr lang="zh-CN" altLang="en-US" sz="2100" dirty="0">
                <a:latin typeface="等线" panose="02010600030101010101" pitchFamily="2" charset="-122"/>
                <a:ea typeface="等线" panose="02010600030101010101" pitchFamily="2" charset="-122"/>
              </a:rPr>
              <a:t>，一年后，能力是多少？</a:t>
            </a:r>
            <a:endParaRPr lang="en-US" altLang="zh-CN" sz="2100" dirty="0">
              <a:latin typeface="等线" panose="02010600030101010101" pitchFamily="2" charset="-122"/>
              <a:ea typeface="等线" panose="02010600030101010101" pitchFamily="2" charset="-122"/>
            </a:endParaRPr>
          </a:p>
          <a:p>
            <a:pPr algn="just" eaLnBrk="1" hangingPunct="1">
              <a:buFont typeface="Wingdings" panose="05000000000000000000" pitchFamily="2" charset="2"/>
              <a:buChar char="u"/>
            </a:pPr>
            <a:r>
              <a:rPr lang="zh-CN" altLang="en-US" sz="2100" dirty="0">
                <a:latin typeface="等线" panose="02010600030101010101" pitchFamily="2" charset="-122"/>
                <a:ea typeface="等线" panose="02010600030101010101" pitchFamily="2" charset="-122"/>
              </a:rPr>
              <a:t>每天放任不学习，能力下降</a:t>
            </a:r>
            <a:r>
              <a:rPr lang="en-US" altLang="zh-CN" sz="2100" dirty="0">
                <a:latin typeface="等线" panose="02010600030101010101" pitchFamily="2" charset="-122"/>
                <a:ea typeface="等线" panose="02010600030101010101" pitchFamily="2" charset="-122"/>
              </a:rPr>
              <a:t>0.001</a:t>
            </a:r>
            <a:r>
              <a:rPr lang="zh-CN" altLang="en-US" sz="2100" dirty="0">
                <a:latin typeface="等线" panose="02010600030101010101" pitchFamily="2" charset="-122"/>
                <a:ea typeface="等线" panose="02010600030101010101" pitchFamily="2" charset="-122"/>
              </a:rPr>
              <a:t>，一年后能力是多少？</a:t>
            </a:r>
            <a:endParaRPr lang="en-US" altLang="zh-CN" sz="2100" dirty="0">
              <a:latin typeface="等线" panose="02010600030101010101" pitchFamily="2" charset="-122"/>
              <a:ea typeface="等线" panose="02010600030101010101" pitchFamily="2" charset="-122"/>
            </a:endParaRPr>
          </a:p>
          <a:p>
            <a:pPr marL="68263" indent="0" algn="just" eaLnBrk="1" hangingPunct="1">
              <a:buNone/>
            </a:pPr>
            <a:r>
              <a:rPr lang="zh-CN" altLang="en-US" sz="2100" dirty="0">
                <a:latin typeface="等线" panose="02010600030101010101" pitchFamily="2" charset="-122"/>
                <a:ea typeface="等线" panose="02010600030101010101" pitchFamily="2" charset="-122"/>
              </a:rPr>
              <a:t>     两者相差多少？</a:t>
            </a:r>
            <a:endParaRPr lang="en-US" altLang="zh-CN" sz="2100" dirty="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921124340"/>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a:xfrm>
            <a:off x="402960" y="699542"/>
            <a:ext cx="7001104" cy="5940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b" anchorCtr="0" compatLnSpc="1">
            <a:prstTxWarp prst="textNoShape">
              <a:avLst/>
            </a:prstTxWarp>
          </a:bodyPr>
          <a:lstStyle/>
          <a:p>
            <a:pPr algn="l"/>
            <a:r>
              <a:rPr lang="zh-CN" altLang="en-US" sz="2800" b="1" dirty="0">
                <a:solidFill>
                  <a:srgbClr val="0070C0"/>
                </a:solidFill>
              </a:rPr>
              <a:t>好好学习，天天向上</a:t>
            </a:r>
          </a:p>
        </p:txBody>
      </p:sp>
      <p:sp>
        <p:nvSpPr>
          <p:cNvPr id="9" name="内容占位符 2"/>
          <p:cNvSpPr txBox="1">
            <a:spLocks/>
          </p:cNvSpPr>
          <p:nvPr/>
        </p:nvSpPr>
        <p:spPr bwMode="auto">
          <a:xfrm>
            <a:off x="402960" y="1419622"/>
            <a:ext cx="8208912" cy="3231739"/>
          </a:xfrm>
          <a:prstGeom prst="rect">
            <a:avLst/>
          </a:prstGeom>
          <a:solidFill>
            <a:schemeClr val="bg1"/>
          </a:solidFill>
          <a:ln>
            <a:solidFill>
              <a:schemeClr val="accent1"/>
            </a:solidFill>
          </a:ln>
        </p:spPr>
        <p:txBody>
          <a:bodyPr vert="horz" wrap="square" lIns="68580" tIns="34290" rIns="68580" bIns="34290" numCol="1" anchor="t" anchorCtr="0" compatLnSpc="1">
            <a:prstTxWarp prst="textNoShape">
              <a:avLst/>
            </a:prstTxWarp>
          </a:bodyPr>
          <a:lstStyle>
            <a:lvl1pPr marL="411163" indent="-342900" algn="l" rtl="0" eaLnBrk="0" fontAlgn="base" hangingPunct="0">
              <a:spcBef>
                <a:spcPts val="700"/>
              </a:spcBef>
              <a:spcAft>
                <a:spcPct val="0"/>
              </a:spcAft>
              <a:buClr>
                <a:schemeClr val="tx2"/>
              </a:buClr>
              <a:buSzPct val="95000"/>
              <a:buFont typeface="Wingdings"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a:lstStyle>
          <a:p>
            <a:pPr marL="68263" indent="0" algn="just" eaLnBrk="1" hangingPunct="1">
              <a:buNone/>
            </a:pPr>
            <a:r>
              <a:rPr lang="en-US" altLang="zh-CN" sz="2400" dirty="0">
                <a:latin typeface="等线" panose="02010600030101010101" pitchFamily="2" charset="-122"/>
                <a:ea typeface="等线" panose="02010600030101010101" pitchFamily="2" charset="-122"/>
              </a:rPr>
              <a:t>import math</a:t>
            </a:r>
          </a:p>
          <a:p>
            <a:pPr marL="68263" indent="0" algn="just" eaLnBrk="1" hangingPunct="1">
              <a:buNone/>
            </a:pPr>
            <a:r>
              <a:rPr lang="en-US" altLang="zh-CN" sz="2400" dirty="0">
                <a:latin typeface="等线" panose="02010600030101010101" pitchFamily="2" charset="-122"/>
                <a:ea typeface="等线" panose="02010600030101010101" pitchFamily="2" charset="-122"/>
              </a:rPr>
              <a:t>up=</a:t>
            </a:r>
            <a:r>
              <a:rPr lang="en-US" altLang="zh-CN" sz="2400" dirty="0" err="1">
                <a:latin typeface="等线" panose="02010600030101010101" pitchFamily="2" charset="-122"/>
                <a:ea typeface="等线" panose="02010600030101010101" pitchFamily="2" charset="-122"/>
              </a:rPr>
              <a:t>math.pow</a:t>
            </a:r>
            <a:r>
              <a:rPr lang="en-US" altLang="zh-CN" sz="2400" dirty="0">
                <a:latin typeface="等线" panose="02010600030101010101" pitchFamily="2" charset="-122"/>
                <a:ea typeface="等线" panose="02010600030101010101" pitchFamily="2" charset="-122"/>
              </a:rPr>
              <a:t>((1+0.001),365)</a:t>
            </a:r>
          </a:p>
          <a:p>
            <a:pPr marL="68263" indent="0" algn="just" eaLnBrk="1" hangingPunct="1">
              <a:buNone/>
            </a:pPr>
            <a:r>
              <a:rPr lang="en-US" altLang="zh-CN" sz="2400" dirty="0">
                <a:latin typeface="等线" panose="02010600030101010101" pitchFamily="2" charset="-122"/>
                <a:ea typeface="等线" panose="02010600030101010101" pitchFamily="2" charset="-122"/>
              </a:rPr>
              <a:t>down=</a:t>
            </a:r>
            <a:r>
              <a:rPr lang="en-US" altLang="zh-CN" sz="2400" dirty="0" err="1">
                <a:latin typeface="等线" panose="02010600030101010101" pitchFamily="2" charset="-122"/>
                <a:ea typeface="等线" panose="02010600030101010101" pitchFamily="2" charset="-122"/>
              </a:rPr>
              <a:t>math.pow</a:t>
            </a:r>
            <a:r>
              <a:rPr lang="en-US" altLang="zh-CN" sz="2400" dirty="0">
                <a:latin typeface="等线" panose="02010600030101010101" pitchFamily="2" charset="-122"/>
                <a:ea typeface="等线" panose="02010600030101010101" pitchFamily="2" charset="-122"/>
              </a:rPr>
              <a:t>((1-0.001),365)</a:t>
            </a:r>
          </a:p>
          <a:p>
            <a:pPr marL="68263" indent="0" algn="just" eaLnBrk="1" hangingPunct="1">
              <a:buNone/>
            </a:pPr>
            <a:r>
              <a:rPr lang="en-US" altLang="zh-CN" sz="2400" dirty="0">
                <a:latin typeface="等线" panose="02010600030101010101" pitchFamily="2" charset="-122"/>
                <a:ea typeface="等线" panose="02010600030101010101" pitchFamily="2" charset="-122"/>
              </a:rPr>
              <a:t>print("</a:t>
            </a:r>
            <a:r>
              <a:rPr lang="zh-CN" altLang="en-US" sz="2400" dirty="0">
                <a:latin typeface="等线" panose="02010600030101010101" pitchFamily="2" charset="-122"/>
                <a:ea typeface="等线" panose="02010600030101010101" pitchFamily="2" charset="-122"/>
              </a:rPr>
              <a:t>向上</a:t>
            </a:r>
            <a:r>
              <a:rPr lang="en-US" altLang="zh-CN" sz="2400" dirty="0">
                <a:latin typeface="等线" panose="02010600030101010101" pitchFamily="2" charset="-122"/>
                <a:ea typeface="等线" panose="02010600030101010101" pitchFamily="2" charset="-122"/>
              </a:rPr>
              <a:t>{:6.2f},</a:t>
            </a:r>
            <a:r>
              <a:rPr lang="zh-CN" altLang="en-US" sz="2400" dirty="0">
                <a:latin typeface="等线" panose="02010600030101010101" pitchFamily="2" charset="-122"/>
                <a:ea typeface="等线" panose="02010600030101010101" pitchFamily="2" charset="-122"/>
              </a:rPr>
              <a:t>向下</a:t>
            </a:r>
            <a:r>
              <a:rPr lang="en-US" altLang="zh-CN" sz="2400" dirty="0">
                <a:latin typeface="等线" panose="02010600030101010101" pitchFamily="2" charset="-122"/>
                <a:ea typeface="等线" panose="02010600030101010101" pitchFamily="2" charset="-122"/>
              </a:rPr>
              <a:t>{:6.2f}".format(</a:t>
            </a:r>
            <a:r>
              <a:rPr lang="en-US" altLang="zh-CN" sz="2400" dirty="0" err="1">
                <a:latin typeface="等线" panose="02010600030101010101" pitchFamily="2" charset="-122"/>
                <a:ea typeface="等线" panose="02010600030101010101" pitchFamily="2" charset="-122"/>
              </a:rPr>
              <a:t>up,down</a:t>
            </a:r>
            <a:r>
              <a:rPr lang="en-US" altLang="zh-CN" sz="2400" dirty="0">
                <a:latin typeface="等线" panose="02010600030101010101" pitchFamily="2" charset="-122"/>
                <a:ea typeface="等线" panose="02010600030101010101" pitchFamily="2" charset="-122"/>
              </a:rPr>
              <a:t>))</a:t>
            </a:r>
          </a:p>
          <a:p>
            <a:pPr marL="51197" indent="0" algn="just" eaLnBrk="1" hangingPunct="1">
              <a:lnSpc>
                <a:spcPct val="150000"/>
              </a:lnSpc>
              <a:buNone/>
            </a:pPr>
            <a:r>
              <a:rPr lang="zh-CN" altLang="en-US" sz="2800" b="1" dirty="0">
                <a:latin typeface="等线" panose="02010600030101010101" pitchFamily="2" charset="-122"/>
                <a:ea typeface="等线" panose="02010600030101010101" pitchFamily="2" charset="-122"/>
              </a:rPr>
              <a:t>向上</a:t>
            </a:r>
            <a:r>
              <a:rPr lang="en-US" altLang="zh-CN" sz="2800" b="1" dirty="0">
                <a:latin typeface="等线" panose="02010600030101010101" pitchFamily="2" charset="-122"/>
                <a:ea typeface="等线" panose="02010600030101010101" pitchFamily="2" charset="-122"/>
              </a:rPr>
              <a:t>1.44</a:t>
            </a:r>
            <a:r>
              <a:rPr lang="zh-CN" altLang="en-US" sz="2800" b="1" dirty="0">
                <a:latin typeface="等线" panose="02010600030101010101" pitchFamily="2" charset="-122"/>
                <a:ea typeface="等线" panose="02010600030101010101" pitchFamily="2" charset="-122"/>
              </a:rPr>
              <a:t>，向下</a:t>
            </a:r>
            <a:r>
              <a:rPr lang="en-US" altLang="zh-CN" sz="2800" b="1" dirty="0">
                <a:latin typeface="等线" panose="02010600030101010101" pitchFamily="2" charset="-122"/>
                <a:ea typeface="等线" panose="02010600030101010101" pitchFamily="2" charset="-122"/>
              </a:rPr>
              <a:t>0.69 </a:t>
            </a:r>
          </a:p>
          <a:p>
            <a:pPr marL="51197" indent="0" algn="just" eaLnBrk="1" hangingPunct="1">
              <a:lnSpc>
                <a:spcPct val="150000"/>
              </a:lnSpc>
              <a:buNone/>
            </a:pPr>
            <a:r>
              <a:rPr lang="en-US" altLang="zh-CN" sz="2800" b="1" dirty="0">
                <a:solidFill>
                  <a:srgbClr val="FF0000"/>
                </a:solidFill>
                <a:latin typeface="等线" panose="02010600030101010101" pitchFamily="2" charset="-122"/>
                <a:ea typeface="等线" panose="02010600030101010101" pitchFamily="2" charset="-122"/>
              </a:rPr>
              <a:t>1.44</a:t>
            </a:r>
            <a:r>
              <a:rPr lang="zh-CN" altLang="en-US" sz="2800" b="1" dirty="0">
                <a:solidFill>
                  <a:srgbClr val="FF0000"/>
                </a:solidFill>
                <a:latin typeface="等线" panose="02010600030101010101" pitchFamily="2" charset="-122"/>
                <a:ea typeface="等线" panose="02010600030101010101" pitchFamily="2" charset="-122"/>
              </a:rPr>
              <a:t>：</a:t>
            </a:r>
            <a:r>
              <a:rPr lang="en-US" altLang="zh-CN" sz="2800" b="1" dirty="0">
                <a:solidFill>
                  <a:srgbClr val="FF0000"/>
                </a:solidFill>
                <a:latin typeface="等线" panose="02010600030101010101" pitchFamily="2" charset="-122"/>
                <a:ea typeface="等线" panose="02010600030101010101" pitchFamily="2" charset="-122"/>
              </a:rPr>
              <a:t>0.69=2.08696</a:t>
            </a:r>
            <a:r>
              <a:rPr lang="zh-CN" altLang="en-US" sz="2800" b="1" dirty="0">
                <a:solidFill>
                  <a:srgbClr val="FF0000"/>
                </a:solidFill>
                <a:latin typeface="等线" panose="02010600030101010101" pitchFamily="2" charset="-122"/>
                <a:ea typeface="等线" panose="02010600030101010101" pitchFamily="2" charset="-122"/>
              </a:rPr>
              <a:t>：</a:t>
            </a:r>
            <a:r>
              <a:rPr lang="en-US" altLang="zh-CN" sz="2800" b="1" dirty="0">
                <a:solidFill>
                  <a:srgbClr val="FF0000"/>
                </a:solidFill>
                <a:latin typeface="等线" panose="02010600030101010101" pitchFamily="2" charset="-122"/>
                <a:ea typeface="等线" panose="02010600030101010101" pitchFamily="2" charset="-122"/>
              </a:rPr>
              <a:t>1</a:t>
            </a:r>
          </a:p>
        </p:txBody>
      </p:sp>
    </p:spTree>
    <p:extLst>
      <p:ext uri="{BB962C8B-B14F-4D97-AF65-F5344CB8AC3E}">
        <p14:creationId xmlns:p14="http://schemas.microsoft.com/office/powerpoint/2010/main" val="917293873"/>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a:xfrm>
            <a:off x="340323" y="699542"/>
            <a:ext cx="7145120" cy="5940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b" anchorCtr="0" compatLnSpc="1">
            <a:prstTxWarp prst="textNoShape">
              <a:avLst/>
            </a:prstTxWarp>
          </a:bodyPr>
          <a:lstStyle/>
          <a:p>
            <a:pPr algn="l"/>
            <a:r>
              <a:rPr lang="zh-CN" altLang="en-US" sz="2800" b="1" dirty="0">
                <a:solidFill>
                  <a:srgbClr val="0070C0"/>
                </a:solidFill>
              </a:rPr>
              <a:t>好好学习，天天向上</a:t>
            </a:r>
          </a:p>
        </p:txBody>
      </p:sp>
      <p:sp>
        <p:nvSpPr>
          <p:cNvPr id="9" name="内容占位符 2"/>
          <p:cNvSpPr txBox="1">
            <a:spLocks/>
          </p:cNvSpPr>
          <p:nvPr/>
        </p:nvSpPr>
        <p:spPr bwMode="auto">
          <a:xfrm>
            <a:off x="467544" y="1325715"/>
            <a:ext cx="7832077" cy="3312368"/>
          </a:xfrm>
          <a:prstGeom prst="rect">
            <a:avLst/>
          </a:prstGeom>
          <a:solidFill>
            <a:schemeClr val="bg1"/>
          </a:solidFill>
          <a:ln>
            <a:solidFill>
              <a:schemeClr val="accent1"/>
            </a:solidFill>
          </a:ln>
        </p:spPr>
        <p:txBody>
          <a:bodyPr vert="horz" wrap="square" lIns="68580" tIns="34290" rIns="68580" bIns="34290" numCol="1" anchor="t" anchorCtr="0" compatLnSpc="1">
            <a:prstTxWarp prst="textNoShape">
              <a:avLst/>
            </a:prstTxWarp>
          </a:bodyPr>
          <a:lstStyle>
            <a:lvl1pPr marL="411163" indent="-342900" algn="l" rtl="0" eaLnBrk="0" fontAlgn="base" hangingPunct="0">
              <a:spcBef>
                <a:spcPts val="700"/>
              </a:spcBef>
              <a:spcAft>
                <a:spcPct val="0"/>
              </a:spcAft>
              <a:buClr>
                <a:schemeClr val="tx2"/>
              </a:buClr>
              <a:buSzPct val="95000"/>
              <a:buFont typeface="Wingdings"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a:lstStyle>
          <a:p>
            <a:pPr algn="just" eaLnBrk="1" hangingPunct="1">
              <a:buFont typeface="Wingdings" panose="05000000000000000000" pitchFamily="2" charset="2"/>
              <a:buChar char="u"/>
            </a:pPr>
            <a:r>
              <a:rPr lang="zh-CN" altLang="en-US" sz="2400" dirty="0">
                <a:latin typeface="等线" panose="02010600030101010101" pitchFamily="2" charset="-122"/>
                <a:ea typeface="等线" panose="02010600030101010101" pitchFamily="2" charset="-122"/>
              </a:rPr>
              <a:t>努力，每天增长</a:t>
            </a:r>
            <a:r>
              <a:rPr lang="en-US" altLang="zh-CN" sz="2400" dirty="0">
                <a:latin typeface="等线" panose="02010600030101010101" pitchFamily="2" charset="-122"/>
                <a:ea typeface="等线" panose="02010600030101010101" pitchFamily="2" charset="-122"/>
              </a:rPr>
              <a:t>0.01</a:t>
            </a:r>
            <a:r>
              <a:rPr lang="zh-CN" altLang="en-US" sz="2400" dirty="0">
                <a:latin typeface="等线" panose="02010600030101010101" pitchFamily="2" charset="-122"/>
                <a:ea typeface="等线" panose="02010600030101010101" pitchFamily="2" charset="-122"/>
              </a:rPr>
              <a:t>。放任，能力下降</a:t>
            </a:r>
            <a:r>
              <a:rPr lang="en-US" altLang="zh-CN" sz="2400" dirty="0">
                <a:latin typeface="等线" panose="02010600030101010101" pitchFamily="2" charset="-122"/>
                <a:ea typeface="等线" panose="02010600030101010101" pitchFamily="2" charset="-122"/>
              </a:rPr>
              <a:t>0.01</a:t>
            </a:r>
            <a:r>
              <a:rPr lang="zh-CN" altLang="en-US" sz="2400" dirty="0">
                <a:latin typeface="等线" panose="02010600030101010101" pitchFamily="2" charset="-122"/>
                <a:ea typeface="等线" panose="02010600030101010101" pitchFamily="2" charset="-122"/>
              </a:rPr>
              <a:t>，一年后能力是多少？</a:t>
            </a:r>
            <a:endParaRPr lang="en-US" altLang="zh-CN" sz="2400" dirty="0">
              <a:latin typeface="等线" panose="02010600030101010101" pitchFamily="2" charset="-122"/>
              <a:ea typeface="等线" panose="02010600030101010101" pitchFamily="2" charset="-122"/>
            </a:endParaRPr>
          </a:p>
          <a:p>
            <a:pPr marL="68263" indent="0" algn="just" eaLnBrk="1" hangingPunct="1">
              <a:buNone/>
            </a:pPr>
            <a:r>
              <a:rPr lang="en-US" altLang="zh-CN" sz="2400" dirty="0">
                <a:latin typeface="等线" panose="02010600030101010101" pitchFamily="2" charset="-122"/>
                <a:ea typeface="等线" panose="02010600030101010101" pitchFamily="2" charset="-122"/>
              </a:rPr>
              <a:t>import math</a:t>
            </a:r>
          </a:p>
          <a:p>
            <a:pPr marL="68263" indent="0" algn="just" eaLnBrk="1" hangingPunct="1">
              <a:buNone/>
            </a:pPr>
            <a:r>
              <a:rPr lang="en-US" altLang="zh-CN" sz="2400" dirty="0">
                <a:latin typeface="等线" panose="02010600030101010101" pitchFamily="2" charset="-122"/>
                <a:ea typeface="等线" panose="02010600030101010101" pitchFamily="2" charset="-122"/>
              </a:rPr>
              <a:t>up=</a:t>
            </a:r>
            <a:r>
              <a:rPr lang="en-US" altLang="zh-CN" sz="2400" dirty="0" err="1">
                <a:latin typeface="等线" panose="02010600030101010101" pitchFamily="2" charset="-122"/>
                <a:ea typeface="等线" panose="02010600030101010101" pitchFamily="2" charset="-122"/>
              </a:rPr>
              <a:t>math.pow</a:t>
            </a:r>
            <a:r>
              <a:rPr lang="en-US" altLang="zh-CN" sz="2400" dirty="0">
                <a:latin typeface="等线" panose="02010600030101010101" pitchFamily="2" charset="-122"/>
                <a:ea typeface="等线" panose="02010600030101010101" pitchFamily="2" charset="-122"/>
              </a:rPr>
              <a:t>((1+0.01),365)</a:t>
            </a:r>
          </a:p>
          <a:p>
            <a:pPr marL="68263" indent="0" algn="just" eaLnBrk="1" hangingPunct="1">
              <a:buNone/>
            </a:pPr>
            <a:r>
              <a:rPr lang="en-US" altLang="zh-CN" sz="2400" dirty="0">
                <a:latin typeface="等线" panose="02010600030101010101" pitchFamily="2" charset="-122"/>
                <a:ea typeface="等线" panose="02010600030101010101" pitchFamily="2" charset="-122"/>
              </a:rPr>
              <a:t>down=</a:t>
            </a:r>
            <a:r>
              <a:rPr lang="en-US" altLang="zh-CN" sz="2400" dirty="0" err="1">
                <a:latin typeface="等线" panose="02010600030101010101" pitchFamily="2" charset="-122"/>
                <a:ea typeface="等线" panose="02010600030101010101" pitchFamily="2" charset="-122"/>
              </a:rPr>
              <a:t>math.pow</a:t>
            </a:r>
            <a:r>
              <a:rPr lang="en-US" altLang="zh-CN" sz="2400" dirty="0">
                <a:latin typeface="等线" panose="02010600030101010101" pitchFamily="2" charset="-122"/>
                <a:ea typeface="等线" panose="02010600030101010101" pitchFamily="2" charset="-122"/>
              </a:rPr>
              <a:t>((1-0.01),365)</a:t>
            </a:r>
          </a:p>
          <a:p>
            <a:pPr marL="68263" indent="0" algn="just" eaLnBrk="1" hangingPunct="1">
              <a:buNone/>
            </a:pPr>
            <a:r>
              <a:rPr lang="en-US" altLang="zh-CN" sz="2400" dirty="0">
                <a:latin typeface="等线" panose="02010600030101010101" pitchFamily="2" charset="-122"/>
                <a:ea typeface="等线" panose="02010600030101010101" pitchFamily="2" charset="-122"/>
              </a:rPr>
              <a:t>print("</a:t>
            </a:r>
            <a:r>
              <a:rPr lang="zh-CN" altLang="en-US" sz="2400" dirty="0">
                <a:latin typeface="等线" panose="02010600030101010101" pitchFamily="2" charset="-122"/>
                <a:ea typeface="等线" panose="02010600030101010101" pitchFamily="2" charset="-122"/>
              </a:rPr>
              <a:t>向上</a:t>
            </a:r>
            <a:r>
              <a:rPr lang="en-US" altLang="zh-CN" sz="2400" dirty="0">
                <a:latin typeface="等线" panose="02010600030101010101" pitchFamily="2" charset="-122"/>
                <a:ea typeface="等线" panose="02010600030101010101" pitchFamily="2" charset="-122"/>
              </a:rPr>
              <a:t>{:6.2f},</a:t>
            </a:r>
            <a:r>
              <a:rPr lang="zh-CN" altLang="en-US" sz="2400" dirty="0">
                <a:latin typeface="等线" panose="02010600030101010101" pitchFamily="2" charset="-122"/>
                <a:ea typeface="等线" panose="02010600030101010101" pitchFamily="2" charset="-122"/>
              </a:rPr>
              <a:t>向下</a:t>
            </a:r>
            <a:r>
              <a:rPr lang="en-US" altLang="zh-CN" sz="2400" dirty="0">
                <a:latin typeface="等线" panose="02010600030101010101" pitchFamily="2" charset="-122"/>
                <a:ea typeface="等线" panose="02010600030101010101" pitchFamily="2" charset="-122"/>
              </a:rPr>
              <a:t>{:6.2f}".format(</a:t>
            </a:r>
            <a:r>
              <a:rPr lang="en-US" altLang="zh-CN" sz="2400" dirty="0" err="1">
                <a:latin typeface="等线" panose="02010600030101010101" pitchFamily="2" charset="-122"/>
                <a:ea typeface="等线" panose="02010600030101010101" pitchFamily="2" charset="-122"/>
              </a:rPr>
              <a:t>up,down</a:t>
            </a:r>
            <a:r>
              <a:rPr lang="en-US" altLang="zh-CN" sz="2400" dirty="0">
                <a:latin typeface="等线" panose="02010600030101010101" pitchFamily="2" charset="-122"/>
                <a:ea typeface="等线" panose="02010600030101010101" pitchFamily="2" charset="-122"/>
              </a:rPr>
              <a:t>))</a:t>
            </a:r>
          </a:p>
          <a:p>
            <a:pPr marL="51197" indent="0" algn="just" eaLnBrk="1" hangingPunct="1">
              <a:lnSpc>
                <a:spcPct val="150000"/>
              </a:lnSpc>
              <a:buNone/>
            </a:pPr>
            <a:r>
              <a:rPr lang="zh-CN" altLang="en-US" sz="2800" b="1" dirty="0">
                <a:latin typeface="等线" panose="02010600030101010101" pitchFamily="2" charset="-122"/>
                <a:ea typeface="等线" panose="02010600030101010101" pitchFamily="2" charset="-122"/>
              </a:rPr>
              <a:t>向上</a:t>
            </a:r>
            <a:r>
              <a:rPr lang="en-US" altLang="zh-CN" sz="2800" b="1" dirty="0">
                <a:latin typeface="等线" panose="02010600030101010101" pitchFamily="2" charset="-122"/>
                <a:ea typeface="等线" panose="02010600030101010101" pitchFamily="2" charset="-122"/>
              </a:rPr>
              <a:t>37.78</a:t>
            </a:r>
            <a:r>
              <a:rPr lang="zh-CN" altLang="en-US" sz="2800" b="1" dirty="0">
                <a:latin typeface="等线" panose="02010600030101010101" pitchFamily="2" charset="-122"/>
                <a:ea typeface="等线" panose="02010600030101010101" pitchFamily="2" charset="-122"/>
              </a:rPr>
              <a:t>，向下</a:t>
            </a:r>
            <a:r>
              <a:rPr lang="en-US" altLang="zh-CN" sz="2800" b="1" dirty="0">
                <a:latin typeface="等线" panose="02010600030101010101" pitchFamily="2" charset="-122"/>
                <a:ea typeface="等线" panose="02010600030101010101" pitchFamily="2" charset="-122"/>
              </a:rPr>
              <a:t>0.03</a:t>
            </a:r>
            <a:r>
              <a:rPr lang="zh-CN" altLang="en-US" sz="2800" b="1" dirty="0">
                <a:solidFill>
                  <a:srgbClr val="FF0000"/>
                </a:solidFill>
                <a:latin typeface="等线" panose="02010600030101010101" pitchFamily="2" charset="-122"/>
                <a:ea typeface="等线" panose="02010600030101010101" pitchFamily="2" charset="-122"/>
              </a:rPr>
              <a:t>（</a:t>
            </a:r>
            <a:r>
              <a:rPr lang="en-US" altLang="zh-CN" sz="2800" b="1" dirty="0">
                <a:solidFill>
                  <a:srgbClr val="FF0000"/>
                </a:solidFill>
                <a:latin typeface="等线" panose="02010600030101010101" pitchFamily="2" charset="-122"/>
                <a:ea typeface="等线" panose="02010600030101010101" pitchFamily="2" charset="-122"/>
              </a:rPr>
              <a:t>1259</a:t>
            </a:r>
            <a:r>
              <a:rPr lang="zh-CN" altLang="en-US" sz="2800" b="1" dirty="0">
                <a:solidFill>
                  <a:srgbClr val="FF0000"/>
                </a:solidFill>
                <a:latin typeface="等线" panose="02010600030101010101" pitchFamily="2" charset="-122"/>
                <a:ea typeface="等线" panose="02010600030101010101" pitchFamily="2" charset="-122"/>
              </a:rPr>
              <a:t>：</a:t>
            </a:r>
            <a:r>
              <a:rPr lang="en-US" altLang="zh-CN" sz="2800" b="1" dirty="0">
                <a:solidFill>
                  <a:srgbClr val="FF0000"/>
                </a:solidFill>
                <a:latin typeface="等线" panose="02010600030101010101" pitchFamily="2" charset="-122"/>
                <a:ea typeface="等线" panose="02010600030101010101" pitchFamily="2" charset="-122"/>
              </a:rPr>
              <a:t>1</a:t>
            </a:r>
            <a:r>
              <a:rPr lang="zh-CN" altLang="en-US" sz="2800" b="1" dirty="0">
                <a:solidFill>
                  <a:srgbClr val="FF0000"/>
                </a:solidFill>
                <a:latin typeface="等线" panose="02010600030101010101" pitchFamily="2" charset="-122"/>
                <a:ea typeface="等线" panose="02010600030101010101" pitchFamily="2" charset="-122"/>
              </a:rPr>
              <a:t>）</a:t>
            </a:r>
            <a:endParaRPr lang="en-US" altLang="zh-CN" sz="2800" b="1" dirty="0">
              <a:solidFill>
                <a:srgbClr val="FF000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900870552"/>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2119" y="666894"/>
            <a:ext cx="8293100" cy="519956"/>
          </a:xfrm>
          <a:ln>
            <a:noFill/>
          </a:ln>
        </p:spPr>
        <p:txBody>
          <a:bodyPr>
            <a:noAutofit/>
          </a:bodyPr>
          <a:lstStyle/>
          <a:p>
            <a:pPr>
              <a:lnSpc>
                <a:spcPct val="160000"/>
              </a:lnSpc>
              <a:buFont typeface="Wingdings" panose="05000000000000000000" pitchFamily="2" charset="2"/>
              <a:buChar char="u"/>
            </a:pPr>
            <a:r>
              <a:rPr lang="zh-CN" altLang="zh-CN" sz="1800" b="1" dirty="0">
                <a:solidFill>
                  <a:srgbClr val="008000"/>
                </a:solidFill>
                <a:latin typeface="黑体" panose="02010609060101010101" pitchFamily="49" charset="-122"/>
                <a:ea typeface="黑体" panose="02010609060101010101" pitchFamily="49" charset="-122"/>
              </a:rPr>
              <a:t>字符串（</a:t>
            </a:r>
            <a:r>
              <a:rPr lang="en-US" altLang="zh-CN" sz="1800" b="1" dirty="0">
                <a:solidFill>
                  <a:srgbClr val="008000"/>
                </a:solidFill>
                <a:latin typeface="黑体" panose="02010609060101010101" pitchFamily="49" charset="-122"/>
                <a:ea typeface="黑体" panose="02010609060101010101" pitchFamily="49" charset="-122"/>
              </a:rPr>
              <a:t>string</a:t>
            </a:r>
            <a:r>
              <a:rPr lang="zh-CN" altLang="zh-CN" sz="1800" b="1" dirty="0">
                <a:solidFill>
                  <a:srgbClr val="008000"/>
                </a:solidFill>
                <a:latin typeface="黑体" panose="02010609060101010101" pitchFamily="49" charset="-122"/>
                <a:ea typeface="黑体" panose="02010609060101010101" pitchFamily="49" charset="-122"/>
              </a:rPr>
              <a:t>）</a:t>
            </a:r>
            <a:r>
              <a:rPr lang="zh-CN" altLang="en-US" sz="1800" b="1" dirty="0">
                <a:solidFill>
                  <a:srgbClr val="008000"/>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即</a:t>
            </a:r>
            <a:r>
              <a:rPr lang="zh-CN" altLang="zh-CN" sz="1800" dirty="0">
                <a:solidFill>
                  <a:schemeClr val="tx1"/>
                </a:solidFill>
                <a:latin typeface="黑体" panose="02010609060101010101" pitchFamily="49" charset="-122"/>
                <a:ea typeface="黑体" panose="02010609060101010101" pitchFamily="49" charset="-122"/>
              </a:rPr>
              <a:t>字符序列</a:t>
            </a:r>
            <a:r>
              <a:rPr lang="zh-CN" altLang="en-US" sz="1800" dirty="0">
                <a:solidFill>
                  <a:schemeClr val="tx1"/>
                </a:solidFill>
                <a:latin typeface="黑体" panose="02010609060101010101" pitchFamily="49" charset="-122"/>
                <a:ea typeface="黑体" panose="02010609060101010101" pitchFamily="49" charset="-122"/>
              </a:rPr>
              <a:t>，如</a:t>
            </a:r>
            <a:r>
              <a:rPr lang="en-US" altLang="zh-CN" sz="1800" dirty="0">
                <a:solidFill>
                  <a:schemeClr val="tx1"/>
                </a:solidFill>
                <a:latin typeface="Arial" panose="020B0604020202020204" pitchFamily="34" charset="0"/>
                <a:ea typeface="+mn-ea"/>
                <a:cs typeface="Arial" panose="020B0604020202020204" pitchFamily="34" charset="0"/>
              </a:rPr>
              <a:t>’a’,  ”123”,  ’’’</a:t>
            </a:r>
            <a:r>
              <a:rPr lang="zh-CN" altLang="en-US" sz="1800" dirty="0">
                <a:solidFill>
                  <a:schemeClr val="tx1"/>
                </a:solidFill>
                <a:latin typeface="Arial" panose="020B0604020202020204" pitchFamily="34" charset="0"/>
                <a:ea typeface="+mn-ea"/>
                <a:cs typeface="Arial" panose="020B0604020202020204" pitchFamily="34" charset="0"/>
              </a:rPr>
              <a:t>计算机</a:t>
            </a:r>
            <a:r>
              <a:rPr lang="en-US" altLang="zh-CN" sz="1800" dirty="0">
                <a:solidFill>
                  <a:schemeClr val="tx1"/>
                </a:solidFill>
                <a:latin typeface="Arial" panose="020B0604020202020204" pitchFamily="34" charset="0"/>
                <a:ea typeface="+mn-ea"/>
                <a:cs typeface="Arial" panose="020B0604020202020204" pitchFamily="34" charset="0"/>
              </a:rPr>
              <a:t>’’’</a:t>
            </a: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634" y="1626969"/>
            <a:ext cx="2894602" cy="2736304"/>
          </a:xfrm>
          <a:prstGeom prst="rect">
            <a:avLst/>
          </a:prstGeom>
        </p:spPr>
      </p:pic>
      <p:sp>
        <p:nvSpPr>
          <p:cNvPr id="8" name="内容占位符 2"/>
          <p:cNvSpPr txBox="1">
            <a:spLocks/>
          </p:cNvSpPr>
          <p:nvPr/>
        </p:nvSpPr>
        <p:spPr bwMode="auto">
          <a:xfrm>
            <a:off x="442119" y="1088241"/>
            <a:ext cx="8293100" cy="497880"/>
          </a:xfrm>
          <a:prstGeom prst="rect">
            <a:avLst/>
          </a:prstGeom>
          <a:solidFill>
            <a:schemeClr val="lt1"/>
          </a:solidFill>
          <a:ln w="25400" cap="flat" cmpd="sng" algn="ctr">
            <a:noFill/>
            <a:prstDash val="solid"/>
            <a:headEnd/>
            <a:tailEnd/>
          </a:ln>
          <a:effectLst/>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lnSpc>
                <a:spcPct val="110000"/>
              </a:lnSpc>
              <a:spcBef>
                <a:spcPts val="600"/>
              </a:spcBef>
              <a:spcAft>
                <a:spcPct val="0"/>
              </a:spcAft>
              <a:buClr>
                <a:schemeClr val="hlink"/>
              </a:buClr>
              <a:buChar char="•"/>
              <a:defRPr sz="2400" b="0">
                <a:solidFill>
                  <a:srgbClr val="000096"/>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lnSpc>
                <a:spcPct val="110000"/>
              </a:lnSpc>
              <a:spcBef>
                <a:spcPts val="600"/>
              </a:spcBef>
              <a:spcAft>
                <a:spcPct val="0"/>
              </a:spcAft>
              <a:buClr>
                <a:srgbClr val="FF9900"/>
              </a:buClr>
              <a:buChar char="•"/>
              <a:defRPr sz="22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lnSpc>
                <a:spcPct val="110000"/>
              </a:lnSpc>
              <a:spcBef>
                <a:spcPts val="600"/>
              </a:spcBef>
              <a:spcAft>
                <a:spcPct val="0"/>
              </a:spcAft>
              <a:buClr>
                <a:schemeClr val="hlink"/>
              </a:buClr>
              <a:buChar char="•"/>
              <a:defRPr>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lnSpc>
                <a:spcPct val="110000"/>
              </a:lnSpc>
              <a:spcBef>
                <a:spcPts val="600"/>
              </a:spcBef>
              <a:spcAft>
                <a:spcPct val="0"/>
              </a:spcAft>
              <a:buClr>
                <a:srgbClr val="FF9900"/>
              </a:buClr>
              <a:buChar char="•"/>
              <a:defRPr sz="16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lnSpc>
                <a:spcPct val="110000"/>
              </a:lnSpc>
              <a:spcBef>
                <a:spcPts val="600"/>
              </a:spcBef>
              <a:spcAft>
                <a:spcPct val="0"/>
              </a:spcAft>
              <a:buClr>
                <a:schemeClr val="hlink"/>
              </a:buClr>
              <a:buChar char="•"/>
              <a:defRPr sz="2000">
                <a:solidFill>
                  <a:srgbClr val="5F5F5F"/>
                </a:solidFill>
                <a:latin typeface="微软雅黑" panose="020B0503020204020204" pitchFamily="34" charset="-122"/>
                <a:ea typeface="微软雅黑" panose="020B0503020204020204" pitchFamily="34" charset="-122"/>
              </a:defRPr>
            </a:lvl5pPr>
            <a:lvl6pPr marL="25146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6pPr>
            <a:lvl7pPr marL="29718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7pPr>
            <a:lvl8pPr marL="34290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8pPr>
            <a:lvl9pPr marL="38862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9pPr>
          </a:lstStyle>
          <a:p>
            <a:pPr>
              <a:lnSpc>
                <a:spcPct val="160000"/>
              </a:lnSpc>
              <a:buFont typeface="Wingdings" panose="05000000000000000000" pitchFamily="2" charset="2"/>
              <a:buChar char="u"/>
            </a:pPr>
            <a:r>
              <a:rPr lang="zh-CN" altLang="en-US" sz="1800" b="1" dirty="0">
                <a:solidFill>
                  <a:srgbClr val="008000"/>
                </a:solidFill>
                <a:latin typeface="黑体" panose="02010609060101010101" pitchFamily="49" charset="-122"/>
                <a:ea typeface="黑体" panose="02010609060101010101" pitchFamily="49" charset="-122"/>
              </a:rPr>
              <a:t>转义字符：</a:t>
            </a:r>
            <a:r>
              <a:rPr lang="zh-CN" altLang="en-US" sz="1800" b="1" dirty="0">
                <a:solidFill>
                  <a:srgbClr val="C00000"/>
                </a:solidFill>
                <a:latin typeface="黑体" panose="02010609060101010101" pitchFamily="49" charset="-122"/>
                <a:ea typeface="黑体" panose="02010609060101010101" pitchFamily="49" charset="-122"/>
              </a:rPr>
              <a:t>反斜杠开始</a:t>
            </a:r>
            <a:r>
              <a:rPr lang="zh-CN" altLang="zh-CN" sz="1800" b="1" dirty="0">
                <a:solidFill>
                  <a:srgbClr val="C00000"/>
                </a:solidFill>
                <a:latin typeface="黑体" panose="02010609060101010101" pitchFamily="49" charset="-122"/>
                <a:ea typeface="黑体" panose="02010609060101010101" pitchFamily="49" charset="-122"/>
              </a:rPr>
              <a:t>（</a:t>
            </a:r>
            <a:r>
              <a:rPr lang="en-US" altLang="zh-CN" sz="1800" b="1" dirty="0">
                <a:solidFill>
                  <a:srgbClr val="C00000"/>
                </a:solidFill>
                <a:latin typeface="黑体" panose="02010609060101010101" pitchFamily="49" charset="-122"/>
                <a:ea typeface="黑体" panose="02010609060101010101" pitchFamily="49" charset="-122"/>
              </a:rPr>
              <a:t>\</a:t>
            </a:r>
            <a:r>
              <a:rPr lang="zh-CN" altLang="zh-CN" sz="1800" b="1" dirty="0">
                <a:solidFill>
                  <a:srgbClr val="C00000"/>
                </a:solidFill>
                <a:latin typeface="黑体" panose="02010609060101010101" pitchFamily="49" charset="-122"/>
                <a:ea typeface="黑体" panose="02010609060101010101" pitchFamily="49" charset="-122"/>
              </a:rPr>
              <a:t>）</a:t>
            </a:r>
            <a:r>
              <a:rPr lang="zh-CN" altLang="en-US" sz="1800" b="1" dirty="0">
                <a:solidFill>
                  <a:srgbClr val="C00000"/>
                </a:solidFill>
                <a:latin typeface="黑体" panose="02010609060101010101" pitchFamily="49" charset="-122"/>
                <a:ea typeface="黑体" panose="02010609060101010101" pitchFamily="49" charset="-122"/>
              </a:rPr>
              <a:t>，有特殊控制作用</a:t>
            </a:r>
            <a:endParaRPr lang="en-US" altLang="zh-CN" sz="1800" dirty="0">
              <a:solidFill>
                <a:srgbClr val="C00000"/>
              </a:solidFill>
              <a:latin typeface="Arial" panose="020B0604020202020204" pitchFamily="34" charset="0"/>
              <a:cs typeface="Arial" panose="020B0604020202020204" pitchFamily="34" charset="0"/>
            </a:endParaRPr>
          </a:p>
        </p:txBody>
      </p:sp>
      <p:sp>
        <p:nvSpPr>
          <p:cNvPr id="9" name="标题 1"/>
          <p:cNvSpPr txBox="1">
            <a:spLocks/>
          </p:cNvSpPr>
          <p:nvPr/>
        </p:nvSpPr>
        <p:spPr bwMode="auto">
          <a:xfrm>
            <a:off x="459581" y="182389"/>
            <a:ext cx="8275638" cy="519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lnSpc>
                <a:spcPct val="95000"/>
              </a:lnSpc>
              <a:spcBef>
                <a:spcPct val="0"/>
              </a:spcBef>
              <a:spcAft>
                <a:spcPct val="0"/>
              </a:spcAft>
              <a:defRPr sz="3200" b="1">
                <a:solidFill>
                  <a:srgbClr val="C00000"/>
                </a:solidFill>
                <a:latin typeface="微软雅黑" panose="020B0503020204020204" pitchFamily="34" charset="-122"/>
                <a:ea typeface="微软雅黑" panose="020B0503020204020204" pitchFamily="34" charset="-122"/>
                <a:cs typeface="+mj-cs"/>
              </a:defRPr>
            </a:lvl1pPr>
            <a:lvl2pPr algn="l" rtl="0" eaLnBrk="0" fontAlgn="base" hangingPunct="0">
              <a:lnSpc>
                <a:spcPct val="95000"/>
              </a:lnSpc>
              <a:spcBef>
                <a:spcPct val="0"/>
              </a:spcBef>
              <a:spcAft>
                <a:spcPct val="0"/>
              </a:spcAft>
              <a:defRPr sz="3600" b="1">
                <a:solidFill>
                  <a:schemeClr val="accent1"/>
                </a:solidFill>
                <a:latin typeface="Arial" pitchFamily="34" charset="0"/>
              </a:defRPr>
            </a:lvl2pPr>
            <a:lvl3pPr algn="l" rtl="0" eaLnBrk="0" fontAlgn="base" hangingPunct="0">
              <a:lnSpc>
                <a:spcPct val="95000"/>
              </a:lnSpc>
              <a:spcBef>
                <a:spcPct val="0"/>
              </a:spcBef>
              <a:spcAft>
                <a:spcPct val="0"/>
              </a:spcAft>
              <a:defRPr sz="3600" b="1">
                <a:solidFill>
                  <a:schemeClr val="accent1"/>
                </a:solidFill>
                <a:latin typeface="Arial" pitchFamily="34" charset="0"/>
              </a:defRPr>
            </a:lvl3pPr>
            <a:lvl4pPr algn="l" rtl="0" eaLnBrk="0" fontAlgn="base" hangingPunct="0">
              <a:lnSpc>
                <a:spcPct val="95000"/>
              </a:lnSpc>
              <a:spcBef>
                <a:spcPct val="0"/>
              </a:spcBef>
              <a:spcAft>
                <a:spcPct val="0"/>
              </a:spcAft>
              <a:defRPr sz="3600" b="1">
                <a:solidFill>
                  <a:schemeClr val="accent1"/>
                </a:solidFill>
                <a:latin typeface="Arial" pitchFamily="34" charset="0"/>
              </a:defRPr>
            </a:lvl4pPr>
            <a:lvl5pPr algn="l" rtl="0" eaLnBrk="0" fontAlgn="base" hangingPunct="0">
              <a:lnSpc>
                <a:spcPct val="95000"/>
              </a:lnSpc>
              <a:spcBef>
                <a:spcPct val="0"/>
              </a:spcBef>
              <a:spcAft>
                <a:spcPct val="0"/>
              </a:spcAft>
              <a:defRPr sz="3600" b="1">
                <a:solidFill>
                  <a:schemeClr val="accent1"/>
                </a:solidFill>
                <a:latin typeface="Arial" pitchFamily="34" charset="0"/>
              </a:defRPr>
            </a:lvl5pPr>
            <a:lvl6pPr marL="457200" algn="l" rtl="0" eaLnBrk="1" fontAlgn="base" hangingPunct="1">
              <a:lnSpc>
                <a:spcPct val="95000"/>
              </a:lnSpc>
              <a:spcBef>
                <a:spcPct val="0"/>
              </a:spcBef>
              <a:spcAft>
                <a:spcPct val="0"/>
              </a:spcAft>
              <a:defRPr sz="3200" b="1">
                <a:solidFill>
                  <a:schemeClr val="accent1"/>
                </a:solidFill>
                <a:latin typeface="Arial" pitchFamily="34" charset="0"/>
              </a:defRPr>
            </a:lvl6pPr>
            <a:lvl7pPr marL="914400" algn="l" rtl="0" eaLnBrk="1" fontAlgn="base" hangingPunct="1">
              <a:lnSpc>
                <a:spcPct val="95000"/>
              </a:lnSpc>
              <a:spcBef>
                <a:spcPct val="0"/>
              </a:spcBef>
              <a:spcAft>
                <a:spcPct val="0"/>
              </a:spcAft>
              <a:defRPr sz="3200" b="1">
                <a:solidFill>
                  <a:schemeClr val="accent1"/>
                </a:solidFill>
                <a:latin typeface="Arial" pitchFamily="34" charset="0"/>
              </a:defRPr>
            </a:lvl7pPr>
            <a:lvl8pPr marL="1371600" algn="l" rtl="0" eaLnBrk="1" fontAlgn="base" hangingPunct="1">
              <a:lnSpc>
                <a:spcPct val="95000"/>
              </a:lnSpc>
              <a:spcBef>
                <a:spcPct val="0"/>
              </a:spcBef>
              <a:spcAft>
                <a:spcPct val="0"/>
              </a:spcAft>
              <a:defRPr sz="3200" b="1">
                <a:solidFill>
                  <a:schemeClr val="accent1"/>
                </a:solidFill>
                <a:latin typeface="Arial" pitchFamily="34" charset="0"/>
              </a:defRPr>
            </a:lvl8pPr>
            <a:lvl9pPr marL="1828800" algn="l" rtl="0" eaLnBrk="1" fontAlgn="base" hangingPunct="1">
              <a:lnSpc>
                <a:spcPct val="95000"/>
              </a:lnSpc>
              <a:spcBef>
                <a:spcPct val="0"/>
              </a:spcBef>
              <a:spcAft>
                <a:spcPct val="0"/>
              </a:spcAft>
              <a:defRPr sz="3200" b="1">
                <a:solidFill>
                  <a:schemeClr val="accent1"/>
                </a:solidFill>
                <a:latin typeface="Arial" pitchFamily="34" charset="0"/>
              </a:defRPr>
            </a:lvl9pPr>
          </a:lstStyle>
          <a:p>
            <a:r>
              <a:rPr lang="zh-CN" altLang="zh-CN" sz="2800" dirty="0">
                <a:solidFill>
                  <a:srgbClr val="0070C0"/>
                </a:solidFill>
              </a:rPr>
              <a:t>基本</a:t>
            </a:r>
            <a:r>
              <a:rPr lang="zh-CN" altLang="en-US" sz="2800" dirty="0">
                <a:solidFill>
                  <a:srgbClr val="0070C0"/>
                </a:solidFill>
              </a:rPr>
              <a:t>数据类型</a:t>
            </a:r>
            <a:r>
              <a:rPr lang="en-US" altLang="zh-CN" sz="2800" dirty="0">
                <a:solidFill>
                  <a:srgbClr val="0070C0"/>
                </a:solidFill>
              </a:rPr>
              <a:t>—</a:t>
            </a:r>
            <a:r>
              <a:rPr lang="zh-CN" altLang="en-US" sz="2800" dirty="0">
                <a:solidFill>
                  <a:srgbClr val="0070C0"/>
                </a:solidFill>
              </a:rPr>
              <a:t>字符串</a:t>
            </a:r>
          </a:p>
        </p:txBody>
      </p:sp>
      <p:grpSp>
        <p:nvGrpSpPr>
          <p:cNvPr id="10" name="组合 9"/>
          <p:cNvGrpSpPr/>
          <p:nvPr/>
        </p:nvGrpSpPr>
        <p:grpSpPr>
          <a:xfrm>
            <a:off x="4427984" y="1671355"/>
            <a:ext cx="3016744" cy="1717898"/>
            <a:chOff x="4355976" y="2139702"/>
            <a:chExt cx="3520800" cy="2251086"/>
          </a:xfrm>
        </p:grpSpPr>
        <p:pic>
          <p:nvPicPr>
            <p:cNvPr id="4" name="图片 3"/>
            <p:cNvPicPr>
              <a:picLocks noChangeAspect="1"/>
            </p:cNvPicPr>
            <p:nvPr/>
          </p:nvPicPr>
          <p:blipFill>
            <a:blip r:embed="rId3"/>
            <a:stretch>
              <a:fillRect/>
            </a:stretch>
          </p:blipFill>
          <p:spPr>
            <a:xfrm>
              <a:off x="4355976" y="2139702"/>
              <a:ext cx="3520800" cy="2251086"/>
            </a:xfrm>
            <a:prstGeom prst="rect">
              <a:avLst/>
            </a:prstGeom>
          </p:spPr>
        </p:pic>
        <p:sp>
          <p:nvSpPr>
            <p:cNvPr id="5" name="矩形 4"/>
            <p:cNvSpPr/>
            <p:nvPr/>
          </p:nvSpPr>
          <p:spPr bwMode="auto">
            <a:xfrm>
              <a:off x="6732240" y="3147814"/>
              <a:ext cx="252000" cy="288032"/>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pitchFamily="34" charset="0"/>
              </a:endParaRPr>
            </a:p>
          </p:txBody>
        </p:sp>
      </p:grpSp>
      <p:sp>
        <p:nvSpPr>
          <p:cNvPr id="11" name="矩形 10">
            <a:extLst>
              <a:ext uri="{FF2B5EF4-FFF2-40B4-BE49-F238E27FC236}">
                <a16:creationId xmlns:a16="http://schemas.microsoft.com/office/drawing/2014/main" id="{E717D5AD-569F-4D3C-BB25-077AA3F02684}"/>
              </a:ext>
            </a:extLst>
          </p:cNvPr>
          <p:cNvSpPr/>
          <p:nvPr/>
        </p:nvSpPr>
        <p:spPr>
          <a:xfrm>
            <a:off x="4283968" y="3719750"/>
            <a:ext cx="3870524" cy="643379"/>
          </a:xfrm>
          <a:prstGeom prst="rect">
            <a:avLst/>
          </a:prstGeom>
          <a:solidFill>
            <a:srgbClr val="CC66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拓展：数值和字符串的区别</a:t>
            </a:r>
            <a:endParaRPr lang="en-US" altLang="zh-CN" b="1" dirty="0"/>
          </a:p>
          <a:p>
            <a:r>
              <a:rPr lang="en-US" altLang="zh-CN" b="1" dirty="0"/>
              <a:t>0 </a:t>
            </a:r>
            <a:r>
              <a:rPr lang="zh-CN" altLang="en-US" b="1" dirty="0"/>
              <a:t>：数值</a:t>
            </a:r>
            <a:r>
              <a:rPr lang="en-US" altLang="zh-CN" b="1" dirty="0"/>
              <a:t>0</a:t>
            </a:r>
            <a:r>
              <a:rPr lang="zh-CN" altLang="en-US" b="1" dirty="0"/>
              <a:t>       </a:t>
            </a:r>
            <a:r>
              <a:rPr lang="en-US" altLang="zh-CN" b="1" dirty="0"/>
              <a:t>"0"</a:t>
            </a:r>
            <a:r>
              <a:rPr lang="zh-CN" altLang="en-US" b="1" dirty="0"/>
              <a:t>：字符</a:t>
            </a:r>
            <a:r>
              <a:rPr lang="en-US" altLang="zh-CN" b="1" dirty="0"/>
              <a:t>0</a:t>
            </a:r>
            <a:endParaRPr lang="zh-CN" altLang="en-US" b="1" dirty="0"/>
          </a:p>
        </p:txBody>
      </p:sp>
      <p:sp>
        <p:nvSpPr>
          <p:cNvPr id="13" name="AutoShape 44"/>
          <p:cNvSpPr>
            <a:spLocks noChangeArrowheads="1"/>
          </p:cNvSpPr>
          <p:nvPr/>
        </p:nvSpPr>
        <p:spPr bwMode="gray">
          <a:xfrm>
            <a:off x="456671" y="4448507"/>
            <a:ext cx="8208912" cy="399151"/>
          </a:xfrm>
          <a:prstGeom prst="roundRect">
            <a:avLst>
              <a:gd name="adj" fmla="val 8014"/>
            </a:avLst>
          </a:prstGeom>
          <a:solidFill>
            <a:srgbClr val="FFFFCC"/>
          </a:solidFill>
          <a:ln w="9525">
            <a:solidFill>
              <a:srgbClr val="808000"/>
            </a:solidFill>
            <a:round/>
            <a:headEnd/>
            <a:tailEnd/>
          </a:ln>
        </p:spPr>
        <p:txBody>
          <a:bodyPr wrap="none" anchor="ctr"/>
          <a:lstStyle/>
          <a:p>
            <a:r>
              <a:rPr lang="en-US" altLang="zh-CN" sz="1800" dirty="0">
                <a:latin typeface="微软雅黑" pitchFamily="34" charset="-122"/>
                <a:ea typeface="微软雅黑" pitchFamily="34" charset="-122"/>
              </a:rPr>
              <a:t>Python</a:t>
            </a:r>
            <a:r>
              <a:rPr lang="zh-CN" altLang="zh-CN" sz="1800" dirty="0">
                <a:latin typeface="微软雅黑" pitchFamily="34" charset="-122"/>
                <a:ea typeface="微软雅黑" pitchFamily="34" charset="-122"/>
              </a:rPr>
              <a:t>语言还允许在字符串前加</a:t>
            </a:r>
            <a:r>
              <a:rPr lang="en-US" altLang="zh-CN" sz="1800" dirty="0">
                <a:latin typeface="微软雅黑" pitchFamily="34" charset="-122"/>
                <a:ea typeface="微软雅黑" pitchFamily="34" charset="-122"/>
              </a:rPr>
              <a:t>r</a:t>
            </a:r>
            <a:r>
              <a:rPr lang="zh-CN" altLang="zh-CN" sz="1800" dirty="0">
                <a:latin typeface="微软雅黑" pitchFamily="34" charset="-122"/>
                <a:ea typeface="微软雅黑" pitchFamily="34" charset="-122"/>
              </a:rPr>
              <a:t>，即：</a:t>
            </a:r>
            <a:r>
              <a:rPr lang="en-US" altLang="zh-CN" sz="1800" dirty="0">
                <a:latin typeface="微软雅黑" pitchFamily="34" charset="-122"/>
                <a:ea typeface="微软雅黑" pitchFamily="34" charset="-122"/>
              </a:rPr>
              <a:t>r"</a:t>
            </a:r>
            <a:r>
              <a:rPr lang="zh-CN" altLang="zh-CN" sz="1800" dirty="0">
                <a:latin typeface="微软雅黑" pitchFamily="34" charset="-122"/>
                <a:ea typeface="微软雅黑" pitchFamily="34" charset="-122"/>
              </a:rPr>
              <a:t>内容</a:t>
            </a:r>
            <a:r>
              <a:rPr lang="en-US" altLang="zh-CN" sz="1800" dirty="0">
                <a:latin typeface="微软雅黑" pitchFamily="34" charset="-122"/>
                <a:ea typeface="微软雅黑" pitchFamily="34" charset="-122"/>
              </a:rPr>
              <a:t>"</a:t>
            </a:r>
            <a:r>
              <a:rPr lang="zh-CN" altLang="zh-CN" sz="1800" dirty="0">
                <a:latin typeface="微软雅黑" pitchFamily="34" charset="-122"/>
                <a:ea typeface="微软雅黑" pitchFamily="34" charset="-122"/>
              </a:rPr>
              <a:t>，表示字符串内的内容不转义。</a:t>
            </a:r>
          </a:p>
        </p:txBody>
      </p:sp>
    </p:spTree>
    <p:extLst>
      <p:ext uri="{BB962C8B-B14F-4D97-AF65-F5344CB8AC3E}">
        <p14:creationId xmlns:p14="http://schemas.microsoft.com/office/powerpoint/2010/main" val="3456009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4"/>
          <p:cNvSpPr>
            <a:spLocks noChangeArrowheads="1"/>
          </p:cNvSpPr>
          <p:nvPr/>
        </p:nvSpPr>
        <p:spPr bwMode="gray">
          <a:xfrm>
            <a:off x="395536" y="555526"/>
            <a:ext cx="8568952" cy="2160240"/>
          </a:xfrm>
          <a:prstGeom prst="roundRect">
            <a:avLst>
              <a:gd name="adj" fmla="val 8014"/>
            </a:avLst>
          </a:prstGeom>
          <a:solidFill>
            <a:srgbClr val="F8F8F8"/>
          </a:solidFill>
          <a:ln w="9525">
            <a:solidFill>
              <a:srgbClr val="8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r>
              <a:rPr lang="zh-CN" altLang="zh-CN" sz="1600" b="0" dirty="0">
                <a:solidFill>
                  <a:schemeClr val="tx1"/>
                </a:solidFill>
                <a:latin typeface="微软雅黑" pitchFamily="34" charset="-122"/>
                <a:ea typeface="微软雅黑" pitchFamily="34" charset="-122"/>
              </a:rPr>
              <a:t>【例</a:t>
            </a:r>
            <a:r>
              <a:rPr lang="en-US" altLang="zh-CN" sz="1600" b="0" dirty="0">
                <a:solidFill>
                  <a:schemeClr val="tx1"/>
                </a:solidFill>
                <a:latin typeface="微软雅黑" pitchFamily="34" charset="-122"/>
                <a:ea typeface="微软雅黑" pitchFamily="34" charset="-122"/>
              </a:rPr>
              <a:t>2.11</a:t>
            </a:r>
            <a:r>
              <a:rPr lang="zh-CN" altLang="zh-CN" sz="1600" b="0" dirty="0">
                <a:solidFill>
                  <a:schemeClr val="tx1"/>
                </a:solidFill>
                <a:latin typeface="微软雅黑" pitchFamily="34" charset="-122"/>
                <a:ea typeface="微软雅黑" pitchFamily="34" charset="-122"/>
              </a:rPr>
              <a:t>】 应用举例。利用字符串常量、转义符和操作符将学生信息以表格形式输出。</a:t>
            </a:r>
          </a:p>
          <a:p>
            <a:r>
              <a:rPr lang="en-US" altLang="zh-CN" sz="1600" b="0" dirty="0">
                <a:solidFill>
                  <a:schemeClr val="tx1"/>
                </a:solidFill>
                <a:latin typeface="微软雅黑" pitchFamily="34" charset="-122"/>
                <a:ea typeface="微软雅黑" pitchFamily="34" charset="-122"/>
              </a:rPr>
              <a:t>print(25*"-")             		#“*”</a:t>
            </a:r>
            <a:r>
              <a:rPr lang="zh-CN" altLang="zh-CN" sz="1600" b="0" dirty="0">
                <a:solidFill>
                  <a:schemeClr val="tx1"/>
                </a:solidFill>
                <a:latin typeface="微软雅黑" pitchFamily="34" charset="-122"/>
                <a:ea typeface="微软雅黑" pitchFamily="34" charset="-122"/>
              </a:rPr>
              <a:t>为对字符串复制</a:t>
            </a:r>
          </a:p>
          <a:p>
            <a:r>
              <a:rPr lang="en-US" altLang="zh-CN" sz="1600" b="0" dirty="0">
                <a:solidFill>
                  <a:schemeClr val="tx1"/>
                </a:solidFill>
                <a:latin typeface="微软雅黑" pitchFamily="34" charset="-122"/>
                <a:ea typeface="微软雅黑" pitchFamily="34" charset="-122"/>
              </a:rPr>
              <a:t>print("|id\</a:t>
            </a:r>
            <a:r>
              <a:rPr lang="en-US" altLang="zh-CN" sz="1600" b="0" dirty="0" err="1">
                <a:solidFill>
                  <a:schemeClr val="tx1"/>
                </a:solidFill>
                <a:latin typeface="微软雅黑" pitchFamily="34" charset="-122"/>
                <a:ea typeface="微软雅黑" pitchFamily="34" charset="-122"/>
              </a:rPr>
              <a:t>t|name</a:t>
            </a:r>
            <a:r>
              <a:rPr lang="en-US" altLang="zh-CN" sz="1600" b="0" dirty="0">
                <a:solidFill>
                  <a:schemeClr val="tx1"/>
                </a:solidFill>
                <a:latin typeface="微软雅黑" pitchFamily="34" charset="-122"/>
                <a:ea typeface="微软雅黑" pitchFamily="34" charset="-122"/>
              </a:rPr>
              <a:t>\</a:t>
            </a:r>
            <a:r>
              <a:rPr lang="en-US" altLang="zh-CN" sz="1600" b="0" dirty="0" err="1">
                <a:solidFill>
                  <a:schemeClr val="tx1"/>
                </a:solidFill>
                <a:latin typeface="微软雅黑" pitchFamily="34" charset="-122"/>
                <a:ea typeface="微软雅黑" pitchFamily="34" charset="-122"/>
              </a:rPr>
              <a:t>t|score</a:t>
            </a:r>
            <a:r>
              <a:rPr lang="en-US" altLang="zh-CN" sz="1600" b="0" dirty="0">
                <a:solidFill>
                  <a:schemeClr val="tx1"/>
                </a:solidFill>
                <a:latin typeface="微软雅黑" pitchFamily="34" charset="-122"/>
                <a:ea typeface="微软雅黑" pitchFamily="34" charset="-122"/>
              </a:rPr>
              <a:t>\t| ")	#“\t”</a:t>
            </a:r>
            <a:r>
              <a:rPr lang="zh-CN" altLang="zh-CN" sz="1600" b="0" dirty="0">
                <a:solidFill>
                  <a:schemeClr val="tx1"/>
                </a:solidFill>
                <a:latin typeface="微软雅黑" pitchFamily="34" charset="-122"/>
                <a:ea typeface="微软雅黑" pitchFamily="34" charset="-122"/>
              </a:rPr>
              <a:t>跳到下一个制表位（默认一个制表位占</a:t>
            </a:r>
            <a:r>
              <a:rPr lang="en-US" altLang="zh-CN" sz="1600" b="0" dirty="0">
                <a:solidFill>
                  <a:schemeClr val="tx1"/>
                </a:solidFill>
                <a:latin typeface="微软雅黑" pitchFamily="34" charset="-122"/>
                <a:ea typeface="微软雅黑" pitchFamily="34" charset="-122"/>
              </a:rPr>
              <a:t>8</a:t>
            </a:r>
            <a:r>
              <a:rPr lang="zh-CN" altLang="zh-CN" sz="1600" b="0" dirty="0">
                <a:solidFill>
                  <a:schemeClr val="tx1"/>
                </a:solidFill>
                <a:latin typeface="微软雅黑" pitchFamily="34" charset="-122"/>
                <a:ea typeface="微软雅黑" pitchFamily="34" charset="-122"/>
              </a:rPr>
              <a:t>列）</a:t>
            </a:r>
          </a:p>
          <a:p>
            <a:r>
              <a:rPr lang="en-US" altLang="zh-CN" sz="1600" b="0" dirty="0">
                <a:solidFill>
                  <a:schemeClr val="tx1"/>
                </a:solidFill>
                <a:latin typeface="微软雅黑" pitchFamily="34" charset="-122"/>
                <a:ea typeface="微软雅黑" pitchFamily="34" charset="-122"/>
              </a:rPr>
              <a:t>print(25*"-")	</a:t>
            </a:r>
            <a:endParaRPr lang="zh-CN" altLang="zh-CN" sz="1600" b="0" dirty="0">
              <a:solidFill>
                <a:schemeClr val="tx1"/>
              </a:solidFill>
              <a:latin typeface="微软雅黑" pitchFamily="34" charset="-122"/>
              <a:ea typeface="微软雅黑" pitchFamily="34" charset="-122"/>
            </a:endParaRPr>
          </a:p>
          <a:p>
            <a:r>
              <a:rPr lang="en-US" altLang="zh-CN" sz="1600" b="0" dirty="0">
                <a:solidFill>
                  <a:schemeClr val="tx1"/>
                </a:solidFill>
                <a:latin typeface="微软雅黑" pitchFamily="34" charset="-122"/>
                <a:ea typeface="微软雅黑" pitchFamily="34" charset="-122"/>
              </a:rPr>
              <a:t>print("|180001\</a:t>
            </a:r>
            <a:r>
              <a:rPr lang="en-US" altLang="zh-CN" sz="1600" b="0" dirty="0" err="1">
                <a:solidFill>
                  <a:schemeClr val="tx1"/>
                </a:solidFill>
                <a:latin typeface="微软雅黑" pitchFamily="34" charset="-122"/>
                <a:ea typeface="微软雅黑" pitchFamily="34" charset="-122"/>
              </a:rPr>
              <a:t>t|Mary</a:t>
            </a:r>
            <a:r>
              <a:rPr lang="en-US" altLang="zh-CN" sz="1600" b="0" dirty="0">
                <a:solidFill>
                  <a:schemeClr val="tx1"/>
                </a:solidFill>
                <a:latin typeface="微软雅黑" pitchFamily="34" charset="-122"/>
                <a:ea typeface="微软雅黑" pitchFamily="34" charset="-122"/>
              </a:rPr>
              <a:t>\t|90\t|")				</a:t>
            </a:r>
            <a:endParaRPr lang="zh-CN" altLang="zh-CN" sz="1600" b="0" dirty="0">
              <a:solidFill>
                <a:schemeClr val="tx1"/>
              </a:solidFill>
              <a:latin typeface="微软雅黑" pitchFamily="34" charset="-122"/>
              <a:ea typeface="微软雅黑" pitchFamily="34" charset="-122"/>
            </a:endParaRPr>
          </a:p>
          <a:p>
            <a:r>
              <a:rPr lang="en-US" altLang="zh-CN" sz="1600" b="0" dirty="0">
                <a:solidFill>
                  <a:schemeClr val="tx1"/>
                </a:solidFill>
                <a:latin typeface="微软雅黑" pitchFamily="34" charset="-122"/>
                <a:ea typeface="微软雅黑" pitchFamily="34" charset="-122"/>
              </a:rPr>
              <a:t>print(25*"-","\n")			# </a:t>
            </a:r>
            <a:r>
              <a:rPr lang="zh-CN" altLang="zh-CN" sz="1600" b="0" dirty="0">
                <a:solidFill>
                  <a:schemeClr val="tx1"/>
                </a:solidFill>
                <a:latin typeface="微软雅黑" pitchFamily="34" charset="-122"/>
                <a:ea typeface="微软雅黑" pitchFamily="34" charset="-122"/>
              </a:rPr>
              <a:t>本身</a:t>
            </a:r>
            <a:r>
              <a:rPr lang="en-US" altLang="zh-CN" sz="1600" b="0" dirty="0">
                <a:solidFill>
                  <a:schemeClr val="tx1"/>
                </a:solidFill>
                <a:latin typeface="微软雅黑" pitchFamily="34" charset="-122"/>
                <a:ea typeface="微软雅黑" pitchFamily="34" charset="-122"/>
              </a:rPr>
              <a:t>print</a:t>
            </a:r>
            <a:r>
              <a:rPr lang="zh-CN" altLang="zh-CN" sz="1600" b="0" dirty="0">
                <a:solidFill>
                  <a:schemeClr val="tx1"/>
                </a:solidFill>
                <a:latin typeface="微软雅黑" pitchFamily="34" charset="-122"/>
                <a:ea typeface="微软雅黑" pitchFamily="34" charset="-122"/>
              </a:rPr>
              <a:t>结束要换行，加了</a:t>
            </a:r>
            <a:r>
              <a:rPr lang="en-US" altLang="zh-CN" sz="1600" b="0" dirty="0">
                <a:solidFill>
                  <a:schemeClr val="tx1"/>
                </a:solidFill>
                <a:latin typeface="微软雅黑" pitchFamily="34" charset="-122"/>
                <a:ea typeface="微软雅黑" pitchFamily="34" charset="-122"/>
              </a:rPr>
              <a:t>“\n”</a:t>
            </a:r>
            <a:r>
              <a:rPr lang="zh-CN" altLang="zh-CN" sz="1600" b="0" dirty="0">
                <a:solidFill>
                  <a:schemeClr val="tx1"/>
                </a:solidFill>
                <a:latin typeface="微软雅黑" pitchFamily="34" charset="-122"/>
                <a:ea typeface="微软雅黑" pitchFamily="34" charset="-122"/>
              </a:rPr>
              <a:t>实质是空一行</a:t>
            </a:r>
          </a:p>
          <a:p>
            <a:r>
              <a:rPr lang="en-US" altLang="zh-CN" sz="1600" b="0" dirty="0">
                <a:solidFill>
                  <a:schemeClr val="tx1"/>
                </a:solidFill>
                <a:latin typeface="微软雅黑" pitchFamily="34" charset="-122"/>
                <a:ea typeface="微软雅黑" pitchFamily="34" charset="-122"/>
              </a:rPr>
              <a:t>print(r"|180001\</a:t>
            </a:r>
            <a:r>
              <a:rPr lang="en-US" altLang="zh-CN" sz="1600" b="0" dirty="0" err="1">
                <a:solidFill>
                  <a:schemeClr val="tx1"/>
                </a:solidFill>
                <a:latin typeface="微软雅黑" pitchFamily="34" charset="-122"/>
                <a:ea typeface="微软雅黑" pitchFamily="34" charset="-122"/>
              </a:rPr>
              <a:t>t|Mary</a:t>
            </a:r>
            <a:r>
              <a:rPr lang="en-US" altLang="zh-CN" sz="1600" b="0" dirty="0">
                <a:solidFill>
                  <a:schemeClr val="tx1"/>
                </a:solidFill>
                <a:latin typeface="微软雅黑" pitchFamily="34" charset="-122"/>
                <a:ea typeface="微软雅黑" pitchFamily="34" charset="-122"/>
              </a:rPr>
              <a:t>\t|90\t|\r")	#“r""”</a:t>
            </a:r>
            <a:r>
              <a:rPr lang="zh-CN" altLang="zh-CN" sz="1600" b="0" dirty="0">
                <a:solidFill>
                  <a:schemeClr val="tx1"/>
                </a:solidFill>
                <a:latin typeface="微软雅黑" pitchFamily="34" charset="-122"/>
                <a:ea typeface="微软雅黑" pitchFamily="34" charset="-122"/>
              </a:rPr>
              <a:t>字符串内容不转义，照样输出</a:t>
            </a:r>
          </a:p>
        </p:txBody>
      </p:sp>
      <p:pic>
        <p:nvPicPr>
          <p:cNvPr id="2" name="图片 1"/>
          <p:cNvPicPr>
            <a:picLocks noChangeAspect="1"/>
          </p:cNvPicPr>
          <p:nvPr/>
        </p:nvPicPr>
        <p:blipFill>
          <a:blip r:embed="rId2"/>
          <a:stretch>
            <a:fillRect/>
          </a:stretch>
        </p:blipFill>
        <p:spPr>
          <a:xfrm>
            <a:off x="539552" y="2859782"/>
            <a:ext cx="2590800" cy="1895475"/>
          </a:xfrm>
          <a:prstGeom prst="rect">
            <a:avLst/>
          </a:prstGeom>
        </p:spPr>
      </p:pic>
      <p:pic>
        <p:nvPicPr>
          <p:cNvPr id="4" name="图片 3"/>
          <p:cNvPicPr>
            <a:picLocks noChangeAspect="1"/>
          </p:cNvPicPr>
          <p:nvPr/>
        </p:nvPicPr>
        <p:blipFill>
          <a:blip r:embed="rId3"/>
          <a:stretch>
            <a:fillRect/>
          </a:stretch>
        </p:blipFill>
        <p:spPr>
          <a:xfrm>
            <a:off x="3563888" y="2865749"/>
            <a:ext cx="3381375" cy="1247775"/>
          </a:xfrm>
          <a:prstGeom prst="rect">
            <a:avLst/>
          </a:prstGeom>
        </p:spPr>
      </p:pic>
      <p:sp>
        <p:nvSpPr>
          <p:cNvPr id="6" name="文本框 5"/>
          <p:cNvSpPr txBox="1"/>
          <p:nvPr/>
        </p:nvSpPr>
        <p:spPr>
          <a:xfrm>
            <a:off x="2735086" y="4647535"/>
            <a:ext cx="6230835" cy="215444"/>
          </a:xfrm>
          <a:prstGeom prst="rect">
            <a:avLst/>
          </a:prstGeom>
          <a:noFill/>
        </p:spPr>
        <p:txBody>
          <a:bodyPr wrap="square" lIns="0" tIns="0" rIns="0" bIns="0" rtlCol="0">
            <a:spAutoFit/>
          </a:bodyPr>
          <a:lstStyle/>
          <a:p>
            <a:r>
              <a:rPr lang="zh-CN" altLang="en-US" sz="1400" b="1" dirty="0">
                <a:solidFill>
                  <a:srgbClr val="C00000"/>
                </a:solidFill>
              </a:rPr>
              <a:t>注意：该案例在不同的编程环境下，由于编码设置差异，显示结果不一定相同。</a:t>
            </a:r>
          </a:p>
        </p:txBody>
      </p:sp>
    </p:spTree>
    <p:extLst>
      <p:ext uri="{BB962C8B-B14F-4D97-AF65-F5344CB8AC3E}">
        <p14:creationId xmlns:p14="http://schemas.microsoft.com/office/powerpoint/2010/main" val="2503687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up)">
                                      <p:cBhvr>
                                        <p:cTn id="15" dur="500"/>
                                        <p:tgtEl>
                                          <p:spTgt spid="5">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wipe(up)">
                                      <p:cBhvr>
                                        <p:cTn id="19" dur="500"/>
                                        <p:tgtEl>
                                          <p:spTgt spid="5">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wipe(up)">
                                      <p:cBhvr>
                                        <p:cTn id="23" dur="500"/>
                                        <p:tgtEl>
                                          <p:spTgt spid="5">
                                            <p:txEl>
                                              <p:pRg st="3" end="3"/>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up)">
                                      <p:cBhvr>
                                        <p:cTn id="27" dur="500"/>
                                        <p:tgtEl>
                                          <p:spTgt spid="5">
                                            <p:txEl>
                                              <p:pRg st="4" end="4"/>
                                            </p:txEl>
                                          </p:spTgt>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wipe(up)">
                                      <p:cBhvr>
                                        <p:cTn id="31" dur="500"/>
                                        <p:tgtEl>
                                          <p:spTgt spid="5">
                                            <p:txEl>
                                              <p:pRg st="5" end="5"/>
                                            </p:txEl>
                                          </p:spTgt>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animEffect transition="in" filter="wipe(up)">
                                      <p:cBhvr>
                                        <p:cTn id="35"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326192" y="1419622"/>
            <a:ext cx="8529237" cy="341632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50000"/>
              </a:lnSpc>
              <a:buFont typeface="Wingdings" panose="05000000000000000000" pitchFamily="2" charset="2"/>
              <a:buChar char="u"/>
            </a:pPr>
            <a:r>
              <a:rPr lang="zh-CN" altLang="en-US" sz="2400" b="1" dirty="0">
                <a:solidFill>
                  <a:srgbClr val="0070C0"/>
                </a:solidFill>
                <a:latin typeface="黑体" panose="02010609060101010101" pitchFamily="49" charset="-122"/>
                <a:ea typeface="黑体" panose="02010609060101010101" pitchFamily="49" charset="-122"/>
              </a:rPr>
              <a:t>字符串的切片</a:t>
            </a:r>
            <a:endParaRPr lang="en-US" altLang="zh-CN" sz="2400" b="1" dirty="0">
              <a:solidFill>
                <a:srgbClr val="0070C0"/>
              </a:solidFill>
              <a:latin typeface="黑体" panose="02010609060101010101" pitchFamily="49" charset="-122"/>
              <a:ea typeface="黑体" panose="02010609060101010101" pitchFamily="49" charset="-122"/>
            </a:endParaRPr>
          </a:p>
          <a:p>
            <a:pPr>
              <a:lnSpc>
                <a:spcPct val="150000"/>
              </a:lnSpc>
            </a:pPr>
            <a:r>
              <a:rPr lang="en-US" altLang="zh-CN" sz="2000" dirty="0">
                <a:latin typeface="黑体" panose="02010609060101010101" pitchFamily="49" charset="-122"/>
                <a:ea typeface="黑体" panose="02010609060101010101" pitchFamily="49" charset="-122"/>
              </a:rPr>
              <a:t>  </a:t>
            </a:r>
            <a:r>
              <a:rPr lang="en-US" altLang="zh-CN" sz="2000" dirty="0" err="1">
                <a:latin typeface="黑体" panose="02010609060101010101" pitchFamily="49" charset="-122"/>
                <a:ea typeface="黑体" panose="02010609060101010101" pitchFamily="49" charset="-122"/>
              </a:rPr>
              <a:t>st</a:t>
            </a:r>
            <a:r>
              <a:rPr lang="en-US" altLang="zh-CN" sz="2000" dirty="0">
                <a:latin typeface="黑体" panose="02010609060101010101" pitchFamily="49" charset="-122"/>
                <a:ea typeface="黑体" panose="02010609060101010101" pitchFamily="49" charset="-122"/>
              </a:rPr>
              <a:t>[</a:t>
            </a:r>
            <a:r>
              <a:rPr lang="en-US" altLang="zh-CN" sz="2000" dirty="0" err="1">
                <a:latin typeface="黑体" panose="02010609060101010101" pitchFamily="49" charset="-122"/>
                <a:ea typeface="黑体" panose="02010609060101010101" pitchFamily="49" charset="-122"/>
              </a:rPr>
              <a:t>m:n:k</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表示从第</a:t>
            </a:r>
            <a:r>
              <a:rPr lang="en-US" altLang="zh-CN" sz="2000" dirty="0">
                <a:latin typeface="黑体" panose="02010609060101010101" pitchFamily="49" charset="-122"/>
                <a:ea typeface="黑体" panose="02010609060101010101" pitchFamily="49" charset="-122"/>
              </a:rPr>
              <a:t>m</a:t>
            </a:r>
            <a:r>
              <a:rPr lang="zh-CN" altLang="en-US" sz="2000" dirty="0">
                <a:latin typeface="黑体" panose="02010609060101010101" pitchFamily="49" charset="-122"/>
                <a:ea typeface="黑体" panose="02010609060101010101" pitchFamily="49" charset="-122"/>
              </a:rPr>
              <a:t>个到第</a:t>
            </a:r>
            <a:r>
              <a:rPr lang="en-US" altLang="zh-CN" sz="2000" dirty="0">
                <a:latin typeface="黑体" panose="02010609060101010101" pitchFamily="49" charset="-122"/>
                <a:ea typeface="黑体" panose="02010609060101010101" pitchFamily="49" charset="-122"/>
              </a:rPr>
              <a:t>n-1</a:t>
            </a:r>
            <a:r>
              <a:rPr lang="zh-CN" altLang="en-US" sz="2000" dirty="0">
                <a:latin typeface="黑体" panose="02010609060101010101" pitchFamily="49" charset="-122"/>
                <a:ea typeface="黑体" panose="02010609060101010101" pitchFamily="49" charset="-122"/>
              </a:rPr>
              <a:t>个</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间隔步长为</a:t>
            </a:r>
            <a:r>
              <a:rPr lang="en-US" altLang="zh-CN" sz="2000" dirty="0">
                <a:latin typeface="黑体" panose="02010609060101010101" pitchFamily="49" charset="-122"/>
                <a:ea typeface="黑体" panose="02010609060101010101" pitchFamily="49" charset="-122"/>
              </a:rPr>
              <a:t>k</a:t>
            </a:r>
            <a:endParaRPr lang="zh-CN" altLang="zh-CN" sz="2000" dirty="0">
              <a:latin typeface="黑体" panose="02010609060101010101" pitchFamily="49" charset="-122"/>
              <a:ea typeface="黑体" panose="02010609060101010101" pitchFamily="49" charset="-122"/>
            </a:endParaRPr>
          </a:p>
          <a:p>
            <a:pPr marL="0" indent="0">
              <a:lnSpc>
                <a:spcPct val="150000"/>
              </a:lnSpc>
              <a:buNone/>
            </a:pPr>
            <a:r>
              <a:rPr lang="en-US" altLang="zh-CN" sz="2000" dirty="0">
                <a:latin typeface="黑体" panose="02010609060101010101" pitchFamily="49" charset="-122"/>
                <a:ea typeface="黑体" panose="02010609060101010101" pitchFamily="49" charset="-122"/>
              </a:rPr>
              <a:t>  </a:t>
            </a:r>
            <a:r>
              <a:rPr lang="en-US" altLang="zh-CN" sz="2000" dirty="0" err="1">
                <a:latin typeface="黑体" panose="02010609060101010101" pitchFamily="49" charset="-122"/>
                <a:ea typeface="黑体" panose="02010609060101010101" pitchFamily="49" charset="-122"/>
              </a:rPr>
              <a:t>st</a:t>
            </a:r>
            <a:r>
              <a:rPr lang="en-US" altLang="zh-CN" sz="2000" dirty="0">
                <a:latin typeface="黑体" panose="02010609060101010101" pitchFamily="49" charset="-122"/>
                <a:ea typeface="黑体" panose="02010609060101010101" pitchFamily="49" charset="-122"/>
              </a:rPr>
              <a:t>[:n] </a:t>
            </a:r>
            <a:r>
              <a:rPr lang="zh-CN" altLang="en-US" sz="2000" dirty="0">
                <a:latin typeface="黑体" panose="02010609060101010101" pitchFamily="49" charset="-122"/>
                <a:ea typeface="黑体" panose="02010609060101010101" pitchFamily="49" charset="-122"/>
              </a:rPr>
              <a:t>表示从第</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个到第</a:t>
            </a:r>
            <a:r>
              <a:rPr lang="en-US" altLang="zh-CN" sz="2000" dirty="0">
                <a:latin typeface="黑体" panose="02010609060101010101" pitchFamily="49" charset="-122"/>
                <a:ea typeface="黑体" panose="02010609060101010101" pitchFamily="49" charset="-122"/>
              </a:rPr>
              <a:t>n-1</a:t>
            </a:r>
            <a:r>
              <a:rPr lang="zh-CN" altLang="en-US" sz="2000" dirty="0">
                <a:latin typeface="黑体" panose="02010609060101010101" pitchFamily="49" charset="-122"/>
                <a:ea typeface="黑体" panose="02010609060101010101" pitchFamily="49" charset="-122"/>
              </a:rPr>
              <a:t>个</a:t>
            </a:r>
            <a:endParaRPr lang="en-US" altLang="zh-CN" sz="2000" dirty="0">
              <a:latin typeface="黑体" panose="02010609060101010101" pitchFamily="49" charset="-122"/>
              <a:ea typeface="黑体" panose="02010609060101010101" pitchFamily="49" charset="-122"/>
            </a:endParaRPr>
          </a:p>
          <a:p>
            <a:pPr marL="0" indent="0">
              <a:lnSpc>
                <a:spcPct val="150000"/>
              </a:lnSpc>
              <a:buNone/>
            </a:pPr>
            <a:r>
              <a:rPr lang="en-US" altLang="zh-CN" sz="2000" dirty="0">
                <a:latin typeface="黑体" panose="02010609060101010101" pitchFamily="49" charset="-122"/>
                <a:ea typeface="黑体" panose="02010609060101010101" pitchFamily="49" charset="-122"/>
              </a:rPr>
              <a:t>  </a:t>
            </a:r>
            <a:r>
              <a:rPr lang="en-US" altLang="zh-CN" sz="2000" dirty="0" err="1">
                <a:latin typeface="黑体" panose="02010609060101010101" pitchFamily="49" charset="-122"/>
                <a:ea typeface="黑体" panose="02010609060101010101" pitchFamily="49" charset="-122"/>
              </a:rPr>
              <a:t>st</a:t>
            </a:r>
            <a:r>
              <a:rPr lang="en-US" altLang="zh-CN" sz="2000" dirty="0">
                <a:latin typeface="黑体" panose="02010609060101010101" pitchFamily="49" charset="-122"/>
                <a:ea typeface="黑体" panose="02010609060101010101" pitchFamily="49" charset="-122"/>
              </a:rPr>
              <a:t>[m:] </a:t>
            </a:r>
            <a:r>
              <a:rPr lang="zh-CN" altLang="en-US" sz="2000" dirty="0">
                <a:latin typeface="黑体" panose="02010609060101010101" pitchFamily="49" charset="-122"/>
                <a:ea typeface="黑体" panose="02010609060101010101" pitchFamily="49" charset="-122"/>
              </a:rPr>
              <a:t>表示从第</a:t>
            </a:r>
            <a:r>
              <a:rPr lang="en-US" altLang="zh-CN" sz="2000" dirty="0">
                <a:latin typeface="黑体" panose="02010609060101010101" pitchFamily="49" charset="-122"/>
                <a:ea typeface="黑体" panose="02010609060101010101" pitchFamily="49" charset="-122"/>
              </a:rPr>
              <a:t>m</a:t>
            </a:r>
            <a:r>
              <a:rPr lang="zh-CN" altLang="en-US" sz="2000" dirty="0">
                <a:latin typeface="黑体" panose="02010609060101010101" pitchFamily="49" charset="-122"/>
                <a:ea typeface="黑体" panose="02010609060101010101" pitchFamily="49" charset="-122"/>
              </a:rPr>
              <a:t>个到最后</a:t>
            </a:r>
            <a:endParaRPr lang="en-US" altLang="zh-CN" sz="2000" dirty="0">
              <a:latin typeface="黑体" panose="02010609060101010101" pitchFamily="49" charset="-122"/>
              <a:ea typeface="黑体" panose="02010609060101010101" pitchFamily="49" charset="-122"/>
            </a:endParaRPr>
          </a:p>
          <a:p>
            <a:pPr marL="0" indent="0">
              <a:lnSpc>
                <a:spcPct val="150000"/>
              </a:lnSpc>
              <a:buNone/>
            </a:pPr>
            <a:r>
              <a:rPr lang="en-US" altLang="zh-CN" sz="2000" dirty="0">
                <a:latin typeface="黑体" panose="02010609060101010101" pitchFamily="49" charset="-122"/>
                <a:ea typeface="黑体" panose="02010609060101010101" pitchFamily="49" charset="-122"/>
              </a:rPr>
              <a:t>  </a:t>
            </a:r>
            <a:r>
              <a:rPr lang="en-US" altLang="zh-CN" sz="2000" dirty="0" err="1">
                <a:latin typeface="黑体" panose="02010609060101010101" pitchFamily="49" charset="-122"/>
                <a:ea typeface="黑体" panose="02010609060101010101" pitchFamily="49" charset="-122"/>
              </a:rPr>
              <a:t>st</a:t>
            </a:r>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表示取所有字符</a:t>
            </a:r>
            <a:endParaRPr lang="en-US" altLang="zh-CN" sz="2000" dirty="0">
              <a:latin typeface="黑体" panose="02010609060101010101" pitchFamily="49" charset="-122"/>
              <a:ea typeface="黑体" panose="02010609060101010101" pitchFamily="49" charset="-122"/>
            </a:endParaRPr>
          </a:p>
          <a:p>
            <a:pPr marL="0" indent="0">
              <a:lnSpc>
                <a:spcPct val="150000"/>
              </a:lnSpc>
              <a:buNone/>
            </a:pPr>
            <a:r>
              <a:rPr lang="en-US" altLang="zh-CN" sz="2000" dirty="0">
                <a:latin typeface="黑体" panose="02010609060101010101" pitchFamily="49" charset="-122"/>
                <a:ea typeface="黑体" panose="02010609060101010101" pitchFamily="49" charset="-122"/>
              </a:rPr>
              <a:t>  </a:t>
            </a:r>
            <a:r>
              <a:rPr lang="en-US" altLang="zh-CN" sz="2000" dirty="0" err="1">
                <a:latin typeface="黑体" panose="02010609060101010101" pitchFamily="49" charset="-122"/>
                <a:ea typeface="黑体" panose="02010609060101010101" pitchFamily="49" charset="-122"/>
              </a:rPr>
              <a:t>st</a:t>
            </a:r>
            <a:r>
              <a:rPr lang="en-US" altLang="zh-CN" sz="2000" dirty="0">
                <a:latin typeface="黑体" panose="02010609060101010101" pitchFamily="49" charset="-122"/>
                <a:ea typeface="黑体" panose="02010609060101010101" pitchFamily="49" charset="-122"/>
              </a:rPr>
              <a:t>[::-1] </a:t>
            </a:r>
            <a:r>
              <a:rPr lang="zh-CN" altLang="en-US" sz="2000" dirty="0">
                <a:latin typeface="黑体" panose="02010609060101010101" pitchFamily="49" charset="-122"/>
                <a:ea typeface="黑体" panose="02010609060101010101" pitchFamily="49" charset="-122"/>
              </a:rPr>
              <a:t>逆序取所有字符</a:t>
            </a:r>
            <a:endParaRPr lang="en-US" altLang="zh-CN" sz="2000" dirty="0">
              <a:latin typeface="黑体" panose="02010609060101010101" pitchFamily="49" charset="-122"/>
              <a:ea typeface="黑体" panose="02010609060101010101" pitchFamily="49" charset="-122"/>
            </a:endParaRPr>
          </a:p>
          <a:p>
            <a:pPr marL="0" indent="0">
              <a:lnSpc>
                <a:spcPct val="150000"/>
              </a:lnSpc>
              <a:buNone/>
            </a:pPr>
            <a:r>
              <a:rPr lang="en-US" altLang="zh-CN" sz="2000" dirty="0">
                <a:latin typeface="黑体" panose="02010609060101010101" pitchFamily="49" charset="-122"/>
                <a:ea typeface="黑体" panose="02010609060101010101" pitchFamily="49" charset="-122"/>
              </a:rPr>
              <a:t>  </a:t>
            </a:r>
            <a:r>
              <a:rPr lang="en-US" altLang="zh-CN" sz="2000" dirty="0" err="1">
                <a:latin typeface="黑体" panose="02010609060101010101" pitchFamily="49" charset="-122"/>
                <a:ea typeface="黑体" panose="02010609060101010101" pitchFamily="49" charset="-122"/>
              </a:rPr>
              <a:t>st</a:t>
            </a:r>
            <a:r>
              <a:rPr lang="en-US" altLang="zh-CN" sz="2000" dirty="0">
                <a:latin typeface="黑体" panose="02010609060101010101" pitchFamily="49" charset="-122"/>
                <a:ea typeface="黑体" panose="02010609060101010101" pitchFamily="49" charset="-122"/>
              </a:rPr>
              <a:t>[::-2] </a:t>
            </a:r>
            <a:r>
              <a:rPr lang="zh-CN" altLang="en-US" sz="2000" dirty="0">
                <a:latin typeface="黑体" panose="02010609060101010101" pitchFamily="49" charset="-122"/>
                <a:ea typeface="黑体" panose="02010609060101010101" pitchFamily="49" charset="-122"/>
              </a:rPr>
              <a:t>逆序取所有偶数索引号上的字符</a:t>
            </a:r>
            <a:endParaRPr lang="en-US" altLang="zh-CN" sz="2000" dirty="0">
              <a:latin typeface="黑体" panose="02010609060101010101" pitchFamily="49" charset="-122"/>
              <a:ea typeface="黑体" panose="02010609060101010101" pitchFamily="49" charset="-122"/>
            </a:endParaRPr>
          </a:p>
        </p:txBody>
      </p:sp>
      <p:sp>
        <p:nvSpPr>
          <p:cNvPr id="4" name="矩形 3"/>
          <p:cNvSpPr/>
          <p:nvPr/>
        </p:nvSpPr>
        <p:spPr>
          <a:xfrm>
            <a:off x="326192" y="422543"/>
            <a:ext cx="4461832" cy="646331"/>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a:lnSpc>
                <a:spcPct val="150000"/>
              </a:lnSpc>
              <a:buFont typeface="Wingdings" panose="05000000000000000000" pitchFamily="2" charset="2"/>
              <a:buChar char="u"/>
            </a:pPr>
            <a:r>
              <a:rPr lang="zh-CN" altLang="zh-CN" sz="2400" b="1" dirty="0">
                <a:solidFill>
                  <a:srgbClr val="0070C0"/>
                </a:solidFill>
                <a:latin typeface="黑体" panose="02010609060101010101" pitchFamily="49" charset="-122"/>
                <a:ea typeface="黑体" panose="02010609060101010101" pitchFamily="49" charset="-122"/>
              </a:rPr>
              <a:t>字符串索引</a:t>
            </a:r>
            <a:r>
              <a:rPr lang="zh-CN" altLang="en-US" sz="2400" dirty="0">
                <a:solidFill>
                  <a:srgbClr val="0070C0"/>
                </a:solidFill>
                <a:latin typeface="黑体" panose="02010609060101010101" pitchFamily="49" charset="-122"/>
                <a:ea typeface="黑体" panose="02010609060101010101" pitchFamily="49" charset="-122"/>
              </a:rPr>
              <a:t>：</a:t>
            </a:r>
            <a:r>
              <a:rPr lang="zh-CN" altLang="en-US" sz="2000" dirty="0">
                <a:solidFill>
                  <a:schemeClr val="tx1"/>
                </a:solidFill>
                <a:latin typeface="黑体" panose="02010609060101010101" pitchFamily="49" charset="-122"/>
                <a:ea typeface="黑体" panose="02010609060101010101" pitchFamily="49" charset="-122"/>
              </a:rPr>
              <a:t>可正向和反向索引</a:t>
            </a:r>
            <a:endParaRPr lang="en-US" altLang="zh-CN" sz="2000" dirty="0">
              <a:solidFill>
                <a:schemeClr val="tx1"/>
              </a:solidFill>
              <a:latin typeface="黑体" panose="02010609060101010101" pitchFamily="49" charset="-122"/>
              <a:ea typeface="黑体" panose="02010609060101010101" pitchFamily="49"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831242490"/>
              </p:ext>
            </p:extLst>
          </p:nvPr>
        </p:nvGraphicFramePr>
        <p:xfrm>
          <a:off x="5039005" y="455067"/>
          <a:ext cx="3816424" cy="83820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1818714595"/>
                    </a:ext>
                  </a:extLst>
                </a:gridCol>
                <a:gridCol w="490829">
                  <a:extLst>
                    <a:ext uri="{9D8B030D-6E8A-4147-A177-3AD203B41FA5}">
                      <a16:colId xmlns:a16="http://schemas.microsoft.com/office/drawing/2014/main" val="3702540663"/>
                    </a:ext>
                  </a:extLst>
                </a:gridCol>
                <a:gridCol w="394458">
                  <a:extLst>
                    <a:ext uri="{9D8B030D-6E8A-4147-A177-3AD203B41FA5}">
                      <a16:colId xmlns:a16="http://schemas.microsoft.com/office/drawing/2014/main" val="3480102548"/>
                    </a:ext>
                  </a:extLst>
                </a:gridCol>
                <a:gridCol w="394458">
                  <a:extLst>
                    <a:ext uri="{9D8B030D-6E8A-4147-A177-3AD203B41FA5}">
                      <a16:colId xmlns:a16="http://schemas.microsoft.com/office/drawing/2014/main" val="29914458"/>
                    </a:ext>
                  </a:extLst>
                </a:gridCol>
                <a:gridCol w="394458">
                  <a:extLst>
                    <a:ext uri="{9D8B030D-6E8A-4147-A177-3AD203B41FA5}">
                      <a16:colId xmlns:a16="http://schemas.microsoft.com/office/drawing/2014/main" val="2134566162"/>
                    </a:ext>
                  </a:extLst>
                </a:gridCol>
                <a:gridCol w="394458">
                  <a:extLst>
                    <a:ext uri="{9D8B030D-6E8A-4147-A177-3AD203B41FA5}">
                      <a16:colId xmlns:a16="http://schemas.microsoft.com/office/drawing/2014/main" val="3576456842"/>
                    </a:ext>
                  </a:extLst>
                </a:gridCol>
                <a:gridCol w="374628">
                  <a:extLst>
                    <a:ext uri="{9D8B030D-6E8A-4147-A177-3AD203B41FA5}">
                      <a16:colId xmlns:a16="http://schemas.microsoft.com/office/drawing/2014/main" val="395214491"/>
                    </a:ext>
                  </a:extLst>
                </a:gridCol>
                <a:gridCol w="365023">
                  <a:extLst>
                    <a:ext uri="{9D8B030D-6E8A-4147-A177-3AD203B41FA5}">
                      <a16:colId xmlns:a16="http://schemas.microsoft.com/office/drawing/2014/main" val="1296131245"/>
                    </a:ext>
                  </a:extLst>
                </a:gridCol>
              </a:tblGrid>
              <a:tr h="331398">
                <a:tc>
                  <a:txBody>
                    <a:bodyPr/>
                    <a:lstStyle/>
                    <a:p>
                      <a:pPr algn="ctr"/>
                      <a:r>
                        <a:rPr lang="zh-CN" altLang="en-US" sz="1600" dirty="0"/>
                        <a:t>字符串</a:t>
                      </a:r>
                    </a:p>
                  </a:txBody>
                  <a:tcPr anchor="ctr"/>
                </a:tc>
                <a:tc>
                  <a:txBody>
                    <a:bodyPr/>
                    <a:lstStyle/>
                    <a:p>
                      <a:pPr algn="ctr"/>
                      <a:r>
                        <a:rPr lang="en-US" altLang="zh-CN" sz="1600" dirty="0"/>
                        <a:t>w</a:t>
                      </a:r>
                      <a:endParaRPr lang="zh-CN" altLang="en-US" sz="1600" dirty="0"/>
                    </a:p>
                  </a:txBody>
                  <a:tcPr anchor="ctr"/>
                </a:tc>
                <a:tc>
                  <a:txBody>
                    <a:bodyPr/>
                    <a:lstStyle/>
                    <a:p>
                      <a:pPr algn="ctr"/>
                      <a:r>
                        <a:rPr lang="en-US" altLang="zh-CN" sz="1600" dirty="0"/>
                        <a:t>e</a:t>
                      </a:r>
                      <a:endParaRPr lang="zh-CN" altLang="en-US" sz="1600" dirty="0"/>
                    </a:p>
                  </a:txBody>
                  <a:tcPr anchor="ctr"/>
                </a:tc>
                <a:tc>
                  <a:txBody>
                    <a:bodyPr/>
                    <a:lstStyle/>
                    <a:p>
                      <a:pPr algn="ctr"/>
                      <a:r>
                        <a:rPr lang="en-US" altLang="zh-CN" sz="1600" dirty="0"/>
                        <a:t>l</a:t>
                      </a:r>
                      <a:endParaRPr lang="zh-CN" altLang="en-US" sz="1600" dirty="0"/>
                    </a:p>
                  </a:txBody>
                  <a:tcPr anchor="ctr"/>
                </a:tc>
                <a:tc>
                  <a:txBody>
                    <a:bodyPr/>
                    <a:lstStyle/>
                    <a:p>
                      <a:pPr algn="ctr"/>
                      <a:r>
                        <a:rPr lang="en-US" altLang="zh-CN" sz="1600" dirty="0"/>
                        <a:t>c</a:t>
                      </a:r>
                      <a:endParaRPr lang="zh-CN" altLang="en-US" sz="1600" dirty="0"/>
                    </a:p>
                  </a:txBody>
                  <a:tcPr anchor="ctr"/>
                </a:tc>
                <a:tc>
                  <a:txBody>
                    <a:bodyPr/>
                    <a:lstStyle/>
                    <a:p>
                      <a:pPr algn="ctr"/>
                      <a:r>
                        <a:rPr lang="en-US" altLang="zh-CN" sz="1600" dirty="0"/>
                        <a:t>o</a:t>
                      </a:r>
                      <a:endParaRPr lang="zh-CN" altLang="en-US" sz="1600" dirty="0"/>
                    </a:p>
                  </a:txBody>
                  <a:tcPr anchor="ctr"/>
                </a:tc>
                <a:tc>
                  <a:txBody>
                    <a:bodyPr/>
                    <a:lstStyle/>
                    <a:p>
                      <a:pPr algn="ctr"/>
                      <a:r>
                        <a:rPr lang="en-US" altLang="zh-CN" sz="1600" dirty="0"/>
                        <a:t>m</a:t>
                      </a:r>
                      <a:endParaRPr lang="zh-CN" altLang="en-US" sz="1600" dirty="0"/>
                    </a:p>
                  </a:txBody>
                  <a:tcPr anchor="ctr"/>
                </a:tc>
                <a:tc>
                  <a:txBody>
                    <a:bodyPr/>
                    <a:lstStyle/>
                    <a:p>
                      <a:pPr algn="ctr"/>
                      <a:r>
                        <a:rPr lang="en-US" altLang="zh-CN" sz="1600" dirty="0"/>
                        <a:t>e</a:t>
                      </a:r>
                      <a:endParaRPr lang="zh-CN" altLang="en-US" sz="1600" dirty="0"/>
                    </a:p>
                  </a:txBody>
                  <a:tcPr anchor="ctr"/>
                </a:tc>
                <a:extLst>
                  <a:ext uri="{0D108BD9-81ED-4DB2-BD59-A6C34878D82A}">
                    <a16:rowId xmlns:a16="http://schemas.microsoft.com/office/drawing/2014/main" val="3950495815"/>
                  </a:ext>
                </a:extLst>
              </a:tr>
              <a:tr h="248549">
                <a:tc>
                  <a:txBody>
                    <a:bodyPr/>
                    <a:lstStyle/>
                    <a:p>
                      <a:pPr algn="ctr"/>
                      <a:r>
                        <a:rPr lang="zh-CN" altLang="en-US" sz="1050" dirty="0"/>
                        <a:t>正向索引编号</a:t>
                      </a:r>
                    </a:p>
                  </a:txBody>
                  <a:tcPr anchor="ctr"/>
                </a:tc>
                <a:tc>
                  <a:txBody>
                    <a:bodyPr/>
                    <a:lstStyle/>
                    <a:p>
                      <a:pPr algn="ctr"/>
                      <a:r>
                        <a:rPr lang="en-US" altLang="zh-CN" sz="1050" dirty="0"/>
                        <a:t>0</a:t>
                      </a:r>
                      <a:endParaRPr lang="zh-CN" altLang="en-US" sz="1050" dirty="0"/>
                    </a:p>
                  </a:txBody>
                  <a:tcPr anchor="ctr"/>
                </a:tc>
                <a:tc>
                  <a:txBody>
                    <a:bodyPr/>
                    <a:lstStyle/>
                    <a:p>
                      <a:pPr algn="ctr"/>
                      <a:r>
                        <a:rPr lang="en-US" altLang="zh-CN" sz="1050" dirty="0"/>
                        <a:t>1</a:t>
                      </a:r>
                      <a:endParaRPr lang="zh-CN" altLang="en-US" sz="1050" dirty="0"/>
                    </a:p>
                  </a:txBody>
                  <a:tcPr anchor="ctr"/>
                </a:tc>
                <a:tc>
                  <a:txBody>
                    <a:bodyPr/>
                    <a:lstStyle/>
                    <a:p>
                      <a:pPr algn="ctr"/>
                      <a:r>
                        <a:rPr lang="en-US" altLang="zh-CN" sz="1050" dirty="0"/>
                        <a:t>2</a:t>
                      </a:r>
                      <a:endParaRPr lang="zh-CN" altLang="en-US" sz="1050" dirty="0"/>
                    </a:p>
                  </a:txBody>
                  <a:tcPr anchor="ctr"/>
                </a:tc>
                <a:tc>
                  <a:txBody>
                    <a:bodyPr/>
                    <a:lstStyle/>
                    <a:p>
                      <a:pPr algn="ctr"/>
                      <a:r>
                        <a:rPr lang="en-US" altLang="zh-CN" sz="1050" dirty="0"/>
                        <a:t>3</a:t>
                      </a:r>
                      <a:endParaRPr lang="zh-CN" altLang="en-US" sz="1050" dirty="0"/>
                    </a:p>
                  </a:txBody>
                  <a:tcPr anchor="ctr"/>
                </a:tc>
                <a:tc>
                  <a:txBody>
                    <a:bodyPr/>
                    <a:lstStyle/>
                    <a:p>
                      <a:pPr algn="ctr"/>
                      <a:r>
                        <a:rPr lang="en-US" altLang="zh-CN" sz="1050" dirty="0"/>
                        <a:t>4</a:t>
                      </a:r>
                      <a:endParaRPr lang="zh-CN" altLang="en-US" sz="1050" dirty="0"/>
                    </a:p>
                  </a:txBody>
                  <a:tcPr anchor="ctr"/>
                </a:tc>
                <a:tc>
                  <a:txBody>
                    <a:bodyPr/>
                    <a:lstStyle/>
                    <a:p>
                      <a:pPr algn="ctr"/>
                      <a:r>
                        <a:rPr lang="en-US" altLang="zh-CN" sz="1050" dirty="0"/>
                        <a:t>5</a:t>
                      </a:r>
                      <a:endParaRPr lang="zh-CN" altLang="en-US" sz="1050" dirty="0"/>
                    </a:p>
                  </a:txBody>
                  <a:tcPr anchor="ctr"/>
                </a:tc>
                <a:tc>
                  <a:txBody>
                    <a:bodyPr/>
                    <a:lstStyle/>
                    <a:p>
                      <a:pPr algn="ctr"/>
                      <a:r>
                        <a:rPr lang="en-US" altLang="zh-CN" sz="1050" dirty="0"/>
                        <a:t>6</a:t>
                      </a:r>
                      <a:endParaRPr lang="zh-CN" altLang="en-US" sz="1050" dirty="0"/>
                    </a:p>
                  </a:txBody>
                  <a:tcPr anchor="ctr"/>
                </a:tc>
                <a:extLst>
                  <a:ext uri="{0D108BD9-81ED-4DB2-BD59-A6C34878D82A}">
                    <a16:rowId xmlns:a16="http://schemas.microsoft.com/office/drawing/2014/main" val="1144214828"/>
                  </a:ext>
                </a:extLst>
              </a:tr>
              <a:tr h="248549">
                <a:tc>
                  <a:txBody>
                    <a:bodyPr/>
                    <a:lstStyle/>
                    <a:p>
                      <a:pPr algn="ctr"/>
                      <a:r>
                        <a:rPr lang="zh-CN" altLang="en-US" sz="1050" dirty="0"/>
                        <a:t>反向索引编号</a:t>
                      </a:r>
                    </a:p>
                  </a:txBody>
                  <a:tcPr anchor="ctr"/>
                </a:tc>
                <a:tc>
                  <a:txBody>
                    <a:bodyPr/>
                    <a:lstStyle/>
                    <a:p>
                      <a:pPr algn="ctr"/>
                      <a:r>
                        <a:rPr lang="en-US" altLang="zh-CN" sz="1050" dirty="0"/>
                        <a:t>-7</a:t>
                      </a:r>
                      <a:endParaRPr lang="zh-CN" altLang="en-US" sz="1050" dirty="0"/>
                    </a:p>
                  </a:txBody>
                  <a:tcPr anchor="ctr"/>
                </a:tc>
                <a:tc>
                  <a:txBody>
                    <a:bodyPr/>
                    <a:lstStyle/>
                    <a:p>
                      <a:pPr algn="ctr"/>
                      <a:r>
                        <a:rPr lang="en-US" altLang="zh-CN" sz="1050" dirty="0"/>
                        <a:t>-6</a:t>
                      </a:r>
                      <a:endParaRPr lang="zh-CN" altLang="en-US" sz="1050" dirty="0"/>
                    </a:p>
                  </a:txBody>
                  <a:tcPr anchor="ctr"/>
                </a:tc>
                <a:tc>
                  <a:txBody>
                    <a:bodyPr/>
                    <a:lstStyle/>
                    <a:p>
                      <a:pPr algn="ctr"/>
                      <a:r>
                        <a:rPr lang="en-US" altLang="zh-CN" sz="1050" dirty="0"/>
                        <a:t>-5</a:t>
                      </a:r>
                      <a:endParaRPr lang="zh-CN" altLang="en-US" sz="1050" dirty="0"/>
                    </a:p>
                  </a:txBody>
                  <a:tcPr anchor="ctr"/>
                </a:tc>
                <a:tc>
                  <a:txBody>
                    <a:bodyPr/>
                    <a:lstStyle/>
                    <a:p>
                      <a:pPr algn="ctr"/>
                      <a:r>
                        <a:rPr lang="en-US" altLang="zh-CN" sz="1050" dirty="0"/>
                        <a:t>-4</a:t>
                      </a:r>
                      <a:endParaRPr lang="zh-CN" altLang="en-US" sz="1050" dirty="0"/>
                    </a:p>
                  </a:txBody>
                  <a:tcPr anchor="ctr"/>
                </a:tc>
                <a:tc>
                  <a:txBody>
                    <a:bodyPr/>
                    <a:lstStyle/>
                    <a:p>
                      <a:pPr algn="ctr"/>
                      <a:r>
                        <a:rPr lang="en-US" altLang="zh-CN" sz="1050" dirty="0"/>
                        <a:t>-3</a:t>
                      </a:r>
                      <a:endParaRPr lang="zh-CN" altLang="en-US" sz="1050" dirty="0"/>
                    </a:p>
                  </a:txBody>
                  <a:tcPr anchor="ctr"/>
                </a:tc>
                <a:tc>
                  <a:txBody>
                    <a:bodyPr/>
                    <a:lstStyle/>
                    <a:p>
                      <a:pPr algn="ctr"/>
                      <a:r>
                        <a:rPr lang="en-US" altLang="zh-CN" sz="1050" dirty="0"/>
                        <a:t>-2</a:t>
                      </a:r>
                      <a:endParaRPr lang="zh-CN" altLang="en-US" sz="1050" dirty="0"/>
                    </a:p>
                  </a:txBody>
                  <a:tcPr anchor="ctr"/>
                </a:tc>
                <a:tc>
                  <a:txBody>
                    <a:bodyPr/>
                    <a:lstStyle/>
                    <a:p>
                      <a:pPr algn="ctr"/>
                      <a:r>
                        <a:rPr lang="en-US" altLang="zh-CN" sz="1050" dirty="0"/>
                        <a:t>-1</a:t>
                      </a:r>
                      <a:endParaRPr lang="zh-CN" altLang="en-US" sz="1050" dirty="0"/>
                    </a:p>
                  </a:txBody>
                  <a:tcPr anchor="ctr"/>
                </a:tc>
                <a:extLst>
                  <a:ext uri="{0D108BD9-81ED-4DB2-BD59-A6C34878D82A}">
                    <a16:rowId xmlns:a16="http://schemas.microsoft.com/office/drawing/2014/main" val="107859010"/>
                  </a:ext>
                </a:extLst>
              </a:tr>
            </a:tbl>
          </a:graphicData>
        </a:graphic>
      </p:graphicFrame>
      <p:pic>
        <p:nvPicPr>
          <p:cNvPr id="6" name="图片 5"/>
          <p:cNvPicPr>
            <a:picLocks noChangeAspect="1"/>
          </p:cNvPicPr>
          <p:nvPr/>
        </p:nvPicPr>
        <p:blipFill>
          <a:blip r:embed="rId2"/>
          <a:stretch>
            <a:fillRect/>
          </a:stretch>
        </p:blipFill>
        <p:spPr>
          <a:xfrm>
            <a:off x="5868144" y="2499742"/>
            <a:ext cx="1296144" cy="1656184"/>
          </a:xfrm>
          <a:prstGeom prst="rect">
            <a:avLst/>
          </a:prstGeom>
          <a:ln>
            <a:solidFill>
              <a:srgbClr val="FF0000"/>
            </a:solidFill>
          </a:ln>
        </p:spPr>
      </p:pic>
      <p:pic>
        <p:nvPicPr>
          <p:cNvPr id="8" name="图片 7"/>
          <p:cNvPicPr>
            <a:picLocks noChangeAspect="1"/>
          </p:cNvPicPr>
          <p:nvPr/>
        </p:nvPicPr>
        <p:blipFill>
          <a:blip r:embed="rId3"/>
          <a:stretch>
            <a:fillRect/>
          </a:stretch>
        </p:blipFill>
        <p:spPr>
          <a:xfrm>
            <a:off x="7382399" y="2510532"/>
            <a:ext cx="1254919" cy="1384459"/>
          </a:xfrm>
          <a:prstGeom prst="rect">
            <a:avLst/>
          </a:prstGeom>
          <a:ln>
            <a:solidFill>
              <a:srgbClr val="FF0000"/>
            </a:solidFill>
          </a:ln>
        </p:spPr>
      </p:pic>
    </p:spTree>
    <p:extLst>
      <p:ext uri="{BB962C8B-B14F-4D97-AF65-F5344CB8AC3E}">
        <p14:creationId xmlns:p14="http://schemas.microsoft.com/office/powerpoint/2010/main" val="12554489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a:xfrm>
            <a:off x="323528" y="367056"/>
            <a:ext cx="5829300" cy="5940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b" anchorCtr="0" compatLnSpc="1">
            <a:prstTxWarp prst="textNoShape">
              <a:avLst/>
            </a:prstTxWarp>
          </a:bodyPr>
          <a:lstStyle/>
          <a:p>
            <a:pPr algn="l"/>
            <a:r>
              <a:rPr lang="zh-CN" altLang="en-US" dirty="0">
                <a:solidFill>
                  <a:srgbClr val="0070C0"/>
                </a:solidFill>
              </a:rPr>
              <a:t>练习，提取星期几</a:t>
            </a:r>
          </a:p>
        </p:txBody>
      </p:sp>
      <p:sp>
        <p:nvSpPr>
          <p:cNvPr id="9" name="内容占位符 2"/>
          <p:cNvSpPr txBox="1">
            <a:spLocks/>
          </p:cNvSpPr>
          <p:nvPr/>
        </p:nvSpPr>
        <p:spPr bwMode="auto">
          <a:xfrm>
            <a:off x="323528" y="1185963"/>
            <a:ext cx="8064896" cy="1080120"/>
          </a:xfrm>
          <a:prstGeom prst="rect">
            <a:avLst/>
          </a:prstGeom>
          <a:solidFill>
            <a:schemeClr val="bg1"/>
          </a:solidFill>
          <a:ln>
            <a:solidFill>
              <a:schemeClr val="accent1"/>
            </a:solidFill>
          </a:ln>
        </p:spPr>
        <p:txBody>
          <a:bodyPr vert="horz" wrap="square" lIns="68580" tIns="34290" rIns="68580" bIns="34290" numCol="1" anchor="t" anchorCtr="0" compatLnSpc="1">
            <a:prstTxWarp prst="textNoShape">
              <a:avLst/>
            </a:prstTxWarp>
          </a:bodyPr>
          <a:lstStyle>
            <a:lvl1pPr marL="411163" indent="-342900" algn="l" rtl="0" eaLnBrk="0" fontAlgn="base" hangingPunct="0">
              <a:spcBef>
                <a:spcPts val="700"/>
              </a:spcBef>
              <a:spcAft>
                <a:spcPct val="0"/>
              </a:spcAft>
              <a:buClr>
                <a:schemeClr val="tx2"/>
              </a:buClr>
              <a:buSzPct val="95000"/>
              <a:buFont typeface="Wingdings"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a:lstStyle>
          <a:p>
            <a:pPr marL="51197" indent="0" algn="just" eaLnBrk="1" hangingPunct="1">
              <a:buNone/>
            </a:pPr>
            <a:r>
              <a:rPr lang="en-US" altLang="zh-CN" sz="1800" dirty="0"/>
              <a:t>S="</a:t>
            </a:r>
            <a:r>
              <a:rPr lang="zh-CN" altLang="en-US" sz="1800" dirty="0"/>
              <a:t>星期一星期二星期三星期四星期五星期六星期日</a:t>
            </a:r>
            <a:r>
              <a:rPr lang="en-US" altLang="zh-CN" sz="1800" dirty="0"/>
              <a:t>“</a:t>
            </a:r>
          </a:p>
          <a:p>
            <a:pPr marL="51197" indent="0" algn="just" eaLnBrk="1" hangingPunct="1">
              <a:buNone/>
            </a:pPr>
            <a:r>
              <a:rPr lang="zh-CN" altLang="en-US" sz="1800" dirty="0"/>
              <a:t>根据输入的数字 （</a:t>
            </a:r>
            <a:r>
              <a:rPr lang="en-US" altLang="zh-CN" sz="1800" dirty="0"/>
              <a:t>1-7</a:t>
            </a:r>
            <a:r>
              <a:rPr lang="zh-CN" altLang="en-US" sz="1800" dirty="0"/>
              <a:t>），输出星期几</a:t>
            </a:r>
            <a:endParaRPr lang="en-US" altLang="zh-CN" sz="1800" dirty="0"/>
          </a:p>
          <a:p>
            <a:pPr marL="51197" indent="0" algn="just" eaLnBrk="1" hangingPunct="1">
              <a:buNone/>
            </a:pPr>
            <a:r>
              <a:rPr lang="zh-CN" altLang="en-US" sz="1800" dirty="0"/>
              <a:t>例如 输入：</a:t>
            </a:r>
            <a:r>
              <a:rPr lang="en-US" altLang="zh-CN" sz="1800" dirty="0"/>
              <a:t>2    </a:t>
            </a:r>
            <a:r>
              <a:rPr lang="zh-CN" altLang="en-US" sz="1800" dirty="0"/>
              <a:t>输出：星期二</a:t>
            </a:r>
            <a:endParaRPr lang="en-US" altLang="zh-CN" sz="1800" dirty="0"/>
          </a:p>
        </p:txBody>
      </p:sp>
      <p:sp>
        <p:nvSpPr>
          <p:cNvPr id="4" name="内容占位符 2"/>
          <p:cNvSpPr txBox="1">
            <a:spLocks/>
          </p:cNvSpPr>
          <p:nvPr/>
        </p:nvSpPr>
        <p:spPr bwMode="auto">
          <a:xfrm>
            <a:off x="301095" y="2715766"/>
            <a:ext cx="8087329" cy="1926214"/>
          </a:xfrm>
          <a:prstGeom prst="rect">
            <a:avLst/>
          </a:prstGeom>
          <a:solidFill>
            <a:schemeClr val="bg1"/>
          </a:solidFill>
          <a:ln>
            <a:solidFill>
              <a:schemeClr val="accent1"/>
            </a:solidFill>
          </a:ln>
        </p:spPr>
        <p:txBody>
          <a:bodyPr vert="horz" wrap="square" lIns="68580" tIns="34290" rIns="68580" bIns="34290" numCol="1" anchor="t" anchorCtr="0" compatLnSpc="1">
            <a:prstTxWarp prst="textNoShape">
              <a:avLst/>
            </a:prstTxWarp>
          </a:bodyPr>
          <a:lstStyle>
            <a:lvl1pPr marL="411163" indent="-342900" algn="l" rtl="0" eaLnBrk="0" fontAlgn="base" hangingPunct="0">
              <a:spcBef>
                <a:spcPts val="700"/>
              </a:spcBef>
              <a:spcAft>
                <a:spcPct val="0"/>
              </a:spcAft>
              <a:buClr>
                <a:schemeClr val="tx2"/>
              </a:buClr>
              <a:buSzPct val="95000"/>
              <a:buFont typeface="Wingdings"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a:lstStyle>
          <a:p>
            <a:pPr marL="51197" indent="0" algn="just" eaLnBrk="1" hangingPunct="1">
              <a:buNone/>
            </a:pPr>
            <a:r>
              <a:rPr lang="en-US" altLang="zh-CN" sz="1800" dirty="0"/>
              <a:t>S="</a:t>
            </a:r>
            <a:r>
              <a:rPr lang="zh-CN" altLang="en-US" sz="1800" dirty="0"/>
              <a:t>星期一星期二星期三星期四星期五星期六星期日</a:t>
            </a:r>
            <a:r>
              <a:rPr lang="en-US" altLang="zh-CN" sz="1800" dirty="0"/>
              <a:t>"</a:t>
            </a:r>
          </a:p>
          <a:p>
            <a:pPr marL="51197" indent="0" algn="just" eaLnBrk="1" hangingPunct="1">
              <a:buNone/>
            </a:pPr>
            <a:r>
              <a:rPr lang="en-US" altLang="zh-CN" sz="1800" dirty="0"/>
              <a:t>n=</a:t>
            </a:r>
            <a:r>
              <a:rPr lang="en-US" altLang="zh-CN" sz="1800" dirty="0" err="1"/>
              <a:t>int</a:t>
            </a:r>
            <a:r>
              <a:rPr lang="en-US" altLang="zh-CN" sz="1800" dirty="0"/>
              <a:t>(input("</a:t>
            </a:r>
            <a:r>
              <a:rPr lang="zh-CN" altLang="en-US" sz="1800" dirty="0"/>
              <a:t>请输入数字</a:t>
            </a:r>
            <a:r>
              <a:rPr lang="en-US" altLang="zh-CN" sz="1800" dirty="0"/>
              <a:t>1-7</a:t>
            </a:r>
            <a:r>
              <a:rPr lang="zh-CN" altLang="en-US" sz="1800" dirty="0"/>
              <a:t>：</a:t>
            </a:r>
            <a:r>
              <a:rPr lang="en-US" altLang="zh-CN" sz="1800" dirty="0"/>
              <a:t>"))</a:t>
            </a:r>
          </a:p>
          <a:p>
            <a:pPr marL="51197" indent="0" algn="just" eaLnBrk="1" hangingPunct="1">
              <a:buNone/>
            </a:pPr>
            <a:r>
              <a:rPr lang="en-US" altLang="zh-CN" sz="1800" dirty="0"/>
              <a:t>start=(n-1)*3</a:t>
            </a:r>
          </a:p>
          <a:p>
            <a:pPr marL="51197" indent="0" algn="just" eaLnBrk="1" hangingPunct="1">
              <a:buNone/>
            </a:pPr>
            <a:r>
              <a:rPr lang="en-US" altLang="zh-CN" sz="1800" dirty="0" err="1"/>
              <a:t>weekDay</a:t>
            </a:r>
            <a:r>
              <a:rPr lang="en-US" altLang="zh-CN" sz="1800" dirty="0"/>
              <a:t>=S[start:start+3]</a:t>
            </a:r>
          </a:p>
          <a:p>
            <a:pPr marL="51197" indent="0" algn="just" eaLnBrk="1" hangingPunct="1">
              <a:buNone/>
            </a:pPr>
            <a:r>
              <a:rPr lang="en-US" altLang="zh-CN" sz="1800" dirty="0"/>
              <a:t>print(</a:t>
            </a:r>
            <a:r>
              <a:rPr lang="en-US" altLang="zh-CN" sz="1800" dirty="0" err="1"/>
              <a:t>weekDay</a:t>
            </a:r>
            <a:r>
              <a:rPr lang="en-US" altLang="zh-CN" sz="1800" dirty="0"/>
              <a:t>)</a:t>
            </a:r>
          </a:p>
        </p:txBody>
      </p:sp>
    </p:spTree>
    <p:extLst>
      <p:ext uri="{BB962C8B-B14F-4D97-AF65-F5344CB8AC3E}">
        <p14:creationId xmlns:p14="http://schemas.microsoft.com/office/powerpoint/2010/main" val="2294795045"/>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683568" y="699542"/>
            <a:ext cx="7416824" cy="41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lnSpc>
                <a:spcPct val="95000"/>
              </a:lnSpc>
              <a:spcBef>
                <a:spcPct val="0"/>
              </a:spcBef>
              <a:spcAft>
                <a:spcPct val="0"/>
              </a:spcAft>
              <a:defRPr sz="3200" b="1">
                <a:solidFill>
                  <a:srgbClr val="C00000"/>
                </a:solidFill>
                <a:latin typeface="微软雅黑" panose="020B0503020204020204" pitchFamily="34" charset="-122"/>
                <a:ea typeface="微软雅黑" panose="020B0503020204020204" pitchFamily="34" charset="-122"/>
                <a:cs typeface="+mj-cs"/>
              </a:defRPr>
            </a:lvl1pPr>
            <a:lvl2pPr algn="l" rtl="0" eaLnBrk="0" fontAlgn="base" hangingPunct="0">
              <a:lnSpc>
                <a:spcPct val="95000"/>
              </a:lnSpc>
              <a:spcBef>
                <a:spcPct val="0"/>
              </a:spcBef>
              <a:spcAft>
                <a:spcPct val="0"/>
              </a:spcAft>
              <a:defRPr sz="3600" b="1">
                <a:solidFill>
                  <a:schemeClr val="accent1"/>
                </a:solidFill>
                <a:latin typeface="Arial" pitchFamily="34" charset="0"/>
              </a:defRPr>
            </a:lvl2pPr>
            <a:lvl3pPr algn="l" rtl="0" eaLnBrk="0" fontAlgn="base" hangingPunct="0">
              <a:lnSpc>
                <a:spcPct val="95000"/>
              </a:lnSpc>
              <a:spcBef>
                <a:spcPct val="0"/>
              </a:spcBef>
              <a:spcAft>
                <a:spcPct val="0"/>
              </a:spcAft>
              <a:defRPr sz="3600" b="1">
                <a:solidFill>
                  <a:schemeClr val="accent1"/>
                </a:solidFill>
                <a:latin typeface="Arial" pitchFamily="34" charset="0"/>
              </a:defRPr>
            </a:lvl3pPr>
            <a:lvl4pPr algn="l" rtl="0" eaLnBrk="0" fontAlgn="base" hangingPunct="0">
              <a:lnSpc>
                <a:spcPct val="95000"/>
              </a:lnSpc>
              <a:spcBef>
                <a:spcPct val="0"/>
              </a:spcBef>
              <a:spcAft>
                <a:spcPct val="0"/>
              </a:spcAft>
              <a:defRPr sz="3600" b="1">
                <a:solidFill>
                  <a:schemeClr val="accent1"/>
                </a:solidFill>
                <a:latin typeface="Arial" pitchFamily="34" charset="0"/>
              </a:defRPr>
            </a:lvl4pPr>
            <a:lvl5pPr algn="l" rtl="0" eaLnBrk="0" fontAlgn="base" hangingPunct="0">
              <a:lnSpc>
                <a:spcPct val="95000"/>
              </a:lnSpc>
              <a:spcBef>
                <a:spcPct val="0"/>
              </a:spcBef>
              <a:spcAft>
                <a:spcPct val="0"/>
              </a:spcAft>
              <a:defRPr sz="3600" b="1">
                <a:solidFill>
                  <a:schemeClr val="accent1"/>
                </a:solidFill>
                <a:latin typeface="Arial" pitchFamily="34" charset="0"/>
              </a:defRPr>
            </a:lvl5pPr>
            <a:lvl6pPr marL="457200" algn="l" rtl="0" eaLnBrk="1" fontAlgn="base" hangingPunct="1">
              <a:lnSpc>
                <a:spcPct val="95000"/>
              </a:lnSpc>
              <a:spcBef>
                <a:spcPct val="0"/>
              </a:spcBef>
              <a:spcAft>
                <a:spcPct val="0"/>
              </a:spcAft>
              <a:defRPr sz="3200" b="1">
                <a:solidFill>
                  <a:schemeClr val="accent1"/>
                </a:solidFill>
                <a:latin typeface="Arial" pitchFamily="34" charset="0"/>
              </a:defRPr>
            </a:lvl6pPr>
            <a:lvl7pPr marL="914400" algn="l" rtl="0" eaLnBrk="1" fontAlgn="base" hangingPunct="1">
              <a:lnSpc>
                <a:spcPct val="95000"/>
              </a:lnSpc>
              <a:spcBef>
                <a:spcPct val="0"/>
              </a:spcBef>
              <a:spcAft>
                <a:spcPct val="0"/>
              </a:spcAft>
              <a:defRPr sz="3200" b="1">
                <a:solidFill>
                  <a:schemeClr val="accent1"/>
                </a:solidFill>
                <a:latin typeface="Arial" pitchFamily="34" charset="0"/>
              </a:defRPr>
            </a:lvl7pPr>
            <a:lvl8pPr marL="1371600" algn="l" rtl="0" eaLnBrk="1" fontAlgn="base" hangingPunct="1">
              <a:lnSpc>
                <a:spcPct val="95000"/>
              </a:lnSpc>
              <a:spcBef>
                <a:spcPct val="0"/>
              </a:spcBef>
              <a:spcAft>
                <a:spcPct val="0"/>
              </a:spcAft>
              <a:defRPr sz="3200" b="1">
                <a:solidFill>
                  <a:schemeClr val="accent1"/>
                </a:solidFill>
                <a:latin typeface="Arial" pitchFamily="34" charset="0"/>
              </a:defRPr>
            </a:lvl8pPr>
            <a:lvl9pPr marL="1828800" algn="l" rtl="0" eaLnBrk="1" fontAlgn="base" hangingPunct="1">
              <a:lnSpc>
                <a:spcPct val="95000"/>
              </a:lnSpc>
              <a:spcBef>
                <a:spcPct val="0"/>
              </a:spcBef>
              <a:spcAft>
                <a:spcPct val="0"/>
              </a:spcAft>
              <a:defRPr sz="3200" b="1">
                <a:solidFill>
                  <a:schemeClr val="accent1"/>
                </a:solidFill>
                <a:latin typeface="Arial" pitchFamily="34" charset="0"/>
              </a:defRPr>
            </a:lvl9pPr>
          </a:lstStyle>
          <a:p>
            <a:pPr marL="342900" indent="-342900">
              <a:buFont typeface="Wingdings" panose="05000000000000000000" pitchFamily="2" charset="2"/>
              <a:buChar char="u"/>
            </a:pPr>
            <a:r>
              <a:rPr lang="zh-CN" altLang="en-US" sz="2400" dirty="0">
                <a:solidFill>
                  <a:srgbClr val="0070C0"/>
                </a:solidFill>
                <a:latin typeface="黑体" panose="02010609060101010101" pitchFamily="49" charset="-122"/>
                <a:ea typeface="黑体" panose="02010609060101010101" pitchFamily="49" charset="-122"/>
              </a:rPr>
              <a:t>字符串基本操作符</a:t>
            </a:r>
          </a:p>
        </p:txBody>
      </p:sp>
      <p:graphicFrame>
        <p:nvGraphicFramePr>
          <p:cNvPr id="5" name="表格 4"/>
          <p:cNvGraphicFramePr>
            <a:graphicFrameLocks noGrp="1"/>
          </p:cNvGraphicFramePr>
          <p:nvPr>
            <p:extLst>
              <p:ext uri="{D42A27DB-BD31-4B8C-83A1-F6EECF244321}">
                <p14:modId xmlns:p14="http://schemas.microsoft.com/office/powerpoint/2010/main" val="466897639"/>
              </p:ext>
            </p:extLst>
          </p:nvPr>
        </p:nvGraphicFramePr>
        <p:xfrm>
          <a:off x="827584" y="2283718"/>
          <a:ext cx="7786471" cy="2225040"/>
        </p:xfrm>
        <a:graphic>
          <a:graphicData uri="http://schemas.openxmlformats.org/drawingml/2006/table">
            <a:tbl>
              <a:tblPr firstRow="1" bandRow="1">
                <a:tableStyleId>{7DF18680-E054-41AD-8BC1-D1AEF772440D}</a:tableStyleId>
              </a:tblPr>
              <a:tblGrid>
                <a:gridCol w="1730327">
                  <a:extLst>
                    <a:ext uri="{9D8B030D-6E8A-4147-A177-3AD203B41FA5}">
                      <a16:colId xmlns:a16="http://schemas.microsoft.com/office/drawing/2014/main" val="20000"/>
                    </a:ext>
                  </a:extLst>
                </a:gridCol>
                <a:gridCol w="1996531">
                  <a:extLst>
                    <a:ext uri="{9D8B030D-6E8A-4147-A177-3AD203B41FA5}">
                      <a16:colId xmlns:a16="http://schemas.microsoft.com/office/drawing/2014/main" val="20001"/>
                    </a:ext>
                  </a:extLst>
                </a:gridCol>
                <a:gridCol w="1805757">
                  <a:extLst>
                    <a:ext uri="{9D8B030D-6E8A-4147-A177-3AD203B41FA5}">
                      <a16:colId xmlns:a16="http://schemas.microsoft.com/office/drawing/2014/main" val="20002"/>
                    </a:ext>
                  </a:extLst>
                </a:gridCol>
                <a:gridCol w="2253856">
                  <a:extLst>
                    <a:ext uri="{9D8B030D-6E8A-4147-A177-3AD203B41FA5}">
                      <a16:colId xmlns:a16="http://schemas.microsoft.com/office/drawing/2014/main" val="20003"/>
                    </a:ext>
                  </a:extLst>
                </a:gridCol>
              </a:tblGrid>
              <a:tr h="252000">
                <a:tc>
                  <a:txBody>
                    <a:bodyPr/>
                    <a:lstStyle/>
                    <a:p>
                      <a:pPr algn="l"/>
                      <a:r>
                        <a:rPr lang="zh-CN" altLang="en-US" sz="1400" dirty="0"/>
                        <a:t>操作符</a:t>
                      </a:r>
                    </a:p>
                  </a:txBody>
                  <a:tcPr anchor="ctr"/>
                </a:tc>
                <a:tc>
                  <a:txBody>
                    <a:bodyPr/>
                    <a:lstStyle/>
                    <a:p>
                      <a:pPr algn="l"/>
                      <a:r>
                        <a:rPr lang="zh-CN" altLang="en-US" sz="1400" dirty="0"/>
                        <a:t>描述</a:t>
                      </a:r>
                    </a:p>
                  </a:txBody>
                  <a:tcPr anchor="ctr"/>
                </a:tc>
                <a:tc>
                  <a:txBody>
                    <a:bodyPr/>
                    <a:lstStyle/>
                    <a:p>
                      <a:pPr algn="l"/>
                      <a:r>
                        <a:rPr lang="zh-CN" altLang="en-US" sz="1400" dirty="0"/>
                        <a:t>实例</a:t>
                      </a:r>
                    </a:p>
                  </a:txBody>
                  <a:tcPr anchor="ctr"/>
                </a:tc>
                <a:tc>
                  <a:txBody>
                    <a:bodyPr/>
                    <a:lstStyle/>
                    <a:p>
                      <a:pPr algn="l"/>
                      <a:r>
                        <a:rPr lang="zh-CN" altLang="en-US" sz="1400" dirty="0"/>
                        <a:t>结果</a:t>
                      </a:r>
                    </a:p>
                  </a:txBody>
                  <a:tcPr anchor="ctr"/>
                </a:tc>
                <a:extLst>
                  <a:ext uri="{0D108BD9-81ED-4DB2-BD59-A6C34878D82A}">
                    <a16:rowId xmlns:a16="http://schemas.microsoft.com/office/drawing/2014/main" val="10000"/>
                  </a:ext>
                </a:extLst>
              </a:tr>
              <a:tr h="252000">
                <a:tc>
                  <a:txBody>
                    <a:bodyPr/>
                    <a:lstStyle/>
                    <a:p>
                      <a:pPr algn="l"/>
                      <a:r>
                        <a:rPr lang="en-US" altLang="zh-CN" sz="1600" dirty="0"/>
                        <a:t>s1+s2</a:t>
                      </a:r>
                      <a:endParaRPr lang="zh-CN" altLang="en-US" sz="1600" dirty="0"/>
                    </a:p>
                  </a:txBody>
                  <a:tcPr anchor="ctr"/>
                </a:tc>
                <a:tc>
                  <a:txBody>
                    <a:bodyPr/>
                    <a:lstStyle/>
                    <a:p>
                      <a:pPr algn="l"/>
                      <a:r>
                        <a:rPr lang="zh-CN" altLang="en-US" sz="1600" dirty="0"/>
                        <a:t>连接字符串</a:t>
                      </a:r>
                      <a:r>
                        <a:rPr lang="en-US" altLang="zh-CN" sz="1600" dirty="0"/>
                        <a:t>s1</a:t>
                      </a:r>
                      <a:r>
                        <a:rPr lang="zh-CN" altLang="en-US" sz="1600" dirty="0"/>
                        <a:t>与</a:t>
                      </a:r>
                      <a:r>
                        <a:rPr lang="en-US" altLang="zh-CN" sz="1600" dirty="0"/>
                        <a:t>s2</a:t>
                      </a:r>
                      <a:endParaRPr lang="zh-CN" altLang="en-US" sz="1600" dirty="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st1+st2</a:t>
                      </a:r>
                      <a:endParaRPr lang="zh-CN" altLang="en-US" sz="1600" dirty="0"/>
                    </a:p>
                  </a:txBody>
                  <a:tcPr anchor="ctr"/>
                </a:tc>
                <a:tc>
                  <a:txBody>
                    <a:bodyPr/>
                    <a:lstStyle/>
                    <a:p>
                      <a:pPr algn="l"/>
                      <a:r>
                        <a:rPr lang="en-US" altLang="zh-CN" sz="1600" dirty="0"/>
                        <a:t>'123abcde'</a:t>
                      </a:r>
                      <a:endParaRPr lang="zh-CN" altLang="en-US" sz="1600" dirty="0"/>
                    </a:p>
                  </a:txBody>
                  <a:tcPr anchor="ctr"/>
                </a:tc>
                <a:extLst>
                  <a:ext uri="{0D108BD9-81ED-4DB2-BD59-A6C34878D82A}">
                    <a16:rowId xmlns:a16="http://schemas.microsoft.com/office/drawing/2014/main" val="10001"/>
                  </a:ext>
                </a:extLst>
              </a:tr>
              <a:tr h="252000">
                <a:tc>
                  <a:txBody>
                    <a:bodyPr/>
                    <a:lstStyle/>
                    <a:p>
                      <a:pPr algn="l"/>
                      <a:r>
                        <a:rPr lang="en-US" altLang="zh-CN" sz="1600" dirty="0"/>
                        <a:t>n*s  </a:t>
                      </a:r>
                      <a:r>
                        <a:rPr lang="zh-CN" altLang="en-US" sz="1600" dirty="0"/>
                        <a:t>或  </a:t>
                      </a:r>
                      <a:r>
                        <a:rPr lang="en-US" altLang="zh-CN" sz="1600" dirty="0"/>
                        <a:t>s*n</a:t>
                      </a:r>
                      <a:endParaRPr lang="zh-CN" altLang="en-US" sz="1600" dirty="0"/>
                    </a:p>
                  </a:txBody>
                  <a:tcPr anchor="ctr"/>
                </a:tc>
                <a:tc>
                  <a:txBody>
                    <a:bodyPr/>
                    <a:lstStyle/>
                    <a:p>
                      <a:pPr algn="l"/>
                      <a:r>
                        <a:rPr lang="zh-CN" altLang="en-US" sz="1600" dirty="0"/>
                        <a:t>将</a:t>
                      </a:r>
                      <a:r>
                        <a:rPr lang="en-US" altLang="zh-CN" sz="1600" dirty="0"/>
                        <a:t>s</a:t>
                      </a:r>
                      <a:r>
                        <a:rPr lang="zh-CN" altLang="en-US" sz="1600" dirty="0"/>
                        <a:t>复制</a:t>
                      </a:r>
                      <a:r>
                        <a:rPr lang="en-US" altLang="zh-CN" sz="1600" dirty="0"/>
                        <a:t>n</a:t>
                      </a:r>
                      <a:r>
                        <a:rPr lang="zh-CN" altLang="en-US" sz="1600" dirty="0"/>
                        <a:t>次</a:t>
                      </a:r>
                    </a:p>
                  </a:txBody>
                  <a:tcPr anchor="ctr"/>
                </a:tc>
                <a:tc>
                  <a:txBody>
                    <a:bodyPr/>
                    <a:lstStyle/>
                    <a:p>
                      <a:pPr algn="l"/>
                      <a:r>
                        <a:rPr lang="en-US" altLang="zh-CN" sz="1600" dirty="0"/>
                        <a:t>3</a:t>
                      </a:r>
                      <a:r>
                        <a:rPr lang="zh-CN" altLang="en-US" sz="1600" dirty="0"/>
                        <a:t>*</a:t>
                      </a:r>
                      <a:r>
                        <a:rPr lang="en-US" altLang="zh-CN" sz="1600" dirty="0"/>
                        <a:t>st1</a:t>
                      </a:r>
                      <a:endParaRPr lang="zh-CN" altLang="en-US" sz="1600" dirty="0"/>
                    </a:p>
                  </a:txBody>
                  <a:tcPr anchor="ctr"/>
                </a:tc>
                <a:tc>
                  <a:txBody>
                    <a:bodyPr/>
                    <a:lstStyle/>
                    <a:p>
                      <a:pPr algn="l"/>
                      <a:r>
                        <a:rPr lang="en-US" altLang="zh-CN" sz="1600" dirty="0"/>
                        <a:t>'123123123'</a:t>
                      </a:r>
                      <a:endParaRPr lang="zh-CN" altLang="en-US" sz="1600" dirty="0"/>
                    </a:p>
                  </a:txBody>
                  <a:tcPr anchor="ctr"/>
                </a:tc>
                <a:extLst>
                  <a:ext uri="{0D108BD9-81ED-4DB2-BD59-A6C34878D82A}">
                    <a16:rowId xmlns:a16="http://schemas.microsoft.com/office/drawing/2014/main" val="10002"/>
                  </a:ext>
                </a:extLst>
              </a:tr>
              <a:tr h="252000">
                <a:tc>
                  <a:txBody>
                    <a:bodyPr/>
                    <a:lstStyle/>
                    <a:p>
                      <a:pPr algn="l"/>
                      <a:r>
                        <a:rPr lang="en-US" altLang="zh-CN" sz="1600" dirty="0"/>
                        <a:t>s1  in  s2</a:t>
                      </a:r>
                    </a:p>
                    <a:p>
                      <a:pPr algn="l"/>
                      <a:r>
                        <a:rPr lang="en-US" altLang="zh-CN" sz="1600" dirty="0"/>
                        <a:t>s1  not</a:t>
                      </a:r>
                      <a:r>
                        <a:rPr lang="en-US" altLang="zh-CN" sz="1600" baseline="0" dirty="0"/>
                        <a:t>  in  s2</a:t>
                      </a:r>
                      <a:endParaRPr lang="zh-CN" altLang="en-US" sz="1600" dirty="0"/>
                    </a:p>
                  </a:txBody>
                  <a:tcPr anchor="ctr"/>
                </a:tc>
                <a:tc>
                  <a:txBody>
                    <a:bodyPr/>
                    <a:lstStyle/>
                    <a:p>
                      <a:pPr algn="l"/>
                      <a:r>
                        <a:rPr lang="en-US" altLang="zh-CN" sz="1600" dirty="0"/>
                        <a:t>s2</a:t>
                      </a:r>
                      <a:r>
                        <a:rPr lang="zh-CN" altLang="en-US" sz="1600" dirty="0"/>
                        <a:t>是否包含</a:t>
                      </a:r>
                      <a:r>
                        <a:rPr lang="en-US" altLang="zh-CN" sz="1600" dirty="0"/>
                        <a:t>s1</a:t>
                      </a:r>
                      <a:endParaRPr lang="zh-CN" altLang="en-US" sz="1600" dirty="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st1   in  st2</a:t>
                      </a:r>
                      <a:endParaRPr lang="zh-CN" altLang="en-US" sz="1600" dirty="0"/>
                    </a:p>
                  </a:txBody>
                  <a:tcPr anchor="ctr"/>
                </a:tc>
                <a:tc>
                  <a:txBody>
                    <a:bodyPr/>
                    <a:lstStyle/>
                    <a:p>
                      <a:pPr algn="l"/>
                      <a:r>
                        <a:rPr lang="en-US" altLang="zh-CN" sz="1600" dirty="0"/>
                        <a:t>False</a:t>
                      </a:r>
                      <a:endParaRPr lang="zh-CN" altLang="en-US" sz="1600" dirty="0"/>
                    </a:p>
                  </a:txBody>
                  <a:tcPr anchor="ctr"/>
                </a:tc>
                <a:extLst>
                  <a:ext uri="{0D108BD9-81ED-4DB2-BD59-A6C34878D82A}">
                    <a16:rowId xmlns:a16="http://schemas.microsoft.com/office/drawing/2014/main" val="10003"/>
                  </a:ext>
                </a:extLst>
              </a:tr>
              <a:tr h="252000">
                <a:tc>
                  <a:txBody>
                    <a:bodyPr/>
                    <a:lstStyle/>
                    <a:p>
                      <a:pPr algn="l"/>
                      <a:r>
                        <a:rPr lang="en-US" altLang="zh-CN" sz="1600" dirty="0"/>
                        <a:t>s[</a:t>
                      </a:r>
                      <a:r>
                        <a:rPr lang="en-US" altLang="zh-CN" sz="1600" dirty="0" err="1"/>
                        <a:t>i</a:t>
                      </a:r>
                      <a:r>
                        <a:rPr lang="en-US" altLang="zh-CN" sz="1600" dirty="0"/>
                        <a:t>]</a:t>
                      </a:r>
                      <a:endParaRPr lang="zh-CN" altLang="en-US" sz="1600" dirty="0"/>
                    </a:p>
                  </a:txBody>
                  <a:tcPr anchor="ctr"/>
                </a:tc>
                <a:tc>
                  <a:txBody>
                    <a:bodyPr/>
                    <a:lstStyle/>
                    <a:p>
                      <a:pPr algn="l"/>
                      <a:r>
                        <a:rPr lang="zh-CN" altLang="en-US" sz="1600" dirty="0"/>
                        <a:t>索引操作</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st1[2]</a:t>
                      </a:r>
                    </a:p>
                  </a:txBody>
                  <a:tcPr anchor="ctr"/>
                </a:tc>
                <a:tc>
                  <a:txBody>
                    <a:bodyPr/>
                    <a:lstStyle/>
                    <a:p>
                      <a:pPr algn="l"/>
                      <a:r>
                        <a:rPr lang="en-US" altLang="zh-CN" sz="1600" dirty="0"/>
                        <a:t>'3'</a:t>
                      </a:r>
                      <a:endParaRPr lang="zh-CN" altLang="en-US" sz="1600" dirty="0"/>
                    </a:p>
                  </a:txBody>
                  <a:tcPr anchor="ctr"/>
                </a:tc>
                <a:extLst>
                  <a:ext uri="{0D108BD9-81ED-4DB2-BD59-A6C34878D82A}">
                    <a16:rowId xmlns:a16="http://schemas.microsoft.com/office/drawing/2014/main" val="10004"/>
                  </a:ext>
                </a:extLst>
              </a:tr>
              <a:tr h="252000">
                <a:tc>
                  <a:txBody>
                    <a:bodyPr/>
                    <a:lstStyle/>
                    <a:p>
                      <a:pPr algn="l"/>
                      <a:r>
                        <a:rPr lang="en-US" altLang="zh-CN" sz="1600" dirty="0"/>
                        <a:t>s[</a:t>
                      </a:r>
                      <a:r>
                        <a:rPr lang="en-US" altLang="zh-CN" sz="1600" dirty="0" err="1"/>
                        <a:t>n:m</a:t>
                      </a:r>
                      <a:r>
                        <a:rPr lang="en-US" altLang="zh-CN" sz="1600" dirty="0"/>
                        <a:t>]</a:t>
                      </a:r>
                      <a:endParaRPr lang="zh-CN" altLang="en-US" sz="1600" dirty="0"/>
                    </a:p>
                  </a:txBody>
                  <a:tcPr anchor="ctr"/>
                </a:tc>
                <a:tc>
                  <a:txBody>
                    <a:bodyPr/>
                    <a:lstStyle/>
                    <a:p>
                      <a:pPr algn="l"/>
                      <a:r>
                        <a:rPr lang="zh-CN" altLang="en-US" sz="1600" dirty="0"/>
                        <a:t>字符串切片</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dirty="0"/>
                        <a:t>st2[1:-1]</a:t>
                      </a:r>
                    </a:p>
                  </a:txBody>
                  <a:tcPr anchor="ctr"/>
                </a:tc>
                <a:tc>
                  <a:txBody>
                    <a:bodyPr/>
                    <a:lstStyle/>
                    <a:p>
                      <a:pPr algn="l"/>
                      <a:r>
                        <a:rPr lang="en-US" altLang="zh-CN" sz="1600" dirty="0"/>
                        <a:t>'</a:t>
                      </a:r>
                      <a:r>
                        <a:rPr lang="en-US" altLang="zh-CN" sz="1600" dirty="0" err="1"/>
                        <a:t>bcd</a:t>
                      </a:r>
                      <a:r>
                        <a:rPr lang="en-US" altLang="zh-CN" sz="1600" dirty="0"/>
                        <a:t>'</a:t>
                      </a:r>
                      <a:endParaRPr lang="zh-CN" altLang="en-US" sz="1600" dirty="0"/>
                    </a:p>
                  </a:txBody>
                  <a:tcPr anchor="ctr"/>
                </a:tc>
                <a:extLst>
                  <a:ext uri="{0D108BD9-81ED-4DB2-BD59-A6C34878D82A}">
                    <a16:rowId xmlns:a16="http://schemas.microsoft.com/office/drawing/2014/main" val="3495378896"/>
                  </a:ext>
                </a:extLst>
              </a:tr>
            </a:tbl>
          </a:graphicData>
        </a:graphic>
      </p:graphicFrame>
      <p:sp>
        <p:nvSpPr>
          <p:cNvPr id="2" name="文本框 1"/>
          <p:cNvSpPr txBox="1"/>
          <p:nvPr/>
        </p:nvSpPr>
        <p:spPr>
          <a:xfrm>
            <a:off x="1043608" y="1203598"/>
            <a:ext cx="3816424" cy="923330"/>
          </a:xfrm>
          <a:prstGeom prst="rect">
            <a:avLst/>
          </a:prstGeom>
          <a:noFill/>
        </p:spPr>
        <p:txBody>
          <a:bodyPr wrap="square" lIns="0" tIns="0" rIns="0" bIns="0" rtlCol="0">
            <a:spAutoFit/>
          </a:bodyPr>
          <a:lstStyle/>
          <a:p>
            <a:r>
              <a:rPr lang="zh-CN" altLang="en-US" sz="2000" dirty="0"/>
              <a:t>假设</a:t>
            </a:r>
            <a:r>
              <a:rPr lang="en-US" altLang="zh-CN" sz="2000" dirty="0"/>
              <a:t>:</a:t>
            </a:r>
          </a:p>
          <a:p>
            <a:r>
              <a:rPr lang="en-US" altLang="zh-CN" sz="2000" dirty="0"/>
              <a:t>st1='123'</a:t>
            </a:r>
          </a:p>
          <a:p>
            <a:r>
              <a:rPr lang="en-US" altLang="zh-CN" sz="2000" dirty="0"/>
              <a:t>st2='</a:t>
            </a:r>
            <a:r>
              <a:rPr lang="en-US" altLang="zh-CN" sz="2000" dirty="0" err="1"/>
              <a:t>abcde</a:t>
            </a:r>
            <a:r>
              <a:rPr lang="en-US" altLang="zh-CN" sz="2000" dirty="0"/>
              <a:t>'</a:t>
            </a:r>
            <a:endParaRPr lang="zh-CN" altLang="en-US" sz="2000" dirty="0"/>
          </a:p>
        </p:txBody>
      </p:sp>
    </p:spTree>
    <p:extLst>
      <p:ext uri="{BB962C8B-B14F-4D97-AF65-F5344CB8AC3E}">
        <p14:creationId xmlns:p14="http://schemas.microsoft.com/office/powerpoint/2010/main" val="3218318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Box 1"/>
          <p:cNvSpPr txBox="1">
            <a:spLocks noChangeArrowheads="1"/>
          </p:cNvSpPr>
          <p:nvPr/>
        </p:nvSpPr>
        <p:spPr bwMode="auto">
          <a:xfrm>
            <a:off x="205069" y="339502"/>
            <a:ext cx="8785225"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lnSpc>
                <a:spcPct val="100000"/>
              </a:lnSpc>
              <a:spcBef>
                <a:spcPts val="600"/>
              </a:spcBef>
            </a:pPr>
            <a:r>
              <a:rPr lang="en-US" altLang="zh-CN" sz="2000" dirty="0">
                <a:solidFill>
                  <a:srgbClr val="0070C0"/>
                </a:solidFill>
                <a:latin typeface="微软雅黑" pitchFamily="34" charset="-122"/>
                <a:ea typeface="微软雅黑" pitchFamily="34" charset="-122"/>
              </a:rPr>
              <a:t>  </a:t>
            </a:r>
            <a:r>
              <a:rPr lang="zh-CN" altLang="zh-CN" dirty="0">
                <a:solidFill>
                  <a:srgbClr val="0070C0"/>
                </a:solidFill>
                <a:latin typeface="微软雅黑" pitchFamily="34" charset="-122"/>
                <a:ea typeface="微软雅黑" pitchFamily="34" charset="-122"/>
              </a:rPr>
              <a:t>字符串</a:t>
            </a:r>
            <a:r>
              <a:rPr lang="zh-CN" altLang="en-US" dirty="0">
                <a:solidFill>
                  <a:srgbClr val="0070C0"/>
                </a:solidFill>
                <a:latin typeface="微软雅黑" pitchFamily="34" charset="-122"/>
                <a:ea typeface="微软雅黑" pitchFamily="34" charset="-122"/>
              </a:rPr>
              <a:t>类的方法</a:t>
            </a:r>
            <a:endParaRPr lang="en-US" altLang="zh-CN" dirty="0">
              <a:solidFill>
                <a:srgbClr val="0070C0"/>
              </a:solidFill>
              <a:latin typeface="微软雅黑" pitchFamily="34" charset="-122"/>
              <a:ea typeface="微软雅黑" pitchFamily="34" charset="-122"/>
            </a:endParaRPr>
          </a:p>
          <a:p>
            <a:pPr eaLnBrk="1" hangingPunct="1">
              <a:lnSpc>
                <a:spcPct val="100000"/>
              </a:lnSpc>
              <a:spcBef>
                <a:spcPts val="600"/>
              </a:spcBef>
            </a:pPr>
            <a:r>
              <a:rPr lang="en-US" altLang="zh-CN" sz="2000" dirty="0">
                <a:latin typeface="微软雅黑" pitchFamily="34" charset="-122"/>
                <a:ea typeface="微软雅黑" pitchFamily="34" charset="-122"/>
              </a:rPr>
              <a:t>      </a:t>
            </a:r>
            <a:r>
              <a:rPr lang="zh-CN" altLang="en-US" sz="2000" b="0" dirty="0">
                <a:solidFill>
                  <a:schemeClr val="tx1"/>
                </a:solidFill>
                <a:latin typeface="微软雅黑" pitchFamily="34" charset="-122"/>
                <a:ea typeface="微软雅黑" pitchFamily="34" charset="-122"/>
              </a:rPr>
              <a:t>方法引用形式：</a:t>
            </a:r>
            <a:r>
              <a:rPr lang="zh-CN" altLang="en-US" sz="2000" dirty="0">
                <a:solidFill>
                  <a:srgbClr val="00B050"/>
                </a:solidFill>
                <a:latin typeface="微软雅黑" pitchFamily="34" charset="-122"/>
                <a:ea typeface="微软雅黑" pitchFamily="34" charset="-122"/>
              </a:rPr>
              <a:t>字符串对象</a:t>
            </a:r>
            <a:r>
              <a:rPr lang="en-US" altLang="zh-CN" sz="2000" dirty="0">
                <a:solidFill>
                  <a:srgbClr val="00B050"/>
                </a:solidFill>
                <a:latin typeface="微软雅黑" pitchFamily="34" charset="-122"/>
                <a:ea typeface="微软雅黑" pitchFamily="34" charset="-122"/>
              </a:rPr>
              <a:t>.</a:t>
            </a:r>
            <a:r>
              <a:rPr lang="zh-CN" altLang="en-US" sz="2000" dirty="0">
                <a:solidFill>
                  <a:srgbClr val="00B050"/>
                </a:solidFill>
                <a:latin typeface="微软雅黑" pitchFamily="34" charset="-122"/>
                <a:ea typeface="微软雅黑" pitchFamily="34" charset="-122"/>
              </a:rPr>
              <a:t>方法（参数序列）</a:t>
            </a:r>
            <a:r>
              <a:rPr lang="en-US" altLang="zh-CN" sz="2000" dirty="0">
                <a:solidFill>
                  <a:srgbClr val="00B050"/>
                </a:solidFill>
                <a:latin typeface="微软雅黑" pitchFamily="34" charset="-122"/>
                <a:ea typeface="微软雅黑" pitchFamily="34" charset="-122"/>
              </a:rPr>
              <a:t>       </a:t>
            </a:r>
            <a:endParaRPr lang="zh-CN" altLang="zh-CN" sz="2000" dirty="0">
              <a:solidFill>
                <a:srgbClr val="00B050"/>
              </a:solidFill>
              <a:latin typeface="微软雅黑" pitchFamily="34" charset="-122"/>
              <a:ea typeface="微软雅黑" pitchFamily="34" charset="-122"/>
            </a:endParaRPr>
          </a:p>
        </p:txBody>
      </p:sp>
      <p:sp>
        <p:nvSpPr>
          <p:cNvPr id="5" name="AutoShape 44"/>
          <p:cNvSpPr>
            <a:spLocks noChangeArrowheads="1"/>
          </p:cNvSpPr>
          <p:nvPr/>
        </p:nvSpPr>
        <p:spPr bwMode="gray">
          <a:xfrm>
            <a:off x="323528" y="1307761"/>
            <a:ext cx="8352928" cy="612775"/>
          </a:xfrm>
          <a:prstGeom prst="roundRect">
            <a:avLst>
              <a:gd name="adj" fmla="val 8014"/>
            </a:avLst>
          </a:prstGeom>
          <a:solidFill>
            <a:srgbClr val="FFFFCC"/>
          </a:solidFill>
          <a:ln w="9525">
            <a:solidFill>
              <a:srgbClr val="808000"/>
            </a:solidFill>
            <a:round/>
            <a:headEnd/>
            <a:tailEnd/>
          </a:ln>
        </p:spPr>
        <p:txBody>
          <a:bodyPr wrap="none" anchor="ctr"/>
          <a:lstStyle/>
          <a:p>
            <a:r>
              <a:rPr lang="zh-CN" altLang="en-US" sz="1800" dirty="0">
                <a:latin typeface="微软雅黑" pitchFamily="34" charset="-122"/>
                <a:ea typeface="微软雅黑" pitchFamily="34" charset="-122"/>
              </a:rPr>
              <a:t>注意：</a:t>
            </a:r>
            <a:r>
              <a:rPr lang="zh-CN" altLang="zh-CN" sz="1800" b="0" dirty="0">
                <a:latin typeface="微软雅黑" pitchFamily="34" charset="-122"/>
                <a:ea typeface="微软雅黑" pitchFamily="34" charset="-122"/>
              </a:rPr>
              <a:t>方法作用于对象，方法引用结果获得一个处理结果，但不改变引用对象。</a:t>
            </a:r>
          </a:p>
        </p:txBody>
      </p:sp>
      <p:sp>
        <p:nvSpPr>
          <p:cNvPr id="6" name="矩形 4"/>
          <p:cNvSpPr>
            <a:spLocks noChangeArrowheads="1"/>
          </p:cNvSpPr>
          <p:nvPr/>
        </p:nvSpPr>
        <p:spPr bwMode="auto">
          <a:xfrm>
            <a:off x="323528" y="3219822"/>
            <a:ext cx="5796381"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800" dirty="0">
                <a:latin typeface="微软雅黑" pitchFamily="34" charset="-122"/>
                <a:ea typeface="微软雅黑" pitchFamily="34" charset="-122"/>
              </a:rPr>
              <a:t>说明：</a:t>
            </a:r>
            <a:r>
              <a:rPr lang="zh-CN" altLang="zh-CN" sz="1800" b="0" dirty="0">
                <a:latin typeface="微软雅黑" pitchFamily="34" charset="-122"/>
                <a:ea typeface="微软雅黑" pitchFamily="34" charset="-122"/>
                <a:cs typeface="Courier New" pitchFamily="49" charset="0"/>
              </a:rPr>
              <a:t>系统提供了很多方法，在编辑环境中，在字符串变量的后面输入</a:t>
            </a:r>
            <a:r>
              <a:rPr lang="en-US" altLang="zh-CN" sz="1800" b="1" dirty="0">
                <a:solidFill>
                  <a:srgbClr val="FF0000"/>
                </a:solidFill>
                <a:latin typeface="微软雅黑" pitchFamily="34" charset="-122"/>
                <a:ea typeface="微软雅黑" pitchFamily="34" charset="-122"/>
                <a:cs typeface="Courier New" pitchFamily="49" charset="0"/>
              </a:rPr>
              <a:t>“.”</a:t>
            </a:r>
            <a:r>
              <a:rPr lang="zh-CN" altLang="zh-CN" sz="1800" b="0" dirty="0">
                <a:latin typeface="微软雅黑" pitchFamily="34" charset="-122"/>
                <a:ea typeface="微软雅黑" pitchFamily="34" charset="-122"/>
                <a:cs typeface="Courier New" pitchFamily="49" charset="0"/>
              </a:rPr>
              <a:t>后，稍等会自动弹出字符串对象的所有方法</a:t>
            </a:r>
            <a:r>
              <a:rPr lang="zh-CN" altLang="en-US" sz="1800" b="0" dirty="0">
                <a:latin typeface="微软雅黑" pitchFamily="34" charset="-122"/>
                <a:ea typeface="微软雅黑" pitchFamily="34" charset="-122"/>
                <a:cs typeface="Courier New" pitchFamily="49" charset="0"/>
              </a:rPr>
              <a:t>。</a:t>
            </a:r>
            <a:endParaRPr lang="en-US" altLang="zh-CN" sz="1800" b="0" dirty="0">
              <a:latin typeface="微软雅黑" pitchFamily="34" charset="-122"/>
              <a:ea typeface="微软雅黑" pitchFamily="34" charset="-122"/>
              <a:cs typeface="Courier New" pitchFamily="49" charset="0"/>
            </a:endParaRPr>
          </a:p>
        </p:txBody>
      </p:sp>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6191917" y="2042409"/>
            <a:ext cx="2484539" cy="2726894"/>
          </a:xfrm>
          <a:prstGeom prst="rect">
            <a:avLst/>
          </a:prstGeom>
          <a:noFill/>
          <a:ln>
            <a:noFill/>
          </a:ln>
        </p:spPr>
      </p:pic>
    </p:spTree>
    <p:extLst>
      <p:ext uri="{BB962C8B-B14F-4D97-AF65-F5344CB8AC3E}">
        <p14:creationId xmlns:p14="http://schemas.microsoft.com/office/powerpoint/2010/main" val="3486015672"/>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389445" y="195486"/>
            <a:ext cx="7416824" cy="41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lnSpc>
                <a:spcPct val="95000"/>
              </a:lnSpc>
              <a:spcBef>
                <a:spcPct val="0"/>
              </a:spcBef>
              <a:spcAft>
                <a:spcPct val="0"/>
              </a:spcAft>
              <a:defRPr sz="3200" b="1">
                <a:solidFill>
                  <a:srgbClr val="C00000"/>
                </a:solidFill>
                <a:latin typeface="微软雅黑" panose="020B0503020204020204" pitchFamily="34" charset="-122"/>
                <a:ea typeface="微软雅黑" panose="020B0503020204020204" pitchFamily="34" charset="-122"/>
                <a:cs typeface="+mj-cs"/>
              </a:defRPr>
            </a:lvl1pPr>
            <a:lvl2pPr algn="l" rtl="0" eaLnBrk="0" fontAlgn="base" hangingPunct="0">
              <a:lnSpc>
                <a:spcPct val="95000"/>
              </a:lnSpc>
              <a:spcBef>
                <a:spcPct val="0"/>
              </a:spcBef>
              <a:spcAft>
                <a:spcPct val="0"/>
              </a:spcAft>
              <a:defRPr sz="3600" b="1">
                <a:solidFill>
                  <a:schemeClr val="accent1"/>
                </a:solidFill>
                <a:latin typeface="Arial" pitchFamily="34" charset="0"/>
              </a:defRPr>
            </a:lvl2pPr>
            <a:lvl3pPr algn="l" rtl="0" eaLnBrk="0" fontAlgn="base" hangingPunct="0">
              <a:lnSpc>
                <a:spcPct val="95000"/>
              </a:lnSpc>
              <a:spcBef>
                <a:spcPct val="0"/>
              </a:spcBef>
              <a:spcAft>
                <a:spcPct val="0"/>
              </a:spcAft>
              <a:defRPr sz="3600" b="1">
                <a:solidFill>
                  <a:schemeClr val="accent1"/>
                </a:solidFill>
                <a:latin typeface="Arial" pitchFamily="34" charset="0"/>
              </a:defRPr>
            </a:lvl3pPr>
            <a:lvl4pPr algn="l" rtl="0" eaLnBrk="0" fontAlgn="base" hangingPunct="0">
              <a:lnSpc>
                <a:spcPct val="95000"/>
              </a:lnSpc>
              <a:spcBef>
                <a:spcPct val="0"/>
              </a:spcBef>
              <a:spcAft>
                <a:spcPct val="0"/>
              </a:spcAft>
              <a:defRPr sz="3600" b="1">
                <a:solidFill>
                  <a:schemeClr val="accent1"/>
                </a:solidFill>
                <a:latin typeface="Arial" pitchFamily="34" charset="0"/>
              </a:defRPr>
            </a:lvl4pPr>
            <a:lvl5pPr algn="l" rtl="0" eaLnBrk="0" fontAlgn="base" hangingPunct="0">
              <a:lnSpc>
                <a:spcPct val="95000"/>
              </a:lnSpc>
              <a:spcBef>
                <a:spcPct val="0"/>
              </a:spcBef>
              <a:spcAft>
                <a:spcPct val="0"/>
              </a:spcAft>
              <a:defRPr sz="3600" b="1">
                <a:solidFill>
                  <a:schemeClr val="accent1"/>
                </a:solidFill>
                <a:latin typeface="Arial" pitchFamily="34" charset="0"/>
              </a:defRPr>
            </a:lvl5pPr>
            <a:lvl6pPr marL="457200" algn="l" rtl="0" eaLnBrk="1" fontAlgn="base" hangingPunct="1">
              <a:lnSpc>
                <a:spcPct val="95000"/>
              </a:lnSpc>
              <a:spcBef>
                <a:spcPct val="0"/>
              </a:spcBef>
              <a:spcAft>
                <a:spcPct val="0"/>
              </a:spcAft>
              <a:defRPr sz="3200" b="1">
                <a:solidFill>
                  <a:schemeClr val="accent1"/>
                </a:solidFill>
                <a:latin typeface="Arial" pitchFamily="34" charset="0"/>
              </a:defRPr>
            </a:lvl6pPr>
            <a:lvl7pPr marL="914400" algn="l" rtl="0" eaLnBrk="1" fontAlgn="base" hangingPunct="1">
              <a:lnSpc>
                <a:spcPct val="95000"/>
              </a:lnSpc>
              <a:spcBef>
                <a:spcPct val="0"/>
              </a:spcBef>
              <a:spcAft>
                <a:spcPct val="0"/>
              </a:spcAft>
              <a:defRPr sz="3200" b="1">
                <a:solidFill>
                  <a:schemeClr val="accent1"/>
                </a:solidFill>
                <a:latin typeface="Arial" pitchFamily="34" charset="0"/>
              </a:defRPr>
            </a:lvl7pPr>
            <a:lvl8pPr marL="1371600" algn="l" rtl="0" eaLnBrk="1" fontAlgn="base" hangingPunct="1">
              <a:lnSpc>
                <a:spcPct val="95000"/>
              </a:lnSpc>
              <a:spcBef>
                <a:spcPct val="0"/>
              </a:spcBef>
              <a:spcAft>
                <a:spcPct val="0"/>
              </a:spcAft>
              <a:defRPr sz="3200" b="1">
                <a:solidFill>
                  <a:schemeClr val="accent1"/>
                </a:solidFill>
                <a:latin typeface="Arial" pitchFamily="34" charset="0"/>
              </a:defRPr>
            </a:lvl8pPr>
            <a:lvl9pPr marL="1828800" algn="l" rtl="0" eaLnBrk="1" fontAlgn="base" hangingPunct="1">
              <a:lnSpc>
                <a:spcPct val="95000"/>
              </a:lnSpc>
              <a:spcBef>
                <a:spcPct val="0"/>
              </a:spcBef>
              <a:spcAft>
                <a:spcPct val="0"/>
              </a:spcAft>
              <a:defRPr sz="3200" b="1">
                <a:solidFill>
                  <a:schemeClr val="accent1"/>
                </a:solidFill>
                <a:latin typeface="Arial" pitchFamily="34" charset="0"/>
              </a:defRPr>
            </a:lvl9pPr>
          </a:lstStyle>
          <a:p>
            <a:r>
              <a:rPr lang="zh-CN" altLang="en-US" sz="2400" dirty="0">
                <a:solidFill>
                  <a:srgbClr val="0070C0"/>
                </a:solidFill>
                <a:latin typeface="黑体" panose="02010609060101010101" pitchFamily="49" charset="-122"/>
                <a:ea typeface="黑体" panose="02010609060101010101" pitchFamily="49" charset="-122"/>
              </a:rPr>
              <a:t>内置字符串处理函数</a:t>
            </a:r>
          </a:p>
        </p:txBody>
      </p:sp>
      <p:graphicFrame>
        <p:nvGraphicFramePr>
          <p:cNvPr id="5" name="表格 4"/>
          <p:cNvGraphicFramePr>
            <a:graphicFrameLocks noGrp="1"/>
          </p:cNvGraphicFramePr>
          <p:nvPr>
            <p:extLst>
              <p:ext uri="{D42A27DB-BD31-4B8C-83A1-F6EECF244321}">
                <p14:modId xmlns:p14="http://schemas.microsoft.com/office/powerpoint/2010/main" val="520096681"/>
              </p:ext>
            </p:extLst>
          </p:nvPr>
        </p:nvGraphicFramePr>
        <p:xfrm>
          <a:off x="389445" y="611634"/>
          <a:ext cx="8424935" cy="1219200"/>
        </p:xfrm>
        <a:graphic>
          <a:graphicData uri="http://schemas.openxmlformats.org/drawingml/2006/table">
            <a:tbl>
              <a:tblPr firstRow="1" bandRow="1">
                <a:tableStyleId>{7DF18680-E054-41AD-8BC1-D1AEF772440D}</a:tableStyleId>
              </a:tblPr>
              <a:tblGrid>
                <a:gridCol w="1872208">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2397108">
                  <a:extLst>
                    <a:ext uri="{9D8B030D-6E8A-4147-A177-3AD203B41FA5}">
                      <a16:colId xmlns:a16="http://schemas.microsoft.com/office/drawing/2014/main" val="20002"/>
                    </a:ext>
                  </a:extLst>
                </a:gridCol>
                <a:gridCol w="1995379">
                  <a:extLst>
                    <a:ext uri="{9D8B030D-6E8A-4147-A177-3AD203B41FA5}">
                      <a16:colId xmlns:a16="http://schemas.microsoft.com/office/drawing/2014/main" val="20003"/>
                    </a:ext>
                  </a:extLst>
                </a:gridCol>
              </a:tblGrid>
              <a:tr h="252000">
                <a:tc>
                  <a:txBody>
                    <a:bodyPr/>
                    <a:lstStyle/>
                    <a:p>
                      <a:pPr algn="ctr"/>
                      <a:r>
                        <a:rPr lang="zh-CN" altLang="en-US" sz="1400" dirty="0"/>
                        <a:t>函数</a:t>
                      </a:r>
                    </a:p>
                  </a:txBody>
                  <a:tcPr anchor="ctr"/>
                </a:tc>
                <a:tc>
                  <a:txBody>
                    <a:bodyPr/>
                    <a:lstStyle/>
                    <a:p>
                      <a:pPr algn="ctr"/>
                      <a:r>
                        <a:rPr lang="zh-CN" altLang="en-US" sz="1400" dirty="0"/>
                        <a:t>描述</a:t>
                      </a:r>
                    </a:p>
                  </a:txBody>
                  <a:tcPr anchor="ctr"/>
                </a:tc>
                <a:tc>
                  <a:txBody>
                    <a:bodyPr/>
                    <a:lstStyle/>
                    <a:p>
                      <a:pPr algn="ctr"/>
                      <a:r>
                        <a:rPr lang="zh-CN" altLang="en-US" sz="1400" dirty="0"/>
                        <a:t>实例</a:t>
                      </a:r>
                    </a:p>
                  </a:txBody>
                  <a:tcPr anchor="ctr"/>
                </a:tc>
                <a:tc>
                  <a:txBody>
                    <a:bodyPr/>
                    <a:lstStyle/>
                    <a:p>
                      <a:pPr algn="ctr"/>
                      <a:r>
                        <a:rPr lang="zh-CN" altLang="en-US" sz="1400" dirty="0"/>
                        <a:t>结果</a:t>
                      </a:r>
                    </a:p>
                  </a:txBody>
                  <a:tcPr anchor="ctr"/>
                </a:tc>
                <a:extLst>
                  <a:ext uri="{0D108BD9-81ED-4DB2-BD59-A6C34878D82A}">
                    <a16:rowId xmlns:a16="http://schemas.microsoft.com/office/drawing/2014/main" val="10000"/>
                  </a:ext>
                </a:extLst>
              </a:tr>
              <a:tr h="252000">
                <a:tc>
                  <a:txBody>
                    <a:bodyPr/>
                    <a:lstStyle/>
                    <a:p>
                      <a:pPr algn="ctr"/>
                      <a:r>
                        <a:rPr lang="en-US" altLang="zh-CN" sz="1400" b="1" dirty="0" err="1">
                          <a:solidFill>
                            <a:srgbClr val="00B050"/>
                          </a:solidFill>
                        </a:rPr>
                        <a:t>len</a:t>
                      </a:r>
                      <a:r>
                        <a:rPr lang="en-US" altLang="zh-CN" sz="1400" b="1" dirty="0">
                          <a:solidFill>
                            <a:srgbClr val="00B050"/>
                          </a:solidFill>
                        </a:rPr>
                        <a:t>(s)</a:t>
                      </a:r>
                      <a:endParaRPr lang="zh-CN" altLang="en-US" sz="1400" b="1" dirty="0">
                        <a:solidFill>
                          <a:srgbClr val="00B050"/>
                        </a:solidFill>
                      </a:endParaRPr>
                    </a:p>
                  </a:txBody>
                  <a:tcPr anchor="ctr"/>
                </a:tc>
                <a:tc>
                  <a:txBody>
                    <a:bodyPr/>
                    <a:lstStyle/>
                    <a:p>
                      <a:pPr algn="ctr"/>
                      <a:r>
                        <a:rPr lang="zh-CN" altLang="en-US" sz="1400" dirty="0"/>
                        <a:t>返回字符串长度</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len</a:t>
                      </a:r>
                      <a:r>
                        <a:rPr lang="en-US" altLang="zh-CN" sz="1400" dirty="0"/>
                        <a:t>('123456')</a:t>
                      </a:r>
                      <a:endParaRPr lang="zh-CN" altLang="en-US" sz="1400" dirty="0"/>
                    </a:p>
                  </a:txBody>
                  <a:tcPr anchor="ctr"/>
                </a:tc>
                <a:tc>
                  <a:txBody>
                    <a:bodyPr/>
                    <a:lstStyle/>
                    <a:p>
                      <a:pPr algn="ctr"/>
                      <a:r>
                        <a:rPr lang="en-US" altLang="zh-CN" sz="1400" dirty="0"/>
                        <a:t>6</a:t>
                      </a:r>
                      <a:endParaRPr lang="zh-CN" altLang="en-US" sz="1400" dirty="0"/>
                    </a:p>
                  </a:txBody>
                  <a:tcPr anchor="ctr"/>
                </a:tc>
                <a:extLst>
                  <a:ext uri="{0D108BD9-81ED-4DB2-BD59-A6C34878D82A}">
                    <a16:rowId xmlns:a16="http://schemas.microsoft.com/office/drawing/2014/main" val="10001"/>
                  </a:ext>
                </a:extLst>
              </a:tr>
              <a:tr h="252000">
                <a:tc>
                  <a:txBody>
                    <a:bodyPr/>
                    <a:lstStyle/>
                    <a:p>
                      <a:pPr algn="ctr"/>
                      <a:r>
                        <a:rPr lang="en-US" altLang="zh-CN" sz="1400" b="1" dirty="0" err="1">
                          <a:solidFill>
                            <a:srgbClr val="00B050"/>
                          </a:solidFill>
                        </a:rPr>
                        <a:t>chr</a:t>
                      </a:r>
                      <a:r>
                        <a:rPr lang="en-US" altLang="zh-CN" sz="1400" b="1" dirty="0">
                          <a:solidFill>
                            <a:srgbClr val="00B050"/>
                          </a:solidFill>
                        </a:rPr>
                        <a:t>(n)</a:t>
                      </a:r>
                      <a:endParaRPr lang="zh-CN" altLang="en-US" sz="1400" b="1" dirty="0">
                        <a:solidFill>
                          <a:srgbClr val="00B050"/>
                        </a:solidFill>
                      </a:endParaRPr>
                    </a:p>
                  </a:txBody>
                  <a:tcPr anchor="ctr"/>
                </a:tc>
                <a:tc>
                  <a:txBody>
                    <a:bodyPr/>
                    <a:lstStyle/>
                    <a:p>
                      <a:pPr algn="ctr"/>
                      <a:r>
                        <a:rPr lang="zh-CN" altLang="en-US" sz="1400" dirty="0"/>
                        <a:t>返回</a:t>
                      </a:r>
                      <a:r>
                        <a:rPr lang="en-US" altLang="zh-CN" sz="1400" dirty="0"/>
                        <a:t>n</a:t>
                      </a:r>
                      <a:r>
                        <a:rPr lang="zh-CN" altLang="en-US" sz="1400" dirty="0"/>
                        <a:t>对应</a:t>
                      </a:r>
                      <a:r>
                        <a:rPr lang="en-US" altLang="zh-CN" sz="1400" dirty="0"/>
                        <a:t>ASCII</a:t>
                      </a:r>
                      <a:r>
                        <a:rPr lang="zh-CN" altLang="en-US" sz="1400" dirty="0"/>
                        <a:t>码字符</a:t>
                      </a:r>
                    </a:p>
                  </a:txBody>
                  <a:tcPr anchor="ctr"/>
                </a:tc>
                <a:tc>
                  <a:txBody>
                    <a:bodyPr/>
                    <a:lstStyle/>
                    <a:p>
                      <a:pPr algn="ctr"/>
                      <a:r>
                        <a:rPr lang="en-US" altLang="zh-CN" sz="1400" dirty="0" err="1"/>
                        <a:t>chr</a:t>
                      </a:r>
                      <a:r>
                        <a:rPr lang="en-US" altLang="zh-CN" sz="1400" dirty="0"/>
                        <a:t>(65)</a:t>
                      </a:r>
                      <a:endParaRPr lang="zh-CN" altLang="en-US" sz="1400" dirty="0"/>
                    </a:p>
                  </a:txBody>
                  <a:tcPr anchor="ctr"/>
                </a:tc>
                <a:tc>
                  <a:txBody>
                    <a:bodyPr/>
                    <a:lstStyle/>
                    <a:p>
                      <a:pPr algn="ctr"/>
                      <a:r>
                        <a:rPr lang="en-US" altLang="zh-CN" sz="1400"/>
                        <a:t>'A'</a:t>
                      </a:r>
                      <a:endParaRPr lang="zh-CN" altLang="en-US" sz="1400" dirty="0"/>
                    </a:p>
                  </a:txBody>
                  <a:tcPr anchor="ctr"/>
                </a:tc>
                <a:extLst>
                  <a:ext uri="{0D108BD9-81ED-4DB2-BD59-A6C34878D82A}">
                    <a16:rowId xmlns:a16="http://schemas.microsoft.com/office/drawing/2014/main" val="10002"/>
                  </a:ext>
                </a:extLst>
              </a:tr>
              <a:tr h="252000">
                <a:tc>
                  <a:txBody>
                    <a:bodyPr/>
                    <a:lstStyle/>
                    <a:p>
                      <a:pPr algn="ctr"/>
                      <a:r>
                        <a:rPr lang="en-US" altLang="zh-CN" sz="1400" b="1" dirty="0" err="1">
                          <a:solidFill>
                            <a:srgbClr val="00B050"/>
                          </a:solidFill>
                        </a:rPr>
                        <a:t>ord</a:t>
                      </a:r>
                      <a:r>
                        <a:rPr lang="en-US" altLang="zh-CN" sz="1400" b="1" dirty="0">
                          <a:solidFill>
                            <a:srgbClr val="00B050"/>
                          </a:solidFill>
                        </a:rPr>
                        <a:t>(s)</a:t>
                      </a:r>
                      <a:endParaRPr lang="zh-CN" altLang="en-US" sz="1400" b="1" dirty="0">
                        <a:solidFill>
                          <a:srgbClr val="00B050"/>
                        </a:solidFill>
                      </a:endParaRPr>
                    </a:p>
                  </a:txBody>
                  <a:tcPr anchor="ctr"/>
                </a:tc>
                <a:tc>
                  <a:txBody>
                    <a:bodyPr/>
                    <a:lstStyle/>
                    <a:p>
                      <a:pPr algn="ctr"/>
                      <a:r>
                        <a:rPr lang="zh-CN" altLang="en-US" sz="1400" dirty="0"/>
                        <a:t>返回字符</a:t>
                      </a:r>
                      <a:r>
                        <a:rPr lang="en-US" altLang="zh-CN" sz="1400" dirty="0"/>
                        <a:t>s</a:t>
                      </a:r>
                      <a:r>
                        <a:rPr lang="zh-CN" altLang="en-US" sz="1400" dirty="0"/>
                        <a:t>的</a:t>
                      </a:r>
                      <a:r>
                        <a:rPr lang="en-US" altLang="zh-CN" sz="1400" dirty="0"/>
                        <a:t>ASCII</a:t>
                      </a:r>
                      <a:r>
                        <a:rPr lang="zh-CN" altLang="en-US" sz="1400" dirty="0"/>
                        <a:t>码值</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err="1"/>
                        <a:t>ord</a:t>
                      </a:r>
                      <a:r>
                        <a:rPr lang="en-US" altLang="zh-CN" sz="1400" dirty="0"/>
                        <a:t>('a')</a:t>
                      </a:r>
                      <a:endParaRPr lang="zh-CN" altLang="en-US" sz="1400" dirty="0"/>
                    </a:p>
                  </a:txBody>
                  <a:tcPr anchor="ctr"/>
                </a:tc>
                <a:tc>
                  <a:txBody>
                    <a:bodyPr/>
                    <a:lstStyle/>
                    <a:p>
                      <a:pPr algn="ctr"/>
                      <a:r>
                        <a:rPr lang="en-US" altLang="zh-CN" sz="1400" dirty="0"/>
                        <a:t>97</a:t>
                      </a:r>
                      <a:endParaRPr lang="zh-CN" altLang="en-US" sz="1400" dirty="0"/>
                    </a:p>
                  </a:txBody>
                  <a:tcPr anchor="ctr"/>
                </a:tc>
                <a:extLst>
                  <a:ext uri="{0D108BD9-81ED-4DB2-BD59-A6C34878D82A}">
                    <a16:rowId xmlns:a16="http://schemas.microsoft.com/office/drawing/2014/main" val="10003"/>
                  </a:ext>
                </a:extLst>
              </a:tr>
            </a:tbl>
          </a:graphicData>
        </a:graphic>
      </p:graphicFrame>
      <p:sp>
        <p:nvSpPr>
          <p:cNvPr id="6" name="标题 1"/>
          <p:cNvSpPr txBox="1">
            <a:spLocks/>
          </p:cNvSpPr>
          <p:nvPr/>
        </p:nvSpPr>
        <p:spPr bwMode="auto">
          <a:xfrm>
            <a:off x="389445" y="1950281"/>
            <a:ext cx="7416824" cy="41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lnSpc>
                <a:spcPct val="95000"/>
              </a:lnSpc>
              <a:spcBef>
                <a:spcPct val="0"/>
              </a:spcBef>
              <a:spcAft>
                <a:spcPct val="0"/>
              </a:spcAft>
              <a:defRPr sz="3200" b="1">
                <a:solidFill>
                  <a:srgbClr val="C00000"/>
                </a:solidFill>
                <a:latin typeface="微软雅黑" panose="020B0503020204020204" pitchFamily="34" charset="-122"/>
                <a:ea typeface="微软雅黑" panose="020B0503020204020204" pitchFamily="34" charset="-122"/>
                <a:cs typeface="+mj-cs"/>
              </a:defRPr>
            </a:lvl1pPr>
            <a:lvl2pPr algn="l" rtl="0" eaLnBrk="0" fontAlgn="base" hangingPunct="0">
              <a:lnSpc>
                <a:spcPct val="95000"/>
              </a:lnSpc>
              <a:spcBef>
                <a:spcPct val="0"/>
              </a:spcBef>
              <a:spcAft>
                <a:spcPct val="0"/>
              </a:spcAft>
              <a:defRPr sz="3600" b="1">
                <a:solidFill>
                  <a:schemeClr val="accent1"/>
                </a:solidFill>
                <a:latin typeface="Arial" pitchFamily="34" charset="0"/>
              </a:defRPr>
            </a:lvl2pPr>
            <a:lvl3pPr algn="l" rtl="0" eaLnBrk="0" fontAlgn="base" hangingPunct="0">
              <a:lnSpc>
                <a:spcPct val="95000"/>
              </a:lnSpc>
              <a:spcBef>
                <a:spcPct val="0"/>
              </a:spcBef>
              <a:spcAft>
                <a:spcPct val="0"/>
              </a:spcAft>
              <a:defRPr sz="3600" b="1">
                <a:solidFill>
                  <a:schemeClr val="accent1"/>
                </a:solidFill>
                <a:latin typeface="Arial" pitchFamily="34" charset="0"/>
              </a:defRPr>
            </a:lvl3pPr>
            <a:lvl4pPr algn="l" rtl="0" eaLnBrk="0" fontAlgn="base" hangingPunct="0">
              <a:lnSpc>
                <a:spcPct val="95000"/>
              </a:lnSpc>
              <a:spcBef>
                <a:spcPct val="0"/>
              </a:spcBef>
              <a:spcAft>
                <a:spcPct val="0"/>
              </a:spcAft>
              <a:defRPr sz="3600" b="1">
                <a:solidFill>
                  <a:schemeClr val="accent1"/>
                </a:solidFill>
                <a:latin typeface="Arial" pitchFamily="34" charset="0"/>
              </a:defRPr>
            </a:lvl4pPr>
            <a:lvl5pPr algn="l" rtl="0" eaLnBrk="0" fontAlgn="base" hangingPunct="0">
              <a:lnSpc>
                <a:spcPct val="95000"/>
              </a:lnSpc>
              <a:spcBef>
                <a:spcPct val="0"/>
              </a:spcBef>
              <a:spcAft>
                <a:spcPct val="0"/>
              </a:spcAft>
              <a:defRPr sz="3600" b="1">
                <a:solidFill>
                  <a:schemeClr val="accent1"/>
                </a:solidFill>
                <a:latin typeface="Arial" pitchFamily="34" charset="0"/>
              </a:defRPr>
            </a:lvl5pPr>
            <a:lvl6pPr marL="457200" algn="l" rtl="0" eaLnBrk="1" fontAlgn="base" hangingPunct="1">
              <a:lnSpc>
                <a:spcPct val="95000"/>
              </a:lnSpc>
              <a:spcBef>
                <a:spcPct val="0"/>
              </a:spcBef>
              <a:spcAft>
                <a:spcPct val="0"/>
              </a:spcAft>
              <a:defRPr sz="3200" b="1">
                <a:solidFill>
                  <a:schemeClr val="accent1"/>
                </a:solidFill>
                <a:latin typeface="Arial" pitchFamily="34" charset="0"/>
              </a:defRPr>
            </a:lvl6pPr>
            <a:lvl7pPr marL="914400" algn="l" rtl="0" eaLnBrk="1" fontAlgn="base" hangingPunct="1">
              <a:lnSpc>
                <a:spcPct val="95000"/>
              </a:lnSpc>
              <a:spcBef>
                <a:spcPct val="0"/>
              </a:spcBef>
              <a:spcAft>
                <a:spcPct val="0"/>
              </a:spcAft>
              <a:defRPr sz="3200" b="1">
                <a:solidFill>
                  <a:schemeClr val="accent1"/>
                </a:solidFill>
                <a:latin typeface="Arial" pitchFamily="34" charset="0"/>
              </a:defRPr>
            </a:lvl7pPr>
            <a:lvl8pPr marL="1371600" algn="l" rtl="0" eaLnBrk="1" fontAlgn="base" hangingPunct="1">
              <a:lnSpc>
                <a:spcPct val="95000"/>
              </a:lnSpc>
              <a:spcBef>
                <a:spcPct val="0"/>
              </a:spcBef>
              <a:spcAft>
                <a:spcPct val="0"/>
              </a:spcAft>
              <a:defRPr sz="3200" b="1">
                <a:solidFill>
                  <a:schemeClr val="accent1"/>
                </a:solidFill>
                <a:latin typeface="Arial" pitchFamily="34" charset="0"/>
              </a:defRPr>
            </a:lvl8pPr>
            <a:lvl9pPr marL="1828800" algn="l" rtl="0" eaLnBrk="1" fontAlgn="base" hangingPunct="1">
              <a:lnSpc>
                <a:spcPct val="95000"/>
              </a:lnSpc>
              <a:spcBef>
                <a:spcPct val="0"/>
              </a:spcBef>
              <a:spcAft>
                <a:spcPct val="0"/>
              </a:spcAft>
              <a:defRPr sz="3200" b="1">
                <a:solidFill>
                  <a:schemeClr val="accent1"/>
                </a:solidFill>
                <a:latin typeface="Arial" pitchFamily="34" charset="0"/>
              </a:defRPr>
            </a:lvl9pPr>
          </a:lstStyle>
          <a:p>
            <a:r>
              <a:rPr lang="zh-CN" altLang="en-US" sz="2400" dirty="0">
                <a:solidFill>
                  <a:srgbClr val="0070C0"/>
                </a:solidFill>
                <a:latin typeface="黑体" panose="02010609060101010101" pitchFamily="49" charset="-122"/>
                <a:ea typeface="黑体" panose="02010609060101010101" pitchFamily="49" charset="-122"/>
              </a:rPr>
              <a:t>字符串内置方法 </a:t>
            </a:r>
            <a:r>
              <a:rPr lang="zh-CN" altLang="en-US" sz="2400" b="0" dirty="0"/>
              <a:t>    </a:t>
            </a:r>
            <a:r>
              <a:rPr lang="zh-CN" altLang="en-US" sz="2000" dirty="0">
                <a:solidFill>
                  <a:srgbClr val="0070C0"/>
                </a:solidFill>
              </a:rPr>
              <a:t>假设</a:t>
            </a:r>
            <a:r>
              <a:rPr lang="en-US" altLang="zh-CN" sz="2000" dirty="0" err="1">
                <a:solidFill>
                  <a:srgbClr val="0070C0"/>
                </a:solidFill>
              </a:rPr>
              <a:t>st</a:t>
            </a:r>
            <a:r>
              <a:rPr lang="en-US" altLang="zh-CN" sz="2000" dirty="0">
                <a:solidFill>
                  <a:srgbClr val="0070C0"/>
                </a:solidFill>
              </a:rPr>
              <a:t>='</a:t>
            </a:r>
            <a:r>
              <a:rPr lang="en-US" altLang="zh-CN" sz="2000" dirty="0" err="1">
                <a:solidFill>
                  <a:srgbClr val="0070C0"/>
                </a:solidFill>
              </a:rPr>
              <a:t>abc</a:t>
            </a:r>
            <a:r>
              <a:rPr lang="en-US" altLang="zh-CN" sz="2000" dirty="0">
                <a:solidFill>
                  <a:srgbClr val="0070C0"/>
                </a:solidFill>
              </a:rPr>
              <a:t> </a:t>
            </a:r>
            <a:r>
              <a:rPr lang="en-US" altLang="zh-CN" sz="2000" dirty="0" err="1">
                <a:solidFill>
                  <a:srgbClr val="0070C0"/>
                </a:solidFill>
              </a:rPr>
              <a:t>defg</a:t>
            </a:r>
            <a:r>
              <a:rPr lang="en-US" altLang="zh-CN" sz="2000" dirty="0">
                <a:solidFill>
                  <a:srgbClr val="0070C0"/>
                </a:solidFill>
              </a:rPr>
              <a:t> </a:t>
            </a:r>
            <a:r>
              <a:rPr lang="en-US" altLang="zh-CN" sz="2000" dirty="0" err="1">
                <a:solidFill>
                  <a:srgbClr val="0070C0"/>
                </a:solidFill>
              </a:rPr>
              <a:t>bc</a:t>
            </a:r>
            <a:r>
              <a:rPr lang="en-US" altLang="zh-CN" sz="2000" dirty="0">
                <a:solidFill>
                  <a:srgbClr val="0070C0"/>
                </a:solidFill>
              </a:rPr>
              <a:t>'</a:t>
            </a:r>
            <a:endParaRPr lang="zh-CN" altLang="en-US" sz="2000" dirty="0">
              <a:solidFill>
                <a:srgbClr val="0070C0"/>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1124935562"/>
              </p:ext>
            </p:extLst>
          </p:nvPr>
        </p:nvGraphicFramePr>
        <p:xfrm>
          <a:off x="419330" y="2354270"/>
          <a:ext cx="8424935" cy="2042160"/>
        </p:xfrm>
        <a:graphic>
          <a:graphicData uri="http://schemas.openxmlformats.org/drawingml/2006/table">
            <a:tbl>
              <a:tblPr firstRow="1" bandRow="1">
                <a:tableStyleId>{7DF18680-E054-41AD-8BC1-D1AEF772440D}</a:tableStyleId>
              </a:tblPr>
              <a:tblGrid>
                <a:gridCol w="1872208">
                  <a:extLst>
                    <a:ext uri="{9D8B030D-6E8A-4147-A177-3AD203B41FA5}">
                      <a16:colId xmlns:a16="http://schemas.microsoft.com/office/drawing/2014/main" val="20000"/>
                    </a:ext>
                  </a:extLst>
                </a:gridCol>
                <a:gridCol w="2736304">
                  <a:extLst>
                    <a:ext uri="{9D8B030D-6E8A-4147-A177-3AD203B41FA5}">
                      <a16:colId xmlns:a16="http://schemas.microsoft.com/office/drawing/2014/main" val="20001"/>
                    </a:ext>
                  </a:extLst>
                </a:gridCol>
                <a:gridCol w="2088232">
                  <a:extLst>
                    <a:ext uri="{9D8B030D-6E8A-4147-A177-3AD203B41FA5}">
                      <a16:colId xmlns:a16="http://schemas.microsoft.com/office/drawing/2014/main" val="20002"/>
                    </a:ext>
                  </a:extLst>
                </a:gridCol>
                <a:gridCol w="1728191">
                  <a:extLst>
                    <a:ext uri="{9D8B030D-6E8A-4147-A177-3AD203B41FA5}">
                      <a16:colId xmlns:a16="http://schemas.microsoft.com/office/drawing/2014/main" val="20003"/>
                    </a:ext>
                  </a:extLst>
                </a:gridCol>
              </a:tblGrid>
              <a:tr h="252000">
                <a:tc>
                  <a:txBody>
                    <a:bodyPr/>
                    <a:lstStyle/>
                    <a:p>
                      <a:pPr algn="ctr"/>
                      <a:r>
                        <a:rPr lang="zh-CN" altLang="en-US" sz="1400" dirty="0"/>
                        <a:t>方法</a:t>
                      </a:r>
                    </a:p>
                  </a:txBody>
                  <a:tcPr anchor="ctr"/>
                </a:tc>
                <a:tc>
                  <a:txBody>
                    <a:bodyPr/>
                    <a:lstStyle/>
                    <a:p>
                      <a:pPr algn="ctr"/>
                      <a:r>
                        <a:rPr lang="zh-CN" altLang="en-US" sz="1400" dirty="0"/>
                        <a:t>描述</a:t>
                      </a:r>
                    </a:p>
                  </a:txBody>
                  <a:tcPr anchor="ctr"/>
                </a:tc>
                <a:tc>
                  <a:txBody>
                    <a:bodyPr/>
                    <a:lstStyle/>
                    <a:p>
                      <a:pPr algn="ctr"/>
                      <a:r>
                        <a:rPr lang="zh-CN" altLang="en-US" sz="1400" dirty="0"/>
                        <a:t>实例</a:t>
                      </a:r>
                    </a:p>
                  </a:txBody>
                  <a:tcPr anchor="ctr"/>
                </a:tc>
                <a:tc>
                  <a:txBody>
                    <a:bodyPr/>
                    <a:lstStyle/>
                    <a:p>
                      <a:pPr algn="ctr"/>
                      <a:r>
                        <a:rPr lang="zh-CN" altLang="en-US" sz="1400" dirty="0"/>
                        <a:t>结果</a:t>
                      </a:r>
                    </a:p>
                  </a:txBody>
                  <a:tcPr anchor="ctr"/>
                </a:tc>
                <a:extLst>
                  <a:ext uri="{0D108BD9-81ED-4DB2-BD59-A6C34878D82A}">
                    <a16:rowId xmlns:a16="http://schemas.microsoft.com/office/drawing/2014/main" val="10000"/>
                  </a:ext>
                </a:extLst>
              </a:tr>
              <a:tr h="252000">
                <a:tc>
                  <a:txBody>
                    <a:bodyPr/>
                    <a:lstStyle/>
                    <a:p>
                      <a:pPr algn="l"/>
                      <a:r>
                        <a:rPr lang="en-US" altLang="zh-CN" sz="1400" dirty="0"/>
                        <a:t>upper()</a:t>
                      </a:r>
                      <a:r>
                        <a:rPr lang="zh-CN" altLang="en-US" sz="1400" dirty="0"/>
                        <a:t>、</a:t>
                      </a:r>
                      <a:r>
                        <a:rPr lang="en-US" altLang="zh-CN" sz="1400" dirty="0"/>
                        <a:t>lower()</a:t>
                      </a:r>
                      <a:endParaRPr lang="zh-CN" altLang="en-US" sz="1400" dirty="0"/>
                    </a:p>
                  </a:txBody>
                  <a:tcPr anchor="ctr"/>
                </a:tc>
                <a:tc>
                  <a:txBody>
                    <a:bodyPr/>
                    <a:lstStyle/>
                    <a:p>
                      <a:pPr algn="l"/>
                      <a:r>
                        <a:rPr lang="zh-CN" altLang="en-US" sz="1400" dirty="0"/>
                        <a:t>转换字母为大写或小写</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err="1"/>
                        <a:t>st.upper</a:t>
                      </a:r>
                      <a:r>
                        <a:rPr lang="en-US" altLang="zh-CN" sz="1400" dirty="0"/>
                        <a:t>()</a:t>
                      </a:r>
                      <a:endParaRPr lang="zh-CN" altLang="en-US" sz="1400" dirty="0"/>
                    </a:p>
                  </a:txBody>
                  <a:tcPr anchor="ctr"/>
                </a:tc>
                <a:tc>
                  <a:txBody>
                    <a:bodyPr/>
                    <a:lstStyle/>
                    <a:p>
                      <a:pPr algn="l"/>
                      <a:r>
                        <a:rPr lang="en-US" altLang="zh-CN" sz="1400" dirty="0"/>
                        <a:t>'ABC DEFG BC'</a:t>
                      </a:r>
                      <a:endParaRPr lang="zh-CN" altLang="en-US" sz="1400" dirty="0"/>
                    </a:p>
                  </a:txBody>
                  <a:tcPr anchor="ctr"/>
                </a:tc>
                <a:extLst>
                  <a:ext uri="{0D108BD9-81ED-4DB2-BD59-A6C34878D82A}">
                    <a16:rowId xmlns:a16="http://schemas.microsoft.com/office/drawing/2014/main" val="10001"/>
                  </a:ext>
                </a:extLst>
              </a:tr>
              <a:tr h="252000">
                <a:tc>
                  <a:txBody>
                    <a:bodyPr/>
                    <a:lstStyle/>
                    <a:p>
                      <a:pPr algn="l"/>
                      <a:r>
                        <a:rPr lang="en-US" altLang="zh-CN" sz="1400" dirty="0"/>
                        <a:t>index(s)</a:t>
                      </a:r>
                      <a:endParaRPr lang="zh-CN" altLang="en-US" sz="1400" dirty="0"/>
                    </a:p>
                  </a:txBody>
                  <a:tcPr anchor="ctr"/>
                </a:tc>
                <a:tc>
                  <a:txBody>
                    <a:bodyPr/>
                    <a:lstStyle/>
                    <a:p>
                      <a:pPr algn="l"/>
                      <a:r>
                        <a:rPr lang="zh-CN" altLang="en-US" sz="1400" dirty="0"/>
                        <a:t>返回第</a:t>
                      </a:r>
                      <a:r>
                        <a:rPr lang="en-US" altLang="zh-CN" sz="1400" dirty="0"/>
                        <a:t>1</a:t>
                      </a:r>
                      <a:r>
                        <a:rPr lang="zh-CN" altLang="en-US" sz="1400" dirty="0"/>
                        <a:t>次出现子串</a:t>
                      </a:r>
                      <a:r>
                        <a:rPr lang="en-US" altLang="zh-CN" sz="1400" dirty="0"/>
                        <a:t>s</a:t>
                      </a:r>
                      <a:r>
                        <a:rPr lang="zh-CN" altLang="en-US" sz="1400" dirty="0"/>
                        <a:t>的位置</a:t>
                      </a:r>
                    </a:p>
                  </a:txBody>
                  <a:tcPr anchor="ctr"/>
                </a:tc>
                <a:tc>
                  <a:txBody>
                    <a:bodyPr/>
                    <a:lstStyle/>
                    <a:p>
                      <a:pPr algn="l"/>
                      <a:r>
                        <a:rPr lang="en-US" altLang="zh-CN" sz="1400" dirty="0"/>
                        <a:t> </a:t>
                      </a:r>
                      <a:r>
                        <a:rPr lang="en-US" altLang="zh-CN" sz="1400" dirty="0" err="1"/>
                        <a:t>st.index</a:t>
                      </a:r>
                      <a:r>
                        <a:rPr lang="en-US" altLang="zh-CN" sz="1400" dirty="0"/>
                        <a:t>('</a:t>
                      </a:r>
                      <a:r>
                        <a:rPr lang="en-US" altLang="zh-CN" sz="1400" dirty="0" err="1"/>
                        <a:t>bc</a:t>
                      </a:r>
                      <a:r>
                        <a:rPr lang="en-US" altLang="zh-CN" sz="1400" dirty="0"/>
                        <a:t>')</a:t>
                      </a:r>
                      <a:endParaRPr lang="zh-CN" altLang="en-US" sz="1400" dirty="0"/>
                    </a:p>
                  </a:txBody>
                  <a:tcPr anchor="ctr"/>
                </a:tc>
                <a:tc>
                  <a:txBody>
                    <a:bodyPr/>
                    <a:lstStyle/>
                    <a:p>
                      <a:pPr algn="l"/>
                      <a:r>
                        <a:rPr lang="en-US" altLang="zh-CN" sz="1400" dirty="0"/>
                        <a:t>1</a:t>
                      </a:r>
                      <a:endParaRPr lang="zh-CN" altLang="en-US" sz="1400" dirty="0"/>
                    </a:p>
                  </a:txBody>
                  <a:tcPr anchor="ctr"/>
                </a:tc>
                <a:extLst>
                  <a:ext uri="{0D108BD9-81ED-4DB2-BD59-A6C34878D82A}">
                    <a16:rowId xmlns:a16="http://schemas.microsoft.com/office/drawing/2014/main" val="10002"/>
                  </a:ext>
                </a:extLst>
              </a:tr>
              <a:tr h="252000">
                <a:tc>
                  <a:txBody>
                    <a:bodyPr/>
                    <a:lstStyle/>
                    <a:p>
                      <a:pPr algn="l"/>
                      <a:r>
                        <a:rPr lang="en-US" altLang="zh-CN" sz="1400" dirty="0"/>
                        <a:t>replace(</a:t>
                      </a:r>
                      <a:r>
                        <a:rPr lang="en-US" altLang="zh-CN" sz="1400" dirty="0" err="1"/>
                        <a:t>old,new</a:t>
                      </a:r>
                      <a:r>
                        <a:rPr lang="en-US" altLang="zh-CN" sz="1400" dirty="0"/>
                        <a:t>)</a:t>
                      </a:r>
                      <a:endParaRPr lang="zh-CN" altLang="en-US" sz="1400" dirty="0"/>
                    </a:p>
                  </a:txBody>
                  <a:tcPr anchor="ctr"/>
                </a:tc>
                <a:tc>
                  <a:txBody>
                    <a:bodyPr/>
                    <a:lstStyle/>
                    <a:p>
                      <a:pPr algn="l"/>
                      <a:r>
                        <a:rPr lang="zh-CN" altLang="en-US" sz="1400" dirty="0"/>
                        <a:t>用</a:t>
                      </a:r>
                      <a:r>
                        <a:rPr lang="en-US" altLang="zh-CN" sz="1400" dirty="0"/>
                        <a:t>new</a:t>
                      </a:r>
                      <a:r>
                        <a:rPr lang="zh-CN" altLang="en-US" sz="1400" dirty="0"/>
                        <a:t>子串替换</a:t>
                      </a:r>
                      <a:r>
                        <a:rPr lang="en-US" altLang="zh-CN" sz="1400" dirty="0"/>
                        <a:t>old</a:t>
                      </a:r>
                      <a:r>
                        <a:rPr lang="zh-CN" altLang="en-US" sz="1400" dirty="0"/>
                        <a:t>子串</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t> </a:t>
                      </a:r>
                      <a:r>
                        <a:rPr lang="en-US" altLang="zh-CN" sz="1400" dirty="0" err="1"/>
                        <a:t>st.replace</a:t>
                      </a:r>
                      <a:r>
                        <a:rPr lang="en-US" altLang="zh-CN" sz="1400" dirty="0"/>
                        <a:t>("bc",'123')</a:t>
                      </a:r>
                      <a:endParaRPr lang="zh-CN" altLang="en-US" sz="1400" dirty="0"/>
                    </a:p>
                  </a:txBody>
                  <a:tcPr anchor="ctr"/>
                </a:tc>
                <a:tc>
                  <a:txBody>
                    <a:bodyPr/>
                    <a:lstStyle/>
                    <a:p>
                      <a:pPr algn="l"/>
                      <a:r>
                        <a:rPr lang="en-US" altLang="zh-CN" sz="1400" dirty="0"/>
                        <a:t> 'a123 </a:t>
                      </a:r>
                      <a:r>
                        <a:rPr lang="en-US" altLang="zh-CN" sz="1400" dirty="0" err="1"/>
                        <a:t>defg</a:t>
                      </a:r>
                      <a:r>
                        <a:rPr lang="en-US" altLang="zh-CN" sz="1400" dirty="0"/>
                        <a:t> 123'</a:t>
                      </a:r>
                      <a:endParaRPr lang="zh-CN" altLang="en-US" sz="1400" dirty="0"/>
                    </a:p>
                  </a:txBody>
                  <a:tcPr anchor="ctr"/>
                </a:tc>
                <a:extLst>
                  <a:ext uri="{0D108BD9-81ED-4DB2-BD59-A6C34878D82A}">
                    <a16:rowId xmlns:a16="http://schemas.microsoft.com/office/drawing/2014/main" val="10003"/>
                  </a:ext>
                </a:extLst>
              </a:tr>
              <a:tr h="252000">
                <a:tc>
                  <a:txBody>
                    <a:bodyPr/>
                    <a:lstStyle/>
                    <a:p>
                      <a:pPr algn="l"/>
                      <a:r>
                        <a:rPr lang="en-US" altLang="zh-CN" sz="1400" dirty="0"/>
                        <a:t>split([s])</a:t>
                      </a:r>
                      <a:endParaRPr lang="zh-CN" altLang="en-US" sz="1400" dirty="0"/>
                    </a:p>
                  </a:txBody>
                  <a:tcPr anchor="ctr"/>
                </a:tc>
                <a:tc>
                  <a:txBody>
                    <a:bodyPr/>
                    <a:lstStyle/>
                    <a:p>
                      <a:pPr algn="l"/>
                      <a:r>
                        <a:rPr lang="zh-CN" altLang="en-US" sz="1400" dirty="0"/>
                        <a:t>按指定分隔符将字符串分成子串序列</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err="1"/>
                        <a:t>st.split</a:t>
                      </a:r>
                      <a:r>
                        <a:rPr lang="en-US" altLang="zh-CN" sz="1400" dirty="0"/>
                        <a:t>(' ')</a:t>
                      </a:r>
                      <a:endParaRPr lang="zh-CN" altLang="en-US" sz="1400" dirty="0"/>
                    </a:p>
                  </a:txBody>
                  <a:tcPr anchor="ctr"/>
                </a:tc>
                <a:tc>
                  <a:txBody>
                    <a:bodyPr/>
                    <a:lstStyle/>
                    <a:p>
                      <a:pPr algn="l"/>
                      <a:r>
                        <a:rPr lang="en-US" altLang="zh-CN" sz="1400" dirty="0"/>
                        <a:t>['</a:t>
                      </a:r>
                      <a:r>
                        <a:rPr lang="en-US" altLang="zh-CN" sz="1400" dirty="0" err="1"/>
                        <a:t>abc</a:t>
                      </a:r>
                      <a:r>
                        <a:rPr lang="en-US" altLang="zh-CN" sz="1400" dirty="0"/>
                        <a:t>', '</a:t>
                      </a:r>
                      <a:r>
                        <a:rPr lang="en-US" altLang="zh-CN" sz="1400" dirty="0" err="1"/>
                        <a:t>defg</a:t>
                      </a:r>
                      <a:r>
                        <a:rPr lang="en-US" altLang="zh-CN" sz="1400" dirty="0"/>
                        <a:t>', '</a:t>
                      </a:r>
                      <a:r>
                        <a:rPr lang="en-US" altLang="zh-CN" sz="1400" dirty="0" err="1"/>
                        <a:t>bc</a:t>
                      </a:r>
                      <a:r>
                        <a:rPr lang="en-US" altLang="zh-CN" sz="1400" dirty="0"/>
                        <a:t>']</a:t>
                      </a:r>
                      <a:endParaRPr lang="zh-CN" altLang="en-US" sz="1400" dirty="0"/>
                    </a:p>
                  </a:txBody>
                  <a:tcPr anchor="ctr"/>
                </a:tc>
                <a:extLst>
                  <a:ext uri="{0D108BD9-81ED-4DB2-BD59-A6C34878D82A}">
                    <a16:rowId xmlns:a16="http://schemas.microsoft.com/office/drawing/2014/main" val="819565151"/>
                  </a:ext>
                </a:extLst>
              </a:tr>
              <a:tr h="252000">
                <a:tc>
                  <a:txBody>
                    <a:bodyPr/>
                    <a:lstStyle/>
                    <a:p>
                      <a:pPr algn="l"/>
                      <a:r>
                        <a:rPr lang="en-US" altLang="zh-CN" sz="1400" dirty="0" err="1"/>
                        <a:t>isnumeric</a:t>
                      </a:r>
                      <a:r>
                        <a:rPr lang="en-US" altLang="zh-CN" sz="1400" dirty="0"/>
                        <a:t>()</a:t>
                      </a:r>
                      <a:endParaRPr lang="zh-CN" altLang="en-US" sz="1400" dirty="0"/>
                    </a:p>
                  </a:txBody>
                  <a:tcPr anchor="ctr"/>
                </a:tc>
                <a:tc>
                  <a:txBody>
                    <a:bodyPr/>
                    <a:lstStyle/>
                    <a:p>
                      <a:pPr algn="l"/>
                      <a:r>
                        <a:rPr lang="zh-CN" altLang="en-US" sz="1400" dirty="0"/>
                        <a:t>字符串是否全为数字</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err="1"/>
                        <a:t>st.isnumeric</a:t>
                      </a:r>
                      <a:r>
                        <a:rPr lang="en-US" altLang="zh-CN" sz="1400" dirty="0"/>
                        <a:t>()</a:t>
                      </a:r>
                      <a:endParaRPr lang="zh-CN" altLang="en-US" sz="1400" dirty="0"/>
                    </a:p>
                  </a:txBody>
                  <a:tcPr anchor="ctr"/>
                </a:tc>
                <a:tc>
                  <a:txBody>
                    <a:bodyPr/>
                    <a:lstStyle/>
                    <a:p>
                      <a:pPr algn="l"/>
                      <a:r>
                        <a:rPr lang="en-US" altLang="zh-CN" sz="1400" dirty="0"/>
                        <a:t>False</a:t>
                      </a:r>
                      <a:endParaRPr lang="zh-CN" altLang="en-US" sz="1400" dirty="0"/>
                    </a:p>
                  </a:txBody>
                  <a:tcPr anchor="ctr"/>
                </a:tc>
                <a:extLst>
                  <a:ext uri="{0D108BD9-81ED-4DB2-BD59-A6C34878D82A}">
                    <a16:rowId xmlns:a16="http://schemas.microsoft.com/office/drawing/2014/main" val="1943220672"/>
                  </a:ext>
                </a:extLst>
              </a:tr>
            </a:tbl>
          </a:graphicData>
        </a:graphic>
      </p:graphicFrame>
      <p:sp>
        <p:nvSpPr>
          <p:cNvPr id="8" name="标题 1"/>
          <p:cNvSpPr txBox="1">
            <a:spLocks/>
          </p:cNvSpPr>
          <p:nvPr/>
        </p:nvSpPr>
        <p:spPr bwMode="auto">
          <a:xfrm>
            <a:off x="539552" y="4384271"/>
            <a:ext cx="7416824" cy="41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lnSpc>
                <a:spcPct val="95000"/>
              </a:lnSpc>
              <a:spcBef>
                <a:spcPct val="0"/>
              </a:spcBef>
              <a:spcAft>
                <a:spcPct val="0"/>
              </a:spcAft>
              <a:defRPr sz="3200" b="1">
                <a:solidFill>
                  <a:srgbClr val="C00000"/>
                </a:solidFill>
                <a:latin typeface="微软雅黑" panose="020B0503020204020204" pitchFamily="34" charset="-122"/>
                <a:ea typeface="微软雅黑" panose="020B0503020204020204" pitchFamily="34" charset="-122"/>
                <a:cs typeface="+mj-cs"/>
              </a:defRPr>
            </a:lvl1pPr>
            <a:lvl2pPr algn="l" rtl="0" eaLnBrk="0" fontAlgn="base" hangingPunct="0">
              <a:lnSpc>
                <a:spcPct val="95000"/>
              </a:lnSpc>
              <a:spcBef>
                <a:spcPct val="0"/>
              </a:spcBef>
              <a:spcAft>
                <a:spcPct val="0"/>
              </a:spcAft>
              <a:defRPr sz="3600" b="1">
                <a:solidFill>
                  <a:schemeClr val="accent1"/>
                </a:solidFill>
                <a:latin typeface="Arial" pitchFamily="34" charset="0"/>
              </a:defRPr>
            </a:lvl2pPr>
            <a:lvl3pPr algn="l" rtl="0" eaLnBrk="0" fontAlgn="base" hangingPunct="0">
              <a:lnSpc>
                <a:spcPct val="95000"/>
              </a:lnSpc>
              <a:spcBef>
                <a:spcPct val="0"/>
              </a:spcBef>
              <a:spcAft>
                <a:spcPct val="0"/>
              </a:spcAft>
              <a:defRPr sz="3600" b="1">
                <a:solidFill>
                  <a:schemeClr val="accent1"/>
                </a:solidFill>
                <a:latin typeface="Arial" pitchFamily="34" charset="0"/>
              </a:defRPr>
            </a:lvl3pPr>
            <a:lvl4pPr algn="l" rtl="0" eaLnBrk="0" fontAlgn="base" hangingPunct="0">
              <a:lnSpc>
                <a:spcPct val="95000"/>
              </a:lnSpc>
              <a:spcBef>
                <a:spcPct val="0"/>
              </a:spcBef>
              <a:spcAft>
                <a:spcPct val="0"/>
              </a:spcAft>
              <a:defRPr sz="3600" b="1">
                <a:solidFill>
                  <a:schemeClr val="accent1"/>
                </a:solidFill>
                <a:latin typeface="Arial" pitchFamily="34" charset="0"/>
              </a:defRPr>
            </a:lvl4pPr>
            <a:lvl5pPr algn="l" rtl="0" eaLnBrk="0" fontAlgn="base" hangingPunct="0">
              <a:lnSpc>
                <a:spcPct val="95000"/>
              </a:lnSpc>
              <a:spcBef>
                <a:spcPct val="0"/>
              </a:spcBef>
              <a:spcAft>
                <a:spcPct val="0"/>
              </a:spcAft>
              <a:defRPr sz="3600" b="1">
                <a:solidFill>
                  <a:schemeClr val="accent1"/>
                </a:solidFill>
                <a:latin typeface="Arial" pitchFamily="34" charset="0"/>
              </a:defRPr>
            </a:lvl5pPr>
            <a:lvl6pPr marL="457200" algn="l" rtl="0" eaLnBrk="1" fontAlgn="base" hangingPunct="1">
              <a:lnSpc>
                <a:spcPct val="95000"/>
              </a:lnSpc>
              <a:spcBef>
                <a:spcPct val="0"/>
              </a:spcBef>
              <a:spcAft>
                <a:spcPct val="0"/>
              </a:spcAft>
              <a:defRPr sz="3200" b="1">
                <a:solidFill>
                  <a:schemeClr val="accent1"/>
                </a:solidFill>
                <a:latin typeface="Arial" pitchFamily="34" charset="0"/>
              </a:defRPr>
            </a:lvl6pPr>
            <a:lvl7pPr marL="914400" algn="l" rtl="0" eaLnBrk="1" fontAlgn="base" hangingPunct="1">
              <a:lnSpc>
                <a:spcPct val="95000"/>
              </a:lnSpc>
              <a:spcBef>
                <a:spcPct val="0"/>
              </a:spcBef>
              <a:spcAft>
                <a:spcPct val="0"/>
              </a:spcAft>
              <a:defRPr sz="3200" b="1">
                <a:solidFill>
                  <a:schemeClr val="accent1"/>
                </a:solidFill>
                <a:latin typeface="Arial" pitchFamily="34" charset="0"/>
              </a:defRPr>
            </a:lvl7pPr>
            <a:lvl8pPr marL="1371600" algn="l" rtl="0" eaLnBrk="1" fontAlgn="base" hangingPunct="1">
              <a:lnSpc>
                <a:spcPct val="95000"/>
              </a:lnSpc>
              <a:spcBef>
                <a:spcPct val="0"/>
              </a:spcBef>
              <a:spcAft>
                <a:spcPct val="0"/>
              </a:spcAft>
              <a:defRPr sz="3200" b="1">
                <a:solidFill>
                  <a:schemeClr val="accent1"/>
                </a:solidFill>
                <a:latin typeface="Arial" pitchFamily="34" charset="0"/>
              </a:defRPr>
            </a:lvl8pPr>
            <a:lvl9pPr marL="1828800" algn="l" rtl="0" eaLnBrk="1" fontAlgn="base" hangingPunct="1">
              <a:lnSpc>
                <a:spcPct val="95000"/>
              </a:lnSpc>
              <a:spcBef>
                <a:spcPct val="0"/>
              </a:spcBef>
              <a:spcAft>
                <a:spcPct val="0"/>
              </a:spcAft>
              <a:defRPr sz="3200" b="1">
                <a:solidFill>
                  <a:schemeClr val="accent1"/>
                </a:solidFill>
                <a:latin typeface="Arial" pitchFamily="34" charset="0"/>
              </a:defRPr>
            </a:lvl9pPr>
          </a:lstStyle>
          <a:p>
            <a:r>
              <a:rPr lang="zh-CN" altLang="en-US" sz="1800" b="0" dirty="0"/>
              <a:t>注意：以上方法都不改变字符串本身的内容！！！</a:t>
            </a:r>
          </a:p>
        </p:txBody>
      </p:sp>
    </p:spTree>
    <p:extLst>
      <p:ext uri="{BB962C8B-B14F-4D97-AF65-F5344CB8AC3E}">
        <p14:creationId xmlns:p14="http://schemas.microsoft.com/office/powerpoint/2010/main" val="33062170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4"/>
          <p:cNvSpPr>
            <a:spLocks noChangeArrowheads="1"/>
          </p:cNvSpPr>
          <p:nvPr/>
        </p:nvSpPr>
        <p:spPr bwMode="gray">
          <a:xfrm>
            <a:off x="539552" y="843558"/>
            <a:ext cx="8064896" cy="3744416"/>
          </a:xfrm>
          <a:prstGeom prst="roundRect">
            <a:avLst>
              <a:gd name="adj" fmla="val 8014"/>
            </a:avLst>
          </a:prstGeom>
          <a:solidFill>
            <a:srgbClr val="F8F8F8"/>
          </a:solidFill>
          <a:ln w="9525">
            <a:solidFill>
              <a:srgbClr val="8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r>
              <a:rPr lang="zh-CN" altLang="zh-CN" sz="1600" b="0" dirty="0">
                <a:solidFill>
                  <a:srgbClr val="000066"/>
                </a:solidFill>
                <a:latin typeface="微软雅黑" pitchFamily="34" charset="-122"/>
                <a:ea typeface="微软雅黑" pitchFamily="34" charset="-122"/>
              </a:rPr>
              <a:t>【</a:t>
            </a:r>
            <a:r>
              <a:rPr lang="zh-CN" altLang="zh-CN" sz="2000" b="0" dirty="0">
                <a:solidFill>
                  <a:srgbClr val="000066"/>
                </a:solidFill>
                <a:latin typeface="微软雅黑" pitchFamily="34" charset="-122"/>
                <a:ea typeface="微软雅黑" pitchFamily="34" charset="-122"/>
              </a:rPr>
              <a:t>例</a:t>
            </a:r>
            <a:r>
              <a:rPr lang="en-US" altLang="zh-CN" sz="2000" b="0" dirty="0">
                <a:solidFill>
                  <a:srgbClr val="000066"/>
                </a:solidFill>
                <a:latin typeface="微软雅黑" pitchFamily="34" charset="-122"/>
                <a:ea typeface="微软雅黑" pitchFamily="34" charset="-122"/>
              </a:rPr>
              <a:t>2.12</a:t>
            </a:r>
            <a:r>
              <a:rPr lang="zh-CN" altLang="zh-CN" sz="2000" b="0" dirty="0">
                <a:solidFill>
                  <a:srgbClr val="000066"/>
                </a:solidFill>
                <a:latin typeface="微软雅黑" pitchFamily="34" charset="-122"/>
                <a:ea typeface="微软雅黑" pitchFamily="34" charset="-122"/>
              </a:rPr>
              <a:t>】对</a:t>
            </a:r>
            <a:r>
              <a:rPr lang="en-US" altLang="zh-CN" sz="2000" b="0" dirty="0">
                <a:solidFill>
                  <a:srgbClr val="000066"/>
                </a:solidFill>
                <a:latin typeface="微软雅黑" pitchFamily="34" charset="-122"/>
                <a:ea typeface="微软雅黑" pitchFamily="34" charset="-122"/>
              </a:rPr>
              <a:t>s</a:t>
            </a:r>
            <a:r>
              <a:rPr lang="zh-CN" altLang="zh-CN" sz="2000" b="0" dirty="0">
                <a:solidFill>
                  <a:srgbClr val="000066"/>
                </a:solidFill>
                <a:latin typeface="微软雅黑" pitchFamily="34" charset="-122"/>
                <a:ea typeface="微软雅黑" pitchFamily="34" charset="-122"/>
              </a:rPr>
              <a:t>字符串引用</a:t>
            </a:r>
            <a:r>
              <a:rPr lang="en-US" altLang="zh-CN" sz="2000" b="0" dirty="0">
                <a:solidFill>
                  <a:srgbClr val="000066"/>
                </a:solidFill>
                <a:latin typeface="微软雅黑" pitchFamily="34" charset="-122"/>
                <a:ea typeface="微软雅黑" pitchFamily="34" charset="-122"/>
              </a:rPr>
              <a:t>replace</a:t>
            </a:r>
            <a:r>
              <a:rPr lang="zh-CN" altLang="zh-CN" sz="2000" b="0" dirty="0">
                <a:solidFill>
                  <a:srgbClr val="000066"/>
                </a:solidFill>
                <a:latin typeface="微软雅黑" pitchFamily="34" charset="-122"/>
                <a:ea typeface="微软雅黑" pitchFamily="34" charset="-122"/>
              </a:rPr>
              <a:t>方法，运行如下：</a:t>
            </a:r>
            <a:endParaRPr lang="en-US" altLang="zh-CN" sz="2000" b="0" dirty="0">
              <a:solidFill>
                <a:srgbClr val="000066"/>
              </a:solidFill>
              <a:latin typeface="微软雅黑" pitchFamily="34" charset="-122"/>
              <a:ea typeface="微软雅黑" pitchFamily="34" charset="-122"/>
            </a:endParaRPr>
          </a:p>
          <a:p>
            <a:pPr>
              <a:lnSpc>
                <a:spcPct val="150000"/>
              </a:lnSpc>
              <a:spcBef>
                <a:spcPts val="0"/>
              </a:spcBef>
            </a:pPr>
            <a:r>
              <a:rPr lang="en-US" altLang="zh-CN" sz="2000" b="0" dirty="0">
                <a:latin typeface="+mn-ea"/>
                <a:ea typeface="+mn-ea"/>
              </a:rPr>
              <a:t>&gt;&gt;&gt; </a:t>
            </a:r>
            <a:r>
              <a:rPr lang="en-US" altLang="zh-CN" sz="2000" dirty="0">
                <a:latin typeface="+mn-ea"/>
                <a:ea typeface="+mn-ea"/>
                <a:cs typeface="Courier New" pitchFamily="49" charset="0"/>
              </a:rPr>
              <a:t>s="ABC DEFG BC"</a:t>
            </a:r>
            <a:endParaRPr lang="zh-CN" altLang="zh-CN" sz="2000" dirty="0">
              <a:latin typeface="+mn-ea"/>
              <a:ea typeface="+mn-ea"/>
              <a:cs typeface="Courier New" pitchFamily="49" charset="0"/>
            </a:endParaRPr>
          </a:p>
          <a:p>
            <a:pPr>
              <a:lnSpc>
                <a:spcPct val="150000"/>
              </a:lnSpc>
              <a:spcBef>
                <a:spcPts val="0"/>
              </a:spcBef>
            </a:pPr>
            <a:r>
              <a:rPr lang="en-US" altLang="zh-CN" sz="2000" dirty="0">
                <a:latin typeface="+mn-ea"/>
                <a:ea typeface="+mn-ea"/>
                <a:cs typeface="Courier New" pitchFamily="49" charset="0"/>
              </a:rPr>
              <a:t>&gt;&gt;&gt; </a:t>
            </a:r>
            <a:r>
              <a:rPr lang="en-US" altLang="zh-CN" sz="2000" dirty="0" err="1">
                <a:latin typeface="+mn-ea"/>
                <a:ea typeface="+mn-ea"/>
                <a:cs typeface="Courier New" pitchFamily="49" charset="0"/>
              </a:rPr>
              <a:t>s.replace</a:t>
            </a:r>
            <a:r>
              <a:rPr lang="en-US" altLang="zh-CN" sz="2000" dirty="0">
                <a:latin typeface="+mn-ea"/>
                <a:ea typeface="+mn-ea"/>
                <a:cs typeface="Courier New" pitchFamily="49" charset="0"/>
              </a:rPr>
              <a:t> ("BC","WYZ")</a:t>
            </a:r>
            <a:endParaRPr lang="zh-CN" altLang="zh-CN" sz="2000" dirty="0">
              <a:latin typeface="+mn-ea"/>
              <a:ea typeface="+mn-ea"/>
              <a:cs typeface="Courier New" pitchFamily="49" charset="0"/>
            </a:endParaRPr>
          </a:p>
          <a:p>
            <a:pPr>
              <a:lnSpc>
                <a:spcPct val="150000"/>
              </a:lnSpc>
              <a:spcBef>
                <a:spcPts val="0"/>
              </a:spcBef>
            </a:pPr>
            <a:r>
              <a:rPr lang="en-US" altLang="zh-CN" sz="2000" dirty="0">
                <a:latin typeface="+mn-ea"/>
                <a:ea typeface="+mn-ea"/>
                <a:cs typeface="Courier New" pitchFamily="49" charset="0"/>
              </a:rPr>
              <a:t>'AWYZ DEFG WYZ'</a:t>
            </a:r>
            <a:endParaRPr lang="zh-CN" altLang="zh-CN" sz="2000" dirty="0">
              <a:latin typeface="+mn-ea"/>
              <a:ea typeface="+mn-ea"/>
              <a:cs typeface="Courier New" pitchFamily="49" charset="0"/>
            </a:endParaRPr>
          </a:p>
          <a:p>
            <a:pPr>
              <a:lnSpc>
                <a:spcPct val="150000"/>
              </a:lnSpc>
              <a:spcBef>
                <a:spcPts val="0"/>
              </a:spcBef>
            </a:pPr>
            <a:r>
              <a:rPr lang="en-US" altLang="zh-CN" sz="2000" dirty="0">
                <a:latin typeface="+mn-ea"/>
                <a:ea typeface="+mn-ea"/>
                <a:cs typeface="Courier New" pitchFamily="49" charset="0"/>
              </a:rPr>
              <a:t>&gt;&gt;&gt; s                         # </a:t>
            </a:r>
            <a:r>
              <a:rPr lang="zh-CN" altLang="en-US" sz="2000" dirty="0">
                <a:latin typeface="+mn-ea"/>
                <a:ea typeface="+mn-ea"/>
                <a:cs typeface="Courier New" pitchFamily="49" charset="0"/>
              </a:rPr>
              <a:t>不改变引用对象</a:t>
            </a:r>
            <a:endParaRPr lang="zh-CN" altLang="zh-CN" sz="2000" dirty="0">
              <a:latin typeface="+mn-ea"/>
              <a:ea typeface="+mn-ea"/>
              <a:cs typeface="Courier New" pitchFamily="49" charset="0"/>
            </a:endParaRPr>
          </a:p>
          <a:p>
            <a:pPr>
              <a:lnSpc>
                <a:spcPct val="150000"/>
              </a:lnSpc>
              <a:spcBef>
                <a:spcPts val="0"/>
              </a:spcBef>
            </a:pPr>
            <a:r>
              <a:rPr lang="en-US" altLang="zh-CN" sz="2000" dirty="0">
                <a:latin typeface="+mn-ea"/>
                <a:ea typeface="+mn-ea"/>
                <a:cs typeface="Courier New" pitchFamily="49" charset="0"/>
              </a:rPr>
              <a:t>'ABC DEFG BC'</a:t>
            </a:r>
            <a:endParaRPr lang="zh-CN" altLang="zh-CN" sz="2000" dirty="0">
              <a:latin typeface="+mn-ea"/>
              <a:ea typeface="+mn-ea"/>
              <a:cs typeface="Courier New" pitchFamily="49" charset="0"/>
            </a:endParaRPr>
          </a:p>
          <a:p>
            <a:pPr>
              <a:lnSpc>
                <a:spcPct val="150000"/>
              </a:lnSpc>
              <a:spcBef>
                <a:spcPts val="0"/>
              </a:spcBef>
            </a:pPr>
            <a:r>
              <a:rPr lang="en-US" altLang="zh-CN" sz="2000" dirty="0">
                <a:latin typeface="+mn-ea"/>
                <a:ea typeface="+mn-ea"/>
                <a:cs typeface="Courier New" pitchFamily="49" charset="0"/>
              </a:rPr>
              <a:t>&gt;&gt;&gt; </a:t>
            </a:r>
            <a:endParaRPr lang="zh-CN" altLang="zh-CN" sz="2000" dirty="0">
              <a:latin typeface="+mn-ea"/>
              <a:ea typeface="+mn-ea"/>
              <a:cs typeface="Courier New" pitchFamily="49" charset="0"/>
            </a:endParaRPr>
          </a:p>
          <a:p>
            <a:pPr>
              <a:lnSpc>
                <a:spcPct val="150000"/>
              </a:lnSpc>
            </a:pPr>
            <a:endParaRPr lang="zh-CN" altLang="zh-CN" sz="1600" dirty="0"/>
          </a:p>
        </p:txBody>
      </p:sp>
    </p:spTree>
    <p:extLst>
      <p:ext uri="{BB962C8B-B14F-4D97-AF65-F5344CB8AC3E}">
        <p14:creationId xmlns:p14="http://schemas.microsoft.com/office/powerpoint/2010/main" val="429049443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5" end="5"/>
                                            </p:txEl>
                                          </p:spTgt>
                                        </p:tgtEl>
                                        <p:attrNameLst>
                                          <p:attrName>style.visibility</p:attrName>
                                        </p:attrNameLst>
                                      </p:cBhvr>
                                      <p:to>
                                        <p:strVal val="visible"/>
                                      </p:to>
                                    </p:set>
                                    <p:animEffect transition="in" filter="fade">
                                      <p:cBhvr>
                                        <p:cTn id="14" dur="1000"/>
                                        <p:tgtEl>
                                          <p:spTgt spid="4">
                                            <p:txEl>
                                              <p:pRg st="5" end="5"/>
                                            </p:txEl>
                                          </p:spTgt>
                                        </p:tgtEl>
                                      </p:cBhvr>
                                    </p:animEffect>
                                    <p:anim calcmode="lin" valueType="num">
                                      <p:cBhvr>
                                        <p:cTn id="1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a:xfrm>
            <a:off x="323528" y="316756"/>
            <a:ext cx="7163122" cy="5940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b" anchorCtr="0" compatLnSpc="1">
            <a:prstTxWarp prst="textNoShape">
              <a:avLst/>
            </a:prstTxWarp>
          </a:bodyPr>
          <a:lstStyle/>
          <a:p>
            <a:pPr algn="l"/>
            <a:r>
              <a:rPr lang="zh-CN" altLang="en-US" sz="2400" dirty="0">
                <a:solidFill>
                  <a:srgbClr val="0070C0"/>
                </a:solidFill>
              </a:rPr>
              <a:t>字符串类的常用方法（补充）</a:t>
            </a:r>
          </a:p>
        </p:txBody>
      </p:sp>
      <p:sp>
        <p:nvSpPr>
          <p:cNvPr id="9" name="内容占位符 2"/>
          <p:cNvSpPr txBox="1">
            <a:spLocks/>
          </p:cNvSpPr>
          <p:nvPr/>
        </p:nvSpPr>
        <p:spPr bwMode="auto">
          <a:xfrm>
            <a:off x="323528" y="998348"/>
            <a:ext cx="8496944" cy="3794503"/>
          </a:xfrm>
          <a:prstGeom prst="rect">
            <a:avLst/>
          </a:prstGeom>
          <a:ln/>
        </p:spPr>
        <p:style>
          <a:lnRef idx="2">
            <a:schemeClr val="accent5"/>
          </a:lnRef>
          <a:fillRef idx="1">
            <a:schemeClr val="lt1"/>
          </a:fillRef>
          <a:effectRef idx="0">
            <a:schemeClr val="accent5"/>
          </a:effectRef>
          <a:fontRef idx="minor">
            <a:schemeClr val="dk1"/>
          </a:fontRef>
        </p:style>
        <p:txBody>
          <a:bodyPr vert="horz" wrap="square" lIns="68580" tIns="34290" rIns="68580" bIns="34290" numCol="1" anchor="t" anchorCtr="0" compatLnSpc="1">
            <a:prstTxWarp prst="textNoShape">
              <a:avLst/>
            </a:prstTxWarp>
          </a:bodyPr>
          <a:lstStyle>
            <a:lvl1pPr marL="411163" indent="-342900" algn="l" rtl="0" eaLnBrk="0" fontAlgn="base" hangingPunct="0">
              <a:spcBef>
                <a:spcPts val="700"/>
              </a:spcBef>
              <a:spcAft>
                <a:spcPct val="0"/>
              </a:spcAft>
              <a:buClr>
                <a:schemeClr val="tx2"/>
              </a:buClr>
              <a:buSzPct val="95000"/>
              <a:buFont typeface="Wingdings"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a:lstStyle>
          <a:p>
            <a:pPr marL="68263" indent="0" algn="just" eaLnBrk="1" hangingPunct="1">
              <a:buNone/>
            </a:pPr>
            <a:r>
              <a:rPr lang="zh-CN" altLang="en-US" sz="1800" dirty="0"/>
              <a:t>     设对象名为</a:t>
            </a:r>
            <a:r>
              <a:rPr lang="en-US" altLang="zh-CN" sz="1800" dirty="0"/>
              <a:t>s</a:t>
            </a:r>
            <a:r>
              <a:rPr lang="zh-CN" altLang="en-US" sz="1800" dirty="0"/>
              <a:t>，如</a:t>
            </a:r>
            <a:r>
              <a:rPr lang="en-US" altLang="zh-CN" sz="1800" dirty="0"/>
              <a:t>s="Hello  world“</a:t>
            </a:r>
          </a:p>
          <a:p>
            <a:pPr algn="just" eaLnBrk="1" hangingPunct="1">
              <a:buFont typeface="Wingdings" panose="05000000000000000000" pitchFamily="2" charset="2"/>
              <a:buChar char="u"/>
            </a:pPr>
            <a:r>
              <a:rPr lang="en-US" altLang="zh-CN" sz="1800" dirty="0" err="1"/>
              <a:t>s.islower</a:t>
            </a:r>
            <a:r>
              <a:rPr lang="en-US" altLang="zh-CN" sz="1800" dirty="0"/>
              <a:t>()          s</a:t>
            </a:r>
            <a:r>
              <a:rPr lang="zh-CN" altLang="en-US" sz="1800" dirty="0"/>
              <a:t>的所有字母都是小写时返回</a:t>
            </a:r>
            <a:r>
              <a:rPr lang="en-US" altLang="zh-CN" sz="1800" dirty="0"/>
              <a:t>True</a:t>
            </a:r>
          </a:p>
          <a:p>
            <a:pPr algn="just" eaLnBrk="1" hangingPunct="1">
              <a:buFont typeface="Wingdings" panose="05000000000000000000" pitchFamily="2" charset="2"/>
              <a:buChar char="u"/>
            </a:pPr>
            <a:r>
              <a:rPr lang="en-US" altLang="zh-CN" sz="1800" dirty="0" err="1"/>
              <a:t>s.isprintable</a:t>
            </a:r>
            <a:r>
              <a:rPr lang="en-US" altLang="zh-CN" sz="1800" dirty="0"/>
              <a:t>() </a:t>
            </a:r>
            <a:r>
              <a:rPr lang="zh-CN" altLang="en-US" sz="1800" dirty="0"/>
              <a:t>   </a:t>
            </a:r>
            <a:r>
              <a:rPr lang="en-US" altLang="zh-CN" sz="1800" dirty="0"/>
              <a:t>s</a:t>
            </a:r>
            <a:r>
              <a:rPr lang="zh-CN" altLang="en-US" sz="1800" dirty="0"/>
              <a:t>的所有字符都是可打印的，返回</a:t>
            </a:r>
            <a:r>
              <a:rPr lang="en-US" altLang="zh-CN" sz="1800" dirty="0"/>
              <a:t>True</a:t>
            </a:r>
          </a:p>
          <a:p>
            <a:pPr algn="just" eaLnBrk="1" hangingPunct="1">
              <a:buFont typeface="Wingdings" panose="05000000000000000000" pitchFamily="2" charset="2"/>
              <a:buChar char="u"/>
            </a:pPr>
            <a:r>
              <a:rPr lang="en-US" altLang="zh-CN" sz="1800" dirty="0" err="1"/>
              <a:t>s.isspace</a:t>
            </a:r>
            <a:r>
              <a:rPr lang="en-US" altLang="zh-CN" sz="1800" dirty="0"/>
              <a:t>()</a:t>
            </a:r>
            <a:r>
              <a:rPr lang="zh-CN" altLang="en-US" sz="1800" dirty="0"/>
              <a:t>           </a:t>
            </a:r>
            <a:r>
              <a:rPr lang="en-US" altLang="zh-CN" sz="1800" dirty="0"/>
              <a:t>s</a:t>
            </a:r>
            <a:r>
              <a:rPr lang="zh-CN" altLang="en-US" sz="1800" dirty="0"/>
              <a:t>的所有字符都是空格，返回</a:t>
            </a:r>
            <a:r>
              <a:rPr lang="en-US" altLang="zh-CN" sz="1800" dirty="0"/>
              <a:t>True</a:t>
            </a:r>
          </a:p>
          <a:p>
            <a:pPr algn="just" eaLnBrk="1" hangingPunct="1">
              <a:buFont typeface="Wingdings" panose="05000000000000000000" pitchFamily="2" charset="2"/>
              <a:buChar char="u"/>
            </a:pPr>
            <a:r>
              <a:rPr lang="en-US" altLang="zh-CN" sz="1800" dirty="0" err="1"/>
              <a:t>s.endswith</a:t>
            </a:r>
            <a:r>
              <a:rPr lang="en-US" altLang="zh-CN" sz="1800" dirty="0"/>
              <a:t>(“id”)    </a:t>
            </a:r>
            <a:r>
              <a:rPr lang="zh-CN" altLang="en-US" sz="1800" dirty="0"/>
              <a:t>是否以指定字符结尾</a:t>
            </a:r>
            <a:endParaRPr lang="en-US" altLang="zh-CN" sz="1800" dirty="0"/>
          </a:p>
          <a:p>
            <a:pPr algn="just" eaLnBrk="1" hangingPunct="1">
              <a:buFont typeface="Wingdings" panose="05000000000000000000" pitchFamily="2" charset="2"/>
              <a:buChar char="u"/>
            </a:pPr>
            <a:r>
              <a:rPr lang="en-US" altLang="zh-CN" sz="1800" dirty="0" err="1"/>
              <a:t>s.count</a:t>
            </a:r>
            <a:r>
              <a:rPr lang="en-US" altLang="zh-CN" sz="1800" dirty="0"/>
              <a:t>(sub[,start[,end]])</a:t>
            </a:r>
            <a:r>
              <a:rPr lang="zh-CN" altLang="en-US" sz="1800" dirty="0"/>
              <a:t>    字串</a:t>
            </a:r>
            <a:r>
              <a:rPr lang="en-US" altLang="zh-CN" sz="1800" dirty="0"/>
              <a:t>sub</a:t>
            </a:r>
            <a:r>
              <a:rPr lang="zh-CN" altLang="en-US" sz="1800" dirty="0"/>
              <a:t>在</a:t>
            </a:r>
            <a:r>
              <a:rPr lang="en-US" altLang="zh-CN" sz="1800" dirty="0"/>
              <a:t>s</a:t>
            </a:r>
            <a:r>
              <a:rPr lang="zh-CN" altLang="en-US" sz="1800" dirty="0"/>
              <a:t>中出现的次数</a:t>
            </a:r>
            <a:endParaRPr lang="en-US" altLang="zh-CN" sz="1800" dirty="0"/>
          </a:p>
          <a:p>
            <a:pPr algn="just" eaLnBrk="1" hangingPunct="1">
              <a:buFont typeface="Wingdings" panose="05000000000000000000" pitchFamily="2" charset="2"/>
              <a:buChar char="u"/>
            </a:pPr>
            <a:r>
              <a:rPr lang="en-US" altLang="zh-CN" sz="1800" dirty="0" err="1"/>
              <a:t>s.center</a:t>
            </a:r>
            <a:r>
              <a:rPr lang="en-US" altLang="zh-CN" sz="1800" dirty="0"/>
              <a:t>(width[,</a:t>
            </a:r>
            <a:r>
              <a:rPr lang="en-US" altLang="zh-CN" sz="1800" dirty="0" err="1"/>
              <a:t>fillchar</a:t>
            </a:r>
            <a:r>
              <a:rPr lang="en-US" altLang="zh-CN" sz="1800" dirty="0"/>
              <a:t>)    </a:t>
            </a:r>
            <a:r>
              <a:rPr lang="zh-CN" altLang="en-US" sz="1800" dirty="0"/>
              <a:t>以指定宽度居中显示，可以指定前后填充的字符</a:t>
            </a:r>
            <a:endParaRPr lang="en-US" altLang="zh-CN" sz="1800" dirty="0"/>
          </a:p>
          <a:p>
            <a:pPr algn="just" eaLnBrk="1" hangingPunct="1">
              <a:buFont typeface="Wingdings" panose="05000000000000000000" pitchFamily="2" charset="2"/>
              <a:buChar char="u"/>
            </a:pPr>
            <a:r>
              <a:rPr lang="en-US" altLang="zh-CN" sz="1800" dirty="0" err="1"/>
              <a:t>s.zfill</a:t>
            </a:r>
            <a:r>
              <a:rPr lang="en-US" altLang="zh-CN" sz="1800" dirty="0"/>
              <a:t>(width)        </a:t>
            </a:r>
            <a:r>
              <a:rPr lang="zh-CN" altLang="en-US" sz="1800" dirty="0"/>
              <a:t>以指定宽度显示，不足部分填</a:t>
            </a:r>
            <a:r>
              <a:rPr lang="en-US" altLang="zh-CN" sz="1800" dirty="0"/>
              <a:t>0</a:t>
            </a:r>
          </a:p>
          <a:p>
            <a:pPr algn="just" eaLnBrk="1" hangingPunct="1">
              <a:buFont typeface="Wingdings" panose="05000000000000000000" pitchFamily="2" charset="2"/>
              <a:buChar char="u"/>
            </a:pPr>
            <a:r>
              <a:rPr lang="en-US" altLang="zh-CN" sz="1800" dirty="0" err="1"/>
              <a:t>s.join</a:t>
            </a:r>
            <a:r>
              <a:rPr lang="en-US" altLang="zh-CN" sz="1800" dirty="0"/>
              <a:t>(</a:t>
            </a:r>
            <a:r>
              <a:rPr lang="en-US" altLang="zh-CN" sz="1800" dirty="0" err="1"/>
              <a:t>iterable</a:t>
            </a:r>
            <a:r>
              <a:rPr lang="en-US" altLang="zh-CN" sz="1800" dirty="0"/>
              <a:t>)    </a:t>
            </a:r>
            <a:r>
              <a:rPr lang="zh-CN" altLang="en-US" sz="1800" dirty="0"/>
              <a:t>将</a:t>
            </a:r>
            <a:r>
              <a:rPr lang="en-US" altLang="zh-CN" sz="1800" dirty="0"/>
              <a:t>s</a:t>
            </a:r>
            <a:r>
              <a:rPr lang="zh-CN" altLang="en-US" sz="1800" dirty="0"/>
              <a:t>插入到指定字符串的各个字符之间</a:t>
            </a:r>
            <a:endParaRPr lang="en-US" altLang="zh-CN" sz="1800" dirty="0"/>
          </a:p>
          <a:p>
            <a:pPr algn="just" eaLnBrk="1" hangingPunct="1"/>
            <a:endParaRPr lang="en-US" altLang="zh-CN" sz="1800" dirty="0"/>
          </a:p>
        </p:txBody>
      </p:sp>
      <p:pic>
        <p:nvPicPr>
          <p:cNvPr id="3" name="图片 2"/>
          <p:cNvPicPr>
            <a:picLocks noChangeAspect="1"/>
          </p:cNvPicPr>
          <p:nvPr/>
        </p:nvPicPr>
        <p:blipFill>
          <a:blip r:embed="rId2"/>
          <a:stretch>
            <a:fillRect/>
          </a:stretch>
        </p:blipFill>
        <p:spPr>
          <a:xfrm>
            <a:off x="6266812" y="3485877"/>
            <a:ext cx="2474916" cy="442880"/>
          </a:xfrm>
          <a:prstGeom prst="rect">
            <a:avLst/>
          </a:prstGeom>
        </p:spPr>
      </p:pic>
      <p:pic>
        <p:nvPicPr>
          <p:cNvPr id="4" name="图片 3"/>
          <p:cNvPicPr>
            <a:picLocks noChangeAspect="1"/>
          </p:cNvPicPr>
          <p:nvPr/>
        </p:nvPicPr>
        <p:blipFill>
          <a:blip r:embed="rId3"/>
          <a:stretch>
            <a:fillRect/>
          </a:stretch>
        </p:blipFill>
        <p:spPr>
          <a:xfrm>
            <a:off x="6266811" y="2746457"/>
            <a:ext cx="2467576" cy="399449"/>
          </a:xfrm>
          <a:prstGeom prst="rect">
            <a:avLst/>
          </a:prstGeom>
        </p:spPr>
      </p:pic>
      <p:pic>
        <p:nvPicPr>
          <p:cNvPr id="5" name="图片 4"/>
          <p:cNvPicPr>
            <a:picLocks noChangeAspect="1"/>
          </p:cNvPicPr>
          <p:nvPr/>
        </p:nvPicPr>
        <p:blipFill>
          <a:blip r:embed="rId4"/>
          <a:stretch>
            <a:fillRect/>
          </a:stretch>
        </p:blipFill>
        <p:spPr>
          <a:xfrm>
            <a:off x="6258785" y="2183430"/>
            <a:ext cx="2479707" cy="434299"/>
          </a:xfrm>
          <a:prstGeom prst="rect">
            <a:avLst/>
          </a:prstGeom>
        </p:spPr>
      </p:pic>
      <p:pic>
        <p:nvPicPr>
          <p:cNvPr id="6" name="图片 5"/>
          <p:cNvPicPr>
            <a:picLocks noChangeAspect="1"/>
          </p:cNvPicPr>
          <p:nvPr/>
        </p:nvPicPr>
        <p:blipFill>
          <a:blip r:embed="rId5"/>
          <a:stretch>
            <a:fillRect/>
          </a:stretch>
        </p:blipFill>
        <p:spPr>
          <a:xfrm>
            <a:off x="6266811" y="4186212"/>
            <a:ext cx="2474917" cy="455291"/>
          </a:xfrm>
          <a:prstGeom prst="rect">
            <a:avLst/>
          </a:prstGeom>
        </p:spPr>
      </p:pic>
      <p:pic>
        <p:nvPicPr>
          <p:cNvPr id="7" name="图片 6"/>
          <p:cNvPicPr>
            <a:picLocks noChangeAspect="1"/>
          </p:cNvPicPr>
          <p:nvPr/>
        </p:nvPicPr>
        <p:blipFill>
          <a:blip r:embed="rId6"/>
          <a:stretch>
            <a:fillRect/>
          </a:stretch>
        </p:blipFill>
        <p:spPr>
          <a:xfrm>
            <a:off x="1259632" y="4356254"/>
            <a:ext cx="4253702" cy="436597"/>
          </a:xfrm>
          <a:prstGeom prst="rect">
            <a:avLst/>
          </a:prstGeom>
        </p:spPr>
      </p:pic>
    </p:spTree>
    <p:extLst>
      <p:ext uri="{BB962C8B-B14F-4D97-AF65-F5344CB8AC3E}">
        <p14:creationId xmlns:p14="http://schemas.microsoft.com/office/powerpoint/2010/main" val="638025104"/>
      </p:ext>
    </p:extLst>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bwMode="auto">
          <a:xfrm>
            <a:off x="467544" y="1041580"/>
            <a:ext cx="8280920" cy="1008112"/>
          </a:xfrm>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p>
            <a:pPr>
              <a:lnSpc>
                <a:spcPct val="150000"/>
              </a:lnSpc>
              <a:buNone/>
            </a:pPr>
            <a:r>
              <a:rPr lang="zh-CN" altLang="zh-CN" sz="1800" dirty="0">
                <a:solidFill>
                  <a:schemeClr val="tx1"/>
                </a:solidFill>
              </a:rPr>
              <a:t>在</a:t>
            </a:r>
            <a:r>
              <a:rPr lang="en-US" altLang="zh-CN" sz="1800" dirty="0">
                <a:solidFill>
                  <a:schemeClr val="tx1"/>
                </a:solidFill>
              </a:rPr>
              <a:t>Python</a:t>
            </a:r>
            <a:r>
              <a:rPr lang="zh-CN" altLang="zh-CN" sz="1800" dirty="0">
                <a:solidFill>
                  <a:schemeClr val="tx1"/>
                </a:solidFill>
              </a:rPr>
              <a:t>中用</a:t>
            </a:r>
            <a:r>
              <a:rPr kumimoji="1" lang="en-US" altLang="zh-CN" sz="1800" b="1" kern="1200" dirty="0">
                <a:solidFill>
                  <a:srgbClr val="00B050"/>
                </a:solidFill>
                <a:cs typeface="Courier New" pitchFamily="49" charset="0"/>
              </a:rPr>
              <a:t>True</a:t>
            </a:r>
            <a:r>
              <a:rPr lang="zh-CN" altLang="zh-CN" sz="1800" b="1" dirty="0">
                <a:solidFill>
                  <a:srgbClr val="00B050"/>
                </a:solidFill>
              </a:rPr>
              <a:t>和</a:t>
            </a:r>
            <a:r>
              <a:rPr lang="en-US" altLang="zh-CN" sz="1800" b="1" dirty="0">
                <a:solidFill>
                  <a:srgbClr val="00B050"/>
                </a:solidFill>
              </a:rPr>
              <a:t>F</a:t>
            </a:r>
            <a:r>
              <a:rPr kumimoji="1" lang="en-US" altLang="zh-CN" sz="1800" b="1" kern="1200" dirty="0">
                <a:solidFill>
                  <a:srgbClr val="00B050"/>
                </a:solidFill>
                <a:cs typeface="Courier New" pitchFamily="49" charset="0"/>
              </a:rPr>
              <a:t>alse</a:t>
            </a:r>
            <a:r>
              <a:rPr lang="zh-CN" altLang="zh-CN" sz="1800" b="1" dirty="0">
                <a:solidFill>
                  <a:srgbClr val="00B050"/>
                </a:solidFill>
              </a:rPr>
              <a:t>表示真和假</a:t>
            </a:r>
            <a:r>
              <a:rPr lang="zh-CN" altLang="en-US" sz="1800" dirty="0">
                <a:solidFill>
                  <a:schemeClr val="tx1"/>
                </a:solidFill>
              </a:rPr>
              <a:t>。</a:t>
            </a:r>
            <a:r>
              <a:rPr lang="zh-CN" altLang="zh-CN" sz="1800" dirty="0">
                <a:solidFill>
                  <a:schemeClr val="tx1"/>
                </a:solidFill>
              </a:rPr>
              <a:t>注意首字母大写其余小写。</a:t>
            </a:r>
            <a:endParaRPr lang="en-US" altLang="zh-CN" sz="1800" dirty="0">
              <a:solidFill>
                <a:schemeClr val="tx1"/>
              </a:solidFill>
            </a:endParaRPr>
          </a:p>
          <a:p>
            <a:pPr>
              <a:lnSpc>
                <a:spcPct val="150000"/>
              </a:lnSpc>
              <a:buNone/>
            </a:pPr>
            <a:r>
              <a:rPr lang="zh-CN" altLang="zh-CN" sz="1800" dirty="0"/>
              <a:t>一般用于分支和循环条件</a:t>
            </a:r>
            <a:r>
              <a:rPr lang="zh-CN" altLang="en-US" sz="1800" dirty="0"/>
              <a:t>的</a:t>
            </a:r>
            <a:r>
              <a:rPr lang="zh-CN" altLang="zh-CN" sz="1800" dirty="0"/>
              <a:t>判断</a:t>
            </a:r>
            <a:endParaRPr lang="zh-CN" altLang="zh-CN" sz="1800" dirty="0">
              <a:solidFill>
                <a:schemeClr val="tx1"/>
              </a:solidFill>
            </a:endParaRPr>
          </a:p>
        </p:txBody>
      </p:sp>
      <p:sp>
        <p:nvSpPr>
          <p:cNvPr id="29699" name="TextBox 1"/>
          <p:cNvSpPr txBox="1">
            <a:spLocks noChangeArrowheads="1"/>
          </p:cNvSpPr>
          <p:nvPr/>
        </p:nvSpPr>
        <p:spPr bwMode="auto">
          <a:xfrm>
            <a:off x="467544" y="525909"/>
            <a:ext cx="4752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zh-CN" altLang="en-US" dirty="0">
                <a:solidFill>
                  <a:srgbClr val="0070C0"/>
                </a:solidFill>
                <a:latin typeface="微软雅黑" pitchFamily="34" charset="-122"/>
                <a:ea typeface="微软雅黑" pitchFamily="34" charset="-122"/>
              </a:rPr>
              <a:t>布尔类型（</a:t>
            </a:r>
            <a:r>
              <a:rPr lang="en-US" altLang="zh-CN" dirty="0" err="1">
                <a:solidFill>
                  <a:srgbClr val="0070C0"/>
                </a:solidFill>
                <a:latin typeface="微软雅黑" pitchFamily="34" charset="-122"/>
                <a:ea typeface="微软雅黑" pitchFamily="34" charset="-122"/>
              </a:rPr>
              <a:t>bool</a:t>
            </a:r>
            <a:r>
              <a:rPr lang="zh-CN" altLang="en-US" dirty="0">
                <a:solidFill>
                  <a:srgbClr val="0070C0"/>
                </a:solidFill>
                <a:latin typeface="微软雅黑" pitchFamily="34" charset="-122"/>
                <a:ea typeface="微软雅黑" pitchFamily="34" charset="-122"/>
              </a:rPr>
              <a:t>）</a:t>
            </a:r>
          </a:p>
        </p:txBody>
      </p:sp>
      <p:sp>
        <p:nvSpPr>
          <p:cNvPr id="8" name="AutoShape 44"/>
          <p:cNvSpPr>
            <a:spLocks noChangeArrowheads="1"/>
          </p:cNvSpPr>
          <p:nvPr/>
        </p:nvSpPr>
        <p:spPr bwMode="gray">
          <a:xfrm>
            <a:off x="445169" y="2715766"/>
            <a:ext cx="4968552" cy="1584176"/>
          </a:xfrm>
          <a:prstGeom prst="roundRect">
            <a:avLst>
              <a:gd name="adj" fmla="val 8014"/>
            </a:avLst>
          </a:prstGeom>
          <a:solidFill>
            <a:srgbClr val="FFFFCC"/>
          </a:solidFill>
          <a:ln w="9525">
            <a:solidFill>
              <a:srgbClr val="808000"/>
            </a:solidFill>
            <a:round/>
            <a:headEnd/>
            <a:tailEnd/>
          </a:ln>
        </p:spPr>
        <p:txBody>
          <a:bodyPr wrap="none" anchor="ctr"/>
          <a:lstStyle/>
          <a:p>
            <a:pPr>
              <a:lnSpc>
                <a:spcPct val="150000"/>
              </a:lnSpc>
              <a:spcBef>
                <a:spcPts val="0"/>
              </a:spcBef>
              <a:buNone/>
            </a:pPr>
            <a:r>
              <a:rPr lang="zh-CN" altLang="en-US" sz="1800" dirty="0">
                <a:latin typeface="微软雅黑" pitchFamily="34" charset="-122"/>
                <a:ea typeface="微软雅黑" pitchFamily="34" charset="-122"/>
              </a:rPr>
              <a:t>注意：</a:t>
            </a:r>
            <a:r>
              <a:rPr lang="zh-CN" altLang="zh-CN" sz="1800" b="0" dirty="0">
                <a:latin typeface="微软雅黑" pitchFamily="34" charset="-122"/>
                <a:ea typeface="微软雅黑" pitchFamily="34" charset="-122"/>
              </a:rPr>
              <a:t>在</a:t>
            </a:r>
            <a:r>
              <a:rPr lang="en-US" altLang="zh-CN" sz="1800" b="0" dirty="0">
                <a:latin typeface="微软雅黑" pitchFamily="34" charset="-122"/>
                <a:ea typeface="微软雅黑" pitchFamily="34" charset="-122"/>
              </a:rPr>
              <a:t>Python</a:t>
            </a:r>
            <a:r>
              <a:rPr lang="zh-CN" altLang="zh-CN" sz="1800" b="0" dirty="0">
                <a:latin typeface="微软雅黑" pitchFamily="34" charset="-122"/>
                <a:ea typeface="微软雅黑" pitchFamily="34" charset="-122"/>
              </a:rPr>
              <a:t>中，布尔类型属于数值类型，</a:t>
            </a:r>
            <a:endParaRPr lang="en-US" altLang="zh-CN" sz="1800" b="0" dirty="0">
              <a:latin typeface="微软雅黑" pitchFamily="34" charset="-122"/>
              <a:ea typeface="微软雅黑" pitchFamily="34" charset="-122"/>
            </a:endParaRPr>
          </a:p>
          <a:p>
            <a:pPr>
              <a:lnSpc>
                <a:spcPct val="150000"/>
              </a:lnSpc>
              <a:spcBef>
                <a:spcPts val="0"/>
              </a:spcBef>
              <a:buNone/>
            </a:pPr>
            <a:r>
              <a:rPr lang="en-US" altLang="zh-CN" sz="1800" b="0" dirty="0">
                <a:latin typeface="微软雅黑" pitchFamily="34" charset="-122"/>
                <a:ea typeface="微软雅黑" pitchFamily="34" charset="-122"/>
              </a:rPr>
              <a:t>          </a:t>
            </a:r>
            <a:r>
              <a:rPr lang="zh-CN" altLang="zh-CN" sz="1800" b="0" dirty="0">
                <a:latin typeface="微软雅黑" pitchFamily="34" charset="-122"/>
                <a:ea typeface="微软雅黑" pitchFamily="34" charset="-122"/>
              </a:rPr>
              <a:t>当参与数值表达式运算时，</a:t>
            </a:r>
            <a:endParaRPr lang="en-US" altLang="zh-CN" sz="1800" b="0" dirty="0">
              <a:latin typeface="微软雅黑" pitchFamily="34" charset="-122"/>
              <a:ea typeface="微软雅黑" pitchFamily="34" charset="-122"/>
            </a:endParaRPr>
          </a:p>
          <a:p>
            <a:pPr>
              <a:lnSpc>
                <a:spcPct val="150000"/>
              </a:lnSpc>
              <a:spcBef>
                <a:spcPts val="0"/>
              </a:spcBef>
              <a:buNone/>
            </a:pPr>
            <a:r>
              <a:rPr lang="en-US" altLang="zh-CN" sz="1800" dirty="0">
                <a:latin typeface="Courier New" pitchFamily="49" charset="0"/>
                <a:ea typeface="微软雅黑" pitchFamily="34" charset="-122"/>
                <a:cs typeface="Courier New" pitchFamily="49" charset="0"/>
              </a:rPr>
              <a:t>     </a:t>
            </a:r>
            <a:r>
              <a:rPr lang="en-US" altLang="zh-CN" sz="1800" b="1" dirty="0">
                <a:solidFill>
                  <a:srgbClr val="00B050"/>
                </a:solidFill>
                <a:latin typeface="微软雅黑" panose="020B0503020204020204" pitchFamily="34" charset="-122"/>
                <a:ea typeface="微软雅黑" panose="020B0503020204020204" pitchFamily="34" charset="-122"/>
                <a:cs typeface="Courier New" pitchFamily="49" charset="0"/>
              </a:rPr>
              <a:t>True</a:t>
            </a:r>
            <a:r>
              <a:rPr lang="zh-CN" altLang="zh-CN" sz="1800" b="1" dirty="0">
                <a:solidFill>
                  <a:srgbClr val="00B050"/>
                </a:solidFill>
                <a:latin typeface="微软雅黑" pitchFamily="34" charset="-122"/>
                <a:ea typeface="微软雅黑" pitchFamily="34" charset="-122"/>
              </a:rPr>
              <a:t>自动转化为</a:t>
            </a:r>
            <a:r>
              <a:rPr lang="en-US" altLang="zh-CN" sz="1800" b="1" dirty="0">
                <a:solidFill>
                  <a:srgbClr val="00B050"/>
                </a:solidFill>
                <a:latin typeface="微软雅黑" panose="020B0503020204020204" pitchFamily="34" charset="-122"/>
                <a:ea typeface="微软雅黑" panose="020B0503020204020204" pitchFamily="34" charset="-122"/>
                <a:cs typeface="Courier New" pitchFamily="49" charset="0"/>
              </a:rPr>
              <a:t>1</a:t>
            </a:r>
            <a:r>
              <a:rPr lang="zh-CN" altLang="zh-CN" sz="1800" b="1" dirty="0">
                <a:solidFill>
                  <a:srgbClr val="00B050"/>
                </a:solidFill>
                <a:latin typeface="微软雅黑" pitchFamily="34" charset="-122"/>
                <a:ea typeface="微软雅黑" pitchFamily="34" charset="-122"/>
              </a:rPr>
              <a:t>，</a:t>
            </a:r>
            <a:r>
              <a:rPr lang="en-US" altLang="zh-CN" sz="1800" b="1" dirty="0">
                <a:solidFill>
                  <a:srgbClr val="00B050"/>
                </a:solidFill>
                <a:latin typeface="微软雅黑" panose="020B0503020204020204" pitchFamily="34" charset="-122"/>
                <a:ea typeface="微软雅黑" panose="020B0503020204020204" pitchFamily="34" charset="-122"/>
                <a:cs typeface="Courier New" pitchFamily="49" charset="0"/>
              </a:rPr>
              <a:t>False</a:t>
            </a:r>
            <a:r>
              <a:rPr lang="zh-CN" altLang="zh-CN" sz="1800" b="1" dirty="0">
                <a:solidFill>
                  <a:srgbClr val="00B050"/>
                </a:solidFill>
                <a:latin typeface="微软雅黑" pitchFamily="34" charset="-122"/>
                <a:ea typeface="微软雅黑" pitchFamily="34" charset="-122"/>
              </a:rPr>
              <a:t>转化为</a:t>
            </a:r>
            <a:r>
              <a:rPr lang="en-US" altLang="zh-CN" sz="1800" b="1" dirty="0">
                <a:solidFill>
                  <a:srgbClr val="00B050"/>
                </a:solidFill>
                <a:latin typeface="微软雅黑" panose="020B0503020204020204" pitchFamily="34" charset="-122"/>
                <a:ea typeface="微软雅黑" panose="020B0503020204020204" pitchFamily="34" charset="-122"/>
                <a:cs typeface="Courier New" pitchFamily="49" charset="0"/>
              </a:rPr>
              <a:t>0</a:t>
            </a:r>
            <a:r>
              <a:rPr lang="zh-CN" altLang="zh-CN" sz="1800" b="0" dirty="0">
                <a:latin typeface="微软雅黑" pitchFamily="34" charset="-122"/>
                <a:ea typeface="微软雅黑" pitchFamily="34" charset="-122"/>
              </a:rPr>
              <a:t>。</a:t>
            </a:r>
            <a:r>
              <a:rPr lang="en-US" altLang="zh-CN" sz="1800" b="0" dirty="0">
                <a:latin typeface="微软雅黑" pitchFamily="34" charset="-122"/>
                <a:ea typeface="微软雅黑" pitchFamily="34" charset="-122"/>
              </a:rPr>
              <a:t>           </a:t>
            </a:r>
            <a:endParaRPr lang="zh-CN" altLang="zh-CN" sz="1800" b="0" dirty="0">
              <a:latin typeface="微软雅黑" pitchFamily="34" charset="-122"/>
              <a:ea typeface="微软雅黑" pitchFamily="34" charset="-122"/>
            </a:endParaRPr>
          </a:p>
        </p:txBody>
      </p:sp>
      <p:sp>
        <p:nvSpPr>
          <p:cNvPr id="11" name="AutoShape 44"/>
          <p:cNvSpPr>
            <a:spLocks noChangeArrowheads="1"/>
          </p:cNvSpPr>
          <p:nvPr/>
        </p:nvSpPr>
        <p:spPr bwMode="gray">
          <a:xfrm>
            <a:off x="6228184" y="2715766"/>
            <a:ext cx="2088232" cy="1584176"/>
          </a:xfrm>
          <a:prstGeom prst="roundRect">
            <a:avLst>
              <a:gd name="adj" fmla="val 8014"/>
            </a:avLst>
          </a:prstGeom>
          <a:solidFill>
            <a:srgbClr val="F8F8F8"/>
          </a:solidFill>
          <a:ln w="9525">
            <a:solidFill>
              <a:srgbClr val="8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dirty="0">
                <a:solidFill>
                  <a:srgbClr val="000066"/>
                </a:solidFill>
                <a:latin typeface="Courier New" pitchFamily="49" charset="0"/>
                <a:ea typeface="微软雅黑" pitchFamily="34" charset="-122"/>
                <a:cs typeface="Courier New" pitchFamily="49" charset="0"/>
              </a:rPr>
              <a:t>&gt;&gt;&gt; x=3+True</a:t>
            </a:r>
            <a:endParaRPr lang="zh-CN" altLang="zh-CN" sz="1600" dirty="0">
              <a:solidFill>
                <a:srgbClr val="000066"/>
              </a:solidFill>
              <a:latin typeface="Courier New" pitchFamily="49" charset="0"/>
              <a:ea typeface="微软雅黑" pitchFamily="34" charset="-122"/>
              <a:cs typeface="Courier New" pitchFamily="49" charset="0"/>
            </a:endParaRPr>
          </a:p>
          <a:p>
            <a:r>
              <a:rPr lang="en-US" altLang="zh-CN" sz="1600" dirty="0">
                <a:solidFill>
                  <a:srgbClr val="000066"/>
                </a:solidFill>
                <a:latin typeface="Courier New" pitchFamily="49" charset="0"/>
                <a:ea typeface="微软雅黑" pitchFamily="34" charset="-122"/>
                <a:cs typeface="Courier New" pitchFamily="49" charset="0"/>
              </a:rPr>
              <a:t>&gt;&gt;&gt; x</a:t>
            </a:r>
            <a:endParaRPr lang="zh-CN" altLang="zh-CN" sz="1600" dirty="0">
              <a:solidFill>
                <a:srgbClr val="000066"/>
              </a:solidFill>
              <a:latin typeface="Courier New" pitchFamily="49" charset="0"/>
              <a:ea typeface="微软雅黑" pitchFamily="34" charset="-122"/>
              <a:cs typeface="Courier New" pitchFamily="49" charset="0"/>
            </a:endParaRPr>
          </a:p>
          <a:p>
            <a:r>
              <a:rPr lang="en-US" altLang="zh-CN" sz="1600" dirty="0">
                <a:solidFill>
                  <a:srgbClr val="000066"/>
                </a:solidFill>
                <a:latin typeface="Courier New" pitchFamily="49" charset="0"/>
                <a:ea typeface="微软雅黑" pitchFamily="34" charset="-122"/>
                <a:cs typeface="Courier New" pitchFamily="49" charset="0"/>
              </a:rPr>
              <a:t>4</a:t>
            </a:r>
            <a:endParaRPr lang="zh-CN" altLang="zh-CN" sz="1600" dirty="0">
              <a:solidFill>
                <a:srgbClr val="000066"/>
              </a:solidFill>
              <a:latin typeface="Courier New" pitchFamily="49" charset="0"/>
              <a:ea typeface="微软雅黑" pitchFamily="34" charset="-122"/>
              <a:cs typeface="Courier New" pitchFamily="49" charset="0"/>
            </a:endParaRPr>
          </a:p>
          <a:p>
            <a:endParaRPr lang="zh-CN" altLang="zh-CN" sz="1600" dirty="0"/>
          </a:p>
        </p:txBody>
      </p:sp>
    </p:spTree>
    <p:extLst>
      <p:ext uri="{BB962C8B-B14F-4D97-AF65-F5344CB8AC3E}">
        <p14:creationId xmlns:p14="http://schemas.microsoft.com/office/powerpoint/2010/main" val="37482848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wipe(up)">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Effect transition="in" filter="wipe(up)">
                                      <p:cBhvr>
                                        <p:cTn id="17" dur="500"/>
                                        <p:tgtEl>
                                          <p:spTgt spid="1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Effect transition="in" filter="wipe(up)">
                                      <p:cBhvr>
                                        <p:cTn id="22"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6"/>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标题 1"/>
          <p:cNvSpPr>
            <a:spLocks noGrp="1"/>
          </p:cNvSpPr>
          <p:nvPr>
            <p:ph type="title"/>
          </p:nvPr>
        </p:nvSpPr>
        <p:spPr>
          <a:xfrm>
            <a:off x="683568" y="184150"/>
            <a:ext cx="8275638" cy="506859"/>
          </a:xfrm>
        </p:spPr>
        <p:txBody>
          <a:bodyPr/>
          <a:lstStyle/>
          <a:p>
            <a:r>
              <a:rPr lang="zh-CN" altLang="en-US" sz="2400" dirty="0"/>
              <a:t>关系运算</a:t>
            </a:r>
          </a:p>
        </p:txBody>
      </p:sp>
      <p:graphicFrame>
        <p:nvGraphicFramePr>
          <p:cNvPr id="4" name="表格 3"/>
          <p:cNvGraphicFramePr>
            <a:graphicFrameLocks noGrp="1"/>
          </p:cNvGraphicFramePr>
          <p:nvPr>
            <p:extLst>
              <p:ext uri="{D42A27DB-BD31-4B8C-83A1-F6EECF244321}">
                <p14:modId xmlns:p14="http://schemas.microsoft.com/office/powerpoint/2010/main" val="1392708593"/>
              </p:ext>
            </p:extLst>
          </p:nvPr>
        </p:nvGraphicFramePr>
        <p:xfrm>
          <a:off x="719572" y="786988"/>
          <a:ext cx="7704857" cy="2427612"/>
        </p:xfrm>
        <a:graphic>
          <a:graphicData uri="http://schemas.openxmlformats.org/drawingml/2006/table">
            <a:tbl>
              <a:tblPr>
                <a:tableStyleId>{BC89EF96-8CEA-46FF-86C4-4CE0E7609802}</a:tableStyleId>
              </a:tblPr>
              <a:tblGrid>
                <a:gridCol w="2224083">
                  <a:extLst>
                    <a:ext uri="{9D8B030D-6E8A-4147-A177-3AD203B41FA5}">
                      <a16:colId xmlns:a16="http://schemas.microsoft.com/office/drawing/2014/main" val="2956060744"/>
                    </a:ext>
                  </a:extLst>
                </a:gridCol>
                <a:gridCol w="2013589">
                  <a:extLst>
                    <a:ext uri="{9D8B030D-6E8A-4147-A177-3AD203B41FA5}">
                      <a16:colId xmlns:a16="http://schemas.microsoft.com/office/drawing/2014/main" val="3975135948"/>
                    </a:ext>
                  </a:extLst>
                </a:gridCol>
                <a:gridCol w="3467185">
                  <a:extLst>
                    <a:ext uri="{9D8B030D-6E8A-4147-A177-3AD203B41FA5}">
                      <a16:colId xmlns:a16="http://schemas.microsoft.com/office/drawing/2014/main" val="1471736549"/>
                    </a:ext>
                  </a:extLst>
                </a:gridCol>
              </a:tblGrid>
              <a:tr h="217711">
                <a:tc>
                  <a:txBody>
                    <a:bodyPr/>
                    <a:lstStyle/>
                    <a:p>
                      <a:pPr algn="ctr" fontAlgn="t"/>
                      <a:r>
                        <a:rPr lang="zh-CN" altLang="en-US" sz="1600" dirty="0">
                          <a:effectLst/>
                        </a:rPr>
                        <a:t>关系运算符</a:t>
                      </a:r>
                      <a:endParaRPr lang="zh-CN" altLang="en-US" sz="1600" dirty="0">
                        <a:solidFill>
                          <a:srgbClr val="FFFFFF"/>
                        </a:solidFill>
                        <a:effectLst/>
                      </a:endParaRPr>
                    </a:p>
                  </a:txBody>
                  <a:tcPr marL="24024" marR="24024" marT="24024" marB="24024" anchor="ctr">
                    <a:solidFill>
                      <a:schemeClr val="accent1">
                        <a:lumMod val="20000"/>
                        <a:lumOff val="80000"/>
                      </a:schemeClr>
                    </a:solidFill>
                  </a:tcPr>
                </a:tc>
                <a:tc>
                  <a:txBody>
                    <a:bodyPr/>
                    <a:lstStyle/>
                    <a:p>
                      <a:pPr algn="ctr" fontAlgn="t"/>
                      <a:r>
                        <a:rPr lang="zh-CN" altLang="en-US" sz="1600" dirty="0">
                          <a:effectLst/>
                        </a:rPr>
                        <a:t>描述</a:t>
                      </a:r>
                      <a:endParaRPr lang="zh-CN" altLang="en-US" sz="1600" dirty="0">
                        <a:solidFill>
                          <a:srgbClr val="FFFFFF"/>
                        </a:solidFill>
                        <a:effectLst/>
                      </a:endParaRPr>
                    </a:p>
                  </a:txBody>
                  <a:tcPr marL="24024" marR="24024" marT="24024" marB="24024" anchor="ctr">
                    <a:solidFill>
                      <a:schemeClr val="accent1">
                        <a:lumMod val="20000"/>
                        <a:lumOff val="80000"/>
                      </a:schemeClr>
                    </a:solidFill>
                  </a:tcPr>
                </a:tc>
                <a:tc>
                  <a:txBody>
                    <a:bodyPr/>
                    <a:lstStyle/>
                    <a:p>
                      <a:pPr algn="ctr" fontAlgn="t"/>
                      <a:r>
                        <a:rPr lang="zh-CN" altLang="en-US" sz="1600" dirty="0">
                          <a:effectLst/>
                        </a:rPr>
                        <a:t>实例</a:t>
                      </a:r>
                      <a:endParaRPr lang="zh-CN" altLang="en-US" sz="1600" dirty="0">
                        <a:solidFill>
                          <a:srgbClr val="FFFFFF"/>
                        </a:solidFill>
                        <a:effectLst/>
                      </a:endParaRPr>
                    </a:p>
                  </a:txBody>
                  <a:tcPr marL="24024" marR="24024" marT="24024" marB="24024" anchor="ctr">
                    <a:solidFill>
                      <a:schemeClr val="accent1">
                        <a:lumMod val="20000"/>
                        <a:lumOff val="80000"/>
                      </a:schemeClr>
                    </a:solidFill>
                  </a:tcPr>
                </a:tc>
                <a:extLst>
                  <a:ext uri="{0D108BD9-81ED-4DB2-BD59-A6C34878D82A}">
                    <a16:rowId xmlns:a16="http://schemas.microsoft.com/office/drawing/2014/main" val="3980061599"/>
                  </a:ext>
                </a:extLst>
              </a:tr>
              <a:tr h="183375">
                <a:tc>
                  <a:txBody>
                    <a:bodyPr/>
                    <a:lstStyle/>
                    <a:p>
                      <a:pPr algn="ctr" fontAlgn="t"/>
                      <a:r>
                        <a:rPr lang="en-US" altLang="zh-CN" sz="1600" b="1" dirty="0">
                          <a:solidFill>
                            <a:srgbClr val="C00000"/>
                          </a:solidFill>
                          <a:effectLst/>
                        </a:rPr>
                        <a:t>==</a:t>
                      </a:r>
                    </a:p>
                  </a:txBody>
                  <a:tcPr marL="40041" marR="40041" marT="56057" marB="56057" anchor="ctr"/>
                </a:tc>
                <a:tc>
                  <a:txBody>
                    <a:bodyPr/>
                    <a:lstStyle/>
                    <a:p>
                      <a:pPr algn="ctr" fontAlgn="t"/>
                      <a:r>
                        <a:rPr lang="zh-CN" altLang="en-US" sz="1600" dirty="0">
                          <a:effectLst/>
                        </a:rPr>
                        <a:t>相等</a:t>
                      </a:r>
                    </a:p>
                  </a:txBody>
                  <a:tcPr marL="40041" marR="40041" marT="56057" marB="56057" anchor="ctr"/>
                </a:tc>
                <a:tc>
                  <a:txBody>
                    <a:bodyPr/>
                    <a:lstStyle/>
                    <a:p>
                      <a:pPr algn="ctr" fontAlgn="t"/>
                      <a:r>
                        <a:rPr lang="en-US" sz="1600" dirty="0">
                          <a:effectLst/>
                        </a:rPr>
                        <a:t>(a == b) </a:t>
                      </a:r>
                      <a:r>
                        <a:rPr lang="zh-CN" altLang="en-US" sz="1600" dirty="0">
                          <a:effectLst/>
                        </a:rPr>
                        <a:t>返回 </a:t>
                      </a:r>
                      <a:r>
                        <a:rPr lang="en-US" sz="1600" dirty="0">
                          <a:effectLst/>
                        </a:rPr>
                        <a:t>False</a:t>
                      </a:r>
                    </a:p>
                  </a:txBody>
                  <a:tcPr marL="40041" marR="40041" marT="56057" marB="56057" anchor="ctr"/>
                </a:tc>
                <a:extLst>
                  <a:ext uri="{0D108BD9-81ED-4DB2-BD59-A6C34878D82A}">
                    <a16:rowId xmlns:a16="http://schemas.microsoft.com/office/drawing/2014/main" val="923885999"/>
                  </a:ext>
                </a:extLst>
              </a:tr>
              <a:tr h="0">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600" b="1" dirty="0">
                          <a:solidFill>
                            <a:srgbClr val="C00000"/>
                          </a:solidFill>
                          <a:effectLst/>
                        </a:rPr>
                        <a:t>!=</a:t>
                      </a:r>
                    </a:p>
                  </a:txBody>
                  <a:tcPr marL="40041" marR="40041" marT="56057" marB="56057" anchor="ctr"/>
                </a:tc>
                <a:tc>
                  <a:txBody>
                    <a:bodyPr/>
                    <a:lstStyle/>
                    <a:p>
                      <a:pPr algn="ctr" fontAlgn="t"/>
                      <a:r>
                        <a:rPr lang="zh-CN" altLang="en-US" sz="1600" dirty="0">
                          <a:effectLst/>
                        </a:rPr>
                        <a:t>不等于</a:t>
                      </a:r>
                    </a:p>
                  </a:txBody>
                  <a:tcPr marL="40041" marR="40041" marT="56057" marB="56057" anchor="ctr"/>
                </a:tc>
                <a:tc>
                  <a:txBody>
                    <a:bodyPr/>
                    <a:lstStyle/>
                    <a:p>
                      <a:pPr algn="ctr" fontAlgn="t"/>
                      <a:r>
                        <a:rPr lang="en-US" sz="1600" dirty="0">
                          <a:effectLst/>
                        </a:rPr>
                        <a:t>(a != b) </a:t>
                      </a:r>
                      <a:r>
                        <a:rPr lang="zh-CN" altLang="en-US" sz="1600" dirty="0">
                          <a:effectLst/>
                        </a:rPr>
                        <a:t>返回 </a:t>
                      </a:r>
                      <a:r>
                        <a:rPr lang="en-US" sz="1600" dirty="0">
                          <a:effectLst/>
                        </a:rPr>
                        <a:t>true</a:t>
                      </a:r>
                    </a:p>
                  </a:txBody>
                  <a:tcPr marL="40041" marR="40041" marT="56057" marB="56057" anchor="ctr"/>
                </a:tc>
                <a:extLst>
                  <a:ext uri="{0D108BD9-81ED-4DB2-BD59-A6C34878D82A}">
                    <a16:rowId xmlns:a16="http://schemas.microsoft.com/office/drawing/2014/main" val="4171813621"/>
                  </a:ext>
                </a:extLst>
              </a:tr>
              <a:tr h="342747">
                <a:tc>
                  <a:txBody>
                    <a:bodyPr/>
                    <a:lstStyle/>
                    <a:p>
                      <a:pPr algn="ctr" fontAlgn="t"/>
                      <a:r>
                        <a:rPr lang="en-US" altLang="zh-CN" sz="1600" dirty="0">
                          <a:effectLst/>
                        </a:rPr>
                        <a:t>&gt;</a:t>
                      </a:r>
                    </a:p>
                  </a:txBody>
                  <a:tcPr marL="40041" marR="40041" marT="56057" marB="56057" anchor="ctr"/>
                </a:tc>
                <a:tc>
                  <a:txBody>
                    <a:bodyPr/>
                    <a:lstStyle/>
                    <a:p>
                      <a:pPr algn="ctr" fontAlgn="t"/>
                      <a:r>
                        <a:rPr lang="zh-CN" altLang="en-US" sz="1600" dirty="0">
                          <a:effectLst/>
                        </a:rPr>
                        <a:t>大于</a:t>
                      </a:r>
                      <a:endParaRPr lang="en-US" sz="1600" dirty="0">
                        <a:effectLst/>
                      </a:endParaRPr>
                    </a:p>
                  </a:txBody>
                  <a:tcPr marL="40041" marR="40041" marT="56057" marB="56057" anchor="ctr"/>
                </a:tc>
                <a:tc>
                  <a:txBody>
                    <a:bodyPr/>
                    <a:lstStyle/>
                    <a:p>
                      <a:pPr algn="ctr" fontAlgn="t"/>
                      <a:r>
                        <a:rPr lang="en-US" sz="1600" dirty="0">
                          <a:effectLst/>
                        </a:rPr>
                        <a:t>(a &gt; b) </a:t>
                      </a:r>
                      <a:r>
                        <a:rPr lang="zh-CN" altLang="en-US" sz="1600" dirty="0">
                          <a:effectLst/>
                        </a:rPr>
                        <a:t>返回 </a:t>
                      </a:r>
                      <a:r>
                        <a:rPr lang="en-US" sz="1600" dirty="0">
                          <a:effectLst/>
                        </a:rPr>
                        <a:t>False</a:t>
                      </a:r>
                    </a:p>
                  </a:txBody>
                  <a:tcPr marL="40041" marR="40041" marT="56057" marB="56057" anchor="ctr"/>
                </a:tc>
                <a:extLst>
                  <a:ext uri="{0D108BD9-81ED-4DB2-BD59-A6C34878D82A}">
                    <a16:rowId xmlns:a16="http://schemas.microsoft.com/office/drawing/2014/main" val="38017070"/>
                  </a:ext>
                </a:extLst>
              </a:tr>
              <a:tr h="349979">
                <a:tc>
                  <a:txBody>
                    <a:bodyPr/>
                    <a:lstStyle/>
                    <a:p>
                      <a:pPr algn="ctr" fontAlgn="t"/>
                      <a:r>
                        <a:rPr lang="en-US" altLang="zh-CN" sz="1600" dirty="0">
                          <a:effectLst/>
                        </a:rPr>
                        <a:t>&lt;</a:t>
                      </a:r>
                    </a:p>
                  </a:txBody>
                  <a:tcPr marL="40041" marR="40041" marT="56057" marB="56057" anchor="ctr"/>
                </a:tc>
                <a:tc>
                  <a:txBody>
                    <a:bodyPr/>
                    <a:lstStyle/>
                    <a:p>
                      <a:pPr algn="ctr" fontAlgn="t"/>
                      <a:r>
                        <a:rPr lang="zh-CN" altLang="en-US" sz="1600" dirty="0">
                          <a:effectLst/>
                        </a:rPr>
                        <a:t>小于</a:t>
                      </a:r>
                    </a:p>
                  </a:txBody>
                  <a:tcPr marL="40041" marR="40041" marT="56057" marB="56057" anchor="ctr"/>
                </a:tc>
                <a:tc>
                  <a:txBody>
                    <a:bodyPr/>
                    <a:lstStyle/>
                    <a:p>
                      <a:pPr algn="ctr" fontAlgn="t"/>
                      <a:r>
                        <a:rPr lang="en-US" sz="1600" dirty="0">
                          <a:effectLst/>
                        </a:rPr>
                        <a:t>(a &lt; b) </a:t>
                      </a:r>
                      <a:r>
                        <a:rPr lang="zh-CN" altLang="en-US" sz="1600" dirty="0">
                          <a:effectLst/>
                        </a:rPr>
                        <a:t>返回 </a:t>
                      </a:r>
                      <a:r>
                        <a:rPr lang="en-US" sz="1600" dirty="0">
                          <a:effectLst/>
                        </a:rPr>
                        <a:t>true</a:t>
                      </a:r>
                    </a:p>
                  </a:txBody>
                  <a:tcPr marL="40041" marR="40041" marT="56057" marB="56057" anchor="ctr"/>
                </a:tc>
                <a:extLst>
                  <a:ext uri="{0D108BD9-81ED-4DB2-BD59-A6C34878D82A}">
                    <a16:rowId xmlns:a16="http://schemas.microsoft.com/office/drawing/2014/main" val="2677286391"/>
                  </a:ext>
                </a:extLst>
              </a:tr>
              <a:tr h="342747">
                <a:tc>
                  <a:txBody>
                    <a:bodyPr/>
                    <a:lstStyle/>
                    <a:p>
                      <a:pPr algn="ctr" fontAlgn="t"/>
                      <a:r>
                        <a:rPr lang="en-US" altLang="zh-CN" sz="1600" dirty="0">
                          <a:effectLst/>
                        </a:rPr>
                        <a:t>&gt;=</a:t>
                      </a:r>
                    </a:p>
                  </a:txBody>
                  <a:tcPr marL="40041" marR="40041" marT="56057" marB="56057" anchor="ctr"/>
                </a:tc>
                <a:tc>
                  <a:txBody>
                    <a:bodyPr/>
                    <a:lstStyle/>
                    <a:p>
                      <a:pPr algn="ctr" fontAlgn="t"/>
                      <a:r>
                        <a:rPr lang="zh-CN" altLang="en-US" sz="1600" dirty="0">
                          <a:effectLst/>
                        </a:rPr>
                        <a:t>大于等于</a:t>
                      </a:r>
                      <a:endParaRPr lang="en-US" sz="1600" dirty="0">
                        <a:effectLst/>
                      </a:endParaRPr>
                    </a:p>
                  </a:txBody>
                  <a:tcPr marL="40041" marR="40041" marT="56057" marB="56057" anchor="ctr"/>
                </a:tc>
                <a:tc>
                  <a:txBody>
                    <a:bodyPr/>
                    <a:lstStyle/>
                    <a:p>
                      <a:pPr algn="ctr" fontAlgn="t"/>
                      <a:r>
                        <a:rPr lang="en-US" sz="1600" dirty="0">
                          <a:effectLst/>
                        </a:rPr>
                        <a:t>(a &gt;= b) </a:t>
                      </a:r>
                      <a:r>
                        <a:rPr lang="zh-CN" altLang="en-US" sz="1600" dirty="0">
                          <a:effectLst/>
                        </a:rPr>
                        <a:t>返回 </a:t>
                      </a:r>
                      <a:r>
                        <a:rPr lang="en-US" sz="1600" dirty="0">
                          <a:effectLst/>
                        </a:rPr>
                        <a:t>False</a:t>
                      </a:r>
                    </a:p>
                  </a:txBody>
                  <a:tcPr marL="40041" marR="40041" marT="56057" marB="56057" anchor="ctr"/>
                </a:tc>
                <a:extLst>
                  <a:ext uri="{0D108BD9-81ED-4DB2-BD59-A6C34878D82A}">
                    <a16:rowId xmlns:a16="http://schemas.microsoft.com/office/drawing/2014/main" val="1249826025"/>
                  </a:ext>
                </a:extLst>
              </a:tr>
              <a:tr h="342747">
                <a:tc>
                  <a:txBody>
                    <a:bodyPr/>
                    <a:lstStyle/>
                    <a:p>
                      <a:pPr algn="ctr" fontAlgn="t"/>
                      <a:r>
                        <a:rPr lang="en-US" altLang="zh-CN" sz="1600" dirty="0">
                          <a:effectLst/>
                        </a:rPr>
                        <a:t>&lt;=</a:t>
                      </a:r>
                    </a:p>
                  </a:txBody>
                  <a:tcPr marL="40041" marR="40041" marT="56057" marB="56057" anchor="ctr"/>
                </a:tc>
                <a:tc>
                  <a:txBody>
                    <a:bodyPr/>
                    <a:lstStyle/>
                    <a:p>
                      <a:pPr algn="ctr" fontAlgn="t"/>
                      <a:r>
                        <a:rPr lang="zh-CN" altLang="en-US" sz="1600" dirty="0">
                          <a:effectLst/>
                        </a:rPr>
                        <a:t>小于等于</a:t>
                      </a:r>
                      <a:endParaRPr lang="en-US" sz="1600" dirty="0">
                        <a:effectLst/>
                      </a:endParaRPr>
                    </a:p>
                  </a:txBody>
                  <a:tcPr marL="40041" marR="40041" marT="56057" marB="56057" anchor="ctr"/>
                </a:tc>
                <a:tc>
                  <a:txBody>
                    <a:bodyPr/>
                    <a:lstStyle/>
                    <a:p>
                      <a:pPr algn="ctr" fontAlgn="t"/>
                      <a:r>
                        <a:rPr lang="en-US" sz="1600" dirty="0">
                          <a:effectLst/>
                        </a:rPr>
                        <a:t>(a &lt;= b) </a:t>
                      </a:r>
                      <a:r>
                        <a:rPr lang="zh-CN" altLang="en-US" sz="1600" dirty="0">
                          <a:effectLst/>
                        </a:rPr>
                        <a:t>返回 </a:t>
                      </a:r>
                      <a:r>
                        <a:rPr lang="en-US" sz="1600" dirty="0">
                          <a:effectLst/>
                        </a:rPr>
                        <a:t>true</a:t>
                      </a:r>
                    </a:p>
                  </a:txBody>
                  <a:tcPr marL="40041" marR="40041" marT="56057" marB="56057" anchor="ctr"/>
                </a:tc>
                <a:extLst>
                  <a:ext uri="{0D108BD9-81ED-4DB2-BD59-A6C34878D82A}">
                    <a16:rowId xmlns:a16="http://schemas.microsoft.com/office/drawing/2014/main" val="2021758900"/>
                  </a:ext>
                </a:extLst>
              </a:tr>
            </a:tbl>
          </a:graphicData>
        </a:graphic>
      </p:graphicFrame>
      <p:sp>
        <p:nvSpPr>
          <p:cNvPr id="6" name="内容占位符 2">
            <a:extLst>
              <a:ext uri="{FF2B5EF4-FFF2-40B4-BE49-F238E27FC236}">
                <a16:creationId xmlns:a16="http://schemas.microsoft.com/office/drawing/2014/main" id="{7C2AC1A2-6EC1-4167-BE5B-21A211AE1FF6}"/>
              </a:ext>
            </a:extLst>
          </p:cNvPr>
          <p:cNvSpPr txBox="1">
            <a:spLocks/>
          </p:cNvSpPr>
          <p:nvPr/>
        </p:nvSpPr>
        <p:spPr bwMode="auto">
          <a:xfrm>
            <a:off x="4572001" y="3434585"/>
            <a:ext cx="3816424" cy="1296144"/>
          </a:xfrm>
          <a:prstGeom prst="rect">
            <a:avLst/>
          </a:prstGeom>
          <a:solidFill>
            <a:schemeClr val="bg1"/>
          </a:solidFill>
          <a:ln>
            <a:solidFill>
              <a:schemeClr val="accent1"/>
            </a:solidFill>
          </a:ln>
        </p:spPr>
        <p:txBody>
          <a:bodyPr vert="horz" wrap="square" lIns="91440" tIns="45720" rIns="91440" bIns="45720" numCol="1" anchor="t" anchorCtr="0" compatLnSpc="1">
            <a:prstTxWarp prst="textNoShape">
              <a:avLst/>
            </a:prstTxWarp>
          </a:bodyPr>
          <a:lstStyle>
            <a:lvl1pPr marL="411163" indent="-342900" algn="l" rtl="0" eaLnBrk="0" fontAlgn="base" hangingPunct="0">
              <a:spcBef>
                <a:spcPts val="700"/>
              </a:spcBef>
              <a:spcAft>
                <a:spcPct val="0"/>
              </a:spcAft>
              <a:buClr>
                <a:schemeClr val="tx2"/>
              </a:buClr>
              <a:buSzPct val="95000"/>
              <a:buFont typeface="Wingdings"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a:lstStyle>
          <a:p>
            <a:pPr marL="68263" indent="0" algn="just" eaLnBrk="1" hangingPunct="1">
              <a:buNone/>
            </a:pPr>
            <a:r>
              <a:rPr lang="en-US" altLang="zh-CN" sz="1400" b="1" dirty="0"/>
              <a:t>&gt;&gt;&gt; "a" &gt;"A"</a:t>
            </a:r>
          </a:p>
          <a:p>
            <a:pPr marL="68263" indent="0" algn="just" eaLnBrk="1" hangingPunct="1">
              <a:buNone/>
            </a:pPr>
            <a:r>
              <a:rPr lang="en-US" altLang="zh-CN" sz="1400" b="1" dirty="0"/>
              <a:t>True</a:t>
            </a:r>
          </a:p>
          <a:p>
            <a:pPr marL="68263" indent="0" algn="just" eaLnBrk="1" hangingPunct="1">
              <a:buNone/>
            </a:pPr>
            <a:r>
              <a:rPr lang="en-US" altLang="zh-CN" sz="1400" b="1" dirty="0"/>
              <a:t>&gt;&gt;&gt;1.2-1.0==0.2</a:t>
            </a:r>
          </a:p>
          <a:p>
            <a:pPr marL="68263" indent="0" algn="just" eaLnBrk="1" hangingPunct="1">
              <a:buNone/>
            </a:pPr>
            <a:r>
              <a:rPr lang="en-US" altLang="zh-CN" sz="1400" b="1" dirty="0">
                <a:solidFill>
                  <a:srgbClr val="FF0000"/>
                </a:solidFill>
              </a:rPr>
              <a:t>False</a:t>
            </a:r>
          </a:p>
        </p:txBody>
      </p:sp>
      <p:sp>
        <p:nvSpPr>
          <p:cNvPr id="7" name="内容占位符 2">
            <a:extLst>
              <a:ext uri="{FF2B5EF4-FFF2-40B4-BE49-F238E27FC236}">
                <a16:creationId xmlns:a16="http://schemas.microsoft.com/office/drawing/2014/main" id="{BD7F6020-04C4-4B24-8B49-C0F5908DA4A2}"/>
              </a:ext>
            </a:extLst>
          </p:cNvPr>
          <p:cNvSpPr txBox="1">
            <a:spLocks/>
          </p:cNvSpPr>
          <p:nvPr/>
        </p:nvSpPr>
        <p:spPr bwMode="auto">
          <a:xfrm>
            <a:off x="683568" y="3283227"/>
            <a:ext cx="2880320" cy="1440160"/>
          </a:xfrm>
          <a:prstGeom prst="rect">
            <a:avLst/>
          </a:prstGeom>
          <a:solidFill>
            <a:schemeClr val="bg1"/>
          </a:solidFill>
          <a:ln>
            <a:solidFill>
              <a:schemeClr val="accent1"/>
            </a:solidFill>
          </a:ln>
        </p:spPr>
        <p:txBody>
          <a:bodyPr vert="horz" wrap="square" lIns="91440" tIns="45720" rIns="91440" bIns="45720" numCol="1" anchor="t" anchorCtr="0" compatLnSpc="1">
            <a:prstTxWarp prst="textNoShape">
              <a:avLst/>
            </a:prstTxWarp>
          </a:bodyPr>
          <a:lstStyle>
            <a:lvl1pPr marL="411163" indent="-342900" algn="l" rtl="0" eaLnBrk="0" fontAlgn="base" hangingPunct="0">
              <a:spcBef>
                <a:spcPts val="700"/>
              </a:spcBef>
              <a:spcAft>
                <a:spcPct val="0"/>
              </a:spcAft>
              <a:buClr>
                <a:schemeClr val="tx2"/>
              </a:buClr>
              <a:buSzPct val="95000"/>
              <a:buFont typeface="Wingdings"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a:lstStyle>
          <a:p>
            <a:pPr marL="68263" indent="0" algn="just" eaLnBrk="1" hangingPunct="1">
              <a:buNone/>
            </a:pPr>
            <a:r>
              <a:rPr lang="en-US" altLang="zh-CN" sz="1800" b="1" dirty="0"/>
              <a:t>&gt;&gt;&gt; a=1</a:t>
            </a:r>
          </a:p>
          <a:p>
            <a:pPr marL="68263" indent="0" algn="just" eaLnBrk="1" hangingPunct="1">
              <a:buNone/>
            </a:pPr>
            <a:r>
              <a:rPr lang="en-US" altLang="zh-CN" sz="1800" b="1" dirty="0"/>
              <a:t>&gt;&gt;&gt; b=2</a:t>
            </a:r>
          </a:p>
          <a:p>
            <a:pPr marL="68263" indent="0" algn="just" eaLnBrk="1" hangingPunct="1">
              <a:buNone/>
            </a:pPr>
            <a:r>
              <a:rPr lang="en-US" altLang="zh-CN" sz="1800" b="1" dirty="0"/>
              <a:t>&gt;&gt;&gt; a&gt;b</a:t>
            </a:r>
          </a:p>
          <a:p>
            <a:pPr marL="68263" indent="0" algn="just" eaLnBrk="1" hangingPunct="1">
              <a:buNone/>
            </a:pPr>
            <a:r>
              <a:rPr lang="en-US" altLang="zh-CN" sz="1800" b="1" dirty="0"/>
              <a:t>False</a:t>
            </a:r>
          </a:p>
        </p:txBody>
      </p:sp>
    </p:spTree>
    <p:extLst>
      <p:ext uri="{BB962C8B-B14F-4D97-AF65-F5344CB8AC3E}">
        <p14:creationId xmlns:p14="http://schemas.microsoft.com/office/powerpoint/2010/main" val="1403578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bwMode="auto">
          <a:xfrm>
            <a:off x="475694" y="560490"/>
            <a:ext cx="8229600" cy="530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b" anchorCtr="0" compatLnSpc="1">
            <a:prstTxWarp prst="textNoShape">
              <a:avLst/>
            </a:prstTxWarp>
          </a:bodyPr>
          <a:lstStyle/>
          <a:p>
            <a:pPr algn="l"/>
            <a:r>
              <a:rPr lang="zh-CN" altLang="en-US" sz="2800" dirty="0">
                <a:solidFill>
                  <a:srgbClr val="C00000"/>
                </a:solidFill>
                <a:latin typeface="Courier New" pitchFamily="49" charset="0"/>
                <a:ea typeface="微软雅黑" pitchFamily="34" charset="-122"/>
                <a:cs typeface="Courier New" pitchFamily="49" charset="0"/>
              </a:rPr>
              <a:t>关系运算符</a:t>
            </a:r>
          </a:p>
        </p:txBody>
      </p:sp>
      <p:sp>
        <p:nvSpPr>
          <p:cNvPr id="43012" name="矩形 2"/>
          <p:cNvSpPr>
            <a:spLocks noChangeArrowheads="1"/>
          </p:cNvSpPr>
          <p:nvPr/>
        </p:nvSpPr>
        <p:spPr bwMode="auto">
          <a:xfrm>
            <a:off x="388462" y="1157888"/>
            <a:ext cx="8289307"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Bef>
                <a:spcPts val="600"/>
              </a:spcBef>
            </a:pPr>
            <a:r>
              <a:rPr lang="zh-CN" altLang="en-US" sz="1800" b="0" dirty="0">
                <a:latin typeface="Courier New" pitchFamily="49" charset="0"/>
                <a:ea typeface="微软雅黑" pitchFamily="34" charset="-122"/>
                <a:cs typeface="Courier New" pitchFamily="49" charset="0"/>
              </a:rPr>
              <a:t>字符串比较规则：</a:t>
            </a:r>
            <a:r>
              <a:rPr lang="zh-CN" altLang="en-US" sz="1800" b="0" dirty="0">
                <a:solidFill>
                  <a:srgbClr val="000066"/>
                </a:solidFill>
                <a:latin typeface="Courier New" pitchFamily="49" charset="0"/>
                <a:ea typeface="微软雅黑" pitchFamily="34" charset="-122"/>
                <a:cs typeface="Courier New" pitchFamily="49" charset="0"/>
              </a:rPr>
              <a:t>将两字符串从左到右一对一对按字符编码值比较，</a:t>
            </a:r>
            <a:endParaRPr lang="en-US" altLang="zh-CN" sz="1800" b="0" dirty="0">
              <a:solidFill>
                <a:srgbClr val="000066"/>
              </a:solidFill>
              <a:latin typeface="Courier New" pitchFamily="49" charset="0"/>
              <a:ea typeface="微软雅黑" pitchFamily="34" charset="-122"/>
              <a:cs typeface="Courier New" pitchFamily="49" charset="0"/>
            </a:endParaRPr>
          </a:p>
          <a:p>
            <a:pPr>
              <a:lnSpc>
                <a:spcPct val="100000"/>
              </a:lnSpc>
              <a:spcBef>
                <a:spcPts val="0"/>
              </a:spcBef>
            </a:pPr>
            <a:r>
              <a:rPr lang="en-US" altLang="zh-CN" sz="1800" b="0" dirty="0">
                <a:solidFill>
                  <a:srgbClr val="000066"/>
                </a:solidFill>
                <a:latin typeface="Courier New" pitchFamily="49" charset="0"/>
                <a:ea typeface="微软雅黑" pitchFamily="34" charset="-122"/>
                <a:cs typeface="Courier New" pitchFamily="49" charset="0"/>
              </a:rPr>
              <a:t>              </a:t>
            </a:r>
            <a:r>
              <a:rPr lang="zh-CN" altLang="en-US" sz="1800" b="0" dirty="0">
                <a:solidFill>
                  <a:srgbClr val="000066"/>
                </a:solidFill>
                <a:latin typeface="Courier New" pitchFamily="49" charset="0"/>
                <a:ea typeface="微软雅黑" pitchFamily="34" charset="-122"/>
                <a:cs typeface="Courier New" pitchFamily="49" charset="0"/>
              </a:rPr>
              <a:t>只要有一对不同比较结束。</a:t>
            </a:r>
          </a:p>
        </p:txBody>
      </p:sp>
      <p:sp>
        <p:nvSpPr>
          <p:cNvPr id="43013" name="Rectangle 9"/>
          <p:cNvSpPr>
            <a:spLocks noChangeArrowheads="1"/>
          </p:cNvSpPr>
          <p:nvPr/>
        </p:nvSpPr>
        <p:spPr bwMode="auto">
          <a:xfrm>
            <a:off x="345084" y="2781300"/>
            <a:ext cx="2301875" cy="187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nSpc>
                <a:spcPct val="100000"/>
              </a:lnSpc>
              <a:spcBef>
                <a:spcPct val="20000"/>
              </a:spcBef>
            </a:pPr>
            <a:r>
              <a:rPr lang="en-US" altLang="zh-CN" sz="2000" b="0" dirty="0">
                <a:solidFill>
                  <a:srgbClr val="C00000"/>
                </a:solidFill>
                <a:latin typeface="Courier New" pitchFamily="49" charset="0"/>
                <a:ea typeface="微软雅黑" pitchFamily="34" charset="-122"/>
                <a:cs typeface="Courier New" pitchFamily="49" charset="0"/>
              </a:rPr>
              <a:t> ” ” </a:t>
            </a:r>
            <a:r>
              <a:rPr lang="zh-CN" altLang="en-US" sz="2000" b="0" dirty="0">
                <a:solidFill>
                  <a:srgbClr val="000066"/>
                </a:solidFill>
                <a:latin typeface="Courier New" pitchFamily="49" charset="0"/>
                <a:ea typeface="微软雅黑" pitchFamily="34" charset="-122"/>
                <a:cs typeface="Courier New" pitchFamily="49" charset="0"/>
              </a:rPr>
              <a:t>编码值 </a:t>
            </a:r>
            <a:r>
              <a:rPr lang="en-US" altLang="zh-CN" sz="2000" dirty="0">
                <a:solidFill>
                  <a:srgbClr val="C00000"/>
                </a:solidFill>
                <a:latin typeface="Courier New" pitchFamily="49" charset="0"/>
                <a:ea typeface="微软雅黑" pitchFamily="34" charset="-122"/>
                <a:cs typeface="Courier New" pitchFamily="49" charset="0"/>
              </a:rPr>
              <a:t>32</a:t>
            </a:r>
          </a:p>
          <a:p>
            <a:pPr>
              <a:lnSpc>
                <a:spcPct val="100000"/>
              </a:lnSpc>
              <a:spcBef>
                <a:spcPct val="20000"/>
              </a:spcBef>
            </a:pPr>
            <a:r>
              <a:rPr lang="zh-CN" altLang="en-US" sz="2000" b="0" dirty="0">
                <a:solidFill>
                  <a:srgbClr val="C00000"/>
                </a:solidFill>
                <a:latin typeface="Courier New" pitchFamily="49" charset="0"/>
                <a:ea typeface="微软雅黑" pitchFamily="34" charset="-122"/>
                <a:cs typeface="Courier New" pitchFamily="49" charset="0"/>
              </a:rPr>
              <a:t>“</a:t>
            </a:r>
            <a:r>
              <a:rPr lang="en-US" altLang="zh-CN" sz="2000" dirty="0">
                <a:solidFill>
                  <a:srgbClr val="C00000"/>
                </a:solidFill>
                <a:latin typeface="Courier New" pitchFamily="49" charset="0"/>
                <a:ea typeface="微软雅黑" pitchFamily="34" charset="-122"/>
                <a:cs typeface="Courier New" pitchFamily="49" charset="0"/>
              </a:rPr>
              <a:t>0</a:t>
            </a:r>
            <a:r>
              <a:rPr lang="zh-CN" altLang="en-US" sz="2000" b="0" dirty="0">
                <a:solidFill>
                  <a:srgbClr val="C00000"/>
                </a:solidFill>
                <a:latin typeface="Courier New" pitchFamily="49" charset="0"/>
                <a:ea typeface="微软雅黑" pitchFamily="34" charset="-122"/>
                <a:cs typeface="Courier New" pitchFamily="49" charset="0"/>
              </a:rPr>
              <a:t>”</a:t>
            </a:r>
            <a:r>
              <a:rPr lang="zh-CN" altLang="en-US" sz="2000" b="0" dirty="0">
                <a:solidFill>
                  <a:srgbClr val="000066"/>
                </a:solidFill>
                <a:latin typeface="Courier New" pitchFamily="49" charset="0"/>
                <a:ea typeface="微软雅黑" pitchFamily="34" charset="-122"/>
                <a:cs typeface="Courier New" pitchFamily="49" charset="0"/>
              </a:rPr>
              <a:t>编码值 </a:t>
            </a:r>
            <a:r>
              <a:rPr lang="en-US" altLang="zh-CN" sz="2000" dirty="0">
                <a:solidFill>
                  <a:srgbClr val="C00000"/>
                </a:solidFill>
                <a:latin typeface="Courier New" pitchFamily="49" charset="0"/>
                <a:ea typeface="微软雅黑" pitchFamily="34" charset="-122"/>
                <a:cs typeface="Courier New" pitchFamily="49" charset="0"/>
              </a:rPr>
              <a:t>48</a:t>
            </a:r>
          </a:p>
          <a:p>
            <a:pPr>
              <a:lnSpc>
                <a:spcPct val="100000"/>
              </a:lnSpc>
              <a:spcBef>
                <a:spcPct val="20000"/>
              </a:spcBef>
            </a:pPr>
            <a:r>
              <a:rPr lang="zh-CN" altLang="en-US" sz="2000" b="0" dirty="0">
                <a:solidFill>
                  <a:srgbClr val="C00000"/>
                </a:solidFill>
                <a:latin typeface="Courier New" pitchFamily="49" charset="0"/>
                <a:ea typeface="微软雅黑" pitchFamily="34" charset="-122"/>
                <a:cs typeface="Courier New" pitchFamily="49" charset="0"/>
              </a:rPr>
              <a:t>“</a:t>
            </a:r>
            <a:r>
              <a:rPr lang="en-US" altLang="zh-CN" sz="2000" dirty="0">
                <a:solidFill>
                  <a:srgbClr val="C00000"/>
                </a:solidFill>
                <a:latin typeface="Courier New" pitchFamily="49" charset="0"/>
                <a:ea typeface="微软雅黑" pitchFamily="34" charset="-122"/>
                <a:cs typeface="Courier New" pitchFamily="49" charset="0"/>
              </a:rPr>
              <a:t>A</a:t>
            </a:r>
            <a:r>
              <a:rPr lang="zh-CN" altLang="en-US" sz="2000" b="0" dirty="0">
                <a:solidFill>
                  <a:srgbClr val="C00000"/>
                </a:solidFill>
                <a:latin typeface="Courier New" pitchFamily="49" charset="0"/>
                <a:ea typeface="微软雅黑" pitchFamily="34" charset="-122"/>
                <a:cs typeface="Courier New" pitchFamily="49" charset="0"/>
              </a:rPr>
              <a:t>”</a:t>
            </a:r>
            <a:r>
              <a:rPr lang="zh-CN" altLang="en-US" sz="2000" b="0" dirty="0">
                <a:solidFill>
                  <a:srgbClr val="000066"/>
                </a:solidFill>
                <a:latin typeface="Courier New" pitchFamily="49" charset="0"/>
                <a:ea typeface="微软雅黑" pitchFamily="34" charset="-122"/>
                <a:cs typeface="Courier New" pitchFamily="49" charset="0"/>
              </a:rPr>
              <a:t>编码值 </a:t>
            </a:r>
            <a:r>
              <a:rPr lang="en-US" altLang="zh-CN" sz="2000" dirty="0">
                <a:solidFill>
                  <a:srgbClr val="C00000"/>
                </a:solidFill>
                <a:latin typeface="Courier New" pitchFamily="49" charset="0"/>
                <a:ea typeface="微软雅黑" pitchFamily="34" charset="-122"/>
                <a:cs typeface="Courier New" pitchFamily="49" charset="0"/>
              </a:rPr>
              <a:t>65</a:t>
            </a:r>
          </a:p>
          <a:p>
            <a:pPr>
              <a:lnSpc>
                <a:spcPct val="100000"/>
              </a:lnSpc>
              <a:spcBef>
                <a:spcPct val="20000"/>
              </a:spcBef>
            </a:pPr>
            <a:r>
              <a:rPr lang="zh-CN" altLang="en-US" sz="2000" dirty="0">
                <a:solidFill>
                  <a:srgbClr val="C00000"/>
                </a:solidFill>
                <a:latin typeface="Courier New" pitchFamily="49" charset="0"/>
                <a:ea typeface="微软雅黑" pitchFamily="34" charset="-122"/>
                <a:cs typeface="Courier New" pitchFamily="49" charset="0"/>
              </a:rPr>
              <a:t>“</a:t>
            </a:r>
            <a:r>
              <a:rPr lang="en-US" altLang="zh-CN" sz="2000" dirty="0">
                <a:solidFill>
                  <a:srgbClr val="C00000"/>
                </a:solidFill>
                <a:latin typeface="Courier New" pitchFamily="49" charset="0"/>
                <a:ea typeface="微软雅黑" pitchFamily="34" charset="-122"/>
                <a:cs typeface="Courier New" pitchFamily="49" charset="0"/>
              </a:rPr>
              <a:t>a</a:t>
            </a:r>
            <a:r>
              <a:rPr lang="zh-CN" altLang="en-US" sz="2000" dirty="0">
                <a:solidFill>
                  <a:srgbClr val="C00000"/>
                </a:solidFill>
                <a:latin typeface="Courier New" pitchFamily="49" charset="0"/>
                <a:ea typeface="微软雅黑" pitchFamily="34" charset="-122"/>
                <a:cs typeface="Courier New" pitchFamily="49" charset="0"/>
              </a:rPr>
              <a:t>”</a:t>
            </a:r>
            <a:r>
              <a:rPr lang="zh-CN" altLang="en-US" sz="2000" b="0" dirty="0">
                <a:solidFill>
                  <a:srgbClr val="000066"/>
                </a:solidFill>
                <a:latin typeface="Courier New" pitchFamily="49" charset="0"/>
                <a:ea typeface="微软雅黑" pitchFamily="34" charset="-122"/>
                <a:cs typeface="Courier New" pitchFamily="49" charset="0"/>
              </a:rPr>
              <a:t>编码值 </a:t>
            </a:r>
            <a:r>
              <a:rPr lang="en-US" altLang="zh-CN" sz="2000" dirty="0">
                <a:solidFill>
                  <a:srgbClr val="C00000"/>
                </a:solidFill>
                <a:latin typeface="Courier New" pitchFamily="49" charset="0"/>
                <a:ea typeface="微软雅黑" pitchFamily="34" charset="-122"/>
                <a:cs typeface="Courier New" pitchFamily="49" charset="0"/>
              </a:rPr>
              <a:t>97</a:t>
            </a:r>
          </a:p>
          <a:p>
            <a:pPr>
              <a:lnSpc>
                <a:spcPct val="100000"/>
              </a:lnSpc>
              <a:spcBef>
                <a:spcPct val="20000"/>
              </a:spcBef>
            </a:pPr>
            <a:endParaRPr lang="en-US" altLang="zh-CN" sz="2000" b="0" dirty="0">
              <a:solidFill>
                <a:srgbClr val="000066"/>
              </a:solidFill>
              <a:latin typeface="Courier New" pitchFamily="49" charset="0"/>
              <a:ea typeface="微软雅黑" pitchFamily="34" charset="-122"/>
              <a:cs typeface="Courier New" pitchFamily="49" charset="0"/>
            </a:endParaRPr>
          </a:p>
        </p:txBody>
      </p:sp>
      <p:sp>
        <p:nvSpPr>
          <p:cNvPr id="43014" name="Rectangle 9"/>
          <p:cNvSpPr>
            <a:spLocks noChangeArrowheads="1"/>
          </p:cNvSpPr>
          <p:nvPr/>
        </p:nvSpPr>
        <p:spPr bwMode="auto">
          <a:xfrm>
            <a:off x="2646959" y="3291830"/>
            <a:ext cx="5813945" cy="770084"/>
          </a:xfrm>
          <a:prstGeom prst="rect">
            <a:avLst/>
          </a:prstGeom>
          <a:solidFill>
            <a:srgbClr val="E4F3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pPr>
              <a:lnSpc>
                <a:spcPct val="100000"/>
              </a:lnSpc>
              <a:spcBef>
                <a:spcPct val="20000"/>
              </a:spcBef>
            </a:pPr>
            <a:r>
              <a:rPr lang="zh-CN" altLang="en-US" sz="2000" b="0" dirty="0">
                <a:solidFill>
                  <a:srgbClr val="C00000"/>
                </a:solidFill>
                <a:latin typeface="Courier New" pitchFamily="49" charset="0"/>
                <a:ea typeface="微软雅黑" pitchFamily="34" charset="-122"/>
                <a:cs typeface="Courier New" pitchFamily="49" charset="0"/>
              </a:rPr>
              <a:t>“</a:t>
            </a:r>
            <a:r>
              <a:rPr lang="en-US" altLang="zh-CN" sz="2000" dirty="0" err="1">
                <a:solidFill>
                  <a:srgbClr val="C00000"/>
                </a:solidFill>
                <a:latin typeface="Courier New" pitchFamily="49" charset="0"/>
                <a:ea typeface="微软雅黑" pitchFamily="34" charset="-122"/>
                <a:cs typeface="Courier New" pitchFamily="49" charset="0"/>
              </a:rPr>
              <a:t>abcde</a:t>
            </a:r>
            <a:r>
              <a:rPr lang="zh-CN" altLang="en-US" sz="2000" b="0" dirty="0">
                <a:solidFill>
                  <a:srgbClr val="C00000"/>
                </a:solidFill>
                <a:latin typeface="Courier New" pitchFamily="49" charset="0"/>
                <a:ea typeface="微软雅黑" pitchFamily="34" charset="-122"/>
                <a:cs typeface="Courier New" pitchFamily="49" charset="0"/>
              </a:rPr>
              <a:t>”</a:t>
            </a:r>
            <a:r>
              <a:rPr lang="en-US" altLang="zh-CN" sz="2000" b="0" dirty="0">
                <a:solidFill>
                  <a:srgbClr val="000066"/>
                </a:solidFill>
                <a:latin typeface="Courier New" pitchFamily="49" charset="0"/>
                <a:ea typeface="微软雅黑" pitchFamily="34" charset="-122"/>
                <a:cs typeface="Courier New" pitchFamily="49" charset="0"/>
              </a:rPr>
              <a:t>&gt; </a:t>
            </a:r>
            <a:r>
              <a:rPr lang="zh-CN" altLang="en-US" sz="2000" b="0" dirty="0">
                <a:solidFill>
                  <a:srgbClr val="000066"/>
                </a:solidFill>
                <a:latin typeface="Courier New" pitchFamily="49" charset="0"/>
                <a:ea typeface="微软雅黑" pitchFamily="34" charset="-122"/>
                <a:cs typeface="Courier New" pitchFamily="49" charset="0"/>
              </a:rPr>
              <a:t>“</a:t>
            </a:r>
            <a:r>
              <a:rPr lang="en-US" altLang="zh-CN" sz="2000" dirty="0" err="1">
                <a:solidFill>
                  <a:srgbClr val="C00000"/>
                </a:solidFill>
                <a:latin typeface="Courier New" pitchFamily="49" charset="0"/>
                <a:ea typeface="微软雅黑" pitchFamily="34" charset="-122"/>
                <a:cs typeface="Courier New" pitchFamily="49" charset="0"/>
              </a:rPr>
              <a:t>aBcderfg</a:t>
            </a:r>
            <a:r>
              <a:rPr lang="zh-CN" altLang="en-US" sz="2000" b="0" dirty="0">
                <a:solidFill>
                  <a:srgbClr val="000066"/>
                </a:solidFill>
                <a:latin typeface="Courier New" pitchFamily="49" charset="0"/>
                <a:ea typeface="微软雅黑" pitchFamily="34" charset="-122"/>
                <a:cs typeface="Courier New" pitchFamily="49" charset="0"/>
              </a:rPr>
              <a:t>”</a:t>
            </a:r>
            <a:r>
              <a:rPr lang="en-US" altLang="zh-CN" sz="2000" b="0" dirty="0">
                <a:solidFill>
                  <a:srgbClr val="000066"/>
                </a:solidFill>
                <a:latin typeface="Courier New" pitchFamily="49" charset="0"/>
                <a:ea typeface="微软雅黑" pitchFamily="34" charset="-122"/>
                <a:cs typeface="Courier New" pitchFamily="49" charset="0"/>
              </a:rPr>
              <a:t>   </a:t>
            </a:r>
            <a:r>
              <a:rPr lang="zh-CN" altLang="en-US" sz="2000" b="0" dirty="0">
                <a:solidFill>
                  <a:srgbClr val="000066"/>
                </a:solidFill>
                <a:latin typeface="Courier New" pitchFamily="49" charset="0"/>
                <a:ea typeface="微软雅黑" pitchFamily="34" charset="-122"/>
                <a:cs typeface="Courier New" pitchFamily="49" charset="0"/>
              </a:rPr>
              <a:t>结果   </a:t>
            </a:r>
            <a:r>
              <a:rPr lang="en-US" altLang="zh-CN" sz="2000" dirty="0">
                <a:solidFill>
                  <a:srgbClr val="000066"/>
                </a:solidFill>
                <a:latin typeface="Courier New" pitchFamily="49" charset="0"/>
                <a:ea typeface="微软雅黑" pitchFamily="34" charset="-122"/>
                <a:cs typeface="Courier New" pitchFamily="49" charset="0"/>
              </a:rPr>
              <a:t>True</a:t>
            </a:r>
            <a:endParaRPr lang="en-US" altLang="zh-CN" sz="2000" dirty="0">
              <a:solidFill>
                <a:srgbClr val="C00000"/>
              </a:solidFill>
              <a:latin typeface="Courier New" pitchFamily="49" charset="0"/>
              <a:ea typeface="微软雅黑" pitchFamily="34" charset="-122"/>
              <a:cs typeface="Courier New" pitchFamily="49" charset="0"/>
            </a:endParaRPr>
          </a:p>
          <a:p>
            <a:pPr>
              <a:lnSpc>
                <a:spcPct val="100000"/>
              </a:lnSpc>
              <a:spcBef>
                <a:spcPct val="20000"/>
              </a:spcBef>
            </a:pPr>
            <a:r>
              <a:rPr lang="zh-CN" altLang="en-US" sz="2000" b="0" dirty="0">
                <a:solidFill>
                  <a:srgbClr val="C00000"/>
                </a:solidFill>
                <a:latin typeface="Courier New" pitchFamily="49" charset="0"/>
                <a:ea typeface="微软雅黑" pitchFamily="34" charset="-122"/>
                <a:cs typeface="Courier New" pitchFamily="49" charset="0"/>
              </a:rPr>
              <a:t>“</a:t>
            </a:r>
            <a:r>
              <a:rPr lang="en-US" altLang="zh-CN" sz="2000" dirty="0">
                <a:solidFill>
                  <a:srgbClr val="C00000"/>
                </a:solidFill>
                <a:latin typeface="Courier New" pitchFamily="49" charset="0"/>
                <a:ea typeface="微软雅黑" pitchFamily="34" charset="-122"/>
                <a:cs typeface="Courier New" pitchFamily="49" charset="0"/>
              </a:rPr>
              <a:t>123456</a:t>
            </a:r>
            <a:r>
              <a:rPr lang="zh-CN" altLang="en-US" sz="2000" b="0" dirty="0">
                <a:solidFill>
                  <a:srgbClr val="C00000"/>
                </a:solidFill>
                <a:latin typeface="Courier New" pitchFamily="49" charset="0"/>
                <a:ea typeface="微软雅黑" pitchFamily="34" charset="-122"/>
                <a:cs typeface="Courier New" pitchFamily="49" charset="0"/>
              </a:rPr>
              <a:t>”</a:t>
            </a:r>
            <a:r>
              <a:rPr lang="en-US" altLang="zh-CN" sz="2000" b="0" dirty="0">
                <a:solidFill>
                  <a:srgbClr val="000066"/>
                </a:solidFill>
                <a:latin typeface="Courier New" pitchFamily="49" charset="0"/>
                <a:ea typeface="微软雅黑" pitchFamily="34" charset="-122"/>
                <a:cs typeface="Courier New" pitchFamily="49" charset="0"/>
              </a:rPr>
              <a:t> &gt;</a:t>
            </a:r>
            <a:r>
              <a:rPr lang="en-US" altLang="zh-CN" sz="2000" b="0" dirty="0">
                <a:solidFill>
                  <a:srgbClr val="C00000"/>
                </a:solidFill>
                <a:latin typeface="Courier New" pitchFamily="49" charset="0"/>
                <a:ea typeface="微软雅黑" pitchFamily="34" charset="-122"/>
                <a:cs typeface="Courier New" pitchFamily="49" charset="0"/>
              </a:rPr>
              <a:t> </a:t>
            </a:r>
            <a:r>
              <a:rPr lang="zh-CN" altLang="en-US" sz="2000" b="0" dirty="0">
                <a:solidFill>
                  <a:srgbClr val="C00000"/>
                </a:solidFill>
                <a:latin typeface="Courier New" pitchFamily="49" charset="0"/>
                <a:ea typeface="微软雅黑" pitchFamily="34" charset="-122"/>
                <a:cs typeface="Courier New" pitchFamily="49" charset="0"/>
              </a:rPr>
              <a:t>“</a:t>
            </a:r>
            <a:r>
              <a:rPr lang="en-US" altLang="zh-CN" sz="2000" dirty="0">
                <a:solidFill>
                  <a:srgbClr val="C00000"/>
                </a:solidFill>
                <a:latin typeface="Courier New" pitchFamily="49" charset="0"/>
                <a:ea typeface="微软雅黑" pitchFamily="34" charset="-122"/>
                <a:cs typeface="Courier New" pitchFamily="49" charset="0"/>
              </a:rPr>
              <a:t>98</a:t>
            </a:r>
            <a:r>
              <a:rPr lang="zh-CN" altLang="en-US" sz="2000" b="0" dirty="0">
                <a:solidFill>
                  <a:srgbClr val="C00000"/>
                </a:solidFill>
                <a:latin typeface="Courier New" pitchFamily="49" charset="0"/>
                <a:ea typeface="微软雅黑" pitchFamily="34" charset="-122"/>
                <a:cs typeface="Courier New" pitchFamily="49" charset="0"/>
              </a:rPr>
              <a:t>”       </a:t>
            </a:r>
            <a:r>
              <a:rPr lang="zh-CN" altLang="en-US" sz="2000" b="0" dirty="0">
                <a:solidFill>
                  <a:srgbClr val="000066"/>
                </a:solidFill>
                <a:latin typeface="Courier New" pitchFamily="49" charset="0"/>
                <a:ea typeface="微软雅黑" pitchFamily="34" charset="-122"/>
                <a:cs typeface="Courier New" pitchFamily="49" charset="0"/>
              </a:rPr>
              <a:t>结果   </a:t>
            </a:r>
            <a:r>
              <a:rPr lang="en-US" altLang="zh-CN" sz="2000" dirty="0">
                <a:solidFill>
                  <a:srgbClr val="000066"/>
                </a:solidFill>
                <a:latin typeface="Courier New" pitchFamily="49" charset="0"/>
                <a:ea typeface="微软雅黑" pitchFamily="34" charset="-122"/>
                <a:cs typeface="Courier New" pitchFamily="49" charset="0"/>
              </a:rPr>
              <a:t>False</a:t>
            </a:r>
          </a:p>
        </p:txBody>
      </p:sp>
      <p:sp>
        <p:nvSpPr>
          <p:cNvPr id="7" name="内容占位符 2">
            <a:extLst>
              <a:ext uri="{FF2B5EF4-FFF2-40B4-BE49-F238E27FC236}">
                <a16:creationId xmlns:a16="http://schemas.microsoft.com/office/drawing/2014/main" id="{F442B026-1388-40CD-B6DA-2C951E95D414}"/>
              </a:ext>
            </a:extLst>
          </p:cNvPr>
          <p:cNvSpPr txBox="1">
            <a:spLocks/>
          </p:cNvSpPr>
          <p:nvPr/>
        </p:nvSpPr>
        <p:spPr bwMode="auto">
          <a:xfrm>
            <a:off x="611560" y="1935842"/>
            <a:ext cx="7849344" cy="769938"/>
          </a:xfrm>
          <a:prstGeom prst="rect">
            <a:avLst/>
          </a:prstGeom>
          <a:solidFill>
            <a:schemeClr val="bg1"/>
          </a:solidFill>
          <a:ln>
            <a:solidFill>
              <a:schemeClr val="accent1"/>
            </a:solidFill>
          </a:ln>
        </p:spPr>
        <p:txBody>
          <a:bodyPr vert="horz" wrap="square" lIns="91440" tIns="45720" rIns="91440" bIns="45720" numCol="1" anchor="ctr" anchorCtr="0" compatLnSpc="1">
            <a:prstTxWarp prst="textNoShape">
              <a:avLst/>
            </a:prstTxWarp>
          </a:bodyPr>
          <a:lstStyle>
            <a:lvl1pPr marL="411163" indent="-342900" algn="l" rtl="0" eaLnBrk="0" fontAlgn="base" hangingPunct="0">
              <a:spcBef>
                <a:spcPts val="700"/>
              </a:spcBef>
              <a:spcAft>
                <a:spcPct val="0"/>
              </a:spcAft>
              <a:buClr>
                <a:schemeClr val="tx2"/>
              </a:buClr>
              <a:buSzPct val="95000"/>
              <a:buFont typeface="Wingdings"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itchFamily="2" charset="2"/>
              <a:buChar char=""/>
              <a:defRPr sz="2600" kern="1200">
                <a:solidFill>
                  <a:schemeClr val="tx1"/>
                </a:solidFill>
                <a:latin typeface="+mn-lt"/>
                <a:ea typeface="+mn-ea"/>
                <a:cs typeface="+mn-cs"/>
              </a:defRPr>
            </a:lvl2pPr>
            <a:lvl3pPr marL="995363"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itchFamily="18" charset="2"/>
              <a:buChar char=""/>
              <a:defRPr sz="2200" kern="1200">
                <a:solidFill>
                  <a:schemeClr val="tx1"/>
                </a:solidFill>
                <a:latin typeface="+mn-lt"/>
                <a:ea typeface="+mn-ea"/>
                <a:cs typeface="+mn-cs"/>
              </a:defRPr>
            </a:lvl4pPr>
            <a:lvl5pPr marL="1481138" indent="-209550" algn="l" rtl="0" eaLnBrk="0" fontAlgn="base" hangingPunct="0">
              <a:spcBef>
                <a:spcPct val="20000"/>
              </a:spcBef>
              <a:spcAft>
                <a:spcPct val="0"/>
              </a:spcAft>
              <a:buClr>
                <a:srgbClr val="FEB80A"/>
              </a:buClr>
              <a:buFont typeface="Wingdings 2" pitchFamily="18" charset="2"/>
              <a:buChar char=""/>
              <a:defRPr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a:lstStyle>
          <a:p>
            <a:pPr marL="68263" indent="0" algn="just" eaLnBrk="1" hangingPunct="1">
              <a:buNone/>
            </a:pPr>
            <a:r>
              <a:rPr lang="zh-CN" altLang="en-US" sz="1800" b="1" dirty="0">
                <a:solidFill>
                  <a:srgbClr val="C00000"/>
                </a:solidFill>
              </a:rPr>
              <a:t>！！！字符比较，以字母顺序，从小到大，大写小于小写，</a:t>
            </a:r>
            <a:r>
              <a:rPr lang="en-US" altLang="zh-CN" sz="1800" b="1" dirty="0">
                <a:solidFill>
                  <a:srgbClr val="C00000"/>
                </a:solidFill>
              </a:rPr>
              <a:t>’9’ &lt; ‘A’</a:t>
            </a:r>
          </a:p>
        </p:txBody>
      </p:sp>
    </p:spTree>
    <p:extLst>
      <p:ext uri="{BB962C8B-B14F-4D97-AF65-F5344CB8AC3E}">
        <p14:creationId xmlns:p14="http://schemas.microsoft.com/office/powerpoint/2010/main" val="358958946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wipe(up)">
                                      <p:cBhvr>
                                        <p:cTn id="7" dur="500"/>
                                        <p:tgtEl>
                                          <p:spTgt spid="43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6"/>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标题 1"/>
          <p:cNvSpPr>
            <a:spLocks noGrp="1"/>
          </p:cNvSpPr>
          <p:nvPr>
            <p:ph type="title"/>
          </p:nvPr>
        </p:nvSpPr>
        <p:spPr>
          <a:xfrm>
            <a:off x="483399" y="189974"/>
            <a:ext cx="4176464" cy="495523"/>
          </a:xfrm>
        </p:spPr>
        <p:txBody>
          <a:bodyPr/>
          <a:lstStyle/>
          <a:p>
            <a:r>
              <a:rPr lang="zh-CN" altLang="en-US" sz="2400" dirty="0"/>
              <a:t>逻辑运算</a:t>
            </a:r>
          </a:p>
        </p:txBody>
      </p:sp>
      <p:graphicFrame>
        <p:nvGraphicFramePr>
          <p:cNvPr id="4" name="表格 3"/>
          <p:cNvGraphicFramePr>
            <a:graphicFrameLocks noGrp="1"/>
          </p:cNvGraphicFramePr>
          <p:nvPr/>
        </p:nvGraphicFramePr>
        <p:xfrm>
          <a:off x="494395" y="783898"/>
          <a:ext cx="7294772" cy="1415554"/>
        </p:xfrm>
        <a:graphic>
          <a:graphicData uri="http://schemas.openxmlformats.org/drawingml/2006/table">
            <a:tbl>
              <a:tblPr>
                <a:tableStyleId>{BC89EF96-8CEA-46FF-86C4-4CE0E7609802}</a:tableStyleId>
              </a:tblPr>
              <a:tblGrid>
                <a:gridCol w="1728192">
                  <a:extLst>
                    <a:ext uri="{9D8B030D-6E8A-4147-A177-3AD203B41FA5}">
                      <a16:colId xmlns:a16="http://schemas.microsoft.com/office/drawing/2014/main" val="2956060744"/>
                    </a:ext>
                  </a:extLst>
                </a:gridCol>
                <a:gridCol w="2707501">
                  <a:extLst>
                    <a:ext uri="{9D8B030D-6E8A-4147-A177-3AD203B41FA5}">
                      <a16:colId xmlns:a16="http://schemas.microsoft.com/office/drawing/2014/main" val="3975135948"/>
                    </a:ext>
                  </a:extLst>
                </a:gridCol>
                <a:gridCol w="2859079">
                  <a:extLst>
                    <a:ext uri="{9D8B030D-6E8A-4147-A177-3AD203B41FA5}">
                      <a16:colId xmlns:a16="http://schemas.microsoft.com/office/drawing/2014/main" val="1471736549"/>
                    </a:ext>
                  </a:extLst>
                </a:gridCol>
              </a:tblGrid>
              <a:tr h="347692">
                <a:tc>
                  <a:txBody>
                    <a:bodyPr/>
                    <a:lstStyle/>
                    <a:p>
                      <a:pPr algn="ctr" fontAlgn="t"/>
                      <a:r>
                        <a:rPr lang="zh-CN" altLang="en-US" sz="1600" dirty="0">
                          <a:effectLst/>
                        </a:rPr>
                        <a:t>逻辑运算符</a:t>
                      </a:r>
                      <a:endParaRPr lang="zh-CN" altLang="en-US" sz="1600" dirty="0">
                        <a:solidFill>
                          <a:srgbClr val="FFFFFF"/>
                        </a:solidFill>
                        <a:effectLst/>
                      </a:endParaRPr>
                    </a:p>
                  </a:txBody>
                  <a:tcPr marL="24024" marR="24024" marT="24024" marB="24024" anchor="ctr">
                    <a:solidFill>
                      <a:schemeClr val="accent1">
                        <a:lumMod val="20000"/>
                        <a:lumOff val="80000"/>
                      </a:schemeClr>
                    </a:solidFill>
                  </a:tcPr>
                </a:tc>
                <a:tc>
                  <a:txBody>
                    <a:bodyPr/>
                    <a:lstStyle/>
                    <a:p>
                      <a:pPr algn="ctr" fontAlgn="t"/>
                      <a:r>
                        <a:rPr lang="zh-CN" altLang="en-US" sz="1600" dirty="0">
                          <a:effectLst/>
                        </a:rPr>
                        <a:t>描述</a:t>
                      </a:r>
                      <a:endParaRPr lang="zh-CN" altLang="en-US" sz="1600" dirty="0">
                        <a:solidFill>
                          <a:srgbClr val="FFFFFF"/>
                        </a:solidFill>
                        <a:effectLst/>
                      </a:endParaRPr>
                    </a:p>
                  </a:txBody>
                  <a:tcPr marL="24024" marR="24024" marT="24024" marB="24024" anchor="ctr">
                    <a:solidFill>
                      <a:schemeClr val="accent1">
                        <a:lumMod val="20000"/>
                        <a:lumOff val="80000"/>
                      </a:schemeClr>
                    </a:solidFill>
                  </a:tcPr>
                </a:tc>
                <a:tc>
                  <a:txBody>
                    <a:bodyPr/>
                    <a:lstStyle/>
                    <a:p>
                      <a:pPr algn="ctr" fontAlgn="t"/>
                      <a:r>
                        <a:rPr lang="zh-CN" altLang="en-US" sz="1600" dirty="0">
                          <a:effectLst/>
                        </a:rPr>
                        <a:t>实例</a:t>
                      </a:r>
                      <a:endParaRPr lang="zh-CN" altLang="en-US" sz="1600" dirty="0">
                        <a:solidFill>
                          <a:srgbClr val="FFFFFF"/>
                        </a:solidFill>
                        <a:effectLst/>
                      </a:endParaRPr>
                    </a:p>
                  </a:txBody>
                  <a:tcPr marL="24024" marR="24024" marT="24024" marB="24024" anchor="ctr">
                    <a:solidFill>
                      <a:schemeClr val="accent1">
                        <a:lumMod val="20000"/>
                        <a:lumOff val="80000"/>
                      </a:schemeClr>
                    </a:solidFill>
                  </a:tcPr>
                </a:tc>
                <a:extLst>
                  <a:ext uri="{0D108BD9-81ED-4DB2-BD59-A6C34878D82A}">
                    <a16:rowId xmlns:a16="http://schemas.microsoft.com/office/drawing/2014/main" val="3980061599"/>
                  </a:ext>
                </a:extLst>
              </a:tr>
              <a:tr h="342747">
                <a:tc>
                  <a:txBody>
                    <a:bodyPr/>
                    <a:lstStyle/>
                    <a:p>
                      <a:pPr algn="ctr" fontAlgn="t"/>
                      <a:r>
                        <a:rPr lang="en-US" altLang="zh-CN" sz="1600" dirty="0">
                          <a:effectLst/>
                        </a:rPr>
                        <a:t>not</a:t>
                      </a:r>
                    </a:p>
                  </a:txBody>
                  <a:tcPr marL="40041" marR="40041" marT="56057" marB="56057" anchor="ctr"/>
                </a:tc>
                <a:tc>
                  <a:txBody>
                    <a:bodyPr/>
                    <a:lstStyle/>
                    <a:p>
                      <a:pPr algn="ctr" fontAlgn="t"/>
                      <a:r>
                        <a:rPr lang="zh-CN" altLang="en-US" sz="1600" dirty="0">
                          <a:effectLst/>
                        </a:rPr>
                        <a:t>取反</a:t>
                      </a:r>
                    </a:p>
                  </a:txBody>
                  <a:tcPr marL="40041" marR="40041" marT="56057" marB="56057" anchor="ctr"/>
                </a:tc>
                <a:tc>
                  <a:txBody>
                    <a:bodyPr/>
                    <a:lstStyle/>
                    <a:p>
                      <a:pPr algn="ctr" fontAlgn="t"/>
                      <a:r>
                        <a:rPr lang="en-US" sz="1600" baseline="0" dirty="0">
                          <a:effectLst/>
                        </a:rPr>
                        <a:t>not True</a:t>
                      </a:r>
                      <a:endParaRPr lang="en-US" sz="1600" dirty="0">
                        <a:effectLst/>
                      </a:endParaRPr>
                    </a:p>
                  </a:txBody>
                  <a:tcPr marL="40041" marR="40041" marT="56057" marB="56057" anchor="ctr"/>
                </a:tc>
                <a:extLst>
                  <a:ext uri="{0D108BD9-81ED-4DB2-BD59-A6C34878D82A}">
                    <a16:rowId xmlns:a16="http://schemas.microsoft.com/office/drawing/2014/main" val="923885999"/>
                  </a:ext>
                </a:extLst>
              </a:tr>
              <a:tr h="342747">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600" dirty="0">
                          <a:effectLst/>
                        </a:rPr>
                        <a:t>and</a:t>
                      </a:r>
                    </a:p>
                  </a:txBody>
                  <a:tcPr marL="40041" marR="40041" marT="56057" marB="56057" anchor="ctr"/>
                </a:tc>
                <a:tc>
                  <a:txBody>
                    <a:bodyPr/>
                    <a:lstStyle/>
                    <a:p>
                      <a:pPr algn="ctr" fontAlgn="t"/>
                      <a:r>
                        <a:rPr lang="zh-CN" altLang="en-US" sz="1600" dirty="0">
                          <a:effectLst/>
                        </a:rPr>
                        <a:t>与</a:t>
                      </a:r>
                    </a:p>
                  </a:txBody>
                  <a:tcPr marL="40041" marR="40041" marT="56057" marB="56057" anchor="ctr"/>
                </a:tc>
                <a:tc>
                  <a:txBody>
                    <a:bodyPr/>
                    <a:lstStyle/>
                    <a:p>
                      <a:pPr algn="ctr" fontAlgn="t"/>
                      <a:r>
                        <a:rPr lang="en-US" sz="1600" dirty="0">
                          <a:effectLst/>
                        </a:rPr>
                        <a:t>True and True</a:t>
                      </a:r>
                    </a:p>
                  </a:txBody>
                  <a:tcPr marL="40041" marR="40041" marT="56057" marB="56057" anchor="ctr"/>
                </a:tc>
                <a:extLst>
                  <a:ext uri="{0D108BD9-81ED-4DB2-BD59-A6C34878D82A}">
                    <a16:rowId xmlns:a16="http://schemas.microsoft.com/office/drawing/2014/main" val="4171813621"/>
                  </a:ext>
                </a:extLst>
              </a:tr>
              <a:tr h="342747">
                <a:tc>
                  <a:txBody>
                    <a:bodyPr/>
                    <a:lstStyle/>
                    <a:p>
                      <a:pPr algn="ctr" fontAlgn="t"/>
                      <a:r>
                        <a:rPr lang="en-US" altLang="zh-CN" sz="1600" dirty="0">
                          <a:effectLst/>
                        </a:rPr>
                        <a:t>or</a:t>
                      </a:r>
                    </a:p>
                  </a:txBody>
                  <a:tcPr marL="40041" marR="40041" marT="56057" marB="56057" anchor="ctr"/>
                </a:tc>
                <a:tc>
                  <a:txBody>
                    <a:bodyPr/>
                    <a:lstStyle/>
                    <a:p>
                      <a:pPr algn="ctr" fontAlgn="t"/>
                      <a:r>
                        <a:rPr lang="zh-CN" altLang="en-US" sz="1600" dirty="0">
                          <a:effectLst/>
                        </a:rPr>
                        <a:t>或</a:t>
                      </a:r>
                      <a:endParaRPr lang="en-US" sz="1600" dirty="0">
                        <a:effectLst/>
                      </a:endParaRPr>
                    </a:p>
                  </a:txBody>
                  <a:tcPr marL="40041" marR="40041" marT="56057" marB="56057" anchor="ctr"/>
                </a:tc>
                <a:tc>
                  <a:txBody>
                    <a:bodyPr/>
                    <a:lstStyle/>
                    <a:p>
                      <a:pPr algn="ctr" fontAlgn="t"/>
                      <a:r>
                        <a:rPr lang="en-US" sz="1600" dirty="0">
                          <a:effectLst/>
                        </a:rPr>
                        <a:t>False or F</a:t>
                      </a:r>
                      <a:r>
                        <a:rPr lang="en-US" altLang="zh-CN" sz="1600" dirty="0">
                          <a:effectLst/>
                        </a:rPr>
                        <a:t>alse</a:t>
                      </a:r>
                      <a:endParaRPr lang="en-US" sz="1600" dirty="0">
                        <a:effectLst/>
                      </a:endParaRPr>
                    </a:p>
                  </a:txBody>
                  <a:tcPr marL="40041" marR="40041" marT="56057" marB="56057" anchor="ctr"/>
                </a:tc>
                <a:extLst>
                  <a:ext uri="{0D108BD9-81ED-4DB2-BD59-A6C34878D82A}">
                    <a16:rowId xmlns:a16="http://schemas.microsoft.com/office/drawing/2014/main" val="38017070"/>
                  </a:ext>
                </a:extLst>
              </a:tr>
            </a:tbl>
          </a:graphicData>
        </a:graphic>
      </p:graphicFrame>
      <p:graphicFrame>
        <p:nvGraphicFramePr>
          <p:cNvPr id="3" name="表格 2"/>
          <p:cNvGraphicFramePr>
            <a:graphicFrameLocks noGrp="1"/>
          </p:cNvGraphicFramePr>
          <p:nvPr/>
        </p:nvGraphicFramePr>
        <p:xfrm>
          <a:off x="494395" y="3391255"/>
          <a:ext cx="7389973" cy="1402851"/>
        </p:xfrm>
        <a:graphic>
          <a:graphicData uri="http://schemas.openxmlformats.org/drawingml/2006/table">
            <a:tbl>
              <a:tblPr>
                <a:tableStyleId>{BC89EF96-8CEA-46FF-86C4-4CE0E7609802}</a:tableStyleId>
              </a:tblPr>
              <a:tblGrid>
                <a:gridCol w="1700977">
                  <a:extLst>
                    <a:ext uri="{9D8B030D-6E8A-4147-A177-3AD203B41FA5}">
                      <a16:colId xmlns:a16="http://schemas.microsoft.com/office/drawing/2014/main" val="640647881"/>
                    </a:ext>
                  </a:extLst>
                </a:gridCol>
                <a:gridCol w="2754218">
                  <a:extLst>
                    <a:ext uri="{9D8B030D-6E8A-4147-A177-3AD203B41FA5}">
                      <a16:colId xmlns:a16="http://schemas.microsoft.com/office/drawing/2014/main" val="472298858"/>
                    </a:ext>
                  </a:extLst>
                </a:gridCol>
                <a:gridCol w="2934778">
                  <a:extLst>
                    <a:ext uri="{9D8B030D-6E8A-4147-A177-3AD203B41FA5}">
                      <a16:colId xmlns:a16="http://schemas.microsoft.com/office/drawing/2014/main" val="1733037329"/>
                    </a:ext>
                  </a:extLst>
                </a:gridCol>
              </a:tblGrid>
              <a:tr h="404631">
                <a:tc>
                  <a:txBody>
                    <a:bodyPr/>
                    <a:lstStyle/>
                    <a:p>
                      <a:pPr algn="ctr" fontAlgn="t"/>
                      <a:r>
                        <a:rPr lang="zh-CN" altLang="en-US" sz="1600" dirty="0">
                          <a:effectLst/>
                        </a:rPr>
                        <a:t>成员运算符</a:t>
                      </a:r>
                      <a:endParaRPr lang="zh-CN" altLang="en-US" sz="1600" dirty="0">
                        <a:solidFill>
                          <a:srgbClr val="FFFFFF"/>
                        </a:solidFill>
                        <a:effectLst/>
                      </a:endParaRPr>
                    </a:p>
                  </a:txBody>
                  <a:tcPr marL="28575" marR="28575" marT="28575" marB="28575" anchor="ctr">
                    <a:solidFill>
                      <a:schemeClr val="accent1">
                        <a:lumMod val="20000"/>
                        <a:lumOff val="80000"/>
                      </a:schemeClr>
                    </a:solidFill>
                  </a:tcPr>
                </a:tc>
                <a:tc>
                  <a:txBody>
                    <a:bodyPr/>
                    <a:lstStyle/>
                    <a:p>
                      <a:pPr algn="ctr" fontAlgn="t"/>
                      <a:r>
                        <a:rPr lang="zh-CN" altLang="en-US" sz="1600" dirty="0">
                          <a:effectLst/>
                        </a:rPr>
                        <a:t>描述</a:t>
                      </a:r>
                      <a:endParaRPr lang="zh-CN" altLang="en-US" sz="1600" dirty="0">
                        <a:solidFill>
                          <a:srgbClr val="FFFFFF"/>
                        </a:solidFill>
                        <a:effectLst/>
                      </a:endParaRPr>
                    </a:p>
                  </a:txBody>
                  <a:tcPr marL="28575" marR="28575" marT="28575" marB="28575" anchor="ctr">
                    <a:solidFill>
                      <a:schemeClr val="accent1">
                        <a:lumMod val="20000"/>
                        <a:lumOff val="80000"/>
                      </a:schemeClr>
                    </a:solidFill>
                  </a:tcPr>
                </a:tc>
                <a:tc>
                  <a:txBody>
                    <a:bodyPr/>
                    <a:lstStyle/>
                    <a:p>
                      <a:pPr algn="ctr" fontAlgn="t"/>
                      <a:r>
                        <a:rPr lang="zh-CN" altLang="en-US" sz="1600" dirty="0">
                          <a:effectLst/>
                        </a:rPr>
                        <a:t>实例</a:t>
                      </a:r>
                      <a:endParaRPr lang="zh-CN" altLang="en-US" sz="1600" dirty="0">
                        <a:solidFill>
                          <a:srgbClr val="FFFFFF"/>
                        </a:solidFill>
                        <a:effectLst/>
                      </a:endParaRPr>
                    </a:p>
                  </a:txBody>
                  <a:tcPr marL="28575" marR="28575" marT="28575" marB="28575" anchor="ctr">
                    <a:solidFill>
                      <a:schemeClr val="accent1">
                        <a:lumMod val="20000"/>
                        <a:lumOff val="80000"/>
                      </a:schemeClr>
                    </a:solidFill>
                  </a:tcPr>
                </a:tc>
                <a:extLst>
                  <a:ext uri="{0D108BD9-81ED-4DB2-BD59-A6C34878D82A}">
                    <a16:rowId xmlns:a16="http://schemas.microsoft.com/office/drawing/2014/main" val="327970224"/>
                  </a:ext>
                </a:extLst>
              </a:tr>
              <a:tr h="0">
                <a:tc>
                  <a:txBody>
                    <a:bodyPr/>
                    <a:lstStyle/>
                    <a:p>
                      <a:pPr algn="ctr" fontAlgn="t"/>
                      <a:r>
                        <a:rPr lang="en-US" sz="1600" dirty="0">
                          <a:effectLst/>
                        </a:rPr>
                        <a:t>in</a:t>
                      </a:r>
                    </a:p>
                  </a:txBody>
                  <a:tcPr marL="47625" marR="47625" marT="66675" marB="66675" anchor="ctr"/>
                </a:tc>
                <a:tc>
                  <a:txBody>
                    <a:bodyPr/>
                    <a:lstStyle/>
                    <a:p>
                      <a:pPr algn="ctr" fontAlgn="t"/>
                      <a:r>
                        <a:rPr lang="zh-CN" altLang="en-US" sz="1600" dirty="0">
                          <a:effectLst/>
                        </a:rPr>
                        <a:t>是否在指定的序列中</a:t>
                      </a:r>
                      <a:endParaRPr lang="en-US" sz="1600" dirty="0">
                        <a:effectLst/>
                      </a:endParaRPr>
                    </a:p>
                  </a:txBody>
                  <a:tcPr marL="47625" marR="47625" marT="66675" marB="66675" anchor="ctr"/>
                </a:tc>
                <a:tc>
                  <a:txBody>
                    <a:bodyPr/>
                    <a:lstStyle/>
                    <a:p>
                      <a:pPr algn="ctr" fontAlgn="t"/>
                      <a:r>
                        <a:rPr lang="da-DK" altLang="zh-CN" sz="1600" kern="1200" dirty="0">
                          <a:effectLst/>
                        </a:rPr>
                        <a:t>list = [1, 2, 3, 4, 5 ]</a:t>
                      </a:r>
                    </a:p>
                    <a:p>
                      <a:pPr algn="ctr" fontAlgn="t"/>
                      <a:r>
                        <a:rPr lang="en-US" sz="1600" kern="1200" dirty="0">
                          <a:effectLst/>
                        </a:rPr>
                        <a:t>If</a:t>
                      </a:r>
                      <a:r>
                        <a:rPr lang="en-US" sz="1600" kern="1200" baseline="0" dirty="0">
                          <a:effectLst/>
                        </a:rPr>
                        <a:t>  a  in list:</a:t>
                      </a:r>
                      <a:endParaRPr lang="en-US" sz="1600" dirty="0">
                        <a:effectLst/>
                      </a:endParaRPr>
                    </a:p>
                  </a:txBody>
                  <a:tcPr marL="47625" marR="47625" marT="66675" marB="66675" anchor="ctr"/>
                </a:tc>
                <a:extLst>
                  <a:ext uri="{0D108BD9-81ED-4DB2-BD59-A6C34878D82A}">
                    <a16:rowId xmlns:a16="http://schemas.microsoft.com/office/drawing/2014/main" val="1670319936"/>
                  </a:ext>
                </a:extLst>
              </a:tr>
              <a:tr h="0">
                <a:tc>
                  <a:txBody>
                    <a:bodyPr/>
                    <a:lstStyle/>
                    <a:p>
                      <a:pPr algn="ctr" fontAlgn="t"/>
                      <a:r>
                        <a:rPr lang="en-US" sz="1600" dirty="0">
                          <a:effectLst/>
                        </a:rPr>
                        <a:t>not in</a:t>
                      </a:r>
                    </a:p>
                  </a:txBody>
                  <a:tcPr marL="47625" marR="47625" marT="66675" marB="66675" anchor="ctr"/>
                </a:tc>
                <a:tc>
                  <a:txBody>
                    <a:bodyPr/>
                    <a:lstStyle/>
                    <a:p>
                      <a:pPr algn="ctr" fontAlgn="t"/>
                      <a:r>
                        <a:rPr lang="zh-CN" altLang="en-US" sz="1600" dirty="0">
                          <a:effectLst/>
                        </a:rPr>
                        <a:t>是否不在指定的序列中</a:t>
                      </a:r>
                      <a:endParaRPr lang="en-US" sz="1600" dirty="0">
                        <a:effectLst/>
                      </a:endParaRPr>
                    </a:p>
                  </a:txBody>
                  <a:tcPr marL="47625" marR="47625" marT="66675" marB="66675"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600" kern="1200" dirty="0">
                          <a:effectLst/>
                        </a:rPr>
                        <a:t>If</a:t>
                      </a:r>
                      <a:r>
                        <a:rPr lang="en-US" altLang="zh-CN" sz="1600" kern="1200" baseline="0" dirty="0">
                          <a:effectLst/>
                        </a:rPr>
                        <a:t>  a  not in list:</a:t>
                      </a:r>
                      <a:endParaRPr lang="en-US" altLang="zh-CN" sz="1600" dirty="0">
                        <a:effectLst/>
                      </a:endParaRPr>
                    </a:p>
                  </a:txBody>
                  <a:tcPr marL="47625" marR="47625" marT="66675" marB="66675" anchor="ctr"/>
                </a:tc>
                <a:extLst>
                  <a:ext uri="{0D108BD9-81ED-4DB2-BD59-A6C34878D82A}">
                    <a16:rowId xmlns:a16="http://schemas.microsoft.com/office/drawing/2014/main" val="381413855"/>
                  </a:ext>
                </a:extLst>
              </a:tr>
            </a:tbl>
          </a:graphicData>
        </a:graphic>
      </p:graphicFrame>
      <p:sp>
        <p:nvSpPr>
          <p:cNvPr id="6" name="标题 1"/>
          <p:cNvSpPr txBox="1">
            <a:spLocks/>
          </p:cNvSpPr>
          <p:nvPr/>
        </p:nvSpPr>
        <p:spPr bwMode="auto">
          <a:xfrm>
            <a:off x="494396" y="2864966"/>
            <a:ext cx="4176464" cy="495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lnSpc>
                <a:spcPct val="95000"/>
              </a:lnSpc>
              <a:spcBef>
                <a:spcPct val="0"/>
              </a:spcBef>
              <a:spcAft>
                <a:spcPct val="0"/>
              </a:spcAft>
              <a:defRPr sz="3200" b="1">
                <a:solidFill>
                  <a:srgbClr val="C00000"/>
                </a:solidFill>
                <a:latin typeface="微软雅黑" panose="020B0503020204020204" pitchFamily="34" charset="-122"/>
                <a:ea typeface="微软雅黑" panose="020B0503020204020204" pitchFamily="34" charset="-122"/>
                <a:cs typeface="+mj-cs"/>
              </a:defRPr>
            </a:lvl1pPr>
            <a:lvl2pPr algn="l" rtl="0" eaLnBrk="0" fontAlgn="base" hangingPunct="0">
              <a:lnSpc>
                <a:spcPct val="95000"/>
              </a:lnSpc>
              <a:spcBef>
                <a:spcPct val="0"/>
              </a:spcBef>
              <a:spcAft>
                <a:spcPct val="0"/>
              </a:spcAft>
              <a:defRPr sz="3600" b="1">
                <a:solidFill>
                  <a:schemeClr val="accent1"/>
                </a:solidFill>
                <a:latin typeface="Arial" pitchFamily="34" charset="0"/>
              </a:defRPr>
            </a:lvl2pPr>
            <a:lvl3pPr algn="l" rtl="0" eaLnBrk="0" fontAlgn="base" hangingPunct="0">
              <a:lnSpc>
                <a:spcPct val="95000"/>
              </a:lnSpc>
              <a:spcBef>
                <a:spcPct val="0"/>
              </a:spcBef>
              <a:spcAft>
                <a:spcPct val="0"/>
              </a:spcAft>
              <a:defRPr sz="3600" b="1">
                <a:solidFill>
                  <a:schemeClr val="accent1"/>
                </a:solidFill>
                <a:latin typeface="Arial" pitchFamily="34" charset="0"/>
              </a:defRPr>
            </a:lvl3pPr>
            <a:lvl4pPr algn="l" rtl="0" eaLnBrk="0" fontAlgn="base" hangingPunct="0">
              <a:lnSpc>
                <a:spcPct val="95000"/>
              </a:lnSpc>
              <a:spcBef>
                <a:spcPct val="0"/>
              </a:spcBef>
              <a:spcAft>
                <a:spcPct val="0"/>
              </a:spcAft>
              <a:defRPr sz="3600" b="1">
                <a:solidFill>
                  <a:schemeClr val="accent1"/>
                </a:solidFill>
                <a:latin typeface="Arial" pitchFamily="34" charset="0"/>
              </a:defRPr>
            </a:lvl4pPr>
            <a:lvl5pPr algn="l" rtl="0" eaLnBrk="0" fontAlgn="base" hangingPunct="0">
              <a:lnSpc>
                <a:spcPct val="95000"/>
              </a:lnSpc>
              <a:spcBef>
                <a:spcPct val="0"/>
              </a:spcBef>
              <a:spcAft>
                <a:spcPct val="0"/>
              </a:spcAft>
              <a:defRPr sz="3600" b="1">
                <a:solidFill>
                  <a:schemeClr val="accent1"/>
                </a:solidFill>
                <a:latin typeface="Arial" pitchFamily="34" charset="0"/>
              </a:defRPr>
            </a:lvl5pPr>
            <a:lvl6pPr marL="457200" algn="l" rtl="0" eaLnBrk="1" fontAlgn="base" hangingPunct="1">
              <a:lnSpc>
                <a:spcPct val="95000"/>
              </a:lnSpc>
              <a:spcBef>
                <a:spcPct val="0"/>
              </a:spcBef>
              <a:spcAft>
                <a:spcPct val="0"/>
              </a:spcAft>
              <a:defRPr sz="3200" b="1">
                <a:solidFill>
                  <a:schemeClr val="accent1"/>
                </a:solidFill>
                <a:latin typeface="Arial" pitchFamily="34" charset="0"/>
              </a:defRPr>
            </a:lvl6pPr>
            <a:lvl7pPr marL="914400" algn="l" rtl="0" eaLnBrk="1" fontAlgn="base" hangingPunct="1">
              <a:lnSpc>
                <a:spcPct val="95000"/>
              </a:lnSpc>
              <a:spcBef>
                <a:spcPct val="0"/>
              </a:spcBef>
              <a:spcAft>
                <a:spcPct val="0"/>
              </a:spcAft>
              <a:defRPr sz="3200" b="1">
                <a:solidFill>
                  <a:schemeClr val="accent1"/>
                </a:solidFill>
                <a:latin typeface="Arial" pitchFamily="34" charset="0"/>
              </a:defRPr>
            </a:lvl7pPr>
            <a:lvl8pPr marL="1371600" algn="l" rtl="0" eaLnBrk="1" fontAlgn="base" hangingPunct="1">
              <a:lnSpc>
                <a:spcPct val="95000"/>
              </a:lnSpc>
              <a:spcBef>
                <a:spcPct val="0"/>
              </a:spcBef>
              <a:spcAft>
                <a:spcPct val="0"/>
              </a:spcAft>
              <a:defRPr sz="3200" b="1">
                <a:solidFill>
                  <a:schemeClr val="accent1"/>
                </a:solidFill>
                <a:latin typeface="Arial" pitchFamily="34" charset="0"/>
              </a:defRPr>
            </a:lvl8pPr>
            <a:lvl9pPr marL="1828800" algn="l" rtl="0" eaLnBrk="1" fontAlgn="base" hangingPunct="1">
              <a:lnSpc>
                <a:spcPct val="95000"/>
              </a:lnSpc>
              <a:spcBef>
                <a:spcPct val="0"/>
              </a:spcBef>
              <a:spcAft>
                <a:spcPct val="0"/>
              </a:spcAft>
              <a:defRPr sz="3200" b="1">
                <a:solidFill>
                  <a:schemeClr val="accent1"/>
                </a:solidFill>
                <a:latin typeface="Arial" pitchFamily="34" charset="0"/>
              </a:defRPr>
            </a:lvl9pPr>
          </a:lstStyle>
          <a:p>
            <a:r>
              <a:rPr lang="zh-CN" altLang="en-US" sz="2400" kern="0" dirty="0"/>
              <a:t>成员运算</a:t>
            </a:r>
          </a:p>
        </p:txBody>
      </p:sp>
      <p:sp>
        <p:nvSpPr>
          <p:cNvPr id="7" name="标题 1"/>
          <p:cNvSpPr txBox="1">
            <a:spLocks/>
          </p:cNvSpPr>
          <p:nvPr/>
        </p:nvSpPr>
        <p:spPr bwMode="auto">
          <a:xfrm>
            <a:off x="494395" y="2143648"/>
            <a:ext cx="5542037" cy="381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lnSpc>
                <a:spcPct val="95000"/>
              </a:lnSpc>
              <a:spcBef>
                <a:spcPct val="0"/>
              </a:spcBef>
              <a:spcAft>
                <a:spcPct val="0"/>
              </a:spcAft>
              <a:defRPr sz="3200" b="1">
                <a:solidFill>
                  <a:srgbClr val="C00000"/>
                </a:solidFill>
                <a:latin typeface="微软雅黑" panose="020B0503020204020204" pitchFamily="34" charset="-122"/>
                <a:ea typeface="微软雅黑" panose="020B0503020204020204" pitchFamily="34" charset="-122"/>
                <a:cs typeface="+mj-cs"/>
              </a:defRPr>
            </a:lvl1pPr>
            <a:lvl2pPr algn="l" rtl="0" eaLnBrk="0" fontAlgn="base" hangingPunct="0">
              <a:lnSpc>
                <a:spcPct val="95000"/>
              </a:lnSpc>
              <a:spcBef>
                <a:spcPct val="0"/>
              </a:spcBef>
              <a:spcAft>
                <a:spcPct val="0"/>
              </a:spcAft>
              <a:defRPr sz="3600" b="1">
                <a:solidFill>
                  <a:schemeClr val="accent1"/>
                </a:solidFill>
                <a:latin typeface="Arial" pitchFamily="34" charset="0"/>
              </a:defRPr>
            </a:lvl2pPr>
            <a:lvl3pPr algn="l" rtl="0" eaLnBrk="0" fontAlgn="base" hangingPunct="0">
              <a:lnSpc>
                <a:spcPct val="95000"/>
              </a:lnSpc>
              <a:spcBef>
                <a:spcPct val="0"/>
              </a:spcBef>
              <a:spcAft>
                <a:spcPct val="0"/>
              </a:spcAft>
              <a:defRPr sz="3600" b="1">
                <a:solidFill>
                  <a:schemeClr val="accent1"/>
                </a:solidFill>
                <a:latin typeface="Arial" pitchFamily="34" charset="0"/>
              </a:defRPr>
            </a:lvl3pPr>
            <a:lvl4pPr algn="l" rtl="0" eaLnBrk="0" fontAlgn="base" hangingPunct="0">
              <a:lnSpc>
                <a:spcPct val="95000"/>
              </a:lnSpc>
              <a:spcBef>
                <a:spcPct val="0"/>
              </a:spcBef>
              <a:spcAft>
                <a:spcPct val="0"/>
              </a:spcAft>
              <a:defRPr sz="3600" b="1">
                <a:solidFill>
                  <a:schemeClr val="accent1"/>
                </a:solidFill>
                <a:latin typeface="Arial" pitchFamily="34" charset="0"/>
              </a:defRPr>
            </a:lvl4pPr>
            <a:lvl5pPr algn="l" rtl="0" eaLnBrk="0" fontAlgn="base" hangingPunct="0">
              <a:lnSpc>
                <a:spcPct val="95000"/>
              </a:lnSpc>
              <a:spcBef>
                <a:spcPct val="0"/>
              </a:spcBef>
              <a:spcAft>
                <a:spcPct val="0"/>
              </a:spcAft>
              <a:defRPr sz="3600" b="1">
                <a:solidFill>
                  <a:schemeClr val="accent1"/>
                </a:solidFill>
                <a:latin typeface="Arial" pitchFamily="34" charset="0"/>
              </a:defRPr>
            </a:lvl5pPr>
            <a:lvl6pPr marL="457200" algn="l" rtl="0" eaLnBrk="1" fontAlgn="base" hangingPunct="1">
              <a:lnSpc>
                <a:spcPct val="95000"/>
              </a:lnSpc>
              <a:spcBef>
                <a:spcPct val="0"/>
              </a:spcBef>
              <a:spcAft>
                <a:spcPct val="0"/>
              </a:spcAft>
              <a:defRPr sz="3200" b="1">
                <a:solidFill>
                  <a:schemeClr val="accent1"/>
                </a:solidFill>
                <a:latin typeface="Arial" pitchFamily="34" charset="0"/>
              </a:defRPr>
            </a:lvl6pPr>
            <a:lvl7pPr marL="914400" algn="l" rtl="0" eaLnBrk="1" fontAlgn="base" hangingPunct="1">
              <a:lnSpc>
                <a:spcPct val="95000"/>
              </a:lnSpc>
              <a:spcBef>
                <a:spcPct val="0"/>
              </a:spcBef>
              <a:spcAft>
                <a:spcPct val="0"/>
              </a:spcAft>
              <a:defRPr sz="3200" b="1">
                <a:solidFill>
                  <a:schemeClr val="accent1"/>
                </a:solidFill>
                <a:latin typeface="Arial" pitchFamily="34" charset="0"/>
              </a:defRPr>
            </a:lvl7pPr>
            <a:lvl8pPr marL="1371600" algn="l" rtl="0" eaLnBrk="1" fontAlgn="base" hangingPunct="1">
              <a:lnSpc>
                <a:spcPct val="95000"/>
              </a:lnSpc>
              <a:spcBef>
                <a:spcPct val="0"/>
              </a:spcBef>
              <a:spcAft>
                <a:spcPct val="0"/>
              </a:spcAft>
              <a:defRPr sz="3200" b="1">
                <a:solidFill>
                  <a:schemeClr val="accent1"/>
                </a:solidFill>
                <a:latin typeface="Arial" pitchFamily="34" charset="0"/>
              </a:defRPr>
            </a:lvl8pPr>
            <a:lvl9pPr marL="1828800" algn="l" rtl="0" eaLnBrk="1" fontAlgn="base" hangingPunct="1">
              <a:lnSpc>
                <a:spcPct val="95000"/>
              </a:lnSpc>
              <a:spcBef>
                <a:spcPct val="0"/>
              </a:spcBef>
              <a:spcAft>
                <a:spcPct val="0"/>
              </a:spcAft>
              <a:defRPr sz="3200" b="1">
                <a:solidFill>
                  <a:schemeClr val="accent1"/>
                </a:solidFill>
                <a:latin typeface="Arial" pitchFamily="34" charset="0"/>
              </a:defRPr>
            </a:lvl9pPr>
          </a:lstStyle>
          <a:p>
            <a:r>
              <a:rPr lang="zh-CN" altLang="en-US" sz="1800" b="0" kern="0" dirty="0">
                <a:solidFill>
                  <a:schemeClr val="tx1"/>
                </a:solidFill>
              </a:rPr>
              <a:t>注意：</a:t>
            </a:r>
            <a:r>
              <a:rPr lang="en-US" altLang="zh-CN" sz="1800" b="0" kern="0" dirty="0">
                <a:solidFill>
                  <a:schemeClr val="tx1"/>
                </a:solidFill>
              </a:rPr>
              <a:t>1&lt;x&lt;10   </a:t>
            </a:r>
            <a:r>
              <a:rPr lang="zh-CN" altLang="en-US" sz="1800" b="0" kern="0" dirty="0">
                <a:solidFill>
                  <a:schemeClr val="tx1"/>
                </a:solidFill>
              </a:rPr>
              <a:t>等同于  </a:t>
            </a:r>
            <a:r>
              <a:rPr lang="en-US" altLang="zh-CN" sz="1800" b="0" kern="0" dirty="0">
                <a:solidFill>
                  <a:schemeClr val="tx1"/>
                </a:solidFill>
              </a:rPr>
              <a:t>x&gt;1  and  x&lt;10</a:t>
            </a:r>
            <a:endParaRPr lang="zh-CN" altLang="en-US" sz="1800" b="0" kern="0" dirty="0">
              <a:solidFill>
                <a:schemeClr val="tx1"/>
              </a:solidFill>
            </a:endParaRPr>
          </a:p>
        </p:txBody>
      </p:sp>
    </p:spTree>
    <p:extLst>
      <p:ext uri="{BB962C8B-B14F-4D97-AF65-F5344CB8AC3E}">
        <p14:creationId xmlns:p14="http://schemas.microsoft.com/office/powerpoint/2010/main" val="15026864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16"/>
          <p:cNvSpPr txBox="1">
            <a:spLocks noChangeArrowheads="1"/>
          </p:cNvSpPr>
          <p:nvPr/>
        </p:nvSpPr>
        <p:spPr bwMode="auto">
          <a:xfrm>
            <a:off x="4644008" y="2598689"/>
            <a:ext cx="3949948" cy="461665"/>
          </a:xfrm>
          <a:prstGeom prst="rect">
            <a:avLst/>
          </a:prstGeom>
          <a:solidFill>
            <a:srgbClr val="E4F3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2000" dirty="0">
                <a:solidFill>
                  <a:srgbClr val="000066"/>
                </a:solidFill>
                <a:latin typeface="Courier New" pitchFamily="49" charset="0"/>
                <a:ea typeface="微软雅黑" pitchFamily="34" charset="-122"/>
                <a:cs typeface="Courier New" pitchFamily="49" charset="0"/>
              </a:rPr>
              <a:t>10 &lt;= x  And   x &lt;=  20</a:t>
            </a:r>
          </a:p>
        </p:txBody>
      </p:sp>
      <p:sp>
        <p:nvSpPr>
          <p:cNvPr id="33799" name="TextBox 2"/>
          <p:cNvSpPr txBox="1">
            <a:spLocks noChangeArrowheads="1"/>
          </p:cNvSpPr>
          <p:nvPr/>
        </p:nvSpPr>
        <p:spPr bwMode="auto">
          <a:xfrm>
            <a:off x="438225" y="1418505"/>
            <a:ext cx="60626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zh-CN" altLang="en-US" sz="2000" b="0" dirty="0">
                <a:solidFill>
                  <a:srgbClr val="000066"/>
                </a:solidFill>
                <a:latin typeface="Courier New" pitchFamily="49" charset="0"/>
                <a:ea typeface="微软雅黑" pitchFamily="34" charset="-122"/>
                <a:cs typeface="Courier New" pitchFamily="49" charset="0"/>
              </a:rPr>
              <a:t>例表示 </a:t>
            </a:r>
            <a:r>
              <a:rPr lang="en-US" altLang="zh-CN" sz="2000" dirty="0">
                <a:solidFill>
                  <a:srgbClr val="C00000"/>
                </a:solidFill>
                <a:latin typeface="Courier New" pitchFamily="49" charset="0"/>
                <a:ea typeface="微软雅黑" pitchFamily="34" charset="-122"/>
                <a:cs typeface="Courier New" pitchFamily="49" charset="0"/>
              </a:rPr>
              <a:t>x </a:t>
            </a:r>
            <a:r>
              <a:rPr lang="zh-CN" altLang="en-US" sz="2000" b="0" dirty="0">
                <a:solidFill>
                  <a:srgbClr val="000066"/>
                </a:solidFill>
                <a:latin typeface="Courier New" pitchFamily="49" charset="0"/>
                <a:ea typeface="微软雅黑" pitchFamily="34" charset="-122"/>
                <a:cs typeface="Courier New" pitchFamily="49" charset="0"/>
              </a:rPr>
              <a:t>在一段数值范围内</a:t>
            </a:r>
            <a:r>
              <a:rPr lang="zh-CN" altLang="en-US" sz="2000" dirty="0">
                <a:solidFill>
                  <a:srgbClr val="000066"/>
                </a:solidFill>
                <a:latin typeface="Courier New" pitchFamily="49" charset="0"/>
                <a:ea typeface="微软雅黑" pitchFamily="34" charset="-122"/>
                <a:cs typeface="Courier New" pitchFamily="49" charset="0"/>
              </a:rPr>
              <a:t>：   </a:t>
            </a:r>
            <a:r>
              <a:rPr lang="en-US" altLang="zh-CN" sz="2000" dirty="0">
                <a:solidFill>
                  <a:srgbClr val="000066"/>
                </a:solidFill>
                <a:latin typeface="Courier New" pitchFamily="49" charset="0"/>
                <a:ea typeface="微软雅黑" pitchFamily="34" charset="-122"/>
                <a:cs typeface="Courier New" pitchFamily="49" charset="0"/>
              </a:rPr>
              <a:t>10 ≤ x ≤ 20</a:t>
            </a:r>
            <a:r>
              <a:rPr lang="zh-CN" altLang="en-US" sz="2000" dirty="0">
                <a:solidFill>
                  <a:srgbClr val="000066"/>
                </a:solidFill>
                <a:latin typeface="Courier New" pitchFamily="49" charset="0"/>
                <a:ea typeface="微软雅黑" pitchFamily="34" charset="-122"/>
                <a:cs typeface="Courier New" pitchFamily="49" charset="0"/>
              </a:rPr>
              <a:t>     </a:t>
            </a:r>
          </a:p>
        </p:txBody>
      </p:sp>
      <p:sp>
        <p:nvSpPr>
          <p:cNvPr id="12" name="Text Box 16"/>
          <p:cNvSpPr txBox="1">
            <a:spLocks noChangeArrowheads="1"/>
          </p:cNvSpPr>
          <p:nvPr/>
        </p:nvSpPr>
        <p:spPr bwMode="auto">
          <a:xfrm>
            <a:off x="5220021" y="3225678"/>
            <a:ext cx="2592388" cy="461963"/>
          </a:xfrm>
          <a:prstGeom prst="rect">
            <a:avLst/>
          </a:prstGeom>
          <a:solidFill>
            <a:srgbClr val="E4F3F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2000" dirty="0">
                <a:solidFill>
                  <a:srgbClr val="000066"/>
                </a:solidFill>
                <a:latin typeface="Courier New" pitchFamily="49" charset="0"/>
                <a:ea typeface="微软雅黑" pitchFamily="34" charset="-122"/>
                <a:cs typeface="Courier New" pitchFamily="49" charset="0"/>
              </a:rPr>
              <a:t>10 &lt;= x &lt;=  20</a:t>
            </a:r>
          </a:p>
        </p:txBody>
      </p:sp>
      <p:sp>
        <p:nvSpPr>
          <p:cNvPr id="33801" name="TextBox 3"/>
          <p:cNvSpPr txBox="1">
            <a:spLocks noChangeArrowheads="1"/>
          </p:cNvSpPr>
          <p:nvPr/>
        </p:nvSpPr>
        <p:spPr bwMode="auto">
          <a:xfrm>
            <a:off x="8593956" y="2482007"/>
            <a:ext cx="620712"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zh-CN" altLang="en-US" sz="3200" b="0" dirty="0">
                <a:latin typeface="Courier New" pitchFamily="49" charset="0"/>
                <a:ea typeface="微软雅黑" pitchFamily="34" charset="-122"/>
                <a:cs typeface="Courier New" pitchFamily="49" charset="0"/>
                <a:sym typeface="Wingdings" pitchFamily="2" charset="2"/>
              </a:rPr>
              <a:t></a:t>
            </a:r>
            <a:endParaRPr lang="zh-CN" altLang="en-US" sz="3200" b="0" dirty="0">
              <a:latin typeface="Courier New" pitchFamily="49" charset="0"/>
              <a:ea typeface="微软雅黑" pitchFamily="34" charset="-122"/>
              <a:cs typeface="Courier New" pitchFamily="49" charset="0"/>
            </a:endParaRPr>
          </a:p>
        </p:txBody>
      </p:sp>
      <p:sp>
        <p:nvSpPr>
          <p:cNvPr id="33802" name="TextBox 13"/>
          <p:cNvSpPr txBox="1">
            <a:spLocks noChangeArrowheads="1"/>
          </p:cNvSpPr>
          <p:nvPr/>
        </p:nvSpPr>
        <p:spPr bwMode="auto">
          <a:xfrm>
            <a:off x="7976222" y="3139232"/>
            <a:ext cx="622300" cy="72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zh-CN" altLang="en-US" sz="3600" b="0" dirty="0">
                <a:latin typeface="Courier New" pitchFamily="49" charset="0"/>
                <a:ea typeface="微软雅黑" pitchFamily="34" charset="-122"/>
                <a:cs typeface="Courier New" pitchFamily="49" charset="0"/>
                <a:sym typeface="Wingdings" pitchFamily="2" charset="2"/>
              </a:rPr>
              <a:t></a:t>
            </a:r>
            <a:endParaRPr lang="zh-CN" altLang="en-US" sz="3600" b="0" dirty="0">
              <a:latin typeface="Courier New" pitchFamily="49" charset="0"/>
              <a:ea typeface="微软雅黑" pitchFamily="34" charset="-122"/>
              <a:cs typeface="Courier New" pitchFamily="49" charset="0"/>
            </a:endParaRPr>
          </a:p>
        </p:txBody>
      </p:sp>
      <p:sp>
        <p:nvSpPr>
          <p:cNvPr id="13" name="AutoShape 44"/>
          <p:cNvSpPr>
            <a:spLocks noChangeArrowheads="1"/>
          </p:cNvSpPr>
          <p:nvPr/>
        </p:nvSpPr>
        <p:spPr bwMode="gray">
          <a:xfrm>
            <a:off x="435419" y="545082"/>
            <a:ext cx="8294911" cy="760413"/>
          </a:xfrm>
          <a:prstGeom prst="roundRect">
            <a:avLst>
              <a:gd name="adj" fmla="val 8014"/>
            </a:avLst>
          </a:prstGeom>
          <a:solidFill>
            <a:srgbClr val="FFFFCC"/>
          </a:solidFill>
          <a:ln w="9525">
            <a:solidFill>
              <a:srgbClr val="808000"/>
            </a:solidFill>
            <a:round/>
            <a:headEnd/>
            <a:tailEnd/>
          </a:ln>
        </p:spPr>
        <p:txBody>
          <a:bodyPr wrap="none" anchor="ctr"/>
          <a:lstStyle/>
          <a:p>
            <a:pPr>
              <a:lnSpc>
                <a:spcPct val="100000"/>
              </a:lnSpc>
              <a:spcBef>
                <a:spcPts val="600"/>
              </a:spcBef>
            </a:pPr>
            <a:r>
              <a:rPr lang="zh-CN" altLang="en-US" sz="1800" dirty="0">
                <a:solidFill>
                  <a:srgbClr val="C00000"/>
                </a:solidFill>
                <a:latin typeface="Courier New" pitchFamily="49" charset="0"/>
                <a:ea typeface="微软雅黑" pitchFamily="34" charset="-122"/>
                <a:cs typeface="Courier New" pitchFamily="49" charset="0"/>
              </a:rPr>
              <a:t>注意：</a:t>
            </a:r>
            <a:r>
              <a:rPr lang="zh-CN" altLang="en-US" sz="1800" b="0" dirty="0">
                <a:solidFill>
                  <a:srgbClr val="000066"/>
                </a:solidFill>
                <a:latin typeface="Courier New" pitchFamily="49" charset="0"/>
                <a:ea typeface="微软雅黑" pitchFamily="34" charset="-122"/>
                <a:cs typeface="Courier New" pitchFamily="49" charset="0"/>
              </a:rPr>
              <a:t>在</a:t>
            </a:r>
            <a:r>
              <a:rPr lang="zh-CN" altLang="zh-CN" sz="1800" b="0" dirty="0">
                <a:solidFill>
                  <a:srgbClr val="000066"/>
                </a:solidFill>
                <a:latin typeface="Courier New" pitchFamily="49" charset="0"/>
                <a:ea typeface="微软雅黑" pitchFamily="34" charset="-122"/>
                <a:cs typeface="Courier New" pitchFamily="49" charset="0"/>
              </a:rPr>
              <a:t>逻辑运算中，</a:t>
            </a:r>
            <a:r>
              <a:rPr lang="zh-CN" altLang="en-US" sz="1800" b="0" dirty="0">
                <a:solidFill>
                  <a:srgbClr val="000066"/>
                </a:solidFill>
                <a:latin typeface="Courier New" pitchFamily="49" charset="0"/>
                <a:ea typeface="微软雅黑" pitchFamily="34" charset="-122"/>
                <a:cs typeface="Courier New" pitchFamily="49" charset="0"/>
              </a:rPr>
              <a:t>为</a:t>
            </a:r>
            <a:r>
              <a:rPr lang="zh-CN" altLang="zh-CN" sz="1800" b="0" dirty="0">
                <a:solidFill>
                  <a:srgbClr val="000066"/>
                </a:solidFill>
                <a:latin typeface="Courier New" pitchFamily="49" charset="0"/>
                <a:ea typeface="微软雅黑" pitchFamily="34" charset="-122"/>
                <a:cs typeface="Courier New" pitchFamily="49" charset="0"/>
              </a:rPr>
              <a:t>与代数中常用的表达式</a:t>
            </a:r>
            <a:r>
              <a:rPr lang="zh-CN" altLang="en-US" sz="1800" b="0" dirty="0">
                <a:solidFill>
                  <a:srgbClr val="000066"/>
                </a:solidFill>
                <a:latin typeface="Courier New" pitchFamily="49" charset="0"/>
                <a:ea typeface="微软雅黑" pitchFamily="34" charset="-122"/>
                <a:cs typeface="Courier New" pitchFamily="49" charset="0"/>
              </a:rPr>
              <a:t>书写</a:t>
            </a:r>
            <a:r>
              <a:rPr lang="zh-CN" altLang="zh-CN" sz="1800" b="0" dirty="0">
                <a:solidFill>
                  <a:srgbClr val="000066"/>
                </a:solidFill>
                <a:latin typeface="Courier New" pitchFamily="49" charset="0"/>
                <a:ea typeface="微软雅黑" pitchFamily="34" charset="-122"/>
                <a:cs typeface="Courier New" pitchFamily="49" charset="0"/>
              </a:rPr>
              <a:t>相一致</a:t>
            </a:r>
            <a:r>
              <a:rPr lang="zh-CN" altLang="en-US" sz="1800" b="0" dirty="0">
                <a:solidFill>
                  <a:srgbClr val="000066"/>
                </a:solidFill>
                <a:latin typeface="Courier New" pitchFamily="49" charset="0"/>
                <a:ea typeface="微软雅黑" pitchFamily="34" charset="-122"/>
                <a:cs typeface="Courier New" pitchFamily="49" charset="0"/>
              </a:rPr>
              <a:t>，</a:t>
            </a:r>
            <a:endParaRPr lang="en-US" altLang="zh-CN" sz="1800" b="0" dirty="0">
              <a:solidFill>
                <a:srgbClr val="000066"/>
              </a:solidFill>
              <a:latin typeface="Courier New" pitchFamily="49" charset="0"/>
              <a:ea typeface="微软雅黑" pitchFamily="34" charset="-122"/>
              <a:cs typeface="Courier New" pitchFamily="49" charset="0"/>
            </a:endParaRPr>
          </a:p>
          <a:p>
            <a:pPr>
              <a:lnSpc>
                <a:spcPct val="100000"/>
              </a:lnSpc>
              <a:spcBef>
                <a:spcPts val="600"/>
              </a:spcBef>
            </a:pPr>
            <a:r>
              <a:rPr lang="en-US" altLang="zh-CN" sz="1800" b="0" dirty="0">
                <a:solidFill>
                  <a:srgbClr val="000066"/>
                </a:solidFill>
                <a:latin typeface="Courier New" pitchFamily="49" charset="0"/>
                <a:ea typeface="微软雅黑" pitchFamily="34" charset="-122"/>
                <a:cs typeface="Courier New" pitchFamily="49" charset="0"/>
              </a:rPr>
              <a:t>      </a:t>
            </a:r>
            <a:r>
              <a:rPr lang="en-US" altLang="zh-CN" sz="1800" dirty="0">
                <a:solidFill>
                  <a:srgbClr val="C00000"/>
                </a:solidFill>
                <a:latin typeface="Courier New" pitchFamily="49" charset="0"/>
                <a:ea typeface="微软雅黑" pitchFamily="34" charset="-122"/>
                <a:cs typeface="Courier New" pitchFamily="49" charset="0"/>
              </a:rPr>
              <a:t>Python</a:t>
            </a:r>
            <a:r>
              <a:rPr lang="zh-CN" altLang="en-US" sz="1800" b="0" dirty="0">
                <a:solidFill>
                  <a:srgbClr val="000066"/>
                </a:solidFill>
                <a:latin typeface="Courier New" pitchFamily="49" charset="0"/>
                <a:ea typeface="微软雅黑" pitchFamily="34" charset="-122"/>
                <a:cs typeface="Courier New" pitchFamily="49" charset="0"/>
              </a:rPr>
              <a:t>用</a:t>
            </a:r>
            <a:r>
              <a:rPr lang="zh-CN" altLang="zh-CN" sz="1800" b="0" dirty="0">
                <a:solidFill>
                  <a:srgbClr val="000066"/>
                </a:solidFill>
                <a:latin typeface="Courier New" pitchFamily="49" charset="0"/>
                <a:ea typeface="微软雅黑" pitchFamily="34" charset="-122"/>
                <a:cs typeface="Courier New" pitchFamily="49" charset="0"/>
              </a:rPr>
              <a:t>简化的逻辑表达式</a:t>
            </a:r>
            <a:r>
              <a:rPr lang="zh-CN" altLang="en-US" sz="1800" b="0" dirty="0">
                <a:solidFill>
                  <a:srgbClr val="000066"/>
                </a:solidFill>
                <a:latin typeface="Courier New" pitchFamily="49" charset="0"/>
                <a:ea typeface="微软雅黑" pitchFamily="34" charset="-122"/>
                <a:cs typeface="Courier New" pitchFamily="49" charset="0"/>
              </a:rPr>
              <a:t>，在其他语言中一般都不可以。</a:t>
            </a:r>
          </a:p>
        </p:txBody>
      </p:sp>
      <p:cxnSp>
        <p:nvCxnSpPr>
          <p:cNvPr id="14" name="直接连接符 25"/>
          <p:cNvCxnSpPr>
            <a:cxnSpLocks noChangeShapeType="1"/>
            <a:stCxn id="12" idx="2"/>
          </p:cNvCxnSpPr>
          <p:nvPr/>
        </p:nvCxnSpPr>
        <p:spPr bwMode="auto">
          <a:xfrm flipH="1" flipV="1">
            <a:off x="5270821" y="3668591"/>
            <a:ext cx="1246188" cy="19050"/>
          </a:xfrm>
          <a:prstGeom prst="line">
            <a:avLst/>
          </a:prstGeom>
          <a:noFill/>
          <a:ln w="31750" algn="ctr">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cxnSp>
      <p:sp>
        <p:nvSpPr>
          <p:cNvPr id="45068" name="TextBox 2"/>
          <p:cNvSpPr txBox="1">
            <a:spLocks noChangeArrowheads="1"/>
          </p:cNvSpPr>
          <p:nvPr/>
        </p:nvSpPr>
        <p:spPr bwMode="auto">
          <a:xfrm>
            <a:off x="570608" y="2120250"/>
            <a:ext cx="30241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2000" dirty="0">
                <a:latin typeface="Courier New" pitchFamily="49" charset="0"/>
                <a:ea typeface="微软雅黑" pitchFamily="34" charset="-122"/>
                <a:cs typeface="Courier New" pitchFamily="49" charset="0"/>
              </a:rPr>
              <a:t>Python</a:t>
            </a:r>
            <a:r>
              <a:rPr lang="zh-CN" altLang="en-US" sz="2000" dirty="0">
                <a:latin typeface="Courier New" pitchFamily="49" charset="0"/>
                <a:ea typeface="微软雅黑" pitchFamily="34" charset="-122"/>
                <a:cs typeface="Courier New" pitchFamily="49" charset="0"/>
              </a:rPr>
              <a:t>的逻辑表达式：</a:t>
            </a:r>
          </a:p>
        </p:txBody>
      </p:sp>
      <p:sp>
        <p:nvSpPr>
          <p:cNvPr id="15" name="TextBox 2"/>
          <p:cNvSpPr txBox="1">
            <a:spLocks noChangeArrowheads="1"/>
          </p:cNvSpPr>
          <p:nvPr/>
        </p:nvSpPr>
        <p:spPr bwMode="auto">
          <a:xfrm>
            <a:off x="5569769" y="2088320"/>
            <a:ext cx="3024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2000" dirty="0">
                <a:latin typeface="Courier New" pitchFamily="49" charset="0"/>
                <a:ea typeface="微软雅黑" pitchFamily="34" charset="-122"/>
                <a:cs typeface="Courier New" pitchFamily="49" charset="0"/>
              </a:rPr>
              <a:t>VB</a:t>
            </a:r>
            <a:r>
              <a:rPr lang="zh-CN" altLang="en-US" sz="2000" dirty="0">
                <a:latin typeface="Courier New" pitchFamily="49" charset="0"/>
                <a:ea typeface="微软雅黑" pitchFamily="34" charset="-122"/>
                <a:cs typeface="Courier New" pitchFamily="49" charset="0"/>
              </a:rPr>
              <a:t>的逻辑表达式：</a:t>
            </a:r>
          </a:p>
        </p:txBody>
      </p:sp>
      <p:sp>
        <p:nvSpPr>
          <p:cNvPr id="16" name="Text Box 16"/>
          <p:cNvSpPr txBox="1">
            <a:spLocks noChangeArrowheads="1"/>
          </p:cNvSpPr>
          <p:nvPr/>
        </p:nvSpPr>
        <p:spPr bwMode="auto">
          <a:xfrm>
            <a:off x="683568" y="2640631"/>
            <a:ext cx="2592388" cy="461963"/>
          </a:xfrm>
          <a:prstGeom prst="rect">
            <a:avLst/>
          </a:prstGeom>
          <a:solidFill>
            <a:srgbClr val="E4F3F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en-US" altLang="zh-CN" sz="2000" dirty="0">
                <a:solidFill>
                  <a:srgbClr val="000066"/>
                </a:solidFill>
                <a:latin typeface="Courier New" pitchFamily="49" charset="0"/>
                <a:ea typeface="微软雅黑" pitchFamily="34" charset="-122"/>
                <a:cs typeface="Courier New" pitchFamily="49" charset="0"/>
              </a:rPr>
              <a:t>10 &lt;= x &lt;=  20</a:t>
            </a:r>
          </a:p>
        </p:txBody>
      </p:sp>
      <p:sp>
        <p:nvSpPr>
          <p:cNvPr id="19" name="TextBox 3"/>
          <p:cNvSpPr txBox="1">
            <a:spLocks noChangeArrowheads="1"/>
          </p:cNvSpPr>
          <p:nvPr/>
        </p:nvSpPr>
        <p:spPr bwMode="auto">
          <a:xfrm>
            <a:off x="3159200" y="2457601"/>
            <a:ext cx="620712"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A50021"/>
                </a:solidFill>
                <a:latin typeface="Arial" pitchFamily="34" charset="0"/>
                <a:ea typeface="黑体" pitchFamily="49" charset="-122"/>
              </a:defRPr>
            </a:lvl1pPr>
            <a:lvl2pPr marL="742950" indent="-285750" eaLnBrk="0" hangingPunct="0">
              <a:defRPr kumimoji="1" sz="2400" b="1">
                <a:solidFill>
                  <a:srgbClr val="A50021"/>
                </a:solidFill>
                <a:latin typeface="Arial" pitchFamily="34" charset="0"/>
                <a:ea typeface="黑体" pitchFamily="49" charset="-122"/>
              </a:defRPr>
            </a:lvl2pPr>
            <a:lvl3pPr marL="1143000" indent="-228600" eaLnBrk="0" hangingPunct="0">
              <a:defRPr kumimoji="1" sz="2400" b="1">
                <a:solidFill>
                  <a:srgbClr val="A50021"/>
                </a:solidFill>
                <a:latin typeface="Arial" pitchFamily="34" charset="0"/>
                <a:ea typeface="黑体" pitchFamily="49" charset="-122"/>
              </a:defRPr>
            </a:lvl3pPr>
            <a:lvl4pPr marL="1600200" indent="-228600" eaLnBrk="0" hangingPunct="0">
              <a:defRPr kumimoji="1" sz="2400" b="1">
                <a:solidFill>
                  <a:srgbClr val="A50021"/>
                </a:solidFill>
                <a:latin typeface="Arial" pitchFamily="34" charset="0"/>
                <a:ea typeface="黑体" pitchFamily="49" charset="-122"/>
              </a:defRPr>
            </a:lvl4pPr>
            <a:lvl5pPr marL="2057400" indent="-228600" eaLnBrk="0" hangingPunct="0">
              <a:defRPr kumimoji="1" sz="2400" b="1">
                <a:solidFill>
                  <a:srgbClr val="A50021"/>
                </a:solidFill>
                <a:latin typeface="Arial" pitchFamily="34" charset="0"/>
                <a:ea typeface="黑体" pitchFamily="49" charset="-122"/>
              </a:defRPr>
            </a:lvl5pPr>
            <a:lvl6pPr marL="25146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6pPr>
            <a:lvl7pPr marL="29718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7pPr>
            <a:lvl8pPr marL="34290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8pPr>
            <a:lvl9pPr marL="3886200" indent="-228600" eaLnBrk="0" fontAlgn="base" hangingPunct="0">
              <a:lnSpc>
                <a:spcPct val="120000"/>
              </a:lnSpc>
              <a:spcBef>
                <a:spcPct val="50000"/>
              </a:spcBef>
              <a:spcAft>
                <a:spcPct val="0"/>
              </a:spcAft>
              <a:defRPr kumimoji="1" sz="2400" b="1">
                <a:solidFill>
                  <a:srgbClr val="A50021"/>
                </a:solidFill>
                <a:latin typeface="Arial" pitchFamily="34" charset="0"/>
                <a:ea typeface="黑体" pitchFamily="49" charset="-122"/>
              </a:defRPr>
            </a:lvl9pPr>
          </a:lstStyle>
          <a:p>
            <a:pPr eaLnBrk="1" hangingPunct="1"/>
            <a:r>
              <a:rPr lang="zh-CN" altLang="en-US" sz="3200" b="0" dirty="0">
                <a:latin typeface="Courier New" pitchFamily="49" charset="0"/>
                <a:ea typeface="微软雅黑" pitchFamily="34" charset="-122"/>
                <a:cs typeface="Courier New" pitchFamily="49" charset="0"/>
                <a:sym typeface="Wingdings" pitchFamily="2" charset="2"/>
              </a:rPr>
              <a:t></a:t>
            </a:r>
            <a:endParaRPr lang="zh-CN" altLang="en-US" sz="3200" b="0" dirty="0">
              <a:latin typeface="Courier New" pitchFamily="49" charset="0"/>
              <a:ea typeface="微软雅黑" pitchFamily="34" charset="-122"/>
              <a:cs typeface="Courier New" pitchFamily="49" charset="0"/>
            </a:endParaRPr>
          </a:p>
        </p:txBody>
      </p:sp>
      <p:sp>
        <p:nvSpPr>
          <p:cNvPr id="20" name="AutoShape 44"/>
          <p:cNvSpPr>
            <a:spLocks noChangeArrowheads="1"/>
          </p:cNvSpPr>
          <p:nvPr/>
        </p:nvSpPr>
        <p:spPr bwMode="gray">
          <a:xfrm>
            <a:off x="417287" y="3956671"/>
            <a:ext cx="8331177" cy="760413"/>
          </a:xfrm>
          <a:prstGeom prst="roundRect">
            <a:avLst>
              <a:gd name="adj" fmla="val 8014"/>
            </a:avLst>
          </a:prstGeom>
          <a:solidFill>
            <a:srgbClr val="FFFFCC"/>
          </a:solidFill>
          <a:ln w="9525">
            <a:solidFill>
              <a:srgbClr val="808000"/>
            </a:solidFill>
            <a:round/>
            <a:headEnd/>
            <a:tailEnd/>
          </a:ln>
        </p:spPr>
        <p:txBody>
          <a:bodyPr wrap="none" anchor="ctr"/>
          <a:lstStyle/>
          <a:p>
            <a:pPr>
              <a:lnSpc>
                <a:spcPct val="100000"/>
              </a:lnSpc>
              <a:spcBef>
                <a:spcPts val="1200"/>
              </a:spcBef>
            </a:pPr>
            <a:r>
              <a:rPr lang="zh-CN" altLang="en-US" sz="1800" dirty="0">
                <a:solidFill>
                  <a:srgbClr val="C00000"/>
                </a:solidFill>
                <a:latin typeface="Courier New" pitchFamily="49" charset="0"/>
                <a:ea typeface="微软雅黑" pitchFamily="34" charset="-122"/>
                <a:cs typeface="Courier New" pitchFamily="49" charset="0"/>
              </a:rPr>
              <a:t>注意：</a:t>
            </a:r>
            <a:r>
              <a:rPr lang="zh-CN" altLang="zh-CN" sz="2000" b="0" dirty="0">
                <a:latin typeface="Courier New" pitchFamily="49" charset="0"/>
                <a:ea typeface="微软雅黑" pitchFamily="34" charset="-122"/>
                <a:cs typeface="Courier New" pitchFamily="49" charset="0"/>
              </a:rPr>
              <a:t>运算符优先级</a:t>
            </a:r>
            <a:r>
              <a:rPr lang="zh-CN" altLang="en-US" sz="2000" b="0" dirty="0">
                <a:latin typeface="Courier New" pitchFamily="49" charset="0"/>
                <a:ea typeface="微软雅黑" pitchFamily="34" charset="-122"/>
                <a:cs typeface="Courier New" pitchFamily="49" charset="0"/>
              </a:rPr>
              <a:t> </a:t>
            </a:r>
            <a:r>
              <a:rPr lang="zh-CN" altLang="en-US" sz="1800" b="0" dirty="0">
                <a:latin typeface="Courier New" pitchFamily="49" charset="0"/>
                <a:ea typeface="微软雅黑" pitchFamily="34" charset="-122"/>
                <a:cs typeface="Courier New" pitchFamily="49" charset="0"/>
              </a:rPr>
              <a:t>   </a:t>
            </a:r>
            <a:endParaRPr lang="en-US" altLang="zh-CN" sz="1800" b="0" dirty="0">
              <a:latin typeface="Courier New" pitchFamily="49" charset="0"/>
              <a:ea typeface="微软雅黑" pitchFamily="34" charset="-122"/>
              <a:cs typeface="Courier New" pitchFamily="49" charset="0"/>
            </a:endParaRPr>
          </a:p>
          <a:p>
            <a:pPr>
              <a:lnSpc>
                <a:spcPct val="100000"/>
              </a:lnSpc>
              <a:spcBef>
                <a:spcPts val="600"/>
              </a:spcBef>
            </a:pPr>
            <a:r>
              <a:rPr lang="en-US" altLang="zh-CN" sz="1800" b="0" dirty="0">
                <a:solidFill>
                  <a:srgbClr val="000066"/>
                </a:solidFill>
                <a:latin typeface="Courier New" pitchFamily="49" charset="0"/>
                <a:ea typeface="微软雅黑" pitchFamily="34" charset="-122"/>
                <a:cs typeface="Courier New" pitchFamily="49" charset="0"/>
              </a:rPr>
              <a:t>    </a:t>
            </a:r>
            <a:r>
              <a:rPr lang="zh-CN" altLang="en-US" sz="1800" b="0" dirty="0">
                <a:solidFill>
                  <a:srgbClr val="000066"/>
                </a:solidFill>
                <a:latin typeface="Courier New" pitchFamily="49" charset="0"/>
                <a:ea typeface="微软雅黑" pitchFamily="34" charset="-122"/>
                <a:cs typeface="Courier New" pitchFamily="49" charset="0"/>
              </a:rPr>
              <a:t>　</a:t>
            </a:r>
            <a:r>
              <a:rPr lang="zh-CN" altLang="en-US" sz="1800" b="0" dirty="0">
                <a:solidFill>
                  <a:srgbClr val="000066"/>
                </a:solidFill>
                <a:latin typeface="微软雅黑" pitchFamily="34" charset="-122"/>
                <a:ea typeface="微软雅黑" pitchFamily="34" charset="-122"/>
                <a:cs typeface="Courier New" pitchFamily="49" charset="0"/>
              </a:rPr>
              <a:t>算术运算符</a:t>
            </a:r>
            <a:r>
              <a:rPr lang="en-US" altLang="zh-CN" sz="1800" b="0" dirty="0">
                <a:solidFill>
                  <a:srgbClr val="000066"/>
                </a:solidFill>
                <a:latin typeface="微软雅黑" pitchFamily="34" charset="-122"/>
                <a:ea typeface="微软雅黑" pitchFamily="34" charset="-122"/>
                <a:cs typeface="Courier New" pitchFamily="49" charset="0"/>
              </a:rPr>
              <a:t>&gt;</a:t>
            </a:r>
            <a:r>
              <a:rPr lang="zh-CN" altLang="en-US" sz="1800" b="0" dirty="0">
                <a:solidFill>
                  <a:srgbClr val="000066"/>
                </a:solidFill>
                <a:latin typeface="微软雅黑" pitchFamily="34" charset="-122"/>
                <a:ea typeface="微软雅黑" pitchFamily="34" charset="-122"/>
                <a:cs typeface="Courier New" pitchFamily="49" charset="0"/>
              </a:rPr>
              <a:t>字符运算符</a:t>
            </a:r>
            <a:r>
              <a:rPr lang="en-US" altLang="zh-CN" sz="1800" b="0" dirty="0">
                <a:solidFill>
                  <a:srgbClr val="000066"/>
                </a:solidFill>
                <a:latin typeface="微软雅黑" pitchFamily="34" charset="-122"/>
                <a:ea typeface="微软雅黑" pitchFamily="34" charset="-122"/>
                <a:cs typeface="Courier New" pitchFamily="49" charset="0"/>
              </a:rPr>
              <a:t>&gt;</a:t>
            </a:r>
            <a:r>
              <a:rPr lang="zh-CN" altLang="en-US" sz="1800" b="0" dirty="0">
                <a:solidFill>
                  <a:srgbClr val="000066"/>
                </a:solidFill>
                <a:latin typeface="微软雅黑" pitchFamily="34" charset="-122"/>
                <a:ea typeface="微软雅黑" pitchFamily="34" charset="-122"/>
                <a:cs typeface="Courier New" pitchFamily="49" charset="0"/>
              </a:rPr>
              <a:t>关系运算符</a:t>
            </a:r>
            <a:r>
              <a:rPr lang="en-US" altLang="zh-CN" sz="1800" b="0" dirty="0">
                <a:solidFill>
                  <a:srgbClr val="000066"/>
                </a:solidFill>
                <a:latin typeface="微软雅黑" pitchFamily="34" charset="-122"/>
                <a:ea typeface="微软雅黑" pitchFamily="34" charset="-122"/>
                <a:cs typeface="Courier New" pitchFamily="49" charset="0"/>
              </a:rPr>
              <a:t>&gt;</a:t>
            </a:r>
            <a:r>
              <a:rPr lang="zh-CN" altLang="en-US" sz="1800" b="0" dirty="0">
                <a:solidFill>
                  <a:srgbClr val="000066"/>
                </a:solidFill>
                <a:latin typeface="微软雅黑" pitchFamily="34" charset="-122"/>
                <a:ea typeface="微软雅黑" pitchFamily="34" charset="-122"/>
                <a:cs typeface="Courier New" pitchFamily="49" charset="0"/>
              </a:rPr>
              <a:t>逻辑运算</a:t>
            </a:r>
          </a:p>
        </p:txBody>
      </p:sp>
    </p:spTree>
    <p:extLst>
      <p:ext uri="{BB962C8B-B14F-4D97-AF65-F5344CB8AC3E}">
        <p14:creationId xmlns:p14="http://schemas.microsoft.com/office/powerpoint/2010/main" val="9565911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nodeType="after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379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45068">
                                            <p:txEl>
                                              <p:pRg st="0" end="0"/>
                                            </p:txEl>
                                          </p:spTgt>
                                        </p:tgtEl>
                                        <p:attrNameLst>
                                          <p:attrName>style.visibility</p:attrName>
                                        </p:attrNameLst>
                                      </p:cBhvr>
                                      <p:to>
                                        <p:strVal val="visible"/>
                                      </p:to>
                                    </p:set>
                                    <p:animEffect transition="in" filter="wipe(up)">
                                      <p:cBhvr>
                                        <p:cTn id="16" dur="500"/>
                                        <p:tgtEl>
                                          <p:spTgt spid="45068">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animEffect transition="in" filter="wipe(up)">
                                      <p:cBhvr>
                                        <p:cTn id="25" dur="500"/>
                                        <p:tgtEl>
                                          <p:spTgt spid="15">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childTnLst>
                          </p:cTn>
                        </p:par>
                      </p:childTnLst>
                    </p:cTn>
                  </p:par>
                  <p:par>
                    <p:cTn id="34" fill="hold">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3802"/>
                                        </p:tgtEl>
                                        <p:attrNameLst>
                                          <p:attrName>style.visibility</p:attrName>
                                        </p:attrNameLst>
                                      </p:cBhvr>
                                      <p:to>
                                        <p:strVal val="visible"/>
                                      </p:to>
                                    </p:set>
                                    <p:animEffect transition="in" filter="wipe(up)">
                                      <p:cBhvr>
                                        <p:cTn id="38" dur="500"/>
                                        <p:tgtEl>
                                          <p:spTgt spid="33802"/>
                                        </p:tgtEl>
                                      </p:cBhvr>
                                    </p:animEffect>
                                  </p:childTnLst>
                                </p:cTn>
                              </p:par>
                            </p:childTnLst>
                          </p:cTn>
                        </p:par>
                        <p:par>
                          <p:cTn id="39" fill="hold">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33801"/>
                                        </p:tgtEl>
                                        <p:attrNameLst>
                                          <p:attrName>style.visibility</p:attrName>
                                        </p:attrNameLst>
                                      </p:cBhvr>
                                      <p:to>
                                        <p:strVal val="visible"/>
                                      </p:to>
                                    </p:set>
                                    <p:animEffect transition="in" filter="wipe(up)">
                                      <p:cBhvr>
                                        <p:cTn id="42" dur="500"/>
                                        <p:tgtEl>
                                          <p:spTgt spid="33801"/>
                                        </p:tgtEl>
                                      </p:cBhvr>
                                    </p:animEffect>
                                  </p:childTnLst>
                                </p:cTn>
                              </p:par>
                              <p:par>
                                <p:cTn id="43" presetID="22" presetClass="entr" presetSubtype="8"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par>
                          <p:cTn id="46" fill="hold">
                            <p:stCondLst>
                              <p:cond delay="1000"/>
                            </p:stCondLst>
                            <p:childTnLst>
                              <p:par>
                                <p:cTn id="47" presetID="22" presetClass="entr" presetSubtype="1" fill="hold" grpId="0"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up)">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up)">
                                      <p:cBhvr>
                                        <p:cTn id="5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3799" grpId="0"/>
      <p:bldP spid="12" grpId="0" animBg="1"/>
      <p:bldP spid="33801" grpId="0"/>
      <p:bldP spid="33802" grpId="0"/>
      <p:bldP spid="13" grpId="0" animBg="1"/>
      <p:bldP spid="16" grpId="0" animBg="1"/>
      <p:bldP spid="19" grpId="0"/>
      <p:bldP spid="2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utoShape 44"/>
          <p:cNvSpPr>
            <a:spLocks noChangeArrowheads="1"/>
          </p:cNvSpPr>
          <p:nvPr/>
        </p:nvSpPr>
        <p:spPr bwMode="gray">
          <a:xfrm>
            <a:off x="303169" y="483518"/>
            <a:ext cx="8424936" cy="2376264"/>
          </a:xfrm>
          <a:prstGeom prst="roundRect">
            <a:avLst>
              <a:gd name="adj" fmla="val 8014"/>
            </a:avLst>
          </a:prstGeom>
          <a:solidFill>
            <a:srgbClr val="F8F8F8"/>
          </a:solidFill>
          <a:ln w="9525">
            <a:solidFill>
              <a:srgbClr val="8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zh-CN" sz="1600" b="0" dirty="0">
                <a:solidFill>
                  <a:srgbClr val="000066"/>
                </a:solidFill>
                <a:latin typeface="Courier New" pitchFamily="49" charset="0"/>
                <a:ea typeface="微软雅黑" pitchFamily="34" charset="-122"/>
                <a:cs typeface="Courier New" pitchFamily="49" charset="0"/>
              </a:rPr>
              <a:t>【例</a:t>
            </a:r>
            <a:r>
              <a:rPr lang="en-US" altLang="zh-CN" sz="1600" b="0" dirty="0">
                <a:solidFill>
                  <a:srgbClr val="000066"/>
                </a:solidFill>
                <a:latin typeface="Courier New" pitchFamily="49" charset="0"/>
                <a:ea typeface="微软雅黑" pitchFamily="34" charset="-122"/>
                <a:cs typeface="Courier New" pitchFamily="49" charset="0"/>
              </a:rPr>
              <a:t>2.16</a:t>
            </a:r>
            <a:r>
              <a:rPr lang="zh-CN" altLang="zh-CN" sz="1600" b="0" dirty="0">
                <a:solidFill>
                  <a:srgbClr val="000066"/>
                </a:solidFill>
                <a:latin typeface="Courier New" pitchFamily="49" charset="0"/>
                <a:ea typeface="微软雅黑" pitchFamily="34" charset="-122"/>
                <a:cs typeface="Courier New" pitchFamily="49" charset="0"/>
              </a:rPr>
              <a:t>】输入三角形三边，判断其能否构成三角形。</a:t>
            </a:r>
          </a:p>
          <a:p>
            <a:r>
              <a:rPr lang="en-US" altLang="zh-CN" sz="1600" dirty="0">
                <a:latin typeface="Courier New" pitchFamily="49" charset="0"/>
                <a:ea typeface="微软雅黑" pitchFamily="34" charset="-122"/>
                <a:cs typeface="Courier New" pitchFamily="49" charset="0"/>
              </a:rPr>
              <a:t>&gt;&gt;&gt; a, b, c = </a:t>
            </a:r>
            <a:r>
              <a:rPr lang="en-US" altLang="zh-CN" sz="1600" dirty="0" err="1">
                <a:latin typeface="Courier New" pitchFamily="49" charset="0"/>
                <a:ea typeface="微软雅黑" pitchFamily="34" charset="-122"/>
                <a:cs typeface="Courier New" pitchFamily="49" charset="0"/>
              </a:rPr>
              <a:t>eval</a:t>
            </a:r>
            <a:r>
              <a:rPr lang="en-US" altLang="zh-CN" sz="1600" dirty="0">
                <a:latin typeface="Courier New" pitchFamily="49" charset="0"/>
                <a:ea typeface="微软雅黑" pitchFamily="34" charset="-122"/>
                <a:cs typeface="Courier New" pitchFamily="49" charset="0"/>
              </a:rPr>
              <a:t>(input("</a:t>
            </a:r>
            <a:r>
              <a:rPr lang="zh-CN" altLang="zh-CN" sz="1600" dirty="0">
                <a:latin typeface="Courier New" pitchFamily="49" charset="0"/>
                <a:ea typeface="微软雅黑" pitchFamily="34" charset="-122"/>
                <a:cs typeface="Courier New" pitchFamily="49" charset="0"/>
              </a:rPr>
              <a:t>输入</a:t>
            </a:r>
            <a:r>
              <a:rPr lang="en-US" altLang="zh-CN" sz="1600" dirty="0" err="1">
                <a:latin typeface="Courier New" pitchFamily="49" charset="0"/>
                <a:ea typeface="微软雅黑" pitchFamily="34" charset="-122"/>
                <a:cs typeface="Courier New" pitchFamily="49" charset="0"/>
              </a:rPr>
              <a:t>a,b,c</a:t>
            </a:r>
            <a:r>
              <a:rPr lang="en-US" altLang="zh-CN" sz="1600" dirty="0">
                <a:latin typeface="Courier New" pitchFamily="49" charset="0"/>
                <a:ea typeface="微软雅黑" pitchFamily="34" charset="-122"/>
                <a:cs typeface="Courier New" pitchFamily="49" charset="0"/>
              </a:rPr>
              <a:t>: "))</a:t>
            </a:r>
            <a:endParaRPr lang="zh-CN" altLang="zh-CN" sz="1600" dirty="0">
              <a:latin typeface="Courier New" pitchFamily="49" charset="0"/>
              <a:ea typeface="微软雅黑" pitchFamily="34" charset="-122"/>
              <a:cs typeface="Courier New" pitchFamily="49" charset="0"/>
            </a:endParaRPr>
          </a:p>
          <a:p>
            <a:r>
              <a:rPr lang="zh-CN" altLang="zh-CN" sz="1600" dirty="0">
                <a:latin typeface="Courier New" pitchFamily="49" charset="0"/>
                <a:ea typeface="微软雅黑" pitchFamily="34" charset="-122"/>
                <a:cs typeface="Courier New" pitchFamily="49" charset="0"/>
              </a:rPr>
              <a:t>输入</a:t>
            </a:r>
            <a:r>
              <a:rPr lang="en-US" altLang="zh-CN" sz="1600" dirty="0" err="1">
                <a:latin typeface="Courier New" pitchFamily="49" charset="0"/>
                <a:ea typeface="微软雅黑" pitchFamily="34" charset="-122"/>
                <a:cs typeface="Courier New" pitchFamily="49" charset="0"/>
              </a:rPr>
              <a:t>a,b,c</a:t>
            </a:r>
            <a:r>
              <a:rPr lang="en-US" altLang="zh-CN" sz="1600" dirty="0">
                <a:latin typeface="Courier New" pitchFamily="49" charset="0"/>
                <a:ea typeface="微软雅黑" pitchFamily="34" charset="-122"/>
                <a:cs typeface="Courier New" pitchFamily="49" charset="0"/>
              </a:rPr>
              <a:t>: 2, 4, 5</a:t>
            </a:r>
            <a:endParaRPr lang="zh-CN" altLang="zh-CN" sz="1600" dirty="0">
              <a:latin typeface="Courier New" pitchFamily="49" charset="0"/>
              <a:ea typeface="微软雅黑" pitchFamily="34" charset="-122"/>
              <a:cs typeface="Courier New" pitchFamily="49" charset="0"/>
            </a:endParaRPr>
          </a:p>
          <a:p>
            <a:r>
              <a:rPr lang="en-US" altLang="zh-CN" sz="1600" dirty="0">
                <a:latin typeface="Courier New" pitchFamily="49" charset="0"/>
                <a:ea typeface="微软雅黑" pitchFamily="34" charset="-122"/>
                <a:cs typeface="Courier New" pitchFamily="49" charset="0"/>
              </a:rPr>
              <a:t>&gt;&gt;&gt; </a:t>
            </a:r>
            <a:r>
              <a:rPr lang="en-US" altLang="zh-CN" sz="1600" dirty="0" err="1">
                <a:latin typeface="Courier New" pitchFamily="49" charset="0"/>
                <a:ea typeface="微软雅黑" pitchFamily="34" charset="-122"/>
                <a:cs typeface="Courier New" pitchFamily="49" charset="0"/>
              </a:rPr>
              <a:t>a+b</a:t>
            </a:r>
            <a:r>
              <a:rPr lang="en-US" altLang="zh-CN" sz="1600" dirty="0">
                <a:latin typeface="Courier New" pitchFamily="49" charset="0"/>
                <a:ea typeface="微软雅黑" pitchFamily="34" charset="-122"/>
                <a:cs typeface="Courier New" pitchFamily="49" charset="0"/>
              </a:rPr>
              <a:t>&gt;c and </a:t>
            </a:r>
            <a:r>
              <a:rPr lang="en-US" altLang="zh-CN" sz="1600" dirty="0" err="1">
                <a:latin typeface="Courier New" pitchFamily="49" charset="0"/>
                <a:ea typeface="微软雅黑" pitchFamily="34" charset="-122"/>
                <a:cs typeface="Courier New" pitchFamily="49" charset="0"/>
              </a:rPr>
              <a:t>b+c</a:t>
            </a:r>
            <a:r>
              <a:rPr lang="en-US" altLang="zh-CN" sz="1600" dirty="0">
                <a:latin typeface="Courier New" pitchFamily="49" charset="0"/>
                <a:ea typeface="微软雅黑" pitchFamily="34" charset="-122"/>
                <a:cs typeface="Courier New" pitchFamily="49" charset="0"/>
              </a:rPr>
              <a:t>&gt;a and </a:t>
            </a:r>
            <a:r>
              <a:rPr lang="en-US" altLang="zh-CN" sz="1600" dirty="0" err="1">
                <a:latin typeface="Courier New" pitchFamily="49" charset="0"/>
                <a:ea typeface="微软雅黑" pitchFamily="34" charset="-122"/>
                <a:cs typeface="Courier New" pitchFamily="49" charset="0"/>
              </a:rPr>
              <a:t>a+c</a:t>
            </a:r>
            <a:r>
              <a:rPr lang="en-US" altLang="zh-CN" sz="1600" dirty="0">
                <a:latin typeface="Courier New" pitchFamily="49" charset="0"/>
                <a:ea typeface="微软雅黑" pitchFamily="34" charset="-122"/>
                <a:cs typeface="Courier New" pitchFamily="49" charset="0"/>
              </a:rPr>
              <a:t>&gt;b</a:t>
            </a:r>
            <a:endParaRPr lang="zh-CN" altLang="zh-CN" sz="1600" dirty="0">
              <a:latin typeface="Courier New" pitchFamily="49" charset="0"/>
              <a:ea typeface="微软雅黑" pitchFamily="34" charset="-122"/>
              <a:cs typeface="Courier New" pitchFamily="49" charset="0"/>
            </a:endParaRPr>
          </a:p>
          <a:p>
            <a:r>
              <a:rPr lang="en-US" altLang="zh-CN" sz="1600" dirty="0">
                <a:latin typeface="Courier New" pitchFamily="49" charset="0"/>
                <a:ea typeface="微软雅黑" pitchFamily="34" charset="-122"/>
                <a:cs typeface="Courier New" pitchFamily="49" charset="0"/>
              </a:rPr>
              <a:t>True</a:t>
            </a:r>
            <a:endParaRPr lang="zh-CN" altLang="zh-CN" sz="1600" dirty="0"/>
          </a:p>
        </p:txBody>
      </p:sp>
      <p:sp>
        <p:nvSpPr>
          <p:cNvPr id="18" name="AutoShape 44"/>
          <p:cNvSpPr>
            <a:spLocks noChangeArrowheads="1"/>
          </p:cNvSpPr>
          <p:nvPr/>
        </p:nvSpPr>
        <p:spPr bwMode="gray">
          <a:xfrm>
            <a:off x="303170" y="3075806"/>
            <a:ext cx="8424936" cy="1584176"/>
          </a:xfrm>
          <a:prstGeom prst="roundRect">
            <a:avLst>
              <a:gd name="adj" fmla="val 8014"/>
            </a:avLst>
          </a:prstGeom>
          <a:solidFill>
            <a:srgbClr val="FFFFCC"/>
          </a:solidFill>
          <a:ln w="9525">
            <a:solidFill>
              <a:srgbClr val="808000"/>
            </a:solidFill>
            <a:round/>
            <a:headEnd/>
            <a:tailEnd/>
          </a:ln>
        </p:spPr>
        <p:txBody>
          <a:bodyPr wrap="none" anchor="ctr"/>
          <a:lstStyle/>
          <a:p>
            <a:pPr>
              <a:lnSpc>
                <a:spcPct val="150000"/>
              </a:lnSpc>
            </a:pPr>
            <a:r>
              <a:rPr lang="zh-CN" altLang="en-US" sz="1800" dirty="0">
                <a:latin typeface="微软雅黑" pitchFamily="34" charset="-122"/>
                <a:ea typeface="微软雅黑" pitchFamily="34" charset="-122"/>
              </a:rPr>
              <a:t>说明：</a:t>
            </a:r>
            <a:r>
              <a:rPr lang="en-US" altLang="zh-CN" sz="1800" b="1" dirty="0" err="1">
                <a:solidFill>
                  <a:srgbClr val="C00000"/>
                </a:solidFill>
                <a:latin typeface="Courier New" pitchFamily="49" charset="0"/>
                <a:ea typeface="微软雅黑" pitchFamily="34" charset="-122"/>
                <a:cs typeface="Courier New" pitchFamily="49" charset="0"/>
              </a:rPr>
              <a:t>eval</a:t>
            </a:r>
            <a:r>
              <a:rPr lang="zh-CN" altLang="zh-CN" sz="1800" b="1" dirty="0">
                <a:solidFill>
                  <a:srgbClr val="C00000"/>
                </a:solidFill>
                <a:latin typeface="Courier New" pitchFamily="49" charset="0"/>
                <a:ea typeface="微软雅黑" pitchFamily="34" charset="-122"/>
                <a:cs typeface="Courier New" pitchFamily="49" charset="0"/>
              </a:rPr>
              <a:t>函数</a:t>
            </a:r>
            <a:r>
              <a:rPr lang="zh-CN" altLang="zh-CN" sz="1800" b="0" dirty="0">
                <a:latin typeface="Courier New" pitchFamily="49" charset="0"/>
                <a:ea typeface="微软雅黑" pitchFamily="34" charset="-122"/>
                <a:cs typeface="Courier New" pitchFamily="49" charset="0"/>
              </a:rPr>
              <a:t>将字符串中去掉引号后，其中的内容看作表达式进行计算，</a:t>
            </a:r>
            <a:endParaRPr lang="en-US" altLang="zh-CN" sz="1800" b="0" dirty="0">
              <a:latin typeface="Courier New" pitchFamily="49" charset="0"/>
              <a:ea typeface="微软雅黑" pitchFamily="34" charset="-122"/>
              <a:cs typeface="Courier New" pitchFamily="49" charset="0"/>
            </a:endParaRPr>
          </a:p>
          <a:p>
            <a:pPr>
              <a:lnSpc>
                <a:spcPct val="150000"/>
              </a:lnSpc>
            </a:pPr>
            <a:r>
              <a:rPr lang="en-US" altLang="zh-CN" sz="1800" b="0" dirty="0">
                <a:latin typeface="Courier New" pitchFamily="49" charset="0"/>
                <a:ea typeface="微软雅黑" pitchFamily="34" charset="-122"/>
                <a:cs typeface="Courier New" pitchFamily="49" charset="0"/>
              </a:rPr>
              <a:t>     </a:t>
            </a:r>
            <a:r>
              <a:rPr lang="zh-CN" altLang="zh-CN" sz="1800" b="0" dirty="0">
                <a:latin typeface="Courier New" pitchFamily="49" charset="0"/>
                <a:ea typeface="微软雅黑" pitchFamily="34" charset="-122"/>
                <a:cs typeface="Courier New" pitchFamily="49" charset="0"/>
              </a:rPr>
              <a:t>其实质是前面赋值运算符中介绍的序列解包赋值。</a:t>
            </a:r>
            <a:endParaRPr lang="en-US" altLang="zh-CN" sz="1800" b="0" dirty="0">
              <a:latin typeface="Courier New" pitchFamily="49" charset="0"/>
              <a:ea typeface="微软雅黑" pitchFamily="34" charset="-122"/>
              <a:cs typeface="Courier New" pitchFamily="49" charset="0"/>
            </a:endParaRPr>
          </a:p>
          <a:p>
            <a:pPr>
              <a:lnSpc>
                <a:spcPct val="150000"/>
              </a:lnSpc>
            </a:pPr>
            <a:r>
              <a:rPr lang="en-US" altLang="zh-CN" sz="1800" b="0" dirty="0">
                <a:latin typeface="Courier New" pitchFamily="49" charset="0"/>
                <a:ea typeface="微软雅黑" pitchFamily="34" charset="-122"/>
                <a:cs typeface="Courier New" pitchFamily="49" charset="0"/>
              </a:rPr>
              <a:t>     </a:t>
            </a:r>
            <a:r>
              <a:rPr lang="zh-CN" altLang="zh-CN" sz="1800" b="0" dirty="0">
                <a:latin typeface="Courier New" pitchFamily="49" charset="0"/>
                <a:ea typeface="微软雅黑" pitchFamily="34" charset="-122"/>
                <a:cs typeface="Courier New" pitchFamily="49" charset="0"/>
              </a:rPr>
              <a:t>该函数是</a:t>
            </a:r>
            <a:r>
              <a:rPr lang="en-US" altLang="zh-CN" sz="1800" b="0" dirty="0">
                <a:latin typeface="Courier New" pitchFamily="49" charset="0"/>
                <a:ea typeface="微软雅黑" pitchFamily="34" charset="-122"/>
                <a:cs typeface="Courier New" pitchFamily="49" charset="0"/>
              </a:rPr>
              <a:t>Python</a:t>
            </a:r>
            <a:r>
              <a:rPr lang="zh-CN" altLang="zh-CN" sz="1800" b="0" dirty="0">
                <a:latin typeface="Courier New" pitchFamily="49" charset="0"/>
                <a:ea typeface="微软雅黑" pitchFamily="34" charset="-122"/>
                <a:cs typeface="Courier New" pitchFamily="49" charset="0"/>
              </a:rPr>
              <a:t>中的很有特色的函数，在以后的多变量的输入中常使用</a:t>
            </a:r>
            <a:endParaRPr lang="zh-CN" altLang="zh-CN" sz="1600" b="0" dirty="0">
              <a:latin typeface="Courier New" pitchFamily="49" charset="0"/>
              <a:ea typeface="微软雅黑" pitchFamily="34" charset="-122"/>
              <a:cs typeface="Courier New" pitchFamily="49" charset="0"/>
            </a:endParaRPr>
          </a:p>
        </p:txBody>
      </p:sp>
    </p:spTree>
    <p:extLst>
      <p:ext uri="{BB962C8B-B14F-4D97-AF65-F5344CB8AC3E}">
        <p14:creationId xmlns:p14="http://schemas.microsoft.com/office/powerpoint/2010/main" val="218325392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up)">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wipe(up)">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wipe(up)">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7">
                                            <p:txEl>
                                              <p:pRg st="3" end="3"/>
                                            </p:txEl>
                                          </p:spTgt>
                                        </p:tgtEl>
                                        <p:attrNameLst>
                                          <p:attrName>style.visibility</p:attrName>
                                        </p:attrNameLst>
                                      </p:cBhvr>
                                      <p:to>
                                        <p:strVal val="visible"/>
                                      </p:to>
                                    </p:set>
                                    <p:animEffect transition="in" filter="wipe(up)">
                                      <p:cBhvr>
                                        <p:cTn id="22" dur="500"/>
                                        <p:tgtEl>
                                          <p:spTgt spid="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7">
                                            <p:txEl>
                                              <p:pRg st="4" end="4"/>
                                            </p:txEl>
                                          </p:spTgt>
                                        </p:tgtEl>
                                        <p:attrNameLst>
                                          <p:attrName>style.visibility</p:attrName>
                                        </p:attrNameLst>
                                      </p:cBhvr>
                                      <p:to>
                                        <p:strVal val="visible"/>
                                      </p:to>
                                    </p:set>
                                    <p:animEffect transition="in" filter="wipe(up)">
                                      <p:cBhvr>
                                        <p:cTn id="27" dur="500"/>
                                        <p:tgtEl>
                                          <p:spTgt spid="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6"/>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标题 1"/>
          <p:cNvSpPr>
            <a:spLocks noGrp="1"/>
          </p:cNvSpPr>
          <p:nvPr>
            <p:ph type="title"/>
          </p:nvPr>
        </p:nvSpPr>
        <p:spPr>
          <a:xfrm>
            <a:off x="395536" y="411510"/>
            <a:ext cx="8275638" cy="495523"/>
          </a:xfrm>
        </p:spPr>
        <p:txBody>
          <a:bodyPr/>
          <a:lstStyle/>
          <a:p>
            <a:r>
              <a:rPr lang="zh-CN" altLang="en-US" sz="2400" dirty="0"/>
              <a:t>运算优先级</a:t>
            </a:r>
          </a:p>
        </p:txBody>
      </p:sp>
      <p:graphicFrame>
        <p:nvGraphicFramePr>
          <p:cNvPr id="5" name="表格 4"/>
          <p:cNvGraphicFramePr>
            <a:graphicFrameLocks noGrp="1"/>
          </p:cNvGraphicFramePr>
          <p:nvPr/>
        </p:nvGraphicFramePr>
        <p:xfrm>
          <a:off x="395536" y="987574"/>
          <a:ext cx="3888432" cy="3542612"/>
        </p:xfrm>
        <a:graphic>
          <a:graphicData uri="http://schemas.openxmlformats.org/drawingml/2006/table">
            <a:tbl>
              <a:tblPr>
                <a:tableStyleId>{BC89EF96-8CEA-46FF-86C4-4CE0E7609802}</a:tableStyleId>
              </a:tblPr>
              <a:tblGrid>
                <a:gridCol w="951735">
                  <a:extLst>
                    <a:ext uri="{9D8B030D-6E8A-4147-A177-3AD203B41FA5}">
                      <a16:colId xmlns:a16="http://schemas.microsoft.com/office/drawing/2014/main" val="2557003084"/>
                    </a:ext>
                  </a:extLst>
                </a:gridCol>
                <a:gridCol w="956134">
                  <a:extLst>
                    <a:ext uri="{9D8B030D-6E8A-4147-A177-3AD203B41FA5}">
                      <a16:colId xmlns:a16="http://schemas.microsoft.com/office/drawing/2014/main" val="3464240817"/>
                    </a:ext>
                  </a:extLst>
                </a:gridCol>
                <a:gridCol w="1980563">
                  <a:extLst>
                    <a:ext uri="{9D8B030D-6E8A-4147-A177-3AD203B41FA5}">
                      <a16:colId xmlns:a16="http://schemas.microsoft.com/office/drawing/2014/main" val="3276812241"/>
                    </a:ext>
                  </a:extLst>
                </a:gridCol>
              </a:tblGrid>
              <a:tr h="432048">
                <a:tc>
                  <a:txBody>
                    <a:bodyPr/>
                    <a:lstStyle/>
                    <a:p>
                      <a:pPr algn="ctr" fontAlgn="t"/>
                      <a:r>
                        <a:rPr lang="zh-CN" altLang="en-US" sz="1600" dirty="0">
                          <a:effectLst/>
                        </a:rPr>
                        <a:t>优先级</a:t>
                      </a:r>
                      <a:endParaRPr lang="zh-CN" altLang="en-US" sz="1600" dirty="0">
                        <a:solidFill>
                          <a:srgbClr val="FFFFFF"/>
                        </a:solidFill>
                        <a:effectLst/>
                      </a:endParaRPr>
                    </a:p>
                  </a:txBody>
                  <a:tcPr marL="17422" marR="17422" marT="17422" marB="17422" anchor="ctr">
                    <a:solidFill>
                      <a:schemeClr val="accent1">
                        <a:lumMod val="20000"/>
                        <a:lumOff val="80000"/>
                      </a:schemeClr>
                    </a:solidFill>
                  </a:tcPr>
                </a:tc>
                <a:tc>
                  <a:txBody>
                    <a:bodyPr/>
                    <a:lstStyle/>
                    <a:p>
                      <a:pPr algn="ctr" fontAlgn="t"/>
                      <a:r>
                        <a:rPr lang="zh-CN" altLang="en-US" sz="1600" dirty="0">
                          <a:effectLst/>
                        </a:rPr>
                        <a:t>运算符</a:t>
                      </a:r>
                      <a:endParaRPr lang="zh-CN" altLang="en-US" sz="1600" dirty="0">
                        <a:solidFill>
                          <a:srgbClr val="FFFFFF"/>
                        </a:solidFill>
                        <a:effectLst/>
                      </a:endParaRPr>
                    </a:p>
                  </a:txBody>
                  <a:tcPr marL="17422" marR="17422" marT="17422" marB="17422" anchor="ctr">
                    <a:solidFill>
                      <a:schemeClr val="accent1">
                        <a:lumMod val="20000"/>
                        <a:lumOff val="80000"/>
                      </a:schemeClr>
                    </a:solidFill>
                  </a:tcPr>
                </a:tc>
                <a:tc>
                  <a:txBody>
                    <a:bodyPr/>
                    <a:lstStyle/>
                    <a:p>
                      <a:pPr algn="ctr" fontAlgn="t"/>
                      <a:r>
                        <a:rPr lang="zh-CN" altLang="en-US" sz="1600" dirty="0">
                          <a:effectLst/>
                        </a:rPr>
                        <a:t>描述</a:t>
                      </a:r>
                      <a:endParaRPr lang="zh-CN" altLang="en-US" sz="1600" dirty="0">
                        <a:solidFill>
                          <a:srgbClr val="FFFFFF"/>
                        </a:solidFill>
                        <a:effectLst/>
                      </a:endParaRPr>
                    </a:p>
                  </a:txBody>
                  <a:tcPr marL="17422" marR="17422" marT="17422" marB="17422" anchor="ctr">
                    <a:solidFill>
                      <a:schemeClr val="accent1">
                        <a:lumMod val="20000"/>
                        <a:lumOff val="80000"/>
                      </a:schemeClr>
                    </a:solidFill>
                  </a:tcPr>
                </a:tc>
                <a:extLst>
                  <a:ext uri="{0D108BD9-81ED-4DB2-BD59-A6C34878D82A}">
                    <a16:rowId xmlns:a16="http://schemas.microsoft.com/office/drawing/2014/main" val="1105895556"/>
                  </a:ext>
                </a:extLst>
              </a:tr>
              <a:tr h="248547">
                <a:tc>
                  <a:txBody>
                    <a:bodyPr/>
                    <a:lstStyle/>
                    <a:p>
                      <a:pPr algn="ctr" fontAlgn="t"/>
                      <a:r>
                        <a:rPr lang="en-US" altLang="zh-CN" sz="1600" dirty="0">
                          <a:effectLst/>
                        </a:rPr>
                        <a:t>1</a:t>
                      </a:r>
                      <a:endParaRPr lang="zh-CN" altLang="en-US" sz="1600" dirty="0">
                        <a:effectLst/>
                      </a:endParaRPr>
                    </a:p>
                  </a:txBody>
                  <a:tcPr marL="29036" marR="29036" marT="40650" marB="40650" anchor="ctr"/>
                </a:tc>
                <a:tc>
                  <a:txBody>
                    <a:bodyPr/>
                    <a:lstStyle/>
                    <a:p>
                      <a:pPr algn="ctr" fontAlgn="t"/>
                      <a:r>
                        <a:rPr lang="zh-CN" altLang="en-US" sz="1600" dirty="0">
                          <a:effectLst/>
                        </a:rPr>
                        <a:t>**</a:t>
                      </a:r>
                    </a:p>
                  </a:txBody>
                  <a:tcPr marL="29036" marR="29036" marT="40650" marB="40650" anchor="ctr"/>
                </a:tc>
                <a:tc>
                  <a:txBody>
                    <a:bodyPr/>
                    <a:lstStyle/>
                    <a:p>
                      <a:pPr algn="ctr" fontAlgn="t"/>
                      <a:r>
                        <a:rPr lang="zh-CN" altLang="en-US" sz="1600" dirty="0">
                          <a:effectLst/>
                        </a:rPr>
                        <a:t>幂运算</a:t>
                      </a:r>
                      <a:endParaRPr lang="en-US" altLang="zh-CN" sz="1600" dirty="0">
                        <a:effectLst/>
                      </a:endParaRPr>
                    </a:p>
                  </a:txBody>
                  <a:tcPr marL="29036" marR="29036" marT="40650" marB="40650" anchor="ctr"/>
                </a:tc>
                <a:extLst>
                  <a:ext uri="{0D108BD9-81ED-4DB2-BD59-A6C34878D82A}">
                    <a16:rowId xmlns:a16="http://schemas.microsoft.com/office/drawing/2014/main" val="3199770924"/>
                  </a:ext>
                </a:extLst>
              </a:tr>
              <a:tr h="257757">
                <a:tc>
                  <a:txBody>
                    <a:bodyPr/>
                    <a:lstStyle/>
                    <a:p>
                      <a:pPr algn="ctr" fontAlgn="t"/>
                      <a:r>
                        <a:rPr lang="en-US" altLang="zh-CN" sz="1600" dirty="0">
                          <a:effectLst/>
                        </a:rPr>
                        <a:t>2</a:t>
                      </a:r>
                    </a:p>
                  </a:txBody>
                  <a:tcPr marL="29036" marR="29036" marT="40650" marB="40650" anchor="ctr"/>
                </a:tc>
                <a:tc>
                  <a:txBody>
                    <a:bodyPr/>
                    <a:lstStyle/>
                    <a:p>
                      <a:pPr algn="ctr" fontAlgn="t"/>
                      <a:r>
                        <a:rPr lang="en-US" altLang="zh-CN" sz="1600" dirty="0">
                          <a:effectLst/>
                        </a:rPr>
                        <a:t>~ </a:t>
                      </a:r>
                    </a:p>
                    <a:p>
                      <a:pPr algn="ctr" fontAlgn="t"/>
                      <a:r>
                        <a:rPr lang="en-US" altLang="zh-CN" sz="1600" dirty="0">
                          <a:effectLst/>
                        </a:rPr>
                        <a:t>+</a:t>
                      </a:r>
                      <a:r>
                        <a:rPr lang="zh-CN" altLang="en-US" sz="1600" dirty="0">
                          <a:effectLst/>
                        </a:rPr>
                        <a:t>、</a:t>
                      </a:r>
                      <a:r>
                        <a:rPr lang="en-US" altLang="zh-CN" sz="1600" dirty="0">
                          <a:effectLst/>
                        </a:rPr>
                        <a:t>-</a:t>
                      </a:r>
                    </a:p>
                  </a:txBody>
                  <a:tcPr marL="29036" marR="29036" marT="40650" marB="40650" anchor="ctr"/>
                </a:tc>
                <a:tc>
                  <a:txBody>
                    <a:bodyPr/>
                    <a:lstStyle/>
                    <a:p>
                      <a:pPr algn="ctr" fontAlgn="t"/>
                      <a:r>
                        <a:rPr lang="zh-CN" altLang="en-US" sz="1600" dirty="0">
                          <a:effectLst/>
                        </a:rPr>
                        <a:t>按位取反</a:t>
                      </a:r>
                      <a:endParaRPr lang="en-US" altLang="zh-CN" sz="1600" dirty="0">
                        <a:effectLst/>
                      </a:endParaRPr>
                    </a:p>
                    <a:p>
                      <a:pPr algn="ctr" fontAlgn="t"/>
                      <a:r>
                        <a:rPr lang="zh-CN" altLang="en-US" sz="1600" dirty="0">
                          <a:effectLst/>
                        </a:rPr>
                        <a:t>正、负</a:t>
                      </a:r>
                      <a:endParaRPr lang="en-US" altLang="zh-CN" sz="1600" dirty="0">
                        <a:effectLst/>
                      </a:endParaRPr>
                    </a:p>
                  </a:txBody>
                  <a:tcPr marL="29036" marR="29036" marT="40650" marB="40650" anchor="ctr"/>
                </a:tc>
                <a:extLst>
                  <a:ext uri="{0D108BD9-81ED-4DB2-BD59-A6C34878D82A}">
                    <a16:rowId xmlns:a16="http://schemas.microsoft.com/office/drawing/2014/main" val="4140628306"/>
                  </a:ext>
                </a:extLst>
              </a:tr>
              <a:tr h="248547">
                <a:tc>
                  <a:txBody>
                    <a:bodyPr/>
                    <a:lstStyle/>
                    <a:p>
                      <a:pPr algn="ctr" fontAlgn="t"/>
                      <a:r>
                        <a:rPr lang="en-US" altLang="zh-CN" sz="1600" dirty="0">
                          <a:effectLst/>
                        </a:rPr>
                        <a:t>3</a:t>
                      </a:r>
                    </a:p>
                  </a:txBody>
                  <a:tcPr marL="29036" marR="29036" marT="40650" marB="40650" anchor="ctr"/>
                </a:tc>
                <a:tc>
                  <a:txBody>
                    <a:bodyPr/>
                    <a:lstStyle/>
                    <a:p>
                      <a:pPr algn="ctr" fontAlgn="t"/>
                      <a:r>
                        <a:rPr lang="zh-CN" altLang="en-US" sz="1600" dirty="0">
                          <a:effectLst/>
                        </a:rPr>
                        <a:t>*、</a:t>
                      </a:r>
                      <a:r>
                        <a:rPr lang="en-US" altLang="zh-CN" sz="1600" dirty="0">
                          <a:effectLst/>
                        </a:rPr>
                        <a:t>/</a:t>
                      </a:r>
                    </a:p>
                    <a:p>
                      <a:pPr algn="ctr" fontAlgn="t"/>
                      <a:r>
                        <a:rPr lang="en-US" altLang="zh-CN" sz="1600" dirty="0">
                          <a:effectLst/>
                        </a:rPr>
                        <a:t> %</a:t>
                      </a:r>
                      <a:r>
                        <a:rPr lang="zh-CN" altLang="en-US" sz="1600" dirty="0">
                          <a:effectLst/>
                        </a:rPr>
                        <a:t>、</a:t>
                      </a:r>
                      <a:r>
                        <a:rPr lang="en-US" altLang="zh-CN" sz="1600" dirty="0">
                          <a:effectLst/>
                        </a:rPr>
                        <a:t>//</a:t>
                      </a:r>
                    </a:p>
                  </a:txBody>
                  <a:tcPr marL="29036" marR="29036" marT="40650" marB="40650" anchor="ctr"/>
                </a:tc>
                <a:tc>
                  <a:txBody>
                    <a:bodyPr/>
                    <a:lstStyle/>
                    <a:p>
                      <a:pPr algn="ctr" fontAlgn="t"/>
                      <a:r>
                        <a:rPr lang="zh-CN" altLang="en-US" sz="1600" dirty="0">
                          <a:effectLst/>
                        </a:rPr>
                        <a:t>乘，除</a:t>
                      </a:r>
                      <a:endParaRPr lang="en-US" altLang="zh-CN" sz="1600" dirty="0">
                        <a:effectLst/>
                      </a:endParaRPr>
                    </a:p>
                    <a:p>
                      <a:pPr algn="ctr" fontAlgn="t"/>
                      <a:r>
                        <a:rPr lang="zh-CN" altLang="en-US" sz="1600" dirty="0">
                          <a:effectLst/>
                        </a:rPr>
                        <a:t>取余、整除</a:t>
                      </a:r>
                    </a:p>
                  </a:txBody>
                  <a:tcPr marL="29036" marR="29036" marT="40650" marB="40650" anchor="ctr"/>
                </a:tc>
                <a:extLst>
                  <a:ext uri="{0D108BD9-81ED-4DB2-BD59-A6C34878D82A}">
                    <a16:rowId xmlns:a16="http://schemas.microsoft.com/office/drawing/2014/main" val="829740210"/>
                  </a:ext>
                </a:extLst>
              </a:tr>
              <a:tr h="248547">
                <a:tc>
                  <a:txBody>
                    <a:bodyPr/>
                    <a:lstStyle/>
                    <a:p>
                      <a:pPr algn="ctr" fontAlgn="t"/>
                      <a:r>
                        <a:rPr lang="en-US" altLang="zh-CN" sz="1600" dirty="0">
                          <a:effectLst/>
                        </a:rPr>
                        <a:t>4</a:t>
                      </a:r>
                    </a:p>
                  </a:txBody>
                  <a:tcPr marL="29036" marR="29036" marT="40650" marB="40650" anchor="ctr"/>
                </a:tc>
                <a:tc>
                  <a:txBody>
                    <a:bodyPr/>
                    <a:lstStyle/>
                    <a:p>
                      <a:pPr algn="ctr" fontAlgn="t"/>
                      <a:r>
                        <a:rPr lang="en-US" altLang="zh-CN" sz="1600" dirty="0">
                          <a:effectLst/>
                        </a:rPr>
                        <a:t>+ </a:t>
                      </a:r>
                      <a:r>
                        <a:rPr lang="zh-CN" altLang="en-US" sz="1600" dirty="0">
                          <a:effectLst/>
                        </a:rPr>
                        <a:t>、</a:t>
                      </a:r>
                      <a:r>
                        <a:rPr lang="en-US" altLang="zh-CN" sz="1600" dirty="0">
                          <a:effectLst/>
                        </a:rPr>
                        <a:t>-</a:t>
                      </a:r>
                    </a:p>
                  </a:txBody>
                  <a:tcPr marL="29036" marR="29036" marT="40650" marB="40650" anchor="ctr"/>
                </a:tc>
                <a:tc>
                  <a:txBody>
                    <a:bodyPr/>
                    <a:lstStyle/>
                    <a:p>
                      <a:pPr algn="ctr" fontAlgn="t"/>
                      <a:r>
                        <a:rPr lang="zh-CN" altLang="en-US" sz="1600" dirty="0">
                          <a:effectLst/>
                        </a:rPr>
                        <a:t>加法、减法</a:t>
                      </a:r>
                    </a:p>
                  </a:txBody>
                  <a:tcPr marL="29036" marR="29036" marT="40650" marB="40650" anchor="ctr"/>
                </a:tc>
                <a:extLst>
                  <a:ext uri="{0D108BD9-81ED-4DB2-BD59-A6C34878D82A}">
                    <a16:rowId xmlns:a16="http://schemas.microsoft.com/office/drawing/2014/main" val="3288693757"/>
                  </a:ext>
                </a:extLst>
              </a:tr>
              <a:tr h="672044">
                <a:tc>
                  <a:txBody>
                    <a:bodyPr/>
                    <a:lstStyle/>
                    <a:p>
                      <a:pPr algn="ctr" fontAlgn="t"/>
                      <a:r>
                        <a:rPr lang="en-US" altLang="zh-CN" sz="1600" dirty="0">
                          <a:effectLst/>
                        </a:rPr>
                        <a:t>5</a:t>
                      </a:r>
                    </a:p>
                  </a:txBody>
                  <a:tcPr marL="29036" marR="29036" marT="40650" marB="40650" anchor="ctr"/>
                </a:tc>
                <a:tc>
                  <a:txBody>
                    <a:bodyPr/>
                    <a:lstStyle/>
                    <a:p>
                      <a:pPr algn="ctr" fontAlgn="t"/>
                      <a:r>
                        <a:rPr lang="en-US" altLang="zh-CN" sz="1600" dirty="0">
                          <a:effectLst/>
                        </a:rPr>
                        <a:t>&gt;&gt; </a:t>
                      </a:r>
                      <a:r>
                        <a:rPr lang="zh-CN" altLang="en-US" sz="1600" dirty="0">
                          <a:effectLst/>
                        </a:rPr>
                        <a:t>、</a:t>
                      </a:r>
                      <a:r>
                        <a:rPr lang="en-US" altLang="zh-CN" sz="1600" dirty="0">
                          <a:effectLst/>
                        </a:rPr>
                        <a:t>&lt;&lt;</a:t>
                      </a:r>
                    </a:p>
                  </a:txBody>
                  <a:tcPr marL="29036" marR="29036" marT="40650" marB="40650" anchor="ctr"/>
                </a:tc>
                <a:tc>
                  <a:txBody>
                    <a:bodyPr/>
                    <a:lstStyle/>
                    <a:p>
                      <a:pPr algn="ctr" fontAlgn="t"/>
                      <a:r>
                        <a:rPr lang="zh-CN" altLang="en-US" sz="1600" dirty="0">
                          <a:effectLst/>
                        </a:rPr>
                        <a:t>右移，左移</a:t>
                      </a:r>
                    </a:p>
                  </a:txBody>
                  <a:tcPr marL="29036" marR="29036" marT="40650" marB="40650" anchor="ctr"/>
                </a:tc>
                <a:extLst>
                  <a:ext uri="{0D108BD9-81ED-4DB2-BD59-A6C34878D82A}">
                    <a16:rowId xmlns:a16="http://schemas.microsoft.com/office/drawing/2014/main" val="2636609544"/>
                  </a:ext>
                </a:extLst>
              </a:tr>
              <a:tr h="248547">
                <a:tc>
                  <a:txBody>
                    <a:bodyPr/>
                    <a:lstStyle/>
                    <a:p>
                      <a:pPr algn="ctr" fontAlgn="t"/>
                      <a:r>
                        <a:rPr lang="en-US" altLang="zh-CN" sz="1600" dirty="0">
                          <a:effectLst/>
                        </a:rPr>
                        <a:t>6</a:t>
                      </a:r>
                    </a:p>
                  </a:txBody>
                  <a:tcPr marL="29036" marR="29036" marT="40650" marB="40650" anchor="ctr"/>
                </a:tc>
                <a:tc>
                  <a:txBody>
                    <a:bodyPr/>
                    <a:lstStyle/>
                    <a:p>
                      <a:pPr algn="ctr" fontAlgn="t"/>
                      <a:r>
                        <a:rPr lang="en-US" altLang="zh-CN" sz="1600" dirty="0">
                          <a:effectLst/>
                        </a:rPr>
                        <a:t>&amp;</a:t>
                      </a:r>
                    </a:p>
                  </a:txBody>
                  <a:tcPr marL="29036" marR="29036" marT="40650" marB="40650" anchor="ctr"/>
                </a:tc>
                <a:tc>
                  <a:txBody>
                    <a:bodyPr/>
                    <a:lstStyle/>
                    <a:p>
                      <a:pPr algn="ctr" fontAlgn="t"/>
                      <a:r>
                        <a:rPr lang="zh-CN" altLang="en-US" sz="1600" dirty="0">
                          <a:effectLst/>
                        </a:rPr>
                        <a:t>按位与</a:t>
                      </a:r>
                      <a:endParaRPr lang="en-US" sz="1600" dirty="0">
                        <a:effectLst/>
                      </a:endParaRPr>
                    </a:p>
                  </a:txBody>
                  <a:tcPr marL="29036" marR="29036" marT="40650" marB="40650" anchor="ctr"/>
                </a:tc>
                <a:extLst>
                  <a:ext uri="{0D108BD9-81ED-4DB2-BD59-A6C34878D82A}">
                    <a16:rowId xmlns:a16="http://schemas.microsoft.com/office/drawing/2014/main" val="2997285581"/>
                  </a:ext>
                </a:extLst>
              </a:tr>
              <a:tr h="248547">
                <a:tc>
                  <a:txBody>
                    <a:bodyPr/>
                    <a:lstStyle/>
                    <a:p>
                      <a:pPr algn="ctr" fontAlgn="t"/>
                      <a:r>
                        <a:rPr lang="en-US" altLang="zh-CN" sz="1600" dirty="0">
                          <a:effectLst/>
                        </a:rPr>
                        <a:t>7</a:t>
                      </a:r>
                    </a:p>
                  </a:txBody>
                  <a:tcPr marL="29036" marR="29036" marT="40650" marB="40650" anchor="ctr"/>
                </a:tc>
                <a:tc>
                  <a:txBody>
                    <a:bodyPr/>
                    <a:lstStyle/>
                    <a:p>
                      <a:pPr algn="ctr" fontAlgn="t"/>
                      <a:r>
                        <a:rPr lang="en-US" altLang="zh-CN" sz="1600" dirty="0">
                          <a:effectLst/>
                        </a:rPr>
                        <a:t>^ </a:t>
                      </a:r>
                      <a:r>
                        <a:rPr lang="zh-CN" altLang="en-US" sz="1600" dirty="0">
                          <a:effectLst/>
                        </a:rPr>
                        <a:t>、</a:t>
                      </a:r>
                      <a:r>
                        <a:rPr lang="en-US" altLang="zh-CN" sz="1600" dirty="0">
                          <a:effectLst/>
                        </a:rPr>
                        <a:t>|</a:t>
                      </a:r>
                    </a:p>
                  </a:txBody>
                  <a:tcPr marL="29036" marR="29036" marT="40650" marB="40650" anchor="ctr"/>
                </a:tc>
                <a:tc>
                  <a:txBody>
                    <a:bodyPr/>
                    <a:lstStyle/>
                    <a:p>
                      <a:pPr algn="ctr" fontAlgn="t"/>
                      <a:r>
                        <a:rPr lang="zh-CN" altLang="en-US" sz="1600" dirty="0">
                          <a:effectLst/>
                        </a:rPr>
                        <a:t>按位异或、按位或</a:t>
                      </a:r>
                    </a:p>
                  </a:txBody>
                  <a:tcPr marL="29036" marR="29036" marT="40650" marB="40650" anchor="ctr"/>
                </a:tc>
                <a:extLst>
                  <a:ext uri="{0D108BD9-81ED-4DB2-BD59-A6C34878D82A}">
                    <a16:rowId xmlns:a16="http://schemas.microsoft.com/office/drawing/2014/main" val="2476517899"/>
                  </a:ext>
                </a:extLst>
              </a:tr>
            </a:tbl>
          </a:graphicData>
        </a:graphic>
      </p:graphicFrame>
      <p:graphicFrame>
        <p:nvGraphicFramePr>
          <p:cNvPr id="6" name="表格 5"/>
          <p:cNvGraphicFramePr>
            <a:graphicFrameLocks noGrp="1"/>
          </p:cNvGraphicFramePr>
          <p:nvPr/>
        </p:nvGraphicFramePr>
        <p:xfrm>
          <a:off x="4572000" y="987574"/>
          <a:ext cx="4104456" cy="3542611"/>
        </p:xfrm>
        <a:graphic>
          <a:graphicData uri="http://schemas.openxmlformats.org/drawingml/2006/table">
            <a:tbl>
              <a:tblPr>
                <a:tableStyleId>{BC89EF96-8CEA-46FF-86C4-4CE0E7609802}</a:tableStyleId>
              </a:tblPr>
              <a:tblGrid>
                <a:gridCol w="829106">
                  <a:extLst>
                    <a:ext uri="{9D8B030D-6E8A-4147-A177-3AD203B41FA5}">
                      <a16:colId xmlns:a16="http://schemas.microsoft.com/office/drawing/2014/main" val="674314876"/>
                    </a:ext>
                  </a:extLst>
                </a:gridCol>
                <a:gridCol w="1907198">
                  <a:extLst>
                    <a:ext uri="{9D8B030D-6E8A-4147-A177-3AD203B41FA5}">
                      <a16:colId xmlns:a16="http://schemas.microsoft.com/office/drawing/2014/main" val="421300761"/>
                    </a:ext>
                  </a:extLst>
                </a:gridCol>
                <a:gridCol w="1368152">
                  <a:extLst>
                    <a:ext uri="{9D8B030D-6E8A-4147-A177-3AD203B41FA5}">
                      <a16:colId xmlns:a16="http://schemas.microsoft.com/office/drawing/2014/main" val="2277607284"/>
                    </a:ext>
                  </a:extLst>
                </a:gridCol>
              </a:tblGrid>
              <a:tr h="490816">
                <a:tc>
                  <a:txBody>
                    <a:bodyPr/>
                    <a:lstStyle/>
                    <a:p>
                      <a:pPr algn="ctr" fontAlgn="t"/>
                      <a:r>
                        <a:rPr lang="zh-CN" altLang="en-US" sz="1600" dirty="0">
                          <a:effectLst/>
                        </a:rPr>
                        <a:t>优先级</a:t>
                      </a:r>
                      <a:endParaRPr lang="en-US" altLang="zh-CN" sz="1600" dirty="0">
                        <a:effectLst/>
                      </a:endParaRPr>
                    </a:p>
                  </a:txBody>
                  <a:tcPr marL="29036" marR="29036" marT="40650" marB="40650" anchor="ctr">
                    <a:solidFill>
                      <a:schemeClr val="accent1">
                        <a:lumMod val="20000"/>
                        <a:lumOff val="80000"/>
                      </a:schemeClr>
                    </a:solidFill>
                  </a:tcPr>
                </a:tc>
                <a:tc>
                  <a:txBody>
                    <a:bodyPr/>
                    <a:lstStyle/>
                    <a:p>
                      <a:pPr algn="ctr" fontAlgn="t"/>
                      <a:r>
                        <a:rPr lang="zh-CN" altLang="en-US" sz="1600" dirty="0">
                          <a:effectLst/>
                        </a:rPr>
                        <a:t>运算符</a:t>
                      </a:r>
                      <a:endParaRPr lang="en-US" altLang="zh-CN" sz="1600" dirty="0">
                        <a:effectLst/>
                      </a:endParaRPr>
                    </a:p>
                  </a:txBody>
                  <a:tcPr marL="29036" marR="29036" marT="40650" marB="40650" anchor="ctr">
                    <a:solidFill>
                      <a:schemeClr val="accent1">
                        <a:lumMod val="20000"/>
                        <a:lumOff val="80000"/>
                      </a:schemeClr>
                    </a:solidFill>
                  </a:tcPr>
                </a:tc>
                <a:tc>
                  <a:txBody>
                    <a:bodyPr/>
                    <a:lstStyle/>
                    <a:p>
                      <a:pPr algn="ctr" fontAlgn="t"/>
                      <a:r>
                        <a:rPr lang="zh-CN" altLang="en-US" sz="1600" dirty="0">
                          <a:effectLst/>
                        </a:rPr>
                        <a:t>描述</a:t>
                      </a:r>
                    </a:p>
                  </a:txBody>
                  <a:tcPr marL="29036" marR="29036" marT="40650" marB="40650" anchor="ctr">
                    <a:solidFill>
                      <a:schemeClr val="accent1">
                        <a:lumMod val="20000"/>
                        <a:lumOff val="80000"/>
                      </a:schemeClr>
                    </a:solidFill>
                  </a:tcPr>
                </a:tc>
                <a:extLst>
                  <a:ext uri="{0D108BD9-81ED-4DB2-BD59-A6C34878D82A}">
                    <a16:rowId xmlns:a16="http://schemas.microsoft.com/office/drawing/2014/main" val="1941380015"/>
                  </a:ext>
                </a:extLst>
              </a:tr>
              <a:tr h="602853">
                <a:tc>
                  <a:txBody>
                    <a:bodyPr/>
                    <a:lstStyle/>
                    <a:p>
                      <a:pPr algn="ctr" fontAlgn="t"/>
                      <a:r>
                        <a:rPr lang="en-US" altLang="zh-CN" sz="1600" dirty="0">
                          <a:effectLst/>
                        </a:rPr>
                        <a:t>8</a:t>
                      </a:r>
                    </a:p>
                  </a:txBody>
                  <a:tcPr marL="29036" marR="29036" marT="40650" marB="40650" anchor="ctr"/>
                </a:tc>
                <a:tc>
                  <a:txBody>
                    <a:bodyPr/>
                    <a:lstStyle/>
                    <a:p>
                      <a:pPr algn="ctr" fontAlgn="t"/>
                      <a:r>
                        <a:rPr lang="en-US" altLang="zh-CN" sz="1600" dirty="0">
                          <a:effectLst/>
                        </a:rPr>
                        <a:t>&lt;=</a:t>
                      </a:r>
                      <a:r>
                        <a:rPr lang="zh-CN" altLang="en-US" sz="1600" dirty="0">
                          <a:effectLst/>
                        </a:rPr>
                        <a:t>、</a:t>
                      </a:r>
                      <a:r>
                        <a:rPr lang="en-US" altLang="zh-CN" sz="1600" dirty="0">
                          <a:effectLst/>
                        </a:rPr>
                        <a:t>&lt;</a:t>
                      </a:r>
                      <a:r>
                        <a:rPr lang="zh-CN" altLang="en-US" sz="1600" dirty="0">
                          <a:effectLst/>
                        </a:rPr>
                        <a:t>、</a:t>
                      </a:r>
                      <a:r>
                        <a:rPr lang="en-US" altLang="zh-CN" sz="1600" dirty="0">
                          <a:effectLst/>
                        </a:rPr>
                        <a:t>&gt;</a:t>
                      </a:r>
                      <a:r>
                        <a:rPr lang="zh-CN" altLang="en-US" sz="1600" dirty="0">
                          <a:effectLst/>
                        </a:rPr>
                        <a:t>、</a:t>
                      </a:r>
                      <a:r>
                        <a:rPr lang="en-US" altLang="zh-CN" sz="1600" dirty="0">
                          <a:effectLst/>
                        </a:rPr>
                        <a:t>&gt;=</a:t>
                      </a:r>
                    </a:p>
                    <a:p>
                      <a:pPr marL="0" marR="0" lvl="0" indent="0" algn="ctr" defTabSz="914400" rtl="0" eaLnBrk="1" fontAlgn="t" latinLnBrk="0" hangingPunct="1">
                        <a:lnSpc>
                          <a:spcPct val="100000"/>
                        </a:lnSpc>
                        <a:spcBef>
                          <a:spcPts val="0"/>
                        </a:spcBef>
                        <a:spcAft>
                          <a:spcPts val="0"/>
                        </a:spcAft>
                        <a:buClrTx/>
                        <a:buSzTx/>
                        <a:buFontTx/>
                        <a:buNone/>
                        <a:tabLst/>
                        <a:defRPr/>
                      </a:pPr>
                      <a:r>
                        <a:rPr lang="en-US" altLang="zh-CN" sz="1600" dirty="0">
                          <a:effectLst/>
                        </a:rPr>
                        <a:t>==</a:t>
                      </a:r>
                      <a:r>
                        <a:rPr lang="zh-CN" altLang="en-US" sz="1600" dirty="0">
                          <a:effectLst/>
                        </a:rPr>
                        <a:t>、</a:t>
                      </a:r>
                      <a:r>
                        <a:rPr lang="en-US" altLang="zh-CN" sz="1600" dirty="0">
                          <a:effectLst/>
                        </a:rPr>
                        <a:t>!=</a:t>
                      </a:r>
                    </a:p>
                  </a:txBody>
                  <a:tcPr marL="29036" marR="29036" marT="40650" marB="40650" anchor="ctr"/>
                </a:tc>
                <a:tc>
                  <a:txBody>
                    <a:bodyPr/>
                    <a:lstStyle/>
                    <a:p>
                      <a:pPr algn="ctr" fontAlgn="t"/>
                      <a:r>
                        <a:rPr lang="zh-CN" altLang="en-US" sz="1600" dirty="0">
                          <a:effectLst/>
                        </a:rPr>
                        <a:t>比较</a:t>
                      </a:r>
                    </a:p>
                  </a:txBody>
                  <a:tcPr marL="29036" marR="29036" marT="40650" marB="40650" anchor="ctr"/>
                </a:tc>
                <a:extLst>
                  <a:ext uri="{0D108BD9-81ED-4DB2-BD59-A6C34878D82A}">
                    <a16:rowId xmlns:a16="http://schemas.microsoft.com/office/drawing/2014/main" val="2280209689"/>
                  </a:ext>
                </a:extLst>
              </a:tr>
              <a:tr h="740103">
                <a:tc>
                  <a:txBody>
                    <a:bodyPr/>
                    <a:lstStyle/>
                    <a:p>
                      <a:pPr algn="ctr" fontAlgn="t"/>
                      <a:r>
                        <a:rPr lang="en-US" altLang="zh-CN" sz="1600" dirty="0">
                          <a:effectLst/>
                        </a:rPr>
                        <a:t>9</a:t>
                      </a:r>
                    </a:p>
                  </a:txBody>
                  <a:tcPr marL="29036" marR="29036" marT="40650" marB="40650" anchor="ctr"/>
                </a:tc>
                <a:tc>
                  <a:txBody>
                    <a:bodyPr/>
                    <a:lstStyle/>
                    <a:p>
                      <a:pPr algn="ctr" fontAlgn="t"/>
                      <a:r>
                        <a:rPr lang="en-US" altLang="zh-CN" sz="1600" dirty="0">
                          <a:effectLst/>
                        </a:rPr>
                        <a:t>=</a:t>
                      </a:r>
                      <a:r>
                        <a:rPr lang="zh-CN" altLang="en-US" sz="1600" dirty="0">
                          <a:effectLst/>
                        </a:rPr>
                        <a:t>、</a:t>
                      </a:r>
                      <a:r>
                        <a:rPr lang="en-US" altLang="zh-CN" sz="1600" dirty="0">
                          <a:effectLst/>
                        </a:rPr>
                        <a:t>%=</a:t>
                      </a:r>
                      <a:r>
                        <a:rPr lang="zh-CN" altLang="en-US" sz="1600" dirty="0">
                          <a:effectLst/>
                        </a:rPr>
                        <a:t>、</a:t>
                      </a:r>
                      <a:r>
                        <a:rPr lang="en-US" altLang="zh-CN" sz="1600" dirty="0">
                          <a:effectLst/>
                        </a:rPr>
                        <a:t>/=</a:t>
                      </a:r>
                      <a:r>
                        <a:rPr lang="zh-CN" altLang="en-US" sz="1600" dirty="0">
                          <a:effectLst/>
                        </a:rPr>
                        <a:t>、</a:t>
                      </a:r>
                      <a:r>
                        <a:rPr lang="en-US" altLang="zh-CN" sz="1600" dirty="0">
                          <a:effectLst/>
                        </a:rPr>
                        <a:t>//=</a:t>
                      </a:r>
                    </a:p>
                    <a:p>
                      <a:pPr algn="ctr" fontAlgn="t"/>
                      <a:r>
                        <a:rPr lang="en-US" altLang="zh-CN" sz="1600" dirty="0">
                          <a:effectLst/>
                        </a:rPr>
                        <a:t>-=</a:t>
                      </a:r>
                      <a:r>
                        <a:rPr lang="zh-CN" altLang="en-US" sz="1600" dirty="0">
                          <a:effectLst/>
                        </a:rPr>
                        <a:t>、</a:t>
                      </a:r>
                      <a:r>
                        <a:rPr lang="en-US" altLang="zh-CN" sz="1600" dirty="0">
                          <a:effectLst/>
                        </a:rPr>
                        <a:t>+=</a:t>
                      </a:r>
                      <a:r>
                        <a:rPr lang="zh-CN" altLang="en-US" sz="1600" dirty="0">
                          <a:effectLst/>
                        </a:rPr>
                        <a:t>、</a:t>
                      </a:r>
                      <a:r>
                        <a:rPr lang="en-US" altLang="zh-CN" sz="1600" dirty="0">
                          <a:effectLst/>
                        </a:rPr>
                        <a:t>*=</a:t>
                      </a:r>
                      <a:r>
                        <a:rPr lang="zh-CN" altLang="en-US" sz="1600" dirty="0">
                          <a:effectLst/>
                        </a:rPr>
                        <a:t>、</a:t>
                      </a:r>
                      <a:r>
                        <a:rPr lang="en-US" altLang="zh-CN" sz="1600" dirty="0">
                          <a:effectLst/>
                        </a:rPr>
                        <a:t>**=</a:t>
                      </a:r>
                    </a:p>
                  </a:txBody>
                  <a:tcPr marL="29036" marR="29036" marT="40650" marB="40650" anchor="ctr"/>
                </a:tc>
                <a:tc>
                  <a:txBody>
                    <a:bodyPr/>
                    <a:lstStyle/>
                    <a:p>
                      <a:pPr algn="ctr" fontAlgn="t"/>
                      <a:r>
                        <a:rPr lang="zh-CN" altLang="en-US" sz="1600" dirty="0">
                          <a:effectLst/>
                        </a:rPr>
                        <a:t>赋值</a:t>
                      </a:r>
                      <a:endParaRPr lang="en-US" altLang="zh-CN" sz="1600" dirty="0">
                        <a:effectLst/>
                      </a:endParaRPr>
                    </a:p>
                    <a:p>
                      <a:pPr algn="ctr" fontAlgn="t"/>
                      <a:r>
                        <a:rPr lang="zh-CN" altLang="en-US" sz="1600" dirty="0">
                          <a:effectLst/>
                        </a:rPr>
                        <a:t>复合赋值</a:t>
                      </a:r>
                    </a:p>
                  </a:txBody>
                  <a:tcPr marL="29036" marR="29036" marT="40650" marB="40650" anchor="ctr"/>
                </a:tc>
                <a:extLst>
                  <a:ext uri="{0D108BD9-81ED-4DB2-BD59-A6C34878D82A}">
                    <a16:rowId xmlns:a16="http://schemas.microsoft.com/office/drawing/2014/main" val="104287202"/>
                  </a:ext>
                </a:extLst>
              </a:tr>
              <a:tr h="531369">
                <a:tc>
                  <a:txBody>
                    <a:bodyPr/>
                    <a:lstStyle/>
                    <a:p>
                      <a:pPr algn="ctr" fontAlgn="t"/>
                      <a:r>
                        <a:rPr lang="en-US" altLang="zh-CN" sz="1600" dirty="0">
                          <a:effectLst/>
                        </a:rPr>
                        <a:t>10</a:t>
                      </a:r>
                      <a:endParaRPr lang="en-US" sz="1600" dirty="0">
                        <a:effectLst/>
                      </a:endParaRPr>
                    </a:p>
                  </a:txBody>
                  <a:tcPr marL="29036" marR="29036" marT="40650" marB="40650" anchor="ctr"/>
                </a:tc>
                <a:tc>
                  <a:txBody>
                    <a:bodyPr/>
                    <a:lstStyle/>
                    <a:p>
                      <a:pPr algn="ctr" fontAlgn="t"/>
                      <a:r>
                        <a:rPr lang="en-US" altLang="zh-CN" sz="1600" dirty="0">
                          <a:effectLst/>
                        </a:rPr>
                        <a:t>i</a:t>
                      </a:r>
                      <a:r>
                        <a:rPr lang="en-US" sz="1600" dirty="0">
                          <a:effectLst/>
                        </a:rPr>
                        <a:t>s</a:t>
                      </a:r>
                      <a:r>
                        <a:rPr lang="zh-CN" altLang="en-US" sz="1600" dirty="0">
                          <a:effectLst/>
                        </a:rPr>
                        <a:t>、</a:t>
                      </a:r>
                      <a:r>
                        <a:rPr lang="en-US" sz="1600" dirty="0">
                          <a:effectLst/>
                        </a:rPr>
                        <a:t>is not</a:t>
                      </a:r>
                    </a:p>
                  </a:txBody>
                  <a:tcPr marL="29036" marR="29036" marT="40650" marB="40650" anchor="ctr"/>
                </a:tc>
                <a:tc>
                  <a:txBody>
                    <a:bodyPr/>
                    <a:lstStyle/>
                    <a:p>
                      <a:pPr algn="ctr" fontAlgn="t"/>
                      <a:r>
                        <a:rPr lang="zh-CN" altLang="en-US" sz="1600" dirty="0">
                          <a:effectLst/>
                        </a:rPr>
                        <a:t>身份运算</a:t>
                      </a:r>
                    </a:p>
                  </a:txBody>
                  <a:tcPr marL="29036" marR="29036" marT="40650" marB="40650" anchor="ctr"/>
                </a:tc>
                <a:extLst>
                  <a:ext uri="{0D108BD9-81ED-4DB2-BD59-A6C34878D82A}">
                    <a16:rowId xmlns:a16="http://schemas.microsoft.com/office/drawing/2014/main" val="1603395186"/>
                  </a:ext>
                </a:extLst>
              </a:tr>
              <a:tr h="686654">
                <a:tc>
                  <a:txBody>
                    <a:bodyPr/>
                    <a:lstStyle/>
                    <a:p>
                      <a:pPr algn="ctr" fontAlgn="t"/>
                      <a:r>
                        <a:rPr lang="en-US" altLang="zh-CN" sz="1600" dirty="0">
                          <a:effectLst/>
                        </a:rPr>
                        <a:t>11</a:t>
                      </a:r>
                      <a:endParaRPr lang="en-US" sz="1600" dirty="0">
                        <a:effectLst/>
                      </a:endParaRPr>
                    </a:p>
                  </a:txBody>
                  <a:tcPr marL="29036" marR="29036" marT="40650" marB="40650" anchor="ctr"/>
                </a:tc>
                <a:tc>
                  <a:txBody>
                    <a:bodyPr/>
                    <a:lstStyle/>
                    <a:p>
                      <a:pPr algn="ctr" fontAlgn="t"/>
                      <a:r>
                        <a:rPr lang="en-US" sz="1600" dirty="0">
                          <a:effectLst/>
                        </a:rPr>
                        <a:t>In</a:t>
                      </a:r>
                      <a:r>
                        <a:rPr lang="zh-CN" altLang="en-US" sz="1600" dirty="0">
                          <a:effectLst/>
                        </a:rPr>
                        <a:t>、</a:t>
                      </a:r>
                      <a:r>
                        <a:rPr lang="en-US" sz="1600" dirty="0">
                          <a:effectLst/>
                        </a:rPr>
                        <a:t>not in</a:t>
                      </a:r>
                    </a:p>
                  </a:txBody>
                  <a:tcPr marL="29036" marR="29036" marT="40650" marB="40650" anchor="ctr"/>
                </a:tc>
                <a:tc>
                  <a:txBody>
                    <a:bodyPr/>
                    <a:lstStyle/>
                    <a:p>
                      <a:pPr algn="ctr" fontAlgn="t"/>
                      <a:r>
                        <a:rPr lang="zh-CN" altLang="en-US" sz="1600" dirty="0">
                          <a:effectLst/>
                        </a:rPr>
                        <a:t>成员运算</a:t>
                      </a:r>
                    </a:p>
                  </a:txBody>
                  <a:tcPr marL="29036" marR="29036" marT="40650" marB="40650" anchor="ctr"/>
                </a:tc>
                <a:extLst>
                  <a:ext uri="{0D108BD9-81ED-4DB2-BD59-A6C34878D82A}">
                    <a16:rowId xmlns:a16="http://schemas.microsoft.com/office/drawing/2014/main" val="3272871088"/>
                  </a:ext>
                </a:extLst>
              </a:tr>
              <a:tr h="490816">
                <a:tc>
                  <a:txBody>
                    <a:bodyPr/>
                    <a:lstStyle/>
                    <a:p>
                      <a:pPr algn="ctr" fontAlgn="t"/>
                      <a:r>
                        <a:rPr lang="en-US" altLang="zh-CN" sz="1600" dirty="0">
                          <a:effectLst/>
                        </a:rPr>
                        <a:t>12</a:t>
                      </a:r>
                      <a:endParaRPr lang="en-US" sz="1600" dirty="0">
                        <a:effectLst/>
                      </a:endParaRPr>
                    </a:p>
                  </a:txBody>
                  <a:tcPr marL="29036" marR="29036" marT="40650" marB="40650" anchor="ctr"/>
                </a:tc>
                <a:tc>
                  <a:txBody>
                    <a:bodyPr/>
                    <a:lstStyle/>
                    <a:p>
                      <a:pPr algn="ctr" fontAlgn="t"/>
                      <a:r>
                        <a:rPr lang="en-US" altLang="zh-CN" sz="1600" dirty="0">
                          <a:effectLst/>
                        </a:rPr>
                        <a:t>n</a:t>
                      </a:r>
                      <a:r>
                        <a:rPr lang="en-US" sz="1600" dirty="0">
                          <a:effectLst/>
                        </a:rPr>
                        <a:t>ot</a:t>
                      </a:r>
                      <a:r>
                        <a:rPr lang="zh-CN" altLang="en-US" sz="1600" dirty="0">
                          <a:effectLst/>
                        </a:rPr>
                        <a:t>、</a:t>
                      </a:r>
                      <a:r>
                        <a:rPr lang="en-US" sz="1600" dirty="0">
                          <a:effectLst/>
                        </a:rPr>
                        <a:t>and</a:t>
                      </a:r>
                      <a:r>
                        <a:rPr lang="zh-CN" altLang="en-US" sz="1600" dirty="0">
                          <a:effectLst/>
                        </a:rPr>
                        <a:t>、</a:t>
                      </a:r>
                      <a:r>
                        <a:rPr lang="en-US" sz="1600" dirty="0">
                          <a:effectLst/>
                        </a:rPr>
                        <a:t>or</a:t>
                      </a:r>
                    </a:p>
                  </a:txBody>
                  <a:tcPr marL="29036" marR="29036" marT="40650" marB="40650" anchor="ctr"/>
                </a:tc>
                <a:tc>
                  <a:txBody>
                    <a:bodyPr/>
                    <a:lstStyle/>
                    <a:p>
                      <a:pPr algn="ctr" fontAlgn="t"/>
                      <a:r>
                        <a:rPr lang="zh-CN" altLang="en-US" sz="1600" dirty="0">
                          <a:effectLst/>
                        </a:rPr>
                        <a:t>逻辑运算</a:t>
                      </a:r>
                    </a:p>
                  </a:txBody>
                  <a:tcPr marL="29036" marR="29036" marT="40650" marB="40650" anchor="ctr"/>
                </a:tc>
                <a:extLst>
                  <a:ext uri="{0D108BD9-81ED-4DB2-BD59-A6C34878D82A}">
                    <a16:rowId xmlns:a16="http://schemas.microsoft.com/office/drawing/2014/main" val="3690368524"/>
                  </a:ext>
                </a:extLst>
              </a:tr>
            </a:tbl>
          </a:graphicData>
        </a:graphic>
      </p:graphicFrame>
    </p:spTree>
    <p:extLst>
      <p:ext uri="{BB962C8B-B14F-4D97-AF65-F5344CB8AC3E}">
        <p14:creationId xmlns:p14="http://schemas.microsoft.com/office/powerpoint/2010/main" val="14868713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525867" y="1389870"/>
            <a:ext cx="5541368" cy="3322757"/>
          </a:xfrm>
          <a:prstGeom prst="rect">
            <a:avLst/>
          </a:prstGeom>
        </p:spPr>
      </p:pic>
      <p:sp>
        <p:nvSpPr>
          <p:cNvPr id="5" name="标题 1"/>
          <p:cNvSpPr>
            <a:spLocks noGrp="1"/>
          </p:cNvSpPr>
          <p:nvPr>
            <p:ph type="title"/>
          </p:nvPr>
        </p:nvSpPr>
        <p:spPr>
          <a:xfrm>
            <a:off x="683568" y="267494"/>
            <a:ext cx="1584176" cy="495523"/>
          </a:xfrm>
        </p:spPr>
        <p:txBody>
          <a:bodyPr/>
          <a:lstStyle/>
          <a:p>
            <a:r>
              <a:rPr lang="zh-CN" altLang="en-US" sz="2400" dirty="0"/>
              <a:t>位运算</a:t>
            </a:r>
          </a:p>
        </p:txBody>
      </p:sp>
      <p:sp>
        <p:nvSpPr>
          <p:cNvPr id="6" name="内容占位符 2"/>
          <p:cNvSpPr>
            <a:spLocks noGrp="1"/>
          </p:cNvSpPr>
          <p:nvPr>
            <p:ph idx="1"/>
          </p:nvPr>
        </p:nvSpPr>
        <p:spPr>
          <a:xfrm>
            <a:off x="473626" y="896644"/>
            <a:ext cx="8293100" cy="511423"/>
          </a:xfrm>
          <a:ln>
            <a:noFill/>
          </a:ln>
        </p:spPr>
        <p:txBody>
          <a:bodyPr/>
          <a:lstStyle/>
          <a:p>
            <a:pPr>
              <a:buFont typeface="Wingdings" panose="05000000000000000000" pitchFamily="2" charset="2"/>
              <a:buChar char="u"/>
            </a:pPr>
            <a:r>
              <a:rPr lang="zh-CN" altLang="en-US" sz="1800" dirty="0">
                <a:solidFill>
                  <a:schemeClr val="tx1"/>
                </a:solidFill>
              </a:rPr>
              <a:t>按二进制位进行计算，输入十进制数会自动转换成二进制再进行计算</a:t>
            </a:r>
          </a:p>
        </p:txBody>
      </p:sp>
      <p:pic>
        <p:nvPicPr>
          <p:cNvPr id="8" name="图片 7"/>
          <p:cNvPicPr>
            <a:picLocks noChangeAspect="1"/>
          </p:cNvPicPr>
          <p:nvPr/>
        </p:nvPicPr>
        <p:blipFill>
          <a:blip r:embed="rId4"/>
          <a:stretch>
            <a:fillRect/>
          </a:stretch>
        </p:blipFill>
        <p:spPr>
          <a:xfrm>
            <a:off x="6298561" y="1408067"/>
            <a:ext cx="2468165" cy="2230643"/>
          </a:xfrm>
          <a:prstGeom prst="rect">
            <a:avLst/>
          </a:prstGeom>
        </p:spPr>
      </p:pic>
    </p:spTree>
    <p:extLst>
      <p:ext uri="{BB962C8B-B14F-4D97-AF65-F5344CB8AC3E}">
        <p14:creationId xmlns:p14="http://schemas.microsoft.com/office/powerpoint/2010/main" val="18675900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9156" y="195486"/>
            <a:ext cx="8275638" cy="650875"/>
          </a:xfrm>
        </p:spPr>
        <p:txBody>
          <a:bodyPr/>
          <a:lstStyle/>
          <a:p>
            <a:r>
              <a:rPr lang="zh-CN" altLang="en-US" sz="2400" dirty="0"/>
              <a:t>随机数控制</a:t>
            </a:r>
          </a:p>
        </p:txBody>
      </p:sp>
      <p:sp>
        <p:nvSpPr>
          <p:cNvPr id="3" name="内容占位符 2"/>
          <p:cNvSpPr>
            <a:spLocks noGrp="1"/>
          </p:cNvSpPr>
          <p:nvPr>
            <p:ph idx="1"/>
          </p:nvPr>
        </p:nvSpPr>
        <p:spPr>
          <a:xfrm>
            <a:off x="481477" y="987574"/>
            <a:ext cx="8293100" cy="1368152"/>
          </a:xfrm>
        </p:spPr>
        <p:style>
          <a:lnRef idx="2">
            <a:schemeClr val="accent5"/>
          </a:lnRef>
          <a:fillRef idx="1">
            <a:schemeClr val="lt1"/>
          </a:fillRef>
          <a:effectRef idx="0">
            <a:schemeClr val="accent5"/>
          </a:effectRef>
          <a:fontRef idx="minor">
            <a:schemeClr val="dk1"/>
          </a:fontRef>
        </p:style>
        <p:txBody>
          <a:bodyPr/>
          <a:lstStyle/>
          <a:p>
            <a:r>
              <a:rPr lang="en-US" altLang="zh-CN" sz="2000" dirty="0">
                <a:solidFill>
                  <a:schemeClr val="tx1"/>
                </a:solidFill>
              </a:rPr>
              <a:t>import random</a:t>
            </a:r>
          </a:p>
          <a:p>
            <a:r>
              <a:rPr lang="en-US" altLang="zh-CN" sz="2000" dirty="0">
                <a:solidFill>
                  <a:schemeClr val="tx1"/>
                </a:solidFill>
              </a:rPr>
              <a:t>x=</a:t>
            </a:r>
            <a:r>
              <a:rPr lang="en-US" altLang="zh-CN" sz="2000" dirty="0" err="1">
                <a:solidFill>
                  <a:schemeClr val="tx1"/>
                </a:solidFill>
              </a:rPr>
              <a:t>random.random</a:t>
            </a:r>
            <a:r>
              <a:rPr lang="en-US" altLang="zh-CN" sz="2000" dirty="0">
                <a:solidFill>
                  <a:schemeClr val="tx1"/>
                </a:solidFill>
              </a:rPr>
              <a:t>()            </a:t>
            </a:r>
            <a:r>
              <a:rPr lang="zh-CN" altLang="en-US" sz="1600" dirty="0">
                <a:solidFill>
                  <a:schemeClr val="tx1"/>
                </a:solidFill>
              </a:rPr>
              <a:t>返回 </a:t>
            </a:r>
            <a:r>
              <a:rPr lang="en-US" altLang="zh-CN" sz="1600" dirty="0">
                <a:solidFill>
                  <a:srgbClr val="C00000"/>
                </a:solidFill>
              </a:rPr>
              <a:t>[</a:t>
            </a:r>
            <a:r>
              <a:rPr lang="en-US" altLang="zh-CN" sz="1600" dirty="0">
                <a:solidFill>
                  <a:schemeClr val="tx1"/>
                </a:solidFill>
              </a:rPr>
              <a:t>0.0, 1.0</a:t>
            </a:r>
            <a:r>
              <a:rPr lang="en-US" altLang="zh-CN" sz="1600" dirty="0">
                <a:solidFill>
                  <a:srgbClr val="C00000"/>
                </a:solidFill>
              </a:rPr>
              <a:t>)</a:t>
            </a:r>
            <a:r>
              <a:rPr lang="en-US" altLang="zh-CN" sz="1600" dirty="0">
                <a:solidFill>
                  <a:schemeClr val="tx1"/>
                </a:solidFill>
              </a:rPr>
              <a:t> </a:t>
            </a:r>
            <a:r>
              <a:rPr lang="zh-CN" altLang="en-US" sz="1600" dirty="0">
                <a:solidFill>
                  <a:schemeClr val="tx1"/>
                </a:solidFill>
              </a:rPr>
              <a:t>之间的浮点数</a:t>
            </a:r>
            <a:endParaRPr lang="en-US" altLang="zh-CN" sz="1600" dirty="0">
              <a:solidFill>
                <a:schemeClr val="tx1"/>
              </a:solidFill>
            </a:endParaRPr>
          </a:p>
          <a:p>
            <a:r>
              <a:rPr lang="en-US" altLang="zh-CN" sz="2000" dirty="0">
                <a:solidFill>
                  <a:schemeClr val="tx1"/>
                </a:solidFill>
              </a:rPr>
              <a:t>y=</a:t>
            </a:r>
            <a:r>
              <a:rPr lang="en-US" altLang="zh-CN" sz="2000" dirty="0" err="1">
                <a:solidFill>
                  <a:schemeClr val="tx1"/>
                </a:solidFill>
              </a:rPr>
              <a:t>random.randint</a:t>
            </a:r>
            <a:r>
              <a:rPr lang="zh-CN" altLang="en-US" sz="2000" dirty="0">
                <a:solidFill>
                  <a:schemeClr val="tx1"/>
                </a:solidFill>
              </a:rPr>
              <a:t>（</a:t>
            </a:r>
            <a:r>
              <a:rPr lang="en-US" altLang="zh-CN" sz="2000" dirty="0" err="1">
                <a:solidFill>
                  <a:schemeClr val="tx1"/>
                </a:solidFill>
              </a:rPr>
              <a:t>a,b</a:t>
            </a:r>
            <a:r>
              <a:rPr lang="zh-CN" altLang="en-US" sz="2000" dirty="0">
                <a:solidFill>
                  <a:schemeClr val="tx1"/>
                </a:solidFill>
              </a:rPr>
              <a:t>）</a:t>
            </a:r>
            <a:r>
              <a:rPr lang="en-US" altLang="zh-CN" sz="1600" dirty="0">
                <a:solidFill>
                  <a:schemeClr val="tx1"/>
                </a:solidFill>
              </a:rPr>
              <a:t>    </a:t>
            </a:r>
            <a:r>
              <a:rPr lang="zh-CN" altLang="en-US" sz="1600" dirty="0">
                <a:solidFill>
                  <a:schemeClr val="tx1"/>
                </a:solidFill>
              </a:rPr>
              <a:t>返回 </a:t>
            </a:r>
            <a:r>
              <a:rPr lang="en-US" altLang="zh-CN" sz="1600" dirty="0">
                <a:solidFill>
                  <a:srgbClr val="C00000"/>
                </a:solidFill>
              </a:rPr>
              <a:t>[</a:t>
            </a:r>
            <a:r>
              <a:rPr lang="en-US" altLang="zh-CN" sz="1600" dirty="0">
                <a:solidFill>
                  <a:schemeClr val="tx1"/>
                </a:solidFill>
              </a:rPr>
              <a:t>a, b</a:t>
            </a:r>
            <a:r>
              <a:rPr lang="en-US" altLang="zh-CN" sz="1600" dirty="0">
                <a:solidFill>
                  <a:srgbClr val="C00000"/>
                </a:solidFill>
              </a:rPr>
              <a:t>]</a:t>
            </a:r>
            <a:r>
              <a:rPr lang="en-US" altLang="zh-CN" sz="1600" dirty="0">
                <a:solidFill>
                  <a:schemeClr val="tx1"/>
                </a:solidFill>
              </a:rPr>
              <a:t> </a:t>
            </a:r>
            <a:r>
              <a:rPr lang="zh-CN" altLang="en-US" sz="1600" dirty="0">
                <a:solidFill>
                  <a:schemeClr val="tx1"/>
                </a:solidFill>
              </a:rPr>
              <a:t>之间的整数（包括起始与终止值）</a:t>
            </a:r>
            <a:endParaRPr lang="en-US" altLang="zh-CN" sz="2000" dirty="0">
              <a:solidFill>
                <a:schemeClr val="tx1"/>
              </a:solidFill>
            </a:endParaRPr>
          </a:p>
        </p:txBody>
      </p:sp>
      <p:sp>
        <p:nvSpPr>
          <p:cNvPr id="4" name="矩形 3"/>
          <p:cNvSpPr/>
          <p:nvPr/>
        </p:nvSpPr>
        <p:spPr>
          <a:xfrm>
            <a:off x="469156" y="2589170"/>
            <a:ext cx="8255346"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dirty="0"/>
              <a:t>#</a:t>
            </a:r>
            <a:r>
              <a:rPr lang="zh-CN" altLang="en-US" dirty="0"/>
              <a:t>每次运行产生的随机数序列是不相同的</a:t>
            </a:r>
            <a:endParaRPr lang="en-US" altLang="zh-CN" dirty="0"/>
          </a:p>
          <a:p>
            <a:r>
              <a:rPr lang="zh-CN" altLang="en-US" dirty="0"/>
              <a:t>import  random</a:t>
            </a:r>
          </a:p>
          <a:p>
            <a:r>
              <a:rPr lang="zh-CN" altLang="en-US" dirty="0"/>
              <a:t>random.seed()          </a:t>
            </a:r>
          </a:p>
          <a:p>
            <a:r>
              <a:rPr lang="zh-CN" altLang="en-US" dirty="0"/>
              <a:t>for i in range(10):</a:t>
            </a:r>
          </a:p>
          <a:p>
            <a:r>
              <a:rPr lang="zh-CN" altLang="en-US" dirty="0"/>
              <a:t>    print(random.random())</a:t>
            </a:r>
          </a:p>
        </p:txBody>
      </p:sp>
      <p:sp>
        <p:nvSpPr>
          <p:cNvPr id="6" name="矩形 5"/>
          <p:cNvSpPr/>
          <p:nvPr/>
        </p:nvSpPr>
        <p:spPr>
          <a:xfrm>
            <a:off x="271543" y="4299942"/>
            <a:ext cx="8712968" cy="400110"/>
          </a:xfrm>
          <a:prstGeom prst="rect">
            <a:avLst/>
          </a:prstGeom>
        </p:spPr>
        <p:txBody>
          <a:bodyPr wrap="square">
            <a:spAutoFit/>
          </a:bodyPr>
          <a:lstStyle/>
          <a:p>
            <a:r>
              <a:rPr lang="en-US" altLang="zh-CN" sz="2000" b="1" dirty="0">
                <a:solidFill>
                  <a:srgbClr val="C00000"/>
                </a:solidFill>
              </a:rPr>
              <a:t># </a:t>
            </a:r>
            <a:r>
              <a:rPr lang="zh-CN" altLang="en-US" sz="2000" b="1" dirty="0">
                <a:solidFill>
                  <a:srgbClr val="C00000"/>
                </a:solidFill>
              </a:rPr>
              <a:t>random.seed(</a:t>
            </a:r>
            <a:r>
              <a:rPr lang="en-US" altLang="zh-CN" sz="2000" b="1" dirty="0">
                <a:solidFill>
                  <a:srgbClr val="C00000"/>
                </a:solidFill>
              </a:rPr>
              <a:t>n</a:t>
            </a:r>
            <a:r>
              <a:rPr lang="zh-CN" altLang="en-US" sz="2000" b="1" dirty="0">
                <a:solidFill>
                  <a:srgbClr val="C00000"/>
                </a:solidFill>
              </a:rPr>
              <a:t>)      </a:t>
            </a:r>
            <a:r>
              <a:rPr lang="en-US" altLang="zh-CN" sz="2000" b="1" dirty="0">
                <a:solidFill>
                  <a:srgbClr val="C00000"/>
                </a:solidFill>
              </a:rPr>
              <a:t># n</a:t>
            </a:r>
            <a:r>
              <a:rPr lang="zh-CN" altLang="en-US" sz="2000" b="1" dirty="0">
                <a:solidFill>
                  <a:srgbClr val="C00000"/>
                </a:solidFill>
              </a:rPr>
              <a:t>可以是整数、小数或字符串，每次产生的序列不变     </a:t>
            </a:r>
          </a:p>
        </p:txBody>
      </p:sp>
    </p:spTree>
    <p:extLst>
      <p:ext uri="{BB962C8B-B14F-4D97-AF65-F5344CB8AC3E}">
        <p14:creationId xmlns:p14="http://schemas.microsoft.com/office/powerpoint/2010/main" val="23112736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2" y="860562"/>
            <a:ext cx="7992888" cy="175432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dirty="0"/>
              <a:t>import  random</a:t>
            </a:r>
          </a:p>
          <a:p>
            <a:r>
              <a:rPr lang="zh-CN" altLang="en-US" dirty="0"/>
              <a:t>import matplotlib.pyplot as plt</a:t>
            </a:r>
          </a:p>
          <a:p>
            <a:r>
              <a:rPr lang="zh-CN" altLang="en-US" dirty="0"/>
              <a:t>y=[]</a:t>
            </a:r>
          </a:p>
          <a:p>
            <a:r>
              <a:rPr lang="zh-CN" altLang="en-US" dirty="0"/>
              <a:t>for x in range(100):</a:t>
            </a:r>
          </a:p>
          <a:p>
            <a:r>
              <a:rPr lang="zh-CN" altLang="en-US" dirty="0"/>
              <a:t>    y.append(random.uniform(0,1))   # 产生服从</a:t>
            </a:r>
            <a:r>
              <a:rPr lang="zh-CN" altLang="en-US" b="1" dirty="0">
                <a:solidFill>
                  <a:srgbClr val="FF0000"/>
                </a:solidFill>
              </a:rPr>
              <a:t>均匀分布</a:t>
            </a:r>
            <a:r>
              <a:rPr lang="zh-CN" altLang="en-US" dirty="0"/>
              <a:t>的0-1之间的随机数</a:t>
            </a:r>
          </a:p>
          <a:p>
            <a:r>
              <a:rPr lang="zh-CN" altLang="en-US" dirty="0"/>
              <a:t>plt.plot(range(100),y) </a:t>
            </a:r>
          </a:p>
        </p:txBody>
      </p:sp>
      <p:pic>
        <p:nvPicPr>
          <p:cNvPr id="5" name="图片 4"/>
          <p:cNvPicPr>
            <a:picLocks noChangeAspect="1"/>
          </p:cNvPicPr>
          <p:nvPr/>
        </p:nvPicPr>
        <p:blipFill>
          <a:blip r:embed="rId2"/>
          <a:stretch>
            <a:fillRect/>
          </a:stretch>
        </p:blipFill>
        <p:spPr>
          <a:xfrm>
            <a:off x="683568" y="2715766"/>
            <a:ext cx="3067625" cy="2045083"/>
          </a:xfrm>
          <a:prstGeom prst="rect">
            <a:avLst/>
          </a:prstGeom>
        </p:spPr>
      </p:pic>
      <p:pic>
        <p:nvPicPr>
          <p:cNvPr id="6" name="图片 5"/>
          <p:cNvPicPr>
            <a:picLocks noChangeAspect="1"/>
          </p:cNvPicPr>
          <p:nvPr/>
        </p:nvPicPr>
        <p:blipFill>
          <a:blip r:embed="rId3"/>
          <a:stretch>
            <a:fillRect/>
          </a:stretch>
        </p:blipFill>
        <p:spPr>
          <a:xfrm>
            <a:off x="4427984" y="2715765"/>
            <a:ext cx="3067625" cy="2045083"/>
          </a:xfrm>
          <a:prstGeom prst="rect">
            <a:avLst/>
          </a:prstGeom>
        </p:spPr>
      </p:pic>
      <p:sp>
        <p:nvSpPr>
          <p:cNvPr id="7" name="标题 1"/>
          <p:cNvSpPr>
            <a:spLocks noGrp="1"/>
          </p:cNvSpPr>
          <p:nvPr>
            <p:ph type="title"/>
          </p:nvPr>
        </p:nvSpPr>
        <p:spPr>
          <a:xfrm>
            <a:off x="539552" y="121428"/>
            <a:ext cx="8275638" cy="650875"/>
          </a:xfrm>
        </p:spPr>
        <p:txBody>
          <a:bodyPr/>
          <a:lstStyle/>
          <a:p>
            <a:r>
              <a:rPr lang="zh-CN" altLang="en-US" sz="2400" dirty="0"/>
              <a:t>随机数控制</a:t>
            </a:r>
            <a:r>
              <a:rPr lang="en-US" altLang="zh-CN" sz="2400" dirty="0"/>
              <a:t>—</a:t>
            </a:r>
            <a:r>
              <a:rPr lang="zh-CN" altLang="en-US" sz="2400" dirty="0"/>
              <a:t>均匀分布</a:t>
            </a:r>
            <a:r>
              <a:rPr lang="en-US" altLang="zh-CN" sz="2400" dirty="0"/>
              <a:t>uniform</a:t>
            </a:r>
            <a:endParaRPr lang="zh-CN" altLang="en-US" sz="2400" dirty="0"/>
          </a:p>
        </p:txBody>
      </p:sp>
    </p:spTree>
    <p:extLst>
      <p:ext uri="{BB962C8B-B14F-4D97-AF65-F5344CB8AC3E}">
        <p14:creationId xmlns:p14="http://schemas.microsoft.com/office/powerpoint/2010/main" val="3831596800"/>
      </p:ext>
    </p:extLst>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1021" y="339502"/>
            <a:ext cx="8275638" cy="488156"/>
          </a:xfrm>
        </p:spPr>
        <p:txBody>
          <a:bodyPr/>
          <a:lstStyle/>
          <a:p>
            <a:r>
              <a:rPr lang="zh-CN" altLang="en-US" sz="2400" dirty="0"/>
              <a:t>复合数据类型</a:t>
            </a:r>
          </a:p>
        </p:txBody>
      </p:sp>
      <p:sp>
        <p:nvSpPr>
          <p:cNvPr id="3" name="内容占位符 2"/>
          <p:cNvSpPr>
            <a:spLocks noGrp="1"/>
          </p:cNvSpPr>
          <p:nvPr>
            <p:ph idx="1"/>
          </p:nvPr>
        </p:nvSpPr>
        <p:spPr>
          <a:xfrm>
            <a:off x="431021" y="987574"/>
            <a:ext cx="8293100" cy="2160240"/>
          </a:xfrm>
        </p:spPr>
        <p:style>
          <a:lnRef idx="2">
            <a:schemeClr val="accent5"/>
          </a:lnRef>
          <a:fillRef idx="1">
            <a:schemeClr val="lt1"/>
          </a:fillRef>
          <a:effectRef idx="0">
            <a:schemeClr val="accent5"/>
          </a:effectRef>
          <a:fontRef idx="minor">
            <a:schemeClr val="dk1"/>
          </a:fontRef>
        </p:style>
        <p:txBody>
          <a:bodyPr/>
          <a:lstStyle/>
          <a:p>
            <a:pPr>
              <a:lnSpc>
                <a:spcPct val="150000"/>
              </a:lnSpc>
              <a:buFont typeface="Wingdings" panose="05000000000000000000" pitchFamily="2" charset="2"/>
              <a:buChar char="u"/>
            </a:pPr>
            <a:r>
              <a:rPr lang="zh-CN" altLang="en-US" sz="1800" dirty="0"/>
              <a:t>列表</a:t>
            </a:r>
            <a:r>
              <a:rPr lang="en-US" altLang="zh-CN" sz="1800" dirty="0"/>
              <a:t>(list): </a:t>
            </a:r>
            <a:r>
              <a:rPr lang="zh-CN" altLang="en-US" sz="1800" dirty="0">
                <a:solidFill>
                  <a:schemeClr val="tx1"/>
                </a:solidFill>
              </a:rPr>
              <a:t>有序序列，内容可变，</a:t>
            </a:r>
            <a:r>
              <a:rPr lang="en-US" altLang="zh-CN" sz="1800" dirty="0">
                <a:solidFill>
                  <a:schemeClr val="tx1"/>
                </a:solidFill>
              </a:rPr>
              <a:t>[</a:t>
            </a:r>
            <a:r>
              <a:rPr lang="zh-CN" altLang="en-US" sz="1800" dirty="0">
                <a:solidFill>
                  <a:schemeClr val="tx1"/>
                </a:solidFill>
              </a:rPr>
              <a:t>项</a:t>
            </a:r>
            <a:r>
              <a:rPr lang="en-US" altLang="zh-CN" sz="1800" dirty="0">
                <a:solidFill>
                  <a:schemeClr val="tx1"/>
                </a:solidFill>
              </a:rPr>
              <a:t>1,</a:t>
            </a:r>
            <a:r>
              <a:rPr lang="zh-CN" altLang="en-US" sz="1800" dirty="0">
                <a:solidFill>
                  <a:schemeClr val="tx1"/>
                </a:solidFill>
              </a:rPr>
              <a:t>项</a:t>
            </a:r>
            <a:r>
              <a:rPr lang="en-US" altLang="zh-CN" sz="1800" dirty="0">
                <a:solidFill>
                  <a:schemeClr val="tx1"/>
                </a:solidFill>
              </a:rPr>
              <a:t>2, ……]</a:t>
            </a:r>
          </a:p>
          <a:p>
            <a:pPr>
              <a:lnSpc>
                <a:spcPct val="150000"/>
              </a:lnSpc>
              <a:buFont typeface="Wingdings" panose="05000000000000000000" pitchFamily="2" charset="2"/>
              <a:buChar char="u"/>
            </a:pPr>
            <a:r>
              <a:rPr lang="zh-CN" altLang="en-US" sz="1800" dirty="0"/>
              <a:t>元组</a:t>
            </a:r>
            <a:r>
              <a:rPr lang="en-US" altLang="zh-CN" sz="1800" dirty="0"/>
              <a:t>(tuple)</a:t>
            </a:r>
            <a:r>
              <a:rPr lang="zh-CN" altLang="en-US" sz="1800" dirty="0"/>
              <a:t>：</a:t>
            </a:r>
            <a:r>
              <a:rPr lang="zh-CN" altLang="en-US" sz="1800" dirty="0">
                <a:solidFill>
                  <a:schemeClr val="tx1"/>
                </a:solidFill>
              </a:rPr>
              <a:t>有序序列，内容不可变，</a:t>
            </a:r>
            <a:r>
              <a:rPr lang="en-US" altLang="zh-CN" sz="1800" dirty="0">
                <a:solidFill>
                  <a:schemeClr val="tx1"/>
                </a:solidFill>
              </a:rPr>
              <a:t>(</a:t>
            </a:r>
            <a:r>
              <a:rPr lang="zh-CN" altLang="en-US" sz="1800" dirty="0">
                <a:solidFill>
                  <a:schemeClr val="tx1"/>
                </a:solidFill>
              </a:rPr>
              <a:t>项</a:t>
            </a:r>
            <a:r>
              <a:rPr lang="en-US" altLang="zh-CN" sz="1800" dirty="0">
                <a:solidFill>
                  <a:schemeClr val="tx1"/>
                </a:solidFill>
              </a:rPr>
              <a:t>1,</a:t>
            </a:r>
            <a:r>
              <a:rPr lang="zh-CN" altLang="en-US" sz="1800" dirty="0">
                <a:solidFill>
                  <a:schemeClr val="tx1"/>
                </a:solidFill>
              </a:rPr>
              <a:t>项</a:t>
            </a:r>
            <a:r>
              <a:rPr lang="en-US" altLang="zh-CN" sz="1800" dirty="0">
                <a:solidFill>
                  <a:schemeClr val="tx1"/>
                </a:solidFill>
              </a:rPr>
              <a:t>2, ……)</a:t>
            </a:r>
            <a:r>
              <a:rPr lang="zh-CN" altLang="en-US" sz="1800" dirty="0">
                <a:solidFill>
                  <a:schemeClr val="tx1"/>
                </a:solidFill>
              </a:rPr>
              <a:t>，圆括号可省略</a:t>
            </a:r>
            <a:endParaRPr lang="en-US" altLang="zh-CN" sz="1800" dirty="0">
              <a:solidFill>
                <a:schemeClr val="tx1"/>
              </a:solidFill>
            </a:endParaRPr>
          </a:p>
          <a:p>
            <a:pPr>
              <a:lnSpc>
                <a:spcPct val="150000"/>
              </a:lnSpc>
              <a:buFont typeface="Wingdings" panose="05000000000000000000" pitchFamily="2" charset="2"/>
              <a:buChar char="u"/>
            </a:pPr>
            <a:r>
              <a:rPr lang="zh-CN" altLang="en-US" sz="1800" dirty="0"/>
              <a:t>字典</a:t>
            </a:r>
            <a:r>
              <a:rPr lang="en-US" altLang="zh-CN" sz="1800" dirty="0"/>
              <a:t>(</a:t>
            </a:r>
            <a:r>
              <a:rPr lang="en-US" altLang="zh-CN" sz="1800" dirty="0" err="1"/>
              <a:t>dict</a:t>
            </a:r>
            <a:r>
              <a:rPr lang="en-US" altLang="zh-CN" sz="1800" dirty="0"/>
              <a:t>)</a:t>
            </a:r>
            <a:r>
              <a:rPr lang="zh-CN" altLang="en-US" sz="1800" dirty="0"/>
              <a:t>：</a:t>
            </a:r>
            <a:r>
              <a:rPr lang="zh-CN" altLang="en-US" sz="1800" dirty="0">
                <a:solidFill>
                  <a:schemeClr val="tx1"/>
                </a:solidFill>
              </a:rPr>
              <a:t>无序集合体，由键值对组成。</a:t>
            </a:r>
            <a:endParaRPr lang="en-US" altLang="zh-CN" sz="1800" dirty="0">
              <a:solidFill>
                <a:schemeClr val="tx1"/>
              </a:solidFill>
            </a:endParaRPr>
          </a:p>
          <a:p>
            <a:pPr>
              <a:lnSpc>
                <a:spcPct val="150000"/>
              </a:lnSpc>
              <a:buFont typeface="Wingdings" panose="05000000000000000000" pitchFamily="2" charset="2"/>
              <a:buChar char="u"/>
            </a:pPr>
            <a:r>
              <a:rPr lang="zh-CN" altLang="en-US" sz="1800" dirty="0"/>
              <a:t>集合</a:t>
            </a:r>
            <a:r>
              <a:rPr lang="en-US" altLang="zh-CN" sz="1800" dirty="0"/>
              <a:t>(set)</a:t>
            </a:r>
            <a:r>
              <a:rPr lang="zh-CN" altLang="en-US" sz="1800" dirty="0"/>
              <a:t>：</a:t>
            </a:r>
            <a:r>
              <a:rPr lang="zh-CN" altLang="en-US" sz="1800" dirty="0">
                <a:solidFill>
                  <a:schemeClr val="tx1"/>
                </a:solidFill>
              </a:rPr>
              <a:t>无序且不包含重复元素，</a:t>
            </a:r>
            <a:r>
              <a:rPr lang="en-US" altLang="zh-CN" sz="1800" dirty="0">
                <a:solidFill>
                  <a:schemeClr val="tx1"/>
                </a:solidFill>
              </a:rPr>
              <a:t>{</a:t>
            </a:r>
            <a:r>
              <a:rPr lang="zh-CN" altLang="en-US" sz="1800" dirty="0">
                <a:solidFill>
                  <a:schemeClr val="tx1"/>
                </a:solidFill>
              </a:rPr>
              <a:t>项</a:t>
            </a:r>
            <a:r>
              <a:rPr lang="en-US" altLang="zh-CN" sz="1800" dirty="0">
                <a:solidFill>
                  <a:schemeClr val="tx1"/>
                </a:solidFill>
              </a:rPr>
              <a:t>1</a:t>
            </a:r>
            <a:r>
              <a:rPr lang="zh-CN" altLang="en-US" sz="1800" dirty="0">
                <a:solidFill>
                  <a:schemeClr val="tx1"/>
                </a:solidFill>
              </a:rPr>
              <a:t>，项</a:t>
            </a:r>
            <a:r>
              <a:rPr lang="en-US" altLang="zh-CN" sz="1800" dirty="0">
                <a:solidFill>
                  <a:schemeClr val="tx1"/>
                </a:solidFill>
              </a:rPr>
              <a:t>2</a:t>
            </a:r>
            <a:r>
              <a:rPr lang="zh-CN" altLang="en-US" sz="1800" dirty="0">
                <a:solidFill>
                  <a:schemeClr val="tx1"/>
                </a:solidFill>
              </a:rPr>
              <a:t>，</a:t>
            </a:r>
            <a:r>
              <a:rPr lang="en-US" altLang="zh-CN" sz="1800" dirty="0">
                <a:solidFill>
                  <a:schemeClr val="tx1"/>
                </a:solidFill>
              </a:rPr>
              <a:t>……}</a:t>
            </a:r>
            <a:endParaRPr lang="zh-CN" altLang="en-US" sz="1600" dirty="0">
              <a:solidFill>
                <a:schemeClr val="tx1"/>
              </a:solidFill>
            </a:endParaRPr>
          </a:p>
        </p:txBody>
      </p:sp>
    </p:spTree>
    <p:extLst>
      <p:ext uri="{BB962C8B-B14F-4D97-AF65-F5344CB8AC3E}">
        <p14:creationId xmlns:p14="http://schemas.microsoft.com/office/powerpoint/2010/main" val="22421966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0850" y="267494"/>
            <a:ext cx="8275638" cy="488156"/>
          </a:xfrm>
        </p:spPr>
        <p:txBody>
          <a:bodyPr/>
          <a:lstStyle/>
          <a:p>
            <a:r>
              <a:rPr lang="en-US" altLang="zh-CN" sz="2000" dirty="0"/>
              <a:t>1</a:t>
            </a:r>
            <a:r>
              <a:rPr lang="zh-CN" altLang="en-US" sz="2000" dirty="0"/>
              <a:t>、列表</a:t>
            </a:r>
            <a:r>
              <a:rPr lang="en-US" altLang="zh-CN" sz="2000" dirty="0"/>
              <a:t>(list)</a:t>
            </a:r>
            <a:endParaRPr lang="zh-CN" altLang="en-US" sz="2000" dirty="0"/>
          </a:p>
        </p:txBody>
      </p:sp>
      <p:sp>
        <p:nvSpPr>
          <p:cNvPr id="4" name="内容占位符 2"/>
          <p:cNvSpPr txBox="1">
            <a:spLocks/>
          </p:cNvSpPr>
          <p:nvPr/>
        </p:nvSpPr>
        <p:spPr bwMode="auto">
          <a:xfrm>
            <a:off x="539552" y="843558"/>
            <a:ext cx="8293100" cy="388843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ts val="600"/>
              </a:spcBef>
              <a:spcAft>
                <a:spcPct val="0"/>
              </a:spcAft>
              <a:buClr>
                <a:schemeClr val="hlink"/>
              </a:buClr>
              <a:buChar char="•"/>
              <a:defRPr sz="2400" b="0">
                <a:solidFill>
                  <a:srgbClr val="000096"/>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lnSpc>
                <a:spcPct val="110000"/>
              </a:lnSpc>
              <a:spcBef>
                <a:spcPts val="600"/>
              </a:spcBef>
              <a:spcAft>
                <a:spcPct val="0"/>
              </a:spcAft>
              <a:buClr>
                <a:srgbClr val="FF9900"/>
              </a:buClr>
              <a:buChar char="•"/>
              <a:defRPr sz="22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lnSpc>
                <a:spcPct val="110000"/>
              </a:lnSpc>
              <a:spcBef>
                <a:spcPts val="600"/>
              </a:spcBef>
              <a:spcAft>
                <a:spcPct val="0"/>
              </a:spcAft>
              <a:buClr>
                <a:schemeClr val="hlink"/>
              </a:buClr>
              <a:buChar char="•"/>
              <a:defRPr>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lnSpc>
                <a:spcPct val="110000"/>
              </a:lnSpc>
              <a:spcBef>
                <a:spcPts val="600"/>
              </a:spcBef>
              <a:spcAft>
                <a:spcPct val="0"/>
              </a:spcAft>
              <a:buClr>
                <a:srgbClr val="FF9900"/>
              </a:buClr>
              <a:buChar char="•"/>
              <a:defRPr sz="16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lnSpc>
                <a:spcPct val="110000"/>
              </a:lnSpc>
              <a:spcBef>
                <a:spcPts val="600"/>
              </a:spcBef>
              <a:spcAft>
                <a:spcPct val="0"/>
              </a:spcAft>
              <a:buClr>
                <a:schemeClr val="hlink"/>
              </a:buClr>
              <a:buChar char="•"/>
              <a:defRPr sz="2000">
                <a:solidFill>
                  <a:srgbClr val="5F5F5F"/>
                </a:solidFill>
                <a:latin typeface="微软雅黑" panose="020B0503020204020204" pitchFamily="34" charset="-122"/>
                <a:ea typeface="微软雅黑" panose="020B0503020204020204" pitchFamily="34" charset="-122"/>
              </a:defRPr>
            </a:lvl5pPr>
            <a:lvl6pPr marL="25146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6pPr>
            <a:lvl7pPr marL="29718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7pPr>
            <a:lvl8pPr marL="34290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8pPr>
            <a:lvl9pPr marL="38862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9pPr>
          </a:lstStyle>
          <a:p>
            <a:pPr marL="0" indent="0">
              <a:lnSpc>
                <a:spcPct val="150000"/>
              </a:lnSpc>
              <a:buNone/>
            </a:pPr>
            <a:r>
              <a:rPr lang="zh-CN" altLang="en-US" sz="1600" kern="0" dirty="0">
                <a:solidFill>
                  <a:schemeClr val="tx1"/>
                </a:solidFill>
              </a:rPr>
              <a:t>例如：</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 fibs=[0,1,1,2,3,5,8,13]    #</a:t>
            </a:r>
            <a:r>
              <a:rPr lang="zh-CN" altLang="en-US" sz="1600" kern="0" dirty="0">
                <a:solidFill>
                  <a:schemeClr val="tx1"/>
                </a:solidFill>
              </a:rPr>
              <a:t>创建一个斐波那契列表序列</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 </a:t>
            </a:r>
            <a:r>
              <a:rPr lang="en-US" altLang="zh-CN" sz="1600" kern="0" dirty="0" err="1">
                <a:solidFill>
                  <a:schemeClr val="tx1"/>
                </a:solidFill>
              </a:rPr>
              <a:t>stu</a:t>
            </a:r>
            <a:r>
              <a:rPr lang="en-US" altLang="zh-CN" sz="1600" kern="0" dirty="0">
                <a:solidFill>
                  <a:schemeClr val="tx1"/>
                </a:solidFill>
              </a:rPr>
              <a:t>=[['Daisy',190101],['Tidy',190102],['linda',190103]]</a:t>
            </a:r>
          </a:p>
          <a:p>
            <a:pPr marL="0" indent="0">
              <a:lnSpc>
                <a:spcPct val="150000"/>
              </a:lnSpc>
              <a:buNone/>
            </a:pPr>
            <a:r>
              <a:rPr lang="en-US" altLang="zh-CN" sz="1600" kern="0" dirty="0">
                <a:solidFill>
                  <a:schemeClr val="tx1"/>
                </a:solidFill>
              </a:rPr>
              <a:t>&gt;&gt;&gt; xl=[ ]                 #</a:t>
            </a:r>
            <a:r>
              <a:rPr lang="zh-CN" altLang="en-US" sz="1600" kern="0" dirty="0">
                <a:solidFill>
                  <a:schemeClr val="tx1"/>
                </a:solidFill>
              </a:rPr>
              <a:t>新建一个空列表</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&gt;&gt;&gt;fibs+[21]           #</a:t>
            </a:r>
            <a:r>
              <a:rPr lang="zh-CN" altLang="en-US" sz="1600" kern="0" dirty="0">
                <a:solidFill>
                  <a:schemeClr val="tx1"/>
                </a:solidFill>
              </a:rPr>
              <a:t>输出</a:t>
            </a:r>
            <a:r>
              <a:rPr lang="en-US" altLang="zh-CN" sz="1600" kern="0" dirty="0">
                <a:solidFill>
                  <a:schemeClr val="tx1"/>
                </a:solidFill>
              </a:rPr>
              <a:t>[0, 1, 1, 2, 3, 5, 8, 13, 21]</a:t>
            </a:r>
          </a:p>
          <a:p>
            <a:pPr marL="0" indent="0">
              <a:lnSpc>
                <a:spcPct val="150000"/>
              </a:lnSpc>
              <a:buNone/>
            </a:pPr>
            <a:r>
              <a:rPr lang="en-US" altLang="zh-CN" sz="1600" kern="0" dirty="0">
                <a:solidFill>
                  <a:schemeClr val="tx1"/>
                </a:solidFill>
              </a:rPr>
              <a:t>&gt;&gt;&gt;fibs[3:5]             #</a:t>
            </a:r>
            <a:r>
              <a:rPr lang="zh-CN" altLang="en-US" sz="1600" kern="0" dirty="0">
                <a:solidFill>
                  <a:schemeClr val="tx1"/>
                </a:solidFill>
              </a:rPr>
              <a:t>输出</a:t>
            </a:r>
            <a:r>
              <a:rPr lang="en-US" altLang="zh-CN" sz="1600" kern="0" dirty="0">
                <a:solidFill>
                  <a:schemeClr val="tx1"/>
                </a:solidFill>
              </a:rPr>
              <a:t>[2, 3]</a:t>
            </a:r>
          </a:p>
          <a:p>
            <a:pPr marL="0" indent="0">
              <a:lnSpc>
                <a:spcPct val="150000"/>
              </a:lnSpc>
              <a:buNone/>
            </a:pPr>
            <a:r>
              <a:rPr lang="en-US" altLang="zh-CN" sz="1600" kern="0" dirty="0">
                <a:solidFill>
                  <a:schemeClr val="tx1"/>
                </a:solidFill>
              </a:rPr>
              <a:t>&gt;&gt;&gt; </a:t>
            </a:r>
            <a:r>
              <a:rPr lang="en-US" altLang="zh-CN" sz="1600" kern="0" dirty="0" err="1">
                <a:solidFill>
                  <a:schemeClr val="tx1"/>
                </a:solidFill>
              </a:rPr>
              <a:t>xl.append</a:t>
            </a:r>
            <a:r>
              <a:rPr lang="en-US" altLang="zh-CN" sz="1600" kern="0" dirty="0">
                <a:solidFill>
                  <a:schemeClr val="tx1"/>
                </a:solidFill>
              </a:rPr>
              <a:t>(10)   #</a:t>
            </a:r>
            <a:r>
              <a:rPr lang="zh-CN" altLang="en-US" sz="1600" kern="0" dirty="0">
                <a:solidFill>
                  <a:schemeClr val="tx1"/>
                </a:solidFill>
              </a:rPr>
              <a:t>输出</a:t>
            </a:r>
            <a:r>
              <a:rPr lang="en-US" altLang="zh-CN" sz="1600" kern="0" dirty="0">
                <a:solidFill>
                  <a:schemeClr val="tx1"/>
                </a:solidFill>
              </a:rPr>
              <a:t>[10]</a:t>
            </a:r>
          </a:p>
          <a:p>
            <a:pPr marL="0" indent="0">
              <a:lnSpc>
                <a:spcPct val="150000"/>
              </a:lnSpc>
              <a:buNone/>
            </a:pPr>
            <a:r>
              <a:rPr lang="en-US" altLang="zh-CN" sz="1600" kern="0" dirty="0">
                <a:solidFill>
                  <a:schemeClr val="tx1"/>
                </a:solidFill>
              </a:rPr>
              <a:t>&gt;&gt;&gt;xl *3                  #</a:t>
            </a:r>
            <a:r>
              <a:rPr lang="zh-CN" altLang="en-US" sz="1600" kern="0" dirty="0">
                <a:solidFill>
                  <a:schemeClr val="tx1"/>
                </a:solidFill>
              </a:rPr>
              <a:t>输出</a:t>
            </a:r>
            <a:r>
              <a:rPr lang="en-US" altLang="zh-CN" sz="1600" kern="0" dirty="0">
                <a:solidFill>
                  <a:schemeClr val="tx1"/>
                </a:solidFill>
              </a:rPr>
              <a:t>[10, 10, 10]</a:t>
            </a:r>
            <a:r>
              <a:rPr lang="zh-CN" altLang="en-US" sz="1600" kern="0" dirty="0">
                <a:solidFill>
                  <a:schemeClr val="tx1"/>
                </a:solidFill>
              </a:rPr>
              <a:t>，序列</a:t>
            </a:r>
            <a:r>
              <a:rPr lang="en-US" altLang="zh-CN" sz="1600" kern="0" dirty="0">
                <a:solidFill>
                  <a:schemeClr val="tx1"/>
                </a:solidFill>
              </a:rPr>
              <a:t>xl</a:t>
            </a:r>
            <a:r>
              <a:rPr lang="zh-CN" altLang="en-US" sz="1600" kern="0" dirty="0">
                <a:solidFill>
                  <a:schemeClr val="tx1"/>
                </a:solidFill>
              </a:rPr>
              <a:t>本身不变</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 </a:t>
            </a:r>
            <a:r>
              <a:rPr lang="en-US" altLang="zh-CN" sz="1600" kern="0" dirty="0" err="1">
                <a:solidFill>
                  <a:schemeClr val="tx1"/>
                </a:solidFill>
              </a:rPr>
              <a:t>stu</a:t>
            </a:r>
            <a:r>
              <a:rPr lang="en-US" altLang="zh-CN" sz="1600" kern="0" dirty="0">
                <a:solidFill>
                  <a:schemeClr val="tx1"/>
                </a:solidFill>
              </a:rPr>
              <a:t>[0]=[‘sendy’,190105]    #</a:t>
            </a:r>
            <a:r>
              <a:rPr lang="zh-CN" altLang="en-US" sz="1600" kern="0" dirty="0">
                <a:solidFill>
                  <a:schemeClr val="tx1"/>
                </a:solidFill>
              </a:rPr>
              <a:t>修改</a:t>
            </a:r>
            <a:r>
              <a:rPr lang="en-US" altLang="zh-CN" sz="1600" kern="0" dirty="0" err="1">
                <a:solidFill>
                  <a:schemeClr val="tx1"/>
                </a:solidFill>
              </a:rPr>
              <a:t>stu</a:t>
            </a:r>
            <a:r>
              <a:rPr lang="zh-CN" altLang="en-US" sz="1600" kern="0" dirty="0">
                <a:solidFill>
                  <a:schemeClr val="tx1"/>
                </a:solidFill>
              </a:rPr>
              <a:t>第</a:t>
            </a:r>
            <a:r>
              <a:rPr lang="en-US" altLang="zh-CN" sz="1600" kern="0" dirty="0">
                <a:solidFill>
                  <a:schemeClr val="tx1"/>
                </a:solidFill>
              </a:rPr>
              <a:t>0</a:t>
            </a:r>
            <a:r>
              <a:rPr lang="zh-CN" altLang="en-US" sz="1600" kern="0" dirty="0">
                <a:solidFill>
                  <a:schemeClr val="tx1"/>
                </a:solidFill>
              </a:rPr>
              <a:t>个元素的值</a:t>
            </a:r>
          </a:p>
        </p:txBody>
      </p:sp>
    </p:spTree>
    <p:extLst>
      <p:ext uri="{BB962C8B-B14F-4D97-AF65-F5344CB8AC3E}">
        <p14:creationId xmlns:p14="http://schemas.microsoft.com/office/powerpoint/2010/main" val="10001483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0850" y="267494"/>
            <a:ext cx="8275638" cy="488156"/>
          </a:xfrm>
        </p:spPr>
        <p:txBody>
          <a:bodyPr/>
          <a:lstStyle/>
          <a:p>
            <a:r>
              <a:rPr lang="en-US" altLang="zh-CN" sz="2000" dirty="0"/>
              <a:t>2</a:t>
            </a:r>
            <a:r>
              <a:rPr lang="zh-CN" altLang="en-US" sz="2000" dirty="0"/>
              <a:t>、元组</a:t>
            </a:r>
            <a:r>
              <a:rPr lang="en-US" altLang="zh-CN" sz="2000" dirty="0"/>
              <a:t>(tuple)</a:t>
            </a:r>
            <a:endParaRPr lang="zh-CN" altLang="en-US" sz="2000" dirty="0"/>
          </a:p>
        </p:txBody>
      </p:sp>
      <p:sp>
        <p:nvSpPr>
          <p:cNvPr id="4" name="内容占位符 2"/>
          <p:cNvSpPr txBox="1">
            <a:spLocks/>
          </p:cNvSpPr>
          <p:nvPr/>
        </p:nvSpPr>
        <p:spPr bwMode="auto">
          <a:xfrm>
            <a:off x="539552" y="843558"/>
            <a:ext cx="8293100" cy="388843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ts val="600"/>
              </a:spcBef>
              <a:spcAft>
                <a:spcPct val="0"/>
              </a:spcAft>
              <a:buClr>
                <a:schemeClr val="hlink"/>
              </a:buClr>
              <a:buChar char="•"/>
              <a:defRPr sz="2400" b="0">
                <a:solidFill>
                  <a:srgbClr val="000096"/>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lnSpc>
                <a:spcPct val="110000"/>
              </a:lnSpc>
              <a:spcBef>
                <a:spcPts val="600"/>
              </a:spcBef>
              <a:spcAft>
                <a:spcPct val="0"/>
              </a:spcAft>
              <a:buClr>
                <a:srgbClr val="FF9900"/>
              </a:buClr>
              <a:buChar char="•"/>
              <a:defRPr sz="22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lnSpc>
                <a:spcPct val="110000"/>
              </a:lnSpc>
              <a:spcBef>
                <a:spcPts val="600"/>
              </a:spcBef>
              <a:spcAft>
                <a:spcPct val="0"/>
              </a:spcAft>
              <a:buClr>
                <a:schemeClr val="hlink"/>
              </a:buClr>
              <a:buChar char="•"/>
              <a:defRPr>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lnSpc>
                <a:spcPct val="110000"/>
              </a:lnSpc>
              <a:spcBef>
                <a:spcPts val="600"/>
              </a:spcBef>
              <a:spcAft>
                <a:spcPct val="0"/>
              </a:spcAft>
              <a:buClr>
                <a:srgbClr val="FF9900"/>
              </a:buClr>
              <a:buChar char="•"/>
              <a:defRPr sz="16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lnSpc>
                <a:spcPct val="110000"/>
              </a:lnSpc>
              <a:spcBef>
                <a:spcPts val="600"/>
              </a:spcBef>
              <a:spcAft>
                <a:spcPct val="0"/>
              </a:spcAft>
              <a:buClr>
                <a:schemeClr val="hlink"/>
              </a:buClr>
              <a:buChar char="•"/>
              <a:defRPr sz="2000">
                <a:solidFill>
                  <a:srgbClr val="5F5F5F"/>
                </a:solidFill>
                <a:latin typeface="微软雅黑" panose="020B0503020204020204" pitchFamily="34" charset="-122"/>
                <a:ea typeface="微软雅黑" panose="020B0503020204020204" pitchFamily="34" charset="-122"/>
              </a:defRPr>
            </a:lvl5pPr>
            <a:lvl6pPr marL="25146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6pPr>
            <a:lvl7pPr marL="29718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7pPr>
            <a:lvl8pPr marL="34290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8pPr>
            <a:lvl9pPr marL="38862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9pPr>
          </a:lstStyle>
          <a:p>
            <a:pPr marL="0" indent="0">
              <a:lnSpc>
                <a:spcPct val="150000"/>
              </a:lnSpc>
              <a:buNone/>
            </a:pPr>
            <a:r>
              <a:rPr lang="zh-CN" altLang="en-US" sz="1600" kern="0" dirty="0">
                <a:solidFill>
                  <a:schemeClr val="tx1"/>
                </a:solidFill>
              </a:rPr>
              <a:t>例如：</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 fibs=(0,1,1,2,3,5,8,13)       #</a:t>
            </a:r>
            <a:r>
              <a:rPr lang="zh-CN" altLang="en-US" sz="1600" kern="0" dirty="0">
                <a:solidFill>
                  <a:schemeClr val="tx1"/>
                </a:solidFill>
              </a:rPr>
              <a:t>创建一个斐波那契元组序列</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 </a:t>
            </a:r>
            <a:r>
              <a:rPr lang="en-US" altLang="zh-CN" sz="1600" kern="0" dirty="0" err="1">
                <a:solidFill>
                  <a:schemeClr val="tx1"/>
                </a:solidFill>
              </a:rPr>
              <a:t>stu</a:t>
            </a:r>
            <a:r>
              <a:rPr lang="en-US" altLang="zh-CN" sz="1600" kern="0" dirty="0">
                <a:solidFill>
                  <a:schemeClr val="tx1"/>
                </a:solidFill>
              </a:rPr>
              <a:t>=(('Daisy',190101),('Tidy',190102),('linda',190103))</a:t>
            </a:r>
          </a:p>
          <a:p>
            <a:pPr marL="0" indent="0">
              <a:lnSpc>
                <a:spcPct val="150000"/>
              </a:lnSpc>
              <a:buNone/>
            </a:pPr>
            <a:r>
              <a:rPr lang="en-US" altLang="zh-CN" sz="1600" kern="0" dirty="0">
                <a:solidFill>
                  <a:schemeClr val="tx1"/>
                </a:solidFill>
              </a:rPr>
              <a:t>&gt;&gt;&gt; xl=()            #</a:t>
            </a:r>
            <a:r>
              <a:rPr lang="zh-CN" altLang="en-US" sz="1600" kern="0" dirty="0">
                <a:solidFill>
                  <a:schemeClr val="tx1"/>
                </a:solidFill>
              </a:rPr>
              <a:t>新建一个空元组</a:t>
            </a:r>
            <a:endParaRPr lang="en-US" altLang="zh-CN" sz="1600" kern="0" dirty="0">
              <a:solidFill>
                <a:schemeClr val="tx1"/>
              </a:solidFill>
            </a:endParaRPr>
          </a:p>
          <a:p>
            <a:pPr marL="0" indent="0">
              <a:lnSpc>
                <a:spcPct val="150000"/>
              </a:lnSpc>
              <a:buNone/>
            </a:pPr>
            <a:r>
              <a:rPr lang="zh-CN" altLang="en-US" sz="1600" kern="0" dirty="0">
                <a:solidFill>
                  <a:schemeClr val="tx1"/>
                </a:solidFill>
              </a:rPr>
              <a:t>应用：</a:t>
            </a:r>
            <a:endParaRPr lang="en-US" altLang="zh-CN" sz="1600" kern="0" dirty="0">
              <a:solidFill>
                <a:schemeClr val="tx1"/>
              </a:solidFill>
            </a:endParaRPr>
          </a:p>
          <a:p>
            <a:pPr marL="0" indent="0">
              <a:lnSpc>
                <a:spcPct val="150000"/>
              </a:lnSpc>
              <a:buNone/>
            </a:pPr>
            <a:r>
              <a:rPr lang="en-US" altLang="zh-CN" sz="1600" kern="0" dirty="0">
                <a:solidFill>
                  <a:schemeClr val="tx1"/>
                </a:solidFill>
              </a:rPr>
              <a:t>(1)</a:t>
            </a:r>
            <a:r>
              <a:rPr lang="zh-CN" altLang="en-US" sz="1600" kern="0" dirty="0">
                <a:solidFill>
                  <a:schemeClr val="tx1"/>
                </a:solidFill>
              </a:rPr>
              <a:t> 多变量同时赋值：</a:t>
            </a:r>
            <a:r>
              <a:rPr lang="en-US" altLang="zh-CN" sz="1600" kern="0" dirty="0">
                <a:solidFill>
                  <a:schemeClr val="tx1"/>
                </a:solidFill>
              </a:rPr>
              <a:t>&gt;&gt;&gt;</a:t>
            </a:r>
            <a:r>
              <a:rPr lang="en-US" altLang="zh-CN" sz="1600" kern="0" dirty="0" err="1">
                <a:solidFill>
                  <a:schemeClr val="tx1"/>
                </a:solidFill>
              </a:rPr>
              <a:t>x,y,z</a:t>
            </a:r>
            <a:r>
              <a:rPr lang="en-US" altLang="zh-CN" sz="1600" kern="0" dirty="0">
                <a:solidFill>
                  <a:schemeClr val="tx1"/>
                </a:solidFill>
              </a:rPr>
              <a:t>=(1,2,3)</a:t>
            </a:r>
          </a:p>
          <a:p>
            <a:pPr marL="0" indent="0">
              <a:lnSpc>
                <a:spcPct val="150000"/>
              </a:lnSpc>
              <a:buNone/>
            </a:pPr>
            <a:r>
              <a:rPr lang="en-US" altLang="zh-CN" sz="1600" kern="0" dirty="0">
                <a:solidFill>
                  <a:schemeClr val="tx1"/>
                </a:solidFill>
              </a:rPr>
              <a:t>(2) </a:t>
            </a:r>
            <a:r>
              <a:rPr lang="zh-CN" altLang="en-US" sz="1600" kern="0" dirty="0">
                <a:solidFill>
                  <a:schemeClr val="tx1"/>
                </a:solidFill>
              </a:rPr>
              <a:t>变量值交换： </a:t>
            </a:r>
            <a:r>
              <a:rPr lang="en-US" altLang="zh-CN" sz="1600" kern="0" dirty="0" err="1">
                <a:solidFill>
                  <a:schemeClr val="tx1"/>
                </a:solidFill>
              </a:rPr>
              <a:t>x,y</a:t>
            </a:r>
            <a:r>
              <a:rPr lang="en-US" altLang="zh-CN" sz="1600" kern="0" dirty="0">
                <a:solidFill>
                  <a:schemeClr val="tx1"/>
                </a:solidFill>
              </a:rPr>
              <a:t>=</a:t>
            </a:r>
            <a:r>
              <a:rPr lang="en-US" altLang="zh-CN" sz="1600" kern="0" dirty="0" err="1">
                <a:solidFill>
                  <a:schemeClr val="tx1"/>
                </a:solidFill>
              </a:rPr>
              <a:t>y,x</a:t>
            </a:r>
            <a:endParaRPr lang="en-US" altLang="zh-CN" sz="1600" kern="0" dirty="0">
              <a:solidFill>
                <a:schemeClr val="tx1"/>
              </a:solidFill>
            </a:endParaRPr>
          </a:p>
          <a:p>
            <a:pPr marL="0" indent="0">
              <a:lnSpc>
                <a:spcPct val="150000"/>
              </a:lnSpc>
              <a:buNone/>
            </a:pPr>
            <a:r>
              <a:rPr lang="en-US" altLang="zh-CN" sz="1600" kern="0" dirty="0">
                <a:solidFill>
                  <a:schemeClr val="tx1"/>
                </a:solidFill>
              </a:rPr>
              <a:t>(3) </a:t>
            </a:r>
            <a:r>
              <a:rPr lang="zh-CN" altLang="en-US" sz="1600" kern="0" dirty="0">
                <a:solidFill>
                  <a:schemeClr val="tx1"/>
                </a:solidFill>
              </a:rPr>
              <a:t>格式化输出元素：</a:t>
            </a:r>
            <a:r>
              <a:rPr lang="en-US" altLang="zh-CN" sz="1600" kern="0" dirty="0">
                <a:solidFill>
                  <a:schemeClr val="tx1"/>
                </a:solidFill>
              </a:rPr>
              <a:t>print(“x=%</a:t>
            </a:r>
            <a:r>
              <a:rPr lang="en-US" altLang="zh-CN" sz="1600" kern="0" dirty="0" err="1">
                <a:solidFill>
                  <a:schemeClr val="tx1"/>
                </a:solidFill>
              </a:rPr>
              <a:t>d,y</a:t>
            </a:r>
            <a:r>
              <a:rPr lang="en-US" altLang="zh-CN" sz="1600" kern="0" dirty="0">
                <a:solidFill>
                  <a:schemeClr val="tx1"/>
                </a:solidFill>
              </a:rPr>
              <a:t>=%d”%(</a:t>
            </a:r>
            <a:r>
              <a:rPr lang="en-US" altLang="zh-CN" sz="1600" kern="0" dirty="0" err="1">
                <a:solidFill>
                  <a:schemeClr val="tx1"/>
                </a:solidFill>
              </a:rPr>
              <a:t>x,y</a:t>
            </a:r>
            <a:r>
              <a:rPr lang="en-US" altLang="zh-CN" sz="1600" kern="0" dirty="0">
                <a:solidFill>
                  <a:schemeClr val="tx1"/>
                </a:solidFill>
              </a:rPr>
              <a:t>))</a:t>
            </a:r>
          </a:p>
          <a:p>
            <a:pPr marL="0" indent="0">
              <a:lnSpc>
                <a:spcPct val="150000"/>
              </a:lnSpc>
              <a:buNone/>
            </a:pPr>
            <a:r>
              <a:rPr lang="en-US" altLang="zh-CN" sz="1600" kern="0" dirty="0">
                <a:solidFill>
                  <a:schemeClr val="tx1"/>
                </a:solidFill>
              </a:rPr>
              <a:t>(4) </a:t>
            </a:r>
            <a:r>
              <a:rPr lang="zh-CN" altLang="en-US" sz="1600" kern="0" dirty="0">
                <a:solidFill>
                  <a:schemeClr val="tx1"/>
                </a:solidFill>
              </a:rPr>
              <a:t>函数返回多个值： </a:t>
            </a:r>
            <a:r>
              <a:rPr lang="en-US" altLang="zh-CN" sz="1600" kern="0" dirty="0">
                <a:solidFill>
                  <a:schemeClr val="tx1"/>
                </a:solidFill>
              </a:rPr>
              <a:t>return  x**2,x**(1/2)</a:t>
            </a:r>
          </a:p>
        </p:txBody>
      </p:sp>
    </p:spTree>
    <p:extLst>
      <p:ext uri="{BB962C8B-B14F-4D97-AF65-F5344CB8AC3E}">
        <p14:creationId xmlns:p14="http://schemas.microsoft.com/office/powerpoint/2010/main" val="19647882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0850" y="267494"/>
            <a:ext cx="8275638" cy="488156"/>
          </a:xfrm>
        </p:spPr>
        <p:txBody>
          <a:bodyPr/>
          <a:lstStyle/>
          <a:p>
            <a:r>
              <a:rPr lang="en-US" altLang="zh-CN" sz="2000" dirty="0"/>
              <a:t>3</a:t>
            </a:r>
            <a:r>
              <a:rPr lang="zh-CN" altLang="en-US" sz="2000" dirty="0"/>
              <a:t>、集合（</a:t>
            </a:r>
            <a:r>
              <a:rPr lang="en-US" altLang="zh-CN" sz="2000" dirty="0"/>
              <a:t>set</a:t>
            </a:r>
            <a:r>
              <a:rPr lang="zh-CN" altLang="en-US" sz="2000" dirty="0"/>
              <a:t>）</a:t>
            </a:r>
          </a:p>
        </p:txBody>
      </p:sp>
      <p:sp>
        <p:nvSpPr>
          <p:cNvPr id="4" name="内容占位符 2"/>
          <p:cNvSpPr txBox="1">
            <a:spLocks/>
          </p:cNvSpPr>
          <p:nvPr/>
        </p:nvSpPr>
        <p:spPr bwMode="auto">
          <a:xfrm>
            <a:off x="539552" y="843558"/>
            <a:ext cx="8293100" cy="388843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ts val="600"/>
              </a:spcBef>
              <a:spcAft>
                <a:spcPct val="0"/>
              </a:spcAft>
              <a:buClr>
                <a:schemeClr val="hlink"/>
              </a:buClr>
              <a:buChar char="•"/>
              <a:defRPr sz="2400" b="0">
                <a:solidFill>
                  <a:srgbClr val="000096"/>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lnSpc>
                <a:spcPct val="110000"/>
              </a:lnSpc>
              <a:spcBef>
                <a:spcPts val="600"/>
              </a:spcBef>
              <a:spcAft>
                <a:spcPct val="0"/>
              </a:spcAft>
              <a:buClr>
                <a:srgbClr val="FF9900"/>
              </a:buClr>
              <a:buChar char="•"/>
              <a:defRPr sz="22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lnSpc>
                <a:spcPct val="110000"/>
              </a:lnSpc>
              <a:spcBef>
                <a:spcPts val="600"/>
              </a:spcBef>
              <a:spcAft>
                <a:spcPct val="0"/>
              </a:spcAft>
              <a:buClr>
                <a:schemeClr val="hlink"/>
              </a:buClr>
              <a:buChar char="•"/>
              <a:defRPr>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lnSpc>
                <a:spcPct val="110000"/>
              </a:lnSpc>
              <a:spcBef>
                <a:spcPts val="600"/>
              </a:spcBef>
              <a:spcAft>
                <a:spcPct val="0"/>
              </a:spcAft>
              <a:buClr>
                <a:srgbClr val="FF9900"/>
              </a:buClr>
              <a:buChar char="•"/>
              <a:defRPr sz="16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lnSpc>
                <a:spcPct val="110000"/>
              </a:lnSpc>
              <a:spcBef>
                <a:spcPts val="600"/>
              </a:spcBef>
              <a:spcAft>
                <a:spcPct val="0"/>
              </a:spcAft>
              <a:buClr>
                <a:schemeClr val="hlink"/>
              </a:buClr>
              <a:buChar char="•"/>
              <a:defRPr sz="2000">
                <a:solidFill>
                  <a:srgbClr val="5F5F5F"/>
                </a:solidFill>
                <a:latin typeface="微软雅黑" panose="020B0503020204020204" pitchFamily="34" charset="-122"/>
                <a:ea typeface="微软雅黑" panose="020B0503020204020204" pitchFamily="34" charset="-122"/>
              </a:defRPr>
            </a:lvl5pPr>
            <a:lvl6pPr marL="25146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6pPr>
            <a:lvl7pPr marL="29718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7pPr>
            <a:lvl8pPr marL="34290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8pPr>
            <a:lvl9pPr marL="38862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9pPr>
          </a:lstStyle>
          <a:p>
            <a:pPr marL="0" indent="0">
              <a:lnSpc>
                <a:spcPct val="150000"/>
              </a:lnSpc>
              <a:buNone/>
            </a:pPr>
            <a:r>
              <a:rPr lang="zh-CN" altLang="en-US" sz="2000" kern="0" dirty="0">
                <a:solidFill>
                  <a:schemeClr val="tx1"/>
                </a:solidFill>
              </a:rPr>
              <a:t>集合：</a:t>
            </a:r>
            <a:r>
              <a:rPr lang="zh-CN" altLang="en-US" sz="2000" kern="0" dirty="0">
                <a:solidFill>
                  <a:srgbClr val="C00000"/>
                </a:solidFill>
              </a:rPr>
              <a:t>无序且不包含重复元素</a:t>
            </a:r>
            <a:r>
              <a:rPr lang="zh-CN" altLang="en-US" sz="2000" kern="0" dirty="0">
                <a:solidFill>
                  <a:schemeClr val="tx1"/>
                </a:solidFill>
              </a:rPr>
              <a:t>，用于消除重复项和进行成员关系测试。</a:t>
            </a:r>
            <a:endParaRPr lang="en-US" altLang="zh-CN" sz="2000" kern="0" dirty="0">
              <a:solidFill>
                <a:schemeClr val="tx1"/>
              </a:solidFill>
            </a:endParaRPr>
          </a:p>
          <a:p>
            <a:pPr marL="0" indent="0">
              <a:lnSpc>
                <a:spcPct val="150000"/>
              </a:lnSpc>
              <a:buNone/>
            </a:pPr>
            <a:r>
              <a:rPr lang="zh-CN" altLang="en-US" sz="1600" kern="0" dirty="0">
                <a:solidFill>
                  <a:schemeClr val="tx1"/>
                </a:solidFill>
              </a:rPr>
              <a:t>例如：</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 a={ }          #</a:t>
            </a:r>
            <a:r>
              <a:rPr lang="zh-CN" altLang="en-US" sz="1600" kern="0" dirty="0">
                <a:solidFill>
                  <a:schemeClr val="tx1"/>
                </a:solidFill>
              </a:rPr>
              <a:t>创建的是一个空的字典</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 b=set( )     #</a:t>
            </a:r>
            <a:r>
              <a:rPr lang="zh-CN" altLang="en-US" sz="1600" kern="0" dirty="0">
                <a:solidFill>
                  <a:schemeClr val="tx1"/>
                </a:solidFill>
              </a:rPr>
              <a:t>创建一个空的集合</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 c=set('hello')  #</a:t>
            </a:r>
            <a:r>
              <a:rPr lang="zh-CN" altLang="en-US" sz="1600" kern="0" dirty="0">
                <a:solidFill>
                  <a:schemeClr val="tx1"/>
                </a:solidFill>
              </a:rPr>
              <a:t>输出</a:t>
            </a:r>
            <a:r>
              <a:rPr lang="en-US" altLang="zh-CN" sz="1600" kern="0" dirty="0">
                <a:solidFill>
                  <a:schemeClr val="tx1"/>
                </a:solidFill>
              </a:rPr>
              <a:t> {'e', 'h', 'l', 'o'}</a:t>
            </a:r>
          </a:p>
          <a:p>
            <a:pPr marL="0" indent="0">
              <a:lnSpc>
                <a:spcPct val="150000"/>
              </a:lnSpc>
              <a:buNone/>
            </a:pPr>
            <a:r>
              <a:rPr lang="en-US" altLang="zh-CN" sz="1600" kern="0" dirty="0">
                <a:solidFill>
                  <a:schemeClr val="tx1"/>
                </a:solidFill>
              </a:rPr>
              <a:t>&gt;&gt;&gt; </a:t>
            </a:r>
            <a:r>
              <a:rPr lang="en-US" altLang="zh-CN" sz="1600" kern="0" dirty="0" err="1">
                <a:solidFill>
                  <a:schemeClr val="tx1"/>
                </a:solidFill>
              </a:rPr>
              <a:t>lb</a:t>
            </a:r>
            <a:r>
              <a:rPr lang="en-US" altLang="zh-CN" sz="1600" kern="0" dirty="0">
                <a:solidFill>
                  <a:schemeClr val="tx1"/>
                </a:solidFill>
              </a:rPr>
              <a:t>=[1,2,3,4,3,2,1]</a:t>
            </a:r>
          </a:p>
          <a:p>
            <a:pPr marL="0" indent="0">
              <a:lnSpc>
                <a:spcPct val="150000"/>
              </a:lnSpc>
              <a:buNone/>
            </a:pPr>
            <a:r>
              <a:rPr lang="en-US" altLang="zh-CN" sz="1600" kern="0" dirty="0">
                <a:solidFill>
                  <a:schemeClr val="tx1"/>
                </a:solidFill>
              </a:rPr>
              <a:t>&gt;&gt;&gt;</a:t>
            </a:r>
            <a:r>
              <a:rPr lang="en-US" altLang="zh-CN" sz="1600" kern="0" dirty="0" err="1">
                <a:solidFill>
                  <a:schemeClr val="tx1"/>
                </a:solidFill>
              </a:rPr>
              <a:t>lbs</a:t>
            </a:r>
            <a:r>
              <a:rPr lang="en-US" altLang="zh-CN" sz="1600" kern="0" dirty="0">
                <a:solidFill>
                  <a:schemeClr val="tx1"/>
                </a:solidFill>
              </a:rPr>
              <a:t>=set(</a:t>
            </a:r>
            <a:r>
              <a:rPr lang="en-US" altLang="zh-CN" sz="1600" kern="0" dirty="0" err="1">
                <a:solidFill>
                  <a:schemeClr val="tx1"/>
                </a:solidFill>
              </a:rPr>
              <a:t>lb</a:t>
            </a:r>
            <a:r>
              <a:rPr lang="en-US" altLang="zh-CN" sz="1600" kern="0" dirty="0">
                <a:solidFill>
                  <a:schemeClr val="tx1"/>
                </a:solidFill>
              </a:rPr>
              <a:t>)     #</a:t>
            </a:r>
            <a:r>
              <a:rPr lang="zh-CN" altLang="en-US" sz="1600" kern="0" dirty="0">
                <a:solidFill>
                  <a:schemeClr val="tx1"/>
                </a:solidFill>
              </a:rPr>
              <a:t>输出</a:t>
            </a:r>
            <a:r>
              <a:rPr lang="en-US" altLang="zh-CN" sz="1600" kern="0" dirty="0">
                <a:solidFill>
                  <a:schemeClr val="tx1"/>
                </a:solidFill>
              </a:rPr>
              <a:t> {1, 2, 3, 4}</a:t>
            </a:r>
            <a:r>
              <a:rPr lang="zh-CN" altLang="en-US" sz="1600" kern="0" dirty="0">
                <a:solidFill>
                  <a:schemeClr val="tx1"/>
                </a:solidFill>
              </a:rPr>
              <a:t>，过滤重复项</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a:t>
            </a:r>
            <a:r>
              <a:rPr lang="en-US" altLang="zh-CN" sz="1600" kern="0" dirty="0" err="1">
                <a:solidFill>
                  <a:schemeClr val="tx1"/>
                </a:solidFill>
              </a:rPr>
              <a:t>lbt</a:t>
            </a:r>
            <a:r>
              <a:rPr lang="en-US" altLang="zh-CN" sz="1600" kern="0" dirty="0">
                <a:solidFill>
                  <a:schemeClr val="tx1"/>
                </a:solidFill>
              </a:rPr>
              <a:t>=list(</a:t>
            </a:r>
            <a:r>
              <a:rPr lang="en-US" altLang="zh-CN" sz="1600" kern="0" dirty="0" err="1">
                <a:solidFill>
                  <a:schemeClr val="tx1"/>
                </a:solidFill>
              </a:rPr>
              <a:t>lbs</a:t>
            </a:r>
            <a:r>
              <a:rPr lang="en-US" altLang="zh-CN" sz="1600" kern="0" dirty="0">
                <a:solidFill>
                  <a:schemeClr val="tx1"/>
                </a:solidFill>
              </a:rPr>
              <a:t>)    #</a:t>
            </a:r>
            <a:r>
              <a:rPr lang="zh-CN" altLang="en-US" sz="1600" kern="0" dirty="0">
                <a:solidFill>
                  <a:schemeClr val="tx1"/>
                </a:solidFill>
              </a:rPr>
              <a:t>输出</a:t>
            </a:r>
            <a:r>
              <a:rPr lang="en-US" altLang="zh-CN" sz="1600" kern="0" dirty="0">
                <a:solidFill>
                  <a:schemeClr val="tx1"/>
                </a:solidFill>
              </a:rPr>
              <a:t> [1, 2, 3, 4]</a:t>
            </a:r>
          </a:p>
          <a:p>
            <a:pPr marL="0" indent="0">
              <a:lnSpc>
                <a:spcPct val="150000"/>
              </a:lnSpc>
              <a:buNone/>
            </a:pPr>
            <a:endParaRPr lang="en-US" altLang="zh-CN" sz="1600" kern="0" dirty="0">
              <a:solidFill>
                <a:schemeClr val="tx1"/>
              </a:solidFill>
            </a:endParaRPr>
          </a:p>
        </p:txBody>
      </p:sp>
    </p:spTree>
    <p:extLst>
      <p:ext uri="{BB962C8B-B14F-4D97-AF65-F5344CB8AC3E}">
        <p14:creationId xmlns:p14="http://schemas.microsoft.com/office/powerpoint/2010/main" val="5013909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0850" y="267494"/>
            <a:ext cx="8275638" cy="488156"/>
          </a:xfrm>
        </p:spPr>
        <p:txBody>
          <a:bodyPr/>
          <a:lstStyle/>
          <a:p>
            <a:r>
              <a:rPr lang="en-US" altLang="zh-CN" sz="2000" dirty="0"/>
              <a:t>4</a:t>
            </a:r>
            <a:r>
              <a:rPr lang="zh-CN" altLang="en-US" sz="2000" dirty="0"/>
              <a:t>、字典（</a:t>
            </a:r>
            <a:r>
              <a:rPr lang="en-US" altLang="zh-CN" sz="2000" dirty="0" err="1"/>
              <a:t>dict</a:t>
            </a:r>
            <a:r>
              <a:rPr lang="zh-CN" altLang="en-US" sz="2000" dirty="0"/>
              <a:t>）</a:t>
            </a:r>
          </a:p>
        </p:txBody>
      </p:sp>
      <p:sp>
        <p:nvSpPr>
          <p:cNvPr id="4" name="内容占位符 2"/>
          <p:cNvSpPr txBox="1">
            <a:spLocks/>
          </p:cNvSpPr>
          <p:nvPr/>
        </p:nvSpPr>
        <p:spPr bwMode="auto">
          <a:xfrm>
            <a:off x="539552" y="843558"/>
            <a:ext cx="8293100" cy="388843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ts val="600"/>
              </a:spcBef>
              <a:spcAft>
                <a:spcPct val="0"/>
              </a:spcAft>
              <a:buClr>
                <a:schemeClr val="hlink"/>
              </a:buClr>
              <a:buChar char="•"/>
              <a:defRPr sz="2400" b="0">
                <a:solidFill>
                  <a:srgbClr val="000096"/>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lnSpc>
                <a:spcPct val="110000"/>
              </a:lnSpc>
              <a:spcBef>
                <a:spcPts val="600"/>
              </a:spcBef>
              <a:spcAft>
                <a:spcPct val="0"/>
              </a:spcAft>
              <a:buClr>
                <a:srgbClr val="FF9900"/>
              </a:buClr>
              <a:buChar char="•"/>
              <a:defRPr sz="22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lnSpc>
                <a:spcPct val="110000"/>
              </a:lnSpc>
              <a:spcBef>
                <a:spcPts val="600"/>
              </a:spcBef>
              <a:spcAft>
                <a:spcPct val="0"/>
              </a:spcAft>
              <a:buClr>
                <a:schemeClr val="hlink"/>
              </a:buClr>
              <a:buChar char="•"/>
              <a:defRPr>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lnSpc>
                <a:spcPct val="110000"/>
              </a:lnSpc>
              <a:spcBef>
                <a:spcPts val="600"/>
              </a:spcBef>
              <a:spcAft>
                <a:spcPct val="0"/>
              </a:spcAft>
              <a:buClr>
                <a:srgbClr val="FF9900"/>
              </a:buClr>
              <a:buChar char="•"/>
              <a:defRPr sz="16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lnSpc>
                <a:spcPct val="110000"/>
              </a:lnSpc>
              <a:spcBef>
                <a:spcPts val="600"/>
              </a:spcBef>
              <a:spcAft>
                <a:spcPct val="0"/>
              </a:spcAft>
              <a:buClr>
                <a:schemeClr val="hlink"/>
              </a:buClr>
              <a:buChar char="•"/>
              <a:defRPr sz="2000">
                <a:solidFill>
                  <a:srgbClr val="5F5F5F"/>
                </a:solidFill>
                <a:latin typeface="微软雅黑" panose="020B0503020204020204" pitchFamily="34" charset="-122"/>
                <a:ea typeface="微软雅黑" panose="020B0503020204020204" pitchFamily="34" charset="-122"/>
              </a:defRPr>
            </a:lvl5pPr>
            <a:lvl6pPr marL="25146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6pPr>
            <a:lvl7pPr marL="29718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7pPr>
            <a:lvl8pPr marL="34290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8pPr>
            <a:lvl9pPr marL="38862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9pPr>
          </a:lstStyle>
          <a:p>
            <a:pPr marL="0" indent="0">
              <a:lnSpc>
                <a:spcPct val="150000"/>
              </a:lnSpc>
              <a:buNone/>
            </a:pPr>
            <a:r>
              <a:rPr lang="zh-CN" altLang="en-US" sz="2000" kern="0" dirty="0">
                <a:solidFill>
                  <a:schemeClr val="tx1"/>
                </a:solidFill>
              </a:rPr>
              <a:t>字典：存储的是</a:t>
            </a:r>
            <a:r>
              <a:rPr lang="zh-CN" altLang="en-US" sz="2000" b="1" kern="0" dirty="0">
                <a:solidFill>
                  <a:srgbClr val="00B050"/>
                </a:solidFill>
              </a:rPr>
              <a:t>键值对</a:t>
            </a:r>
            <a:r>
              <a:rPr lang="zh-CN" altLang="en-US" sz="2000" kern="0" dirty="0">
                <a:solidFill>
                  <a:schemeClr val="tx1"/>
                </a:solidFill>
              </a:rPr>
              <a:t>，属于映射类型，通过键访问其对应的值。</a:t>
            </a:r>
            <a:endParaRPr lang="en-US" altLang="zh-CN" sz="2000" kern="0" dirty="0">
              <a:solidFill>
                <a:schemeClr val="tx1"/>
              </a:solidFill>
            </a:endParaRPr>
          </a:p>
          <a:p>
            <a:pPr marL="0" indent="0">
              <a:lnSpc>
                <a:spcPct val="150000"/>
              </a:lnSpc>
              <a:buNone/>
            </a:pPr>
            <a:r>
              <a:rPr lang="en-US" altLang="zh-CN" sz="1600" kern="0" dirty="0">
                <a:solidFill>
                  <a:schemeClr val="tx1"/>
                </a:solidFill>
              </a:rPr>
              <a:t>             </a:t>
            </a:r>
            <a:r>
              <a:rPr lang="zh-CN" altLang="en-US" sz="1600" kern="0" dirty="0">
                <a:solidFill>
                  <a:schemeClr val="tx1"/>
                </a:solidFill>
              </a:rPr>
              <a:t>字典也属于无序型数据，不能通过索引访问，只能通过键访问，键必须唯一。</a:t>
            </a:r>
            <a:endParaRPr lang="en-US" altLang="zh-CN" sz="1600" kern="0" dirty="0">
              <a:solidFill>
                <a:schemeClr val="tx1"/>
              </a:solidFill>
            </a:endParaRPr>
          </a:p>
          <a:p>
            <a:pPr marL="0" indent="0">
              <a:lnSpc>
                <a:spcPct val="150000"/>
              </a:lnSpc>
              <a:buNone/>
            </a:pPr>
            <a:r>
              <a:rPr lang="zh-CN" altLang="en-US" sz="1600" kern="0" dirty="0">
                <a:solidFill>
                  <a:schemeClr val="tx1"/>
                </a:solidFill>
              </a:rPr>
              <a:t>例如：</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 workday={1:‘Mon’,2:‘Tue’,3:‘Wen’,4:‘Thu’,5:‘Fri’}    #</a:t>
            </a:r>
            <a:r>
              <a:rPr lang="zh-CN" altLang="en-US" sz="1600" kern="0" dirty="0">
                <a:solidFill>
                  <a:schemeClr val="tx1"/>
                </a:solidFill>
              </a:rPr>
              <a:t>创建字典</a:t>
            </a:r>
            <a:endParaRPr lang="en-US" altLang="zh-CN" sz="1600" kern="0" dirty="0">
              <a:solidFill>
                <a:schemeClr val="tx1"/>
              </a:solidFill>
            </a:endParaRPr>
          </a:p>
          <a:p>
            <a:pPr marL="0" indent="0">
              <a:lnSpc>
                <a:spcPct val="150000"/>
              </a:lnSpc>
              <a:buNone/>
            </a:pPr>
            <a:r>
              <a:rPr lang="en-US" altLang="zh-CN" sz="1600" kern="0" dirty="0">
                <a:solidFill>
                  <a:schemeClr val="tx1"/>
                </a:solidFill>
              </a:rPr>
              <a:t>&gt;&gt;&gt; workday[2]       #</a:t>
            </a:r>
            <a:r>
              <a:rPr lang="zh-CN" altLang="en-US" sz="1600" kern="0" dirty="0">
                <a:solidFill>
                  <a:schemeClr val="tx1"/>
                </a:solidFill>
              </a:rPr>
              <a:t>输出</a:t>
            </a:r>
            <a:r>
              <a:rPr lang="en-US" altLang="zh-CN" sz="1600" kern="0" dirty="0">
                <a:solidFill>
                  <a:schemeClr val="tx1"/>
                </a:solidFill>
              </a:rPr>
              <a:t>Tue</a:t>
            </a:r>
          </a:p>
          <a:p>
            <a:pPr marL="0" indent="0">
              <a:lnSpc>
                <a:spcPct val="150000"/>
              </a:lnSpc>
              <a:buNone/>
            </a:pPr>
            <a:r>
              <a:rPr lang="en-US" altLang="zh-CN" sz="1600" kern="0" dirty="0">
                <a:solidFill>
                  <a:schemeClr val="tx1"/>
                </a:solidFill>
              </a:rPr>
              <a:t>&gt;&gt;&gt; </a:t>
            </a:r>
            <a:r>
              <a:rPr lang="en-US" altLang="zh-CN" sz="1600" kern="0" dirty="0" err="1">
                <a:solidFill>
                  <a:schemeClr val="tx1"/>
                </a:solidFill>
              </a:rPr>
              <a:t>tt</a:t>
            </a:r>
            <a:r>
              <a:rPr lang="en-US" altLang="zh-CN" sz="1600" kern="0" dirty="0">
                <a:solidFill>
                  <a:schemeClr val="tx1"/>
                </a:solidFill>
              </a:rPr>
              <a:t>=</a:t>
            </a:r>
            <a:r>
              <a:rPr lang="en-US" altLang="zh-CN" sz="1600" kern="0" dirty="0" err="1">
                <a:solidFill>
                  <a:schemeClr val="tx1"/>
                </a:solidFill>
              </a:rPr>
              <a:t>dict</a:t>
            </a:r>
            <a:r>
              <a:rPr lang="en-US" altLang="zh-CN" sz="1600" kern="0" dirty="0">
                <a:solidFill>
                  <a:schemeClr val="tx1"/>
                </a:solidFill>
              </a:rPr>
              <a:t>(a1=‘you’,a2=‘me’,a3=‘us’)    </a:t>
            </a:r>
          </a:p>
          <a:p>
            <a:pPr marL="0" indent="0">
              <a:lnSpc>
                <a:spcPct val="150000"/>
              </a:lnSpc>
              <a:buNone/>
            </a:pPr>
            <a:r>
              <a:rPr lang="en-US" altLang="zh-CN" sz="1600" kern="0" dirty="0">
                <a:solidFill>
                  <a:schemeClr val="tx1"/>
                </a:solidFill>
              </a:rPr>
              <a:t>         #</a:t>
            </a:r>
            <a:r>
              <a:rPr lang="zh-CN" altLang="en-US" sz="1600" kern="0" dirty="0">
                <a:solidFill>
                  <a:schemeClr val="tx1"/>
                </a:solidFill>
              </a:rPr>
              <a:t>不能写成</a:t>
            </a:r>
            <a:r>
              <a:rPr lang="en-US" altLang="zh-CN" sz="1600" kern="0" dirty="0" err="1">
                <a:solidFill>
                  <a:schemeClr val="tx1"/>
                </a:solidFill>
              </a:rPr>
              <a:t>tt</a:t>
            </a:r>
            <a:r>
              <a:rPr lang="en-US" altLang="zh-CN" sz="1600" kern="0" dirty="0">
                <a:solidFill>
                  <a:schemeClr val="tx1"/>
                </a:solidFill>
              </a:rPr>
              <a:t>=</a:t>
            </a:r>
            <a:r>
              <a:rPr lang="en-US" altLang="zh-CN" sz="1600" kern="0" dirty="0" err="1">
                <a:solidFill>
                  <a:schemeClr val="tx1"/>
                </a:solidFill>
              </a:rPr>
              <a:t>dict</a:t>
            </a:r>
            <a:r>
              <a:rPr lang="en-US" altLang="zh-CN" sz="1600" kern="0" dirty="0">
                <a:solidFill>
                  <a:schemeClr val="tx1"/>
                </a:solidFill>
              </a:rPr>
              <a:t>(1=‘you’,2=‘me’,3=‘us’)   #</a:t>
            </a:r>
            <a:r>
              <a:rPr lang="zh-CN" altLang="en-US" sz="1600" b="1" kern="0" dirty="0">
                <a:solidFill>
                  <a:srgbClr val="FF0000"/>
                </a:solidFill>
              </a:rPr>
              <a:t>键必须是标识符</a:t>
            </a:r>
            <a:endParaRPr lang="en-US" altLang="zh-CN" sz="1600" b="1" kern="0" dirty="0">
              <a:solidFill>
                <a:srgbClr val="FF0000"/>
              </a:solidFill>
            </a:endParaRPr>
          </a:p>
        </p:txBody>
      </p:sp>
    </p:spTree>
    <p:extLst>
      <p:ext uri="{BB962C8B-B14F-4D97-AF65-F5344CB8AC3E}">
        <p14:creationId xmlns:p14="http://schemas.microsoft.com/office/powerpoint/2010/main" val="22540527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输入控制</a:t>
            </a:r>
          </a:p>
        </p:txBody>
      </p:sp>
      <p:sp>
        <p:nvSpPr>
          <p:cNvPr id="3" name="内容占位符 2"/>
          <p:cNvSpPr>
            <a:spLocks noGrp="1"/>
          </p:cNvSpPr>
          <p:nvPr>
            <p:ph idx="1"/>
          </p:nvPr>
        </p:nvSpPr>
        <p:spPr>
          <a:xfrm>
            <a:off x="450850" y="843558"/>
            <a:ext cx="8009582" cy="1584176"/>
          </a:xfrm>
        </p:spPr>
        <p:style>
          <a:lnRef idx="2">
            <a:schemeClr val="accent5"/>
          </a:lnRef>
          <a:fillRef idx="1">
            <a:schemeClr val="lt1"/>
          </a:fillRef>
          <a:effectRef idx="0">
            <a:schemeClr val="accent5"/>
          </a:effectRef>
          <a:fontRef idx="minor">
            <a:schemeClr val="dk1"/>
          </a:fontRef>
        </p:style>
        <p:txBody>
          <a:bodyPr/>
          <a:lstStyle/>
          <a:p>
            <a:pPr>
              <a:lnSpc>
                <a:spcPct val="150000"/>
              </a:lnSpc>
              <a:buFont typeface="Wingdings" panose="05000000000000000000" pitchFamily="2" charset="2"/>
              <a:buChar char="u"/>
            </a:pPr>
            <a:r>
              <a:rPr lang="en-US" altLang="zh-CN" b="1" dirty="0">
                <a:solidFill>
                  <a:srgbClr val="0070C0"/>
                </a:solidFill>
                <a:latin typeface="黑体" panose="02010609060101010101" pitchFamily="49" charset="-122"/>
                <a:ea typeface="黑体" panose="02010609060101010101" pitchFamily="49" charset="-122"/>
              </a:rPr>
              <a:t>input( )</a:t>
            </a:r>
            <a:r>
              <a:rPr lang="zh-CN" altLang="en-US" b="1" dirty="0">
                <a:solidFill>
                  <a:srgbClr val="0070C0"/>
                </a:solidFill>
                <a:latin typeface="黑体" panose="02010609060101010101" pitchFamily="49" charset="-122"/>
                <a:ea typeface="黑体" panose="02010609060101010101" pitchFamily="49" charset="-122"/>
              </a:rPr>
              <a:t>函数</a:t>
            </a:r>
            <a:endParaRPr lang="en-US" altLang="zh-CN" b="1" dirty="0">
              <a:solidFill>
                <a:srgbClr val="0070C0"/>
              </a:solidFill>
              <a:latin typeface="黑体" panose="02010609060101010101" pitchFamily="49" charset="-122"/>
              <a:ea typeface="黑体" panose="02010609060101010101" pitchFamily="49" charset="-122"/>
            </a:endParaRPr>
          </a:p>
          <a:p>
            <a:pPr marL="0" indent="0">
              <a:buNone/>
            </a:pPr>
            <a:r>
              <a:rPr lang="en-US" altLang="zh-CN" dirty="0"/>
              <a:t>    </a:t>
            </a:r>
            <a:r>
              <a:rPr lang="en-US" altLang="zh-CN" sz="2000" dirty="0">
                <a:solidFill>
                  <a:srgbClr val="0070C0"/>
                </a:solidFill>
              </a:rPr>
              <a:t>&lt;</a:t>
            </a:r>
            <a:r>
              <a:rPr lang="zh-CN" altLang="en-US" sz="2000" dirty="0">
                <a:solidFill>
                  <a:srgbClr val="0070C0"/>
                </a:solidFill>
              </a:rPr>
              <a:t>变量</a:t>
            </a:r>
            <a:r>
              <a:rPr lang="en-US" altLang="zh-CN" sz="2000" dirty="0">
                <a:solidFill>
                  <a:srgbClr val="0070C0"/>
                </a:solidFill>
              </a:rPr>
              <a:t>&gt;=input(“</a:t>
            </a:r>
            <a:r>
              <a:rPr lang="zh-CN" altLang="en-US" sz="2000" dirty="0">
                <a:solidFill>
                  <a:srgbClr val="0070C0"/>
                </a:solidFill>
              </a:rPr>
              <a:t>提示字符串</a:t>
            </a:r>
            <a:r>
              <a:rPr lang="en-US" altLang="zh-CN" sz="2000" dirty="0">
                <a:solidFill>
                  <a:srgbClr val="0070C0"/>
                </a:solidFill>
              </a:rPr>
              <a:t>”)</a:t>
            </a:r>
          </a:p>
          <a:p>
            <a:pPr marL="0" indent="0">
              <a:buNone/>
            </a:pPr>
            <a:r>
              <a:rPr lang="en-US" altLang="zh-CN" sz="2000" dirty="0"/>
              <a:t>     </a:t>
            </a:r>
            <a:r>
              <a:rPr lang="zh-CN" altLang="en-US" sz="2000" dirty="0">
                <a:solidFill>
                  <a:schemeClr val="tx1"/>
                </a:solidFill>
              </a:rPr>
              <a:t>返回的输入结果是</a:t>
            </a:r>
            <a:r>
              <a:rPr lang="zh-CN" altLang="en-US" sz="2000" b="1" dirty="0">
                <a:solidFill>
                  <a:srgbClr val="FF0000"/>
                </a:solidFill>
              </a:rPr>
              <a:t>字符串</a:t>
            </a:r>
            <a:endParaRPr lang="en-US" altLang="zh-CN" sz="2000" b="1" dirty="0">
              <a:solidFill>
                <a:srgbClr val="FF0000"/>
              </a:solidFill>
            </a:endParaRPr>
          </a:p>
        </p:txBody>
      </p:sp>
      <p:pic>
        <p:nvPicPr>
          <p:cNvPr id="7" name="图片 6"/>
          <p:cNvPicPr>
            <a:picLocks noChangeAspect="1"/>
          </p:cNvPicPr>
          <p:nvPr/>
        </p:nvPicPr>
        <p:blipFill>
          <a:blip r:embed="rId2"/>
          <a:stretch>
            <a:fillRect/>
          </a:stretch>
        </p:blipFill>
        <p:spPr>
          <a:xfrm>
            <a:off x="4795155" y="3867893"/>
            <a:ext cx="2657475" cy="809625"/>
          </a:xfrm>
          <a:prstGeom prst="rect">
            <a:avLst/>
          </a:prstGeom>
          <a:ln>
            <a:solidFill>
              <a:srgbClr val="FF0000"/>
            </a:solidFill>
          </a:ln>
        </p:spPr>
      </p:pic>
      <p:pic>
        <p:nvPicPr>
          <p:cNvPr id="8" name="图片 7"/>
          <p:cNvPicPr>
            <a:picLocks noChangeAspect="1"/>
          </p:cNvPicPr>
          <p:nvPr/>
        </p:nvPicPr>
        <p:blipFill>
          <a:blip r:embed="rId3"/>
          <a:stretch>
            <a:fillRect/>
          </a:stretch>
        </p:blipFill>
        <p:spPr>
          <a:xfrm>
            <a:off x="971600" y="3867894"/>
            <a:ext cx="2971800" cy="809625"/>
          </a:xfrm>
          <a:prstGeom prst="rect">
            <a:avLst/>
          </a:prstGeom>
          <a:ln>
            <a:solidFill>
              <a:srgbClr val="FF0000"/>
            </a:solidFill>
          </a:ln>
        </p:spPr>
      </p:pic>
      <p:sp>
        <p:nvSpPr>
          <p:cNvPr id="4" name="矩形 3"/>
          <p:cNvSpPr/>
          <p:nvPr/>
        </p:nvSpPr>
        <p:spPr>
          <a:xfrm>
            <a:off x="611560" y="2715766"/>
            <a:ext cx="7992888" cy="969496"/>
          </a:xfrm>
          <a:prstGeom prst="rect">
            <a:avLst/>
          </a:prstGeom>
        </p:spPr>
        <p:txBody>
          <a:bodyPr wrap="square">
            <a:spAutoFit/>
          </a:bodyPr>
          <a:lstStyle/>
          <a:p>
            <a:pPr marL="0" indent="0">
              <a:lnSpc>
                <a:spcPct val="150000"/>
              </a:lnSpc>
              <a:buNone/>
            </a:pPr>
            <a:r>
              <a:rPr lang="zh-CN" altLang="en-US" dirty="0"/>
              <a:t>例如 </a:t>
            </a:r>
            <a:r>
              <a:rPr lang="zh-CN" altLang="en-US" dirty="0">
                <a:cs typeface="Arial" panose="020B0604020202020204" pitchFamily="34" charset="0"/>
              </a:rPr>
              <a:t>：</a:t>
            </a:r>
            <a:r>
              <a:rPr lang="en-US" altLang="zh-CN" dirty="0">
                <a:cs typeface="Arial" panose="020B0604020202020204" pitchFamily="34" charset="0"/>
              </a:rPr>
              <a:t>x=input(‘x=’)              # x</a:t>
            </a:r>
            <a:r>
              <a:rPr lang="zh-CN" altLang="en-US" dirty="0">
                <a:cs typeface="Arial" panose="020B0604020202020204" pitchFamily="34" charset="0"/>
              </a:rPr>
              <a:t>保存的是字符串</a:t>
            </a:r>
            <a:endParaRPr lang="en-US" altLang="zh-CN" dirty="0">
              <a:cs typeface="Arial" panose="020B0604020202020204" pitchFamily="34" charset="0"/>
            </a:endParaRPr>
          </a:p>
          <a:p>
            <a:pPr marL="0" indent="0">
              <a:lnSpc>
                <a:spcPct val="150000"/>
              </a:lnSpc>
              <a:buNone/>
            </a:pPr>
            <a:r>
              <a:rPr lang="en-US" altLang="zh-CN" dirty="0">
                <a:cs typeface="Arial" panose="020B0604020202020204" pitchFamily="34" charset="0"/>
              </a:rPr>
              <a:t>           x=float(input (‘x=’))    # x</a:t>
            </a:r>
            <a:r>
              <a:rPr lang="zh-CN" altLang="en-US" dirty="0">
                <a:cs typeface="Arial" panose="020B0604020202020204" pitchFamily="34" charset="0"/>
              </a:rPr>
              <a:t>保存的是转换后的浮点数，若输入字符则报错</a:t>
            </a:r>
            <a:endParaRPr lang="en-US" altLang="zh-CN" sz="2000" dirty="0">
              <a:cs typeface="Arial" panose="020B0604020202020204" pitchFamily="34" charset="0"/>
            </a:endParaRPr>
          </a:p>
        </p:txBody>
      </p:sp>
    </p:spTree>
    <p:extLst>
      <p:ext uri="{BB962C8B-B14F-4D97-AF65-F5344CB8AC3E}">
        <p14:creationId xmlns:p14="http://schemas.microsoft.com/office/powerpoint/2010/main" val="41335007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560112" y="519485"/>
            <a:ext cx="7967752" cy="576064"/>
          </a:xfrm>
          <a:ln>
            <a:noFill/>
          </a:ln>
        </p:spPr>
        <p:txBody>
          <a:bodyPr/>
          <a:lstStyle/>
          <a:p>
            <a:pPr marL="0" indent="0">
              <a:lnSpc>
                <a:spcPct val="140000"/>
              </a:lnSpc>
              <a:spcBef>
                <a:spcPts val="0"/>
              </a:spcBef>
              <a:buNone/>
            </a:pPr>
            <a:r>
              <a:rPr kumimoji="1" lang="en-US" altLang="zh-CN" sz="2800" b="1" dirty="0" err="1">
                <a:solidFill>
                  <a:srgbClr val="0070C0"/>
                </a:solidFill>
                <a:latin typeface="微软雅黑" pitchFamily="34" charset="-122"/>
                <a:ea typeface="微软雅黑" pitchFamily="34" charset="-122"/>
                <a:cs typeface="Times New Roman" panose="02020603050405020304" pitchFamily="18" charset="0"/>
              </a:rPr>
              <a:t>eval</a:t>
            </a:r>
            <a:r>
              <a:rPr kumimoji="1" lang="zh-CN" altLang="en-US" sz="2800" b="1" dirty="0">
                <a:solidFill>
                  <a:srgbClr val="0070C0"/>
                </a:solidFill>
                <a:latin typeface="微软雅黑" pitchFamily="34" charset="-122"/>
                <a:ea typeface="微软雅黑" pitchFamily="34" charset="-122"/>
                <a:cs typeface="Times New Roman" panose="02020603050405020304" pitchFamily="18" charset="0"/>
              </a:rPr>
              <a:t>函数：</a:t>
            </a:r>
            <a:r>
              <a:rPr kumimoji="1" lang="zh-CN" altLang="en-US" sz="2800" b="1" dirty="0">
                <a:solidFill>
                  <a:srgbClr val="0070C0"/>
                </a:solidFill>
                <a:cs typeface="Times New Roman" panose="02020603050405020304" pitchFamily="18" charset="0"/>
              </a:rPr>
              <a:t>可</a:t>
            </a:r>
            <a:r>
              <a:rPr kumimoji="1" lang="zh-CN" altLang="en-US" sz="2800" b="1" dirty="0">
                <a:solidFill>
                  <a:srgbClr val="0070C0"/>
                </a:solidFill>
                <a:latin typeface="微软雅黑" pitchFamily="34" charset="-122"/>
                <a:ea typeface="微软雅黑" pitchFamily="34" charset="-122"/>
                <a:cs typeface="Times New Roman" panose="02020603050405020304" pitchFamily="18" charset="0"/>
              </a:rPr>
              <a:t>读入多个数据，也可以输入表达式</a:t>
            </a:r>
            <a:endParaRPr kumimoji="1" lang="en-US" altLang="zh-CN" sz="2800" b="1" dirty="0">
              <a:solidFill>
                <a:srgbClr val="0070C0"/>
              </a:solidFill>
              <a:latin typeface="微软雅黑" pitchFamily="34" charset="-122"/>
              <a:ea typeface="微软雅黑" pitchFamily="34" charset="-122"/>
              <a:cs typeface="Times New Roman" panose="02020603050405020304" pitchFamily="18" charset="0"/>
            </a:endParaRPr>
          </a:p>
        </p:txBody>
      </p:sp>
      <p:pic>
        <p:nvPicPr>
          <p:cNvPr id="7" name="图片 6"/>
          <p:cNvPicPr>
            <a:picLocks noChangeAspect="1"/>
          </p:cNvPicPr>
          <p:nvPr/>
        </p:nvPicPr>
        <p:blipFill>
          <a:blip r:embed="rId2"/>
          <a:stretch>
            <a:fillRect/>
          </a:stretch>
        </p:blipFill>
        <p:spPr>
          <a:xfrm>
            <a:off x="404100" y="1378816"/>
            <a:ext cx="4974664" cy="1261433"/>
          </a:xfrm>
          <a:prstGeom prst="rect">
            <a:avLst/>
          </a:prstGeom>
        </p:spPr>
      </p:pic>
      <p:pic>
        <p:nvPicPr>
          <p:cNvPr id="8" name="图片 7"/>
          <p:cNvPicPr>
            <a:picLocks noChangeAspect="1"/>
          </p:cNvPicPr>
          <p:nvPr/>
        </p:nvPicPr>
        <p:blipFill>
          <a:blip r:embed="rId3"/>
          <a:stretch>
            <a:fillRect/>
          </a:stretch>
        </p:blipFill>
        <p:spPr>
          <a:xfrm>
            <a:off x="391908" y="2996307"/>
            <a:ext cx="4983228" cy="1159619"/>
          </a:xfrm>
          <a:prstGeom prst="rect">
            <a:avLst/>
          </a:prstGeom>
        </p:spPr>
      </p:pic>
      <p:sp>
        <p:nvSpPr>
          <p:cNvPr id="10" name="内容占位符 3"/>
          <p:cNvSpPr txBox="1">
            <a:spLocks/>
          </p:cNvSpPr>
          <p:nvPr/>
        </p:nvSpPr>
        <p:spPr bwMode="auto">
          <a:xfrm>
            <a:off x="2555776" y="3720185"/>
            <a:ext cx="2281724" cy="435741"/>
          </a:xfrm>
          <a:prstGeom prst="rect">
            <a:avLst/>
          </a:prstGeom>
          <a:solidFill>
            <a:srgbClr val="FFFF00"/>
          </a:solidFill>
          <a:ln w="25400" cap="flat" cmpd="sng" algn="ctr">
            <a:noFill/>
            <a:prstDash val="solid"/>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0000"/>
              </a:lnSpc>
              <a:spcBef>
                <a:spcPts val="600"/>
              </a:spcBef>
              <a:spcAft>
                <a:spcPct val="0"/>
              </a:spcAft>
              <a:buClr>
                <a:schemeClr val="hlink"/>
              </a:buClr>
              <a:buChar char="•"/>
              <a:defRPr sz="2400" b="0">
                <a:solidFill>
                  <a:srgbClr val="000096"/>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lnSpc>
                <a:spcPct val="110000"/>
              </a:lnSpc>
              <a:spcBef>
                <a:spcPts val="600"/>
              </a:spcBef>
              <a:spcAft>
                <a:spcPct val="0"/>
              </a:spcAft>
              <a:buClr>
                <a:srgbClr val="FF9900"/>
              </a:buClr>
              <a:buChar char="•"/>
              <a:defRPr sz="22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lnSpc>
                <a:spcPct val="110000"/>
              </a:lnSpc>
              <a:spcBef>
                <a:spcPts val="600"/>
              </a:spcBef>
              <a:spcAft>
                <a:spcPct val="0"/>
              </a:spcAft>
              <a:buClr>
                <a:schemeClr val="hlink"/>
              </a:buClr>
              <a:buChar char="•"/>
              <a:defRPr>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lnSpc>
                <a:spcPct val="110000"/>
              </a:lnSpc>
              <a:spcBef>
                <a:spcPts val="600"/>
              </a:spcBef>
              <a:spcAft>
                <a:spcPct val="0"/>
              </a:spcAft>
              <a:buClr>
                <a:srgbClr val="FF9900"/>
              </a:buClr>
              <a:buChar char="•"/>
              <a:defRPr sz="16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lnSpc>
                <a:spcPct val="110000"/>
              </a:lnSpc>
              <a:spcBef>
                <a:spcPts val="600"/>
              </a:spcBef>
              <a:spcAft>
                <a:spcPct val="0"/>
              </a:spcAft>
              <a:buClr>
                <a:schemeClr val="hlink"/>
              </a:buClr>
              <a:buChar char="•"/>
              <a:defRPr sz="2000">
                <a:solidFill>
                  <a:srgbClr val="5F5F5F"/>
                </a:solidFill>
                <a:latin typeface="微软雅黑" panose="020B0503020204020204" pitchFamily="34" charset="-122"/>
                <a:ea typeface="微软雅黑" panose="020B0503020204020204" pitchFamily="34" charset="-122"/>
              </a:defRPr>
            </a:lvl5pPr>
            <a:lvl6pPr marL="25146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6pPr>
            <a:lvl7pPr marL="29718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7pPr>
            <a:lvl8pPr marL="34290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8pPr>
            <a:lvl9pPr marL="3886200" indent="-228600" algn="l" rtl="0" eaLnBrk="1" fontAlgn="base" hangingPunct="1">
              <a:lnSpc>
                <a:spcPct val="85000"/>
              </a:lnSpc>
              <a:spcBef>
                <a:spcPct val="30000"/>
              </a:spcBef>
              <a:spcAft>
                <a:spcPct val="0"/>
              </a:spcAft>
              <a:buClr>
                <a:schemeClr val="hlink"/>
              </a:buClr>
              <a:buChar char="•"/>
              <a:defRPr sz="2000">
                <a:solidFill>
                  <a:srgbClr val="5F5F5F"/>
                </a:solidFill>
                <a:latin typeface="+mn-lt"/>
              </a:defRPr>
            </a:lvl9pPr>
          </a:lstStyle>
          <a:p>
            <a:pPr marL="0" indent="0">
              <a:lnSpc>
                <a:spcPct val="140000"/>
              </a:lnSpc>
              <a:spcBef>
                <a:spcPts val="0"/>
              </a:spcBef>
              <a:buFontTx/>
              <a:buNone/>
            </a:pPr>
            <a:r>
              <a:rPr kumimoji="1" lang="zh-CN" altLang="en-US" sz="1600" b="1" kern="0" dirty="0">
                <a:solidFill>
                  <a:srgbClr val="0000FF"/>
                </a:solidFill>
                <a:cs typeface="Times New Roman" panose="02020603050405020304" pitchFamily="18" charset="0"/>
              </a:rPr>
              <a:t>输入字符串必须加引号</a:t>
            </a:r>
            <a:endParaRPr kumimoji="1" lang="en-US" altLang="zh-CN" sz="1600" b="1" kern="0" dirty="0">
              <a:solidFill>
                <a:srgbClr val="0000FF"/>
              </a:solidFill>
              <a:cs typeface="Times New Roman" panose="02020603050405020304" pitchFamily="18" charset="0"/>
            </a:endParaRPr>
          </a:p>
        </p:txBody>
      </p:sp>
      <p:pic>
        <p:nvPicPr>
          <p:cNvPr id="11" name="图片 10"/>
          <p:cNvPicPr>
            <a:picLocks noChangeAspect="1"/>
          </p:cNvPicPr>
          <p:nvPr/>
        </p:nvPicPr>
        <p:blipFill>
          <a:blip r:embed="rId4"/>
          <a:stretch>
            <a:fillRect/>
          </a:stretch>
        </p:blipFill>
        <p:spPr>
          <a:xfrm>
            <a:off x="5580112" y="2544065"/>
            <a:ext cx="3249719" cy="1611861"/>
          </a:xfrm>
          <a:prstGeom prst="rect">
            <a:avLst/>
          </a:prstGeom>
        </p:spPr>
      </p:pic>
    </p:spTree>
    <p:extLst>
      <p:ext uri="{BB962C8B-B14F-4D97-AF65-F5344CB8AC3E}">
        <p14:creationId xmlns:p14="http://schemas.microsoft.com/office/powerpoint/2010/main" val="2054650290"/>
      </p:ext>
    </p:extLst>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1756" y="719327"/>
            <a:ext cx="8275638" cy="650875"/>
          </a:xfrm>
        </p:spPr>
        <p:txBody>
          <a:bodyPr/>
          <a:lstStyle/>
          <a:p>
            <a:r>
              <a:rPr lang="zh-CN" altLang="en-US" sz="2800" dirty="0"/>
              <a:t>输出控制</a:t>
            </a:r>
          </a:p>
        </p:txBody>
      </p:sp>
      <p:sp>
        <p:nvSpPr>
          <p:cNvPr id="3" name="内容占位符 2"/>
          <p:cNvSpPr>
            <a:spLocks noGrp="1"/>
          </p:cNvSpPr>
          <p:nvPr>
            <p:ph idx="1"/>
          </p:nvPr>
        </p:nvSpPr>
        <p:spPr>
          <a:xfrm>
            <a:off x="443390" y="1574518"/>
            <a:ext cx="7945034" cy="1873036"/>
          </a:xfrm>
        </p:spPr>
        <p:style>
          <a:lnRef idx="2">
            <a:schemeClr val="accent5"/>
          </a:lnRef>
          <a:fillRef idx="1">
            <a:schemeClr val="lt1"/>
          </a:fillRef>
          <a:effectRef idx="0">
            <a:schemeClr val="accent5"/>
          </a:effectRef>
          <a:fontRef idx="minor">
            <a:schemeClr val="dk1"/>
          </a:fontRef>
        </p:style>
        <p:txBody>
          <a:bodyPr/>
          <a:lstStyle/>
          <a:p>
            <a:pPr marL="0" indent="0">
              <a:buNone/>
            </a:pPr>
            <a:r>
              <a:rPr lang="en-US" altLang="zh-CN" sz="1800" dirty="0">
                <a:solidFill>
                  <a:schemeClr val="tx1"/>
                </a:solidFill>
              </a:rPr>
              <a:t>print</a:t>
            </a:r>
            <a:r>
              <a:rPr lang="zh-CN" altLang="zh-CN" sz="1800" dirty="0">
                <a:solidFill>
                  <a:schemeClr val="tx1"/>
                </a:solidFill>
              </a:rPr>
              <a:t>函数方式可以控制输出的格式，这是常用的方式。形式：</a:t>
            </a:r>
          </a:p>
          <a:p>
            <a:pPr marL="0" indent="0">
              <a:lnSpc>
                <a:spcPct val="150000"/>
              </a:lnSpc>
              <a:buNone/>
            </a:pPr>
            <a:r>
              <a:rPr lang="en-US" altLang="zh-CN" sz="1800" dirty="0">
                <a:solidFill>
                  <a:schemeClr val="tx1"/>
                </a:solidFill>
              </a:rPr>
              <a:t>        </a:t>
            </a:r>
            <a:r>
              <a:rPr lang="en-US" altLang="zh-CN" sz="1800" b="1" dirty="0">
                <a:solidFill>
                  <a:srgbClr val="0070C0"/>
                </a:solidFill>
              </a:rPr>
              <a:t>print([</a:t>
            </a:r>
            <a:r>
              <a:rPr lang="zh-CN" altLang="zh-CN" sz="1800" b="1" dirty="0">
                <a:solidFill>
                  <a:srgbClr val="0070C0"/>
                </a:solidFill>
              </a:rPr>
              <a:t>输出项</a:t>
            </a:r>
            <a:r>
              <a:rPr lang="en-US" altLang="zh-CN" sz="1800" b="1" dirty="0">
                <a:solidFill>
                  <a:srgbClr val="0070C0"/>
                </a:solidFill>
              </a:rPr>
              <a:t>, ...][, </a:t>
            </a:r>
            <a:r>
              <a:rPr lang="en-US" altLang="zh-CN" sz="1800" b="1" dirty="0" err="1">
                <a:solidFill>
                  <a:srgbClr val="0070C0"/>
                </a:solidFill>
              </a:rPr>
              <a:t>sep</a:t>
            </a:r>
            <a:r>
              <a:rPr lang="en-US" altLang="zh-CN" sz="1800" b="1" dirty="0">
                <a:solidFill>
                  <a:srgbClr val="0070C0"/>
                </a:solidFill>
              </a:rPr>
              <a:t>=</a:t>
            </a:r>
            <a:r>
              <a:rPr lang="zh-CN" altLang="zh-CN" sz="1800" b="1" dirty="0">
                <a:solidFill>
                  <a:srgbClr val="0070C0"/>
                </a:solidFill>
              </a:rPr>
              <a:t>分隔符</a:t>
            </a:r>
            <a:r>
              <a:rPr lang="en-US" altLang="zh-CN" sz="1800" b="1" dirty="0">
                <a:solidFill>
                  <a:srgbClr val="0070C0"/>
                </a:solidFill>
              </a:rPr>
              <a:t>][, end=</a:t>
            </a:r>
            <a:r>
              <a:rPr lang="zh-CN" altLang="zh-CN" sz="1800" b="1" dirty="0">
                <a:solidFill>
                  <a:srgbClr val="0070C0"/>
                </a:solidFill>
              </a:rPr>
              <a:t>结束符</a:t>
            </a:r>
            <a:r>
              <a:rPr lang="en-US" altLang="zh-CN" sz="1800" b="1" dirty="0">
                <a:solidFill>
                  <a:srgbClr val="0070C0"/>
                </a:solidFill>
              </a:rPr>
              <a:t>])</a:t>
            </a:r>
            <a:endParaRPr lang="zh-CN" altLang="zh-CN" sz="1800" b="1" dirty="0">
              <a:solidFill>
                <a:srgbClr val="0070C0"/>
              </a:solidFill>
            </a:endParaRPr>
          </a:p>
          <a:p>
            <a:pPr marL="0" indent="0">
              <a:lnSpc>
                <a:spcPct val="150000"/>
              </a:lnSpc>
              <a:buNone/>
            </a:pPr>
            <a:r>
              <a:rPr lang="en-US" altLang="zh-CN" sz="1800" dirty="0">
                <a:solidFill>
                  <a:schemeClr val="tx1"/>
                </a:solidFill>
              </a:rPr>
              <a:t>   </a:t>
            </a:r>
            <a:r>
              <a:rPr lang="zh-CN" altLang="zh-CN" sz="1800" dirty="0">
                <a:solidFill>
                  <a:schemeClr val="tx1"/>
                </a:solidFill>
              </a:rPr>
              <a:t>输出项</a:t>
            </a:r>
            <a:r>
              <a:rPr lang="zh-CN" altLang="en-US" sz="1800" dirty="0">
                <a:solidFill>
                  <a:schemeClr val="tx1"/>
                </a:solidFill>
              </a:rPr>
              <a:t>：</a:t>
            </a:r>
            <a:r>
              <a:rPr lang="zh-CN" altLang="zh-CN" sz="1800" dirty="0">
                <a:solidFill>
                  <a:schemeClr val="tx1"/>
                </a:solidFill>
              </a:rPr>
              <a:t>以逗号分隔的表达式；</a:t>
            </a:r>
            <a:r>
              <a:rPr lang="en-US" altLang="zh-CN" sz="1800" dirty="0" err="1">
                <a:solidFill>
                  <a:schemeClr val="tx1"/>
                </a:solidFill>
              </a:rPr>
              <a:t>sep</a:t>
            </a:r>
            <a:r>
              <a:rPr lang="zh-CN" altLang="en-US" sz="1800" dirty="0">
                <a:solidFill>
                  <a:schemeClr val="tx1"/>
                </a:solidFill>
              </a:rPr>
              <a:t>：</a:t>
            </a:r>
            <a:r>
              <a:rPr lang="zh-CN" altLang="zh-CN" sz="1800" dirty="0">
                <a:solidFill>
                  <a:schemeClr val="tx1"/>
                </a:solidFill>
              </a:rPr>
              <a:t>各输出项间的分隔，缺省为空格；</a:t>
            </a:r>
            <a:endParaRPr lang="en-US" altLang="zh-CN" sz="1800" dirty="0">
              <a:solidFill>
                <a:schemeClr val="tx1"/>
              </a:solidFill>
            </a:endParaRPr>
          </a:p>
          <a:p>
            <a:pPr marL="0" indent="0">
              <a:lnSpc>
                <a:spcPct val="150000"/>
              </a:lnSpc>
              <a:buNone/>
            </a:pPr>
            <a:r>
              <a:rPr lang="en-US" altLang="zh-CN" sz="1800" dirty="0">
                <a:solidFill>
                  <a:schemeClr val="tx1"/>
                </a:solidFill>
              </a:rPr>
              <a:t>   </a:t>
            </a:r>
            <a:r>
              <a:rPr lang="en-US" altLang="zh-CN" sz="1800" b="1" dirty="0">
                <a:solidFill>
                  <a:srgbClr val="00B050"/>
                </a:solidFill>
              </a:rPr>
              <a:t>end</a:t>
            </a:r>
            <a:r>
              <a:rPr lang="zh-CN" altLang="en-US" sz="1800" b="1" dirty="0">
                <a:solidFill>
                  <a:srgbClr val="00B050"/>
                </a:solidFill>
              </a:rPr>
              <a:t>：</a:t>
            </a:r>
            <a:r>
              <a:rPr lang="zh-CN" altLang="zh-CN" sz="1800" b="1" dirty="0">
                <a:solidFill>
                  <a:srgbClr val="00B050"/>
                </a:solidFill>
              </a:rPr>
              <a:t>表示结束符，缺省</a:t>
            </a:r>
            <a:r>
              <a:rPr lang="zh-CN" altLang="en-US" sz="1800" b="1" dirty="0">
                <a:solidFill>
                  <a:srgbClr val="00B050"/>
                </a:solidFill>
              </a:rPr>
              <a:t>为</a:t>
            </a:r>
            <a:r>
              <a:rPr lang="zh-CN" altLang="zh-CN" sz="1800" b="1" dirty="0">
                <a:solidFill>
                  <a:srgbClr val="00B050"/>
                </a:solidFill>
              </a:rPr>
              <a:t>换行</a:t>
            </a:r>
            <a:r>
              <a:rPr lang="zh-CN" altLang="zh-CN" sz="1800" dirty="0">
                <a:solidFill>
                  <a:schemeClr val="tx1"/>
                </a:solidFill>
              </a:rPr>
              <a:t>。</a:t>
            </a:r>
            <a:r>
              <a:rPr lang="en-US" altLang="zh-CN" sz="1800" dirty="0">
                <a:solidFill>
                  <a:schemeClr val="tx1"/>
                </a:solidFill>
              </a:rPr>
              <a:t>	 </a:t>
            </a:r>
            <a:endParaRPr lang="zh-CN" altLang="zh-CN" sz="1800" b="1" dirty="0">
              <a:solidFill>
                <a:schemeClr val="tx1"/>
              </a:solidFill>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a:blip r:embed="rId2"/>
          <a:stretch>
            <a:fillRect/>
          </a:stretch>
        </p:blipFill>
        <p:spPr>
          <a:xfrm>
            <a:off x="467544" y="4039569"/>
            <a:ext cx="4608512" cy="800100"/>
          </a:xfrm>
          <a:prstGeom prst="rect">
            <a:avLst/>
          </a:prstGeom>
          <a:ln>
            <a:solidFill>
              <a:srgbClr val="FF0000"/>
            </a:solidFill>
          </a:ln>
        </p:spPr>
      </p:pic>
      <p:pic>
        <p:nvPicPr>
          <p:cNvPr id="17" name="图片 16"/>
          <p:cNvPicPr>
            <a:picLocks noChangeAspect="1"/>
          </p:cNvPicPr>
          <p:nvPr/>
        </p:nvPicPr>
        <p:blipFill>
          <a:blip r:embed="rId3"/>
          <a:stretch>
            <a:fillRect/>
          </a:stretch>
        </p:blipFill>
        <p:spPr>
          <a:xfrm>
            <a:off x="5183165" y="3795886"/>
            <a:ext cx="3452516" cy="1049397"/>
          </a:xfrm>
          <a:prstGeom prst="rect">
            <a:avLst/>
          </a:prstGeom>
        </p:spPr>
      </p:pic>
    </p:spTree>
    <p:extLst>
      <p:ext uri="{BB962C8B-B14F-4D97-AF65-F5344CB8AC3E}">
        <p14:creationId xmlns:p14="http://schemas.microsoft.com/office/powerpoint/2010/main" val="2683475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ChangeArrowheads="1"/>
          </p:cNvSpPr>
          <p:nvPr/>
        </p:nvSpPr>
        <p:spPr bwMode="auto">
          <a:xfrm>
            <a:off x="579557" y="512718"/>
            <a:ext cx="2768307" cy="5380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p>
            <a:pPr>
              <a:lnSpc>
                <a:spcPct val="150000"/>
              </a:lnSpc>
              <a:spcBef>
                <a:spcPts val="1200"/>
              </a:spcBef>
            </a:pPr>
            <a:r>
              <a:rPr lang="zh-CN" altLang="en-US" sz="2400" b="1" dirty="0">
                <a:solidFill>
                  <a:srgbClr val="C00000"/>
                </a:solidFill>
                <a:latin typeface="Courier New" pitchFamily="49" charset="0"/>
                <a:ea typeface="微软雅黑" pitchFamily="34" charset="-122"/>
                <a:cs typeface="Courier New" pitchFamily="49" charset="0"/>
              </a:rPr>
              <a:t>格式化控制输出</a:t>
            </a:r>
          </a:p>
        </p:txBody>
      </p:sp>
      <p:sp>
        <p:nvSpPr>
          <p:cNvPr id="3" name="AutoShape 44"/>
          <p:cNvSpPr>
            <a:spLocks noChangeArrowheads="1"/>
          </p:cNvSpPr>
          <p:nvPr/>
        </p:nvSpPr>
        <p:spPr bwMode="gray">
          <a:xfrm>
            <a:off x="488231" y="3435846"/>
            <a:ext cx="8188225" cy="1408553"/>
          </a:xfrm>
          <a:prstGeom prst="roundRect">
            <a:avLst>
              <a:gd name="adj" fmla="val 8014"/>
            </a:avLst>
          </a:prstGeom>
          <a:solidFill>
            <a:srgbClr val="F8F8F8"/>
          </a:solidFill>
          <a:ln w="9525">
            <a:solidFill>
              <a:srgbClr val="8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r>
              <a:rPr lang="zh-CN" altLang="en-US" sz="1800" b="0" dirty="0">
                <a:latin typeface="微软雅黑" pitchFamily="34" charset="-122"/>
                <a:ea typeface="微软雅黑" pitchFamily="34" charset="-122"/>
              </a:rPr>
              <a:t>已知 </a:t>
            </a:r>
            <a:r>
              <a:rPr lang="en-US" altLang="zh-CN" sz="1800" b="0" dirty="0">
                <a:latin typeface="微软雅黑" pitchFamily="34" charset="-122"/>
                <a:ea typeface="微软雅黑" pitchFamily="34" charset="-122"/>
              </a:rPr>
              <a:t>x1=-1.2</a:t>
            </a:r>
            <a:r>
              <a:rPr lang="zh-CN" altLang="en-US" sz="1800" b="0" dirty="0">
                <a:latin typeface="微软雅黑" pitchFamily="34" charset="-122"/>
                <a:ea typeface="微软雅黑" pitchFamily="34" charset="-122"/>
              </a:rPr>
              <a:t>和</a:t>
            </a:r>
            <a:r>
              <a:rPr lang="en-US" altLang="zh-CN" sz="1800" b="0" dirty="0">
                <a:latin typeface="微软雅黑" pitchFamily="34" charset="-122"/>
                <a:ea typeface="微软雅黑" pitchFamily="34" charset="-122"/>
              </a:rPr>
              <a:t>x2=-2.5</a:t>
            </a:r>
            <a:r>
              <a:rPr lang="zh-CN" altLang="en-US" sz="1800" b="0" dirty="0">
                <a:latin typeface="微软雅黑" pitchFamily="34" charset="-122"/>
                <a:ea typeface="微软雅黑" pitchFamily="34" charset="-122"/>
              </a:rPr>
              <a:t>，输出语句：</a:t>
            </a:r>
            <a:endParaRPr lang="en-US" altLang="zh-CN" sz="1800" b="0" dirty="0">
              <a:latin typeface="微软雅黑" pitchFamily="34" charset="-122"/>
              <a:ea typeface="微软雅黑" pitchFamily="34" charset="-122"/>
            </a:endParaRPr>
          </a:p>
          <a:p>
            <a:pPr>
              <a:spcBef>
                <a:spcPts val="0"/>
              </a:spcBef>
              <a:spcAft>
                <a:spcPts val="1200"/>
              </a:spcAft>
            </a:pPr>
            <a:r>
              <a:rPr lang="en-US" altLang="zh-CN" sz="1800" b="0" dirty="0">
                <a:latin typeface="微软雅黑" pitchFamily="34" charset="-122"/>
                <a:ea typeface="微软雅黑" pitchFamily="34" charset="-122"/>
              </a:rPr>
              <a:t> </a:t>
            </a:r>
            <a:r>
              <a:rPr lang="en-US" altLang="zh-CN" sz="1800" dirty="0"/>
              <a:t> </a:t>
            </a:r>
            <a:r>
              <a:rPr lang="en-US" altLang="zh-CN" sz="1800" b="0" dirty="0">
                <a:latin typeface="微软雅黑" pitchFamily="34" charset="-122"/>
                <a:ea typeface="微软雅黑" pitchFamily="34" charset="-122"/>
              </a:rPr>
              <a:t>print("x1=%8.3f\nx2=%8.3f"%(x1,x2))	# </a:t>
            </a:r>
            <a:r>
              <a:rPr lang="zh-CN" altLang="zh-CN" sz="1800" b="0" dirty="0">
                <a:latin typeface="微软雅黑" pitchFamily="34" charset="-122"/>
                <a:ea typeface="微软雅黑" pitchFamily="34" charset="-122"/>
              </a:rPr>
              <a:t>输出宽度</a:t>
            </a:r>
            <a:r>
              <a:rPr lang="en-US" altLang="zh-CN" sz="1800" b="0" dirty="0">
                <a:latin typeface="微软雅黑" pitchFamily="34" charset="-122"/>
                <a:ea typeface="微软雅黑" pitchFamily="34" charset="-122"/>
              </a:rPr>
              <a:t>8</a:t>
            </a:r>
            <a:r>
              <a:rPr lang="zh-CN" altLang="zh-CN" sz="1800" b="0" dirty="0">
                <a:latin typeface="微软雅黑" pitchFamily="34" charset="-122"/>
                <a:ea typeface="微软雅黑" pitchFamily="34" charset="-122"/>
              </a:rPr>
              <a:t>位，小数位数</a:t>
            </a:r>
            <a:r>
              <a:rPr lang="en-US" altLang="zh-CN" sz="1800" b="0" dirty="0">
                <a:latin typeface="微软雅黑" pitchFamily="34" charset="-122"/>
                <a:ea typeface="微软雅黑" pitchFamily="34" charset="-122"/>
              </a:rPr>
              <a:t>3</a:t>
            </a:r>
            <a:r>
              <a:rPr lang="zh-CN" altLang="zh-CN" sz="1800" b="0" dirty="0">
                <a:latin typeface="微软雅黑" pitchFamily="34" charset="-122"/>
                <a:ea typeface="微软雅黑" pitchFamily="34" charset="-122"/>
              </a:rPr>
              <a:t>位</a:t>
            </a:r>
            <a:r>
              <a:rPr lang="en-US" altLang="zh-CN" sz="1800" b="0" dirty="0">
                <a:latin typeface="微软雅黑" pitchFamily="34" charset="-122"/>
                <a:ea typeface="微软雅黑" pitchFamily="34" charset="-122"/>
              </a:rPr>
              <a:t> </a:t>
            </a:r>
            <a:endParaRPr lang="zh-CN" altLang="zh-CN" sz="1800" b="0" dirty="0">
              <a:latin typeface="微软雅黑" pitchFamily="34" charset="-122"/>
              <a:ea typeface="微软雅黑" pitchFamily="34" charset="-122"/>
            </a:endParaRPr>
          </a:p>
          <a:p>
            <a:pPr>
              <a:spcBef>
                <a:spcPts val="0"/>
              </a:spcBef>
            </a:pPr>
            <a:r>
              <a:rPr lang="en-US" altLang="zh-CN" sz="1800" b="0" dirty="0">
                <a:latin typeface="微软雅黑" pitchFamily="34" charset="-122"/>
                <a:ea typeface="微软雅黑" pitchFamily="34" charset="-122"/>
              </a:rPr>
              <a:t>x1=</a:t>
            </a:r>
            <a:r>
              <a:rPr lang="zh-CN" altLang="zh-CN" sz="1800" b="0" dirty="0">
                <a:latin typeface="微软雅黑" pitchFamily="34" charset="-122"/>
                <a:ea typeface="微软雅黑" pitchFamily="34" charset="-122"/>
              </a:rPr>
              <a:t>∪∪</a:t>
            </a:r>
            <a:r>
              <a:rPr lang="en-US" altLang="zh-CN" sz="1800" b="0" dirty="0">
                <a:latin typeface="微软雅黑" pitchFamily="34" charset="-122"/>
                <a:ea typeface="微软雅黑" pitchFamily="34" charset="-122"/>
              </a:rPr>
              <a:t>-1.200				# </a:t>
            </a:r>
            <a:r>
              <a:rPr lang="zh-CN" altLang="zh-CN" sz="1800" b="0" dirty="0">
                <a:latin typeface="微软雅黑" pitchFamily="34" charset="-122"/>
                <a:ea typeface="微软雅黑" pitchFamily="34" charset="-122"/>
              </a:rPr>
              <a:t>∪表示空一格</a:t>
            </a:r>
          </a:p>
          <a:p>
            <a:pPr>
              <a:spcBef>
                <a:spcPts val="0"/>
              </a:spcBef>
            </a:pPr>
            <a:r>
              <a:rPr lang="en-US" altLang="zh-CN" sz="1800" b="0" dirty="0">
                <a:latin typeface="微软雅黑" pitchFamily="34" charset="-122"/>
                <a:ea typeface="微软雅黑" pitchFamily="34" charset="-122"/>
              </a:rPr>
              <a:t>x2=</a:t>
            </a:r>
            <a:r>
              <a:rPr lang="zh-CN" altLang="zh-CN" sz="1800" b="0" dirty="0">
                <a:latin typeface="微软雅黑" pitchFamily="34" charset="-122"/>
                <a:ea typeface="微软雅黑" pitchFamily="34" charset="-122"/>
              </a:rPr>
              <a:t>∪∪</a:t>
            </a:r>
            <a:r>
              <a:rPr lang="en-US" altLang="zh-CN" sz="1800" b="0" dirty="0">
                <a:latin typeface="微软雅黑" pitchFamily="34" charset="-122"/>
                <a:ea typeface="微软雅黑" pitchFamily="34" charset="-122"/>
              </a:rPr>
              <a:t>-2.500</a:t>
            </a:r>
            <a:endParaRPr lang="zh-CN" altLang="zh-CN" sz="1800" b="0" dirty="0">
              <a:latin typeface="微软雅黑" pitchFamily="34" charset="-122"/>
              <a:ea typeface="微软雅黑" pitchFamily="34" charset="-122"/>
            </a:endParaRPr>
          </a:p>
        </p:txBody>
      </p:sp>
      <p:sp>
        <p:nvSpPr>
          <p:cNvPr id="4" name="Rectangle 2"/>
          <p:cNvSpPr>
            <a:spLocks noChangeArrowheads="1"/>
          </p:cNvSpPr>
          <p:nvPr/>
        </p:nvSpPr>
        <p:spPr bwMode="auto">
          <a:xfrm>
            <a:off x="321498" y="2283718"/>
            <a:ext cx="8714997" cy="1944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p>
            <a:r>
              <a:rPr lang="en-US" altLang="zh-CN" sz="2000" dirty="0">
                <a:solidFill>
                  <a:srgbClr val="C00000"/>
                </a:solidFill>
                <a:latin typeface="微软雅黑" pitchFamily="34" charset="-122"/>
                <a:ea typeface="微软雅黑" pitchFamily="34" charset="-122"/>
                <a:cs typeface="Courier New" pitchFamily="49" charset="0"/>
              </a:rPr>
              <a:t>      </a:t>
            </a:r>
            <a:endParaRPr lang="zh-CN" altLang="zh-CN" sz="1800" b="0" dirty="0">
              <a:solidFill>
                <a:srgbClr val="000066"/>
              </a:solidFill>
              <a:latin typeface="微软雅黑" pitchFamily="34" charset="-122"/>
              <a:ea typeface="微软雅黑" pitchFamily="34" charset="-122"/>
            </a:endParaRPr>
          </a:p>
        </p:txBody>
      </p:sp>
      <p:sp>
        <p:nvSpPr>
          <p:cNvPr id="8" name="Rectangle 2"/>
          <p:cNvSpPr>
            <a:spLocks noChangeArrowheads="1"/>
          </p:cNvSpPr>
          <p:nvPr/>
        </p:nvSpPr>
        <p:spPr bwMode="auto">
          <a:xfrm>
            <a:off x="488231" y="1050788"/>
            <a:ext cx="7900193" cy="1152128"/>
          </a:xfrm>
          <a:prstGeom prst="rect">
            <a:avLst/>
          </a:prstGeom>
          <a:ln>
            <a:noFill/>
          </a:ln>
        </p:spPr>
        <p:style>
          <a:lnRef idx="2">
            <a:schemeClr val="accent5"/>
          </a:lnRef>
          <a:fillRef idx="1">
            <a:schemeClr val="lt1"/>
          </a:fillRef>
          <a:effectRef idx="0">
            <a:schemeClr val="accent5"/>
          </a:effectRef>
          <a:fontRef idx="minor">
            <a:schemeClr val="dk1"/>
          </a:fontRef>
        </p:style>
        <p:txBody>
          <a:bodyPr lIns="92075" tIns="46038" rIns="92075" bIns="46038" anchor="b"/>
          <a:lstStyle/>
          <a:p>
            <a:r>
              <a:rPr lang="zh-CN" altLang="en-US" sz="2000" b="1" dirty="0">
                <a:solidFill>
                  <a:srgbClr val="0070C0"/>
                </a:solidFill>
                <a:latin typeface="微软雅黑" pitchFamily="34" charset="-122"/>
                <a:ea typeface="微软雅黑" pitchFamily="34" charset="-122"/>
              </a:rPr>
              <a:t>（</a:t>
            </a:r>
            <a:r>
              <a:rPr lang="en-US" altLang="zh-CN" sz="2000" b="1" dirty="0">
                <a:solidFill>
                  <a:srgbClr val="0070C0"/>
                </a:solidFill>
                <a:latin typeface="微软雅黑" pitchFamily="34" charset="-122"/>
                <a:ea typeface="微软雅黑" pitchFamily="34" charset="-122"/>
              </a:rPr>
              <a:t>1</a:t>
            </a:r>
            <a:r>
              <a:rPr lang="zh-CN" altLang="en-US" sz="2000" b="1" dirty="0">
                <a:solidFill>
                  <a:srgbClr val="0070C0"/>
                </a:solidFill>
                <a:latin typeface="微软雅黑" pitchFamily="34" charset="-122"/>
                <a:ea typeface="微软雅黑" pitchFamily="34" charset="-122"/>
              </a:rPr>
              <a:t>）</a:t>
            </a:r>
            <a:r>
              <a:rPr lang="zh-CN" altLang="zh-CN" sz="2000" b="1" dirty="0">
                <a:solidFill>
                  <a:srgbClr val="0070C0"/>
                </a:solidFill>
                <a:latin typeface="微软雅黑" pitchFamily="34" charset="-122"/>
                <a:ea typeface="微软雅黑" pitchFamily="34" charset="-122"/>
              </a:rPr>
              <a:t>用</a:t>
            </a:r>
            <a:r>
              <a:rPr lang="en-US" altLang="zh-CN" sz="2000" b="1" dirty="0">
                <a:solidFill>
                  <a:srgbClr val="0070C0"/>
                </a:solidFill>
                <a:latin typeface="微软雅黑" pitchFamily="34" charset="-122"/>
                <a:ea typeface="微软雅黑" pitchFamily="34" charset="-122"/>
              </a:rPr>
              <a:t>  %  </a:t>
            </a:r>
            <a:r>
              <a:rPr lang="zh-CN" altLang="en-US" sz="2000" b="1" dirty="0">
                <a:solidFill>
                  <a:srgbClr val="0070C0"/>
                </a:solidFill>
                <a:latin typeface="微软雅黑" pitchFamily="34" charset="-122"/>
                <a:ea typeface="微软雅黑" pitchFamily="34" charset="-122"/>
              </a:rPr>
              <a:t>控制  </a:t>
            </a:r>
            <a:endParaRPr lang="en-US" altLang="zh-CN" sz="2000" b="1" dirty="0">
              <a:solidFill>
                <a:srgbClr val="0070C0"/>
              </a:solidFill>
              <a:latin typeface="微软雅黑" pitchFamily="34" charset="-122"/>
              <a:ea typeface="微软雅黑" pitchFamily="34" charset="-122"/>
            </a:endParaRPr>
          </a:p>
          <a:p>
            <a:pPr>
              <a:lnSpc>
                <a:spcPct val="150000"/>
              </a:lnSpc>
            </a:pPr>
            <a:r>
              <a:rPr lang="en-US" altLang="zh-CN" sz="1800" b="1" dirty="0">
                <a:solidFill>
                  <a:srgbClr val="00B050"/>
                </a:solidFill>
                <a:latin typeface="微软雅黑" pitchFamily="34" charset="-122"/>
                <a:ea typeface="微软雅黑" pitchFamily="34" charset="-122"/>
              </a:rPr>
              <a:t>     </a:t>
            </a:r>
            <a:r>
              <a:rPr lang="zh-CN" altLang="zh-CN" sz="1800" b="0" dirty="0">
                <a:latin typeface="黑体" panose="02010609060101010101" pitchFamily="49" charset="-122"/>
                <a:ea typeface="黑体" panose="02010609060101010101" pitchFamily="49" charset="-122"/>
              </a:rPr>
              <a:t>格式符常用形式：</a:t>
            </a:r>
            <a:r>
              <a:rPr lang="en-US" altLang="zh-CN" sz="1800" dirty="0">
                <a:solidFill>
                  <a:srgbClr val="C00000"/>
                </a:solidFill>
                <a:latin typeface="黑体" panose="02010609060101010101" pitchFamily="49" charset="-122"/>
                <a:ea typeface="黑体" panose="02010609060101010101" pitchFamily="49" charset="-122"/>
              </a:rPr>
              <a:t>% [m][.n]</a:t>
            </a:r>
            <a:r>
              <a:rPr lang="zh-CN" altLang="zh-CN" sz="1800" dirty="0">
                <a:solidFill>
                  <a:srgbClr val="C00000"/>
                </a:solidFill>
                <a:latin typeface="黑体" panose="02010609060101010101" pitchFamily="49" charset="-122"/>
                <a:ea typeface="黑体" panose="02010609060101010101" pitchFamily="49" charset="-122"/>
              </a:rPr>
              <a:t>类型符</a:t>
            </a:r>
            <a:endParaRPr lang="en-US" altLang="zh-CN" sz="1800" dirty="0">
              <a:solidFill>
                <a:srgbClr val="C00000"/>
              </a:solidFill>
              <a:latin typeface="黑体" panose="02010609060101010101" pitchFamily="49" charset="-122"/>
              <a:ea typeface="黑体" panose="02010609060101010101" pitchFamily="49" charset="-122"/>
            </a:endParaRPr>
          </a:p>
          <a:p>
            <a:r>
              <a:rPr lang="en-US" altLang="zh-CN" sz="1800" dirty="0">
                <a:latin typeface="黑体" panose="02010609060101010101" pitchFamily="49" charset="-122"/>
                <a:ea typeface="黑体" panose="02010609060101010101" pitchFamily="49" charset="-122"/>
              </a:rPr>
              <a:t>   </a:t>
            </a:r>
            <a:r>
              <a:rPr lang="en-US" altLang="zh-CN" sz="1800" dirty="0">
                <a:solidFill>
                  <a:srgbClr val="C00000"/>
                </a:solidFill>
                <a:latin typeface="黑体" panose="02010609060101010101" pitchFamily="49" charset="-122"/>
                <a:ea typeface="黑体" panose="02010609060101010101" pitchFamily="49" charset="-122"/>
              </a:rPr>
              <a:t>m</a:t>
            </a:r>
            <a:r>
              <a:rPr lang="zh-CN" altLang="zh-CN" sz="1800" b="0" dirty="0">
                <a:latin typeface="黑体" panose="02010609060101010101" pitchFamily="49" charset="-122"/>
                <a:ea typeface="黑体" panose="02010609060101010101" pitchFamily="49" charset="-122"/>
              </a:rPr>
              <a:t>为输出最小宽度</a:t>
            </a:r>
            <a:r>
              <a:rPr lang="zh-CN" altLang="zh-CN" sz="1800" b="0" dirty="0">
                <a:solidFill>
                  <a:srgbClr val="000066"/>
                </a:solidFill>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n</a:t>
            </a:r>
            <a:r>
              <a:rPr lang="zh-CN" altLang="zh-CN" sz="1800" b="0" dirty="0">
                <a:latin typeface="黑体" panose="02010609060101010101" pitchFamily="49" charset="-122"/>
                <a:ea typeface="黑体" panose="02010609060101010101" pitchFamily="49" charset="-122"/>
              </a:rPr>
              <a:t>为小数位数</a:t>
            </a:r>
            <a:r>
              <a:rPr lang="zh-CN" altLang="zh-CN" sz="1800" b="0" dirty="0">
                <a:solidFill>
                  <a:srgbClr val="000066"/>
                </a:solidFill>
                <a:latin typeface="黑体" panose="02010609060101010101" pitchFamily="49" charset="-122"/>
                <a:ea typeface="黑体" panose="02010609060101010101" pitchFamily="49" charset="-122"/>
              </a:rPr>
              <a:t>；</a:t>
            </a:r>
            <a:r>
              <a:rPr lang="zh-CN" altLang="zh-CN" sz="1800" dirty="0">
                <a:latin typeface="黑体" panose="02010609060101010101" pitchFamily="49" charset="-122"/>
                <a:ea typeface="黑体" panose="02010609060101010101" pitchFamily="49" charset="-122"/>
              </a:rPr>
              <a:t>类型符为对应输出数据类型</a:t>
            </a:r>
            <a:endParaRPr lang="zh-CN" altLang="en-US" sz="1800" dirty="0">
              <a:latin typeface="黑体" panose="02010609060101010101" pitchFamily="49" charset="-122"/>
              <a:ea typeface="黑体" panose="02010609060101010101" pitchFamily="49" charset="-122"/>
            </a:endParaRPr>
          </a:p>
        </p:txBody>
      </p:sp>
      <p:graphicFrame>
        <p:nvGraphicFramePr>
          <p:cNvPr id="10" name="表格 9"/>
          <p:cNvGraphicFramePr>
            <a:graphicFrameLocks noGrp="1"/>
          </p:cNvGraphicFramePr>
          <p:nvPr>
            <p:extLst>
              <p:ext uri="{D42A27DB-BD31-4B8C-83A1-F6EECF244321}">
                <p14:modId xmlns:p14="http://schemas.microsoft.com/office/powerpoint/2010/main" val="314879914"/>
              </p:ext>
            </p:extLst>
          </p:nvPr>
        </p:nvGraphicFramePr>
        <p:xfrm>
          <a:off x="657907" y="2332429"/>
          <a:ext cx="7848872" cy="878347"/>
        </p:xfrm>
        <a:graphic>
          <a:graphicData uri="http://schemas.openxmlformats.org/drawingml/2006/table">
            <a:tbl>
              <a:tblPr firstRow="1" firstCol="1" bandRow="1">
                <a:tableStyleId>{5C22544A-7EE6-4342-B048-85BDC9FD1C3A}</a:tableStyleId>
              </a:tblPr>
              <a:tblGrid>
                <a:gridCol w="2089494">
                  <a:extLst>
                    <a:ext uri="{9D8B030D-6E8A-4147-A177-3AD203B41FA5}">
                      <a16:colId xmlns:a16="http://schemas.microsoft.com/office/drawing/2014/main" val="20000"/>
                    </a:ext>
                  </a:extLst>
                </a:gridCol>
                <a:gridCol w="1223622">
                  <a:extLst>
                    <a:ext uri="{9D8B030D-6E8A-4147-A177-3AD203B41FA5}">
                      <a16:colId xmlns:a16="http://schemas.microsoft.com/office/drawing/2014/main" val="20001"/>
                    </a:ext>
                  </a:extLst>
                </a:gridCol>
                <a:gridCol w="1144996">
                  <a:extLst>
                    <a:ext uri="{9D8B030D-6E8A-4147-A177-3AD203B41FA5}">
                      <a16:colId xmlns:a16="http://schemas.microsoft.com/office/drawing/2014/main" val="20002"/>
                    </a:ext>
                  </a:extLst>
                </a:gridCol>
                <a:gridCol w="1110597">
                  <a:extLst>
                    <a:ext uri="{9D8B030D-6E8A-4147-A177-3AD203B41FA5}">
                      <a16:colId xmlns:a16="http://schemas.microsoft.com/office/drawing/2014/main" val="20003"/>
                    </a:ext>
                  </a:extLst>
                </a:gridCol>
                <a:gridCol w="1110597">
                  <a:extLst>
                    <a:ext uri="{9D8B030D-6E8A-4147-A177-3AD203B41FA5}">
                      <a16:colId xmlns:a16="http://schemas.microsoft.com/office/drawing/2014/main" val="20004"/>
                    </a:ext>
                  </a:extLst>
                </a:gridCol>
                <a:gridCol w="1169566">
                  <a:extLst>
                    <a:ext uri="{9D8B030D-6E8A-4147-A177-3AD203B41FA5}">
                      <a16:colId xmlns:a16="http://schemas.microsoft.com/office/drawing/2014/main" val="20005"/>
                    </a:ext>
                  </a:extLst>
                </a:gridCol>
              </a:tblGrid>
              <a:tr h="293326">
                <a:tc>
                  <a:txBody>
                    <a:bodyPr/>
                    <a:lstStyle/>
                    <a:p>
                      <a:pPr algn="ctr">
                        <a:lnSpc>
                          <a:spcPts val="2000"/>
                        </a:lnSpc>
                        <a:spcAft>
                          <a:spcPts val="0"/>
                        </a:spcAft>
                      </a:pPr>
                      <a:r>
                        <a:rPr lang="zh-CN" sz="1600" b="0" kern="100" dirty="0">
                          <a:solidFill>
                            <a:srgbClr val="0070C0"/>
                          </a:solidFill>
                          <a:effectLst/>
                        </a:rPr>
                        <a:t>格式符</a:t>
                      </a:r>
                      <a:endParaRPr lang="zh-CN" sz="1600" b="0" kern="100" dirty="0">
                        <a:solidFill>
                          <a:srgbClr val="0070C0"/>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en-US" sz="1600" b="0" kern="100" dirty="0">
                          <a:solidFill>
                            <a:srgbClr val="C00000"/>
                          </a:solidFill>
                          <a:effectLst/>
                        </a:rPr>
                        <a:t>%d</a:t>
                      </a:r>
                      <a:endParaRPr lang="zh-CN" sz="1600" b="0" kern="100" dirty="0">
                        <a:solidFill>
                          <a:srgbClr val="C00000"/>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en-US" sz="1600" b="0" kern="100" dirty="0">
                          <a:solidFill>
                            <a:srgbClr val="C00000"/>
                          </a:solidFill>
                          <a:effectLst/>
                        </a:rPr>
                        <a:t>%c</a:t>
                      </a:r>
                      <a:endParaRPr lang="zh-CN" sz="1600" b="0" kern="100" dirty="0">
                        <a:solidFill>
                          <a:srgbClr val="C00000"/>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en-US" sz="1600" b="0" kern="100" dirty="0">
                          <a:solidFill>
                            <a:srgbClr val="C00000"/>
                          </a:solidFill>
                          <a:effectLst/>
                        </a:rPr>
                        <a:t>%s</a:t>
                      </a:r>
                      <a:endParaRPr lang="zh-CN" sz="1600" b="0" kern="100" dirty="0">
                        <a:solidFill>
                          <a:srgbClr val="C00000"/>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en-US" sz="1600" b="0" kern="100" dirty="0">
                          <a:solidFill>
                            <a:srgbClr val="C00000"/>
                          </a:solidFill>
                          <a:effectLst/>
                        </a:rPr>
                        <a:t>%f</a:t>
                      </a:r>
                      <a:r>
                        <a:rPr lang="zh-CN" sz="1600" b="0" kern="100" dirty="0">
                          <a:solidFill>
                            <a:srgbClr val="C00000"/>
                          </a:solidFill>
                          <a:effectLst/>
                        </a:rPr>
                        <a:t>或</a:t>
                      </a:r>
                      <a:r>
                        <a:rPr lang="en-US" altLang="zh-CN" sz="1600" b="0" kern="100" dirty="0">
                          <a:solidFill>
                            <a:srgbClr val="C00000"/>
                          </a:solidFill>
                          <a:effectLst/>
                        </a:rPr>
                        <a:t>%</a:t>
                      </a:r>
                      <a:r>
                        <a:rPr lang="en-US" sz="1600" b="0" kern="100" dirty="0">
                          <a:solidFill>
                            <a:srgbClr val="C00000"/>
                          </a:solidFill>
                          <a:effectLst/>
                        </a:rPr>
                        <a:t>F</a:t>
                      </a:r>
                      <a:endParaRPr lang="zh-CN" sz="1600" b="0" kern="100" dirty="0">
                        <a:solidFill>
                          <a:srgbClr val="C00000"/>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en-US" sz="1600" b="0" kern="100" dirty="0">
                          <a:solidFill>
                            <a:srgbClr val="C00000"/>
                          </a:solidFill>
                          <a:effectLst/>
                        </a:rPr>
                        <a:t>%e</a:t>
                      </a:r>
                      <a:r>
                        <a:rPr lang="zh-CN" sz="1600" b="0" kern="100" dirty="0">
                          <a:solidFill>
                            <a:srgbClr val="C00000"/>
                          </a:solidFill>
                          <a:effectLst/>
                        </a:rPr>
                        <a:t>或</a:t>
                      </a:r>
                      <a:r>
                        <a:rPr lang="en-US" altLang="zh-CN" sz="1600" b="0" kern="100" dirty="0">
                          <a:solidFill>
                            <a:srgbClr val="C00000"/>
                          </a:solidFill>
                          <a:effectLst/>
                        </a:rPr>
                        <a:t>%</a:t>
                      </a:r>
                      <a:r>
                        <a:rPr lang="en-US" sz="1600" b="0" kern="100" dirty="0">
                          <a:solidFill>
                            <a:srgbClr val="C00000"/>
                          </a:solidFill>
                          <a:effectLst/>
                        </a:rPr>
                        <a:t>E</a:t>
                      </a:r>
                      <a:endParaRPr lang="zh-CN" sz="1600" b="0" kern="100" dirty="0">
                        <a:solidFill>
                          <a:srgbClr val="C00000"/>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93326">
                <a:tc>
                  <a:txBody>
                    <a:bodyPr/>
                    <a:lstStyle/>
                    <a:p>
                      <a:pPr algn="ctr">
                        <a:lnSpc>
                          <a:spcPts val="2000"/>
                        </a:lnSpc>
                        <a:spcAft>
                          <a:spcPts val="0"/>
                        </a:spcAft>
                      </a:pPr>
                      <a:r>
                        <a:rPr lang="zh-CN" sz="1600" b="0" kern="100" dirty="0">
                          <a:solidFill>
                            <a:srgbClr val="0070C0"/>
                          </a:solidFill>
                          <a:effectLst/>
                        </a:rPr>
                        <a:t>类型符</a:t>
                      </a:r>
                      <a:endParaRPr lang="zh-CN" sz="1600" b="0" kern="100" dirty="0">
                        <a:solidFill>
                          <a:srgbClr val="0070C0"/>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en-US" sz="1600" b="0" kern="100" dirty="0">
                          <a:solidFill>
                            <a:schemeClr val="tx1"/>
                          </a:solidFill>
                          <a:effectLst/>
                        </a:rPr>
                        <a:t>d</a:t>
                      </a:r>
                      <a:endParaRPr lang="zh-CN" sz="1600" b="0" kern="100" dirty="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en-US" sz="1600" b="0" kern="100" dirty="0">
                          <a:solidFill>
                            <a:schemeClr val="tx1"/>
                          </a:solidFill>
                          <a:effectLst/>
                        </a:rPr>
                        <a:t>c</a:t>
                      </a:r>
                      <a:endParaRPr lang="zh-CN" sz="1600" b="0" kern="100" dirty="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en-US" sz="1600" b="0" kern="100" dirty="0">
                          <a:solidFill>
                            <a:schemeClr val="tx1"/>
                          </a:solidFill>
                          <a:effectLst/>
                        </a:rPr>
                        <a:t>s</a:t>
                      </a:r>
                      <a:endParaRPr lang="zh-CN" sz="1600" b="0" kern="100" dirty="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en-US" altLang="zh-CN" sz="1600" b="0" kern="100" dirty="0">
                          <a:solidFill>
                            <a:schemeClr val="tx1"/>
                          </a:solidFill>
                          <a:effectLst/>
                        </a:rPr>
                        <a:t>f</a:t>
                      </a:r>
                      <a:r>
                        <a:rPr lang="zh-CN" sz="1600" b="0" kern="100" dirty="0">
                          <a:solidFill>
                            <a:schemeClr val="tx1"/>
                          </a:solidFill>
                          <a:effectLst/>
                        </a:rPr>
                        <a:t>或</a:t>
                      </a:r>
                      <a:r>
                        <a:rPr lang="en-US" sz="1600" b="0" kern="100" dirty="0">
                          <a:solidFill>
                            <a:schemeClr val="tx1"/>
                          </a:solidFill>
                          <a:effectLst/>
                        </a:rPr>
                        <a:t>F</a:t>
                      </a:r>
                      <a:endParaRPr lang="zh-CN" sz="1600" b="0" kern="100" dirty="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en-US" sz="1600" b="0" kern="100" dirty="0">
                          <a:solidFill>
                            <a:schemeClr val="tx1"/>
                          </a:solidFill>
                          <a:effectLst/>
                        </a:rPr>
                        <a:t>e</a:t>
                      </a:r>
                      <a:r>
                        <a:rPr lang="zh-CN" sz="1600" b="0" kern="100" dirty="0">
                          <a:solidFill>
                            <a:schemeClr val="tx1"/>
                          </a:solidFill>
                          <a:effectLst/>
                        </a:rPr>
                        <a:t>或</a:t>
                      </a:r>
                      <a:r>
                        <a:rPr lang="en-US" sz="1600" b="0" kern="100" dirty="0">
                          <a:solidFill>
                            <a:schemeClr val="tx1"/>
                          </a:solidFill>
                          <a:effectLst/>
                        </a:rPr>
                        <a:t>E</a:t>
                      </a:r>
                      <a:endParaRPr lang="zh-CN" sz="1600" b="0" kern="100" dirty="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1695">
                <a:tc>
                  <a:txBody>
                    <a:bodyPr/>
                    <a:lstStyle/>
                    <a:p>
                      <a:pPr algn="ctr">
                        <a:lnSpc>
                          <a:spcPts val="2000"/>
                        </a:lnSpc>
                        <a:spcAft>
                          <a:spcPts val="0"/>
                        </a:spcAft>
                      </a:pPr>
                      <a:r>
                        <a:rPr lang="zh-CN" sz="1600" b="0" kern="100" dirty="0">
                          <a:solidFill>
                            <a:srgbClr val="0070C0"/>
                          </a:solidFill>
                          <a:effectLst/>
                        </a:rPr>
                        <a:t>对应输出数据类型</a:t>
                      </a:r>
                      <a:endParaRPr lang="zh-CN" sz="1600" b="0" kern="100" dirty="0">
                        <a:solidFill>
                          <a:srgbClr val="0070C0"/>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zh-CN" sz="1600" b="0" kern="100" dirty="0">
                          <a:solidFill>
                            <a:schemeClr val="tx1"/>
                          </a:solidFill>
                          <a:effectLst/>
                        </a:rPr>
                        <a:t>整数</a:t>
                      </a:r>
                      <a:endParaRPr lang="zh-CN" sz="1600" b="0" kern="100" dirty="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zh-CN" sz="1600" b="0" kern="100" dirty="0">
                          <a:solidFill>
                            <a:schemeClr val="tx1"/>
                          </a:solidFill>
                          <a:effectLst/>
                        </a:rPr>
                        <a:t>单个字符</a:t>
                      </a:r>
                      <a:endParaRPr lang="zh-CN" sz="1600" b="0" kern="100" dirty="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zh-CN" sz="1600" b="0" kern="100" dirty="0">
                          <a:solidFill>
                            <a:schemeClr val="tx1"/>
                          </a:solidFill>
                          <a:effectLst/>
                        </a:rPr>
                        <a:t>字符串</a:t>
                      </a:r>
                      <a:endParaRPr lang="zh-CN" sz="1600" b="0" kern="100" dirty="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zh-CN" sz="1600" b="0" kern="100" dirty="0">
                          <a:solidFill>
                            <a:schemeClr val="tx1"/>
                          </a:solidFill>
                          <a:effectLst/>
                        </a:rPr>
                        <a:t>浮点数</a:t>
                      </a:r>
                      <a:endParaRPr lang="zh-CN" sz="1600" b="0" kern="100" dirty="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2000"/>
                        </a:lnSpc>
                        <a:spcAft>
                          <a:spcPts val="0"/>
                        </a:spcAft>
                      </a:pPr>
                      <a:r>
                        <a:rPr lang="zh-CN" sz="1600" b="0" kern="100" dirty="0">
                          <a:solidFill>
                            <a:schemeClr val="tx1"/>
                          </a:solidFill>
                          <a:effectLst/>
                        </a:rPr>
                        <a:t>指数形式</a:t>
                      </a:r>
                      <a:endParaRPr lang="zh-CN" sz="1600" b="0" kern="100" dirty="0">
                        <a:solidFill>
                          <a:schemeClr val="tx1"/>
                        </a:solidFill>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0977627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76318" y="699542"/>
            <a:ext cx="6534472" cy="400110"/>
          </a:xfrm>
          <a:prstGeom prst="rect">
            <a:avLst/>
          </a:prstGeom>
        </p:spPr>
        <p:txBody>
          <a:bodyPr wrap="square">
            <a:spAutoFit/>
          </a:bodyPr>
          <a:lstStyle/>
          <a:p>
            <a:r>
              <a:rPr lang="zh-CN" altLang="zh-CN" sz="2000" dirty="0">
                <a:latin typeface="黑体" panose="02010609060101010101" pitchFamily="49" charset="-122"/>
                <a:ea typeface="黑体" panose="02010609060101010101" pitchFamily="49" charset="-122"/>
              </a:rPr>
              <a:t>【例</a:t>
            </a:r>
            <a:r>
              <a:rPr lang="en-US" altLang="zh-CN" sz="2000" dirty="0">
                <a:latin typeface="黑体" panose="02010609060101010101" pitchFamily="49" charset="-122"/>
                <a:ea typeface="黑体" panose="02010609060101010101" pitchFamily="49" charset="-122"/>
              </a:rPr>
              <a:t>2.33</a:t>
            </a:r>
            <a:r>
              <a:rPr lang="zh-CN" altLang="zh-CN" sz="2000" dirty="0">
                <a:latin typeface="黑体" panose="02010609060101010101" pitchFamily="49" charset="-122"/>
                <a:ea typeface="黑体" panose="02010609060101010101" pitchFamily="49" charset="-122"/>
              </a:rPr>
              <a:t>】字符串格式化操作符</a:t>
            </a:r>
            <a:r>
              <a:rPr lang="en-US" altLang="zh-CN" sz="2000" dirty="0">
                <a:latin typeface="黑体" panose="02010609060101010101" pitchFamily="49" charset="-122"/>
                <a:ea typeface="黑体" panose="02010609060101010101" pitchFamily="49" charset="-122"/>
              </a:rPr>
              <a:t>%</a:t>
            </a:r>
            <a:r>
              <a:rPr lang="zh-CN" altLang="zh-CN" sz="2000" dirty="0">
                <a:latin typeface="黑体" panose="02010609060101010101" pitchFamily="49" charset="-122"/>
                <a:ea typeface="黑体" panose="02010609060101010101" pitchFamily="49" charset="-122"/>
              </a:rPr>
              <a:t>输出应用。</a:t>
            </a:r>
          </a:p>
        </p:txBody>
      </p:sp>
      <p:pic>
        <p:nvPicPr>
          <p:cNvPr id="6" name="图片 5"/>
          <p:cNvPicPr>
            <a:picLocks noChangeAspect="1"/>
          </p:cNvPicPr>
          <p:nvPr/>
        </p:nvPicPr>
        <p:blipFill>
          <a:blip r:embed="rId3"/>
          <a:stretch>
            <a:fillRect/>
          </a:stretch>
        </p:blipFill>
        <p:spPr>
          <a:xfrm>
            <a:off x="539552" y="1491630"/>
            <a:ext cx="7663707" cy="2160240"/>
          </a:xfrm>
          <a:prstGeom prst="rect">
            <a:avLst/>
          </a:prstGeom>
        </p:spPr>
      </p:pic>
    </p:spTree>
    <p:extLst>
      <p:ext uri="{BB962C8B-B14F-4D97-AF65-F5344CB8AC3E}">
        <p14:creationId xmlns:p14="http://schemas.microsoft.com/office/powerpoint/2010/main" val="1656116202"/>
      </p:ext>
    </p:extLst>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99592" y="1203598"/>
            <a:ext cx="7272808" cy="2952328"/>
            <a:chOff x="1979712" y="2835542"/>
            <a:chExt cx="4447125" cy="1911117"/>
          </a:xfrm>
        </p:grpSpPr>
        <p:pic>
          <p:nvPicPr>
            <p:cNvPr id="5" name="图片 4"/>
            <p:cNvPicPr>
              <a:picLocks noChangeAspect="1"/>
            </p:cNvPicPr>
            <p:nvPr/>
          </p:nvPicPr>
          <p:blipFill>
            <a:blip r:embed="rId2"/>
            <a:stretch>
              <a:fillRect/>
            </a:stretch>
          </p:blipFill>
          <p:spPr>
            <a:xfrm>
              <a:off x="1979712" y="2835542"/>
              <a:ext cx="1795292" cy="1911117"/>
            </a:xfrm>
            <a:prstGeom prst="rect">
              <a:avLst/>
            </a:prstGeom>
            <a:ln>
              <a:solidFill>
                <a:srgbClr val="FF0000"/>
              </a:solidFill>
            </a:ln>
          </p:spPr>
        </p:pic>
        <p:grpSp>
          <p:nvGrpSpPr>
            <p:cNvPr id="6" name="组合 5"/>
            <p:cNvGrpSpPr/>
            <p:nvPr/>
          </p:nvGrpSpPr>
          <p:grpSpPr>
            <a:xfrm>
              <a:off x="3923927" y="2861636"/>
              <a:ext cx="2502910" cy="1726338"/>
              <a:chOff x="4644007" y="2795786"/>
              <a:chExt cx="2522811" cy="1726338"/>
            </a:xfrm>
          </p:grpSpPr>
          <p:sp>
            <p:nvSpPr>
              <p:cNvPr id="7" name="文本框 6"/>
              <p:cNvSpPr txBox="1"/>
              <p:nvPr/>
            </p:nvSpPr>
            <p:spPr>
              <a:xfrm>
                <a:off x="4644007" y="2795786"/>
                <a:ext cx="2395158" cy="215444"/>
              </a:xfrm>
              <a:prstGeom prst="rect">
                <a:avLst/>
              </a:prstGeom>
              <a:noFill/>
            </p:spPr>
            <p:txBody>
              <a:bodyPr wrap="square" lIns="0" tIns="0" rIns="0" bIns="0" rtlCol="0">
                <a:spAutoFit/>
              </a:bodyPr>
              <a:lstStyle/>
              <a:p>
                <a:r>
                  <a:rPr lang="zh-CN" altLang="en-US" sz="1400" dirty="0"/>
                  <a:t>输出字符串和整数，空格分开</a:t>
                </a:r>
              </a:p>
            </p:txBody>
          </p:sp>
          <p:sp>
            <p:nvSpPr>
              <p:cNvPr id="8" name="文本框 7"/>
              <p:cNvSpPr txBox="1"/>
              <p:nvPr/>
            </p:nvSpPr>
            <p:spPr>
              <a:xfrm>
                <a:off x="4644008" y="3142794"/>
                <a:ext cx="2520280" cy="215444"/>
              </a:xfrm>
              <a:prstGeom prst="rect">
                <a:avLst/>
              </a:prstGeom>
              <a:noFill/>
            </p:spPr>
            <p:txBody>
              <a:bodyPr wrap="square" lIns="0" tIns="0" rIns="0" bIns="0" rtlCol="0">
                <a:spAutoFit/>
              </a:bodyPr>
              <a:lstStyle/>
              <a:p>
                <a:r>
                  <a:rPr lang="zh-CN" altLang="en-US" sz="1400" dirty="0"/>
                  <a:t>以八进制输出整数</a:t>
                </a:r>
                <a:r>
                  <a:rPr lang="en-US" altLang="zh-CN" sz="1400" dirty="0"/>
                  <a:t>123</a:t>
                </a:r>
                <a:endParaRPr lang="zh-CN" altLang="en-US" sz="1400" dirty="0"/>
              </a:p>
            </p:txBody>
          </p:sp>
          <p:sp>
            <p:nvSpPr>
              <p:cNvPr id="9" name="文本框 8"/>
              <p:cNvSpPr txBox="1"/>
              <p:nvPr/>
            </p:nvSpPr>
            <p:spPr>
              <a:xfrm>
                <a:off x="4646538" y="3465463"/>
                <a:ext cx="2520280" cy="215444"/>
              </a:xfrm>
              <a:prstGeom prst="rect">
                <a:avLst/>
              </a:prstGeom>
              <a:noFill/>
            </p:spPr>
            <p:txBody>
              <a:bodyPr wrap="square" lIns="0" tIns="0" rIns="0" bIns="0" rtlCol="0">
                <a:spAutoFit/>
              </a:bodyPr>
              <a:lstStyle/>
              <a:p>
                <a:r>
                  <a:rPr lang="zh-CN" altLang="en-US" sz="1400" dirty="0"/>
                  <a:t>以十六进制输出整数</a:t>
                </a:r>
                <a:r>
                  <a:rPr lang="en-US" altLang="zh-CN" sz="1400" dirty="0"/>
                  <a:t>123</a:t>
                </a:r>
                <a:endParaRPr lang="zh-CN" altLang="en-US" sz="1400" dirty="0"/>
              </a:p>
            </p:txBody>
          </p:sp>
          <p:sp>
            <p:nvSpPr>
              <p:cNvPr id="10" name="文本框 9"/>
              <p:cNvSpPr txBox="1"/>
              <p:nvPr/>
            </p:nvSpPr>
            <p:spPr>
              <a:xfrm>
                <a:off x="4644008" y="3788132"/>
                <a:ext cx="2520280" cy="215444"/>
              </a:xfrm>
              <a:prstGeom prst="rect">
                <a:avLst/>
              </a:prstGeom>
              <a:noFill/>
            </p:spPr>
            <p:txBody>
              <a:bodyPr wrap="square" lIns="0" tIns="0" rIns="0" bIns="0" rtlCol="0">
                <a:spAutoFit/>
              </a:bodyPr>
              <a:lstStyle/>
              <a:p>
                <a:r>
                  <a:rPr lang="zh-CN" altLang="en-US" sz="1400" dirty="0"/>
                  <a:t>以十进制输出整数</a:t>
                </a:r>
                <a:r>
                  <a:rPr lang="en-US" altLang="zh-CN" sz="1400" dirty="0"/>
                  <a:t>123</a:t>
                </a:r>
                <a:endParaRPr lang="zh-CN" altLang="en-US" sz="1400" dirty="0"/>
              </a:p>
            </p:txBody>
          </p:sp>
          <p:sp>
            <p:nvSpPr>
              <p:cNvPr id="11" name="文本框 10"/>
              <p:cNvSpPr txBox="1"/>
              <p:nvPr/>
            </p:nvSpPr>
            <p:spPr>
              <a:xfrm>
                <a:off x="4644008" y="4306680"/>
                <a:ext cx="2520280" cy="215444"/>
              </a:xfrm>
              <a:prstGeom prst="rect">
                <a:avLst/>
              </a:prstGeom>
              <a:noFill/>
            </p:spPr>
            <p:txBody>
              <a:bodyPr wrap="square" lIns="0" tIns="0" rIns="0" bIns="0" rtlCol="0">
                <a:spAutoFit/>
              </a:bodyPr>
              <a:lstStyle/>
              <a:p>
                <a:r>
                  <a:rPr lang="zh-CN" altLang="en-US" sz="1400" dirty="0"/>
                  <a:t>以十进制输出变量</a:t>
                </a:r>
                <a:r>
                  <a:rPr lang="en-US" altLang="zh-CN" sz="1400" dirty="0"/>
                  <a:t>x</a:t>
                </a:r>
                <a:r>
                  <a:rPr lang="zh-CN" altLang="en-US" sz="1400" dirty="0"/>
                  <a:t>的值</a:t>
                </a:r>
              </a:p>
            </p:txBody>
          </p:sp>
        </p:grpSp>
      </p:grpSp>
      <p:sp>
        <p:nvSpPr>
          <p:cNvPr id="12" name="标题 1"/>
          <p:cNvSpPr>
            <a:spLocks noGrp="1"/>
          </p:cNvSpPr>
          <p:nvPr>
            <p:ph type="title"/>
          </p:nvPr>
        </p:nvSpPr>
        <p:spPr>
          <a:xfrm>
            <a:off x="899592" y="483518"/>
            <a:ext cx="2276996" cy="416148"/>
          </a:xfrm>
        </p:spPr>
        <p:txBody>
          <a:bodyPr/>
          <a:lstStyle/>
          <a:p>
            <a:r>
              <a:rPr lang="zh-CN" altLang="en-US" sz="2400" b="0" dirty="0"/>
              <a:t>输出整数</a:t>
            </a:r>
          </a:p>
        </p:txBody>
      </p:sp>
    </p:spTree>
    <p:extLst>
      <p:ext uri="{BB962C8B-B14F-4D97-AF65-F5344CB8AC3E}">
        <p14:creationId xmlns:p14="http://schemas.microsoft.com/office/powerpoint/2010/main" val="95334781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2796" y="267494"/>
            <a:ext cx="2276996" cy="416148"/>
          </a:xfrm>
        </p:spPr>
        <p:txBody>
          <a:bodyPr/>
          <a:lstStyle/>
          <a:p>
            <a:r>
              <a:rPr lang="zh-CN" altLang="en-US" sz="2400" b="0" dirty="0"/>
              <a:t>输出浮点数</a:t>
            </a:r>
          </a:p>
        </p:txBody>
      </p:sp>
      <p:sp>
        <p:nvSpPr>
          <p:cNvPr id="4" name="矩形 3"/>
          <p:cNvSpPr/>
          <p:nvPr/>
        </p:nvSpPr>
        <p:spPr>
          <a:xfrm>
            <a:off x="422796" y="761672"/>
            <a:ext cx="8558336" cy="39703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dirty="0"/>
              <a:t>&gt;&gt;&gt; </a:t>
            </a:r>
            <a:r>
              <a:rPr lang="en-US" altLang="zh-CN" dirty="0">
                <a:solidFill>
                  <a:srgbClr val="0000FF"/>
                </a:solidFill>
              </a:rPr>
              <a:t>print</a:t>
            </a:r>
            <a:r>
              <a:rPr lang="en-US" altLang="zh-CN" dirty="0"/>
              <a:t>(</a:t>
            </a:r>
            <a:r>
              <a:rPr lang="en-US" altLang="zh-CN" dirty="0">
                <a:solidFill>
                  <a:srgbClr val="800000"/>
                </a:solidFill>
              </a:rPr>
              <a:t>'%f'</a:t>
            </a:r>
            <a:r>
              <a:rPr lang="en-US" altLang="zh-CN" dirty="0"/>
              <a:t> % 1.11)    </a:t>
            </a:r>
            <a:r>
              <a:rPr lang="en-US" altLang="zh-CN" dirty="0">
                <a:solidFill>
                  <a:srgbClr val="008000"/>
                </a:solidFill>
              </a:rPr>
              <a:t># </a:t>
            </a:r>
            <a:r>
              <a:rPr lang="zh-CN" altLang="en-US" dirty="0">
                <a:solidFill>
                  <a:srgbClr val="008000"/>
                </a:solidFill>
              </a:rPr>
              <a:t>默认保留</a:t>
            </a:r>
            <a:r>
              <a:rPr lang="en-US" altLang="zh-CN" dirty="0">
                <a:solidFill>
                  <a:srgbClr val="008000"/>
                </a:solidFill>
              </a:rPr>
              <a:t>6</a:t>
            </a:r>
            <a:r>
              <a:rPr lang="zh-CN" altLang="en-US" dirty="0">
                <a:solidFill>
                  <a:srgbClr val="008000"/>
                </a:solidFill>
              </a:rPr>
              <a:t>位小数</a:t>
            </a:r>
            <a:r>
              <a:rPr lang="zh-CN" altLang="en-US" dirty="0"/>
              <a:t> </a:t>
            </a:r>
            <a:endParaRPr lang="en-US" altLang="zh-CN" dirty="0"/>
          </a:p>
          <a:p>
            <a:r>
              <a:rPr lang="en-US" altLang="zh-CN" dirty="0"/>
              <a:t>1.110000 </a:t>
            </a:r>
          </a:p>
          <a:p>
            <a:r>
              <a:rPr lang="en-US" altLang="zh-CN" dirty="0"/>
              <a:t>&gt;&gt;&gt; </a:t>
            </a:r>
            <a:r>
              <a:rPr lang="en-US" altLang="zh-CN" dirty="0">
                <a:solidFill>
                  <a:srgbClr val="0000FF"/>
                </a:solidFill>
              </a:rPr>
              <a:t>print</a:t>
            </a:r>
            <a:r>
              <a:rPr lang="en-US" altLang="zh-CN" dirty="0"/>
              <a:t>(</a:t>
            </a:r>
            <a:r>
              <a:rPr lang="en-US" altLang="zh-CN" dirty="0">
                <a:solidFill>
                  <a:srgbClr val="800000"/>
                </a:solidFill>
              </a:rPr>
              <a:t>'%.1f'</a:t>
            </a:r>
            <a:r>
              <a:rPr lang="en-US" altLang="zh-CN" dirty="0"/>
              <a:t> % 1.11)   </a:t>
            </a:r>
            <a:r>
              <a:rPr lang="en-US" altLang="zh-CN" dirty="0">
                <a:solidFill>
                  <a:srgbClr val="008000"/>
                </a:solidFill>
              </a:rPr>
              <a:t># </a:t>
            </a:r>
            <a:r>
              <a:rPr lang="zh-CN" altLang="en-US" dirty="0">
                <a:solidFill>
                  <a:srgbClr val="008000"/>
                </a:solidFill>
              </a:rPr>
              <a:t>取</a:t>
            </a:r>
            <a:r>
              <a:rPr lang="en-US" altLang="zh-CN" dirty="0">
                <a:solidFill>
                  <a:srgbClr val="008000"/>
                </a:solidFill>
              </a:rPr>
              <a:t>1</a:t>
            </a:r>
            <a:r>
              <a:rPr lang="zh-CN" altLang="en-US" dirty="0">
                <a:solidFill>
                  <a:srgbClr val="008000"/>
                </a:solidFill>
              </a:rPr>
              <a:t>位小数</a:t>
            </a:r>
            <a:r>
              <a:rPr lang="zh-CN" altLang="en-US" dirty="0"/>
              <a:t> </a:t>
            </a:r>
            <a:endParaRPr lang="en-US" altLang="zh-CN" dirty="0">
              <a:solidFill>
                <a:srgbClr val="008080"/>
              </a:solidFill>
            </a:endParaRPr>
          </a:p>
          <a:p>
            <a:r>
              <a:rPr lang="zh-CN" altLang="en-US" dirty="0"/>
              <a:t> </a:t>
            </a:r>
            <a:r>
              <a:rPr lang="en-US" altLang="zh-CN" dirty="0"/>
              <a:t>1.1 </a:t>
            </a:r>
          </a:p>
          <a:p>
            <a:r>
              <a:rPr lang="zh-CN" altLang="en-US" dirty="0"/>
              <a:t> </a:t>
            </a:r>
            <a:r>
              <a:rPr lang="en-US" altLang="zh-CN" dirty="0"/>
              <a:t>&gt;&gt;&gt; </a:t>
            </a:r>
            <a:r>
              <a:rPr lang="en-US" altLang="zh-CN" dirty="0">
                <a:solidFill>
                  <a:srgbClr val="0000FF"/>
                </a:solidFill>
              </a:rPr>
              <a:t>print</a:t>
            </a:r>
            <a:r>
              <a:rPr lang="en-US" altLang="zh-CN" dirty="0"/>
              <a:t>(</a:t>
            </a:r>
            <a:r>
              <a:rPr lang="en-US" altLang="zh-CN" dirty="0">
                <a:solidFill>
                  <a:srgbClr val="800000"/>
                </a:solidFill>
              </a:rPr>
              <a:t>'%e'</a:t>
            </a:r>
            <a:r>
              <a:rPr lang="en-US" altLang="zh-CN" dirty="0"/>
              <a:t> % 1.11)     </a:t>
            </a:r>
            <a:r>
              <a:rPr lang="en-US" altLang="zh-CN" dirty="0">
                <a:solidFill>
                  <a:srgbClr val="008000"/>
                </a:solidFill>
              </a:rPr>
              <a:t># </a:t>
            </a:r>
            <a:r>
              <a:rPr lang="zh-CN" altLang="en-US" dirty="0">
                <a:solidFill>
                  <a:srgbClr val="008000"/>
                </a:solidFill>
              </a:rPr>
              <a:t>默认</a:t>
            </a:r>
            <a:r>
              <a:rPr lang="en-US" altLang="zh-CN" dirty="0">
                <a:solidFill>
                  <a:srgbClr val="008000"/>
                </a:solidFill>
              </a:rPr>
              <a:t>6</a:t>
            </a:r>
            <a:r>
              <a:rPr lang="zh-CN" altLang="en-US" dirty="0">
                <a:solidFill>
                  <a:srgbClr val="008000"/>
                </a:solidFill>
              </a:rPr>
              <a:t>位小数，用科学计数法</a:t>
            </a:r>
            <a:r>
              <a:rPr lang="zh-CN" altLang="en-US" dirty="0"/>
              <a:t> </a:t>
            </a:r>
            <a:endParaRPr lang="en-US" altLang="zh-CN" dirty="0">
              <a:solidFill>
                <a:srgbClr val="008080"/>
              </a:solidFill>
            </a:endParaRPr>
          </a:p>
          <a:p>
            <a:r>
              <a:rPr lang="zh-CN" altLang="en-US" dirty="0"/>
              <a:t> </a:t>
            </a:r>
            <a:r>
              <a:rPr lang="en-US" altLang="zh-CN" dirty="0"/>
              <a:t>1.110000e+00 </a:t>
            </a:r>
            <a:endParaRPr lang="en-US" altLang="zh-CN" dirty="0">
              <a:solidFill>
                <a:srgbClr val="008080"/>
              </a:solidFill>
            </a:endParaRPr>
          </a:p>
          <a:p>
            <a:r>
              <a:rPr lang="en-US" altLang="zh-CN" dirty="0"/>
              <a:t> &gt;&gt;&gt; </a:t>
            </a:r>
            <a:r>
              <a:rPr lang="en-US" altLang="zh-CN" dirty="0">
                <a:solidFill>
                  <a:srgbClr val="0000FF"/>
                </a:solidFill>
              </a:rPr>
              <a:t>print</a:t>
            </a:r>
            <a:r>
              <a:rPr lang="en-US" altLang="zh-CN" dirty="0"/>
              <a:t>(</a:t>
            </a:r>
            <a:r>
              <a:rPr lang="en-US" altLang="zh-CN" dirty="0">
                <a:solidFill>
                  <a:srgbClr val="800000"/>
                </a:solidFill>
              </a:rPr>
              <a:t>'%.3e'</a:t>
            </a:r>
            <a:r>
              <a:rPr lang="en-US" altLang="zh-CN" dirty="0"/>
              <a:t> % 1.11)     </a:t>
            </a:r>
            <a:r>
              <a:rPr lang="en-US" altLang="zh-CN" dirty="0">
                <a:solidFill>
                  <a:srgbClr val="008000"/>
                </a:solidFill>
              </a:rPr>
              <a:t># </a:t>
            </a:r>
            <a:r>
              <a:rPr lang="zh-CN" altLang="en-US" dirty="0">
                <a:solidFill>
                  <a:srgbClr val="008000"/>
                </a:solidFill>
              </a:rPr>
              <a:t>取</a:t>
            </a:r>
            <a:r>
              <a:rPr lang="en-US" altLang="zh-CN" dirty="0">
                <a:solidFill>
                  <a:srgbClr val="008000"/>
                </a:solidFill>
              </a:rPr>
              <a:t>3</a:t>
            </a:r>
            <a:r>
              <a:rPr lang="zh-CN" altLang="en-US" dirty="0">
                <a:solidFill>
                  <a:srgbClr val="008000"/>
                </a:solidFill>
              </a:rPr>
              <a:t>位小数，用科学计数法</a:t>
            </a:r>
            <a:r>
              <a:rPr lang="zh-CN" altLang="en-US" dirty="0"/>
              <a:t> </a:t>
            </a:r>
            <a:endParaRPr lang="en-US" altLang="zh-CN" dirty="0">
              <a:solidFill>
                <a:srgbClr val="008080"/>
              </a:solidFill>
            </a:endParaRPr>
          </a:p>
          <a:p>
            <a:r>
              <a:rPr lang="zh-CN" altLang="en-US" dirty="0"/>
              <a:t> </a:t>
            </a:r>
            <a:r>
              <a:rPr lang="en-US" altLang="zh-CN" dirty="0"/>
              <a:t>1.110e+00 </a:t>
            </a:r>
            <a:endParaRPr lang="en-US" altLang="zh-CN" dirty="0">
              <a:solidFill>
                <a:srgbClr val="008080"/>
              </a:solidFill>
            </a:endParaRPr>
          </a:p>
          <a:p>
            <a:r>
              <a:rPr lang="en-US" altLang="zh-CN" dirty="0"/>
              <a:t> &gt;&gt;&gt; </a:t>
            </a:r>
            <a:r>
              <a:rPr lang="en-US" altLang="zh-CN" dirty="0">
                <a:solidFill>
                  <a:srgbClr val="0000FF"/>
                </a:solidFill>
              </a:rPr>
              <a:t>print</a:t>
            </a:r>
            <a:r>
              <a:rPr lang="en-US" altLang="zh-CN" dirty="0"/>
              <a:t>(</a:t>
            </a:r>
            <a:r>
              <a:rPr lang="en-US" altLang="zh-CN" dirty="0">
                <a:solidFill>
                  <a:srgbClr val="800000"/>
                </a:solidFill>
              </a:rPr>
              <a:t>'%g'</a:t>
            </a:r>
            <a:r>
              <a:rPr lang="en-US" altLang="zh-CN" dirty="0"/>
              <a:t> % 1111.1111)   </a:t>
            </a:r>
            <a:r>
              <a:rPr lang="en-US" altLang="zh-CN" dirty="0">
                <a:solidFill>
                  <a:srgbClr val="008000"/>
                </a:solidFill>
              </a:rPr>
              <a:t># </a:t>
            </a:r>
            <a:r>
              <a:rPr lang="zh-CN" altLang="en-US" dirty="0">
                <a:solidFill>
                  <a:srgbClr val="008000"/>
                </a:solidFill>
              </a:rPr>
              <a:t>默认</a:t>
            </a:r>
            <a:r>
              <a:rPr lang="en-US" altLang="zh-CN" dirty="0">
                <a:solidFill>
                  <a:srgbClr val="008000"/>
                </a:solidFill>
              </a:rPr>
              <a:t>6</a:t>
            </a:r>
            <a:r>
              <a:rPr lang="zh-CN" altLang="en-US" dirty="0">
                <a:solidFill>
                  <a:srgbClr val="008000"/>
                </a:solidFill>
              </a:rPr>
              <a:t>位有效数字</a:t>
            </a:r>
            <a:r>
              <a:rPr lang="zh-CN" altLang="en-US" dirty="0"/>
              <a:t> </a:t>
            </a:r>
            <a:endParaRPr lang="en-US" altLang="zh-CN" dirty="0">
              <a:solidFill>
                <a:srgbClr val="008080"/>
              </a:solidFill>
            </a:endParaRPr>
          </a:p>
          <a:p>
            <a:r>
              <a:rPr lang="zh-CN" altLang="en-US" dirty="0"/>
              <a:t> </a:t>
            </a:r>
            <a:r>
              <a:rPr lang="en-US" altLang="zh-CN" dirty="0"/>
              <a:t>1111.11 </a:t>
            </a:r>
            <a:endParaRPr lang="en-US" altLang="zh-CN" dirty="0">
              <a:solidFill>
                <a:srgbClr val="008080"/>
              </a:solidFill>
            </a:endParaRPr>
          </a:p>
          <a:p>
            <a:r>
              <a:rPr lang="zh-CN" altLang="en-US" dirty="0"/>
              <a:t> </a:t>
            </a:r>
            <a:r>
              <a:rPr lang="en-US" altLang="zh-CN" dirty="0"/>
              <a:t>&gt;&gt;&gt; </a:t>
            </a:r>
            <a:r>
              <a:rPr lang="en-US" altLang="zh-CN" dirty="0">
                <a:solidFill>
                  <a:srgbClr val="0000FF"/>
                </a:solidFill>
              </a:rPr>
              <a:t>print</a:t>
            </a:r>
            <a:r>
              <a:rPr lang="en-US" altLang="zh-CN" dirty="0"/>
              <a:t>(</a:t>
            </a:r>
            <a:r>
              <a:rPr lang="en-US" altLang="zh-CN" dirty="0">
                <a:solidFill>
                  <a:srgbClr val="800000"/>
                </a:solidFill>
              </a:rPr>
              <a:t>'%.7g'</a:t>
            </a:r>
            <a:r>
              <a:rPr lang="en-US" altLang="zh-CN" dirty="0"/>
              <a:t> % 1111.1111)   </a:t>
            </a:r>
            <a:r>
              <a:rPr lang="en-US" altLang="zh-CN" dirty="0">
                <a:solidFill>
                  <a:srgbClr val="008000"/>
                </a:solidFill>
              </a:rPr>
              <a:t># </a:t>
            </a:r>
            <a:r>
              <a:rPr lang="zh-CN" altLang="en-US" dirty="0">
                <a:solidFill>
                  <a:srgbClr val="008000"/>
                </a:solidFill>
              </a:rPr>
              <a:t>取</a:t>
            </a:r>
            <a:r>
              <a:rPr lang="en-US" altLang="zh-CN" dirty="0">
                <a:solidFill>
                  <a:srgbClr val="008000"/>
                </a:solidFill>
              </a:rPr>
              <a:t>7</a:t>
            </a:r>
            <a:r>
              <a:rPr lang="zh-CN" altLang="en-US" dirty="0">
                <a:solidFill>
                  <a:srgbClr val="008000"/>
                </a:solidFill>
              </a:rPr>
              <a:t>位有效数字</a:t>
            </a:r>
            <a:r>
              <a:rPr lang="zh-CN" altLang="en-US" dirty="0"/>
              <a:t> </a:t>
            </a:r>
            <a:endParaRPr lang="en-US" altLang="zh-CN" dirty="0">
              <a:solidFill>
                <a:srgbClr val="008080"/>
              </a:solidFill>
            </a:endParaRPr>
          </a:p>
          <a:p>
            <a:r>
              <a:rPr lang="zh-CN" altLang="en-US" dirty="0"/>
              <a:t> </a:t>
            </a:r>
            <a:r>
              <a:rPr lang="en-US" altLang="zh-CN" dirty="0"/>
              <a:t>1111.111 </a:t>
            </a:r>
            <a:endParaRPr lang="en-US" altLang="zh-CN" dirty="0">
              <a:solidFill>
                <a:srgbClr val="008080"/>
              </a:solidFill>
            </a:endParaRPr>
          </a:p>
          <a:p>
            <a:r>
              <a:rPr lang="zh-CN" altLang="en-US" dirty="0"/>
              <a:t> </a:t>
            </a:r>
            <a:r>
              <a:rPr lang="en-US" altLang="zh-CN" dirty="0"/>
              <a:t>&gt;&gt;&gt; </a:t>
            </a:r>
            <a:r>
              <a:rPr lang="en-US" altLang="zh-CN" dirty="0">
                <a:solidFill>
                  <a:srgbClr val="0000FF"/>
                </a:solidFill>
              </a:rPr>
              <a:t>print</a:t>
            </a:r>
            <a:r>
              <a:rPr lang="en-US" altLang="zh-CN" dirty="0"/>
              <a:t>(</a:t>
            </a:r>
            <a:r>
              <a:rPr lang="en-US" altLang="zh-CN" dirty="0">
                <a:solidFill>
                  <a:srgbClr val="800000"/>
                </a:solidFill>
              </a:rPr>
              <a:t>'%.2g'</a:t>
            </a:r>
            <a:r>
              <a:rPr lang="en-US" altLang="zh-CN" dirty="0"/>
              <a:t> % 1111.1111)     </a:t>
            </a:r>
            <a:r>
              <a:rPr lang="en-US" altLang="zh-CN" dirty="0">
                <a:solidFill>
                  <a:srgbClr val="008000"/>
                </a:solidFill>
              </a:rPr>
              <a:t># </a:t>
            </a:r>
            <a:r>
              <a:rPr lang="zh-CN" altLang="en-US" dirty="0">
                <a:solidFill>
                  <a:srgbClr val="008000"/>
                </a:solidFill>
              </a:rPr>
              <a:t>取</a:t>
            </a:r>
            <a:r>
              <a:rPr lang="en-US" altLang="zh-CN" dirty="0">
                <a:solidFill>
                  <a:srgbClr val="008000"/>
                </a:solidFill>
              </a:rPr>
              <a:t>2</a:t>
            </a:r>
            <a:r>
              <a:rPr lang="zh-CN" altLang="en-US" dirty="0">
                <a:solidFill>
                  <a:srgbClr val="008000"/>
                </a:solidFill>
              </a:rPr>
              <a:t>位有效数字，自动转换为科学计数法</a:t>
            </a:r>
            <a:r>
              <a:rPr lang="zh-CN" altLang="en-US" dirty="0"/>
              <a:t> </a:t>
            </a:r>
            <a:endParaRPr lang="en-US" altLang="zh-CN" dirty="0">
              <a:solidFill>
                <a:srgbClr val="008080"/>
              </a:solidFill>
            </a:endParaRPr>
          </a:p>
          <a:p>
            <a:r>
              <a:rPr lang="en-US" altLang="zh-CN" dirty="0"/>
              <a:t>1.1e+03</a:t>
            </a:r>
            <a:endParaRPr lang="zh-CN" altLang="en-US" dirty="0"/>
          </a:p>
        </p:txBody>
      </p:sp>
      <p:sp>
        <p:nvSpPr>
          <p:cNvPr id="3" name="标注: 线形 2">
            <a:extLst>
              <a:ext uri="{FF2B5EF4-FFF2-40B4-BE49-F238E27FC236}">
                <a16:creationId xmlns:a16="http://schemas.microsoft.com/office/drawing/2014/main" id="{FC11E062-A90E-AAAD-6E7D-23B6E7C7CC25}"/>
              </a:ext>
            </a:extLst>
          </p:cNvPr>
          <p:cNvSpPr/>
          <p:nvPr/>
        </p:nvSpPr>
        <p:spPr bwMode="auto">
          <a:xfrm>
            <a:off x="4427984" y="3275111"/>
            <a:ext cx="4084773" cy="307777"/>
          </a:xfrm>
          <a:prstGeom prst="borderCallout1">
            <a:avLst>
              <a:gd name="adj1" fmla="val 18750"/>
              <a:gd name="adj2" fmla="val -8333"/>
              <a:gd name="adj3" fmla="val 182965"/>
              <a:gd name="adj4" fmla="val -340680"/>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400" b="0" i="0" dirty="0">
                <a:solidFill>
                  <a:schemeClr val="bg1"/>
                </a:solidFill>
                <a:effectLst/>
                <a:latin typeface="Arial" panose="020B0604020202020204" pitchFamily="34" charset="0"/>
              </a:rPr>
              <a:t>%g</a:t>
            </a:r>
            <a:r>
              <a:rPr lang="zh-CN" altLang="en-US" sz="1400" b="0" i="0" dirty="0">
                <a:solidFill>
                  <a:schemeClr val="bg1"/>
                </a:solidFill>
                <a:effectLst/>
                <a:latin typeface="Arial" panose="020B0604020202020204" pitchFamily="34" charset="0"/>
              </a:rPr>
              <a:t>表示浮点数或整数</a:t>
            </a:r>
            <a:r>
              <a:rPr lang="en-US" altLang="zh-CN" sz="1400" b="0" i="0" dirty="0">
                <a:solidFill>
                  <a:schemeClr val="bg1"/>
                </a:solidFill>
                <a:effectLst/>
                <a:latin typeface="Arial" panose="020B0604020202020204" pitchFamily="34" charset="0"/>
              </a:rPr>
              <a:t>,</a:t>
            </a:r>
            <a:r>
              <a:rPr lang="zh-CN" altLang="en-US" sz="1400" b="0" i="0" dirty="0">
                <a:solidFill>
                  <a:schemeClr val="bg1"/>
                </a:solidFill>
                <a:effectLst/>
                <a:latin typeface="Arial" panose="020B0604020202020204" pitchFamily="34" charset="0"/>
              </a:rPr>
              <a:t>能自动选择最合适的表示法</a:t>
            </a:r>
            <a:endParaRPr kumimoji="0" lang="zh-CN" altLang="en-US" sz="1400" b="0" i="0" u="none" strike="noStrike" cap="none" normalizeH="0" baseline="0" dirty="0">
              <a:ln>
                <a:noFill/>
              </a:ln>
              <a:solidFill>
                <a:schemeClr val="bg1"/>
              </a:solidFill>
              <a:effectLst/>
              <a:latin typeface="Arial" pitchFamily="34" charset="0"/>
            </a:endParaRPr>
          </a:p>
        </p:txBody>
      </p:sp>
    </p:spTree>
    <p:extLst>
      <p:ext uri="{BB962C8B-B14F-4D97-AF65-F5344CB8AC3E}">
        <p14:creationId xmlns:p14="http://schemas.microsoft.com/office/powerpoint/2010/main" val="24243117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ChangeArrowheads="1"/>
          </p:cNvSpPr>
          <p:nvPr/>
        </p:nvSpPr>
        <p:spPr bwMode="auto">
          <a:xfrm>
            <a:off x="447541" y="1030923"/>
            <a:ext cx="8280920" cy="9551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p>
            <a:pPr>
              <a:lnSpc>
                <a:spcPct val="150000"/>
              </a:lnSpc>
              <a:spcBef>
                <a:spcPts val="1200"/>
              </a:spcBef>
            </a:pPr>
            <a:r>
              <a:rPr lang="zh-CN" altLang="en-US" sz="2000" b="1" dirty="0">
                <a:solidFill>
                  <a:srgbClr val="0070C0"/>
                </a:solidFill>
                <a:latin typeface="微软雅黑" panose="020B0503020204020204" pitchFamily="34" charset="-122"/>
                <a:ea typeface="微软雅黑" panose="020B0503020204020204" pitchFamily="34" charset="-122"/>
                <a:cs typeface="Courier New" pitchFamily="49" charset="0"/>
              </a:rPr>
              <a:t>（</a:t>
            </a:r>
            <a:r>
              <a:rPr lang="en-US" altLang="zh-CN" sz="2000" b="1" dirty="0">
                <a:solidFill>
                  <a:srgbClr val="0070C0"/>
                </a:solidFill>
                <a:latin typeface="微软雅黑" panose="020B0503020204020204" pitchFamily="34" charset="-122"/>
                <a:ea typeface="微软雅黑" panose="020B0503020204020204" pitchFamily="34" charset="-122"/>
                <a:cs typeface="Courier New" pitchFamily="49" charset="0"/>
              </a:rPr>
              <a:t>2</a:t>
            </a:r>
            <a:r>
              <a:rPr lang="zh-CN" altLang="en-US" sz="2000" b="1" dirty="0">
                <a:solidFill>
                  <a:srgbClr val="0070C0"/>
                </a:solidFill>
                <a:latin typeface="微软雅黑" panose="020B0503020204020204" pitchFamily="34" charset="-122"/>
                <a:ea typeface="微软雅黑" panose="020B0503020204020204" pitchFamily="34" charset="-122"/>
                <a:cs typeface="Courier New" pitchFamily="49" charset="0"/>
              </a:rPr>
              <a:t>）</a:t>
            </a:r>
            <a:r>
              <a:rPr lang="en-US" altLang="zh-CN" sz="2000" b="1" dirty="0">
                <a:solidFill>
                  <a:srgbClr val="0070C0"/>
                </a:solidFill>
                <a:latin typeface="微软雅黑" panose="020B0503020204020204" pitchFamily="34" charset="-122"/>
                <a:ea typeface="微软雅黑" panose="020B0503020204020204" pitchFamily="34" charset="-122"/>
              </a:rPr>
              <a:t>format</a:t>
            </a:r>
            <a:r>
              <a:rPr lang="zh-CN" altLang="zh-CN" sz="2000" b="1" dirty="0">
                <a:solidFill>
                  <a:srgbClr val="0070C0"/>
                </a:solidFill>
                <a:latin typeface="微软雅黑" panose="020B0503020204020204" pitchFamily="34" charset="-122"/>
                <a:ea typeface="微软雅黑" panose="020B0503020204020204" pitchFamily="34" charset="-122"/>
              </a:rPr>
              <a:t>方法</a:t>
            </a:r>
            <a:endParaRPr lang="en-US" altLang="zh-CN" sz="2000" b="1" dirty="0">
              <a:solidFill>
                <a:srgbClr val="0070C0"/>
              </a:solidFill>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形式：</a:t>
            </a:r>
            <a:r>
              <a:rPr lang="zh-CN" altLang="zh-CN" b="1" dirty="0">
                <a:solidFill>
                  <a:srgbClr val="00B050"/>
                </a:solidFill>
                <a:latin typeface="微软雅黑" panose="020B0503020204020204" pitchFamily="34" charset="-122"/>
                <a:ea typeface="微软雅黑" panose="020B0503020204020204" pitchFamily="34" charset="-122"/>
              </a:rPr>
              <a:t>格式字符串</a:t>
            </a:r>
            <a:r>
              <a:rPr lang="en-US" altLang="zh-CN" b="1" dirty="0">
                <a:solidFill>
                  <a:srgbClr val="00B050"/>
                </a:solidFill>
                <a:latin typeface="微软雅黑" panose="020B0503020204020204" pitchFamily="34" charset="-122"/>
                <a:ea typeface="微软雅黑" panose="020B0503020204020204" pitchFamily="34" charset="-122"/>
              </a:rPr>
              <a:t>.format</a:t>
            </a:r>
            <a:r>
              <a:rPr lang="zh-CN" altLang="zh-CN" b="1" dirty="0">
                <a:solidFill>
                  <a:srgbClr val="00B050"/>
                </a:solidFill>
                <a:latin typeface="微软雅黑" panose="020B0503020204020204" pitchFamily="34" charset="-122"/>
                <a:ea typeface="微软雅黑" panose="020B0503020204020204" pitchFamily="34" charset="-122"/>
              </a:rPr>
              <a:t>（输出元组序列）</a:t>
            </a:r>
          </a:p>
        </p:txBody>
      </p:sp>
      <p:sp>
        <p:nvSpPr>
          <p:cNvPr id="3" name="Rectangle 2"/>
          <p:cNvSpPr>
            <a:spLocks noChangeArrowheads="1"/>
          </p:cNvSpPr>
          <p:nvPr/>
        </p:nvSpPr>
        <p:spPr bwMode="auto">
          <a:xfrm>
            <a:off x="631562" y="521512"/>
            <a:ext cx="8096899" cy="5380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p>
            <a:pPr>
              <a:lnSpc>
                <a:spcPct val="150000"/>
              </a:lnSpc>
              <a:spcBef>
                <a:spcPts val="1200"/>
              </a:spcBef>
            </a:pPr>
            <a:r>
              <a:rPr lang="zh-CN" altLang="en-US" sz="2400" b="1" dirty="0">
                <a:solidFill>
                  <a:srgbClr val="C00000"/>
                </a:solidFill>
                <a:latin typeface="Courier New" pitchFamily="49" charset="0"/>
                <a:ea typeface="微软雅黑" pitchFamily="34" charset="-122"/>
                <a:cs typeface="Courier New" pitchFamily="49" charset="0"/>
              </a:rPr>
              <a:t>格式化控制输出</a:t>
            </a:r>
          </a:p>
        </p:txBody>
      </p:sp>
      <p:sp>
        <p:nvSpPr>
          <p:cNvPr id="4" name="矩形 3"/>
          <p:cNvSpPr/>
          <p:nvPr/>
        </p:nvSpPr>
        <p:spPr>
          <a:xfrm>
            <a:off x="664726" y="2101563"/>
            <a:ext cx="7056784" cy="369332"/>
          </a:xfrm>
          <a:prstGeom prst="rect">
            <a:avLst/>
          </a:prstGeom>
          <a:solidFill>
            <a:schemeClr val="accent5">
              <a:lumMod val="60000"/>
              <a:lumOff val="40000"/>
            </a:schemeClr>
          </a:solidFill>
        </p:spPr>
        <p:txBody>
          <a:bodyPr wrap="square">
            <a:spAutoFit/>
          </a:bodyPr>
          <a:lstStyle/>
          <a:p>
            <a:r>
              <a:rPr lang="zh-CN" altLang="en-US" dirty="0">
                <a:solidFill>
                  <a:srgbClr val="404040"/>
                </a:solidFill>
                <a:latin typeface="+mn-ea"/>
                <a:ea typeface="+mn-ea"/>
              </a:rPr>
              <a:t> </a:t>
            </a:r>
            <a:r>
              <a:rPr lang="en-US" altLang="zh-CN" dirty="0">
                <a:solidFill>
                  <a:srgbClr val="404040"/>
                </a:solidFill>
                <a:latin typeface="+mn-ea"/>
                <a:ea typeface="+mn-ea"/>
              </a:rPr>
              <a:t>print</a:t>
            </a:r>
            <a:r>
              <a:rPr lang="en-US" altLang="zh-CN" b="1" dirty="0">
                <a:latin typeface="+mn-ea"/>
                <a:ea typeface="+mn-ea"/>
              </a:rPr>
              <a:t>(</a:t>
            </a:r>
            <a:r>
              <a:rPr lang="en-US" altLang="zh-CN" b="1" dirty="0">
                <a:solidFill>
                  <a:srgbClr val="FF0000"/>
                </a:solidFill>
                <a:latin typeface="+mn-ea"/>
                <a:ea typeface="+mn-ea"/>
              </a:rPr>
              <a:t>‘{&lt;</a:t>
            </a:r>
            <a:r>
              <a:rPr lang="zh-CN" altLang="en-US" b="1" dirty="0">
                <a:solidFill>
                  <a:srgbClr val="FF0000"/>
                </a:solidFill>
                <a:latin typeface="+mn-ea"/>
                <a:ea typeface="+mn-ea"/>
              </a:rPr>
              <a:t>参数序号</a:t>
            </a:r>
            <a:r>
              <a:rPr lang="en-US" altLang="zh-CN" b="1" dirty="0">
                <a:solidFill>
                  <a:srgbClr val="FF0000"/>
                </a:solidFill>
                <a:latin typeface="+mn-ea"/>
                <a:ea typeface="+mn-ea"/>
              </a:rPr>
              <a:t>&gt;: &lt;</a:t>
            </a:r>
            <a:r>
              <a:rPr lang="zh-CN" altLang="en-US" b="1" dirty="0">
                <a:solidFill>
                  <a:srgbClr val="FF0000"/>
                </a:solidFill>
                <a:latin typeface="+mn-ea"/>
                <a:ea typeface="+mn-ea"/>
              </a:rPr>
              <a:t>格式控制标记</a:t>
            </a:r>
            <a:r>
              <a:rPr lang="en-US" altLang="zh-CN" b="1" dirty="0">
                <a:solidFill>
                  <a:srgbClr val="FF0000"/>
                </a:solidFill>
                <a:latin typeface="+mn-ea"/>
                <a:ea typeface="+mn-ea"/>
              </a:rPr>
              <a:t>&gt;}’</a:t>
            </a:r>
            <a:r>
              <a:rPr lang="en-US" altLang="zh-CN" b="1" dirty="0">
                <a:solidFill>
                  <a:srgbClr val="0070C0"/>
                </a:solidFill>
                <a:latin typeface="+mn-ea"/>
                <a:ea typeface="+mn-ea"/>
              </a:rPr>
              <a:t>.format(</a:t>
            </a:r>
            <a:r>
              <a:rPr lang="zh-CN" altLang="en-US" b="1" dirty="0">
                <a:solidFill>
                  <a:srgbClr val="0070C0"/>
                </a:solidFill>
                <a:latin typeface="+mn-ea"/>
                <a:ea typeface="+mn-ea"/>
              </a:rPr>
              <a:t>参数</a:t>
            </a:r>
            <a:r>
              <a:rPr lang="en-US" altLang="zh-CN" b="1" dirty="0">
                <a:solidFill>
                  <a:srgbClr val="0070C0"/>
                </a:solidFill>
                <a:latin typeface="+mn-ea"/>
                <a:ea typeface="+mn-ea"/>
              </a:rPr>
              <a:t>1[</a:t>
            </a:r>
            <a:r>
              <a:rPr lang="zh-CN" altLang="en-US" b="1" dirty="0">
                <a:solidFill>
                  <a:srgbClr val="0070C0"/>
                </a:solidFill>
                <a:latin typeface="+mn-ea"/>
                <a:ea typeface="+mn-ea"/>
              </a:rPr>
              <a:t>，参数</a:t>
            </a:r>
            <a:r>
              <a:rPr lang="en-US" altLang="zh-CN" b="1" dirty="0">
                <a:solidFill>
                  <a:srgbClr val="0070C0"/>
                </a:solidFill>
                <a:latin typeface="+mn-ea"/>
                <a:ea typeface="+mn-ea"/>
              </a:rPr>
              <a:t>2),…]</a:t>
            </a:r>
            <a:r>
              <a:rPr lang="en-US" altLang="zh-CN" dirty="0">
                <a:solidFill>
                  <a:srgbClr val="404040"/>
                </a:solidFill>
                <a:latin typeface="+mn-ea"/>
                <a:ea typeface="+mn-ea"/>
              </a:rPr>
              <a:t>)</a:t>
            </a:r>
            <a:endParaRPr lang="zh-CN" altLang="en-US" dirty="0">
              <a:latin typeface="+mn-ea"/>
              <a:ea typeface="+mn-ea"/>
            </a:endParaRPr>
          </a:p>
        </p:txBody>
      </p:sp>
      <p:grpSp>
        <p:nvGrpSpPr>
          <p:cNvPr id="5" name="组合 4"/>
          <p:cNvGrpSpPr/>
          <p:nvPr/>
        </p:nvGrpSpPr>
        <p:grpSpPr>
          <a:xfrm>
            <a:off x="503547" y="2715766"/>
            <a:ext cx="8352928" cy="1590585"/>
            <a:chOff x="611560" y="1043874"/>
            <a:chExt cx="8352928" cy="1590585"/>
          </a:xfrm>
        </p:grpSpPr>
        <p:sp>
          <p:nvSpPr>
            <p:cNvPr id="6" name="矩形 5"/>
            <p:cNvSpPr/>
            <p:nvPr/>
          </p:nvSpPr>
          <p:spPr>
            <a:xfrm>
              <a:off x="611560" y="1043874"/>
              <a:ext cx="8352928" cy="338554"/>
            </a:xfrm>
            <a:prstGeom prst="rect">
              <a:avLst/>
            </a:prstGeom>
          </p:spPr>
          <p:txBody>
            <a:bodyPr wrap="square">
              <a:spAutoFit/>
            </a:bodyPr>
            <a:lstStyle/>
            <a:p>
              <a:r>
                <a:rPr lang="en-US" altLang="zh-CN" sz="1600" b="1" dirty="0">
                  <a:solidFill>
                    <a:srgbClr val="404040"/>
                  </a:solidFill>
                  <a:latin typeface="-apple-system"/>
                </a:rPr>
                <a:t>&lt;</a:t>
              </a:r>
              <a:r>
                <a:rPr lang="zh-CN" altLang="en-US" sz="1600" b="1" dirty="0">
                  <a:solidFill>
                    <a:srgbClr val="404040"/>
                  </a:solidFill>
                  <a:latin typeface="-apple-system"/>
                </a:rPr>
                <a:t>格式控制标记</a:t>
              </a:r>
              <a:r>
                <a:rPr lang="en-US" altLang="zh-CN" sz="1600" b="1" dirty="0">
                  <a:solidFill>
                    <a:srgbClr val="404040"/>
                  </a:solidFill>
                  <a:latin typeface="-apple-system"/>
                </a:rPr>
                <a:t>&gt;</a:t>
              </a:r>
              <a:r>
                <a:rPr lang="zh-CN" altLang="en-US" sz="1600" dirty="0">
                  <a:solidFill>
                    <a:srgbClr val="404040"/>
                  </a:solidFill>
                  <a:latin typeface="-apple-system"/>
                </a:rPr>
                <a:t>用来控制参数显示时的格式，包括：</a:t>
              </a:r>
              <a:r>
                <a:rPr lang="en-US" altLang="zh-CN" sz="1600" b="1" dirty="0">
                  <a:solidFill>
                    <a:srgbClr val="404040"/>
                  </a:solidFill>
                  <a:latin typeface="-apple-system"/>
                </a:rPr>
                <a:t>&lt;</a:t>
              </a:r>
              <a:r>
                <a:rPr lang="zh-CN" altLang="en-US" sz="1600" b="1" dirty="0">
                  <a:solidFill>
                    <a:srgbClr val="404040"/>
                  </a:solidFill>
                  <a:latin typeface="-apple-system"/>
                </a:rPr>
                <a:t>填充</a:t>
              </a:r>
              <a:r>
                <a:rPr lang="en-US" altLang="zh-CN" sz="1600" b="1" dirty="0">
                  <a:solidFill>
                    <a:srgbClr val="404040"/>
                  </a:solidFill>
                  <a:latin typeface="-apple-system"/>
                </a:rPr>
                <a:t>&gt;&lt;</a:t>
              </a:r>
              <a:r>
                <a:rPr lang="zh-CN" altLang="en-US" sz="1600" b="1" dirty="0">
                  <a:solidFill>
                    <a:srgbClr val="404040"/>
                  </a:solidFill>
                  <a:latin typeface="-apple-system"/>
                </a:rPr>
                <a:t>对齐</a:t>
              </a:r>
              <a:r>
                <a:rPr lang="en-US" altLang="zh-CN" sz="1600" b="1" dirty="0">
                  <a:solidFill>
                    <a:srgbClr val="404040"/>
                  </a:solidFill>
                  <a:latin typeface="-apple-system"/>
                </a:rPr>
                <a:t>&gt;&lt;</a:t>
              </a:r>
              <a:r>
                <a:rPr lang="zh-CN" altLang="en-US" sz="1600" b="1" dirty="0">
                  <a:solidFill>
                    <a:srgbClr val="404040"/>
                  </a:solidFill>
                  <a:latin typeface="-apple-system"/>
                </a:rPr>
                <a:t>宽度</a:t>
              </a:r>
              <a:r>
                <a:rPr lang="en-US" altLang="zh-CN" sz="1600" b="1" dirty="0">
                  <a:solidFill>
                    <a:srgbClr val="404040"/>
                  </a:solidFill>
                  <a:latin typeface="-apple-system"/>
                </a:rPr>
                <a:t>&gt;</a:t>
              </a:r>
              <a:r>
                <a:rPr lang="en-US" altLang="zh-CN" sz="1600" b="1" dirty="0">
                  <a:solidFill>
                    <a:srgbClr val="FF0000"/>
                  </a:solidFill>
                  <a:latin typeface="-apple-system"/>
                </a:rPr>
                <a:t>,</a:t>
              </a:r>
              <a:r>
                <a:rPr lang="en-US" altLang="zh-CN" sz="1600" b="1" dirty="0">
                  <a:solidFill>
                    <a:srgbClr val="404040"/>
                  </a:solidFill>
                  <a:latin typeface="-apple-system"/>
                </a:rPr>
                <a:t>&lt;.</a:t>
              </a:r>
              <a:r>
                <a:rPr lang="zh-CN" altLang="en-US" sz="1600" b="1" dirty="0">
                  <a:solidFill>
                    <a:srgbClr val="404040"/>
                  </a:solidFill>
                  <a:latin typeface="-apple-system"/>
                </a:rPr>
                <a:t>精度</a:t>
              </a:r>
              <a:r>
                <a:rPr lang="en-US" altLang="zh-CN" sz="1600" b="1" dirty="0">
                  <a:solidFill>
                    <a:srgbClr val="404040"/>
                  </a:solidFill>
                  <a:latin typeface="-apple-system"/>
                </a:rPr>
                <a:t>&gt;&lt;</a:t>
              </a:r>
              <a:r>
                <a:rPr lang="zh-CN" altLang="en-US" sz="1600" b="1" dirty="0">
                  <a:solidFill>
                    <a:srgbClr val="404040"/>
                  </a:solidFill>
                  <a:latin typeface="-apple-system"/>
                </a:rPr>
                <a:t>类型</a:t>
              </a:r>
              <a:r>
                <a:rPr lang="en-US" altLang="zh-CN" sz="1600" b="1" dirty="0">
                  <a:solidFill>
                    <a:srgbClr val="404040"/>
                  </a:solidFill>
                  <a:latin typeface="-apple-system"/>
                </a:rPr>
                <a:t>&gt;</a:t>
              </a:r>
              <a:endParaRPr lang="zh-CN" altLang="en-US" sz="1600" dirty="0"/>
            </a:p>
          </p:txBody>
        </p:sp>
        <p:pic>
          <p:nvPicPr>
            <p:cNvPr id="7" name="图片 6"/>
            <p:cNvPicPr>
              <a:picLocks noChangeAspect="1"/>
            </p:cNvPicPr>
            <p:nvPr/>
          </p:nvPicPr>
          <p:blipFill>
            <a:blip r:embed="rId3"/>
            <a:stretch>
              <a:fillRect/>
            </a:stretch>
          </p:blipFill>
          <p:spPr>
            <a:xfrm>
              <a:off x="2113579" y="1627299"/>
              <a:ext cx="5164869" cy="1007160"/>
            </a:xfrm>
            <a:prstGeom prst="rect">
              <a:avLst/>
            </a:prstGeom>
            <a:ln>
              <a:solidFill>
                <a:srgbClr val="0070C0"/>
              </a:solidFill>
            </a:ln>
          </p:spPr>
        </p:pic>
      </p:grpSp>
      <p:sp>
        <p:nvSpPr>
          <p:cNvPr id="8" name="矩形 7"/>
          <p:cNvSpPr/>
          <p:nvPr/>
        </p:nvSpPr>
        <p:spPr>
          <a:xfrm>
            <a:off x="5679002" y="690250"/>
            <a:ext cx="3177473" cy="369332"/>
          </a:xfrm>
          <a:prstGeom prst="rect">
            <a:avLst/>
          </a:prstGeom>
          <a:solidFill>
            <a:srgbClr val="FFFF00"/>
          </a:solidFill>
        </p:spPr>
        <p:txBody>
          <a:bodyPr wrap="none">
            <a:spAutoFit/>
          </a:bodyPr>
          <a:lstStyle/>
          <a:p>
            <a:r>
              <a:rPr lang="zh-CN" altLang="zh-CN" dirty="0">
                <a:latin typeface="微软雅黑" panose="020B0503020204020204" pitchFamily="34" charset="-122"/>
                <a:ea typeface="微软雅黑" panose="020B0503020204020204" pitchFamily="34" charset="-122"/>
              </a:rPr>
              <a:t>占位符即“</a:t>
            </a: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也称为“槽”</a:t>
            </a:r>
            <a:endParaRPr lang="zh-CN" altLang="en-US" dirty="0"/>
          </a:p>
        </p:txBody>
      </p:sp>
    </p:spTree>
    <p:extLst>
      <p:ext uri="{BB962C8B-B14F-4D97-AF65-F5344CB8AC3E}">
        <p14:creationId xmlns:p14="http://schemas.microsoft.com/office/powerpoint/2010/main" val="398802203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5556" y="699542"/>
            <a:ext cx="7992888" cy="400968"/>
          </a:xfrm>
        </p:spPr>
        <p:txBody>
          <a:bodyPr/>
          <a:lstStyle/>
          <a:p>
            <a:r>
              <a:rPr lang="zh-CN" altLang="en-US" sz="2400" dirty="0"/>
              <a:t>按指定格式输出</a:t>
            </a:r>
          </a:p>
        </p:txBody>
      </p:sp>
      <p:sp>
        <p:nvSpPr>
          <p:cNvPr id="3" name="内容占位符 2"/>
          <p:cNvSpPr>
            <a:spLocks noGrp="1"/>
          </p:cNvSpPr>
          <p:nvPr>
            <p:ph idx="1"/>
          </p:nvPr>
        </p:nvSpPr>
        <p:spPr>
          <a:xfrm>
            <a:off x="395536" y="1203598"/>
            <a:ext cx="3845605" cy="2808312"/>
          </a:xfrm>
        </p:spPr>
        <p:style>
          <a:lnRef idx="2">
            <a:schemeClr val="accent5"/>
          </a:lnRef>
          <a:fillRef idx="1">
            <a:schemeClr val="lt1"/>
          </a:fillRef>
          <a:effectRef idx="0">
            <a:schemeClr val="accent5"/>
          </a:effectRef>
          <a:fontRef idx="minor">
            <a:schemeClr val="dk1"/>
          </a:fontRef>
        </p:style>
        <p:txBody>
          <a:bodyPr/>
          <a:lstStyle/>
          <a:p>
            <a:pPr>
              <a:buFont typeface="Wingdings" panose="05000000000000000000" pitchFamily="2" charset="2"/>
              <a:buChar char="Ø"/>
            </a:pPr>
            <a:r>
              <a:rPr lang="en-US" altLang="zh-CN" sz="1600" dirty="0">
                <a:solidFill>
                  <a:schemeClr val="tx1"/>
                </a:solidFill>
              </a:rPr>
              <a:t>‘b’</a:t>
            </a:r>
            <a:r>
              <a:rPr lang="zh-CN" altLang="en-US" sz="1600" dirty="0">
                <a:solidFill>
                  <a:schemeClr val="tx1"/>
                </a:solidFill>
              </a:rPr>
              <a:t>：输出</a:t>
            </a:r>
            <a:r>
              <a:rPr lang="zh-CN" altLang="zh-CN" sz="1600" dirty="0">
                <a:solidFill>
                  <a:schemeClr val="tx1"/>
                </a:solidFill>
              </a:rPr>
              <a:t>二进制</a:t>
            </a:r>
            <a:r>
              <a:rPr lang="zh-CN" altLang="en-US" sz="1600" dirty="0">
                <a:solidFill>
                  <a:schemeClr val="tx1"/>
                </a:solidFill>
              </a:rPr>
              <a:t>数字</a:t>
            </a:r>
            <a:endParaRPr lang="zh-CN" altLang="zh-CN" sz="1600" dirty="0">
              <a:solidFill>
                <a:schemeClr val="tx1"/>
              </a:solidFill>
            </a:endParaRPr>
          </a:p>
          <a:p>
            <a:pPr>
              <a:buFont typeface="Wingdings" panose="05000000000000000000" pitchFamily="2" charset="2"/>
              <a:buChar char="Ø"/>
            </a:pPr>
            <a:r>
              <a:rPr lang="en-US" altLang="zh-CN" sz="1600" dirty="0">
                <a:solidFill>
                  <a:schemeClr val="tx1"/>
                </a:solidFill>
              </a:rPr>
              <a:t>‘c’ </a:t>
            </a:r>
            <a:r>
              <a:rPr lang="zh-CN" altLang="en-US" sz="1600" dirty="0">
                <a:solidFill>
                  <a:schemeClr val="tx1"/>
                </a:solidFill>
              </a:rPr>
              <a:t>：输出</a:t>
            </a:r>
            <a:r>
              <a:rPr lang="zh-CN" altLang="zh-CN" sz="1600" dirty="0">
                <a:solidFill>
                  <a:schemeClr val="tx1"/>
                </a:solidFill>
              </a:rPr>
              <a:t>字符</a:t>
            </a:r>
            <a:endParaRPr lang="en-US" altLang="zh-CN" sz="1600" dirty="0">
              <a:solidFill>
                <a:schemeClr val="tx1"/>
              </a:solidFill>
            </a:endParaRPr>
          </a:p>
          <a:p>
            <a:pPr>
              <a:buFont typeface="Wingdings" panose="05000000000000000000" pitchFamily="2" charset="2"/>
              <a:buChar char="Ø"/>
            </a:pPr>
            <a:r>
              <a:rPr lang="en-US" altLang="zh-CN" sz="1600" dirty="0">
                <a:solidFill>
                  <a:schemeClr val="tx1"/>
                </a:solidFill>
              </a:rPr>
              <a:t>‘d’</a:t>
            </a:r>
            <a:r>
              <a:rPr lang="zh-CN" altLang="en-US" sz="1600" dirty="0">
                <a:solidFill>
                  <a:schemeClr val="tx1"/>
                </a:solidFill>
              </a:rPr>
              <a:t>：输出</a:t>
            </a:r>
            <a:r>
              <a:rPr lang="zh-CN" altLang="zh-CN" sz="1600" dirty="0">
                <a:solidFill>
                  <a:schemeClr val="tx1"/>
                </a:solidFill>
              </a:rPr>
              <a:t>十进制整数</a:t>
            </a:r>
          </a:p>
          <a:p>
            <a:pPr>
              <a:buFont typeface="Wingdings" panose="05000000000000000000" pitchFamily="2" charset="2"/>
              <a:buChar char="Ø"/>
            </a:pPr>
            <a:r>
              <a:rPr lang="en-US" altLang="zh-CN" sz="1600" dirty="0">
                <a:solidFill>
                  <a:schemeClr val="tx1"/>
                </a:solidFill>
              </a:rPr>
              <a:t>‘o’</a:t>
            </a:r>
            <a:r>
              <a:rPr lang="zh-CN" altLang="en-US" sz="1600" dirty="0">
                <a:solidFill>
                  <a:schemeClr val="tx1"/>
                </a:solidFill>
              </a:rPr>
              <a:t>：输出</a:t>
            </a:r>
            <a:r>
              <a:rPr lang="zh-CN" altLang="zh-CN" sz="1600" dirty="0">
                <a:solidFill>
                  <a:schemeClr val="tx1"/>
                </a:solidFill>
              </a:rPr>
              <a:t>八进制</a:t>
            </a:r>
          </a:p>
          <a:p>
            <a:pPr>
              <a:buFont typeface="Wingdings" panose="05000000000000000000" pitchFamily="2" charset="2"/>
              <a:buChar char="Ø"/>
            </a:pPr>
            <a:r>
              <a:rPr lang="en-US" altLang="zh-CN" sz="1600" dirty="0">
                <a:solidFill>
                  <a:schemeClr val="tx1"/>
                </a:solidFill>
              </a:rPr>
              <a:t>‘x’</a:t>
            </a:r>
            <a:r>
              <a:rPr lang="zh-CN" altLang="en-US" sz="1600" dirty="0">
                <a:solidFill>
                  <a:schemeClr val="tx1"/>
                </a:solidFill>
              </a:rPr>
              <a:t>：输出</a:t>
            </a:r>
            <a:r>
              <a:rPr lang="zh-CN" altLang="zh-CN" sz="1600" dirty="0">
                <a:solidFill>
                  <a:schemeClr val="tx1"/>
                </a:solidFill>
              </a:rPr>
              <a:t>十六进制</a:t>
            </a:r>
          </a:p>
          <a:p>
            <a:pPr>
              <a:buFont typeface="Wingdings" panose="05000000000000000000" pitchFamily="2" charset="2"/>
              <a:buChar char="Ø"/>
            </a:pPr>
            <a:r>
              <a:rPr lang="en-US" altLang="zh-CN" sz="1600" dirty="0">
                <a:solidFill>
                  <a:schemeClr val="tx1"/>
                </a:solidFill>
              </a:rPr>
              <a:t>‘e’</a:t>
            </a:r>
            <a:r>
              <a:rPr lang="zh-CN" altLang="en-US" sz="1600" dirty="0">
                <a:solidFill>
                  <a:schemeClr val="tx1"/>
                </a:solidFill>
              </a:rPr>
              <a:t>：</a:t>
            </a:r>
            <a:r>
              <a:rPr lang="zh-CN" altLang="zh-CN" sz="1600" dirty="0">
                <a:solidFill>
                  <a:schemeClr val="tx1"/>
                </a:solidFill>
              </a:rPr>
              <a:t>用科学计数法</a:t>
            </a:r>
            <a:r>
              <a:rPr lang="zh-CN" altLang="en-US" sz="1600" dirty="0">
                <a:solidFill>
                  <a:schemeClr val="tx1"/>
                </a:solidFill>
              </a:rPr>
              <a:t>输出</a:t>
            </a:r>
            <a:endParaRPr lang="en-US" altLang="zh-CN" sz="1600" dirty="0">
              <a:solidFill>
                <a:schemeClr val="tx1"/>
              </a:solidFill>
            </a:endParaRPr>
          </a:p>
          <a:p>
            <a:pPr>
              <a:buFont typeface="Wingdings" panose="05000000000000000000" pitchFamily="2" charset="2"/>
              <a:buChar char="Ø"/>
            </a:pPr>
            <a:r>
              <a:rPr lang="en-US" altLang="zh-CN" sz="1600" dirty="0">
                <a:solidFill>
                  <a:schemeClr val="tx1"/>
                </a:solidFill>
              </a:rPr>
              <a:t>‘g’</a:t>
            </a:r>
            <a:r>
              <a:rPr lang="zh-CN" altLang="en-US" sz="1600" dirty="0">
                <a:solidFill>
                  <a:schemeClr val="tx1"/>
                </a:solidFill>
              </a:rPr>
              <a:t>：输出小数或指数形式</a:t>
            </a:r>
            <a:endParaRPr lang="zh-CN" altLang="zh-CN" sz="1600" dirty="0">
              <a:solidFill>
                <a:schemeClr val="tx1"/>
              </a:solidFill>
            </a:endParaRPr>
          </a:p>
        </p:txBody>
      </p:sp>
      <p:grpSp>
        <p:nvGrpSpPr>
          <p:cNvPr id="8" name="组合 7"/>
          <p:cNvGrpSpPr/>
          <p:nvPr/>
        </p:nvGrpSpPr>
        <p:grpSpPr>
          <a:xfrm>
            <a:off x="4427984" y="1203598"/>
            <a:ext cx="4608512" cy="3312368"/>
            <a:chOff x="4140682" y="1127130"/>
            <a:chExt cx="3152006" cy="2274450"/>
          </a:xfrm>
        </p:grpSpPr>
        <p:pic>
          <p:nvPicPr>
            <p:cNvPr id="5" name="图片 4"/>
            <p:cNvPicPr>
              <a:picLocks noChangeAspect="1"/>
            </p:cNvPicPr>
            <p:nvPr/>
          </p:nvPicPr>
          <p:blipFill>
            <a:blip r:embed="rId2"/>
            <a:stretch>
              <a:fillRect/>
            </a:stretch>
          </p:blipFill>
          <p:spPr>
            <a:xfrm>
              <a:off x="4140682" y="1127130"/>
              <a:ext cx="2263130" cy="1128425"/>
            </a:xfrm>
            <a:prstGeom prst="rect">
              <a:avLst/>
            </a:prstGeom>
            <a:ln>
              <a:solidFill>
                <a:schemeClr val="accent1"/>
              </a:solidFill>
            </a:ln>
          </p:spPr>
        </p:pic>
        <p:pic>
          <p:nvPicPr>
            <p:cNvPr id="6" name="图片 5"/>
            <p:cNvPicPr>
              <a:picLocks noChangeAspect="1"/>
            </p:cNvPicPr>
            <p:nvPr/>
          </p:nvPicPr>
          <p:blipFill>
            <a:blip r:embed="rId3"/>
            <a:stretch>
              <a:fillRect/>
            </a:stretch>
          </p:blipFill>
          <p:spPr>
            <a:xfrm>
              <a:off x="4140682" y="2972955"/>
              <a:ext cx="3152006" cy="428625"/>
            </a:xfrm>
            <a:prstGeom prst="rect">
              <a:avLst/>
            </a:prstGeom>
            <a:ln>
              <a:solidFill>
                <a:schemeClr val="accent1"/>
              </a:solidFill>
            </a:ln>
          </p:spPr>
        </p:pic>
        <p:pic>
          <p:nvPicPr>
            <p:cNvPr id="7" name="图片 6"/>
            <p:cNvPicPr>
              <a:picLocks noChangeAspect="1"/>
            </p:cNvPicPr>
            <p:nvPr/>
          </p:nvPicPr>
          <p:blipFill>
            <a:blip r:embed="rId4"/>
            <a:stretch>
              <a:fillRect/>
            </a:stretch>
          </p:blipFill>
          <p:spPr>
            <a:xfrm>
              <a:off x="4140682" y="2404705"/>
              <a:ext cx="3143250" cy="419100"/>
            </a:xfrm>
            <a:prstGeom prst="rect">
              <a:avLst/>
            </a:prstGeom>
            <a:ln>
              <a:solidFill>
                <a:schemeClr val="accent1"/>
              </a:solidFill>
            </a:ln>
          </p:spPr>
        </p:pic>
      </p:grpSp>
    </p:spTree>
    <p:extLst>
      <p:ext uri="{BB962C8B-B14F-4D97-AF65-F5344CB8AC3E}">
        <p14:creationId xmlns:p14="http://schemas.microsoft.com/office/powerpoint/2010/main" val="29419283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759319" y="2643758"/>
            <a:ext cx="7413081" cy="1020040"/>
          </a:xfrm>
          <a:prstGeom prst="rect">
            <a:avLst/>
          </a:prstGeom>
        </p:spPr>
      </p:pic>
      <p:pic>
        <p:nvPicPr>
          <p:cNvPr id="5" name="图片 4"/>
          <p:cNvPicPr>
            <a:picLocks noChangeAspect="1"/>
          </p:cNvPicPr>
          <p:nvPr/>
        </p:nvPicPr>
        <p:blipFill>
          <a:blip r:embed="rId3"/>
          <a:stretch>
            <a:fillRect/>
          </a:stretch>
        </p:blipFill>
        <p:spPr>
          <a:xfrm>
            <a:off x="757758" y="1491630"/>
            <a:ext cx="7125263" cy="532493"/>
          </a:xfrm>
          <a:prstGeom prst="rect">
            <a:avLst/>
          </a:prstGeom>
        </p:spPr>
      </p:pic>
      <p:pic>
        <p:nvPicPr>
          <p:cNvPr id="6" name="图片 5"/>
          <p:cNvPicPr>
            <a:picLocks noChangeAspect="1"/>
          </p:cNvPicPr>
          <p:nvPr/>
        </p:nvPicPr>
        <p:blipFill>
          <a:blip r:embed="rId4"/>
          <a:stretch>
            <a:fillRect/>
          </a:stretch>
        </p:blipFill>
        <p:spPr>
          <a:xfrm>
            <a:off x="395536" y="3939902"/>
            <a:ext cx="8366961" cy="740439"/>
          </a:xfrm>
          <a:prstGeom prst="rect">
            <a:avLst/>
          </a:prstGeom>
        </p:spPr>
      </p:pic>
      <p:sp>
        <p:nvSpPr>
          <p:cNvPr id="7" name="矩形 6"/>
          <p:cNvSpPr/>
          <p:nvPr/>
        </p:nvSpPr>
        <p:spPr>
          <a:xfrm>
            <a:off x="251520" y="612621"/>
            <a:ext cx="8432832" cy="494238"/>
          </a:xfrm>
          <a:prstGeom prst="rect">
            <a:avLst/>
          </a:prstGeom>
          <a:solidFill>
            <a:srgbClr val="FFFF00"/>
          </a:solidFill>
        </p:spPr>
        <p:txBody>
          <a:bodyPr wrap="square">
            <a:spAutoFit/>
          </a:bodyPr>
          <a:lstStyle/>
          <a:p>
            <a:pPr lvl="1">
              <a:lnSpc>
                <a:spcPct val="150000"/>
              </a:lnSpc>
              <a:spcBef>
                <a:spcPts val="600"/>
              </a:spcBef>
            </a:pPr>
            <a:r>
              <a:rPr lang="zh-CN" altLang="en-US" sz="2000" b="1" dirty="0"/>
              <a:t>控制标记与输出项之间可顺序对应、或用编号对应，或用名称对应</a:t>
            </a:r>
            <a:endParaRPr lang="en-US" altLang="zh-CN" sz="2000" b="1" dirty="0"/>
          </a:p>
        </p:txBody>
      </p:sp>
    </p:spTree>
    <p:extLst>
      <p:ext uri="{BB962C8B-B14F-4D97-AF65-F5344CB8AC3E}">
        <p14:creationId xmlns:p14="http://schemas.microsoft.com/office/powerpoint/2010/main" val="26680876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1630178" y="281409"/>
            <a:ext cx="4989905" cy="400968"/>
          </a:xfrm>
        </p:spPr>
        <p:txBody>
          <a:bodyPr/>
          <a:lstStyle/>
          <a:p>
            <a:pPr algn="ctr"/>
            <a:r>
              <a:rPr lang="zh-CN" altLang="en-US" sz="2400" dirty="0"/>
              <a:t>格式控制标记应用例</a:t>
            </a:r>
          </a:p>
        </p:txBody>
      </p:sp>
      <p:pic>
        <p:nvPicPr>
          <p:cNvPr id="8" name="图片 7"/>
          <p:cNvPicPr>
            <a:picLocks noChangeAspect="1"/>
          </p:cNvPicPr>
          <p:nvPr/>
        </p:nvPicPr>
        <p:blipFill>
          <a:blip r:embed="rId2"/>
          <a:stretch>
            <a:fillRect/>
          </a:stretch>
        </p:blipFill>
        <p:spPr>
          <a:xfrm>
            <a:off x="1547664" y="699542"/>
            <a:ext cx="5154935" cy="4139974"/>
          </a:xfrm>
          <a:prstGeom prst="rect">
            <a:avLst/>
          </a:prstGeom>
        </p:spPr>
      </p:pic>
    </p:spTree>
    <p:extLst>
      <p:ext uri="{BB962C8B-B14F-4D97-AF65-F5344CB8AC3E}">
        <p14:creationId xmlns:p14="http://schemas.microsoft.com/office/powerpoint/2010/main" val="14395661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8F22B-CA8B-02BB-4086-598D4D0F4FE3}"/>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5F4FF810-8DB9-2E25-64AD-4C3893F3AE5C}"/>
              </a:ext>
            </a:extLst>
          </p:cNvPr>
          <p:cNvSpPr>
            <a:spLocks noGrp="1"/>
          </p:cNvSpPr>
          <p:nvPr>
            <p:ph type="title"/>
          </p:nvPr>
        </p:nvSpPr>
        <p:spPr>
          <a:xfrm>
            <a:off x="1630178" y="281409"/>
            <a:ext cx="4989905" cy="400968"/>
          </a:xfrm>
        </p:spPr>
        <p:txBody>
          <a:bodyPr/>
          <a:lstStyle/>
          <a:p>
            <a:pPr algn="ctr"/>
            <a:r>
              <a:rPr lang="en-US" altLang="zh-CN" sz="2400" dirty="0"/>
              <a:t>F </a:t>
            </a:r>
            <a:r>
              <a:rPr lang="zh-CN" altLang="en-US" sz="2400" dirty="0"/>
              <a:t>表达式</a:t>
            </a:r>
          </a:p>
        </p:txBody>
      </p:sp>
      <p:sp>
        <p:nvSpPr>
          <p:cNvPr id="2" name="文本框 1">
            <a:extLst>
              <a:ext uri="{FF2B5EF4-FFF2-40B4-BE49-F238E27FC236}">
                <a16:creationId xmlns:a16="http://schemas.microsoft.com/office/drawing/2014/main" id="{D4BC0314-CAB7-FDDC-992D-89058673EEFA}"/>
              </a:ext>
            </a:extLst>
          </p:cNvPr>
          <p:cNvSpPr txBox="1"/>
          <p:nvPr/>
        </p:nvSpPr>
        <p:spPr>
          <a:xfrm>
            <a:off x="683568" y="1203598"/>
            <a:ext cx="7704856" cy="615553"/>
          </a:xfrm>
          <a:prstGeom prst="rect">
            <a:avLst/>
          </a:prstGeom>
          <a:noFill/>
        </p:spPr>
        <p:txBody>
          <a:bodyPr wrap="square" lIns="0" tIns="0" rIns="0" bIns="0" rtlCol="0">
            <a:spAutoFit/>
          </a:bodyPr>
          <a:lstStyle/>
          <a:p>
            <a:r>
              <a:rPr kumimoji="0" lang="zh-CN" altLang="zh-CN" sz="2000" b="0" i="0" u="none" strike="noStrike" cap="none" normalizeH="0" baseline="0" dirty="0">
                <a:ln>
                  <a:noFill/>
                </a:ln>
                <a:solidFill>
                  <a:srgbClr val="333333"/>
                </a:solidFill>
                <a:effectLst/>
                <a:latin typeface="Arial" panose="020B0604020202020204" pitchFamily="34" charset="0"/>
                <a:ea typeface="PingFang SC"/>
              </a:rPr>
              <a:t>f-string以</a:t>
            </a:r>
            <a:r>
              <a:rPr kumimoji="0" lang="zh-CN" altLang="zh-CN" sz="2000" b="0" i="0" u="none" strike="noStrike" cap="none" normalizeH="0" baseline="0" dirty="0">
                <a:ln>
                  <a:noFill/>
                </a:ln>
                <a:solidFill>
                  <a:srgbClr val="333333"/>
                </a:solidFill>
                <a:effectLst/>
                <a:latin typeface="Arial Unicode MS"/>
              </a:rPr>
              <a:t>f</a:t>
            </a:r>
            <a:r>
              <a:rPr kumimoji="0" lang="zh-CN" altLang="zh-CN" sz="2000" b="0" i="0" u="none" strike="noStrike" cap="none" normalizeH="0" baseline="0" dirty="0">
                <a:ln>
                  <a:noFill/>
                </a:ln>
                <a:solidFill>
                  <a:srgbClr val="333333"/>
                </a:solidFill>
                <a:effectLst/>
                <a:ea typeface="PingFang SC"/>
              </a:rPr>
              <a:t>或</a:t>
            </a:r>
            <a:r>
              <a:rPr kumimoji="0" lang="zh-CN" altLang="zh-CN" sz="2000" b="0" i="0" u="none" strike="noStrike" cap="none" normalizeH="0" baseline="0" dirty="0">
                <a:ln>
                  <a:noFill/>
                </a:ln>
                <a:solidFill>
                  <a:srgbClr val="333333"/>
                </a:solidFill>
                <a:effectLst/>
                <a:latin typeface="Arial Unicode MS"/>
              </a:rPr>
              <a:t>F</a:t>
            </a:r>
            <a:r>
              <a:rPr kumimoji="0" lang="zh-CN" altLang="zh-CN" sz="2000" b="0" i="0" u="none" strike="noStrike" cap="none" normalizeH="0" baseline="0" dirty="0">
                <a:ln>
                  <a:noFill/>
                </a:ln>
                <a:solidFill>
                  <a:srgbClr val="333333"/>
                </a:solidFill>
                <a:effectLst/>
                <a:ea typeface="PingFang SC"/>
              </a:rPr>
              <a:t>开头，后面跟着一个字符串字面量，字符串中可以使用大括号</a:t>
            </a:r>
            <a:r>
              <a:rPr kumimoji="0" lang="zh-CN" altLang="zh-CN" sz="2000" b="0" i="0" u="none" strike="noStrike" cap="none" normalizeH="0" baseline="0" dirty="0">
                <a:ln>
                  <a:noFill/>
                </a:ln>
                <a:solidFill>
                  <a:srgbClr val="333333"/>
                </a:solidFill>
                <a:effectLst/>
                <a:latin typeface="Arial Unicode MS"/>
              </a:rPr>
              <a:t>{}</a:t>
            </a:r>
            <a:r>
              <a:rPr kumimoji="0" lang="zh-CN" altLang="zh-CN" sz="2000" b="0" i="0" u="none" strike="noStrike" cap="none" normalizeH="0" baseline="0" dirty="0">
                <a:ln>
                  <a:noFill/>
                </a:ln>
                <a:solidFill>
                  <a:srgbClr val="333333"/>
                </a:solidFill>
                <a:effectLst/>
                <a:ea typeface="PingFang SC"/>
              </a:rPr>
              <a:t>来引用变量或表达式</a:t>
            </a:r>
            <a:r>
              <a:rPr kumimoji="0" lang="zh-CN" altLang="zh-CN" sz="2000" b="0" i="0" u="none" strike="noStrike" cap="none" normalizeH="0" baseline="0" dirty="0">
                <a:ln>
                  <a:noFill/>
                </a:ln>
                <a:solidFill>
                  <a:schemeClr val="tx1"/>
                </a:solidFill>
                <a:effectLst/>
                <a:latin typeface="Arial" panose="020B0604020202020204" pitchFamily="34" charset="0"/>
              </a:rPr>
              <a:t> </a:t>
            </a:r>
          </a:p>
        </p:txBody>
      </p:sp>
      <p:sp>
        <p:nvSpPr>
          <p:cNvPr id="4" name="文本框 3">
            <a:extLst>
              <a:ext uri="{FF2B5EF4-FFF2-40B4-BE49-F238E27FC236}">
                <a16:creationId xmlns:a16="http://schemas.microsoft.com/office/drawing/2014/main" id="{215C5C98-5D6D-F720-AA4A-31671025EB13}"/>
              </a:ext>
            </a:extLst>
          </p:cNvPr>
          <p:cNvSpPr txBox="1"/>
          <p:nvPr/>
        </p:nvSpPr>
        <p:spPr>
          <a:xfrm>
            <a:off x="827584" y="1995686"/>
            <a:ext cx="6552728" cy="769441"/>
          </a:xfrm>
          <a:prstGeom prst="rect">
            <a:avLst/>
          </a:prstGeom>
          <a:noFill/>
        </p:spPr>
        <p:txBody>
          <a:bodyPr wrap="square" lIns="0" tIns="0" rIns="0" bIns="0" rtlCol="0">
            <a:spAutoFit/>
          </a:bodyPr>
          <a:lstStyle/>
          <a:p>
            <a:r>
              <a:rPr lang="en-US" altLang="zh-CN" b="1" i="0" dirty="0">
                <a:solidFill>
                  <a:srgbClr val="333333"/>
                </a:solidFill>
                <a:effectLst/>
                <a:latin typeface="Courier New" panose="02070309020205020404" pitchFamily="49" charset="0"/>
              </a:rPr>
              <a:t>name = </a:t>
            </a:r>
            <a:r>
              <a:rPr lang="en-US" altLang="zh-CN" b="1" i="0" dirty="0">
                <a:effectLst/>
                <a:latin typeface="Courier New" panose="02070309020205020404" pitchFamily="49" charset="0"/>
              </a:rPr>
              <a:t>"Alice"</a:t>
            </a:r>
            <a:r>
              <a:rPr lang="en-US" altLang="zh-CN" b="1" i="0" dirty="0">
                <a:solidFill>
                  <a:srgbClr val="333333"/>
                </a:solidFill>
                <a:effectLst/>
                <a:latin typeface="Courier New" panose="02070309020205020404" pitchFamily="49" charset="0"/>
              </a:rPr>
              <a:t> </a:t>
            </a:r>
          </a:p>
          <a:p>
            <a:r>
              <a:rPr lang="en-US" altLang="zh-CN" b="1" i="0" dirty="0">
                <a:effectLst/>
                <a:latin typeface="Courier New" panose="02070309020205020404" pitchFamily="49" charset="0"/>
              </a:rPr>
              <a:t>print</a:t>
            </a:r>
            <a:r>
              <a:rPr lang="en-US" altLang="zh-CN" b="1" i="0" dirty="0">
                <a:solidFill>
                  <a:srgbClr val="333333"/>
                </a:solidFill>
                <a:effectLst/>
                <a:latin typeface="Courier New" panose="02070309020205020404" pitchFamily="49" charset="0"/>
              </a:rPr>
              <a:t>(</a:t>
            </a:r>
            <a:r>
              <a:rPr lang="en-US" altLang="zh-CN" b="1" i="0" dirty="0" err="1">
                <a:effectLst/>
                <a:latin typeface="Courier New" panose="02070309020205020404" pitchFamily="49" charset="0"/>
              </a:rPr>
              <a:t>f"Hello</a:t>
            </a:r>
            <a:r>
              <a:rPr lang="en-US" altLang="zh-CN" b="1" i="0" dirty="0">
                <a:effectLst/>
                <a:latin typeface="Courier New" panose="02070309020205020404" pitchFamily="49" charset="0"/>
              </a:rPr>
              <a:t>, {name}!"</a:t>
            </a:r>
            <a:r>
              <a:rPr lang="en-US" altLang="zh-CN" b="1" i="0" dirty="0">
                <a:solidFill>
                  <a:srgbClr val="333333"/>
                </a:solidFill>
                <a:effectLst/>
                <a:latin typeface="Courier New" panose="02070309020205020404" pitchFamily="49" charset="0"/>
              </a:rPr>
              <a:t>) </a:t>
            </a:r>
            <a:r>
              <a:rPr lang="en-US" altLang="zh-CN" b="1" i="1" dirty="0">
                <a:solidFill>
                  <a:schemeClr val="tx2"/>
                </a:solidFill>
                <a:effectLst/>
                <a:latin typeface="Courier New" panose="02070309020205020404" pitchFamily="49" charset="0"/>
              </a:rPr>
              <a:t># </a:t>
            </a:r>
            <a:r>
              <a:rPr lang="zh-CN" altLang="en-US" b="1" i="1" dirty="0">
                <a:solidFill>
                  <a:schemeClr val="tx2"/>
                </a:solidFill>
                <a:effectLst/>
                <a:latin typeface="Courier New" panose="02070309020205020404" pitchFamily="49" charset="0"/>
              </a:rPr>
              <a:t>输出</a:t>
            </a:r>
            <a:r>
              <a:rPr lang="en-US" altLang="zh-CN" b="1" i="1" dirty="0">
                <a:solidFill>
                  <a:schemeClr val="tx2"/>
                </a:solidFill>
                <a:effectLst/>
                <a:latin typeface="Courier New" panose="02070309020205020404" pitchFamily="49" charset="0"/>
              </a:rPr>
              <a:t>: Hello, Alice!</a:t>
            </a:r>
            <a:endParaRPr lang="zh-CN" altLang="en-US" b="1" dirty="0">
              <a:solidFill>
                <a:schemeClr val="tx2"/>
              </a:solidFill>
            </a:endParaRPr>
          </a:p>
          <a:p>
            <a:endParaRPr lang="zh-CN" altLang="en-US" sz="1400" dirty="0"/>
          </a:p>
        </p:txBody>
      </p:sp>
      <p:sp>
        <p:nvSpPr>
          <p:cNvPr id="5" name="文本框 4">
            <a:extLst>
              <a:ext uri="{FF2B5EF4-FFF2-40B4-BE49-F238E27FC236}">
                <a16:creationId xmlns:a16="http://schemas.microsoft.com/office/drawing/2014/main" id="{79FCDF3D-D983-F3E0-F2E9-79A8CDA4600C}"/>
              </a:ext>
            </a:extLst>
          </p:cNvPr>
          <p:cNvSpPr txBox="1"/>
          <p:nvPr/>
        </p:nvSpPr>
        <p:spPr>
          <a:xfrm>
            <a:off x="863588" y="2831906"/>
            <a:ext cx="7344816" cy="1107996"/>
          </a:xfrm>
          <a:prstGeom prst="rect">
            <a:avLst/>
          </a:prstGeom>
          <a:noFill/>
        </p:spPr>
        <p:txBody>
          <a:bodyPr wrap="square" lIns="0" tIns="0" rIns="0" bIns="0" rtlCol="0">
            <a:spAutoFit/>
          </a:bodyPr>
          <a:lstStyle/>
          <a:p>
            <a:r>
              <a:rPr lang="en-US" altLang="zh-CN" b="1" i="0" dirty="0">
                <a:effectLst/>
                <a:latin typeface="Courier New" panose="02070309020205020404" pitchFamily="49" charset="0"/>
              </a:rPr>
              <a:t>x = 5</a:t>
            </a:r>
          </a:p>
          <a:p>
            <a:r>
              <a:rPr lang="en-US" altLang="zh-CN" b="1" i="0" dirty="0">
                <a:effectLst/>
                <a:latin typeface="Courier New" panose="02070309020205020404" pitchFamily="49" charset="0"/>
              </a:rPr>
              <a:t>y = 10 </a:t>
            </a:r>
          </a:p>
          <a:p>
            <a:r>
              <a:rPr lang="en-US" altLang="zh-CN" b="1" i="0" dirty="0">
                <a:effectLst/>
                <a:latin typeface="Courier New" panose="02070309020205020404" pitchFamily="49" charset="0"/>
              </a:rPr>
              <a:t>print(</a:t>
            </a:r>
            <a:r>
              <a:rPr lang="en-US" altLang="zh-CN" b="1" i="0" dirty="0" err="1">
                <a:effectLst/>
                <a:latin typeface="Courier New" panose="02070309020205020404" pitchFamily="49" charset="0"/>
              </a:rPr>
              <a:t>f"The</a:t>
            </a:r>
            <a:r>
              <a:rPr lang="en-US" altLang="zh-CN" b="1" i="0" dirty="0">
                <a:effectLst/>
                <a:latin typeface="Courier New" panose="02070309020205020404" pitchFamily="49" charset="0"/>
              </a:rPr>
              <a:t> sum of {x} and {y} is {x + y}.") </a:t>
            </a:r>
          </a:p>
          <a:p>
            <a:r>
              <a:rPr lang="en-US" altLang="zh-CN" b="1" i="1" dirty="0">
                <a:solidFill>
                  <a:schemeClr val="tx2"/>
                </a:solidFill>
                <a:effectLst/>
                <a:latin typeface="Courier New" panose="02070309020205020404" pitchFamily="49" charset="0"/>
              </a:rPr>
              <a:t># </a:t>
            </a:r>
            <a:r>
              <a:rPr lang="zh-CN" altLang="en-US" b="1" i="1" dirty="0">
                <a:solidFill>
                  <a:schemeClr val="tx2"/>
                </a:solidFill>
                <a:effectLst/>
                <a:latin typeface="Courier New" panose="02070309020205020404" pitchFamily="49" charset="0"/>
              </a:rPr>
              <a:t>输出</a:t>
            </a:r>
            <a:r>
              <a:rPr lang="en-US" altLang="zh-CN" b="1" i="1" dirty="0">
                <a:solidFill>
                  <a:schemeClr val="tx2"/>
                </a:solidFill>
                <a:effectLst/>
                <a:latin typeface="Courier New" panose="02070309020205020404" pitchFamily="49" charset="0"/>
              </a:rPr>
              <a:t>: The sum of 5 and 10 is 15.</a:t>
            </a:r>
            <a:endParaRPr lang="zh-CN" altLang="en-US" b="1" dirty="0">
              <a:solidFill>
                <a:schemeClr val="tx2"/>
              </a:solidFill>
            </a:endParaRPr>
          </a:p>
        </p:txBody>
      </p:sp>
    </p:spTree>
    <p:extLst>
      <p:ext uri="{BB962C8B-B14F-4D97-AF65-F5344CB8AC3E}">
        <p14:creationId xmlns:p14="http://schemas.microsoft.com/office/powerpoint/2010/main" val="20652868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C45D4D-4371-91A5-253B-DF3E3134B4C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8A2BD6B-70C6-538C-1EEA-55CBD564906E}"/>
              </a:ext>
            </a:extLst>
          </p:cNvPr>
          <p:cNvSpPr>
            <a:spLocks noGrp="1"/>
          </p:cNvSpPr>
          <p:nvPr>
            <p:ph idx="1"/>
          </p:nvPr>
        </p:nvSpPr>
        <p:spPr/>
        <p:txBody>
          <a:bodyPr/>
          <a:lstStyle/>
          <a:p>
            <a:r>
              <a:rPr lang="zh-CN" altLang="en-US" dirty="0"/>
              <a:t>输入一个字符串，两个正整数</a:t>
            </a:r>
            <a:r>
              <a:rPr lang="en-US" altLang="zh-CN" dirty="0"/>
              <a:t>start</a:t>
            </a:r>
            <a:r>
              <a:rPr lang="zh-CN" altLang="en-US" dirty="0"/>
              <a:t>和</a:t>
            </a:r>
            <a:r>
              <a:rPr lang="en-US" altLang="zh-CN" dirty="0"/>
              <a:t>end(start&lt;end)</a:t>
            </a:r>
            <a:r>
              <a:rPr lang="zh-CN" altLang="en-US" dirty="0"/>
              <a:t>，输出</a:t>
            </a:r>
            <a:r>
              <a:rPr lang="en-US" altLang="zh-CN" dirty="0"/>
              <a:t>s</a:t>
            </a:r>
            <a:r>
              <a:rPr lang="zh-CN" altLang="en-US" dirty="0"/>
              <a:t>中</a:t>
            </a:r>
            <a:r>
              <a:rPr lang="en-US" altLang="zh-CN" dirty="0" err="1"/>
              <a:t>start~end</a:t>
            </a:r>
            <a:r>
              <a:rPr lang="zh-CN" altLang="en-US" dirty="0"/>
              <a:t>范围内的数字字符，并统计个数</a:t>
            </a:r>
            <a:endParaRPr lang="en-US" altLang="zh-CN" dirty="0"/>
          </a:p>
          <a:p>
            <a:pPr marL="0" indent="0">
              <a:buNone/>
            </a:pPr>
            <a:r>
              <a:rPr lang="en-US" altLang="zh-CN" dirty="0" err="1"/>
              <a:t>s,start,end</a:t>
            </a:r>
            <a:r>
              <a:rPr lang="en-US" altLang="zh-CN" dirty="0"/>
              <a:t>=____________</a:t>
            </a:r>
          </a:p>
          <a:p>
            <a:pPr marL="0" indent="0">
              <a:buNone/>
            </a:pPr>
            <a:r>
              <a:rPr lang="en-US" altLang="zh-CN" dirty="0"/>
              <a:t>end=min(</a:t>
            </a:r>
            <a:r>
              <a:rPr lang="en-US" altLang="zh-CN" dirty="0" err="1"/>
              <a:t>end,len</a:t>
            </a:r>
            <a:r>
              <a:rPr lang="en-US" altLang="zh-CN" dirty="0"/>
              <a:t>(s))</a:t>
            </a:r>
          </a:p>
          <a:p>
            <a:pPr marL="0" indent="0">
              <a:buNone/>
            </a:pPr>
            <a:r>
              <a:rPr lang="en-US" altLang="zh-CN" dirty="0"/>
              <a:t>for </a:t>
            </a:r>
            <a:r>
              <a:rPr lang="en-US" altLang="zh-CN" dirty="0" err="1"/>
              <a:t>ch</a:t>
            </a:r>
            <a:r>
              <a:rPr lang="en-US" altLang="zh-CN" dirty="0"/>
              <a:t> in s[</a:t>
            </a:r>
            <a:r>
              <a:rPr lang="en-US" altLang="zh-CN" dirty="0" err="1"/>
              <a:t>start:end</a:t>
            </a:r>
            <a:r>
              <a:rPr lang="en-US" altLang="zh-CN" dirty="0"/>
              <a:t>]:</a:t>
            </a:r>
          </a:p>
          <a:p>
            <a:pPr marL="0" indent="0">
              <a:buNone/>
            </a:pPr>
            <a:r>
              <a:rPr lang="en-US" altLang="zh-CN" dirty="0"/>
              <a:t>   _____________</a:t>
            </a:r>
          </a:p>
          <a:p>
            <a:pPr marL="0" indent="0">
              <a:buNone/>
            </a:pPr>
            <a:endParaRPr lang="zh-CN" altLang="en-US" dirty="0"/>
          </a:p>
        </p:txBody>
      </p:sp>
    </p:spTree>
    <p:extLst>
      <p:ext uri="{BB962C8B-B14F-4D97-AF65-F5344CB8AC3E}">
        <p14:creationId xmlns:p14="http://schemas.microsoft.com/office/powerpoint/2010/main" val="4184277404"/>
      </p:ext>
    </p:extLst>
  </p:cSld>
  <p:clrMapOvr>
    <a:masterClrMapping/>
  </p:clrMapOvr>
  <p:transition>
    <p:zoom/>
  </p:transition>
</p:sld>
</file>

<file path=ppt/theme/theme1.xml><?xml version="1.0" encoding="utf-8"?>
<a:theme xmlns:a="http://schemas.openxmlformats.org/drawingml/2006/main" name="主题1">
  <a:themeElements>
    <a:clrScheme name="Blank Presentation 12">
      <a:dk1>
        <a:srgbClr val="000000"/>
      </a:dk1>
      <a:lt1>
        <a:srgbClr val="FFFFFF"/>
      </a:lt1>
      <a:dk2>
        <a:srgbClr val="BF311A"/>
      </a:dk2>
      <a:lt2>
        <a:srgbClr val="808285"/>
      </a:lt2>
      <a:accent1>
        <a:srgbClr val="005595"/>
      </a:accent1>
      <a:accent2>
        <a:srgbClr val="BEC0C2"/>
      </a:accent2>
      <a:accent3>
        <a:srgbClr val="FFFFFF"/>
      </a:accent3>
      <a:accent4>
        <a:srgbClr val="000000"/>
      </a:accent4>
      <a:accent5>
        <a:srgbClr val="AAB4C8"/>
      </a:accent5>
      <a:accent6>
        <a:srgbClr val="ACAEB0"/>
      </a:accent6>
      <a:hlink>
        <a:srgbClr val="5C8727"/>
      </a:hlink>
      <a:folHlink>
        <a:srgbClr val="EC891D"/>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pitchFamily="34" charset="0"/>
          </a:defRPr>
        </a:defPPr>
      </a:lstStyle>
    </a:lnDef>
    <a:txDef>
      <a:spPr>
        <a:noFill/>
      </a:spPr>
      <a:bodyPr wrap="square" lIns="0" tIns="0" rIns="0" bIns="0" rtlCol="0">
        <a:spAutoFit/>
      </a:bodyPr>
      <a:lstStyle>
        <a:defPPr>
          <a:defRPr sz="1400" dirty="0" smtClean="0"/>
        </a:defPPr>
      </a:lstStyle>
    </a:tx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BF311A"/>
        </a:dk2>
        <a:lt2>
          <a:srgbClr val="919195"/>
        </a:lt2>
        <a:accent1>
          <a:srgbClr val="005595"/>
        </a:accent1>
        <a:accent2>
          <a:srgbClr val="BABCBE"/>
        </a:accent2>
        <a:accent3>
          <a:srgbClr val="FFFFFF"/>
        </a:accent3>
        <a:accent4>
          <a:srgbClr val="000000"/>
        </a:accent4>
        <a:accent5>
          <a:srgbClr val="AAB4C8"/>
        </a:accent5>
        <a:accent6>
          <a:srgbClr val="A8AAAC"/>
        </a:accent6>
        <a:hlink>
          <a:srgbClr val="5C8727"/>
        </a:hlink>
        <a:folHlink>
          <a:srgbClr val="4577AD"/>
        </a:folHlink>
      </a:clrScheme>
      <a:clrMap bg1="lt1" tx1="dk1" bg2="lt2" tx2="dk2" accent1="accent1" accent2="accent2" accent3="accent3" accent4="accent4" accent5="accent5" accent6="accent6" hlink="hlink" folHlink="folHlink"/>
    </a:extraClrScheme>
    <a:extraClrScheme>
      <a:clrScheme name="Blank Presentation 9">
        <a:dk1>
          <a:srgbClr val="000000"/>
        </a:dk1>
        <a:lt1>
          <a:srgbClr val="FFFFFF"/>
        </a:lt1>
        <a:dk2>
          <a:srgbClr val="5C8727"/>
        </a:dk2>
        <a:lt2>
          <a:srgbClr val="919195"/>
        </a:lt2>
        <a:accent1>
          <a:srgbClr val="005595"/>
        </a:accent1>
        <a:accent2>
          <a:srgbClr val="BABCBE"/>
        </a:accent2>
        <a:accent3>
          <a:srgbClr val="FFFFFF"/>
        </a:accent3>
        <a:accent4>
          <a:srgbClr val="000000"/>
        </a:accent4>
        <a:accent5>
          <a:srgbClr val="AAB4C8"/>
        </a:accent5>
        <a:accent6>
          <a:srgbClr val="A8AAAC"/>
        </a:accent6>
        <a:hlink>
          <a:srgbClr val="EC891D"/>
        </a:hlink>
        <a:folHlink>
          <a:srgbClr val="BF311A"/>
        </a:folHlink>
      </a:clrScheme>
      <a:clrMap bg1="lt1" tx1="dk1" bg2="lt2" tx2="dk2" accent1="accent1" accent2="accent2" accent3="accent3" accent4="accent4" accent5="accent5" accent6="accent6" hlink="hlink" folHlink="folHlink"/>
    </a:extraClrScheme>
    <a:extraClrScheme>
      <a:clrScheme name="Blank Presentation 10">
        <a:dk1>
          <a:srgbClr val="000000"/>
        </a:dk1>
        <a:lt1>
          <a:srgbClr val="FFFFFF"/>
        </a:lt1>
        <a:dk2>
          <a:srgbClr val="EC891D"/>
        </a:dk2>
        <a:lt2>
          <a:srgbClr val="919195"/>
        </a:lt2>
        <a:accent1>
          <a:srgbClr val="005595"/>
        </a:accent1>
        <a:accent2>
          <a:srgbClr val="BABCBE"/>
        </a:accent2>
        <a:accent3>
          <a:srgbClr val="FFFFFF"/>
        </a:accent3>
        <a:accent4>
          <a:srgbClr val="000000"/>
        </a:accent4>
        <a:accent5>
          <a:srgbClr val="AAB4C8"/>
        </a:accent5>
        <a:accent6>
          <a:srgbClr val="A8AAAC"/>
        </a:accent6>
        <a:hlink>
          <a:srgbClr val="5C8727"/>
        </a:hlink>
        <a:folHlink>
          <a:srgbClr val="BF311A"/>
        </a:folHlink>
      </a:clrScheme>
      <a:clrMap bg1="lt1" tx1="dk1" bg2="lt2" tx2="dk2" accent1="accent1" accent2="accent2" accent3="accent3" accent4="accent4" accent5="accent5" accent6="accent6" hlink="hlink" folHlink="folHlink"/>
    </a:extraClrScheme>
    <a:extraClrScheme>
      <a:clrScheme name="Blank Presentation 11">
        <a:dk1>
          <a:srgbClr val="000000"/>
        </a:dk1>
        <a:lt1>
          <a:srgbClr val="FFFFFF"/>
        </a:lt1>
        <a:dk2>
          <a:srgbClr val="BF311A"/>
        </a:dk2>
        <a:lt2>
          <a:srgbClr val="919195"/>
        </a:lt2>
        <a:accent1>
          <a:srgbClr val="005595"/>
        </a:accent1>
        <a:accent2>
          <a:srgbClr val="BABCBE"/>
        </a:accent2>
        <a:accent3>
          <a:srgbClr val="FFFFFF"/>
        </a:accent3>
        <a:accent4>
          <a:srgbClr val="000000"/>
        </a:accent4>
        <a:accent5>
          <a:srgbClr val="AAB4C8"/>
        </a:accent5>
        <a:accent6>
          <a:srgbClr val="A8AAAC"/>
        </a:accent6>
        <a:hlink>
          <a:srgbClr val="5C8727"/>
        </a:hlink>
        <a:folHlink>
          <a:srgbClr val="EC891D"/>
        </a:folHlink>
      </a:clrScheme>
      <a:clrMap bg1="lt1" tx1="dk1" bg2="lt2" tx2="dk2" accent1="accent1" accent2="accent2" accent3="accent3" accent4="accent4" accent5="accent5" accent6="accent6" hlink="hlink" folHlink="folHlink"/>
    </a:extraClrScheme>
    <a:extraClrScheme>
      <a:clrScheme name="Blank Presentation 12">
        <a:dk1>
          <a:srgbClr val="000000"/>
        </a:dk1>
        <a:lt1>
          <a:srgbClr val="FFFFFF"/>
        </a:lt1>
        <a:dk2>
          <a:srgbClr val="BF311A"/>
        </a:dk2>
        <a:lt2>
          <a:srgbClr val="808285"/>
        </a:lt2>
        <a:accent1>
          <a:srgbClr val="005595"/>
        </a:accent1>
        <a:accent2>
          <a:srgbClr val="BEC0C2"/>
        </a:accent2>
        <a:accent3>
          <a:srgbClr val="FFFFFF"/>
        </a:accent3>
        <a:accent4>
          <a:srgbClr val="000000"/>
        </a:accent4>
        <a:accent5>
          <a:srgbClr val="AAB4C8"/>
        </a:accent5>
        <a:accent6>
          <a:srgbClr val="ACAEB0"/>
        </a:accent6>
        <a:hlink>
          <a:srgbClr val="5C8727"/>
        </a:hlink>
        <a:folHlink>
          <a:srgbClr val="EC891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17282</TotalTime>
  <Words>5657</Words>
  <Application>Microsoft Office PowerPoint</Application>
  <PresentationFormat>全屏显示(16:9)</PresentationFormat>
  <Paragraphs>806</Paragraphs>
  <Slides>60</Slides>
  <Notes>18</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60</vt:i4>
      </vt:variant>
    </vt:vector>
  </HeadingPairs>
  <TitlesOfParts>
    <vt:vector size="77" baseType="lpstr">
      <vt:lpstr>-apple-system</vt:lpstr>
      <vt:lpstr>Arial Unicode MS</vt:lpstr>
      <vt:lpstr>PingFang SC</vt:lpstr>
      <vt:lpstr>等线</vt:lpstr>
      <vt:lpstr>黑体</vt:lpstr>
      <vt:lpstr>华文新魏</vt:lpstr>
      <vt:lpstr>华文中宋</vt:lpstr>
      <vt:lpstr>宋体</vt:lpstr>
      <vt:lpstr>微软雅黑</vt:lpstr>
      <vt:lpstr>Arial</vt:lpstr>
      <vt:lpstr>Arial Black</vt:lpstr>
      <vt:lpstr>Bodoni MT Black</vt:lpstr>
      <vt:lpstr>Calibri</vt:lpstr>
      <vt:lpstr>Courier New</vt:lpstr>
      <vt:lpstr>Times New Roman</vt:lpstr>
      <vt:lpstr>Wingdings</vt:lpstr>
      <vt:lpstr>主题1</vt:lpstr>
      <vt:lpstr>第2章 数据表示和处理</vt:lpstr>
      <vt:lpstr>数据与数据类型</vt:lpstr>
      <vt:lpstr>PowerPoint 演示文稿</vt:lpstr>
      <vt:lpstr>标识符</vt:lpstr>
      <vt:lpstr>变量</vt:lpstr>
      <vt:lpstr>变量</vt:lpstr>
      <vt:lpstr>以下标识符有啥问题？？？</vt:lpstr>
      <vt:lpstr>基本数据类型—数值类型</vt:lpstr>
      <vt:lpstr>PowerPoint 演示文稿</vt:lpstr>
      <vt:lpstr>PowerPoint 演示文稿</vt:lpstr>
      <vt:lpstr>1.算术运算符</vt:lpstr>
      <vt:lpstr>Python中的算术运算符</vt:lpstr>
      <vt:lpstr>PowerPoint 演示文稿</vt:lpstr>
      <vt:lpstr>关于浮点数的运算精度</vt:lpstr>
      <vt:lpstr>PowerPoint 演示文稿</vt:lpstr>
      <vt:lpstr>数据类型转换</vt:lpstr>
      <vt:lpstr>常用系统函数</vt:lpstr>
      <vt:lpstr>PowerPoint 演示文稿</vt:lpstr>
      <vt:lpstr>PowerPoint 演示文稿</vt:lpstr>
      <vt:lpstr>PowerPoint 演示文稿</vt:lpstr>
      <vt:lpstr>Math函数应用--好好学习，天天向上</vt:lpstr>
      <vt:lpstr>好好学习，天天向上</vt:lpstr>
      <vt:lpstr>好好学习，天天向上</vt:lpstr>
      <vt:lpstr>PowerPoint 演示文稿</vt:lpstr>
      <vt:lpstr>PowerPoint 演示文稿</vt:lpstr>
      <vt:lpstr>PowerPoint 演示文稿</vt:lpstr>
      <vt:lpstr>练习，提取星期几</vt:lpstr>
      <vt:lpstr>PowerPoint 演示文稿</vt:lpstr>
      <vt:lpstr>PowerPoint 演示文稿</vt:lpstr>
      <vt:lpstr>PowerPoint 演示文稿</vt:lpstr>
      <vt:lpstr>PowerPoint 演示文稿</vt:lpstr>
      <vt:lpstr>字符串类的常用方法（补充）</vt:lpstr>
      <vt:lpstr>PowerPoint 演示文稿</vt:lpstr>
      <vt:lpstr>关系运算</vt:lpstr>
      <vt:lpstr>关系运算符</vt:lpstr>
      <vt:lpstr>逻辑运算</vt:lpstr>
      <vt:lpstr>PowerPoint 演示文稿</vt:lpstr>
      <vt:lpstr>PowerPoint 演示文稿</vt:lpstr>
      <vt:lpstr>运算优先级</vt:lpstr>
      <vt:lpstr>位运算</vt:lpstr>
      <vt:lpstr>随机数控制</vt:lpstr>
      <vt:lpstr>随机数控制—均匀分布uniform</vt:lpstr>
      <vt:lpstr>复合数据类型</vt:lpstr>
      <vt:lpstr>1、列表(list)</vt:lpstr>
      <vt:lpstr>2、元组(tuple)</vt:lpstr>
      <vt:lpstr>3、集合（set）</vt:lpstr>
      <vt:lpstr>4、字典（dict）</vt:lpstr>
      <vt:lpstr>输入控制</vt:lpstr>
      <vt:lpstr>PowerPoint 演示文稿</vt:lpstr>
      <vt:lpstr>输出控制</vt:lpstr>
      <vt:lpstr>PowerPoint 演示文稿</vt:lpstr>
      <vt:lpstr>PowerPoint 演示文稿</vt:lpstr>
      <vt:lpstr>输出整数</vt:lpstr>
      <vt:lpstr>输出浮点数</vt:lpstr>
      <vt:lpstr>PowerPoint 演示文稿</vt:lpstr>
      <vt:lpstr>按指定格式输出</vt:lpstr>
      <vt:lpstr>PowerPoint 演示文稿</vt:lpstr>
      <vt:lpstr>格式控制标记应用例</vt:lpstr>
      <vt:lpstr>F 表达式</vt:lpstr>
      <vt:lpstr>PowerPoint 演示文稿</vt:lpstr>
    </vt:vector>
  </TitlesOfParts>
  <Company>Workgroup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软件技术基础</dc:title>
  <dc:creator/>
  <cp:revision>1287</cp:revision>
  <dcterms:created xsi:type="dcterms:W3CDTF">2010-02-28T17:17:53Z</dcterms:created>
  <dcterms:modified xsi:type="dcterms:W3CDTF">2025-02-17T15:47:28Z</dcterms:modified>
</cp:coreProperties>
</file>