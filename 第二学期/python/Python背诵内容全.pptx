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6" r:id="rId2"/>
  </p:sldMasterIdLst>
  <p:notesMasterIdLst>
    <p:notesMasterId r:id="rId101"/>
  </p:notesMasterIdLst>
  <p:sldIdLst>
    <p:sldId id="416" r:id="rId3"/>
    <p:sldId id="387" r:id="rId4"/>
    <p:sldId id="430" r:id="rId5"/>
    <p:sldId id="438" r:id="rId6"/>
    <p:sldId id="439" r:id="rId7"/>
    <p:sldId id="391" r:id="rId8"/>
    <p:sldId id="405" r:id="rId9"/>
    <p:sldId id="464" r:id="rId10"/>
    <p:sldId id="465" r:id="rId11"/>
    <p:sldId id="467" r:id="rId12"/>
    <p:sldId id="451" r:id="rId13"/>
    <p:sldId id="470" r:id="rId14"/>
    <p:sldId id="476" r:id="rId15"/>
    <p:sldId id="477" r:id="rId16"/>
    <p:sldId id="480" r:id="rId17"/>
    <p:sldId id="474" r:id="rId18"/>
    <p:sldId id="481" r:id="rId19"/>
    <p:sldId id="505" r:id="rId20"/>
    <p:sldId id="428" r:id="rId21"/>
    <p:sldId id="510" r:id="rId22"/>
    <p:sldId id="512" r:id="rId23"/>
    <p:sldId id="452" r:id="rId24"/>
    <p:sldId id="513" r:id="rId25"/>
    <p:sldId id="424" r:id="rId26"/>
    <p:sldId id="418" r:id="rId27"/>
    <p:sldId id="337" r:id="rId28"/>
    <p:sldId id="338" r:id="rId29"/>
    <p:sldId id="341" r:id="rId30"/>
    <p:sldId id="343" r:id="rId31"/>
    <p:sldId id="344" r:id="rId32"/>
    <p:sldId id="345" r:id="rId33"/>
    <p:sldId id="346" r:id="rId34"/>
    <p:sldId id="350" r:id="rId35"/>
    <p:sldId id="363" r:id="rId36"/>
    <p:sldId id="332" r:id="rId37"/>
    <p:sldId id="333" r:id="rId38"/>
    <p:sldId id="356" r:id="rId39"/>
    <p:sldId id="357" r:id="rId40"/>
    <p:sldId id="475" r:id="rId41"/>
    <p:sldId id="466" r:id="rId42"/>
    <p:sldId id="1121" r:id="rId43"/>
    <p:sldId id="1108" r:id="rId44"/>
    <p:sldId id="468" r:id="rId45"/>
    <p:sldId id="1122" r:id="rId46"/>
    <p:sldId id="1102" r:id="rId47"/>
    <p:sldId id="1074" r:id="rId48"/>
    <p:sldId id="1075" r:id="rId49"/>
    <p:sldId id="1077" r:id="rId50"/>
    <p:sldId id="1082" r:id="rId51"/>
    <p:sldId id="1096" r:id="rId52"/>
    <p:sldId id="1097" r:id="rId53"/>
    <p:sldId id="492" r:id="rId54"/>
    <p:sldId id="493" r:id="rId55"/>
    <p:sldId id="494" r:id="rId56"/>
    <p:sldId id="496" r:id="rId57"/>
    <p:sldId id="412" r:id="rId58"/>
    <p:sldId id="414" r:id="rId59"/>
    <p:sldId id="415" r:id="rId60"/>
    <p:sldId id="1123" r:id="rId61"/>
    <p:sldId id="417" r:id="rId62"/>
    <p:sldId id="1124" r:id="rId63"/>
    <p:sldId id="419" r:id="rId64"/>
    <p:sldId id="420" r:id="rId65"/>
    <p:sldId id="421" r:id="rId66"/>
    <p:sldId id="422" r:id="rId67"/>
    <p:sldId id="423" r:id="rId68"/>
    <p:sldId id="1125" r:id="rId69"/>
    <p:sldId id="425" r:id="rId70"/>
    <p:sldId id="437" r:id="rId71"/>
    <p:sldId id="447" r:id="rId72"/>
    <p:sldId id="448" r:id="rId73"/>
    <p:sldId id="450" r:id="rId74"/>
    <p:sldId id="453" r:id="rId75"/>
    <p:sldId id="478" r:id="rId76"/>
    <p:sldId id="488" r:id="rId77"/>
    <p:sldId id="458" r:id="rId78"/>
    <p:sldId id="1126" r:id="rId79"/>
    <p:sldId id="1127" r:id="rId80"/>
    <p:sldId id="1128" r:id="rId81"/>
    <p:sldId id="1129" r:id="rId82"/>
    <p:sldId id="1130" r:id="rId83"/>
    <p:sldId id="1131" r:id="rId84"/>
    <p:sldId id="1132" r:id="rId85"/>
    <p:sldId id="472" r:id="rId86"/>
    <p:sldId id="473" r:id="rId87"/>
    <p:sldId id="1133" r:id="rId88"/>
    <p:sldId id="469" r:id="rId89"/>
    <p:sldId id="397" r:id="rId90"/>
    <p:sldId id="1134" r:id="rId91"/>
    <p:sldId id="410" r:id="rId92"/>
    <p:sldId id="368" r:id="rId93"/>
    <p:sldId id="1135" r:id="rId94"/>
    <p:sldId id="396" r:id="rId95"/>
    <p:sldId id="382" r:id="rId96"/>
    <p:sldId id="389" r:id="rId97"/>
    <p:sldId id="329" r:id="rId98"/>
    <p:sldId id="324" r:id="rId99"/>
    <p:sldId id="429" r:id="rId10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507"/>
    <p:restoredTop sz="95833"/>
  </p:normalViewPr>
  <p:slideViewPr>
    <p:cSldViewPr snapToGrid="0">
      <p:cViewPr varScale="1">
        <p:scale>
          <a:sx n="94" d="100"/>
          <a:sy n="94" d="100"/>
        </p:scale>
        <p:origin x="22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presProps" Target="pres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805E22-AB1D-4E99-8B70-266F54B03E4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0829010-F4D2-4AC3-AA52-4B51308D8431}">
      <dgm:prSet phldrT="[文本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一般来说，访问数据文件的程序由三部分组成：</a:t>
          </a:r>
        </a:p>
      </dgm:t>
    </dgm:pt>
    <dgm:pt modelId="{10522EE7-3A1A-4ECD-BCBD-89B215BC81C6}" type="parTrans" cxnId="{8EC241B3-3223-4DCE-A4DC-C71CB87A551B}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4715B48-0B37-4BD8-A952-3B612F8A7BA2}" type="sibTrans" cxnId="{8EC241B3-3223-4DCE-A4DC-C71CB87A551B}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3F3070E-3DD2-4408-9299-12D48A478E2B}">
      <dgm:prSet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zh-CN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首先要创建流对象</a:t>
          </a:r>
          <a:r>
            <a:rPr lang="zh-CN" altLang="en-US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，</a:t>
          </a:r>
          <a:r>
            <a:rPr lang="zh-CN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然后通过流对象进行读写等操作，最后要关闭流对象。</a:t>
          </a:r>
          <a:endParaRPr lang="en-US" altLang="zh-CN" sz="20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D37A97C5-45B9-4D97-B077-5A1A301D3FB1}" type="parTrans" cxnId="{49489BBE-AB1B-4952-B04D-E0923878D936}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6836E8C9-A466-48D5-A8B1-8DD96A6D4669}" type="sibTrans" cxnId="{49489BBE-AB1B-4952-B04D-E0923878D936}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87644B0D-8810-4CBC-A0E4-1C1A0512FE4C}">
      <dgm:prSet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zh-CN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这三步相当于打开文件，读写文件，关闭文件。</a:t>
          </a:r>
        </a:p>
      </dgm:t>
    </dgm:pt>
    <dgm:pt modelId="{1F02D02D-ABB8-4F7F-B3BC-38CAEC266B7C}" type="parTrans" cxnId="{00B2C86C-AFC4-4BF6-A71E-1188A83F46E7}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23E86FB-B909-4D70-B0DB-FDB3B0F98847}" type="sibTrans" cxnId="{00B2C86C-AFC4-4BF6-A71E-1188A83F46E7}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4CE47E94-FA28-4276-BE27-144C0229D290}" type="pres">
      <dgm:prSet presAssocID="{0E805E22-AB1D-4E99-8B70-266F54B03E48}" presName="linear" presStyleCnt="0">
        <dgm:presLayoutVars>
          <dgm:animLvl val="lvl"/>
          <dgm:resizeHandles val="exact"/>
        </dgm:presLayoutVars>
      </dgm:prSet>
      <dgm:spPr/>
    </dgm:pt>
    <dgm:pt modelId="{54C19F2B-AD82-4C45-A895-CB8D36C9ECCD}" type="pres">
      <dgm:prSet presAssocID="{B0829010-F4D2-4AC3-AA52-4B51308D8431}" presName="parentText" presStyleLbl="node1" presStyleIdx="0" presStyleCnt="3" custScaleY="86735" custLinFactNeighborX="-22615" custLinFactNeighborY="-68368">
        <dgm:presLayoutVars>
          <dgm:chMax val="0"/>
          <dgm:bulletEnabled val="1"/>
        </dgm:presLayoutVars>
      </dgm:prSet>
      <dgm:spPr/>
    </dgm:pt>
    <dgm:pt modelId="{931B3E63-DD49-4CD9-B548-CA3CF3768B50}" type="pres">
      <dgm:prSet presAssocID="{14715B48-0B37-4BD8-A952-3B612F8A7BA2}" presName="spacer" presStyleCnt="0"/>
      <dgm:spPr/>
    </dgm:pt>
    <dgm:pt modelId="{6C17FBCA-86D8-43EE-A5CE-BE66C1775A02}" type="pres">
      <dgm:prSet presAssocID="{53F3070E-3DD2-4408-9299-12D48A478E2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855BEF7-1AB2-4B3B-B204-A69EBDB0B487}" type="pres">
      <dgm:prSet presAssocID="{6836E8C9-A466-48D5-A8B1-8DD96A6D4669}" presName="spacer" presStyleCnt="0"/>
      <dgm:spPr/>
    </dgm:pt>
    <dgm:pt modelId="{F024EC3B-DF4A-455A-B7FC-1A03C5374230}" type="pres">
      <dgm:prSet presAssocID="{87644B0D-8810-4CBC-A0E4-1C1A0512FE4C}" presName="parentText" presStyleLbl="node1" presStyleIdx="2" presStyleCnt="3" custScaleY="106132">
        <dgm:presLayoutVars>
          <dgm:chMax val="0"/>
          <dgm:bulletEnabled val="1"/>
        </dgm:presLayoutVars>
      </dgm:prSet>
      <dgm:spPr/>
    </dgm:pt>
  </dgm:ptLst>
  <dgm:cxnLst>
    <dgm:cxn modelId="{1A077F17-86B2-4CE8-A3F7-41A42DF5DCA6}" type="presOf" srcId="{87644B0D-8810-4CBC-A0E4-1C1A0512FE4C}" destId="{F024EC3B-DF4A-455A-B7FC-1A03C5374230}" srcOrd="0" destOrd="0" presId="urn:microsoft.com/office/officeart/2005/8/layout/vList2"/>
    <dgm:cxn modelId="{6B35C04A-F160-4260-BFD9-D4699F597655}" type="presOf" srcId="{53F3070E-3DD2-4408-9299-12D48A478E2B}" destId="{6C17FBCA-86D8-43EE-A5CE-BE66C1775A02}" srcOrd="0" destOrd="0" presId="urn:microsoft.com/office/officeart/2005/8/layout/vList2"/>
    <dgm:cxn modelId="{C34C224E-58CF-4592-9F78-DF88DC80C1E4}" type="presOf" srcId="{0E805E22-AB1D-4E99-8B70-266F54B03E48}" destId="{4CE47E94-FA28-4276-BE27-144C0229D290}" srcOrd="0" destOrd="0" presId="urn:microsoft.com/office/officeart/2005/8/layout/vList2"/>
    <dgm:cxn modelId="{00B2C86C-AFC4-4BF6-A71E-1188A83F46E7}" srcId="{0E805E22-AB1D-4E99-8B70-266F54B03E48}" destId="{87644B0D-8810-4CBC-A0E4-1C1A0512FE4C}" srcOrd="2" destOrd="0" parTransId="{1F02D02D-ABB8-4F7F-B3BC-38CAEC266B7C}" sibTransId="{523E86FB-B909-4D70-B0DB-FDB3B0F98847}"/>
    <dgm:cxn modelId="{8EC241B3-3223-4DCE-A4DC-C71CB87A551B}" srcId="{0E805E22-AB1D-4E99-8B70-266F54B03E48}" destId="{B0829010-F4D2-4AC3-AA52-4B51308D8431}" srcOrd="0" destOrd="0" parTransId="{10522EE7-3A1A-4ECD-BCBD-89B215BC81C6}" sibTransId="{14715B48-0B37-4BD8-A952-3B612F8A7BA2}"/>
    <dgm:cxn modelId="{E72D2CB5-CE42-4D15-94C6-1BF7D1E7EAD0}" type="presOf" srcId="{B0829010-F4D2-4AC3-AA52-4B51308D8431}" destId="{54C19F2B-AD82-4C45-A895-CB8D36C9ECCD}" srcOrd="0" destOrd="0" presId="urn:microsoft.com/office/officeart/2005/8/layout/vList2"/>
    <dgm:cxn modelId="{49489BBE-AB1B-4952-B04D-E0923878D936}" srcId="{0E805E22-AB1D-4E99-8B70-266F54B03E48}" destId="{53F3070E-3DD2-4408-9299-12D48A478E2B}" srcOrd="1" destOrd="0" parTransId="{D37A97C5-45B9-4D97-B077-5A1A301D3FB1}" sibTransId="{6836E8C9-A466-48D5-A8B1-8DD96A6D4669}"/>
    <dgm:cxn modelId="{E8949A62-9C15-4027-B1F4-DCFB25014364}" type="presParOf" srcId="{4CE47E94-FA28-4276-BE27-144C0229D290}" destId="{54C19F2B-AD82-4C45-A895-CB8D36C9ECCD}" srcOrd="0" destOrd="0" presId="urn:microsoft.com/office/officeart/2005/8/layout/vList2"/>
    <dgm:cxn modelId="{771DC9F3-4D1C-468C-8DDF-C0D8B9D25987}" type="presParOf" srcId="{4CE47E94-FA28-4276-BE27-144C0229D290}" destId="{931B3E63-DD49-4CD9-B548-CA3CF3768B50}" srcOrd="1" destOrd="0" presId="urn:microsoft.com/office/officeart/2005/8/layout/vList2"/>
    <dgm:cxn modelId="{2E0C32C9-FC8D-4AC3-BF51-3718D2E6B3DF}" type="presParOf" srcId="{4CE47E94-FA28-4276-BE27-144C0229D290}" destId="{6C17FBCA-86D8-43EE-A5CE-BE66C1775A02}" srcOrd="2" destOrd="0" presId="urn:microsoft.com/office/officeart/2005/8/layout/vList2"/>
    <dgm:cxn modelId="{E3B7F065-E7AE-4737-98D7-C76A4CF0E866}" type="presParOf" srcId="{4CE47E94-FA28-4276-BE27-144C0229D290}" destId="{2855BEF7-1AB2-4B3B-B204-A69EBDB0B487}" srcOrd="3" destOrd="0" presId="urn:microsoft.com/office/officeart/2005/8/layout/vList2"/>
    <dgm:cxn modelId="{2A51AEA8-0A60-4830-A979-C24407CCFCB6}" type="presParOf" srcId="{4CE47E94-FA28-4276-BE27-144C0229D290}" destId="{F024EC3B-DF4A-455A-B7FC-1A03C537423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C19F2B-AD82-4C45-A895-CB8D36C9ECCD}">
      <dsp:nvSpPr>
        <dsp:cNvPr id="0" name=""/>
        <dsp:cNvSpPr/>
      </dsp:nvSpPr>
      <dsp:spPr>
        <a:xfrm>
          <a:off x="0" y="58494"/>
          <a:ext cx="4760015" cy="648774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一般来说，访问数据文件的程序由三部分组成：</a:t>
          </a:r>
        </a:p>
      </dsp:txBody>
      <dsp:txXfrm>
        <a:off x="31671" y="90165"/>
        <a:ext cx="4696673" cy="585432"/>
      </dsp:txXfrm>
    </dsp:sp>
    <dsp:sp modelId="{6C17FBCA-86D8-43EE-A5CE-BE66C1775A02}">
      <dsp:nvSpPr>
        <dsp:cNvPr id="0" name=""/>
        <dsp:cNvSpPr/>
      </dsp:nvSpPr>
      <dsp:spPr>
        <a:xfrm>
          <a:off x="0" y="730117"/>
          <a:ext cx="4760015" cy="747996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2000" kern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首先要创建流对象</a:t>
          </a:r>
          <a:r>
            <a:rPr lang="zh-CN" altLang="en-US" sz="2000" kern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，</a:t>
          </a:r>
          <a:r>
            <a:rPr lang="zh-CN" altLang="zh-CN" sz="2000" kern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然后通过流对象进行读写等操作，最后要关闭流对象。</a:t>
          </a:r>
          <a:endParaRPr lang="en-US" altLang="zh-CN" sz="2000" kern="12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36514" y="766631"/>
        <a:ext cx="4686987" cy="674968"/>
      </dsp:txXfrm>
    </dsp:sp>
    <dsp:sp modelId="{F024EC3B-DF4A-455A-B7FC-1A03C5374230}">
      <dsp:nvSpPr>
        <dsp:cNvPr id="0" name=""/>
        <dsp:cNvSpPr/>
      </dsp:nvSpPr>
      <dsp:spPr>
        <a:xfrm>
          <a:off x="0" y="1491683"/>
          <a:ext cx="4760015" cy="793863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2000" kern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这三步相当于打开文件，读写文件，关闭文件。</a:t>
          </a:r>
        </a:p>
      </dsp:txBody>
      <dsp:txXfrm>
        <a:off x="38753" y="1530436"/>
        <a:ext cx="4682509" cy="7163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9275F-0800-0C41-9881-26029B66298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3469D-B503-B945-BA4F-6AF3D49A47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645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fld id="{1D9E0E24-F49C-4D4B-8869-17A45EF43FD3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1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ln w="12700" cap="flat"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zh-CN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024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fld id="{6E29261E-0FF0-4CD0-92C5-BC9931B2CBBD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3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487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函数用于返回字符的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ASCII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码或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Unicode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编码的整数值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322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fld id="{E82E87A9-CD4E-4956-AF88-5760DB12095C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14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932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fld id="{E82E87A9-CD4E-4956-AF88-5760DB12095C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15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581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EB3F29-63AA-456A-8033-9D7C5DEBDA4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475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切片不改变维度，索引会降低</a:t>
            </a:r>
            <a:r>
              <a:rPr lang="en-US" altLang="zh-CN" dirty="0"/>
              <a:t>1</a:t>
            </a:r>
            <a:r>
              <a:rPr lang="zh-CN" altLang="en-US" dirty="0"/>
              <a:t>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EB3F29-63AA-456A-8033-9D7C5DEBDA4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53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错误写法：</a:t>
            </a:r>
            <a:r>
              <a:rPr lang="en-US" altLang="zh-CN" dirty="0"/>
              <a:t>index out of range</a:t>
            </a:r>
          </a:p>
          <a:p>
            <a:r>
              <a:rPr lang="en-US" altLang="zh-CN" dirty="0"/>
              <a:t>fib=[0,1]                                      #</a:t>
            </a:r>
            <a:r>
              <a:rPr lang="zh-CN" altLang="en-US" dirty="0"/>
              <a:t>修改为：</a:t>
            </a:r>
            <a:r>
              <a:rPr lang="en-US" altLang="zh-CN" dirty="0"/>
              <a:t>fib=[0,1]+[0]*8</a:t>
            </a:r>
          </a:p>
          <a:p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range(2,10): 	       # </a:t>
            </a:r>
            <a:r>
              <a:rPr lang="zh-CN" altLang="en-US" dirty="0"/>
              <a:t>表中已存在</a:t>
            </a:r>
            <a:r>
              <a:rPr lang="en-US" altLang="zh-CN" dirty="0"/>
              <a:t>2</a:t>
            </a:r>
            <a:r>
              <a:rPr lang="zh-CN" altLang="en-US" dirty="0"/>
              <a:t>项，从</a:t>
            </a:r>
            <a:r>
              <a:rPr lang="en-US" altLang="zh-CN" dirty="0"/>
              <a:t>2</a:t>
            </a:r>
            <a:r>
              <a:rPr lang="zh-CN" altLang="en-US" dirty="0"/>
              <a:t>开始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fib[</a:t>
            </a:r>
            <a:r>
              <a:rPr lang="en-US" altLang="zh-CN" dirty="0" err="1"/>
              <a:t>i</a:t>
            </a:r>
            <a:r>
              <a:rPr lang="en-US" altLang="zh-CN" dirty="0"/>
              <a:t>] =fib[i-1]+fib[i-2]            # </a:t>
            </a:r>
            <a:r>
              <a:rPr lang="en-US" altLang="zh-CN" dirty="0" err="1"/>
              <a:t>IndexError</a:t>
            </a:r>
            <a:r>
              <a:rPr lang="en-US" altLang="zh-CN" dirty="0"/>
              <a:t>: list assignment index out of range   </a:t>
            </a:r>
            <a:r>
              <a:rPr lang="zh-CN" altLang="en-US" dirty="0"/>
              <a:t>因为初始列表只有</a:t>
            </a:r>
            <a:r>
              <a:rPr lang="en-US" altLang="zh-CN" dirty="0"/>
              <a:t>2</a:t>
            </a:r>
            <a:r>
              <a:rPr lang="zh-CN" altLang="en-US" dirty="0"/>
              <a:t>项，第</a:t>
            </a:r>
            <a:r>
              <a:rPr lang="en-US" altLang="zh-CN" dirty="0"/>
              <a:t>3</a:t>
            </a:r>
            <a:r>
              <a:rPr lang="zh-CN" altLang="en-US" dirty="0"/>
              <a:t>项没有初始值，左边的</a:t>
            </a:r>
            <a:r>
              <a:rPr lang="en-US" altLang="zh-CN" dirty="0"/>
              <a:t>fib[2]</a:t>
            </a:r>
            <a:r>
              <a:rPr lang="zh-CN" altLang="en-US" dirty="0"/>
              <a:t>不存在，不能访问</a:t>
            </a:r>
            <a:endParaRPr lang="en-US" altLang="zh-CN" dirty="0"/>
          </a:p>
          <a:p>
            <a:r>
              <a:rPr lang="en-US" altLang="zh-CN" dirty="0"/>
              <a:t>print (fib)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查看列表地址是否发生变化</a:t>
            </a:r>
            <a:endParaRPr lang="en-US" altLang="zh-CN" dirty="0"/>
          </a:p>
          <a:p>
            <a:r>
              <a:rPr lang="en-US" altLang="zh-CN" dirty="0"/>
              <a:t>fib=[0,1]</a:t>
            </a:r>
          </a:p>
          <a:p>
            <a:r>
              <a:rPr lang="en-US" altLang="zh-CN" dirty="0"/>
              <a:t>print("</a:t>
            </a:r>
            <a:r>
              <a:rPr lang="en-US" altLang="zh-CN" dirty="0" err="1"/>
              <a:t>first",id</a:t>
            </a:r>
            <a:r>
              <a:rPr lang="en-US" altLang="zh-CN" dirty="0"/>
              <a:t>(fib))</a:t>
            </a:r>
          </a:p>
          <a:p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range(2,10): 	#</a:t>
            </a:r>
            <a:r>
              <a:rPr lang="zh-CN" altLang="en-US" dirty="0"/>
              <a:t>表中已存在</a:t>
            </a:r>
            <a:r>
              <a:rPr lang="en-US" altLang="zh-CN" dirty="0"/>
              <a:t>2</a:t>
            </a:r>
            <a:r>
              <a:rPr lang="zh-CN" altLang="en-US" dirty="0"/>
              <a:t>项，从</a:t>
            </a:r>
            <a:r>
              <a:rPr lang="en-US" altLang="zh-CN" dirty="0"/>
              <a:t>2</a:t>
            </a:r>
            <a:r>
              <a:rPr lang="zh-CN" altLang="en-US" dirty="0"/>
              <a:t>开始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#</a:t>
            </a:r>
            <a:r>
              <a:rPr lang="en-US" altLang="zh-CN" dirty="0" err="1"/>
              <a:t>fib.append</a:t>
            </a:r>
            <a:r>
              <a:rPr lang="en-US" altLang="zh-CN" dirty="0"/>
              <a:t>(fib[i-1]+fib[i-2])</a:t>
            </a:r>
          </a:p>
          <a:p>
            <a:r>
              <a:rPr lang="en-US" altLang="zh-CN" dirty="0"/>
              <a:t>    fib = fib+[ fib[i-1]+fib[i-2] ]        #fib</a:t>
            </a:r>
            <a:r>
              <a:rPr lang="zh-CN" altLang="en-US" dirty="0"/>
              <a:t>重新赋值，地址会改变</a:t>
            </a:r>
            <a:endParaRPr lang="en-US" altLang="zh-CN" dirty="0"/>
          </a:p>
          <a:p>
            <a:r>
              <a:rPr lang="en-US" altLang="zh-CN" dirty="0"/>
              <a:t>    # fib += [ fib[i-1]+fib[i-2] ]         # </a:t>
            </a:r>
            <a:r>
              <a:rPr lang="zh-CN" altLang="en-US" dirty="0"/>
              <a:t>累积写法，地址不会改变</a:t>
            </a:r>
            <a:endParaRPr lang="en-US" altLang="zh-CN" dirty="0"/>
          </a:p>
          <a:p>
            <a:r>
              <a:rPr lang="en-US" altLang="zh-CN" dirty="0"/>
              <a:t>    print(</a:t>
            </a:r>
            <a:r>
              <a:rPr lang="en-US" altLang="zh-CN" dirty="0" err="1"/>
              <a:t>i</a:t>
            </a:r>
            <a:r>
              <a:rPr lang="en-US" altLang="zh-CN" dirty="0"/>
              <a:t>,"</a:t>
            </a:r>
            <a:r>
              <a:rPr lang="zh-CN" altLang="en-US" dirty="0"/>
              <a:t>次修改后：</a:t>
            </a:r>
            <a:r>
              <a:rPr lang="en-US" altLang="zh-CN" dirty="0"/>
              <a:t>",id(fib))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EB3F29-63AA-456A-8033-9D7C5DEBDA4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601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L1=[1,3,6,3,3,7,8,1,1,1]</a:t>
            </a:r>
          </a:p>
          <a:p>
            <a:r>
              <a:rPr lang="en-US" altLang="zh-CN" dirty="0" err="1"/>
              <a:t>xNo</a:t>
            </a:r>
            <a:r>
              <a:rPr lang="en-US" altLang="zh-CN" dirty="0"/>
              <a:t>=[</a:t>
            </a:r>
            <a:r>
              <a:rPr lang="en-US" altLang="zh-CN" dirty="0" err="1"/>
              <a:t>i</a:t>
            </a:r>
            <a:r>
              <a:rPr lang="en-US" altLang="zh-CN" dirty="0"/>
              <a:t> for </a:t>
            </a:r>
            <a:r>
              <a:rPr lang="en-US" altLang="zh-CN" dirty="0" err="1"/>
              <a:t>i,x</a:t>
            </a:r>
            <a:r>
              <a:rPr lang="en-US" altLang="zh-CN" dirty="0"/>
              <a:t> in enumerate(L1) if x == 3 ]    #</a:t>
            </a:r>
            <a:r>
              <a:rPr lang="zh-CN" altLang="en-US" dirty="0"/>
              <a:t>列表推导式</a:t>
            </a:r>
          </a:p>
          <a:p>
            <a:endParaRPr lang="zh-CN" altLang="en-US" dirty="0"/>
          </a:p>
          <a:p>
            <a:r>
              <a:rPr lang="en-US" altLang="zh-CN" dirty="0" err="1"/>
              <a:t>xNO</a:t>
            </a:r>
            <a:r>
              <a:rPr lang="en-US" altLang="zh-CN" dirty="0"/>
              <a:t>=[]</a:t>
            </a:r>
          </a:p>
          <a:p>
            <a:r>
              <a:rPr lang="en-US" altLang="zh-CN" dirty="0"/>
              <a:t>for  </a:t>
            </a:r>
            <a:r>
              <a:rPr lang="en-US" altLang="zh-CN" dirty="0" err="1"/>
              <a:t>i,x</a:t>
            </a:r>
            <a:r>
              <a:rPr lang="en-US" altLang="zh-CN" dirty="0"/>
              <a:t> in enumerate(L1):</a:t>
            </a:r>
          </a:p>
          <a:p>
            <a:r>
              <a:rPr lang="en-US" altLang="zh-CN" dirty="0"/>
              <a:t>    if x==3: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xNO.append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xNO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EB3F29-63AA-456A-8033-9D7C5DEBDA4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39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读写文件是最常见的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操作。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读写文件前，先了解一下，在磁盘上读写文件的功能都是由操作系统提供的，现代操作系统不允许普通的程序直接操作磁盘，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所以，读写文件就是请求操作系统打开一个文件对象，然后通过操作系统提供的接口从这个文件对象中读取数据（读文件），或者把数据写入这个文件对象（写文件）。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675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要以读文件的模式打开一个文件对象，使用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内置的</a:t>
            </a:r>
            <a:r>
              <a:rPr lang="en-US" altLang="zh-CN" dirty="0"/>
              <a:t>open()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函数，传入文件名和模式标示符：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标示符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'r'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表示读，这样，我们就成功地打开了一个文件。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如果文件不存在，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函数就会抛出一个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IOError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的错误，并且给出错误码和详细的信息告诉你文件不存在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fs=open(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r‘d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:\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scores.txt’,“x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”)    #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以写模式打开已经存在的文件，抛出异常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FileExistsError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Errno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17] File exists: 'd:\\scores.txt'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307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最后一步是调用</a:t>
            </a:r>
            <a:r>
              <a:rPr lang="en-US" altLang="zh-CN" dirty="0"/>
              <a:t>close()</a:t>
            </a:r>
            <a:r>
              <a:rPr lang="zh-CN" altLang="en-US" dirty="0"/>
              <a:t>方法关闭文件。文件使用完毕后必须关闭，因为文件对象会占用操作系统的资源，并且操作系统同一时间能打开的文件数量也是有限的。</a:t>
            </a:r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当我们写文件时，操作系统往往不会立刻把数据写入磁盘，而是放到内存缓存起来，空闲的时候再慢慢写入。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只有调用</a:t>
            </a:r>
            <a:r>
              <a:rPr lang="en-US" altLang="zh-CN" dirty="0"/>
              <a:t>close()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方法时，操作系统才保证把没有写入的数据全部写入磁盘。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忘记调用</a:t>
            </a:r>
            <a:r>
              <a:rPr lang="en-US" altLang="zh-CN" dirty="0"/>
              <a:t>close()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的后果是数据可能只写了一部分到磁盘，剩下的丢失了。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944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Python setup.py  install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427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jieba.load_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userdict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(“dict.txt”)    #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加载用户字典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 err="1"/>
              <a:t>jieba.add_word</a:t>
            </a:r>
            <a:r>
              <a:rPr lang="en-US" altLang="zh-CN" dirty="0"/>
              <a:t>(‘</a:t>
            </a:r>
            <a:r>
              <a:rPr lang="zh-CN" altLang="en-US" dirty="0"/>
              <a:t>计算机编程</a:t>
            </a:r>
            <a:r>
              <a:rPr lang="en-US" altLang="zh-CN" dirty="0"/>
              <a:t>’)     #</a:t>
            </a:r>
            <a:r>
              <a:rPr lang="zh-CN" altLang="en-US" dirty="0"/>
              <a:t>添加单词到字典</a:t>
            </a:r>
            <a:endParaRPr lang="en-US" altLang="zh-CN" dirty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133" dirty="0" err="1"/>
              <a:t>withWeight</a:t>
            </a:r>
            <a:r>
              <a:rPr lang="en-US" altLang="zh-CN" sz="2133" dirty="0"/>
              <a:t> </a:t>
            </a:r>
            <a:r>
              <a:rPr lang="zh-CN" altLang="en-US" sz="2133" dirty="0"/>
              <a:t>指定是否计算关键字的权重，权重大小不仅仅指词频，还反映词出现的普遍程度   </a:t>
            </a:r>
            <a:r>
              <a:rPr lang="en-US" altLang="zh-CN" sz="2133" dirty="0"/>
              <a:t>POS(part</a:t>
            </a:r>
            <a:r>
              <a:rPr lang="en-US" altLang="zh-CN" sz="2133" baseline="0" dirty="0"/>
              <a:t> </a:t>
            </a:r>
            <a:r>
              <a:rPr lang="en-US" altLang="zh-CN" sz="2133" baseline="0"/>
              <a:t>of speech</a:t>
            </a:r>
            <a:r>
              <a:rPr lang="en-US" altLang="zh-CN" sz="2133"/>
              <a:t>)</a:t>
            </a:r>
            <a:endParaRPr lang="en-US" altLang="zh-CN" sz="2133" dirty="0"/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473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中的核心类，你有很多种方式来对它进行初始化，比如从文件中加载一张图像，处理其他形式的图像，或者是从头创造一张图像等。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Image.open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返回一个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对象，该对象有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size,format,mode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等属性，其中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`size`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表示图像的宽度和高度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像素表示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);`format`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表示图像的格式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常见的包括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JPEG,PNG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等格式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;`mode`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表示图像的模式，定义了像素类型还有图像深度等，常见的有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RGB,HSV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Import </a:t>
            </a:r>
            <a:r>
              <a:rPr lang="en-US" altLang="zh-CN" b="1" dirty="0" err="1">
                <a:solidFill>
                  <a:srgbClr val="C00000"/>
                </a:solidFill>
              </a:rPr>
              <a:t>numpy</a:t>
            </a:r>
            <a:r>
              <a:rPr lang="en-US" altLang="zh-CN" b="1" dirty="0">
                <a:solidFill>
                  <a:srgbClr val="C00000"/>
                </a:solidFill>
              </a:rPr>
              <a:t> as np</a:t>
            </a:r>
          </a:p>
          <a:p>
            <a:r>
              <a:rPr lang="en-US" altLang="zh-CN" sz="1800" b="0" dirty="0">
                <a:solidFill>
                  <a:schemeClr val="tx1"/>
                </a:solidFill>
              </a:rPr>
              <a:t>from PIL import Image</a:t>
            </a:r>
          </a:p>
          <a:p>
            <a:r>
              <a:rPr lang="en-US" altLang="zh-CN" sz="1800" b="0" dirty="0" err="1">
                <a:solidFill>
                  <a:schemeClr val="tx1"/>
                </a:solidFill>
              </a:rPr>
              <a:t>im</a:t>
            </a:r>
            <a:r>
              <a:rPr lang="en-US" altLang="zh-CN" sz="1800" b="0" dirty="0">
                <a:solidFill>
                  <a:schemeClr val="tx1"/>
                </a:solidFill>
              </a:rPr>
              <a:t> = </a:t>
            </a:r>
            <a:r>
              <a:rPr lang="en-US" altLang="zh-CN" sz="1800" b="0" dirty="0" err="1">
                <a:solidFill>
                  <a:schemeClr val="tx1"/>
                </a:solidFill>
              </a:rPr>
              <a:t>Image.open</a:t>
            </a:r>
            <a:r>
              <a:rPr lang="en-US" altLang="zh-CN" sz="1800" b="0" dirty="0">
                <a:solidFill>
                  <a:schemeClr val="tx1"/>
                </a:solidFill>
              </a:rPr>
              <a:t>("d:/images/hm.jpg","r") </a:t>
            </a:r>
          </a:p>
          <a:p>
            <a:r>
              <a:rPr lang="en-US" altLang="zh-CN" b="1" dirty="0">
                <a:solidFill>
                  <a:srgbClr val="C00000"/>
                </a:solidFill>
              </a:rPr>
              <a:t>imData=np.as array(</a:t>
            </a:r>
            <a:r>
              <a:rPr lang="en-US" altLang="zh-CN" b="1" dirty="0" err="1">
                <a:solidFill>
                  <a:srgbClr val="C00000"/>
                </a:solidFill>
              </a:rPr>
              <a:t>im</a:t>
            </a:r>
            <a:r>
              <a:rPr lang="en-US" altLang="zh-CN" b="1" dirty="0">
                <a:solidFill>
                  <a:srgbClr val="C00000"/>
                </a:solidFill>
              </a:rPr>
              <a:t>)    #</a:t>
            </a:r>
            <a:r>
              <a:rPr lang="en-US" altLang="zh-CN" b="1" dirty="0" err="1">
                <a:solidFill>
                  <a:srgbClr val="C00000"/>
                </a:solidFill>
              </a:rPr>
              <a:t>imData</a:t>
            </a:r>
            <a:r>
              <a:rPr lang="zh-CN" altLang="en-US" b="1" dirty="0">
                <a:solidFill>
                  <a:srgbClr val="C00000"/>
                </a:solidFill>
              </a:rPr>
              <a:t>是只读的，无法修改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注意：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sz="1200" b="1" dirty="0"/>
              <a:t>      </a:t>
            </a:r>
            <a:r>
              <a:rPr lang="en-US" altLang="zh-CN" sz="1200" b="1" dirty="0" err="1"/>
              <a:t>imData</a:t>
            </a:r>
            <a:r>
              <a:rPr lang="zh-CN" altLang="en-US" sz="1200" b="1" dirty="0"/>
              <a:t>是一个只读数组，无法修改其数据</a:t>
            </a:r>
            <a:endParaRPr lang="en-US" altLang="zh-CN" sz="1200" b="1" dirty="0"/>
          </a:p>
          <a:p>
            <a:r>
              <a:rPr lang="zh-CN" altLang="en-US" sz="1200" b="1" dirty="0"/>
              <a:t>打开时改用：</a:t>
            </a:r>
            <a:endParaRPr lang="en-US" altLang="zh-CN" sz="1200" b="1" dirty="0"/>
          </a:p>
          <a:p>
            <a:r>
              <a:rPr lang="en-US" altLang="zh-CN" sz="1200" b="1" dirty="0"/>
              <a:t>     </a:t>
            </a:r>
            <a:r>
              <a:rPr lang="en-US" altLang="zh-CN" sz="1200" b="1" dirty="0" err="1"/>
              <a:t>img</a:t>
            </a:r>
            <a:r>
              <a:rPr lang="en-US" altLang="zh-CN" sz="1200" b="1" dirty="0"/>
              <a:t> = </a:t>
            </a:r>
            <a:r>
              <a:rPr lang="en-US" altLang="zh-CN" sz="1200" b="1" dirty="0" err="1"/>
              <a:t>np.array</a:t>
            </a:r>
            <a:r>
              <a:rPr lang="en-US" altLang="zh-CN" sz="1200" b="1" dirty="0"/>
              <a:t>(</a:t>
            </a:r>
            <a:r>
              <a:rPr lang="en-US" altLang="zh-CN" sz="1200" b="1" dirty="0" err="1"/>
              <a:t>Image.open</a:t>
            </a:r>
            <a:r>
              <a:rPr lang="en-US" altLang="zh-CN" sz="1200" b="1" dirty="0"/>
              <a:t>(filename))</a:t>
            </a:r>
          </a:p>
          <a:p>
            <a:r>
              <a:rPr lang="en-US" altLang="zh-CN" sz="1200" b="1" dirty="0"/>
              <a:t>     </a:t>
            </a:r>
            <a:r>
              <a:rPr lang="en-US" altLang="zh-CN" sz="1200" b="1" dirty="0" err="1"/>
              <a:t>img</a:t>
            </a:r>
            <a:r>
              <a:rPr lang="zh-CN" altLang="en-US" sz="1200" b="1" dirty="0"/>
              <a:t>的数组是原始图像数据的拷贝，允许修改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200" b="1" dirty="0"/>
              <a:t>从</a:t>
            </a:r>
            <a:r>
              <a:rPr lang="en-US" altLang="zh-CN" sz="1200" b="1" dirty="0"/>
              <a:t>np  </a:t>
            </a:r>
            <a:r>
              <a:rPr lang="zh-CN" altLang="en-US" sz="1200" b="1" dirty="0"/>
              <a:t>数组数据变回到图像数据</a:t>
            </a:r>
            <a:endParaRPr lang="en-US" altLang="zh-CN" sz="1200" b="1" dirty="0"/>
          </a:p>
          <a:p>
            <a:r>
              <a:rPr lang="en-US" altLang="zh-CN" sz="1200" b="1" dirty="0" err="1"/>
              <a:t>imgS</a:t>
            </a:r>
            <a:r>
              <a:rPr lang="en-US" altLang="zh-CN" sz="1200" b="1" dirty="0"/>
              <a:t>=</a:t>
            </a:r>
            <a:r>
              <a:rPr lang="en-US" altLang="zh-CN" sz="1200" b="1" dirty="0" err="1"/>
              <a:t>Image.fromarray</a:t>
            </a:r>
            <a:r>
              <a:rPr lang="en-US" altLang="zh-CN" sz="1200" b="1" dirty="0"/>
              <a:t>(</a:t>
            </a:r>
            <a:r>
              <a:rPr lang="en-US" altLang="zh-CN" sz="1200" b="1" dirty="0" err="1"/>
              <a:t>img</a:t>
            </a:r>
            <a:r>
              <a:rPr lang="en-US" altLang="zh-CN" sz="1200" b="1" dirty="0"/>
              <a:t>)</a:t>
            </a:r>
          </a:p>
          <a:p>
            <a:endParaRPr lang="en-US" altLang="zh-CN" sz="1200" b="1" dirty="0"/>
          </a:p>
          <a:p>
            <a:endParaRPr lang="zh-CN" altLang="en-US" sz="1200" b="1" dirty="0"/>
          </a:p>
          <a:p>
            <a:r>
              <a:rPr lang="en-US" altLang="zh-CN" sz="1200" b="1" dirty="0"/>
              <a:t>#</a:t>
            </a:r>
            <a:r>
              <a:rPr lang="zh-CN" altLang="en-US" sz="1200" b="1" dirty="0"/>
              <a:t>在命令行下执行：</a:t>
            </a:r>
            <a:r>
              <a:rPr lang="en-US" altLang="zh-CN" sz="1200" b="1" dirty="0"/>
              <a:t>python -m PIL</a:t>
            </a:r>
            <a:r>
              <a:rPr lang="zh-CN" altLang="en-US" sz="1200" b="1" dirty="0"/>
              <a:t>可以查看所有</a:t>
            </a:r>
            <a:r>
              <a:rPr lang="en-US" altLang="zh-CN" sz="1200" b="1" dirty="0"/>
              <a:t>Python</a:t>
            </a:r>
            <a:r>
              <a:rPr lang="zh-CN" altLang="en-US" sz="1200" b="1" dirty="0"/>
              <a:t>支持的图像格式</a:t>
            </a:r>
          </a:p>
          <a:p>
            <a:r>
              <a:rPr lang="en-US" altLang="zh-CN" sz="1200" b="1" dirty="0"/>
              <a:t>#(base) C:\Users\lixm1&gt;python -m PIL</a:t>
            </a:r>
          </a:p>
          <a:p>
            <a:r>
              <a:rPr lang="en-US" altLang="zh-CN" sz="1200" b="1" dirty="0"/>
              <a:t>#--------------------------------------------------------------------</a:t>
            </a:r>
          </a:p>
          <a:p>
            <a:r>
              <a:rPr lang="en-US" altLang="zh-CN" sz="1200" b="1" dirty="0"/>
              <a:t>#Pillow 8.2.0</a:t>
            </a:r>
          </a:p>
          <a:p>
            <a:r>
              <a:rPr lang="en-US" altLang="zh-CN" sz="1200" b="1" dirty="0"/>
              <a:t>#Python 3.8.8 (default, Apr 13 2021, 15:08:03) [MSC v.1916 64 bit (AMD64)]</a:t>
            </a:r>
          </a:p>
          <a:p>
            <a:r>
              <a:rPr lang="en-US" altLang="zh-CN" sz="1200" b="1" dirty="0"/>
              <a:t>#--------------------------------------------------------------------</a:t>
            </a:r>
          </a:p>
          <a:p>
            <a:r>
              <a:rPr lang="en-US" altLang="zh-CN" sz="1200" b="1" dirty="0"/>
              <a:t>#Python modules loaded from D:\anaconda3\lib\site-packages\PIL</a:t>
            </a:r>
          </a:p>
          <a:p>
            <a:r>
              <a:rPr lang="en-US" altLang="zh-CN" sz="1200" b="1" dirty="0"/>
              <a:t>#Binary modules loaded from D:\anaconda3\lib\site-packages\PIL</a:t>
            </a:r>
          </a:p>
          <a:p>
            <a:r>
              <a:rPr lang="en-US" altLang="zh-CN" sz="1200" b="1" dirty="0"/>
              <a:t>#--------------------------------------------------------------------</a:t>
            </a:r>
          </a:p>
          <a:p>
            <a:r>
              <a:rPr lang="en-US" altLang="zh-CN" sz="1200" b="1" dirty="0"/>
              <a:t>#--- PIL CORE support ok, compiled for 8.2.0</a:t>
            </a:r>
          </a:p>
          <a:p>
            <a:r>
              <a:rPr lang="en-US" altLang="zh-CN" sz="1200" b="1" dirty="0"/>
              <a:t>#--- TKINTER support ok, loaded 8.6</a:t>
            </a:r>
          </a:p>
          <a:p>
            <a:r>
              <a:rPr lang="en-US" altLang="zh-CN" sz="1200" b="1" dirty="0"/>
              <a:t>#--- FREETYPE2 support ok, loaded 2.10.4</a:t>
            </a:r>
          </a:p>
          <a:p>
            <a:r>
              <a:rPr lang="en-US" altLang="zh-CN" sz="1200" b="1" dirty="0"/>
              <a:t>#*** LITTLECMS2 support not installed</a:t>
            </a:r>
          </a:p>
          <a:p>
            <a:r>
              <a:rPr lang="en-US" altLang="zh-CN" sz="1200" b="1" dirty="0"/>
              <a:t>#*** WEBP support not installed</a:t>
            </a:r>
          </a:p>
          <a:p>
            <a:r>
              <a:rPr lang="en-US" altLang="zh-CN" sz="1200" b="1" dirty="0"/>
              <a:t>#*** WEBP Transparency support not installed</a:t>
            </a:r>
          </a:p>
          <a:p>
            <a:r>
              <a:rPr lang="en-US" altLang="zh-CN" sz="1200" b="1" dirty="0"/>
              <a:t>#*** WEBPMUX support not installed</a:t>
            </a:r>
          </a:p>
          <a:p>
            <a:r>
              <a:rPr lang="en-US" altLang="zh-CN" sz="1200" b="1" dirty="0"/>
              <a:t>#*** WEBP Animation support not installed</a:t>
            </a:r>
          </a:p>
          <a:p>
            <a:r>
              <a:rPr lang="en-US" altLang="zh-CN" sz="1200" b="1" dirty="0"/>
              <a:t>#--- JPEG support ok, compiled for 9.0</a:t>
            </a:r>
          </a:p>
          <a:p>
            <a:r>
              <a:rPr lang="en-US" altLang="zh-CN" sz="1200" b="1" dirty="0"/>
              <a:t>#*** OPENJPEG (JPEG2000) support not installed</a:t>
            </a:r>
          </a:p>
          <a:p>
            <a:r>
              <a:rPr lang="en-US" altLang="zh-CN" sz="1200" b="1" dirty="0"/>
              <a:t>#--- ZLIB (PNG/ZIP) support ok, loaded 1.2.11</a:t>
            </a:r>
          </a:p>
          <a:p>
            <a:r>
              <a:rPr lang="en-US" altLang="zh-CN" sz="1200" b="1" dirty="0"/>
              <a:t>#--- LIBTIFF support ok, loaded 4.2.0</a:t>
            </a:r>
          </a:p>
          <a:p>
            <a:r>
              <a:rPr lang="en-US" altLang="zh-CN" sz="1200" b="1" dirty="0"/>
              <a:t>#*** RAQM (Bidirectional Text) support not installed</a:t>
            </a:r>
          </a:p>
          <a:p>
            <a:r>
              <a:rPr lang="en-US" altLang="zh-CN" sz="1200" b="1" dirty="0"/>
              <a:t>#*** LIBIMAGEQUANT (Quantization method) support not installed</a:t>
            </a:r>
          </a:p>
          <a:p>
            <a:r>
              <a:rPr lang="en-US" altLang="zh-CN" sz="1200" b="1" dirty="0"/>
              <a:t>#*** XCB (X protocol) support not installed</a:t>
            </a:r>
          </a:p>
          <a:p>
            <a:endParaRPr lang="en-US" altLang="zh-CN" sz="1200" b="1" dirty="0"/>
          </a:p>
          <a:p>
            <a:r>
              <a:rPr lang="en-US" altLang="zh-CN" sz="1200" b="1" dirty="0"/>
              <a:t>from PIL import Image</a:t>
            </a:r>
          </a:p>
          <a:p>
            <a:r>
              <a:rPr lang="en-US" altLang="zh-CN" sz="1200" b="1" dirty="0" err="1"/>
              <a:t>im</a:t>
            </a:r>
            <a:r>
              <a:rPr lang="en-US" altLang="zh-CN" sz="1200" b="1" dirty="0"/>
              <a:t> = </a:t>
            </a:r>
            <a:r>
              <a:rPr lang="en-US" altLang="zh-CN" sz="1200" b="1" dirty="0" err="1"/>
              <a:t>Image.open</a:t>
            </a:r>
            <a:r>
              <a:rPr lang="en-US" altLang="zh-CN" sz="1200" b="1" dirty="0"/>
              <a:t>("d:/images/hm.jpg","r")    #</a:t>
            </a:r>
            <a:r>
              <a:rPr lang="en-US" altLang="zh-CN" sz="1200" b="1" dirty="0" err="1"/>
              <a:t>param</a:t>
            </a:r>
            <a:r>
              <a:rPr lang="en-US" altLang="zh-CN" sz="1200" b="1" dirty="0"/>
              <a:t> mode: The mode.  If given, this argument must be "r"</a:t>
            </a:r>
          </a:p>
          <a:p>
            <a:endParaRPr lang="zh-CN" altLang="en-US" sz="12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1654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from  PIL import Image</a:t>
            </a:r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</a:p>
          <a:p>
            <a:r>
              <a:rPr lang="en-US" altLang="zh-CN" dirty="0" err="1"/>
              <a:t>im</a:t>
            </a:r>
            <a:r>
              <a:rPr lang="en-US" altLang="zh-CN" dirty="0"/>
              <a:t>=</a:t>
            </a:r>
            <a:r>
              <a:rPr lang="en-US" altLang="zh-CN" dirty="0" err="1"/>
              <a:t>Image.open</a:t>
            </a:r>
            <a:r>
              <a:rPr lang="en-US" altLang="zh-CN" dirty="0"/>
              <a:t>("hm.jpg")</a:t>
            </a:r>
          </a:p>
          <a:p>
            <a:r>
              <a:rPr lang="en-US" altLang="zh-CN" dirty="0" err="1"/>
              <a:t>imN</a:t>
            </a:r>
            <a:r>
              <a:rPr lang="en-US" altLang="zh-CN" dirty="0"/>
              <a:t>=</a:t>
            </a:r>
            <a:r>
              <a:rPr lang="en-US" altLang="zh-CN" dirty="0" err="1"/>
              <a:t>im.convert</a:t>
            </a:r>
            <a:r>
              <a:rPr lang="en-US" altLang="zh-CN" dirty="0"/>
              <a:t>("RGBA")</a:t>
            </a:r>
          </a:p>
          <a:p>
            <a:endParaRPr lang="en-US" altLang="zh-CN" dirty="0"/>
          </a:p>
          <a:p>
            <a:r>
              <a:rPr lang="en-US" altLang="zh-CN" dirty="0" err="1"/>
              <a:t>imNData</a:t>
            </a:r>
            <a:r>
              <a:rPr lang="en-US" altLang="zh-CN" dirty="0"/>
              <a:t>=</a:t>
            </a:r>
            <a:r>
              <a:rPr lang="en-US" altLang="zh-CN" dirty="0" err="1"/>
              <a:t>np.array</a:t>
            </a:r>
            <a:r>
              <a:rPr lang="en-US" altLang="zh-CN" dirty="0"/>
              <a:t>(</a:t>
            </a:r>
            <a:r>
              <a:rPr lang="en-US" altLang="zh-CN" dirty="0" err="1"/>
              <a:t>imN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[300][300][0])   #red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[300][300][1])   #green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[300][300][2])   #blue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[300][300][3])   #Alpha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077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from  PIL import Image</a:t>
            </a:r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</a:p>
          <a:p>
            <a:r>
              <a:rPr lang="en-US" altLang="zh-CN" dirty="0"/>
              <a:t>import random</a:t>
            </a:r>
          </a:p>
          <a:p>
            <a:r>
              <a:rPr lang="en-US" altLang="zh-CN" dirty="0" err="1"/>
              <a:t>im</a:t>
            </a:r>
            <a:r>
              <a:rPr lang="en-US" altLang="zh-CN" dirty="0"/>
              <a:t>=</a:t>
            </a:r>
            <a:r>
              <a:rPr lang="en-US" altLang="zh-CN" dirty="0" err="1"/>
              <a:t>Image.open</a:t>
            </a:r>
            <a:r>
              <a:rPr lang="en-US" altLang="zh-CN" dirty="0"/>
              <a:t>("hm.jpg")</a:t>
            </a:r>
          </a:p>
          <a:p>
            <a:r>
              <a:rPr lang="en-US" altLang="zh-CN" dirty="0" err="1"/>
              <a:t>imN</a:t>
            </a:r>
            <a:r>
              <a:rPr lang="en-US" altLang="zh-CN" dirty="0"/>
              <a:t>=</a:t>
            </a:r>
            <a:r>
              <a:rPr lang="en-US" altLang="zh-CN" dirty="0" err="1"/>
              <a:t>im.convert</a:t>
            </a:r>
            <a:r>
              <a:rPr lang="en-US" altLang="zh-CN" dirty="0"/>
              <a:t>("RGBA")</a:t>
            </a:r>
          </a:p>
          <a:p>
            <a:endParaRPr lang="en-US" altLang="zh-CN" dirty="0"/>
          </a:p>
          <a:p>
            <a:r>
              <a:rPr lang="en-US" altLang="zh-CN" dirty="0" err="1"/>
              <a:t>imNData</a:t>
            </a:r>
            <a:r>
              <a:rPr lang="en-US" altLang="zh-CN" dirty="0"/>
              <a:t>=</a:t>
            </a:r>
            <a:r>
              <a:rPr lang="en-US" altLang="zh-CN" dirty="0" err="1"/>
              <a:t>np.array</a:t>
            </a:r>
            <a:r>
              <a:rPr lang="en-US" altLang="zh-CN" dirty="0"/>
              <a:t>(</a:t>
            </a:r>
            <a:r>
              <a:rPr lang="en-US" altLang="zh-CN" dirty="0" err="1"/>
              <a:t>imN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[300][300][0])   #red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[300][300][1])   #green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[300][300][2])   #blue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imNData</a:t>
            </a:r>
            <a:r>
              <a:rPr lang="en-US" altLang="zh-CN" dirty="0"/>
              <a:t>[300][300][3])   #Alpha</a:t>
            </a:r>
          </a:p>
          <a:p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range(50,100,2):</a:t>
            </a:r>
          </a:p>
          <a:p>
            <a:r>
              <a:rPr lang="en-US" altLang="zh-CN" dirty="0"/>
              <a:t>    for j in range(50,100,2):</a:t>
            </a:r>
          </a:p>
          <a:p>
            <a:r>
              <a:rPr lang="en-US" altLang="zh-CN" dirty="0"/>
              <a:t>        r=</a:t>
            </a:r>
            <a:r>
              <a:rPr lang="en-US" altLang="zh-CN" dirty="0" err="1"/>
              <a:t>random.randint</a:t>
            </a:r>
            <a:r>
              <a:rPr lang="en-US" altLang="zh-CN" dirty="0"/>
              <a:t>(0,255); g=</a:t>
            </a:r>
            <a:r>
              <a:rPr lang="en-US" altLang="zh-CN" dirty="0" err="1"/>
              <a:t>random.randint</a:t>
            </a:r>
            <a:r>
              <a:rPr lang="en-US" altLang="zh-CN" dirty="0"/>
              <a:t>(0,255); b=</a:t>
            </a:r>
            <a:r>
              <a:rPr lang="en-US" altLang="zh-CN" dirty="0" err="1"/>
              <a:t>random.randint</a:t>
            </a:r>
            <a:r>
              <a:rPr lang="en-US" altLang="zh-CN" dirty="0"/>
              <a:t>(0,255); 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im.putpixel</a:t>
            </a:r>
            <a:r>
              <a:rPr lang="en-US" altLang="zh-CN" dirty="0"/>
              <a:t>((</a:t>
            </a:r>
            <a:r>
              <a:rPr lang="en-US" altLang="zh-CN" dirty="0" err="1"/>
              <a:t>i,j</a:t>
            </a:r>
            <a:r>
              <a:rPr lang="en-US" altLang="zh-CN" dirty="0"/>
              <a:t>),(</a:t>
            </a:r>
            <a:r>
              <a:rPr lang="en-US" altLang="zh-CN" dirty="0" err="1"/>
              <a:t>r,b,g</a:t>
            </a:r>
            <a:r>
              <a:rPr lang="en-US" altLang="zh-CN" dirty="0"/>
              <a:t>))</a:t>
            </a:r>
          </a:p>
          <a:p>
            <a:endParaRPr lang="en-US" altLang="zh-CN" dirty="0"/>
          </a:p>
          <a:p>
            <a:r>
              <a:rPr lang="en-US" altLang="zh-CN" dirty="0" err="1"/>
              <a:t>im.show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355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FEDEA0-95C4-4B81-8259-710FF35A86F8}" type="slidenum">
              <a:rPr lang="zh-CN" altLang="en-US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35032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resize()</a:t>
            </a:r>
            <a:r>
              <a:rPr lang="zh-CN" altLang="en-US" dirty="0"/>
              <a:t>方法可以缩小也可以放大，而</a:t>
            </a:r>
            <a:r>
              <a:rPr lang="en-US" altLang="zh-CN" dirty="0"/>
              <a:t>thumbnail()</a:t>
            </a:r>
            <a:r>
              <a:rPr lang="zh-CN" altLang="en-US" dirty="0"/>
              <a:t>方法只能缩小；</a:t>
            </a:r>
            <a:endParaRPr lang="en-US" altLang="zh-CN" dirty="0"/>
          </a:p>
          <a:p>
            <a:r>
              <a:rPr lang="en-US" altLang="zh-CN" dirty="0"/>
              <a:t>resize()</a:t>
            </a:r>
            <a:r>
              <a:rPr lang="zh-CN" altLang="en-US" dirty="0"/>
              <a:t>方法不会改变对象的大小，只会返回一个新的</a:t>
            </a:r>
            <a:r>
              <a:rPr lang="en-US" altLang="zh-CN" dirty="0"/>
              <a:t>Image</a:t>
            </a:r>
            <a:r>
              <a:rPr lang="zh-CN" altLang="en-US" dirty="0"/>
              <a:t>对象，而</a:t>
            </a:r>
            <a:r>
              <a:rPr lang="en-US" altLang="zh-CN" dirty="0"/>
              <a:t>thumbnail()</a:t>
            </a:r>
            <a:r>
              <a:rPr lang="zh-CN" altLang="en-US" dirty="0"/>
              <a:t>方法会直接改变对象的大小，返回值为</a:t>
            </a:r>
            <a:r>
              <a:rPr lang="en-US" altLang="zh-CN" dirty="0"/>
              <a:t>none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resize()</a:t>
            </a:r>
            <a:r>
              <a:rPr lang="zh-CN" altLang="en-US" dirty="0"/>
              <a:t>方法中的</a:t>
            </a:r>
            <a:r>
              <a:rPr lang="en-US" altLang="zh-CN" dirty="0"/>
              <a:t>size</a:t>
            </a:r>
            <a:r>
              <a:rPr lang="zh-CN" altLang="en-US" dirty="0"/>
              <a:t>参数直接规定了修改后的大小，而</a:t>
            </a:r>
            <a:r>
              <a:rPr lang="en-US" altLang="zh-CN" dirty="0"/>
              <a:t>thumbnail()</a:t>
            </a:r>
            <a:r>
              <a:rPr lang="zh-CN" altLang="en-US" dirty="0"/>
              <a:t>方法按比例缩小，</a:t>
            </a:r>
            <a:r>
              <a:rPr lang="en-US" altLang="zh-CN" dirty="0"/>
              <a:t>size</a:t>
            </a:r>
            <a:r>
              <a:rPr lang="zh-CN" altLang="en-US" dirty="0"/>
              <a:t>参数只规定修改后</a:t>
            </a:r>
            <a:r>
              <a:rPr lang="en-US" altLang="zh-CN" dirty="0"/>
              <a:t>size</a:t>
            </a:r>
            <a:r>
              <a:rPr lang="zh-CN" altLang="en-US" dirty="0"/>
              <a:t>的最大值。</a:t>
            </a:r>
            <a:endParaRPr lang="en-US" altLang="zh-CN" dirty="0"/>
          </a:p>
          <a:p>
            <a:endParaRPr lang="en-US" altLang="zh-CN" dirty="0"/>
          </a:p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PIL.Image.LANCZOS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兰克索斯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lanczos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Lanczos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迭代就是一种解对称方阵部分特征值的方法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8745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im2=</a:t>
            </a:r>
            <a:r>
              <a:rPr lang="en-US" altLang="zh-CN" dirty="0" err="1"/>
              <a:t>Image.open</a:t>
            </a:r>
            <a:r>
              <a:rPr lang="en-US" altLang="zh-CN" dirty="0"/>
              <a:t>("hm.jpg")</a:t>
            </a:r>
          </a:p>
          <a:p>
            <a:r>
              <a:rPr lang="en-US" altLang="zh-CN" dirty="0" err="1"/>
              <a:t>hua</a:t>
            </a:r>
            <a:r>
              <a:rPr lang="en-US" altLang="zh-CN" dirty="0"/>
              <a:t>=</a:t>
            </a:r>
            <a:r>
              <a:rPr lang="en-US" altLang="zh-CN" dirty="0" err="1"/>
              <a:t>Image.open</a:t>
            </a:r>
            <a:r>
              <a:rPr lang="en-US" altLang="zh-CN" dirty="0"/>
              <a:t>(</a:t>
            </a:r>
            <a:r>
              <a:rPr lang="en-US" altLang="zh-CN" dirty="0" err="1"/>
              <a:t>r"d</a:t>
            </a:r>
            <a:r>
              <a:rPr lang="en-US" altLang="zh-CN" dirty="0"/>
              <a:t>:\images\hua.jpg")</a:t>
            </a:r>
          </a:p>
          <a:p>
            <a:r>
              <a:rPr lang="en-US" altLang="zh-CN" dirty="0" err="1"/>
              <a:t>maskIM</a:t>
            </a:r>
            <a:r>
              <a:rPr lang="en-US" altLang="zh-CN" dirty="0"/>
              <a:t>=</a:t>
            </a:r>
            <a:r>
              <a:rPr lang="en-US" altLang="zh-CN" dirty="0" err="1"/>
              <a:t>Image.open</a:t>
            </a:r>
            <a:r>
              <a:rPr lang="en-US" altLang="zh-CN" dirty="0"/>
              <a:t>(</a:t>
            </a:r>
            <a:r>
              <a:rPr lang="en-US" altLang="zh-CN" dirty="0" err="1"/>
              <a:t>r"d</a:t>
            </a:r>
            <a:r>
              <a:rPr lang="en-US" altLang="zh-CN" dirty="0"/>
              <a:t>:\images\hmMask.jpg").convert("L")  #mask</a:t>
            </a:r>
            <a:r>
              <a:rPr lang="zh-CN" altLang="en-US" dirty="0"/>
              <a:t>图像只能是单通道图像</a:t>
            </a:r>
          </a:p>
          <a:p>
            <a:endParaRPr lang="zh-CN" altLang="en-US" dirty="0"/>
          </a:p>
          <a:p>
            <a:r>
              <a:rPr lang="en-US" altLang="zh-CN" dirty="0" err="1"/>
              <a:t>hua.paste</a:t>
            </a:r>
            <a:r>
              <a:rPr lang="en-US" altLang="zh-CN" dirty="0"/>
              <a:t>(im2,(50,50),mask=</a:t>
            </a:r>
            <a:r>
              <a:rPr lang="en-US" altLang="zh-CN" dirty="0" err="1"/>
              <a:t>maskIM</a:t>
            </a:r>
            <a:r>
              <a:rPr lang="en-US" altLang="zh-CN" dirty="0"/>
              <a:t>)     #</a:t>
            </a:r>
            <a:r>
              <a:rPr lang="zh-CN" altLang="en-US" dirty="0"/>
              <a:t>通过</a:t>
            </a:r>
            <a:r>
              <a:rPr lang="en-US" altLang="zh-CN" dirty="0"/>
              <a:t>mask</a:t>
            </a:r>
            <a:r>
              <a:rPr lang="zh-CN" altLang="en-US" dirty="0"/>
              <a:t>来控制透明区域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2677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FEDEA0-95C4-4B81-8259-710FF35A86F8}" type="slidenum">
              <a:rPr lang="zh-CN" altLang="en-US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4599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527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8208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7907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1022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4972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err="1"/>
              <a:t>np.random.randint</a:t>
            </a:r>
            <a:endParaRPr lang="en-US" altLang="zh-CN" sz="1200" dirty="0"/>
          </a:p>
          <a:p>
            <a:r>
              <a:rPr lang="en-US" altLang="zh-CN" dirty="0" err="1">
                <a:effectLst/>
              </a:rPr>
              <a:t>randint</a:t>
            </a:r>
            <a:r>
              <a:rPr lang="en-US" altLang="zh-CN" dirty="0">
                <a:effectLst/>
              </a:rPr>
              <a:t>(low, high=None, size=None, </a:t>
            </a:r>
            <a:r>
              <a:rPr lang="en-US" altLang="zh-CN" dirty="0" err="1">
                <a:effectLst/>
              </a:rPr>
              <a:t>dtype</a:t>
            </a:r>
            <a:r>
              <a:rPr lang="en-US" altLang="zh-CN" dirty="0">
                <a:effectLst/>
              </a:rPr>
              <a:t>=</a:t>
            </a:r>
            <a:r>
              <a:rPr lang="en-US" altLang="zh-CN" dirty="0" err="1">
                <a:effectLst/>
              </a:rPr>
              <a:t>int</a:t>
            </a:r>
            <a:r>
              <a:rPr lang="en-US" altLang="zh-CN" dirty="0">
                <a:effectLst/>
              </a:rPr>
              <a:t>)</a:t>
            </a:r>
          </a:p>
          <a:p>
            <a:br>
              <a:rPr lang="en-US" altLang="zh-CN" dirty="0">
                <a:effectLst/>
              </a:rPr>
            </a:br>
            <a:endParaRPr lang="en-US" altLang="zh-CN" dirty="0">
              <a:effectLst/>
            </a:endParaRPr>
          </a:p>
          <a:p>
            <a:r>
              <a:rPr lang="en-US" altLang="zh-CN" dirty="0">
                <a:effectLst/>
              </a:rPr>
              <a:t>Return random integers from `low` (inclusive) to `high` (exclusive).</a:t>
            </a:r>
          </a:p>
          <a:p>
            <a:br>
              <a:rPr lang="en-US" altLang="zh-CN" dirty="0">
                <a:effectLst/>
              </a:rPr>
            </a:br>
            <a:endParaRPr lang="en-US" altLang="zh-CN" dirty="0">
              <a:effectLst/>
            </a:endParaRPr>
          </a:p>
          <a:p>
            <a:r>
              <a:rPr lang="en-US" altLang="zh-CN" dirty="0">
                <a:effectLst/>
              </a:rPr>
              <a:t>Return random integers from the "discrete uniform" distribution of</a:t>
            </a:r>
          </a:p>
          <a:p>
            <a:r>
              <a:rPr lang="en-US" altLang="zh-CN" dirty="0">
                <a:effectLst/>
              </a:rPr>
              <a:t>the specified </a:t>
            </a:r>
            <a:r>
              <a:rPr lang="en-US" altLang="zh-CN" dirty="0" err="1">
                <a:effectLst/>
              </a:rPr>
              <a:t>dtype</a:t>
            </a:r>
            <a:r>
              <a:rPr lang="en-US" altLang="zh-CN" dirty="0">
                <a:effectLst/>
              </a:rPr>
              <a:t> in the "half-open" interval [`low`, `high`). If</a:t>
            </a:r>
          </a:p>
          <a:p>
            <a:r>
              <a:rPr lang="en-US" altLang="zh-CN" dirty="0">
                <a:effectLst/>
              </a:rPr>
              <a:t>`high` is None (the default), then results are from [0, `low`).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83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新细明体：</a:t>
            </a:r>
            <a:r>
              <a:rPr lang="en-US" altLang="zh-CN" dirty="0" err="1"/>
              <a:t>PMingLiU</a:t>
            </a:r>
            <a:endParaRPr lang="en-US" altLang="zh-CN" dirty="0"/>
          </a:p>
          <a:p>
            <a:r>
              <a:rPr lang="zh-CN" altLang="en-US" dirty="0"/>
              <a:t>细明体：</a:t>
            </a:r>
            <a:r>
              <a:rPr lang="en-US" altLang="zh-CN" dirty="0" err="1"/>
              <a:t>MingLiU</a:t>
            </a:r>
            <a:endParaRPr lang="en-US" altLang="zh-CN" dirty="0"/>
          </a:p>
          <a:p>
            <a:r>
              <a:rPr lang="zh-CN" altLang="en-US" dirty="0"/>
              <a:t>标楷体：</a:t>
            </a:r>
            <a:r>
              <a:rPr lang="en-US" altLang="zh-CN" dirty="0" err="1"/>
              <a:t>DFKai</a:t>
            </a:r>
            <a:r>
              <a:rPr lang="en-US" altLang="zh-CN" dirty="0"/>
              <a:t>-SB</a:t>
            </a:r>
          </a:p>
          <a:p>
            <a:r>
              <a:rPr lang="zh-CN" altLang="en-US" dirty="0"/>
              <a:t>黑体：</a:t>
            </a:r>
            <a:r>
              <a:rPr lang="en-US" altLang="zh-CN" dirty="0" err="1"/>
              <a:t>SimHei</a:t>
            </a:r>
            <a:endParaRPr lang="en-US" altLang="zh-CN" dirty="0"/>
          </a:p>
          <a:p>
            <a:r>
              <a:rPr lang="zh-CN" altLang="en-US" dirty="0"/>
              <a:t>宋体：</a:t>
            </a:r>
            <a:r>
              <a:rPr lang="en-US" altLang="zh-CN" dirty="0" err="1"/>
              <a:t>SimSun</a:t>
            </a:r>
            <a:endParaRPr lang="en-US" altLang="zh-CN" dirty="0"/>
          </a:p>
          <a:p>
            <a:r>
              <a:rPr lang="zh-CN" altLang="en-US" dirty="0"/>
              <a:t>新宋体：</a:t>
            </a:r>
            <a:r>
              <a:rPr lang="en-US" altLang="zh-CN" dirty="0" err="1"/>
              <a:t>NSimSun</a:t>
            </a:r>
            <a:endParaRPr lang="en-US" altLang="zh-CN" dirty="0"/>
          </a:p>
          <a:p>
            <a:r>
              <a:rPr lang="zh-CN" altLang="en-US" dirty="0"/>
              <a:t>仿宋：</a:t>
            </a:r>
            <a:r>
              <a:rPr lang="en-US" altLang="zh-CN" dirty="0" err="1"/>
              <a:t>FangSong</a:t>
            </a:r>
            <a:endParaRPr lang="en-US" altLang="zh-CN" dirty="0"/>
          </a:p>
          <a:p>
            <a:r>
              <a:rPr lang="zh-CN" altLang="en-US" dirty="0"/>
              <a:t>楷体：</a:t>
            </a:r>
            <a:r>
              <a:rPr lang="en-US" altLang="zh-CN" dirty="0" err="1"/>
              <a:t>KaiTi</a:t>
            </a:r>
            <a:endParaRPr lang="en-US" altLang="zh-CN" dirty="0"/>
          </a:p>
          <a:p>
            <a:r>
              <a:rPr lang="zh-CN" altLang="en-US" dirty="0"/>
              <a:t>仿宋</a:t>
            </a:r>
            <a:r>
              <a:rPr lang="en-US" altLang="zh-CN" dirty="0"/>
              <a:t>_GB2312</a:t>
            </a:r>
            <a:r>
              <a:rPr lang="zh-CN" altLang="en-US" dirty="0"/>
              <a:t>：</a:t>
            </a:r>
            <a:r>
              <a:rPr lang="en-US" altLang="zh-CN" dirty="0"/>
              <a:t>FangSong_GB2312</a:t>
            </a:r>
          </a:p>
          <a:p>
            <a:r>
              <a:rPr lang="zh-CN" altLang="en-US" dirty="0"/>
              <a:t>楷体</a:t>
            </a:r>
            <a:r>
              <a:rPr lang="en-US" altLang="zh-CN" dirty="0"/>
              <a:t>_GB2312</a:t>
            </a:r>
            <a:r>
              <a:rPr lang="zh-CN" altLang="en-US" dirty="0"/>
              <a:t>：</a:t>
            </a:r>
            <a:r>
              <a:rPr lang="en-US" altLang="zh-CN" dirty="0"/>
              <a:t>KaiTi_GB2312</a:t>
            </a:r>
          </a:p>
          <a:p>
            <a:r>
              <a:rPr lang="zh-CN" altLang="en-US" dirty="0"/>
              <a:t>微软正黑体：</a:t>
            </a:r>
            <a:r>
              <a:rPr lang="en-US" altLang="zh-CN" dirty="0"/>
              <a:t>Microsoft </a:t>
            </a:r>
            <a:r>
              <a:rPr lang="en-US" altLang="zh-CN" dirty="0" err="1"/>
              <a:t>JhengHei</a:t>
            </a:r>
            <a:endParaRPr lang="en-US" altLang="zh-CN" dirty="0"/>
          </a:p>
          <a:p>
            <a:r>
              <a:rPr lang="zh-CN" altLang="en-US" dirty="0"/>
              <a:t>微软雅黑体：</a:t>
            </a:r>
            <a:r>
              <a:rPr lang="en-US" altLang="zh-CN" dirty="0"/>
              <a:t>Microsoft </a:t>
            </a:r>
            <a:r>
              <a:rPr lang="en-US" altLang="zh-CN" dirty="0" err="1"/>
              <a:t>YaHei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2663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color=“#FF0000”  </a:t>
            </a:r>
          </a:p>
          <a:p>
            <a:r>
              <a:rPr lang="en-US" altLang="zh-CN" dirty="0"/>
              <a:t>color=“r”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783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"/>
          <p:cNvSpPr>
            <a:spLocks noChangeArrowheads="1"/>
          </p:cNvSpPr>
          <p:nvPr/>
        </p:nvSpPr>
        <p:spPr bwMode="gray">
          <a:xfrm>
            <a:off x="0" y="4773085"/>
            <a:ext cx="12192000" cy="2112433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dirty="0"/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0" y="6465644"/>
            <a:ext cx="478016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CE680026-A519-4A84-9AD5-EF3476A9A4DC}" type="slidenum">
              <a:rPr lang="en-US" altLang="zh-CN" sz="1867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867" b="1" dirty="0">
              <a:solidFill>
                <a:schemeClr val="bg1"/>
              </a:solidFill>
            </a:endParaRPr>
          </a:p>
        </p:txBody>
      </p:sp>
      <p:sp>
        <p:nvSpPr>
          <p:cNvPr id="88111" name="Rectangle 47"/>
          <p:cNvSpPr>
            <a:spLocks noGrp="1" noChangeArrowheads="1"/>
          </p:cNvSpPr>
          <p:nvPr>
            <p:ph type="ctrTitle" sz="quarter"/>
          </p:nvPr>
        </p:nvSpPr>
        <p:spPr>
          <a:xfrm>
            <a:off x="1325449" y="1628801"/>
            <a:ext cx="10011833" cy="1470025"/>
          </a:xfrm>
        </p:spPr>
        <p:txBody>
          <a:bodyPr anchor="ctr"/>
          <a:lstStyle>
            <a:lvl1pPr algn="r">
              <a:defRPr sz="6400"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43605" y="5380983"/>
            <a:ext cx="7728859" cy="768085"/>
          </a:xfrm>
          <a:noFill/>
          <a:ln>
            <a:noFill/>
          </a:ln>
        </p:spPr>
        <p:txBody>
          <a:bodyPr/>
          <a:lstStyle>
            <a:lvl1pPr marL="0" indent="0" algn="ctr">
              <a:spcBef>
                <a:spcPct val="20000"/>
              </a:spcBef>
              <a:buClrTx/>
              <a:buFontTx/>
              <a:buNone/>
              <a:defRPr sz="4800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 dirty="0"/>
              <a:t>单击以编辑母版副标题样式</a:t>
            </a:r>
            <a:endParaRPr lang="en-US" altLang="zh-CN" dirty="0"/>
          </a:p>
        </p:txBody>
      </p:sp>
      <p:pic>
        <p:nvPicPr>
          <p:cNvPr id="8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3765332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983" y="3765332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627" y="3771759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71" y="3765953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515" y="3765953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159" y="3772380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403" y="3758905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047" y="3758905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691" y="3765332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795" y="3769713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6439" y="3769713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08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762001" y="6858000"/>
            <a:ext cx="24765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67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800"/>
              </a:spcBef>
              <a:defRPr b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800"/>
              </a:spcBef>
              <a:buClr>
                <a:srgbClr val="FF99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8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800"/>
              </a:spcBef>
              <a:buClr>
                <a:srgbClr val="FF99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8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2869408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>
          <a:xfrm>
            <a:off x="3024718" y="6424084"/>
            <a:ext cx="4607983" cy="364067"/>
          </a:xfrm>
          <a:prstGeom prst="rect">
            <a:avLst/>
          </a:prstGeom>
        </p:spPr>
        <p:txBody>
          <a:bodyPr/>
          <a:lstStyle>
            <a:lvl1pPr eaLnBrk="1" hangingPunct="1"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 dirty="0"/>
              <a:t>http://cal.tongji.edu.cn/soft</a:t>
            </a:r>
          </a:p>
        </p:txBody>
      </p:sp>
    </p:spTree>
    <p:extLst>
      <p:ext uri="{BB962C8B-B14F-4D97-AF65-F5344CB8AC3E}">
        <p14:creationId xmlns:p14="http://schemas.microsoft.com/office/powerpoint/2010/main" val="130832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>
          <a:xfrm>
            <a:off x="3331634" y="6449484"/>
            <a:ext cx="7469717" cy="364067"/>
          </a:xfrm>
          <a:prstGeom prst="rect">
            <a:avLst/>
          </a:prstGeom>
        </p:spPr>
        <p:txBody>
          <a:bodyPr/>
          <a:lstStyle>
            <a:lvl1pPr eaLnBrk="1" hangingPunct="1"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 dirty="0"/>
              <a:t>http://cal.tongji.edu.cn/soft</a:t>
            </a:r>
          </a:p>
        </p:txBody>
      </p:sp>
    </p:spTree>
    <p:extLst>
      <p:ext uri="{BB962C8B-B14F-4D97-AF65-F5344CB8AC3E}">
        <p14:creationId xmlns:p14="http://schemas.microsoft.com/office/powerpoint/2010/main" val="1368050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478A1C7-C138-4D5D-AB12-BA3A0F6A8A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8943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"/>
          <p:cNvSpPr>
            <a:spLocks noChangeArrowheads="1"/>
          </p:cNvSpPr>
          <p:nvPr/>
        </p:nvSpPr>
        <p:spPr bwMode="gray">
          <a:xfrm>
            <a:off x="2" y="4773085"/>
            <a:ext cx="12192000" cy="2112433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/>
        </p:spPr>
        <p:txBody>
          <a:bodyPr wrap="none" lIns="121884" tIns="60941" rIns="121884" bIns="6094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1800" dirty="0"/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2" y="6434667"/>
            <a:ext cx="537633" cy="410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884" tIns="60941" rIns="121884" bIns="60941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CE680026-A519-4A84-9AD5-EF3476A9A4DC}" type="slidenum">
              <a:rPr lang="en-US" altLang="zh-CN" sz="18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800" b="1" dirty="0">
              <a:solidFill>
                <a:schemeClr val="bg1"/>
              </a:solidFill>
            </a:endParaRPr>
          </a:p>
        </p:txBody>
      </p:sp>
      <p:sp>
        <p:nvSpPr>
          <p:cNvPr id="88111" name="Rectangle 47"/>
          <p:cNvSpPr>
            <a:spLocks noGrp="1" noChangeArrowheads="1"/>
          </p:cNvSpPr>
          <p:nvPr>
            <p:ph type="ctrTitle" sz="quarter"/>
          </p:nvPr>
        </p:nvSpPr>
        <p:spPr>
          <a:xfrm>
            <a:off x="1325449" y="1628801"/>
            <a:ext cx="10011833" cy="1470026"/>
          </a:xfrm>
        </p:spPr>
        <p:txBody>
          <a:bodyPr anchor="ctr"/>
          <a:lstStyle>
            <a:lvl1pPr algn="r">
              <a:defRPr sz="6399"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655066" y="5157192"/>
            <a:ext cx="7920885" cy="768085"/>
          </a:xfrm>
          <a:noFill/>
          <a:ln>
            <a:noFill/>
          </a:ln>
        </p:spPr>
        <p:txBody>
          <a:bodyPr/>
          <a:lstStyle>
            <a:lvl1pPr marL="0" indent="0" algn="ctr">
              <a:spcBef>
                <a:spcPct val="20000"/>
              </a:spcBef>
              <a:buClrTx/>
              <a:buFontTx/>
              <a:buNone/>
              <a:defRPr sz="4799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 dirty="0"/>
              <a:t>单击以编辑母版副标题样式</a:t>
            </a:r>
            <a:endParaRPr lang="en-US" altLang="zh-CN" dirty="0"/>
          </a:p>
        </p:txBody>
      </p:sp>
      <p:pic>
        <p:nvPicPr>
          <p:cNvPr id="8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3765333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983" y="3765333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627" y="3771759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70" y="3765954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515" y="3765954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159" y="3772380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402" y="3758906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046" y="3758906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691" y="3765333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796" y="3769714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6439" y="3769714"/>
            <a:ext cx="1022349" cy="100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425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762001" y="6858000"/>
            <a:ext cx="24765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99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800"/>
              </a:spcBef>
              <a:defRPr sz="2699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800"/>
              </a:spcBef>
              <a:buClr>
                <a:srgbClr val="FF99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8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800"/>
              </a:spcBef>
              <a:buClr>
                <a:srgbClr val="FF99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8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99458010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1" y="1600201"/>
            <a:ext cx="10972800" cy="4525962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>
          <a:xfrm>
            <a:off x="3024719" y="6424085"/>
            <a:ext cx="4607983" cy="364067"/>
          </a:xfrm>
          <a:prstGeom prst="rect">
            <a:avLst/>
          </a:prstGeom>
        </p:spPr>
        <p:txBody>
          <a:bodyPr lIns="121912" tIns="60955" rIns="121912" bIns="60955"/>
          <a:lstStyle>
            <a:lvl1pPr eaLnBrk="1" hangingPunct="1"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 dirty="0"/>
              <a:t>http://cal.tongji.edu.cn/soft</a:t>
            </a:r>
          </a:p>
        </p:txBody>
      </p:sp>
    </p:spTree>
    <p:extLst>
      <p:ext uri="{BB962C8B-B14F-4D97-AF65-F5344CB8AC3E}">
        <p14:creationId xmlns:p14="http://schemas.microsoft.com/office/powerpoint/2010/main" val="100807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1" y="1600201"/>
            <a:ext cx="5384800" cy="45259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>
          <a:xfrm>
            <a:off x="3331635" y="6449485"/>
            <a:ext cx="7469717" cy="364067"/>
          </a:xfrm>
          <a:prstGeom prst="rect">
            <a:avLst/>
          </a:prstGeom>
        </p:spPr>
        <p:txBody>
          <a:bodyPr lIns="121912" tIns="60955" rIns="121912" bIns="60955"/>
          <a:lstStyle>
            <a:lvl1pPr eaLnBrk="1" hangingPunct="1"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 dirty="0"/>
              <a:t>http://cal.tongji.edu.cn/soft</a:t>
            </a:r>
          </a:p>
        </p:txBody>
      </p:sp>
    </p:spTree>
    <p:extLst>
      <p:ext uri="{BB962C8B-B14F-4D97-AF65-F5344CB8AC3E}">
        <p14:creationId xmlns:p14="http://schemas.microsoft.com/office/powerpoint/2010/main" val="386340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0376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 userDrawn="1"/>
        </p:nvSpPr>
        <p:spPr bwMode="gray">
          <a:xfrm>
            <a:off x="0" y="6525685"/>
            <a:ext cx="12192000" cy="33231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/>
          </a:p>
        </p:txBody>
      </p:sp>
      <p:sp>
        <p:nvSpPr>
          <p:cNvPr id="1029" name="Line 56"/>
          <p:cNvSpPr>
            <a:spLocks noChangeShapeType="1"/>
          </p:cNvSpPr>
          <p:nvPr/>
        </p:nvSpPr>
        <p:spPr bwMode="gray">
          <a:xfrm>
            <a:off x="0" y="6501341"/>
            <a:ext cx="12192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1133" y="1411817"/>
            <a:ext cx="11057467" cy="4800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31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601133" y="139701"/>
            <a:ext cx="11034184" cy="867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pic>
        <p:nvPicPr>
          <p:cNvPr id="1032" name="图片 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2544" y="6528834"/>
            <a:ext cx="1152889" cy="310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654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800" b="1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800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800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800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800" b="1">
          <a:solidFill>
            <a:schemeClr val="accent1"/>
          </a:solidFill>
          <a:latin typeface="Arial" pitchFamily="34" charset="0"/>
        </a:defRPr>
      </a:lvl5pPr>
      <a:lvl6pPr marL="609585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4267" b="1">
          <a:solidFill>
            <a:schemeClr val="accent1"/>
          </a:solidFill>
          <a:latin typeface="Arial" pitchFamily="34" charset="0"/>
        </a:defRPr>
      </a:lvl6pPr>
      <a:lvl7pPr marL="121917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4267" b="1">
          <a:solidFill>
            <a:schemeClr val="accent1"/>
          </a:solidFill>
          <a:latin typeface="Arial" pitchFamily="34" charset="0"/>
        </a:defRPr>
      </a:lvl7pPr>
      <a:lvl8pPr marL="1828754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4267" b="1">
          <a:solidFill>
            <a:schemeClr val="accent1"/>
          </a:solidFill>
          <a:latin typeface="Arial" pitchFamily="34" charset="0"/>
        </a:defRPr>
      </a:lvl8pPr>
      <a:lvl9pPr marL="2438339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4267" b="1">
          <a:solidFill>
            <a:schemeClr val="accent1"/>
          </a:solidFill>
          <a:latin typeface="Arial" pitchFamily="34" charset="0"/>
        </a:defRPr>
      </a:lvl9pPr>
    </p:titleStyle>
    <p:bodyStyle>
      <a:lvl1pPr marL="457189" indent="-457189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chemeClr val="hlink"/>
        </a:buClr>
        <a:buChar char="•"/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990575" indent="-380990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rgbClr val="FF9900"/>
        </a:buClr>
        <a:buChar char="•"/>
        <a:defRPr sz="2933">
          <a:solidFill>
            <a:schemeClr val="tx1"/>
          </a:solidFill>
          <a:latin typeface="华文新魏" pitchFamily="2" charset="-122"/>
          <a:ea typeface="华文新魏" pitchFamily="2" charset="-122"/>
        </a:defRPr>
      </a:lvl2pPr>
      <a:lvl3pPr marL="1523962" indent="-304792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华文新魏" pitchFamily="2" charset="-122"/>
          <a:ea typeface="华文新魏" pitchFamily="2" charset="-122"/>
        </a:defRPr>
      </a:lvl3pPr>
      <a:lvl4pPr marL="2133547" indent="-304792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rgbClr val="FF9900"/>
        </a:buClr>
        <a:buChar char="•"/>
        <a:defRPr sz="2133">
          <a:solidFill>
            <a:schemeClr val="tx1"/>
          </a:solidFill>
          <a:latin typeface="华文新魏" pitchFamily="2" charset="-122"/>
          <a:ea typeface="华文新魏" pitchFamily="2" charset="-122"/>
        </a:defRPr>
      </a:lvl4pPr>
      <a:lvl5pPr marL="2743131" indent="-304792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chemeClr val="hlink"/>
        </a:buClr>
        <a:buChar char="•"/>
        <a:defRPr sz="2667">
          <a:solidFill>
            <a:srgbClr val="5F5F5F"/>
          </a:solidFill>
          <a:latin typeface="+mn-lt"/>
          <a:ea typeface="华文新魏" pitchFamily="2" charset="-122"/>
        </a:defRPr>
      </a:lvl5pPr>
      <a:lvl6pPr marL="3352716" indent="-304792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667">
          <a:solidFill>
            <a:srgbClr val="5F5F5F"/>
          </a:solidFill>
          <a:latin typeface="+mn-lt"/>
        </a:defRPr>
      </a:lvl6pPr>
      <a:lvl7pPr marL="3962301" indent="-304792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667">
          <a:solidFill>
            <a:srgbClr val="5F5F5F"/>
          </a:solidFill>
          <a:latin typeface="+mn-lt"/>
        </a:defRPr>
      </a:lvl7pPr>
      <a:lvl8pPr marL="4571886" indent="-304792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667">
          <a:solidFill>
            <a:srgbClr val="5F5F5F"/>
          </a:solidFill>
          <a:latin typeface="+mn-lt"/>
        </a:defRPr>
      </a:lvl8pPr>
      <a:lvl9pPr marL="5181470" indent="-304792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667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 userDrawn="1"/>
        </p:nvSpPr>
        <p:spPr bwMode="gray">
          <a:xfrm>
            <a:off x="2" y="6525685"/>
            <a:ext cx="12192000" cy="33231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lIns="121884" tIns="60941" rIns="121884" bIns="6094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1800"/>
          </a:p>
        </p:txBody>
      </p:sp>
      <p:sp>
        <p:nvSpPr>
          <p:cNvPr id="1029" name="Line 56"/>
          <p:cNvSpPr>
            <a:spLocks noChangeShapeType="1"/>
          </p:cNvSpPr>
          <p:nvPr/>
        </p:nvSpPr>
        <p:spPr bwMode="gray">
          <a:xfrm>
            <a:off x="2" y="6501342"/>
            <a:ext cx="12192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21884" tIns="60941" rIns="121884" bIns="60941" anchor="ctr"/>
          <a:lstStyle/>
          <a:p>
            <a:endParaRPr lang="zh-CN" altLang="en-US" sz="1800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1134" y="1411817"/>
            <a:ext cx="11057467" cy="4800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wrap="square" lIns="121912" tIns="60955" rIns="121912" bIns="609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31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601134" y="139701"/>
            <a:ext cx="11034183" cy="867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12" tIns="60955" rIns="121912" bIns="6095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pic>
        <p:nvPicPr>
          <p:cNvPr id="1032" name="图片 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2544" y="6528834"/>
            <a:ext cx="1152889" cy="310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82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99" b="1">
          <a:solidFill>
            <a:srgbClr val="C0000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799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799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799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799" b="1">
          <a:solidFill>
            <a:schemeClr val="accent1"/>
          </a:solidFill>
          <a:latin typeface="Arial" pitchFamily="34" charset="0"/>
        </a:defRPr>
      </a:lvl5pPr>
      <a:lvl6pPr marL="609435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4299" b="1">
          <a:solidFill>
            <a:schemeClr val="accent1"/>
          </a:solidFill>
          <a:latin typeface="Arial" pitchFamily="34" charset="0"/>
        </a:defRPr>
      </a:lvl6pPr>
      <a:lvl7pPr marL="121887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4299" b="1">
          <a:solidFill>
            <a:schemeClr val="accent1"/>
          </a:solidFill>
          <a:latin typeface="Arial" pitchFamily="34" charset="0"/>
        </a:defRPr>
      </a:lvl7pPr>
      <a:lvl8pPr marL="1828305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4299" b="1">
          <a:solidFill>
            <a:schemeClr val="accent1"/>
          </a:solidFill>
          <a:latin typeface="Arial" pitchFamily="34" charset="0"/>
        </a:defRPr>
      </a:lvl8pPr>
      <a:lvl9pPr marL="2437739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4299" b="1">
          <a:solidFill>
            <a:schemeClr val="accent1"/>
          </a:solidFill>
          <a:latin typeface="Arial" pitchFamily="34" charset="0"/>
        </a:defRPr>
      </a:lvl9pPr>
    </p:titleStyle>
    <p:bodyStyle>
      <a:lvl1pPr marL="457076" indent="-457076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u"/>
        <a:defRPr sz="2699" b="1">
          <a:solidFill>
            <a:srgbClr val="0070C0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990332" indent="-380897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rgbClr val="FF9900"/>
        </a:buClr>
        <a:buChar char="•"/>
        <a:defRPr sz="2699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1523588" indent="-304718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华文新魏" pitchFamily="2" charset="-122"/>
          <a:ea typeface="华文新魏" pitchFamily="2" charset="-122"/>
        </a:defRPr>
      </a:lvl3pPr>
      <a:lvl4pPr marL="2133023" indent="-304718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rgbClr val="FF9900"/>
        </a:buClr>
        <a:buChar char="•"/>
        <a:defRPr sz="2100">
          <a:solidFill>
            <a:schemeClr val="tx1"/>
          </a:solidFill>
          <a:latin typeface="华文新魏" pitchFamily="2" charset="-122"/>
          <a:ea typeface="华文新魏" pitchFamily="2" charset="-122"/>
        </a:defRPr>
      </a:lvl4pPr>
      <a:lvl5pPr marL="2742457" indent="-304718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chemeClr val="hlink"/>
        </a:buClr>
        <a:buChar char="•"/>
        <a:defRPr sz="2699">
          <a:solidFill>
            <a:srgbClr val="5F5F5F"/>
          </a:solidFill>
          <a:latin typeface="+mn-lt"/>
          <a:ea typeface="华文新魏" pitchFamily="2" charset="-122"/>
        </a:defRPr>
      </a:lvl5pPr>
      <a:lvl6pPr marL="3351892" indent="-304718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699">
          <a:solidFill>
            <a:srgbClr val="5F5F5F"/>
          </a:solidFill>
          <a:latin typeface="+mn-lt"/>
        </a:defRPr>
      </a:lvl6pPr>
      <a:lvl7pPr marL="3961328" indent="-304718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699">
          <a:solidFill>
            <a:srgbClr val="5F5F5F"/>
          </a:solidFill>
          <a:latin typeface="+mn-lt"/>
        </a:defRPr>
      </a:lvl7pPr>
      <a:lvl8pPr marL="4570763" indent="-304718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699">
          <a:solidFill>
            <a:srgbClr val="5F5F5F"/>
          </a:solidFill>
          <a:latin typeface="+mn-lt"/>
        </a:defRPr>
      </a:lvl8pPr>
      <a:lvl9pPr marL="5180198" indent="-304718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699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1218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35" algn="l" defTabSz="1218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70" algn="l" defTabSz="1218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05" algn="l" defTabSz="1218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39" algn="l" defTabSz="1218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174" algn="l" defTabSz="1218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10" algn="l" defTabSz="1218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45" algn="l" defTabSz="1218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480" algn="l" defTabSz="1218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5.png"/><Relationship Id="rId4" Type="http://schemas.openxmlformats.org/officeDocument/2006/relationships/image" Target="../media/image34.wmf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3"/>
          <p:cNvSpPr>
            <a:spLocks noChangeArrowheads="1"/>
          </p:cNvSpPr>
          <p:nvPr/>
        </p:nvSpPr>
        <p:spPr bwMode="auto">
          <a:xfrm>
            <a:off x="1" y="201177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1" y="207421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513" name="Rectangle 6"/>
          <p:cNvSpPr>
            <a:spLocks noChangeArrowheads="1"/>
          </p:cNvSpPr>
          <p:nvPr/>
        </p:nvSpPr>
        <p:spPr bwMode="auto">
          <a:xfrm>
            <a:off x="815414" y="405580"/>
            <a:ext cx="8547279" cy="666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/>
          <a:p>
            <a:r>
              <a:rPr lang="en-US" altLang="zh-CN" sz="3733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3733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提供的</a:t>
            </a:r>
            <a:r>
              <a:rPr lang="zh-CN" altLang="zh-CN" sz="3733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内置</a:t>
            </a:r>
            <a:r>
              <a:rPr lang="zh-CN" altLang="en-US" sz="3733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数据类型</a:t>
            </a:r>
          </a:p>
        </p:txBody>
      </p:sp>
      <p:sp>
        <p:nvSpPr>
          <p:cNvPr id="2" name="Rectangle 87"/>
          <p:cNvSpPr>
            <a:spLocks noChangeArrowheads="1"/>
          </p:cNvSpPr>
          <p:nvPr/>
        </p:nvSpPr>
        <p:spPr bwMode="auto">
          <a:xfrm>
            <a:off x="1" y="-246220"/>
            <a:ext cx="24628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4" r="13491"/>
          <a:stretch/>
        </p:blipFill>
        <p:spPr>
          <a:xfrm>
            <a:off x="1295467" y="1316765"/>
            <a:ext cx="8451268" cy="509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04289"/>
      </p:ext>
    </p:ext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6136" y="741726"/>
            <a:ext cx="11034184" cy="601001"/>
          </a:xfrm>
        </p:spPr>
        <p:txBody>
          <a:bodyPr/>
          <a:lstStyle/>
          <a:p>
            <a:r>
              <a:rPr lang="zh-CN" altLang="en-US" sz="3733" dirty="0"/>
              <a:t>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2853" y="1508787"/>
            <a:ext cx="11057467" cy="470452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667" b="1" dirty="0">
                <a:solidFill>
                  <a:srgbClr val="00B050"/>
                </a:solidFill>
              </a:rPr>
              <a:t>变量</a:t>
            </a:r>
            <a:r>
              <a:rPr lang="zh-CN" altLang="en-US" sz="2667" b="1" dirty="0">
                <a:solidFill>
                  <a:srgbClr val="00B050"/>
                </a:solidFill>
              </a:rPr>
              <a:t>命名</a:t>
            </a:r>
            <a:r>
              <a:rPr lang="zh-CN" altLang="en-US" sz="2667" dirty="0">
                <a:solidFill>
                  <a:schemeClr val="tx1"/>
                </a:solidFill>
              </a:rPr>
              <a:t>：必须是一个</a:t>
            </a:r>
            <a:r>
              <a:rPr lang="zh-CN" altLang="en-US" sz="2667" b="1" dirty="0">
                <a:solidFill>
                  <a:srgbClr val="00B050"/>
                </a:solidFill>
              </a:rPr>
              <a:t>合法的</a:t>
            </a:r>
            <a:r>
              <a:rPr lang="zh-CN" altLang="zh-CN" sz="2667" b="1" dirty="0">
                <a:solidFill>
                  <a:srgbClr val="00B050"/>
                </a:solidFill>
              </a:rPr>
              <a:t>标识符</a:t>
            </a:r>
            <a:endParaRPr lang="en-US" altLang="zh-CN" sz="2667" dirty="0">
              <a:solidFill>
                <a:srgbClr val="00B05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667" dirty="0">
                <a:solidFill>
                  <a:schemeClr val="tx1"/>
                </a:solidFill>
              </a:rPr>
              <a:t>      </a:t>
            </a:r>
            <a:r>
              <a:rPr lang="zh-CN" altLang="en-US" sz="2667" dirty="0">
                <a:solidFill>
                  <a:schemeClr val="tx1"/>
                </a:solidFill>
              </a:rPr>
              <a:t>变量命名</a:t>
            </a:r>
            <a:r>
              <a:rPr lang="zh-CN" altLang="zh-CN" sz="2400" dirty="0">
                <a:solidFill>
                  <a:schemeClr val="tx1"/>
                </a:solidFill>
              </a:rPr>
              <a:t>遵循</a:t>
            </a:r>
            <a:r>
              <a:rPr lang="zh-CN" altLang="en-US" sz="2400" dirty="0">
                <a:solidFill>
                  <a:schemeClr val="tx1"/>
                </a:solidFill>
              </a:rPr>
              <a:t>以下</a:t>
            </a:r>
            <a:r>
              <a:rPr lang="zh-CN" altLang="zh-CN" sz="2400" dirty="0">
                <a:solidFill>
                  <a:schemeClr val="tx1"/>
                </a:solidFill>
              </a:rPr>
              <a:t>约定俗成的</a:t>
            </a:r>
            <a:r>
              <a:rPr lang="zh-CN" altLang="zh-CN" sz="2400" b="1" dirty="0">
                <a:solidFill>
                  <a:srgbClr val="00B050"/>
                </a:solidFill>
              </a:rPr>
              <a:t>规范</a:t>
            </a:r>
            <a:r>
              <a:rPr lang="zh-CN" altLang="zh-CN" sz="2400" dirty="0">
                <a:solidFill>
                  <a:schemeClr val="tx1"/>
                </a:solidFill>
              </a:rPr>
              <a:t>：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</a:rPr>
              <a:t>见名知义，以</a:t>
            </a:r>
            <a:r>
              <a:rPr lang="zh-CN" altLang="zh-CN" sz="2400" dirty="0">
                <a:solidFill>
                  <a:schemeClr val="tx1"/>
                </a:solidFill>
              </a:rPr>
              <a:t>提高程序的可读性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</a:rPr>
              <a:t>单词之间</a:t>
            </a:r>
            <a:r>
              <a:rPr lang="zh-CN" altLang="zh-CN" sz="2400" dirty="0">
                <a:solidFill>
                  <a:schemeClr val="tx1"/>
                </a:solidFill>
              </a:rPr>
              <a:t>用</a:t>
            </a:r>
            <a:r>
              <a:rPr lang="zh-CN" altLang="en-US" sz="2400" dirty="0">
                <a:solidFill>
                  <a:schemeClr val="tx1"/>
                </a:solidFill>
              </a:rPr>
              <a:t>下划线连接</a:t>
            </a:r>
            <a:r>
              <a:rPr lang="zh-CN" altLang="zh-CN" sz="2400" dirty="0">
                <a:solidFill>
                  <a:schemeClr val="tx1"/>
                </a:solidFill>
              </a:rPr>
              <a:t>，或者每个单词首字母大写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</a:rPr>
              <a:t>值不变的尽量</a:t>
            </a:r>
            <a:r>
              <a:rPr lang="zh-CN" altLang="zh-CN" sz="2400" dirty="0">
                <a:solidFill>
                  <a:schemeClr val="tx1"/>
                </a:solidFill>
              </a:rPr>
              <a:t>用大写字母</a:t>
            </a:r>
            <a:r>
              <a:rPr lang="zh-CN" altLang="en-US" sz="2400" dirty="0">
                <a:solidFill>
                  <a:schemeClr val="tx1"/>
                </a:solidFill>
              </a:rPr>
              <a:t>命名</a:t>
            </a:r>
            <a:r>
              <a:rPr lang="zh-CN" altLang="zh-CN" sz="2400" dirty="0">
                <a:solidFill>
                  <a:schemeClr val="tx1"/>
                </a:solidFill>
              </a:rPr>
              <a:t>，例如：</a:t>
            </a:r>
            <a:r>
              <a:rPr lang="en-US" altLang="zh-CN" sz="2400" dirty="0">
                <a:solidFill>
                  <a:schemeClr val="tx1"/>
                </a:solidFill>
              </a:rPr>
              <a:t>PI=3.14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2400" dirty="0">
                <a:solidFill>
                  <a:schemeClr val="tx1"/>
                </a:solidFill>
              </a:rPr>
              <a:t>标识符是</a:t>
            </a:r>
            <a:r>
              <a:rPr lang="zh-CN" altLang="zh-CN" sz="2400" b="1" dirty="0">
                <a:solidFill>
                  <a:srgbClr val="FF0000"/>
                </a:solidFill>
              </a:rPr>
              <a:t>严格区分</a:t>
            </a:r>
            <a:r>
              <a:rPr lang="zh-CN" altLang="en-US" sz="2400" b="1" dirty="0">
                <a:solidFill>
                  <a:srgbClr val="FF0000"/>
                </a:solidFill>
              </a:rPr>
              <a:t>字母的</a:t>
            </a:r>
            <a:r>
              <a:rPr lang="zh-CN" altLang="zh-CN" sz="2400" b="1" dirty="0">
                <a:solidFill>
                  <a:srgbClr val="FF0000"/>
                </a:solidFill>
              </a:rPr>
              <a:t>大小</a:t>
            </a:r>
            <a:r>
              <a:rPr lang="zh-CN" altLang="en-US" sz="2400" b="1" dirty="0">
                <a:solidFill>
                  <a:srgbClr val="FF0000"/>
                </a:solidFill>
              </a:rPr>
              <a:t>写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</a:rPr>
              <a:t>函数名可以作为变量名，但尽量不</a:t>
            </a:r>
            <a:r>
              <a:rPr lang="zh-CN" altLang="en-US" sz="2400" dirty="0"/>
              <a:t>这样使用</a:t>
            </a:r>
            <a:endParaRPr lang="en-US" altLang="zh-CN" sz="2400" dirty="0"/>
          </a:p>
          <a:p>
            <a:pPr marL="609585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</a:t>
            </a:r>
            <a:r>
              <a:rPr lang="zh-CN" altLang="en-US" sz="2400" dirty="0">
                <a:solidFill>
                  <a:schemeClr val="tx1"/>
                </a:solidFill>
              </a:rPr>
              <a:t>如</a:t>
            </a:r>
            <a:r>
              <a:rPr lang="en-US" altLang="zh-CN" sz="2400" dirty="0">
                <a:solidFill>
                  <a:schemeClr val="tx1"/>
                </a:solidFill>
              </a:rPr>
              <a:t>: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max=65535;   </a:t>
            </a:r>
            <a:r>
              <a:rPr lang="en-US" altLang="zh-CN" sz="2400" dirty="0" err="1">
                <a:solidFill>
                  <a:schemeClr val="tx1"/>
                </a:solidFill>
              </a:rPr>
              <a:t>int</a:t>
            </a:r>
            <a:r>
              <a:rPr lang="en-US" altLang="zh-CN" sz="2400" dirty="0">
                <a:solidFill>
                  <a:schemeClr val="tx1"/>
                </a:solidFill>
              </a:rPr>
              <a:t>=2;    float=1.5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991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1034"/>
          <p:cNvSpPr>
            <a:spLocks noChangeArrowheads="1"/>
          </p:cNvSpPr>
          <p:nvPr/>
        </p:nvSpPr>
        <p:spPr bwMode="auto">
          <a:xfrm>
            <a:off x="-336551" y="2593860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 sz="24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15413" y="1818081"/>
            <a:ext cx="10042904" cy="1292111"/>
            <a:chOff x="611560" y="1363560"/>
            <a:chExt cx="7532178" cy="969083"/>
          </a:xfrm>
        </p:grpSpPr>
        <p:sp>
          <p:nvSpPr>
            <p:cNvPr id="19" name="TextBox 18"/>
            <p:cNvSpPr txBox="1">
              <a:spLocks noChangeArrowheads="1"/>
            </p:cNvSpPr>
            <p:nvPr/>
          </p:nvSpPr>
          <p:spPr bwMode="auto">
            <a:xfrm>
              <a:off x="3563888" y="1409726"/>
              <a:ext cx="4435834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C00000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作用：</a:t>
              </a:r>
              <a:r>
                <a:rPr lang="zh-CN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给多个变量赋值</a:t>
              </a:r>
              <a:endParaRPr lang="zh-CN" altLang="en-US" b="0" dirty="0">
                <a:solidFill>
                  <a:schemeClr val="tx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endParaRPr>
            </a:p>
          </p:txBody>
        </p:sp>
        <p:sp>
          <p:nvSpPr>
            <p:cNvPr id="23" name="TextBox 22"/>
            <p:cNvSpPr txBox="1">
              <a:spLocks noChangeArrowheads="1"/>
            </p:cNvSpPr>
            <p:nvPr/>
          </p:nvSpPr>
          <p:spPr bwMode="auto">
            <a:xfrm>
              <a:off x="1475656" y="1986394"/>
              <a:ext cx="6668082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x=y=z=1     #x</a:t>
              </a:r>
              <a:r>
                <a:rPr lang="zh-CN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、</a:t>
              </a:r>
              <a:r>
                <a:rPr lang="en-US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y</a:t>
              </a:r>
              <a:r>
                <a:rPr lang="zh-CN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、</a:t>
              </a:r>
              <a:r>
                <a:rPr lang="en-US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z</a:t>
              </a:r>
              <a:r>
                <a:rPr lang="zh-CN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三个变量获得相同值</a:t>
              </a:r>
              <a:r>
                <a:rPr lang="en-US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1</a:t>
              </a:r>
              <a:endParaRPr lang="zh-CN" altLang="en-US" b="0" dirty="0">
                <a:solidFill>
                  <a:schemeClr val="tx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11560" y="1363560"/>
              <a:ext cx="2520280" cy="438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 sz="3200" b="1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r>
                <a:rPr lang="zh-CN" altLang="en-US" sz="3200" b="1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  <a:r>
                <a:rPr lang="zh-CN" altLang="zh-CN" sz="3200" b="1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链式赋值</a:t>
              </a:r>
              <a:endParaRPr lang="zh-CN" altLang="en-US" sz="32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815414" y="4212992"/>
            <a:ext cx="9946893" cy="1585496"/>
            <a:chOff x="611560" y="3159745"/>
            <a:chExt cx="7460170" cy="1189122"/>
          </a:xfrm>
        </p:grpSpPr>
        <p:sp>
          <p:nvSpPr>
            <p:cNvPr id="3" name="TextBox 2"/>
            <p:cNvSpPr txBox="1"/>
            <p:nvPr/>
          </p:nvSpPr>
          <p:spPr>
            <a:xfrm>
              <a:off x="611560" y="3159745"/>
              <a:ext cx="2952328" cy="438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 sz="3200" b="1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r>
                <a:rPr lang="zh-CN" altLang="en-US" sz="3200" b="1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  <a:r>
                <a:rPr lang="zh-CN" altLang="zh-CN" sz="3200" b="1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序列解包赋值</a:t>
              </a:r>
              <a:endParaRPr lang="zh-CN" altLang="en-US" sz="32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Box 24"/>
            <p:cNvSpPr txBox="1">
              <a:spLocks noChangeArrowheads="1"/>
            </p:cNvSpPr>
            <p:nvPr/>
          </p:nvSpPr>
          <p:spPr bwMode="auto">
            <a:xfrm>
              <a:off x="3635896" y="3252078"/>
              <a:ext cx="3672408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C00000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作用：</a:t>
              </a:r>
              <a:r>
                <a:rPr lang="zh-CN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给不同的变量分别赋值</a:t>
              </a:r>
              <a:endParaRPr lang="zh-CN" altLang="en-US" b="0" dirty="0">
                <a:solidFill>
                  <a:schemeClr val="tx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endParaRPr>
            </a:p>
          </p:txBody>
        </p:sp>
        <p:sp>
          <p:nvSpPr>
            <p:cNvPr id="26" name="TextBox 25"/>
            <p:cNvSpPr txBox="1">
              <a:spLocks noChangeArrowheads="1"/>
            </p:cNvSpPr>
            <p:nvPr/>
          </p:nvSpPr>
          <p:spPr bwMode="auto">
            <a:xfrm>
              <a:off x="1403648" y="4002618"/>
              <a:ext cx="6668082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b="0" dirty="0" err="1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x,y,z</a:t>
              </a:r>
              <a:r>
                <a:rPr lang="en-US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=1,2,3   #x</a:t>
              </a:r>
              <a:r>
                <a:rPr lang="zh-CN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、</a:t>
              </a:r>
              <a:r>
                <a:rPr lang="en-US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y</a:t>
              </a:r>
              <a:r>
                <a:rPr lang="zh-CN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、</a:t>
              </a:r>
              <a:r>
                <a:rPr lang="en-US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z </a:t>
              </a:r>
              <a:r>
                <a:rPr lang="zh-CN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依次获得</a:t>
              </a:r>
              <a:r>
                <a:rPr lang="en-US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1</a:t>
              </a:r>
              <a:r>
                <a:rPr lang="zh-CN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、</a:t>
              </a:r>
              <a:r>
                <a:rPr lang="en-US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2</a:t>
              </a:r>
              <a:r>
                <a:rPr lang="zh-CN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、</a:t>
              </a:r>
              <a:r>
                <a:rPr lang="en-US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3</a:t>
              </a:r>
              <a:r>
                <a:rPr lang="zh-CN" altLang="zh-CN" b="0" dirty="0">
                  <a:solidFill>
                    <a:schemeClr val="tx1"/>
                  </a:solidFill>
                  <a:latin typeface="Courier New" pitchFamily="49" charset="0"/>
                  <a:ea typeface="微软雅黑" pitchFamily="34" charset="-122"/>
                  <a:cs typeface="Courier New" pitchFamily="49" charset="0"/>
                </a:rPr>
                <a:t>的值</a:t>
              </a:r>
              <a:endParaRPr lang="zh-CN" altLang="en-US" b="0" dirty="0">
                <a:solidFill>
                  <a:schemeClr val="tx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8961813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561818" y="1028733"/>
            <a:ext cx="7392821" cy="554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dirty="0">
                <a:solidFill>
                  <a:srgbClr val="0070C0"/>
                </a:solidFill>
              </a:rPr>
              <a:t>内置转换类型函数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61818" y="1700808"/>
          <a:ext cx="7646418" cy="4983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4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8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函数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含义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实例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结果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err="1"/>
                        <a:t>int</a:t>
                      </a:r>
                      <a:r>
                        <a:rPr lang="en-US" altLang="zh-CN" sz="1900" dirty="0"/>
                        <a:t>(x)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转为不大于</a:t>
                      </a:r>
                      <a:r>
                        <a:rPr lang="en-US" altLang="zh-CN" sz="1900" dirty="0"/>
                        <a:t>x</a:t>
                      </a:r>
                      <a:r>
                        <a:rPr lang="zh-CN" altLang="en-US" sz="1900" dirty="0"/>
                        <a:t>的整型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int</a:t>
                      </a:r>
                      <a:r>
                        <a:rPr lang="en-US" altLang="zh-CN" sz="1900" dirty="0"/>
                        <a:t>('123')</a:t>
                      </a:r>
                      <a:endParaRPr lang="zh-CN" altLang="en-US" sz="19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int</a:t>
                      </a:r>
                      <a:r>
                        <a:rPr lang="en-US" altLang="zh-CN" sz="1900" dirty="0"/>
                        <a:t>(1.5)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123</a:t>
                      </a:r>
                    </a:p>
                    <a:p>
                      <a:pPr algn="ctr"/>
                      <a:r>
                        <a:rPr lang="en-US" altLang="zh-CN" sz="1900" dirty="0"/>
                        <a:t>1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float(x)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转为实型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float('12.3')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float(2)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12.3</a:t>
                      </a:r>
                    </a:p>
                    <a:p>
                      <a:pPr algn="ctr"/>
                      <a:r>
                        <a:rPr lang="en-US" altLang="zh-CN" sz="1900" dirty="0"/>
                        <a:t>2.0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err="1"/>
                        <a:t>str</a:t>
                      </a:r>
                      <a:r>
                        <a:rPr lang="en-US" altLang="zh-CN" sz="1900" dirty="0"/>
                        <a:t>(x)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将数值</a:t>
                      </a:r>
                      <a:r>
                        <a:rPr lang="en-US" altLang="zh-CN" sz="1900" dirty="0"/>
                        <a:t>x</a:t>
                      </a:r>
                      <a:r>
                        <a:rPr lang="zh-CN" altLang="en-US" sz="1900" dirty="0"/>
                        <a:t>转换成字符串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str</a:t>
                      </a:r>
                      <a:r>
                        <a:rPr lang="en-US" altLang="zh-CN" sz="1900" dirty="0"/>
                        <a:t>(3)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str</a:t>
                      </a:r>
                      <a:r>
                        <a:rPr lang="en-US" altLang="zh-CN" sz="1900" dirty="0"/>
                        <a:t>(True)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'3'</a:t>
                      </a:r>
                    </a:p>
                    <a:p>
                      <a:pPr algn="ctr"/>
                      <a:r>
                        <a:rPr lang="en-US" altLang="zh-CN" sz="1900" dirty="0"/>
                        <a:t>'True'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err="1"/>
                        <a:t>bool</a:t>
                      </a:r>
                      <a:r>
                        <a:rPr lang="en-US" altLang="zh-CN" sz="1900" dirty="0"/>
                        <a:t>(x)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转为布尔值</a:t>
                      </a:r>
                      <a:endParaRPr lang="en-US" altLang="zh-CN" sz="1900" dirty="0"/>
                    </a:p>
                    <a:p>
                      <a:pPr algn="ctr"/>
                      <a:r>
                        <a:rPr lang="zh-CN" altLang="en-US" sz="1900" dirty="0"/>
                        <a:t>非</a:t>
                      </a:r>
                      <a:r>
                        <a:rPr lang="en-US" altLang="zh-CN" sz="1900" dirty="0"/>
                        <a:t>0</a:t>
                      </a:r>
                      <a:r>
                        <a:rPr lang="zh-CN" altLang="en-US" sz="1900" dirty="0"/>
                        <a:t>为</a:t>
                      </a:r>
                      <a:r>
                        <a:rPr lang="en-US" altLang="zh-CN" sz="1900" dirty="0"/>
                        <a:t>True,0</a:t>
                      </a:r>
                      <a:r>
                        <a:rPr lang="zh-CN" altLang="en-US" sz="1900" dirty="0"/>
                        <a:t>为</a:t>
                      </a:r>
                      <a:r>
                        <a:rPr lang="en-US" altLang="zh-CN" sz="1900" dirty="0"/>
                        <a:t>False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bool('12.3')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bool</a:t>
                      </a:r>
                      <a:r>
                        <a:rPr lang="en-US" altLang="zh-CN" sz="1900" dirty="0"/>
                        <a:t>(0)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bool('0')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True</a:t>
                      </a:r>
                    </a:p>
                    <a:p>
                      <a:pPr algn="ctr"/>
                      <a:r>
                        <a:rPr lang="en-US" altLang="zh-CN" sz="1900" dirty="0"/>
                        <a:t>False</a:t>
                      </a:r>
                    </a:p>
                    <a:p>
                      <a:pPr algn="ctr"/>
                      <a:r>
                        <a:rPr lang="en-US" altLang="zh-CN" sz="1900" dirty="0"/>
                        <a:t>True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err="1"/>
                        <a:t>eval</a:t>
                      </a:r>
                      <a:r>
                        <a:rPr lang="en-US" altLang="zh-CN" sz="1900" dirty="0"/>
                        <a:t>(x</a:t>
                      </a:r>
                      <a:r>
                        <a:rPr lang="en-US" altLang="zh-CN" sz="1900" baseline="-25000" dirty="0"/>
                        <a:t>1</a:t>
                      </a:r>
                      <a:r>
                        <a:rPr lang="en-US" altLang="zh-CN" sz="1900" dirty="0"/>
                        <a:t>,x</a:t>
                      </a:r>
                      <a:r>
                        <a:rPr lang="en-US" altLang="zh-CN" sz="1900" baseline="-25000" dirty="0"/>
                        <a:t>2</a:t>
                      </a:r>
                      <a:r>
                        <a:rPr lang="en-US" altLang="zh-CN" sz="1900" dirty="0"/>
                        <a:t>,…,</a:t>
                      </a:r>
                      <a:r>
                        <a:rPr lang="en-US" altLang="zh-CN" sz="1900" dirty="0" err="1"/>
                        <a:t>x</a:t>
                      </a:r>
                      <a:r>
                        <a:rPr lang="en-US" altLang="zh-CN" sz="1900" baseline="-25000" dirty="0" err="1"/>
                        <a:t>n</a:t>
                      </a:r>
                      <a:r>
                        <a:rPr lang="en-US" altLang="zh-CN" sz="1900" dirty="0"/>
                        <a:t>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计算字符串</a:t>
                      </a:r>
                      <a:r>
                        <a:rPr lang="en-US" altLang="zh-CN" sz="1900" dirty="0"/>
                        <a:t>x</a:t>
                      </a:r>
                      <a:r>
                        <a:rPr lang="zh-CN" altLang="en-US" sz="1900" dirty="0"/>
                        <a:t>的值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eval</a:t>
                      </a:r>
                      <a:r>
                        <a:rPr lang="en-US" altLang="zh-CN" sz="1900" dirty="0"/>
                        <a:t>('3+4')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eval</a:t>
                      </a:r>
                      <a:r>
                        <a:rPr lang="en-US" altLang="zh-CN" sz="1900" dirty="0"/>
                        <a:t>('True')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7</a:t>
                      </a:r>
                    </a:p>
                    <a:p>
                      <a:pPr algn="ctr"/>
                      <a:r>
                        <a:rPr lang="en-US" altLang="zh-CN" sz="1900" dirty="0"/>
                        <a:t>True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complex(x</a:t>
                      </a:r>
                      <a:r>
                        <a:rPr lang="en-US" altLang="zh-CN" sz="1900" baseline="-25000" dirty="0"/>
                        <a:t>1</a:t>
                      </a:r>
                      <a:r>
                        <a:rPr lang="en-US" altLang="zh-CN" sz="1900" baseline="0" dirty="0"/>
                        <a:t>[</a:t>
                      </a:r>
                      <a:r>
                        <a:rPr lang="en-US" altLang="zh-CN" sz="1900" dirty="0"/>
                        <a:t>,x</a:t>
                      </a:r>
                      <a:r>
                        <a:rPr lang="en-US" altLang="zh-CN" sz="1900" baseline="-25000" dirty="0"/>
                        <a:t>2</a:t>
                      </a:r>
                      <a:r>
                        <a:rPr lang="en-US" altLang="zh-CN" sz="1900" dirty="0"/>
                        <a:t>])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转换为复数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complex(1,3)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(1+3j)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245" y="3288508"/>
            <a:ext cx="35560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7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556095" y="548680"/>
            <a:ext cx="9889099" cy="7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sz="3733" dirty="0">
                <a:solidFill>
                  <a:srgbClr val="0070C0"/>
                </a:solidFill>
              </a:rPr>
              <a:t>数学库 </a:t>
            </a:r>
            <a:r>
              <a:rPr lang="en-US" altLang="zh-CN" sz="3733" dirty="0">
                <a:solidFill>
                  <a:srgbClr val="0070C0"/>
                </a:solidFill>
              </a:rPr>
              <a:t>math</a:t>
            </a:r>
            <a:endParaRPr lang="zh-CN" altLang="en-US" sz="3733" dirty="0">
              <a:solidFill>
                <a:srgbClr val="0070C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31371" y="3044957"/>
          <a:ext cx="11233246" cy="3506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6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0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函数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含义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实例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结果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pi</a:t>
                      </a:r>
                      <a:r>
                        <a:rPr lang="zh-CN" altLang="en-US" sz="1900" dirty="0"/>
                        <a:t>、</a:t>
                      </a:r>
                      <a:r>
                        <a:rPr lang="en-US" altLang="zh-CN" sz="1900" dirty="0"/>
                        <a:t>e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数学常数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pi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e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3.141592653589793</a:t>
                      </a:r>
                    </a:p>
                    <a:p>
                      <a:pPr algn="ctr"/>
                      <a:r>
                        <a:rPr lang="en-US" altLang="zh-CN" sz="1900" dirty="0"/>
                        <a:t>2.718281828459045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sin(x)</a:t>
                      </a:r>
                      <a:r>
                        <a:rPr lang="zh-CN" altLang="en-US" sz="1900" dirty="0"/>
                        <a:t>、</a:t>
                      </a:r>
                      <a:r>
                        <a:rPr lang="en-US" altLang="zh-CN" sz="1900" dirty="0"/>
                        <a:t>cos(x)</a:t>
                      </a:r>
                      <a:r>
                        <a:rPr lang="zh-CN" altLang="en-US" sz="1900" dirty="0"/>
                        <a:t>、</a:t>
                      </a:r>
                      <a:r>
                        <a:rPr lang="en-US" altLang="zh-CN" sz="1900" dirty="0"/>
                        <a:t>tan(x)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正弦、余弦、正切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sin(1.57)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cos(0)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0.999999</a:t>
                      </a:r>
                    </a:p>
                    <a:p>
                      <a:pPr algn="ctr"/>
                      <a:r>
                        <a:rPr lang="en-US" altLang="zh-CN" sz="1900" dirty="0"/>
                        <a:t>1.0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err="1"/>
                        <a:t>exp</a:t>
                      </a:r>
                      <a:r>
                        <a:rPr lang="en-US" altLang="zh-CN" sz="1900" dirty="0"/>
                        <a:t>(x)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以</a:t>
                      </a:r>
                      <a:r>
                        <a:rPr lang="en-US" altLang="zh-CN" sz="1900" dirty="0"/>
                        <a:t>e</a:t>
                      </a:r>
                      <a:r>
                        <a:rPr lang="zh-CN" altLang="en-US" sz="1900" dirty="0"/>
                        <a:t>为底的幂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exp</a:t>
                      </a:r>
                      <a:r>
                        <a:rPr lang="en-US" altLang="zh-CN" sz="1900" dirty="0"/>
                        <a:t>(3)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20.085536923187668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log(x)</a:t>
                      </a:r>
                      <a:r>
                        <a:rPr lang="zh-CN" altLang="en-US" sz="1900" dirty="0"/>
                        <a:t>、</a:t>
                      </a:r>
                      <a:r>
                        <a:rPr lang="en-US" altLang="zh-CN" sz="1900" dirty="0"/>
                        <a:t>log10(x)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自然对数，</a:t>
                      </a:r>
                      <a:r>
                        <a:rPr lang="en-US" altLang="zh-CN" sz="1900" dirty="0"/>
                        <a:t>10</a:t>
                      </a:r>
                      <a:r>
                        <a:rPr lang="zh-CN" altLang="en-US" sz="1900" dirty="0"/>
                        <a:t>为底的对数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log(2.718281828459045)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log10(10)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1.0</a:t>
                      </a:r>
                    </a:p>
                    <a:p>
                      <a:pPr algn="ctr"/>
                      <a:r>
                        <a:rPr lang="en-US" altLang="zh-CN" sz="1900" dirty="0"/>
                        <a:t>1.0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3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err="1"/>
                        <a:t>sqrt</a:t>
                      </a:r>
                      <a:r>
                        <a:rPr lang="en-US" altLang="zh-CN" sz="1900" dirty="0"/>
                        <a:t>(x)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x</a:t>
                      </a:r>
                      <a:r>
                        <a:rPr lang="zh-CN" altLang="en-US" sz="1900" dirty="0"/>
                        <a:t>的平方根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sqrt</a:t>
                      </a:r>
                      <a:r>
                        <a:rPr lang="en-US" altLang="zh-CN" sz="1900" dirty="0"/>
                        <a:t>(2)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1.4142135623730951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56094" y="1361321"/>
            <a:ext cx="11300545" cy="1664163"/>
          </a:xfrm>
          <a:ln>
            <a:noFill/>
          </a:ln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00B050"/>
                </a:solidFill>
              </a:rPr>
              <a:t>import math                   </a:t>
            </a:r>
            <a:r>
              <a:rPr lang="en-US" altLang="zh-CN" sz="2400" dirty="0">
                <a:solidFill>
                  <a:schemeClr val="tx1"/>
                </a:solidFill>
              </a:rPr>
              <a:t>#</a:t>
            </a:r>
            <a:r>
              <a:rPr lang="zh-CN" altLang="en-US" sz="2400" dirty="0">
                <a:solidFill>
                  <a:schemeClr val="tx1"/>
                </a:solidFill>
              </a:rPr>
              <a:t>调用时用</a:t>
            </a:r>
            <a:r>
              <a:rPr lang="en-US" altLang="zh-CN" sz="2400" dirty="0" err="1">
                <a:solidFill>
                  <a:schemeClr val="tx1"/>
                </a:solidFill>
              </a:rPr>
              <a:t>math.sin</a:t>
            </a:r>
            <a:r>
              <a:rPr lang="en-US" altLang="zh-CN" sz="2400" dirty="0">
                <a:solidFill>
                  <a:schemeClr val="tx1"/>
                </a:solidFill>
              </a:rPr>
              <a:t>(1.57)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00B050"/>
                </a:solidFill>
              </a:rPr>
              <a:t>from  math import  *     </a:t>
            </a:r>
            <a:r>
              <a:rPr lang="en-US" altLang="zh-CN" sz="2400" dirty="0">
                <a:solidFill>
                  <a:schemeClr val="tx1"/>
                </a:solidFill>
              </a:rPr>
              <a:t>#</a:t>
            </a:r>
            <a:r>
              <a:rPr lang="zh-CN" altLang="en-US" sz="2400" dirty="0">
                <a:solidFill>
                  <a:schemeClr val="tx1"/>
                </a:solidFill>
              </a:rPr>
              <a:t>调用时直接用</a:t>
            </a:r>
            <a:r>
              <a:rPr lang="en-US" altLang="zh-CN" sz="2400" dirty="0">
                <a:solidFill>
                  <a:schemeClr val="tx1"/>
                </a:solidFill>
              </a:rPr>
              <a:t>sin(1.57)</a:t>
            </a:r>
            <a:r>
              <a:rPr lang="zh-CN" altLang="en-US" sz="2400" dirty="0">
                <a:solidFill>
                  <a:schemeClr val="tx1"/>
                </a:solidFill>
              </a:rPr>
              <a:t>，可直接调用所有数学函数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00B050"/>
                </a:solidFill>
              </a:rPr>
              <a:t>from math import  sin   </a:t>
            </a:r>
            <a:r>
              <a:rPr lang="en-US" altLang="zh-CN" sz="2400" dirty="0">
                <a:solidFill>
                  <a:schemeClr val="tx1"/>
                </a:solidFill>
              </a:rPr>
              <a:t>#</a:t>
            </a:r>
            <a:r>
              <a:rPr lang="zh-CN" altLang="en-US" sz="2400" dirty="0">
                <a:solidFill>
                  <a:schemeClr val="tx1"/>
                </a:solidFill>
              </a:rPr>
              <a:t>只能调用指定的</a:t>
            </a:r>
            <a:r>
              <a:rPr lang="en-US" altLang="zh-CN" sz="2400" dirty="0">
                <a:solidFill>
                  <a:schemeClr val="tx1"/>
                </a:solidFill>
              </a:rPr>
              <a:t>sin</a:t>
            </a:r>
            <a:r>
              <a:rPr lang="zh-CN" altLang="en-US" sz="2400" dirty="0">
                <a:solidFill>
                  <a:schemeClr val="tx1"/>
                </a:solidFill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62175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34923" y="1892830"/>
            <a:ext cx="11372316" cy="442890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字符串的切片</a:t>
            </a:r>
            <a:endParaRPr lang="en-US" altLang="zh-CN" sz="32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667" dirty="0" err="1">
                <a:latin typeface="黑体" panose="02010609060101010101" pitchFamily="49" charset="-122"/>
                <a:ea typeface="黑体" panose="02010609060101010101" pitchFamily="49" charset="-122"/>
              </a:rPr>
              <a:t>st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zh-CN" sz="2667" dirty="0" err="1">
                <a:latin typeface="黑体" panose="02010609060101010101" pitchFamily="49" charset="-122"/>
                <a:ea typeface="黑体" panose="02010609060101010101" pitchFamily="49" charset="-122"/>
              </a:rPr>
              <a:t>m:n:k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en-US" sz="2667" dirty="0">
                <a:latin typeface="黑体" panose="02010609060101010101" pitchFamily="49" charset="-122"/>
                <a:ea typeface="黑体" panose="02010609060101010101" pitchFamily="49" charset="-122"/>
              </a:rPr>
              <a:t>表示从第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667" dirty="0">
                <a:latin typeface="黑体" panose="02010609060101010101" pitchFamily="49" charset="-122"/>
                <a:ea typeface="黑体" panose="02010609060101010101" pitchFamily="49" charset="-122"/>
              </a:rPr>
              <a:t>个到第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zh-CN" altLang="en-US" sz="2667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667" dirty="0">
                <a:latin typeface="黑体" panose="02010609060101010101" pitchFamily="49" charset="-122"/>
                <a:ea typeface="黑体" panose="02010609060101010101" pitchFamily="49" charset="-122"/>
              </a:rPr>
              <a:t>间隔步长为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endParaRPr lang="zh-CN" altLang="zh-CN" sz="2667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667" dirty="0" err="1">
                <a:latin typeface="黑体" panose="02010609060101010101" pitchFamily="49" charset="-122"/>
                <a:ea typeface="黑体" panose="02010609060101010101" pitchFamily="49" charset="-122"/>
              </a:rPr>
              <a:t>st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[:n] </a:t>
            </a:r>
            <a:r>
              <a:rPr lang="zh-CN" altLang="en-US" sz="2667" dirty="0">
                <a:latin typeface="黑体" panose="02010609060101010101" pitchFamily="49" charset="-122"/>
                <a:ea typeface="黑体" panose="02010609060101010101" pitchFamily="49" charset="-122"/>
              </a:rPr>
              <a:t>表示从第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667" dirty="0">
                <a:latin typeface="黑体" panose="02010609060101010101" pitchFamily="49" charset="-122"/>
                <a:ea typeface="黑体" panose="02010609060101010101" pitchFamily="49" charset="-122"/>
              </a:rPr>
              <a:t>个到第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zh-CN" altLang="en-US" sz="2667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endParaRPr lang="en-US" altLang="zh-CN" sz="2667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667" dirty="0" err="1">
                <a:latin typeface="黑体" panose="02010609060101010101" pitchFamily="49" charset="-122"/>
                <a:ea typeface="黑体" panose="02010609060101010101" pitchFamily="49" charset="-122"/>
              </a:rPr>
              <a:t>st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[m:] </a:t>
            </a:r>
            <a:r>
              <a:rPr lang="zh-CN" altLang="en-US" sz="2667" dirty="0">
                <a:latin typeface="黑体" panose="02010609060101010101" pitchFamily="49" charset="-122"/>
                <a:ea typeface="黑体" panose="02010609060101010101" pitchFamily="49" charset="-122"/>
              </a:rPr>
              <a:t>表示从第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667" dirty="0">
                <a:latin typeface="黑体" panose="02010609060101010101" pitchFamily="49" charset="-122"/>
                <a:ea typeface="黑体" panose="02010609060101010101" pitchFamily="49" charset="-122"/>
              </a:rPr>
              <a:t>个到最后</a:t>
            </a:r>
            <a:endParaRPr lang="en-US" altLang="zh-CN" sz="2667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667" dirty="0" err="1">
                <a:latin typeface="黑体" panose="02010609060101010101" pitchFamily="49" charset="-122"/>
                <a:ea typeface="黑体" panose="02010609060101010101" pitchFamily="49" charset="-122"/>
              </a:rPr>
              <a:t>st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[:] </a:t>
            </a:r>
            <a:r>
              <a:rPr lang="zh-CN" altLang="en-US" sz="2667" dirty="0">
                <a:latin typeface="黑体" panose="02010609060101010101" pitchFamily="49" charset="-122"/>
                <a:ea typeface="黑体" panose="02010609060101010101" pitchFamily="49" charset="-122"/>
              </a:rPr>
              <a:t>表示取所有字符</a:t>
            </a:r>
            <a:endParaRPr lang="en-US" altLang="zh-CN" sz="2667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667" dirty="0" err="1">
                <a:latin typeface="黑体" panose="02010609060101010101" pitchFamily="49" charset="-122"/>
                <a:ea typeface="黑体" panose="02010609060101010101" pitchFamily="49" charset="-122"/>
              </a:rPr>
              <a:t>st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[::-1] </a:t>
            </a:r>
            <a:r>
              <a:rPr lang="zh-CN" altLang="en-US" sz="2667" dirty="0">
                <a:latin typeface="黑体" panose="02010609060101010101" pitchFamily="49" charset="-122"/>
                <a:ea typeface="黑体" panose="02010609060101010101" pitchFamily="49" charset="-122"/>
              </a:rPr>
              <a:t>逆序取所有字符</a:t>
            </a:r>
            <a:endParaRPr lang="en-US" altLang="zh-CN" sz="2667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667" dirty="0" err="1">
                <a:latin typeface="黑体" panose="02010609060101010101" pitchFamily="49" charset="-122"/>
                <a:ea typeface="黑体" panose="02010609060101010101" pitchFamily="49" charset="-122"/>
              </a:rPr>
              <a:t>st</a:t>
            </a: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[::-2] </a:t>
            </a:r>
            <a:r>
              <a:rPr lang="zh-CN" altLang="en-US" sz="2667" dirty="0">
                <a:latin typeface="黑体" panose="02010609060101010101" pitchFamily="49" charset="-122"/>
                <a:ea typeface="黑体" panose="02010609060101010101" pitchFamily="49" charset="-122"/>
              </a:rPr>
              <a:t>逆序取所有偶数索引号上的字符</a:t>
            </a:r>
            <a:endParaRPr lang="en-US" altLang="zh-CN" sz="2667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4923" y="563391"/>
            <a:ext cx="5949109" cy="71558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字符串索引</a:t>
            </a:r>
            <a:r>
              <a:rPr lang="zh-CN" altLang="en-US" sz="32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667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可正向和反向索引</a:t>
            </a:r>
            <a:endParaRPr lang="en-US" altLang="zh-CN" sz="2667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718674" y="606756"/>
          <a:ext cx="5088565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49">
                  <a:extLst>
                    <a:ext uri="{9D8B030D-6E8A-4147-A177-3AD203B41FA5}">
                      <a16:colId xmlns:a16="http://schemas.microsoft.com/office/drawing/2014/main" val="1818714595"/>
                    </a:ext>
                  </a:extLst>
                </a:gridCol>
                <a:gridCol w="654439">
                  <a:extLst>
                    <a:ext uri="{9D8B030D-6E8A-4147-A177-3AD203B41FA5}">
                      <a16:colId xmlns:a16="http://schemas.microsoft.com/office/drawing/2014/main" val="3702540663"/>
                    </a:ext>
                  </a:extLst>
                </a:gridCol>
                <a:gridCol w="525944">
                  <a:extLst>
                    <a:ext uri="{9D8B030D-6E8A-4147-A177-3AD203B41FA5}">
                      <a16:colId xmlns:a16="http://schemas.microsoft.com/office/drawing/2014/main" val="3480102548"/>
                    </a:ext>
                  </a:extLst>
                </a:gridCol>
                <a:gridCol w="525944">
                  <a:extLst>
                    <a:ext uri="{9D8B030D-6E8A-4147-A177-3AD203B41FA5}">
                      <a16:colId xmlns:a16="http://schemas.microsoft.com/office/drawing/2014/main" val="29914458"/>
                    </a:ext>
                  </a:extLst>
                </a:gridCol>
                <a:gridCol w="525944">
                  <a:extLst>
                    <a:ext uri="{9D8B030D-6E8A-4147-A177-3AD203B41FA5}">
                      <a16:colId xmlns:a16="http://schemas.microsoft.com/office/drawing/2014/main" val="2134566162"/>
                    </a:ext>
                  </a:extLst>
                </a:gridCol>
                <a:gridCol w="525944">
                  <a:extLst>
                    <a:ext uri="{9D8B030D-6E8A-4147-A177-3AD203B41FA5}">
                      <a16:colId xmlns:a16="http://schemas.microsoft.com/office/drawing/2014/main" val="3576456842"/>
                    </a:ext>
                  </a:extLst>
                </a:gridCol>
                <a:gridCol w="499504">
                  <a:extLst>
                    <a:ext uri="{9D8B030D-6E8A-4147-A177-3AD203B41FA5}">
                      <a16:colId xmlns:a16="http://schemas.microsoft.com/office/drawing/2014/main" val="395214491"/>
                    </a:ext>
                  </a:extLst>
                </a:gridCol>
                <a:gridCol w="486697">
                  <a:extLst>
                    <a:ext uri="{9D8B030D-6E8A-4147-A177-3AD203B41FA5}">
                      <a16:colId xmlns:a16="http://schemas.microsoft.com/office/drawing/2014/main" val="1296131245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dirty="0"/>
                        <a:t>字符串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w</a:t>
                      </a:r>
                      <a:endParaRPr lang="zh-CN" altLang="en-US" sz="21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e</a:t>
                      </a:r>
                      <a:endParaRPr lang="zh-CN" altLang="en-US" sz="21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l</a:t>
                      </a:r>
                      <a:endParaRPr lang="zh-CN" altLang="en-US" sz="21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c</a:t>
                      </a:r>
                      <a:endParaRPr lang="zh-CN" altLang="en-US" sz="21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o</a:t>
                      </a:r>
                      <a:endParaRPr lang="zh-CN" altLang="en-US" sz="21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m</a:t>
                      </a:r>
                      <a:endParaRPr lang="zh-CN" altLang="en-US" sz="21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e</a:t>
                      </a:r>
                      <a:endParaRPr lang="zh-CN" altLang="en-US" sz="21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95049581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正向索引编号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14421482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反向索引编号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-7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-6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-5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-4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-3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-2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</a:t>
                      </a:r>
                      <a:endParaRPr lang="zh-CN" altLang="en-US" sz="14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7859010"/>
                  </a:ext>
                </a:extLst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192" y="3332990"/>
            <a:ext cx="1728192" cy="220824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3200" y="3347377"/>
            <a:ext cx="1673225" cy="184594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25544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519260" y="260648"/>
            <a:ext cx="9889099" cy="554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内置字符串处理函数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19261" y="815512"/>
          <a:ext cx="11233246" cy="1645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96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0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函数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描述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实例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结果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1" dirty="0" err="1">
                          <a:solidFill>
                            <a:srgbClr val="00B050"/>
                          </a:solidFill>
                        </a:rPr>
                        <a:t>len</a:t>
                      </a:r>
                      <a:r>
                        <a:rPr lang="en-US" altLang="zh-CN" sz="1900" b="1" dirty="0">
                          <a:solidFill>
                            <a:srgbClr val="00B050"/>
                          </a:solidFill>
                        </a:rPr>
                        <a:t>(s)</a:t>
                      </a:r>
                      <a:endParaRPr lang="zh-CN" altLang="en-US" sz="1900" b="1" dirty="0">
                        <a:solidFill>
                          <a:srgbClr val="00B050"/>
                        </a:solidFill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返回字符串长度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len</a:t>
                      </a:r>
                      <a:r>
                        <a:rPr lang="en-US" altLang="zh-CN" sz="1900" dirty="0"/>
                        <a:t>('123456')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6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1" dirty="0" err="1">
                          <a:solidFill>
                            <a:srgbClr val="00B050"/>
                          </a:solidFill>
                        </a:rPr>
                        <a:t>chr</a:t>
                      </a:r>
                      <a:r>
                        <a:rPr lang="en-US" altLang="zh-CN" sz="1900" b="1" dirty="0">
                          <a:solidFill>
                            <a:srgbClr val="00B050"/>
                          </a:solidFill>
                        </a:rPr>
                        <a:t>(n)</a:t>
                      </a:r>
                      <a:endParaRPr lang="zh-CN" altLang="en-US" sz="1900" b="1" dirty="0">
                        <a:solidFill>
                          <a:srgbClr val="00B050"/>
                        </a:solidFill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返回</a:t>
                      </a:r>
                      <a:r>
                        <a:rPr lang="en-US" altLang="zh-CN" sz="1900" dirty="0"/>
                        <a:t>n</a:t>
                      </a:r>
                      <a:r>
                        <a:rPr lang="zh-CN" altLang="en-US" sz="1900" dirty="0"/>
                        <a:t>对应</a:t>
                      </a:r>
                      <a:r>
                        <a:rPr lang="en-US" altLang="zh-CN" sz="1900" dirty="0"/>
                        <a:t>ASCII</a:t>
                      </a:r>
                      <a:r>
                        <a:rPr lang="zh-CN" altLang="en-US" sz="1900" dirty="0"/>
                        <a:t>码字符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err="1"/>
                        <a:t>chr</a:t>
                      </a:r>
                      <a:r>
                        <a:rPr lang="en-US" altLang="zh-CN" sz="1900" dirty="0"/>
                        <a:t>(65)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/>
                        <a:t>'A'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1" dirty="0" err="1">
                          <a:solidFill>
                            <a:srgbClr val="00B050"/>
                          </a:solidFill>
                        </a:rPr>
                        <a:t>ord</a:t>
                      </a:r>
                      <a:r>
                        <a:rPr lang="en-US" altLang="zh-CN" sz="1900" b="1" dirty="0">
                          <a:solidFill>
                            <a:srgbClr val="00B050"/>
                          </a:solidFill>
                        </a:rPr>
                        <a:t>(s)</a:t>
                      </a:r>
                      <a:endParaRPr lang="zh-CN" altLang="en-US" sz="1900" b="1" dirty="0">
                        <a:solidFill>
                          <a:srgbClr val="00B050"/>
                        </a:solidFill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返回字符</a:t>
                      </a:r>
                      <a:r>
                        <a:rPr lang="en-US" altLang="zh-CN" sz="1900" dirty="0"/>
                        <a:t>s</a:t>
                      </a:r>
                      <a:r>
                        <a:rPr lang="zh-CN" altLang="en-US" sz="1900" dirty="0"/>
                        <a:t>的</a:t>
                      </a:r>
                      <a:r>
                        <a:rPr lang="en-US" altLang="zh-CN" sz="1900" dirty="0"/>
                        <a:t>ASCII</a:t>
                      </a:r>
                      <a:r>
                        <a:rPr lang="zh-CN" altLang="en-US" sz="1900" dirty="0"/>
                        <a:t>码值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ord</a:t>
                      </a:r>
                      <a:r>
                        <a:rPr lang="en-US" altLang="zh-CN" sz="1900" dirty="0"/>
                        <a:t>('a')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97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标题 1"/>
          <p:cNvSpPr txBox="1">
            <a:spLocks/>
          </p:cNvSpPr>
          <p:nvPr/>
        </p:nvSpPr>
        <p:spPr bwMode="auto">
          <a:xfrm>
            <a:off x="519260" y="2600375"/>
            <a:ext cx="9889099" cy="554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字符串内置方法 </a:t>
            </a:r>
            <a:r>
              <a:rPr lang="zh-CN" altLang="en-US" b="0" dirty="0"/>
              <a:t>    </a:t>
            </a:r>
            <a:r>
              <a:rPr lang="zh-CN" altLang="en-US" sz="2667" dirty="0">
                <a:solidFill>
                  <a:srgbClr val="0070C0"/>
                </a:solidFill>
              </a:rPr>
              <a:t>假设</a:t>
            </a:r>
            <a:r>
              <a:rPr lang="en-US" altLang="zh-CN" sz="2667" dirty="0" err="1">
                <a:solidFill>
                  <a:srgbClr val="0070C0"/>
                </a:solidFill>
              </a:rPr>
              <a:t>st</a:t>
            </a:r>
            <a:r>
              <a:rPr lang="en-US" altLang="zh-CN" sz="2667" dirty="0">
                <a:solidFill>
                  <a:srgbClr val="0070C0"/>
                </a:solidFill>
              </a:rPr>
              <a:t>='</a:t>
            </a:r>
            <a:r>
              <a:rPr lang="en-US" altLang="zh-CN" sz="2667" dirty="0" err="1">
                <a:solidFill>
                  <a:srgbClr val="0070C0"/>
                </a:solidFill>
              </a:rPr>
              <a:t>abc</a:t>
            </a:r>
            <a:r>
              <a:rPr lang="en-US" altLang="zh-CN" sz="2667" dirty="0">
                <a:solidFill>
                  <a:srgbClr val="0070C0"/>
                </a:solidFill>
              </a:rPr>
              <a:t> </a:t>
            </a:r>
            <a:r>
              <a:rPr lang="en-US" altLang="zh-CN" sz="2667" dirty="0" err="1">
                <a:solidFill>
                  <a:srgbClr val="0070C0"/>
                </a:solidFill>
              </a:rPr>
              <a:t>defg</a:t>
            </a:r>
            <a:r>
              <a:rPr lang="en-US" altLang="zh-CN" sz="2667" dirty="0">
                <a:solidFill>
                  <a:srgbClr val="0070C0"/>
                </a:solidFill>
              </a:rPr>
              <a:t> </a:t>
            </a:r>
            <a:r>
              <a:rPr lang="en-US" altLang="zh-CN" sz="2667" dirty="0" err="1">
                <a:solidFill>
                  <a:srgbClr val="0070C0"/>
                </a:solidFill>
              </a:rPr>
              <a:t>bc</a:t>
            </a:r>
            <a:r>
              <a:rPr lang="en-US" altLang="zh-CN" sz="2667" dirty="0">
                <a:solidFill>
                  <a:srgbClr val="0070C0"/>
                </a:solidFill>
              </a:rPr>
              <a:t>'</a:t>
            </a:r>
            <a:endParaRPr lang="zh-CN" altLang="en-US" sz="2667" dirty="0">
              <a:solidFill>
                <a:srgbClr val="0070C0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59107" y="3139027"/>
          <a:ext cx="11233246" cy="2758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96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8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方法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描述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实例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/>
                        <a:t>结果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dirty="0"/>
                        <a:t>upper()</a:t>
                      </a:r>
                      <a:r>
                        <a:rPr lang="zh-CN" altLang="en-US" sz="1900" dirty="0"/>
                        <a:t>、</a:t>
                      </a:r>
                      <a:r>
                        <a:rPr lang="en-US" altLang="zh-CN" sz="1900" dirty="0"/>
                        <a:t>lower()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900" dirty="0"/>
                        <a:t>转换字母为大写或小写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st.upper</a:t>
                      </a:r>
                      <a:r>
                        <a:rPr lang="en-US" altLang="zh-CN" sz="1900" dirty="0"/>
                        <a:t>()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dirty="0"/>
                        <a:t>'ABC DEFG BC'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dirty="0"/>
                        <a:t>index(s)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900" dirty="0"/>
                        <a:t>返回第</a:t>
                      </a:r>
                      <a:r>
                        <a:rPr lang="en-US" altLang="zh-CN" sz="1900" dirty="0"/>
                        <a:t>1</a:t>
                      </a:r>
                      <a:r>
                        <a:rPr lang="zh-CN" altLang="en-US" sz="1900" dirty="0"/>
                        <a:t>次出现子串</a:t>
                      </a:r>
                      <a:r>
                        <a:rPr lang="en-US" altLang="zh-CN" sz="1900" dirty="0"/>
                        <a:t>s</a:t>
                      </a:r>
                      <a:r>
                        <a:rPr lang="zh-CN" altLang="en-US" sz="1900" dirty="0"/>
                        <a:t>的位置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dirty="0"/>
                        <a:t> </a:t>
                      </a:r>
                      <a:r>
                        <a:rPr lang="en-US" altLang="zh-CN" sz="1900" dirty="0" err="1"/>
                        <a:t>st.index</a:t>
                      </a:r>
                      <a:r>
                        <a:rPr lang="en-US" altLang="zh-CN" sz="1900" dirty="0"/>
                        <a:t>('</a:t>
                      </a:r>
                      <a:r>
                        <a:rPr lang="en-US" altLang="zh-CN" sz="1900" dirty="0" err="1"/>
                        <a:t>bc</a:t>
                      </a:r>
                      <a:r>
                        <a:rPr lang="en-US" altLang="zh-CN" sz="1900" dirty="0"/>
                        <a:t>')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dirty="0"/>
                        <a:t>1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dirty="0"/>
                        <a:t>replace(</a:t>
                      </a:r>
                      <a:r>
                        <a:rPr lang="en-US" altLang="zh-CN" sz="1900" dirty="0" err="1"/>
                        <a:t>old,new</a:t>
                      </a:r>
                      <a:r>
                        <a:rPr lang="en-US" altLang="zh-CN" sz="1900" dirty="0"/>
                        <a:t>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900" dirty="0"/>
                        <a:t>用</a:t>
                      </a:r>
                      <a:r>
                        <a:rPr lang="en-US" altLang="zh-CN" sz="1900" dirty="0"/>
                        <a:t>new</a:t>
                      </a:r>
                      <a:r>
                        <a:rPr lang="zh-CN" altLang="en-US" sz="1900" dirty="0"/>
                        <a:t>子串替换</a:t>
                      </a:r>
                      <a:r>
                        <a:rPr lang="en-US" altLang="zh-CN" sz="1900" dirty="0"/>
                        <a:t>old</a:t>
                      </a:r>
                      <a:r>
                        <a:rPr lang="zh-CN" altLang="en-US" sz="1900" dirty="0"/>
                        <a:t>子串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/>
                        <a:t> </a:t>
                      </a:r>
                      <a:r>
                        <a:rPr lang="en-US" altLang="zh-CN" sz="1900" dirty="0" err="1"/>
                        <a:t>st.replace</a:t>
                      </a:r>
                      <a:r>
                        <a:rPr lang="en-US" altLang="zh-CN" sz="1900" dirty="0"/>
                        <a:t>("bc",'123')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dirty="0"/>
                        <a:t> 'a123 </a:t>
                      </a:r>
                      <a:r>
                        <a:rPr lang="en-US" altLang="zh-CN" sz="1900" dirty="0" err="1"/>
                        <a:t>defg</a:t>
                      </a:r>
                      <a:r>
                        <a:rPr lang="en-US" altLang="zh-CN" sz="1900" dirty="0"/>
                        <a:t> 123'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dirty="0"/>
                        <a:t>split([s])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900" dirty="0"/>
                        <a:t>按指定分隔符将字符串分成子串序列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st.split</a:t>
                      </a:r>
                      <a:r>
                        <a:rPr lang="en-US" altLang="zh-CN" sz="1900" dirty="0"/>
                        <a:t>(' ')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dirty="0"/>
                        <a:t>['</a:t>
                      </a:r>
                      <a:r>
                        <a:rPr lang="en-US" altLang="zh-CN" sz="1900" dirty="0" err="1"/>
                        <a:t>abc</a:t>
                      </a:r>
                      <a:r>
                        <a:rPr lang="en-US" altLang="zh-CN" sz="1900" dirty="0"/>
                        <a:t>', '</a:t>
                      </a:r>
                      <a:r>
                        <a:rPr lang="en-US" altLang="zh-CN" sz="1900" dirty="0" err="1"/>
                        <a:t>defg</a:t>
                      </a:r>
                      <a:r>
                        <a:rPr lang="en-US" altLang="zh-CN" sz="1900" dirty="0"/>
                        <a:t>', '</a:t>
                      </a:r>
                      <a:r>
                        <a:rPr lang="en-US" altLang="zh-CN" sz="1900" dirty="0" err="1"/>
                        <a:t>bc</a:t>
                      </a:r>
                      <a:r>
                        <a:rPr lang="en-US" altLang="zh-CN" sz="1900" dirty="0"/>
                        <a:t>']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81956515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dirty="0" err="1"/>
                        <a:t>isnumeric</a:t>
                      </a:r>
                      <a:r>
                        <a:rPr lang="en-US" altLang="zh-CN" sz="1900" dirty="0"/>
                        <a:t>()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900" dirty="0"/>
                        <a:t>字符串是否全为数字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dirty="0" err="1"/>
                        <a:t>st.isnumeric</a:t>
                      </a:r>
                      <a:r>
                        <a:rPr lang="en-US" altLang="zh-CN" sz="1900" dirty="0"/>
                        <a:t>()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dirty="0"/>
                        <a:t>False</a:t>
                      </a:r>
                      <a:endParaRPr lang="zh-CN" altLang="en-US" sz="19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943220672"/>
                  </a:ext>
                </a:extLst>
              </a:tr>
            </a:tbl>
          </a:graphicData>
        </a:graphic>
      </p:graphicFrame>
      <p:sp>
        <p:nvSpPr>
          <p:cNvPr id="8" name="标题 1"/>
          <p:cNvSpPr txBox="1">
            <a:spLocks/>
          </p:cNvSpPr>
          <p:nvPr/>
        </p:nvSpPr>
        <p:spPr bwMode="auto">
          <a:xfrm>
            <a:off x="719403" y="5845695"/>
            <a:ext cx="9889099" cy="554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sz="2400" b="0" dirty="0"/>
              <a:t>注意：以上方法都不改变字符串本身的内容！！！</a:t>
            </a:r>
          </a:p>
        </p:txBody>
      </p:sp>
    </p:spTree>
    <p:extLst>
      <p:ext uri="{BB962C8B-B14F-4D97-AF65-F5344CB8AC3E}">
        <p14:creationId xmlns:p14="http://schemas.microsoft.com/office/powerpoint/2010/main" val="330621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6"/>
          <p:cNvSpPr>
            <a:spLocks noChangeArrowheads="1"/>
          </p:cNvSpPr>
          <p:nvPr/>
        </p:nvSpPr>
        <p:spPr bwMode="auto">
          <a:xfrm>
            <a:off x="1" y="-2308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245534"/>
            <a:ext cx="11034184" cy="675812"/>
          </a:xfrm>
        </p:spPr>
        <p:txBody>
          <a:bodyPr/>
          <a:lstStyle/>
          <a:p>
            <a:r>
              <a:rPr lang="zh-CN" altLang="en-US" sz="3200" dirty="0"/>
              <a:t>关系运算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59430" y="1049317"/>
          <a:ext cx="10273142" cy="323681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965444">
                  <a:extLst>
                    <a:ext uri="{9D8B030D-6E8A-4147-A177-3AD203B41FA5}">
                      <a16:colId xmlns:a16="http://schemas.microsoft.com/office/drawing/2014/main" val="2956060744"/>
                    </a:ext>
                  </a:extLst>
                </a:gridCol>
                <a:gridCol w="2684785">
                  <a:extLst>
                    <a:ext uri="{9D8B030D-6E8A-4147-A177-3AD203B41FA5}">
                      <a16:colId xmlns:a16="http://schemas.microsoft.com/office/drawing/2014/main" val="3975135948"/>
                    </a:ext>
                  </a:extLst>
                </a:gridCol>
                <a:gridCol w="4622913">
                  <a:extLst>
                    <a:ext uri="{9D8B030D-6E8A-4147-A177-3AD203B41FA5}">
                      <a16:colId xmlns:a16="http://schemas.microsoft.com/office/drawing/2014/main" val="1471736549"/>
                    </a:ext>
                  </a:extLst>
                </a:gridCol>
              </a:tblGrid>
              <a:tr h="389184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关系运算符</a:t>
                      </a:r>
                      <a:endParaRPr lang="zh-CN" altLang="en-US" sz="21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2032" marR="32032" marT="32032" marB="320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描述</a:t>
                      </a:r>
                      <a:endParaRPr lang="zh-CN" altLang="en-US" sz="21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2032" marR="32032" marT="32032" marB="320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实例</a:t>
                      </a:r>
                      <a:endParaRPr lang="zh-CN" altLang="en-US" sz="21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2032" marR="32032" marT="32032" marB="320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061599"/>
                  </a:ext>
                </a:extLst>
              </a:tr>
              <a:tr h="47460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b="1" dirty="0">
                          <a:solidFill>
                            <a:srgbClr val="C00000"/>
                          </a:solidFill>
                          <a:effectLst/>
                        </a:rPr>
                        <a:t>==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相等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100" dirty="0">
                          <a:effectLst/>
                        </a:rPr>
                        <a:t>(a == b) </a:t>
                      </a:r>
                      <a:r>
                        <a:rPr lang="zh-CN" altLang="en-US" sz="2100" dirty="0">
                          <a:effectLst/>
                        </a:rPr>
                        <a:t>返回 </a:t>
                      </a:r>
                      <a:r>
                        <a:rPr lang="en-US" sz="2100" dirty="0">
                          <a:effectLst/>
                        </a:rPr>
                        <a:t>False</a:t>
                      </a:r>
                    </a:p>
                  </a:txBody>
                  <a:tcPr marL="53388" marR="53388" marT="74743" marB="74743" anchor="ctr"/>
                </a:tc>
                <a:extLst>
                  <a:ext uri="{0D108BD9-81ED-4DB2-BD59-A6C34878D82A}">
                    <a16:rowId xmlns:a16="http://schemas.microsoft.com/office/drawing/2014/main" val="923885999"/>
                  </a:ext>
                </a:extLst>
              </a:tr>
              <a:tr h="474605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b="1" dirty="0">
                          <a:solidFill>
                            <a:srgbClr val="C00000"/>
                          </a:solidFill>
                          <a:effectLst/>
                        </a:rPr>
                        <a:t>!=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不等于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100" dirty="0">
                          <a:effectLst/>
                        </a:rPr>
                        <a:t>(a != b) </a:t>
                      </a:r>
                      <a:r>
                        <a:rPr lang="zh-CN" altLang="en-US" sz="2100" dirty="0">
                          <a:effectLst/>
                        </a:rPr>
                        <a:t>返回 </a:t>
                      </a:r>
                      <a:r>
                        <a:rPr lang="en-US" sz="2100" dirty="0">
                          <a:effectLst/>
                        </a:rPr>
                        <a:t>true</a:t>
                      </a:r>
                    </a:p>
                  </a:txBody>
                  <a:tcPr marL="53388" marR="53388" marT="74743" marB="74743" anchor="ctr"/>
                </a:tc>
                <a:extLst>
                  <a:ext uri="{0D108BD9-81ED-4DB2-BD59-A6C34878D82A}">
                    <a16:rowId xmlns:a16="http://schemas.microsoft.com/office/drawing/2014/main" val="4171813621"/>
                  </a:ext>
                </a:extLst>
              </a:tr>
              <a:tr h="47460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&gt;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大于</a:t>
                      </a:r>
                      <a:endParaRPr lang="en-US" sz="2100" dirty="0">
                        <a:effectLst/>
                      </a:endParaRP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100" dirty="0">
                          <a:effectLst/>
                        </a:rPr>
                        <a:t>(a &gt; b) </a:t>
                      </a:r>
                      <a:r>
                        <a:rPr lang="zh-CN" altLang="en-US" sz="2100" dirty="0">
                          <a:effectLst/>
                        </a:rPr>
                        <a:t>返回 </a:t>
                      </a:r>
                      <a:r>
                        <a:rPr lang="en-US" sz="2100" dirty="0">
                          <a:effectLst/>
                        </a:rPr>
                        <a:t>False</a:t>
                      </a:r>
                    </a:p>
                  </a:txBody>
                  <a:tcPr marL="53388" marR="53388" marT="74743" marB="74743" anchor="ctr"/>
                </a:tc>
                <a:extLst>
                  <a:ext uri="{0D108BD9-81ED-4DB2-BD59-A6C34878D82A}">
                    <a16:rowId xmlns:a16="http://schemas.microsoft.com/office/drawing/2014/main" val="38017070"/>
                  </a:ext>
                </a:extLst>
              </a:tr>
              <a:tr h="47460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&lt;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小于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100" dirty="0">
                          <a:effectLst/>
                        </a:rPr>
                        <a:t>(a &lt; b) </a:t>
                      </a:r>
                      <a:r>
                        <a:rPr lang="zh-CN" altLang="en-US" sz="2100" dirty="0">
                          <a:effectLst/>
                        </a:rPr>
                        <a:t>返回 </a:t>
                      </a:r>
                      <a:r>
                        <a:rPr lang="en-US" sz="2100" dirty="0">
                          <a:effectLst/>
                        </a:rPr>
                        <a:t>true</a:t>
                      </a:r>
                    </a:p>
                  </a:txBody>
                  <a:tcPr marL="53388" marR="53388" marT="74743" marB="74743" anchor="ctr"/>
                </a:tc>
                <a:extLst>
                  <a:ext uri="{0D108BD9-81ED-4DB2-BD59-A6C34878D82A}">
                    <a16:rowId xmlns:a16="http://schemas.microsoft.com/office/drawing/2014/main" val="2677286391"/>
                  </a:ext>
                </a:extLst>
              </a:tr>
              <a:tr h="47460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&gt;=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大于等于</a:t>
                      </a:r>
                      <a:endParaRPr lang="en-US" sz="2100" dirty="0">
                        <a:effectLst/>
                      </a:endParaRP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100" dirty="0">
                          <a:effectLst/>
                        </a:rPr>
                        <a:t>(a &gt;= b) </a:t>
                      </a:r>
                      <a:r>
                        <a:rPr lang="zh-CN" altLang="en-US" sz="2100" dirty="0">
                          <a:effectLst/>
                        </a:rPr>
                        <a:t>返回 </a:t>
                      </a:r>
                      <a:r>
                        <a:rPr lang="en-US" sz="2100" dirty="0">
                          <a:effectLst/>
                        </a:rPr>
                        <a:t>False</a:t>
                      </a:r>
                    </a:p>
                  </a:txBody>
                  <a:tcPr marL="53388" marR="53388" marT="74743" marB="74743" anchor="ctr"/>
                </a:tc>
                <a:extLst>
                  <a:ext uri="{0D108BD9-81ED-4DB2-BD59-A6C34878D82A}">
                    <a16:rowId xmlns:a16="http://schemas.microsoft.com/office/drawing/2014/main" val="1249826025"/>
                  </a:ext>
                </a:extLst>
              </a:tr>
              <a:tr h="47460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&lt;=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小于等于</a:t>
                      </a:r>
                      <a:endParaRPr lang="en-US" sz="2100" dirty="0">
                        <a:effectLst/>
                      </a:endParaRP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100" dirty="0">
                          <a:effectLst/>
                        </a:rPr>
                        <a:t>(a &lt;= b) </a:t>
                      </a:r>
                      <a:r>
                        <a:rPr lang="zh-CN" altLang="en-US" sz="2100" dirty="0">
                          <a:effectLst/>
                        </a:rPr>
                        <a:t>返回 </a:t>
                      </a:r>
                      <a:r>
                        <a:rPr lang="en-US" sz="2100" dirty="0">
                          <a:effectLst/>
                        </a:rPr>
                        <a:t>true</a:t>
                      </a:r>
                    </a:p>
                  </a:txBody>
                  <a:tcPr marL="53388" marR="53388" marT="74743" marB="74743" anchor="ctr"/>
                </a:tc>
                <a:extLst>
                  <a:ext uri="{0D108BD9-81ED-4DB2-BD59-A6C34878D82A}">
                    <a16:rowId xmlns:a16="http://schemas.microsoft.com/office/drawing/2014/main" val="2021758900"/>
                  </a:ext>
                </a:extLst>
              </a:tr>
            </a:tbl>
          </a:graphicData>
        </a:graphic>
      </p:graphicFrame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C2AC1A2-6EC1-4167-BE5B-21A211AE1FF6}"/>
              </a:ext>
            </a:extLst>
          </p:cNvPr>
          <p:cNvSpPr txBox="1">
            <a:spLocks/>
          </p:cNvSpPr>
          <p:nvPr/>
        </p:nvSpPr>
        <p:spPr bwMode="auto">
          <a:xfrm>
            <a:off x="6096002" y="4579447"/>
            <a:ext cx="5088565" cy="172819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91015" indent="0" algn="just" eaLnBrk="1" hangingPunct="1">
              <a:buNone/>
            </a:pPr>
            <a:r>
              <a:rPr lang="en-US" altLang="zh-CN" sz="1867" b="1" dirty="0"/>
              <a:t>&gt;&gt;&gt; "a" &gt;"A"</a:t>
            </a:r>
          </a:p>
          <a:p>
            <a:pPr marL="91015" indent="0" algn="just" eaLnBrk="1" hangingPunct="1">
              <a:buNone/>
            </a:pPr>
            <a:r>
              <a:rPr lang="en-US" altLang="zh-CN" sz="1867" b="1" dirty="0"/>
              <a:t>True</a:t>
            </a:r>
          </a:p>
          <a:p>
            <a:pPr marL="91015" indent="0" algn="just" eaLnBrk="1" hangingPunct="1">
              <a:buNone/>
            </a:pPr>
            <a:r>
              <a:rPr lang="en-US" altLang="zh-CN" sz="1867" b="1" dirty="0"/>
              <a:t>&gt;&gt;&gt;1.2-1.0==0.2</a:t>
            </a:r>
          </a:p>
          <a:p>
            <a:pPr marL="91015" indent="0" algn="just" eaLnBrk="1" hangingPunct="1">
              <a:buNone/>
            </a:pPr>
            <a:r>
              <a:rPr lang="en-US" altLang="zh-CN" sz="1867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D7F6020-04C4-4B24-8B49-C0F5908DA4A2}"/>
              </a:ext>
            </a:extLst>
          </p:cNvPr>
          <p:cNvSpPr txBox="1">
            <a:spLocks/>
          </p:cNvSpPr>
          <p:nvPr/>
        </p:nvSpPr>
        <p:spPr bwMode="auto">
          <a:xfrm>
            <a:off x="911424" y="4377636"/>
            <a:ext cx="3840427" cy="192021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91015" indent="0" algn="just" eaLnBrk="1" hangingPunct="1">
              <a:buNone/>
            </a:pPr>
            <a:r>
              <a:rPr lang="en-US" altLang="zh-CN" sz="2400" b="1" dirty="0"/>
              <a:t>&gt;&gt;&gt; a=1</a:t>
            </a:r>
          </a:p>
          <a:p>
            <a:pPr marL="91015" indent="0" algn="just" eaLnBrk="1" hangingPunct="1">
              <a:buNone/>
            </a:pPr>
            <a:r>
              <a:rPr lang="en-US" altLang="zh-CN" sz="2400" b="1" dirty="0"/>
              <a:t>&gt;&gt;&gt; b=2</a:t>
            </a:r>
          </a:p>
          <a:p>
            <a:pPr marL="91015" indent="0" algn="just" eaLnBrk="1" hangingPunct="1">
              <a:buNone/>
            </a:pPr>
            <a:r>
              <a:rPr lang="en-US" altLang="zh-CN" sz="2400" b="1" dirty="0"/>
              <a:t>&gt;&gt;&gt; a&gt;b</a:t>
            </a:r>
          </a:p>
          <a:p>
            <a:pPr marL="91015" indent="0" algn="just" eaLnBrk="1" hangingPunct="1">
              <a:buNone/>
            </a:pPr>
            <a:r>
              <a:rPr lang="en-US" altLang="zh-CN" sz="2400" b="1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40357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6"/>
          <p:cNvSpPr>
            <a:spLocks noChangeArrowheads="1"/>
          </p:cNvSpPr>
          <p:nvPr/>
        </p:nvSpPr>
        <p:spPr bwMode="auto">
          <a:xfrm>
            <a:off x="1" y="-2308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532" y="253300"/>
            <a:ext cx="5568619" cy="660697"/>
          </a:xfrm>
        </p:spPr>
        <p:txBody>
          <a:bodyPr/>
          <a:lstStyle/>
          <a:p>
            <a:r>
              <a:rPr lang="zh-CN" altLang="en-US" sz="3200" dirty="0"/>
              <a:t>逻辑运算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59193" y="1045198"/>
          <a:ext cx="9726362" cy="188740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2956060744"/>
                    </a:ext>
                  </a:extLst>
                </a:gridCol>
                <a:gridCol w="3610001">
                  <a:extLst>
                    <a:ext uri="{9D8B030D-6E8A-4147-A177-3AD203B41FA5}">
                      <a16:colId xmlns:a16="http://schemas.microsoft.com/office/drawing/2014/main" val="3975135948"/>
                    </a:ext>
                  </a:extLst>
                </a:gridCol>
                <a:gridCol w="3812105">
                  <a:extLst>
                    <a:ext uri="{9D8B030D-6E8A-4147-A177-3AD203B41FA5}">
                      <a16:colId xmlns:a16="http://schemas.microsoft.com/office/drawing/2014/main" val="1471736549"/>
                    </a:ext>
                  </a:extLst>
                </a:gridCol>
              </a:tblGrid>
              <a:tr h="463589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逻辑运算符</a:t>
                      </a:r>
                      <a:endParaRPr lang="zh-CN" altLang="en-US" sz="21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2032" marR="32032" marT="32032" marB="320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描述</a:t>
                      </a:r>
                      <a:endParaRPr lang="zh-CN" altLang="en-US" sz="21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2032" marR="32032" marT="32032" marB="320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实例</a:t>
                      </a:r>
                      <a:endParaRPr lang="zh-CN" altLang="en-US" sz="21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2032" marR="32032" marT="32032" marB="320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061599"/>
                  </a:ext>
                </a:extLst>
              </a:tr>
              <a:tr h="47460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not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取反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100" baseline="0" dirty="0">
                          <a:effectLst/>
                        </a:rPr>
                        <a:t>not True</a:t>
                      </a:r>
                      <a:endParaRPr lang="en-US" sz="2100" dirty="0">
                        <a:effectLst/>
                      </a:endParaRPr>
                    </a:p>
                  </a:txBody>
                  <a:tcPr marL="53388" marR="53388" marT="74743" marB="74743" anchor="ctr"/>
                </a:tc>
                <a:extLst>
                  <a:ext uri="{0D108BD9-81ED-4DB2-BD59-A6C34878D82A}">
                    <a16:rowId xmlns:a16="http://schemas.microsoft.com/office/drawing/2014/main" val="923885999"/>
                  </a:ext>
                </a:extLst>
              </a:tr>
              <a:tr h="474605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>
                          <a:effectLst/>
                        </a:rPr>
                        <a:t>and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与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100" dirty="0">
                          <a:effectLst/>
                        </a:rPr>
                        <a:t>True and True</a:t>
                      </a:r>
                    </a:p>
                  </a:txBody>
                  <a:tcPr marL="53388" marR="53388" marT="74743" marB="74743" anchor="ctr"/>
                </a:tc>
                <a:extLst>
                  <a:ext uri="{0D108BD9-81ED-4DB2-BD59-A6C34878D82A}">
                    <a16:rowId xmlns:a16="http://schemas.microsoft.com/office/drawing/2014/main" val="4171813621"/>
                  </a:ext>
                </a:extLst>
              </a:tr>
              <a:tr h="47460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or</a:t>
                      </a: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或</a:t>
                      </a:r>
                      <a:endParaRPr lang="en-US" sz="2100" dirty="0">
                        <a:effectLst/>
                      </a:endParaRPr>
                    </a:p>
                  </a:txBody>
                  <a:tcPr marL="53388" marR="53388" marT="74743" marB="74743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100" dirty="0">
                          <a:effectLst/>
                        </a:rPr>
                        <a:t>False or F</a:t>
                      </a:r>
                      <a:r>
                        <a:rPr lang="en-US" altLang="zh-CN" sz="2100" dirty="0">
                          <a:effectLst/>
                        </a:rPr>
                        <a:t>alse</a:t>
                      </a:r>
                      <a:endParaRPr lang="en-US" sz="2100" dirty="0">
                        <a:effectLst/>
                      </a:endParaRPr>
                    </a:p>
                  </a:txBody>
                  <a:tcPr marL="53388" marR="53388" marT="74743" marB="74743" anchor="ctr"/>
                </a:tc>
                <a:extLst>
                  <a:ext uri="{0D108BD9-81ED-4DB2-BD59-A6C34878D82A}">
                    <a16:rowId xmlns:a16="http://schemas.microsoft.com/office/drawing/2014/main" val="3801707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59194" y="4521674"/>
          <a:ext cx="9853297" cy="187046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267969">
                  <a:extLst>
                    <a:ext uri="{9D8B030D-6E8A-4147-A177-3AD203B41FA5}">
                      <a16:colId xmlns:a16="http://schemas.microsoft.com/office/drawing/2014/main" val="640647881"/>
                    </a:ext>
                  </a:extLst>
                </a:gridCol>
                <a:gridCol w="3672291">
                  <a:extLst>
                    <a:ext uri="{9D8B030D-6E8A-4147-A177-3AD203B41FA5}">
                      <a16:colId xmlns:a16="http://schemas.microsoft.com/office/drawing/2014/main" val="472298858"/>
                    </a:ext>
                  </a:extLst>
                </a:gridCol>
                <a:gridCol w="3913037">
                  <a:extLst>
                    <a:ext uri="{9D8B030D-6E8A-4147-A177-3AD203B41FA5}">
                      <a16:colId xmlns:a16="http://schemas.microsoft.com/office/drawing/2014/main" val="1733037329"/>
                    </a:ext>
                  </a:extLst>
                </a:gridCol>
              </a:tblGrid>
              <a:tr h="539508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成员运算符</a:t>
                      </a:r>
                      <a:endParaRPr lang="zh-CN" altLang="en-US" sz="21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描述</a:t>
                      </a:r>
                      <a:endParaRPr lang="zh-CN" altLang="en-US" sz="21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实例</a:t>
                      </a:r>
                      <a:endParaRPr lang="zh-CN" altLang="en-US" sz="21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70224"/>
                  </a:ext>
                </a:extLst>
              </a:tr>
              <a:tr h="8280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100" dirty="0">
                          <a:effectLst/>
                        </a:rPr>
                        <a:t>in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是否在指定的序列中</a:t>
                      </a:r>
                      <a:endParaRPr lang="en-US" sz="2100" dirty="0">
                        <a:effectLst/>
                      </a:endParaRP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a-DK" altLang="zh-CN" sz="2100" kern="1200" dirty="0">
                          <a:effectLst/>
                        </a:rPr>
                        <a:t>list = [1, 2, 3, 4, 5 ]</a:t>
                      </a:r>
                    </a:p>
                    <a:p>
                      <a:pPr algn="ctr" fontAlgn="t"/>
                      <a:r>
                        <a:rPr lang="en-US" sz="2100" kern="1200" dirty="0">
                          <a:effectLst/>
                        </a:rPr>
                        <a:t>If</a:t>
                      </a:r>
                      <a:r>
                        <a:rPr lang="en-US" sz="2100" kern="1200" baseline="0" dirty="0">
                          <a:effectLst/>
                        </a:rPr>
                        <a:t>  a  in list:</a:t>
                      </a:r>
                      <a:endParaRPr lang="en-US" sz="2100" dirty="0">
                        <a:effectLst/>
                      </a:endParaRP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167031993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100" dirty="0">
                          <a:effectLst/>
                        </a:rPr>
                        <a:t>not in</a:t>
                      </a: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是否不在指定的序列中</a:t>
                      </a:r>
                      <a:endParaRPr lang="en-US" sz="2100" dirty="0">
                        <a:effectLst/>
                      </a:endParaRPr>
                    </a:p>
                  </a:txBody>
                  <a:tcPr marL="63500" marR="635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kern="1200" dirty="0">
                          <a:effectLst/>
                        </a:rPr>
                        <a:t>If</a:t>
                      </a:r>
                      <a:r>
                        <a:rPr lang="en-US" altLang="zh-CN" sz="2100" kern="1200" baseline="0" dirty="0">
                          <a:effectLst/>
                        </a:rPr>
                        <a:t>  a  not in list:</a:t>
                      </a:r>
                      <a:endParaRPr lang="en-US" altLang="zh-CN" sz="2100" dirty="0">
                        <a:effectLst/>
                      </a:endParaRPr>
                    </a:p>
                  </a:txBody>
                  <a:tcPr marL="63500" marR="63500" marT="88900" marB="88900" anchor="ctr"/>
                </a:tc>
                <a:extLst>
                  <a:ext uri="{0D108BD9-81ED-4DB2-BD59-A6C34878D82A}">
                    <a16:rowId xmlns:a16="http://schemas.microsoft.com/office/drawing/2014/main" val="381413855"/>
                  </a:ext>
                </a:extLst>
              </a:tr>
            </a:tbl>
          </a:graphicData>
        </a:graphic>
      </p:graphicFrame>
      <p:sp>
        <p:nvSpPr>
          <p:cNvPr id="6" name="标题 1"/>
          <p:cNvSpPr txBox="1">
            <a:spLocks/>
          </p:cNvSpPr>
          <p:nvPr/>
        </p:nvSpPr>
        <p:spPr bwMode="auto">
          <a:xfrm>
            <a:off x="659195" y="3819956"/>
            <a:ext cx="5568619" cy="660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kern="0" dirty="0"/>
              <a:t>成员运算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659194" y="2858198"/>
            <a:ext cx="7389383" cy="508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sz="2400" b="0" kern="0" dirty="0">
                <a:solidFill>
                  <a:schemeClr val="tx1"/>
                </a:solidFill>
              </a:rPr>
              <a:t>注意：</a:t>
            </a:r>
            <a:r>
              <a:rPr lang="en-US" altLang="zh-CN" sz="2400" b="0" kern="0" dirty="0">
                <a:solidFill>
                  <a:schemeClr val="tx1"/>
                </a:solidFill>
              </a:rPr>
              <a:t>1&lt;x&lt;10   </a:t>
            </a:r>
            <a:r>
              <a:rPr lang="zh-CN" altLang="en-US" sz="2400" b="0" kern="0" dirty="0">
                <a:solidFill>
                  <a:schemeClr val="tx1"/>
                </a:solidFill>
              </a:rPr>
              <a:t>等同于  </a:t>
            </a:r>
            <a:r>
              <a:rPr lang="en-US" altLang="zh-CN" sz="2400" b="0" kern="0" dirty="0">
                <a:solidFill>
                  <a:schemeClr val="tx1"/>
                </a:solidFill>
              </a:rPr>
              <a:t>x&gt;1  and  x&lt;10</a:t>
            </a:r>
            <a:endParaRPr lang="zh-CN" altLang="en-US" sz="2400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68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6"/>
          <p:cNvSpPr>
            <a:spLocks noChangeArrowheads="1"/>
          </p:cNvSpPr>
          <p:nvPr/>
        </p:nvSpPr>
        <p:spPr bwMode="auto">
          <a:xfrm>
            <a:off x="1" y="-2308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381" y="548681"/>
            <a:ext cx="11034184" cy="660697"/>
          </a:xfrm>
        </p:spPr>
        <p:txBody>
          <a:bodyPr/>
          <a:lstStyle/>
          <a:p>
            <a:r>
              <a:rPr lang="zh-CN" altLang="en-US" sz="3200" dirty="0"/>
              <a:t>运算优先级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27381" y="1316765"/>
          <a:ext cx="5184576" cy="472348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268980">
                  <a:extLst>
                    <a:ext uri="{9D8B030D-6E8A-4147-A177-3AD203B41FA5}">
                      <a16:colId xmlns:a16="http://schemas.microsoft.com/office/drawing/2014/main" val="2557003084"/>
                    </a:ext>
                  </a:extLst>
                </a:gridCol>
                <a:gridCol w="1274845">
                  <a:extLst>
                    <a:ext uri="{9D8B030D-6E8A-4147-A177-3AD203B41FA5}">
                      <a16:colId xmlns:a16="http://schemas.microsoft.com/office/drawing/2014/main" val="3464240817"/>
                    </a:ext>
                  </a:extLst>
                </a:gridCol>
                <a:gridCol w="2640751">
                  <a:extLst>
                    <a:ext uri="{9D8B030D-6E8A-4147-A177-3AD203B41FA5}">
                      <a16:colId xmlns:a16="http://schemas.microsoft.com/office/drawing/2014/main" val="3276812241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优先级</a:t>
                      </a:r>
                      <a:endParaRPr lang="zh-CN" altLang="en-US" sz="21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23229" marR="23229" marT="23229" marB="2322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运算符</a:t>
                      </a:r>
                      <a:endParaRPr lang="zh-CN" altLang="en-US" sz="21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23229" marR="23229" marT="23229" marB="2322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描述</a:t>
                      </a:r>
                      <a:endParaRPr lang="zh-CN" altLang="en-US" sz="21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23229" marR="23229" marT="23229" marB="2322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95556"/>
                  </a:ext>
                </a:extLst>
              </a:tr>
              <a:tr h="43352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1</a:t>
                      </a:r>
                      <a:endParaRPr lang="zh-CN" altLang="en-US" sz="2100" dirty="0">
                        <a:effectLst/>
                      </a:endParaRP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**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幂运算</a:t>
                      </a:r>
                      <a:endParaRPr lang="en-US" altLang="zh-CN" sz="2100" dirty="0">
                        <a:effectLst/>
                      </a:endParaRPr>
                    </a:p>
                  </a:txBody>
                  <a:tcPr marL="38715" marR="38715" marT="54200" marB="54200" anchor="ctr"/>
                </a:tc>
                <a:extLst>
                  <a:ext uri="{0D108BD9-81ED-4DB2-BD59-A6C34878D82A}">
                    <a16:rowId xmlns:a16="http://schemas.microsoft.com/office/drawing/2014/main" val="3199770924"/>
                  </a:ext>
                </a:extLst>
              </a:tr>
              <a:tr h="7586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2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~ </a:t>
                      </a:r>
                    </a:p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+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-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按位取反</a:t>
                      </a:r>
                      <a:endParaRPr lang="en-US" altLang="zh-CN" sz="2100" dirty="0">
                        <a:effectLst/>
                      </a:endParaRPr>
                    </a:p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正、负</a:t>
                      </a:r>
                      <a:endParaRPr lang="en-US" altLang="zh-CN" sz="2100" dirty="0">
                        <a:effectLst/>
                      </a:endParaRPr>
                    </a:p>
                  </a:txBody>
                  <a:tcPr marL="38715" marR="38715" marT="54200" marB="54200" anchor="ctr"/>
                </a:tc>
                <a:extLst>
                  <a:ext uri="{0D108BD9-81ED-4DB2-BD59-A6C34878D82A}">
                    <a16:rowId xmlns:a16="http://schemas.microsoft.com/office/drawing/2014/main" val="4140628306"/>
                  </a:ext>
                </a:extLst>
              </a:tr>
              <a:tr h="7586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3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*、</a:t>
                      </a:r>
                      <a:r>
                        <a:rPr lang="en-US" altLang="zh-CN" sz="2100" dirty="0">
                          <a:effectLst/>
                        </a:rPr>
                        <a:t>/</a:t>
                      </a:r>
                    </a:p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 %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//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乘，除</a:t>
                      </a:r>
                      <a:endParaRPr lang="en-US" altLang="zh-CN" sz="2100" dirty="0">
                        <a:effectLst/>
                      </a:endParaRPr>
                    </a:p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取余、整除</a:t>
                      </a:r>
                    </a:p>
                  </a:txBody>
                  <a:tcPr marL="38715" marR="38715" marT="54200" marB="54200" anchor="ctr"/>
                </a:tc>
                <a:extLst>
                  <a:ext uri="{0D108BD9-81ED-4DB2-BD59-A6C34878D82A}">
                    <a16:rowId xmlns:a16="http://schemas.microsoft.com/office/drawing/2014/main" val="829740210"/>
                  </a:ext>
                </a:extLst>
              </a:tr>
              <a:tr h="43352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4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+ 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-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加法、减法</a:t>
                      </a:r>
                    </a:p>
                  </a:txBody>
                  <a:tcPr marL="38715" marR="38715" marT="54200" marB="54200" anchor="ctr"/>
                </a:tc>
                <a:extLst>
                  <a:ext uri="{0D108BD9-81ED-4DB2-BD59-A6C34878D82A}">
                    <a16:rowId xmlns:a16="http://schemas.microsoft.com/office/drawing/2014/main" val="3288693757"/>
                  </a:ext>
                </a:extLst>
              </a:tr>
              <a:tr h="89605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5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&gt;&gt; 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&lt;&lt;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右移，左移</a:t>
                      </a:r>
                    </a:p>
                  </a:txBody>
                  <a:tcPr marL="38715" marR="38715" marT="54200" marB="54200" anchor="ctr"/>
                </a:tc>
                <a:extLst>
                  <a:ext uri="{0D108BD9-81ED-4DB2-BD59-A6C34878D82A}">
                    <a16:rowId xmlns:a16="http://schemas.microsoft.com/office/drawing/2014/main" val="2636609544"/>
                  </a:ext>
                </a:extLst>
              </a:tr>
              <a:tr h="43352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6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&amp;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按位与</a:t>
                      </a:r>
                      <a:endParaRPr lang="en-US" sz="2100" dirty="0">
                        <a:effectLst/>
                      </a:endParaRPr>
                    </a:p>
                  </a:txBody>
                  <a:tcPr marL="38715" marR="38715" marT="54200" marB="54200" anchor="ctr"/>
                </a:tc>
                <a:extLst>
                  <a:ext uri="{0D108BD9-81ED-4DB2-BD59-A6C34878D82A}">
                    <a16:rowId xmlns:a16="http://schemas.microsoft.com/office/drawing/2014/main" val="2997285581"/>
                  </a:ext>
                </a:extLst>
              </a:tr>
              <a:tr h="43352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7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^ 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|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按位异或、按位或</a:t>
                      </a:r>
                    </a:p>
                  </a:txBody>
                  <a:tcPr marL="38715" marR="38715" marT="54200" marB="54200" anchor="ctr"/>
                </a:tc>
                <a:extLst>
                  <a:ext uri="{0D108BD9-81ED-4DB2-BD59-A6C34878D82A}">
                    <a16:rowId xmlns:a16="http://schemas.microsoft.com/office/drawing/2014/main" val="2476517899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096000" y="1316766"/>
          <a:ext cx="5472609" cy="47234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05475">
                  <a:extLst>
                    <a:ext uri="{9D8B030D-6E8A-4147-A177-3AD203B41FA5}">
                      <a16:colId xmlns:a16="http://schemas.microsoft.com/office/drawing/2014/main" val="674314876"/>
                    </a:ext>
                  </a:extLst>
                </a:gridCol>
                <a:gridCol w="2542931">
                  <a:extLst>
                    <a:ext uri="{9D8B030D-6E8A-4147-A177-3AD203B41FA5}">
                      <a16:colId xmlns:a16="http://schemas.microsoft.com/office/drawing/2014/main" val="421300761"/>
                    </a:ext>
                  </a:extLst>
                </a:gridCol>
                <a:gridCol w="1824203">
                  <a:extLst>
                    <a:ext uri="{9D8B030D-6E8A-4147-A177-3AD203B41FA5}">
                      <a16:colId xmlns:a16="http://schemas.microsoft.com/office/drawing/2014/main" val="2277607284"/>
                    </a:ext>
                  </a:extLst>
                </a:gridCol>
              </a:tblGrid>
              <a:tr h="654421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优先级</a:t>
                      </a:r>
                      <a:endParaRPr lang="en-US" altLang="zh-CN" sz="2100" dirty="0">
                        <a:effectLst/>
                      </a:endParaRPr>
                    </a:p>
                  </a:txBody>
                  <a:tcPr marL="38715" marR="38715" marT="54200" marB="54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运算符</a:t>
                      </a:r>
                      <a:endParaRPr lang="en-US" altLang="zh-CN" sz="2100" dirty="0">
                        <a:effectLst/>
                      </a:endParaRPr>
                    </a:p>
                  </a:txBody>
                  <a:tcPr marL="38715" marR="38715" marT="54200" marB="54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描述</a:t>
                      </a:r>
                    </a:p>
                  </a:txBody>
                  <a:tcPr marL="38715" marR="38715" marT="54200" marB="54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380015"/>
                  </a:ext>
                </a:extLst>
              </a:tr>
              <a:tr h="803804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8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&lt;=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&lt;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&gt;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&gt;=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>
                          <a:effectLst/>
                        </a:rPr>
                        <a:t>==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!=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比较</a:t>
                      </a:r>
                    </a:p>
                  </a:txBody>
                  <a:tcPr marL="38715" marR="38715" marT="54200" marB="54200" anchor="ctr"/>
                </a:tc>
                <a:extLst>
                  <a:ext uri="{0D108BD9-81ED-4DB2-BD59-A6C34878D82A}">
                    <a16:rowId xmlns:a16="http://schemas.microsoft.com/office/drawing/2014/main" val="2280209689"/>
                  </a:ext>
                </a:extLst>
              </a:tr>
              <a:tr h="986804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9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=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%=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/=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//=</a:t>
                      </a:r>
                    </a:p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-=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+=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*=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altLang="zh-CN" sz="2100" dirty="0">
                          <a:effectLst/>
                        </a:rPr>
                        <a:t>**=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赋值</a:t>
                      </a:r>
                      <a:endParaRPr lang="en-US" altLang="zh-CN" sz="2100" dirty="0">
                        <a:effectLst/>
                      </a:endParaRPr>
                    </a:p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复合赋值</a:t>
                      </a:r>
                    </a:p>
                  </a:txBody>
                  <a:tcPr marL="38715" marR="38715" marT="54200" marB="54200" anchor="ctr"/>
                </a:tc>
                <a:extLst>
                  <a:ext uri="{0D108BD9-81ED-4DB2-BD59-A6C34878D82A}">
                    <a16:rowId xmlns:a16="http://schemas.microsoft.com/office/drawing/2014/main" val="104287202"/>
                  </a:ext>
                </a:extLst>
              </a:tr>
              <a:tr h="70849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10</a:t>
                      </a:r>
                      <a:endParaRPr lang="en-US" sz="2100" dirty="0">
                        <a:effectLst/>
                      </a:endParaRP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i</a:t>
                      </a:r>
                      <a:r>
                        <a:rPr lang="en-US" sz="2100" dirty="0">
                          <a:effectLst/>
                        </a:rPr>
                        <a:t>s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sz="2100" dirty="0">
                          <a:effectLst/>
                        </a:rPr>
                        <a:t>is not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身份运算</a:t>
                      </a:r>
                    </a:p>
                  </a:txBody>
                  <a:tcPr marL="38715" marR="38715" marT="54200" marB="54200" anchor="ctr"/>
                </a:tc>
                <a:extLst>
                  <a:ext uri="{0D108BD9-81ED-4DB2-BD59-A6C34878D82A}">
                    <a16:rowId xmlns:a16="http://schemas.microsoft.com/office/drawing/2014/main" val="1603395186"/>
                  </a:ext>
                </a:extLst>
              </a:tr>
              <a:tr h="91553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11</a:t>
                      </a:r>
                      <a:endParaRPr lang="en-US" sz="2100" dirty="0">
                        <a:effectLst/>
                      </a:endParaRP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100" dirty="0">
                          <a:effectLst/>
                        </a:rPr>
                        <a:t>In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sz="2100" dirty="0">
                          <a:effectLst/>
                        </a:rPr>
                        <a:t>not in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成员运算</a:t>
                      </a:r>
                    </a:p>
                  </a:txBody>
                  <a:tcPr marL="38715" marR="38715" marT="54200" marB="54200" anchor="ctr"/>
                </a:tc>
                <a:extLst>
                  <a:ext uri="{0D108BD9-81ED-4DB2-BD59-A6C34878D82A}">
                    <a16:rowId xmlns:a16="http://schemas.microsoft.com/office/drawing/2014/main" val="3272871088"/>
                  </a:ext>
                </a:extLst>
              </a:tr>
              <a:tr h="654421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12</a:t>
                      </a:r>
                      <a:endParaRPr lang="en-US" sz="2100" dirty="0">
                        <a:effectLst/>
                      </a:endParaRP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100" dirty="0">
                          <a:effectLst/>
                        </a:rPr>
                        <a:t>n</a:t>
                      </a:r>
                      <a:r>
                        <a:rPr lang="en-US" sz="2100" dirty="0">
                          <a:effectLst/>
                        </a:rPr>
                        <a:t>ot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sz="2100" dirty="0">
                          <a:effectLst/>
                        </a:rPr>
                        <a:t>and</a:t>
                      </a:r>
                      <a:r>
                        <a:rPr lang="zh-CN" altLang="en-US" sz="2100" dirty="0">
                          <a:effectLst/>
                        </a:rPr>
                        <a:t>、</a:t>
                      </a:r>
                      <a:r>
                        <a:rPr lang="en-US" sz="2100" dirty="0">
                          <a:effectLst/>
                        </a:rPr>
                        <a:t>or</a:t>
                      </a:r>
                    </a:p>
                  </a:txBody>
                  <a:tcPr marL="38715" marR="38715" marT="54200" marB="54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100" dirty="0">
                          <a:effectLst/>
                        </a:rPr>
                        <a:t>逻辑运算</a:t>
                      </a:r>
                    </a:p>
                  </a:txBody>
                  <a:tcPr marL="38715" marR="38715" marT="54200" marB="54200" anchor="ctr"/>
                </a:tc>
                <a:extLst>
                  <a:ext uri="{0D108BD9-81ED-4DB2-BD59-A6C34878D82A}">
                    <a16:rowId xmlns:a16="http://schemas.microsoft.com/office/drawing/2014/main" val="3690368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87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5541" y="260649"/>
            <a:ext cx="11034184" cy="867833"/>
          </a:xfrm>
        </p:spPr>
        <p:txBody>
          <a:bodyPr/>
          <a:lstStyle/>
          <a:p>
            <a:r>
              <a:rPr lang="zh-CN" altLang="en-US" sz="3200" dirty="0"/>
              <a:t>随机数控制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1969" y="1316765"/>
            <a:ext cx="11057467" cy="182420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sz="2667" dirty="0">
                <a:solidFill>
                  <a:schemeClr val="tx1"/>
                </a:solidFill>
              </a:rPr>
              <a:t>import random</a:t>
            </a:r>
          </a:p>
          <a:p>
            <a:r>
              <a:rPr lang="en-US" altLang="zh-CN" sz="2667" dirty="0">
                <a:solidFill>
                  <a:schemeClr val="tx1"/>
                </a:solidFill>
              </a:rPr>
              <a:t>x=</a:t>
            </a:r>
            <a:r>
              <a:rPr lang="en-US" altLang="zh-CN" sz="2667" dirty="0" err="1">
                <a:solidFill>
                  <a:schemeClr val="tx1"/>
                </a:solidFill>
              </a:rPr>
              <a:t>random.random</a:t>
            </a:r>
            <a:r>
              <a:rPr lang="en-US" altLang="zh-CN" sz="2667" dirty="0">
                <a:solidFill>
                  <a:schemeClr val="tx1"/>
                </a:solidFill>
              </a:rPr>
              <a:t>()            </a:t>
            </a:r>
            <a:r>
              <a:rPr lang="zh-CN" altLang="en-US" sz="2133" dirty="0">
                <a:solidFill>
                  <a:schemeClr val="tx1"/>
                </a:solidFill>
              </a:rPr>
              <a:t>返回 </a:t>
            </a:r>
            <a:r>
              <a:rPr lang="en-US" altLang="zh-CN" sz="2133" dirty="0">
                <a:solidFill>
                  <a:srgbClr val="C00000"/>
                </a:solidFill>
              </a:rPr>
              <a:t>[</a:t>
            </a:r>
            <a:r>
              <a:rPr lang="en-US" altLang="zh-CN" sz="2133" dirty="0">
                <a:solidFill>
                  <a:schemeClr val="tx1"/>
                </a:solidFill>
              </a:rPr>
              <a:t>0.0, 1.0</a:t>
            </a:r>
            <a:r>
              <a:rPr lang="en-US" altLang="zh-CN" sz="2133" dirty="0">
                <a:solidFill>
                  <a:srgbClr val="C00000"/>
                </a:solidFill>
              </a:rPr>
              <a:t>)</a:t>
            </a:r>
            <a:r>
              <a:rPr lang="en-US" altLang="zh-CN" sz="2133" dirty="0">
                <a:solidFill>
                  <a:schemeClr val="tx1"/>
                </a:solidFill>
              </a:rPr>
              <a:t> </a:t>
            </a:r>
            <a:r>
              <a:rPr lang="zh-CN" altLang="en-US" sz="2133" dirty="0">
                <a:solidFill>
                  <a:schemeClr val="tx1"/>
                </a:solidFill>
              </a:rPr>
              <a:t>之间的浮点数</a:t>
            </a:r>
            <a:endParaRPr lang="en-US" altLang="zh-CN" sz="2133" dirty="0">
              <a:solidFill>
                <a:schemeClr val="tx1"/>
              </a:solidFill>
            </a:endParaRPr>
          </a:p>
          <a:p>
            <a:r>
              <a:rPr lang="en-US" altLang="zh-CN" sz="2667" dirty="0">
                <a:solidFill>
                  <a:schemeClr val="tx1"/>
                </a:solidFill>
              </a:rPr>
              <a:t>y=</a:t>
            </a:r>
            <a:r>
              <a:rPr lang="en-US" altLang="zh-CN" sz="2667" dirty="0" err="1">
                <a:solidFill>
                  <a:schemeClr val="tx1"/>
                </a:solidFill>
              </a:rPr>
              <a:t>random.randint</a:t>
            </a:r>
            <a:r>
              <a:rPr lang="zh-CN" altLang="en-US" sz="2667" dirty="0">
                <a:solidFill>
                  <a:schemeClr val="tx1"/>
                </a:solidFill>
              </a:rPr>
              <a:t>（</a:t>
            </a:r>
            <a:r>
              <a:rPr lang="en-US" altLang="zh-CN" sz="2667" dirty="0" err="1">
                <a:solidFill>
                  <a:schemeClr val="tx1"/>
                </a:solidFill>
              </a:rPr>
              <a:t>a,b</a:t>
            </a:r>
            <a:r>
              <a:rPr lang="zh-CN" altLang="en-US" sz="2667" dirty="0">
                <a:solidFill>
                  <a:schemeClr val="tx1"/>
                </a:solidFill>
              </a:rPr>
              <a:t>）</a:t>
            </a:r>
            <a:r>
              <a:rPr lang="en-US" altLang="zh-CN" sz="2133" dirty="0">
                <a:solidFill>
                  <a:schemeClr val="tx1"/>
                </a:solidFill>
              </a:rPr>
              <a:t>    </a:t>
            </a:r>
            <a:r>
              <a:rPr lang="zh-CN" altLang="en-US" sz="2133" dirty="0">
                <a:solidFill>
                  <a:schemeClr val="tx1"/>
                </a:solidFill>
              </a:rPr>
              <a:t>返回 </a:t>
            </a:r>
            <a:r>
              <a:rPr lang="en-US" altLang="zh-CN" sz="2133" dirty="0">
                <a:solidFill>
                  <a:srgbClr val="C00000"/>
                </a:solidFill>
              </a:rPr>
              <a:t>[</a:t>
            </a:r>
            <a:r>
              <a:rPr lang="en-US" altLang="zh-CN" sz="2133" dirty="0">
                <a:solidFill>
                  <a:schemeClr val="tx1"/>
                </a:solidFill>
              </a:rPr>
              <a:t>a, b</a:t>
            </a:r>
            <a:r>
              <a:rPr lang="en-US" altLang="zh-CN" sz="2133" dirty="0">
                <a:solidFill>
                  <a:srgbClr val="C00000"/>
                </a:solidFill>
              </a:rPr>
              <a:t>]</a:t>
            </a:r>
            <a:r>
              <a:rPr lang="en-US" altLang="zh-CN" sz="2133" dirty="0">
                <a:solidFill>
                  <a:schemeClr val="tx1"/>
                </a:solidFill>
              </a:rPr>
              <a:t> </a:t>
            </a:r>
            <a:r>
              <a:rPr lang="zh-CN" altLang="en-US" sz="2133" dirty="0">
                <a:solidFill>
                  <a:schemeClr val="tx1"/>
                </a:solidFill>
              </a:rPr>
              <a:t>之间的整数（包括起始与终止值）</a:t>
            </a:r>
            <a:endParaRPr lang="en-US" altLang="zh-CN" sz="2667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5541" y="3452227"/>
            <a:ext cx="11007128" cy="19389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#</a:t>
            </a:r>
            <a:r>
              <a:rPr lang="zh-CN" altLang="en-US" sz="2400" dirty="0"/>
              <a:t>每次运行产生的随机数序列是不相同的</a:t>
            </a:r>
            <a:endParaRPr lang="en-US" altLang="zh-CN" sz="2400" dirty="0"/>
          </a:p>
          <a:p>
            <a:r>
              <a:rPr lang="zh-CN" altLang="en-US" sz="2400" dirty="0"/>
              <a:t>import  random</a:t>
            </a:r>
          </a:p>
          <a:p>
            <a:r>
              <a:rPr lang="zh-CN" altLang="en-US" sz="2400" dirty="0"/>
              <a:t>random.seed()          </a:t>
            </a:r>
          </a:p>
          <a:p>
            <a:r>
              <a:rPr lang="zh-CN" altLang="en-US" sz="2400" dirty="0"/>
              <a:t>for i in range(10):</a:t>
            </a:r>
          </a:p>
          <a:p>
            <a:r>
              <a:rPr lang="zh-CN" altLang="en-US" sz="2400" dirty="0"/>
              <a:t>    print(random.random())</a:t>
            </a:r>
          </a:p>
        </p:txBody>
      </p:sp>
      <p:sp>
        <p:nvSpPr>
          <p:cNvPr id="6" name="矩形 5"/>
          <p:cNvSpPr/>
          <p:nvPr/>
        </p:nvSpPr>
        <p:spPr>
          <a:xfrm>
            <a:off x="362057" y="5733257"/>
            <a:ext cx="11617291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67" b="1" dirty="0">
                <a:solidFill>
                  <a:srgbClr val="C00000"/>
                </a:solidFill>
              </a:rPr>
              <a:t># </a:t>
            </a:r>
            <a:r>
              <a:rPr lang="zh-CN" altLang="en-US" sz="2667" b="1" dirty="0">
                <a:solidFill>
                  <a:srgbClr val="C00000"/>
                </a:solidFill>
              </a:rPr>
              <a:t>random.seed(</a:t>
            </a:r>
            <a:r>
              <a:rPr lang="en-US" altLang="zh-CN" sz="2667" b="1" dirty="0">
                <a:solidFill>
                  <a:srgbClr val="C00000"/>
                </a:solidFill>
              </a:rPr>
              <a:t>n</a:t>
            </a:r>
            <a:r>
              <a:rPr lang="zh-CN" altLang="en-US" sz="2667" b="1" dirty="0">
                <a:solidFill>
                  <a:srgbClr val="C00000"/>
                </a:solidFill>
              </a:rPr>
              <a:t>)      </a:t>
            </a:r>
            <a:r>
              <a:rPr lang="en-US" altLang="zh-CN" sz="2667" b="1" dirty="0">
                <a:solidFill>
                  <a:srgbClr val="C00000"/>
                </a:solidFill>
              </a:rPr>
              <a:t># n</a:t>
            </a:r>
            <a:r>
              <a:rPr lang="zh-CN" altLang="en-US" sz="2667" b="1" dirty="0">
                <a:solidFill>
                  <a:srgbClr val="C00000"/>
                </a:solidFill>
              </a:rPr>
              <a:t>可以是整数、小数或字符串，每次产生的序列不变     </a:t>
            </a:r>
          </a:p>
        </p:txBody>
      </p:sp>
    </p:spTree>
    <p:extLst>
      <p:ext uri="{BB962C8B-B14F-4D97-AF65-F5344CB8AC3E}">
        <p14:creationId xmlns:p14="http://schemas.microsoft.com/office/powerpoint/2010/main" val="231127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733" dirty="0"/>
              <a:t>输入控制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1133" y="1124744"/>
            <a:ext cx="10679443" cy="2112235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input( )</a:t>
            </a:r>
            <a:r>
              <a:rPr lang="zh-CN" altLang="en-US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en-US" altLang="zh-CN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sz="2667" dirty="0">
                <a:solidFill>
                  <a:srgbClr val="0070C0"/>
                </a:solidFill>
              </a:rPr>
              <a:t>&lt;</a:t>
            </a:r>
            <a:r>
              <a:rPr lang="zh-CN" altLang="en-US" sz="2667" dirty="0">
                <a:solidFill>
                  <a:srgbClr val="0070C0"/>
                </a:solidFill>
              </a:rPr>
              <a:t>变量</a:t>
            </a:r>
            <a:r>
              <a:rPr lang="en-US" altLang="zh-CN" sz="2667" dirty="0">
                <a:solidFill>
                  <a:srgbClr val="0070C0"/>
                </a:solidFill>
              </a:rPr>
              <a:t>&gt;=input(“</a:t>
            </a:r>
            <a:r>
              <a:rPr lang="zh-CN" altLang="en-US" sz="2667" dirty="0">
                <a:solidFill>
                  <a:srgbClr val="0070C0"/>
                </a:solidFill>
              </a:rPr>
              <a:t>提示字符串</a:t>
            </a:r>
            <a:r>
              <a:rPr lang="en-US" altLang="zh-CN" sz="2667" dirty="0">
                <a:solidFill>
                  <a:srgbClr val="0070C0"/>
                </a:solidFill>
              </a:rPr>
              <a:t>”)</a:t>
            </a:r>
          </a:p>
          <a:p>
            <a:pPr marL="0" indent="0">
              <a:buNone/>
            </a:pPr>
            <a:r>
              <a:rPr lang="en-US" altLang="zh-CN" sz="2667" dirty="0"/>
              <a:t>     </a:t>
            </a:r>
            <a:r>
              <a:rPr lang="zh-CN" altLang="en-US" sz="2667" dirty="0">
                <a:solidFill>
                  <a:schemeClr val="tx1"/>
                </a:solidFill>
              </a:rPr>
              <a:t>返回的输入结果是</a:t>
            </a:r>
            <a:r>
              <a:rPr lang="zh-CN" altLang="en-US" sz="2667" b="1" dirty="0">
                <a:solidFill>
                  <a:srgbClr val="FF0000"/>
                </a:solidFill>
              </a:rPr>
              <a:t>字符串</a:t>
            </a:r>
            <a:endParaRPr lang="en-US" altLang="zh-CN" sz="2667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541" y="5157191"/>
            <a:ext cx="3543300" cy="10795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67" y="5157193"/>
            <a:ext cx="3962400" cy="10795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矩形 3"/>
          <p:cNvSpPr/>
          <p:nvPr/>
        </p:nvSpPr>
        <p:spPr>
          <a:xfrm>
            <a:off x="815413" y="3621022"/>
            <a:ext cx="10657184" cy="1134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例如 </a:t>
            </a:r>
            <a:r>
              <a:rPr lang="zh-CN" altLang="en-US" sz="2400" dirty="0">
                <a:cs typeface="Arial" panose="020B0604020202020204" pitchFamily="34" charset="0"/>
              </a:rPr>
              <a:t>：</a:t>
            </a:r>
            <a:r>
              <a:rPr lang="en-US" altLang="zh-CN" sz="2400" dirty="0">
                <a:cs typeface="Arial" panose="020B0604020202020204" pitchFamily="34" charset="0"/>
              </a:rPr>
              <a:t>x=input(‘x=’)              # x</a:t>
            </a:r>
            <a:r>
              <a:rPr lang="zh-CN" altLang="en-US" sz="2400" dirty="0">
                <a:cs typeface="Arial" panose="020B0604020202020204" pitchFamily="34" charset="0"/>
              </a:rPr>
              <a:t>保存的是字符串</a:t>
            </a:r>
            <a:endParaRPr lang="en-US" altLang="zh-CN" sz="2400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cs typeface="Arial" panose="020B0604020202020204" pitchFamily="34" charset="0"/>
              </a:rPr>
              <a:t>           x=float(input (‘x=’))    # x</a:t>
            </a:r>
            <a:r>
              <a:rPr lang="zh-CN" altLang="en-US" sz="2400" dirty="0">
                <a:cs typeface="Arial" panose="020B0604020202020204" pitchFamily="34" charset="0"/>
              </a:rPr>
              <a:t>保存的是转换后的浮点数，若输入字符则报错</a:t>
            </a:r>
            <a:endParaRPr lang="en-US" altLang="zh-CN" sz="2667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500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46816" y="692647"/>
            <a:ext cx="10623669" cy="768085"/>
          </a:xfrm>
          <a:ln>
            <a:noFill/>
          </a:ln>
        </p:spPr>
        <p:txBody>
          <a:bodyPr/>
          <a:lstStyle/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kumimoji="1" lang="en-US" altLang="zh-CN" sz="3733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eval</a:t>
            </a:r>
            <a:r>
              <a:rPr kumimoji="1" lang="zh-CN" altLang="en-US" sz="3733" b="1" dirty="0">
                <a:solidFill>
                  <a:srgbClr val="0070C0"/>
                </a:solidFill>
                <a:cs typeface="Times New Roman" panose="02020603050405020304" pitchFamily="18" charset="0"/>
              </a:rPr>
              <a:t>函数：可读入多个数据，也可以输入表达式</a:t>
            </a:r>
            <a:endParaRPr kumimoji="1" lang="en-US" altLang="zh-CN" sz="3733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00" y="1838422"/>
            <a:ext cx="6632885" cy="168191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44" y="3995077"/>
            <a:ext cx="6644304" cy="1546159"/>
          </a:xfrm>
          <a:prstGeom prst="rect">
            <a:avLst/>
          </a:prstGeom>
        </p:spPr>
      </p:pic>
      <p:sp>
        <p:nvSpPr>
          <p:cNvPr id="10" name="内容占位符 3"/>
          <p:cNvSpPr txBox="1">
            <a:spLocks/>
          </p:cNvSpPr>
          <p:nvPr/>
        </p:nvSpPr>
        <p:spPr bwMode="auto">
          <a:xfrm>
            <a:off x="3407701" y="4960247"/>
            <a:ext cx="3042299" cy="580988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  <a:headEnd/>
            <a:tailEnd/>
          </a:ln>
          <a:effec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kumimoji="1" lang="zh-CN" altLang="en-US" sz="2133" b="1" kern="0" dirty="0">
                <a:solidFill>
                  <a:srgbClr val="0000FF"/>
                </a:solidFill>
                <a:cs typeface="Times New Roman" panose="02020603050405020304" pitchFamily="18" charset="0"/>
              </a:rPr>
              <a:t>输入字符串必须加引号</a:t>
            </a:r>
            <a:endParaRPr kumimoji="1" lang="en-US" altLang="zh-CN" sz="2133" b="1" kern="0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150" y="3392087"/>
            <a:ext cx="4332959" cy="214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50290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772743" y="683624"/>
            <a:ext cx="3691076" cy="717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2767" tIns="61384" rIns="122767" bIns="61384" anchor="b"/>
          <a:lstStyle/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zh-CN" altLang="en-US" sz="32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格式化控制输出</a:t>
            </a:r>
          </a:p>
        </p:txBody>
      </p:sp>
      <p:sp>
        <p:nvSpPr>
          <p:cNvPr id="3" name="AutoShape 44"/>
          <p:cNvSpPr>
            <a:spLocks noChangeArrowheads="1"/>
          </p:cNvSpPr>
          <p:nvPr/>
        </p:nvSpPr>
        <p:spPr bwMode="gray">
          <a:xfrm>
            <a:off x="650976" y="4581129"/>
            <a:ext cx="10917633" cy="1878071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已知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x1=-1.2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x2=-2.5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，输出语句：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spcAft>
                <a:spcPts val="1600"/>
              </a:spcAft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print("x1=%8.3f\nx2=%8.3f"%(x1,x2))	#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输出宽度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位，小数位数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zh-CN" sz="24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x1=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∪∪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-1.200				#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∪表示空一格</a:t>
            </a:r>
          </a:p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x2=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∪∪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-2.500</a:t>
            </a:r>
            <a:endParaRPr lang="zh-CN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28665" y="3044957"/>
            <a:ext cx="11619996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2767" tIns="61384" rIns="122767" bIns="61384" anchor="b"/>
          <a:lstStyle/>
          <a:p>
            <a:r>
              <a:rPr lang="en-US" altLang="zh-CN" sz="2667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</a:t>
            </a:r>
            <a:endParaRPr lang="zh-CN" altLang="zh-CN" sz="240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50975" y="1401051"/>
            <a:ext cx="10533591" cy="1536171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22767" tIns="61384" rIns="122767" bIns="61384" anchor="b"/>
          <a:lstStyle/>
          <a:p>
            <a:r>
              <a:rPr lang="zh-CN" altLang="en-US" sz="26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6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6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zh-CN" sz="26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26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 %  </a:t>
            </a:r>
            <a:r>
              <a:rPr lang="zh-CN" altLang="en-US" sz="26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控制  </a:t>
            </a:r>
            <a:endParaRPr lang="en-US" altLang="zh-CN" sz="2667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格式符常用形式：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% [m][.n]</a:t>
            </a:r>
            <a:r>
              <a:rPr lang="zh-CN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类型符</a:t>
            </a:r>
            <a:endParaRPr lang="en-US" altLang="zh-CN" sz="2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为输出最小宽度</a:t>
            </a:r>
            <a:r>
              <a:rPr lang="zh-CN" altLang="zh-CN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为小数位数</a:t>
            </a:r>
            <a:r>
              <a:rPr lang="zh-CN" altLang="zh-CN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类型符为对应输出数据类型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77209" y="3109906"/>
          <a:ext cx="10465162" cy="11711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5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0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07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94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1101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100" b="0" kern="100" dirty="0">
                          <a:solidFill>
                            <a:srgbClr val="0070C0"/>
                          </a:solidFill>
                          <a:effectLst/>
                        </a:rPr>
                        <a:t>格式符</a:t>
                      </a:r>
                      <a:endParaRPr lang="zh-CN" sz="2100" b="0" kern="1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100" b="0" kern="100" dirty="0">
                          <a:solidFill>
                            <a:srgbClr val="C00000"/>
                          </a:solidFill>
                          <a:effectLst/>
                        </a:rPr>
                        <a:t>%d</a:t>
                      </a:r>
                      <a:endParaRPr lang="zh-CN" sz="2100" b="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100" b="0" kern="100" dirty="0">
                          <a:solidFill>
                            <a:srgbClr val="C00000"/>
                          </a:solidFill>
                          <a:effectLst/>
                        </a:rPr>
                        <a:t>%c</a:t>
                      </a:r>
                      <a:endParaRPr lang="zh-CN" sz="2100" b="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100" b="0" kern="100" dirty="0">
                          <a:solidFill>
                            <a:srgbClr val="C00000"/>
                          </a:solidFill>
                          <a:effectLst/>
                        </a:rPr>
                        <a:t>%s</a:t>
                      </a:r>
                      <a:endParaRPr lang="zh-CN" sz="2100" b="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100" b="0" kern="100" dirty="0">
                          <a:solidFill>
                            <a:srgbClr val="C00000"/>
                          </a:solidFill>
                          <a:effectLst/>
                        </a:rPr>
                        <a:t>%f</a:t>
                      </a:r>
                      <a:r>
                        <a:rPr lang="zh-CN" sz="2100" b="0" kern="100" dirty="0">
                          <a:solidFill>
                            <a:srgbClr val="C00000"/>
                          </a:solidFill>
                          <a:effectLst/>
                        </a:rPr>
                        <a:t>或</a:t>
                      </a:r>
                      <a:r>
                        <a:rPr lang="en-US" altLang="zh-CN" sz="2100" b="0" kern="100" dirty="0">
                          <a:solidFill>
                            <a:srgbClr val="C00000"/>
                          </a:solidFill>
                          <a:effectLst/>
                        </a:rPr>
                        <a:t>%</a:t>
                      </a:r>
                      <a:r>
                        <a:rPr lang="en-US" sz="2100" b="0" kern="100" dirty="0">
                          <a:solidFill>
                            <a:srgbClr val="C00000"/>
                          </a:solidFill>
                          <a:effectLst/>
                        </a:rPr>
                        <a:t>F</a:t>
                      </a:r>
                      <a:endParaRPr lang="zh-CN" sz="2100" b="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100" b="0" kern="100" dirty="0">
                          <a:solidFill>
                            <a:srgbClr val="C00000"/>
                          </a:solidFill>
                          <a:effectLst/>
                        </a:rPr>
                        <a:t>%e</a:t>
                      </a:r>
                      <a:r>
                        <a:rPr lang="zh-CN" sz="2100" b="0" kern="100" dirty="0">
                          <a:solidFill>
                            <a:srgbClr val="C00000"/>
                          </a:solidFill>
                          <a:effectLst/>
                        </a:rPr>
                        <a:t>或</a:t>
                      </a:r>
                      <a:r>
                        <a:rPr lang="en-US" altLang="zh-CN" sz="2100" b="0" kern="100" dirty="0">
                          <a:solidFill>
                            <a:srgbClr val="C00000"/>
                          </a:solidFill>
                          <a:effectLst/>
                        </a:rPr>
                        <a:t>%</a:t>
                      </a:r>
                      <a:r>
                        <a:rPr lang="en-US" sz="2100" b="0" kern="100" dirty="0">
                          <a:solidFill>
                            <a:srgbClr val="C00000"/>
                          </a:solidFill>
                          <a:effectLst/>
                        </a:rPr>
                        <a:t>E</a:t>
                      </a:r>
                      <a:endParaRPr lang="zh-CN" sz="2100" b="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01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100" b="0" kern="100" dirty="0">
                          <a:solidFill>
                            <a:srgbClr val="0070C0"/>
                          </a:solidFill>
                          <a:effectLst/>
                        </a:rPr>
                        <a:t>类型符</a:t>
                      </a:r>
                      <a:endParaRPr lang="zh-CN" sz="2100" b="0" kern="1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100" b="0" kern="10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zh-CN" sz="2100" b="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100" b="0" kern="10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zh-CN" sz="2100" b="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100" b="0" kern="10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zh-CN" sz="2100" b="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100" b="0" kern="10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r>
                        <a:rPr lang="zh-CN" sz="2100" b="0" kern="100" dirty="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100" b="0" kern="10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zh-CN" sz="2100" b="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100" b="0" kern="1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r>
                        <a:rPr lang="zh-CN" sz="2100" b="0" kern="100" dirty="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100" b="0" kern="1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zh-CN" sz="2100" b="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27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100" b="0" kern="100" dirty="0">
                          <a:solidFill>
                            <a:srgbClr val="0070C0"/>
                          </a:solidFill>
                          <a:effectLst/>
                        </a:rPr>
                        <a:t>对应输出数据类型</a:t>
                      </a:r>
                      <a:endParaRPr lang="zh-CN" sz="2100" b="0" kern="1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100" b="0" kern="100" dirty="0">
                          <a:solidFill>
                            <a:schemeClr val="tx1"/>
                          </a:solidFill>
                          <a:effectLst/>
                        </a:rPr>
                        <a:t>整数</a:t>
                      </a:r>
                      <a:endParaRPr lang="zh-CN" sz="2100" b="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100" b="0" kern="100" dirty="0">
                          <a:solidFill>
                            <a:schemeClr val="tx1"/>
                          </a:solidFill>
                          <a:effectLst/>
                        </a:rPr>
                        <a:t>单个字符</a:t>
                      </a:r>
                      <a:endParaRPr lang="zh-CN" sz="2100" b="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100" b="0" kern="100" dirty="0">
                          <a:solidFill>
                            <a:schemeClr val="tx1"/>
                          </a:solidFill>
                          <a:effectLst/>
                        </a:rPr>
                        <a:t>字符串</a:t>
                      </a:r>
                      <a:endParaRPr lang="zh-CN" sz="2100" b="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100" b="0" kern="100" dirty="0">
                          <a:solidFill>
                            <a:schemeClr val="tx1"/>
                          </a:solidFill>
                          <a:effectLst/>
                        </a:rPr>
                        <a:t>浮点数</a:t>
                      </a:r>
                      <a:endParaRPr lang="zh-CN" sz="2100" b="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100" b="0" kern="100" dirty="0">
                          <a:solidFill>
                            <a:schemeClr val="tx1"/>
                          </a:solidFill>
                          <a:effectLst/>
                        </a:rPr>
                        <a:t>指数形式</a:t>
                      </a:r>
                      <a:endParaRPr lang="zh-CN" sz="2100" b="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77627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596721" y="1374565"/>
            <a:ext cx="11041227" cy="1273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2767" tIns="61384" rIns="122767" bIns="61384" anchor="b"/>
          <a:lstStyle/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zh-CN" altLang="en-US" sz="2667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（</a:t>
            </a:r>
            <a:r>
              <a:rPr lang="en-US" altLang="zh-CN" sz="2667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2</a:t>
            </a:r>
            <a:r>
              <a:rPr lang="zh-CN" altLang="en-US" sz="2667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）</a:t>
            </a:r>
            <a:r>
              <a:rPr lang="en-US" altLang="zh-CN" sz="2667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format</a:t>
            </a:r>
            <a:r>
              <a:rPr lang="zh-CN" altLang="zh-CN" sz="2667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sz="2667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格式字符串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.format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（输出元组序列）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42084" y="695349"/>
            <a:ext cx="10795865" cy="717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2767" tIns="61384" rIns="122767" bIns="61384" anchor="b"/>
          <a:lstStyle/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zh-CN" altLang="en-US" sz="32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格式化控制输出</a:t>
            </a:r>
          </a:p>
        </p:txBody>
      </p:sp>
      <p:sp>
        <p:nvSpPr>
          <p:cNvPr id="4" name="矩形 3"/>
          <p:cNvSpPr/>
          <p:nvPr/>
        </p:nvSpPr>
        <p:spPr>
          <a:xfrm>
            <a:off x="886302" y="2802085"/>
            <a:ext cx="9409045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404040"/>
                </a:solidFill>
                <a:latin typeface="+mn-ea"/>
              </a:rPr>
              <a:t> </a:t>
            </a:r>
            <a:r>
              <a:rPr lang="en-US" altLang="zh-CN" sz="2400" dirty="0">
                <a:solidFill>
                  <a:srgbClr val="404040"/>
                </a:solidFill>
                <a:latin typeface="+mn-ea"/>
              </a:rPr>
              <a:t>print</a:t>
            </a:r>
            <a:r>
              <a:rPr lang="en-US" altLang="zh-CN" sz="2400" b="1" dirty="0">
                <a:latin typeface="+mn-ea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‘{&lt;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参数序号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&gt;: &lt;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格式控制标记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&gt;}’</a:t>
            </a: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.format(</a:t>
            </a: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参数</a:t>
            </a: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1[</a:t>
            </a: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，参数</a:t>
            </a: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2),…]</a:t>
            </a:r>
            <a:r>
              <a:rPr lang="en-US" altLang="zh-CN" sz="2400" dirty="0">
                <a:solidFill>
                  <a:srgbClr val="404040"/>
                </a:solidFill>
                <a:latin typeface="+mn-ea"/>
              </a:rPr>
              <a:t>)</a:t>
            </a:r>
            <a:endParaRPr lang="zh-CN" altLang="en-US" sz="2400" dirty="0">
              <a:latin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71396" y="3621022"/>
            <a:ext cx="11137237" cy="2120780"/>
            <a:chOff x="611560" y="1043874"/>
            <a:chExt cx="8352928" cy="1590585"/>
          </a:xfrm>
        </p:grpSpPr>
        <p:sp>
          <p:nvSpPr>
            <p:cNvPr id="6" name="矩形 5"/>
            <p:cNvSpPr/>
            <p:nvPr/>
          </p:nvSpPr>
          <p:spPr>
            <a:xfrm>
              <a:off x="611560" y="1043874"/>
              <a:ext cx="8352928" cy="3154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133" b="1" dirty="0">
                  <a:solidFill>
                    <a:srgbClr val="404040"/>
                  </a:solidFill>
                  <a:latin typeface="-apple-system"/>
                </a:rPr>
                <a:t>&lt;</a:t>
              </a:r>
              <a:r>
                <a:rPr lang="zh-CN" altLang="en-US" sz="2133" b="1" dirty="0">
                  <a:solidFill>
                    <a:srgbClr val="404040"/>
                  </a:solidFill>
                  <a:latin typeface="-apple-system"/>
                </a:rPr>
                <a:t>格式控制标记</a:t>
              </a:r>
              <a:r>
                <a:rPr lang="en-US" altLang="zh-CN" sz="2133" b="1" dirty="0">
                  <a:solidFill>
                    <a:srgbClr val="404040"/>
                  </a:solidFill>
                  <a:latin typeface="-apple-system"/>
                </a:rPr>
                <a:t>&gt;</a:t>
              </a:r>
              <a:r>
                <a:rPr lang="zh-CN" altLang="en-US" sz="2133" dirty="0">
                  <a:solidFill>
                    <a:srgbClr val="404040"/>
                  </a:solidFill>
                  <a:latin typeface="-apple-system"/>
                </a:rPr>
                <a:t>用来控制参数显示时的格式，包括：</a:t>
              </a:r>
              <a:r>
                <a:rPr lang="en-US" altLang="zh-CN" sz="2133" b="1" dirty="0">
                  <a:solidFill>
                    <a:srgbClr val="404040"/>
                  </a:solidFill>
                  <a:latin typeface="-apple-system"/>
                </a:rPr>
                <a:t>&lt;</a:t>
              </a:r>
              <a:r>
                <a:rPr lang="zh-CN" altLang="en-US" sz="2133" b="1" dirty="0">
                  <a:solidFill>
                    <a:srgbClr val="404040"/>
                  </a:solidFill>
                  <a:latin typeface="-apple-system"/>
                </a:rPr>
                <a:t>填充</a:t>
              </a:r>
              <a:r>
                <a:rPr lang="en-US" altLang="zh-CN" sz="2133" b="1" dirty="0">
                  <a:solidFill>
                    <a:srgbClr val="404040"/>
                  </a:solidFill>
                  <a:latin typeface="-apple-system"/>
                </a:rPr>
                <a:t>&gt;&lt;</a:t>
              </a:r>
              <a:r>
                <a:rPr lang="zh-CN" altLang="en-US" sz="2133" b="1" dirty="0">
                  <a:solidFill>
                    <a:srgbClr val="404040"/>
                  </a:solidFill>
                  <a:latin typeface="-apple-system"/>
                </a:rPr>
                <a:t>对齐</a:t>
              </a:r>
              <a:r>
                <a:rPr lang="en-US" altLang="zh-CN" sz="2133" b="1" dirty="0">
                  <a:solidFill>
                    <a:srgbClr val="404040"/>
                  </a:solidFill>
                  <a:latin typeface="-apple-system"/>
                </a:rPr>
                <a:t>&gt;&lt;</a:t>
              </a:r>
              <a:r>
                <a:rPr lang="zh-CN" altLang="en-US" sz="2133" b="1" dirty="0">
                  <a:solidFill>
                    <a:srgbClr val="404040"/>
                  </a:solidFill>
                  <a:latin typeface="-apple-system"/>
                </a:rPr>
                <a:t>宽度</a:t>
              </a:r>
              <a:r>
                <a:rPr lang="en-US" altLang="zh-CN" sz="2133" b="1" dirty="0">
                  <a:solidFill>
                    <a:srgbClr val="404040"/>
                  </a:solidFill>
                  <a:latin typeface="-apple-system"/>
                </a:rPr>
                <a:t>&gt;</a:t>
              </a:r>
              <a:r>
                <a:rPr lang="en-US" altLang="zh-CN" sz="2133" b="1" dirty="0">
                  <a:solidFill>
                    <a:srgbClr val="FF0000"/>
                  </a:solidFill>
                  <a:latin typeface="-apple-system"/>
                </a:rPr>
                <a:t>,</a:t>
              </a:r>
              <a:r>
                <a:rPr lang="en-US" altLang="zh-CN" sz="2133" b="1" dirty="0">
                  <a:solidFill>
                    <a:srgbClr val="404040"/>
                  </a:solidFill>
                  <a:latin typeface="-apple-system"/>
                </a:rPr>
                <a:t>&lt;.</a:t>
              </a:r>
              <a:r>
                <a:rPr lang="zh-CN" altLang="en-US" sz="2133" b="1" dirty="0">
                  <a:solidFill>
                    <a:srgbClr val="404040"/>
                  </a:solidFill>
                  <a:latin typeface="-apple-system"/>
                </a:rPr>
                <a:t>精度</a:t>
              </a:r>
              <a:r>
                <a:rPr lang="en-US" altLang="zh-CN" sz="2133" b="1" dirty="0">
                  <a:solidFill>
                    <a:srgbClr val="404040"/>
                  </a:solidFill>
                  <a:latin typeface="-apple-system"/>
                </a:rPr>
                <a:t>&gt;&lt;</a:t>
              </a:r>
              <a:r>
                <a:rPr lang="zh-CN" altLang="en-US" sz="2133" b="1" dirty="0">
                  <a:solidFill>
                    <a:srgbClr val="404040"/>
                  </a:solidFill>
                  <a:latin typeface="-apple-system"/>
                </a:rPr>
                <a:t>类型</a:t>
              </a:r>
              <a:r>
                <a:rPr lang="en-US" altLang="zh-CN" sz="2133" b="1" dirty="0">
                  <a:solidFill>
                    <a:srgbClr val="404040"/>
                  </a:solidFill>
                  <a:latin typeface="-apple-system"/>
                </a:rPr>
                <a:t>&gt;</a:t>
              </a:r>
              <a:endParaRPr lang="zh-CN" altLang="en-US" sz="2133" dirty="0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3579" y="1627299"/>
              <a:ext cx="5164869" cy="1007160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</p:pic>
      </p:grpSp>
      <p:sp>
        <p:nvSpPr>
          <p:cNvPr id="8" name="矩形 7"/>
          <p:cNvSpPr/>
          <p:nvPr/>
        </p:nvSpPr>
        <p:spPr>
          <a:xfrm>
            <a:off x="7572003" y="920334"/>
            <a:ext cx="4174541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占位符即“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}”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也称为“槽”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8802203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408" y="932723"/>
            <a:ext cx="10657184" cy="534624"/>
          </a:xfrm>
        </p:spPr>
        <p:txBody>
          <a:bodyPr/>
          <a:lstStyle/>
          <a:p>
            <a:r>
              <a:rPr lang="zh-CN" altLang="en-US" sz="3200" dirty="0"/>
              <a:t>按指定格式输出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382" y="1604797"/>
            <a:ext cx="5127473" cy="374441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133" dirty="0">
                <a:solidFill>
                  <a:schemeClr val="tx1"/>
                </a:solidFill>
              </a:rPr>
              <a:t>‘b’</a:t>
            </a:r>
            <a:r>
              <a:rPr lang="zh-CN" altLang="en-US" sz="2133" dirty="0">
                <a:solidFill>
                  <a:schemeClr val="tx1"/>
                </a:solidFill>
              </a:rPr>
              <a:t>：输出</a:t>
            </a:r>
            <a:r>
              <a:rPr lang="zh-CN" altLang="zh-CN" sz="2133" dirty="0">
                <a:solidFill>
                  <a:schemeClr val="tx1"/>
                </a:solidFill>
              </a:rPr>
              <a:t>二进制</a:t>
            </a:r>
            <a:r>
              <a:rPr lang="zh-CN" altLang="en-US" sz="2133" dirty="0">
                <a:solidFill>
                  <a:schemeClr val="tx1"/>
                </a:solidFill>
              </a:rPr>
              <a:t>数字</a:t>
            </a:r>
            <a:endParaRPr lang="zh-CN" altLang="zh-CN" sz="2133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133" dirty="0">
                <a:solidFill>
                  <a:schemeClr val="tx1"/>
                </a:solidFill>
              </a:rPr>
              <a:t>‘c’ </a:t>
            </a:r>
            <a:r>
              <a:rPr lang="zh-CN" altLang="en-US" sz="2133" dirty="0">
                <a:solidFill>
                  <a:schemeClr val="tx1"/>
                </a:solidFill>
              </a:rPr>
              <a:t>：输出</a:t>
            </a:r>
            <a:r>
              <a:rPr lang="zh-CN" altLang="zh-CN" sz="2133" dirty="0">
                <a:solidFill>
                  <a:schemeClr val="tx1"/>
                </a:solidFill>
              </a:rPr>
              <a:t>字符</a:t>
            </a:r>
            <a:endParaRPr lang="en-US" altLang="zh-CN" sz="2133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133" dirty="0">
                <a:solidFill>
                  <a:schemeClr val="tx1"/>
                </a:solidFill>
              </a:rPr>
              <a:t>‘d’</a:t>
            </a:r>
            <a:r>
              <a:rPr lang="zh-CN" altLang="en-US" sz="2133" dirty="0">
                <a:solidFill>
                  <a:schemeClr val="tx1"/>
                </a:solidFill>
              </a:rPr>
              <a:t>：输出</a:t>
            </a:r>
            <a:r>
              <a:rPr lang="zh-CN" altLang="zh-CN" sz="2133" dirty="0">
                <a:solidFill>
                  <a:schemeClr val="tx1"/>
                </a:solidFill>
              </a:rPr>
              <a:t>十进制整数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133" dirty="0">
                <a:solidFill>
                  <a:schemeClr val="tx1"/>
                </a:solidFill>
              </a:rPr>
              <a:t>‘o’</a:t>
            </a:r>
            <a:r>
              <a:rPr lang="zh-CN" altLang="en-US" sz="2133" dirty="0">
                <a:solidFill>
                  <a:schemeClr val="tx1"/>
                </a:solidFill>
              </a:rPr>
              <a:t>：输出</a:t>
            </a:r>
            <a:r>
              <a:rPr lang="zh-CN" altLang="zh-CN" sz="2133" dirty="0">
                <a:solidFill>
                  <a:schemeClr val="tx1"/>
                </a:solidFill>
              </a:rPr>
              <a:t>八进制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133" dirty="0">
                <a:solidFill>
                  <a:schemeClr val="tx1"/>
                </a:solidFill>
              </a:rPr>
              <a:t>‘x’</a:t>
            </a:r>
            <a:r>
              <a:rPr lang="zh-CN" altLang="en-US" sz="2133" dirty="0">
                <a:solidFill>
                  <a:schemeClr val="tx1"/>
                </a:solidFill>
              </a:rPr>
              <a:t>：输出</a:t>
            </a:r>
            <a:r>
              <a:rPr lang="zh-CN" altLang="zh-CN" sz="2133" dirty="0">
                <a:solidFill>
                  <a:schemeClr val="tx1"/>
                </a:solidFill>
              </a:rPr>
              <a:t>十六进制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133" dirty="0">
                <a:solidFill>
                  <a:schemeClr val="tx1"/>
                </a:solidFill>
              </a:rPr>
              <a:t>‘e’</a:t>
            </a:r>
            <a:r>
              <a:rPr lang="zh-CN" altLang="en-US" sz="2133" dirty="0">
                <a:solidFill>
                  <a:schemeClr val="tx1"/>
                </a:solidFill>
              </a:rPr>
              <a:t>：</a:t>
            </a:r>
            <a:r>
              <a:rPr lang="zh-CN" altLang="zh-CN" sz="2133" dirty="0">
                <a:solidFill>
                  <a:schemeClr val="tx1"/>
                </a:solidFill>
              </a:rPr>
              <a:t>用科学计数法</a:t>
            </a:r>
            <a:r>
              <a:rPr lang="zh-CN" altLang="en-US" sz="2133" dirty="0">
                <a:solidFill>
                  <a:schemeClr val="tx1"/>
                </a:solidFill>
              </a:rPr>
              <a:t>输出</a:t>
            </a:r>
            <a:endParaRPr lang="en-US" altLang="zh-CN" sz="2133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133" dirty="0">
                <a:solidFill>
                  <a:schemeClr val="tx1"/>
                </a:solidFill>
              </a:rPr>
              <a:t>‘g’</a:t>
            </a:r>
            <a:r>
              <a:rPr lang="zh-CN" altLang="en-US" sz="2133" dirty="0">
                <a:solidFill>
                  <a:schemeClr val="tx1"/>
                </a:solidFill>
              </a:rPr>
              <a:t>：输出小数或指数形式</a:t>
            </a:r>
            <a:endParaRPr lang="zh-CN" altLang="zh-CN" sz="2133" dirty="0">
              <a:solidFill>
                <a:schemeClr val="tx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903979" y="1604797"/>
            <a:ext cx="6144683" cy="4416491"/>
            <a:chOff x="4140682" y="1127130"/>
            <a:chExt cx="3152006" cy="22744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0682" y="1127130"/>
              <a:ext cx="2263130" cy="112842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0682" y="2972955"/>
              <a:ext cx="3152006" cy="42862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40682" y="2404705"/>
              <a:ext cx="3143250" cy="4191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94192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8F22B-CA8B-02BB-4086-598D4D0F4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5F4FF810-8DB9-2E25-64AD-4C3893F3A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571" y="375212"/>
            <a:ext cx="6653207" cy="534624"/>
          </a:xfrm>
        </p:spPr>
        <p:txBody>
          <a:bodyPr/>
          <a:lstStyle/>
          <a:p>
            <a:pPr algn="ctr"/>
            <a:r>
              <a:rPr lang="en-US" altLang="zh-CN" sz="3200" dirty="0"/>
              <a:t>F </a:t>
            </a:r>
            <a:r>
              <a:rPr lang="zh-CN" altLang="en-US" sz="3200" dirty="0"/>
              <a:t>表达式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BC0314-CAB7-FDDC-992D-89058673EEFA}"/>
              </a:ext>
            </a:extLst>
          </p:cNvPr>
          <p:cNvSpPr txBox="1"/>
          <p:nvPr/>
        </p:nvSpPr>
        <p:spPr>
          <a:xfrm>
            <a:off x="911424" y="1604797"/>
            <a:ext cx="10273141" cy="8208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zh-CN" sz="2667" dirty="0">
                <a:solidFill>
                  <a:srgbClr val="333333"/>
                </a:solidFill>
                <a:latin typeface="Arial" panose="020B0604020202020204" pitchFamily="34" charset="0"/>
                <a:ea typeface="PingFang SC"/>
              </a:rPr>
              <a:t>f-string以</a:t>
            </a:r>
            <a:r>
              <a:rPr lang="zh-CN" altLang="zh-CN" sz="2667" dirty="0">
                <a:solidFill>
                  <a:srgbClr val="333333"/>
                </a:solidFill>
                <a:latin typeface="Arial Unicode MS"/>
              </a:rPr>
              <a:t>f</a:t>
            </a:r>
            <a:r>
              <a:rPr lang="zh-CN" altLang="zh-CN" sz="2667" dirty="0">
                <a:solidFill>
                  <a:srgbClr val="333333"/>
                </a:solidFill>
                <a:ea typeface="PingFang SC"/>
              </a:rPr>
              <a:t>或</a:t>
            </a:r>
            <a:r>
              <a:rPr lang="zh-CN" altLang="zh-CN" sz="2667" dirty="0">
                <a:solidFill>
                  <a:srgbClr val="333333"/>
                </a:solidFill>
                <a:latin typeface="Arial Unicode MS"/>
              </a:rPr>
              <a:t>F</a:t>
            </a:r>
            <a:r>
              <a:rPr lang="zh-CN" altLang="zh-CN" sz="2667" dirty="0">
                <a:solidFill>
                  <a:srgbClr val="333333"/>
                </a:solidFill>
                <a:ea typeface="PingFang SC"/>
              </a:rPr>
              <a:t>开头，后面跟着一个字符串字面量，字符串中可以使用大括号</a:t>
            </a:r>
            <a:r>
              <a:rPr lang="zh-CN" altLang="zh-CN" sz="2667" dirty="0">
                <a:solidFill>
                  <a:srgbClr val="333333"/>
                </a:solidFill>
                <a:latin typeface="Arial Unicode MS"/>
              </a:rPr>
              <a:t>{}</a:t>
            </a:r>
            <a:r>
              <a:rPr lang="zh-CN" altLang="zh-CN" sz="2667" dirty="0">
                <a:solidFill>
                  <a:srgbClr val="333333"/>
                </a:solidFill>
                <a:ea typeface="PingFang SC"/>
              </a:rPr>
              <a:t>来引用变量或表达式</a:t>
            </a:r>
            <a:r>
              <a:rPr lang="zh-CN" altLang="zh-CN" sz="2667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5C5C98-5D6D-F720-AA4A-31671025EB13}"/>
              </a:ext>
            </a:extLst>
          </p:cNvPr>
          <p:cNvSpPr txBox="1"/>
          <p:nvPr/>
        </p:nvSpPr>
        <p:spPr>
          <a:xfrm>
            <a:off x="1103445" y="2660915"/>
            <a:ext cx="8736971" cy="10259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400" b="1" dirty="0">
                <a:solidFill>
                  <a:srgbClr val="333333"/>
                </a:solidFill>
                <a:latin typeface="Courier New" panose="02070309020205020404" pitchFamily="49" charset="0"/>
              </a:rPr>
              <a:t>name = </a:t>
            </a:r>
            <a:r>
              <a:rPr lang="en-US" altLang="zh-CN" sz="2400" b="1" dirty="0">
                <a:latin typeface="Courier New" panose="02070309020205020404" pitchFamily="49" charset="0"/>
              </a:rPr>
              <a:t>"Alice"</a:t>
            </a:r>
            <a:r>
              <a:rPr lang="en-US" altLang="zh-CN" sz="2400" b="1" dirty="0">
                <a:solidFill>
                  <a:srgbClr val="333333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latin typeface="Courier New" panose="02070309020205020404" pitchFamily="49" charset="0"/>
              </a:rPr>
              <a:t>print</a:t>
            </a:r>
            <a:r>
              <a:rPr lang="en-US" altLang="zh-CN" sz="2400" b="1" dirty="0">
                <a:solidFill>
                  <a:srgbClr val="333333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f"Hello</a:t>
            </a:r>
            <a:r>
              <a:rPr lang="en-US" altLang="zh-CN" sz="2400" b="1" dirty="0">
                <a:latin typeface="Courier New" panose="02070309020205020404" pitchFamily="49" charset="0"/>
              </a:rPr>
              <a:t>, {name}!"</a:t>
            </a:r>
            <a:r>
              <a:rPr lang="en-US" altLang="zh-CN" sz="2400" b="1" dirty="0">
                <a:solidFill>
                  <a:srgbClr val="333333"/>
                </a:solidFill>
                <a:latin typeface="Courier New" panose="02070309020205020404" pitchFamily="49" charset="0"/>
              </a:rPr>
              <a:t>) </a:t>
            </a:r>
            <a:r>
              <a:rPr lang="en-US" altLang="zh-CN" sz="2400" b="1" i="1" dirty="0">
                <a:solidFill>
                  <a:schemeClr val="tx2"/>
                </a:solidFill>
                <a:latin typeface="Courier New" panose="02070309020205020404" pitchFamily="49" charset="0"/>
              </a:rPr>
              <a:t># </a:t>
            </a:r>
            <a:r>
              <a:rPr lang="zh-CN" altLang="en-US" sz="2400" b="1" i="1" dirty="0">
                <a:solidFill>
                  <a:schemeClr val="tx2"/>
                </a:solidFill>
                <a:latin typeface="Courier New" panose="02070309020205020404" pitchFamily="49" charset="0"/>
              </a:rPr>
              <a:t>输出</a:t>
            </a:r>
            <a:r>
              <a:rPr lang="en-US" altLang="zh-CN" sz="2400" b="1" i="1" dirty="0">
                <a:solidFill>
                  <a:schemeClr val="tx2"/>
                </a:solidFill>
                <a:latin typeface="Courier New" panose="02070309020205020404" pitchFamily="49" charset="0"/>
              </a:rPr>
              <a:t>: Hello, Alice!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endParaRPr lang="zh-CN" altLang="en-US" sz="1867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FCDF3D-D983-F3E0-F2E9-79A8CDA4600C}"/>
              </a:ext>
            </a:extLst>
          </p:cNvPr>
          <p:cNvSpPr txBox="1"/>
          <p:nvPr/>
        </p:nvSpPr>
        <p:spPr>
          <a:xfrm>
            <a:off x="1151451" y="3775875"/>
            <a:ext cx="979308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</a:rPr>
              <a:t>x = 5</a:t>
            </a:r>
          </a:p>
          <a:p>
            <a:r>
              <a:rPr lang="en-US" altLang="zh-CN" sz="2400" b="1" dirty="0">
                <a:latin typeface="Courier New" panose="02070309020205020404" pitchFamily="49" charset="0"/>
              </a:rPr>
              <a:t>y = 10 </a:t>
            </a:r>
          </a:p>
          <a:p>
            <a:r>
              <a:rPr lang="en-US" altLang="zh-CN" sz="2400" b="1" dirty="0">
                <a:latin typeface="Courier New" panose="02070309020205020404" pitchFamily="49" charset="0"/>
              </a:rPr>
              <a:t>print(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f"The</a:t>
            </a:r>
            <a:r>
              <a:rPr lang="en-US" altLang="zh-CN" sz="2400" b="1" dirty="0">
                <a:latin typeface="Courier New" panose="02070309020205020404" pitchFamily="49" charset="0"/>
              </a:rPr>
              <a:t> sum of {x} and {y} is {x + y}.") </a:t>
            </a:r>
          </a:p>
          <a:p>
            <a:r>
              <a:rPr lang="en-US" altLang="zh-CN" sz="2400" b="1" i="1" dirty="0">
                <a:solidFill>
                  <a:schemeClr val="tx2"/>
                </a:solidFill>
                <a:latin typeface="Courier New" panose="02070309020205020404" pitchFamily="49" charset="0"/>
              </a:rPr>
              <a:t># </a:t>
            </a:r>
            <a:r>
              <a:rPr lang="zh-CN" altLang="en-US" sz="2400" b="1" i="1" dirty="0">
                <a:solidFill>
                  <a:schemeClr val="tx2"/>
                </a:solidFill>
                <a:latin typeface="Courier New" panose="02070309020205020404" pitchFamily="49" charset="0"/>
              </a:rPr>
              <a:t>输出</a:t>
            </a:r>
            <a:r>
              <a:rPr lang="en-US" altLang="zh-CN" sz="2400" b="1" i="1" dirty="0">
                <a:solidFill>
                  <a:schemeClr val="tx2"/>
                </a:solidFill>
                <a:latin typeface="Courier New" panose="02070309020205020404" pitchFamily="49" charset="0"/>
              </a:rPr>
              <a:t>: The sum of 5 and 10 is 15.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28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95400" y="1484784"/>
            <a:ext cx="10945216" cy="3240360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411163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给函数起个好名字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163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函数的逻辑实现，需要什么数据？ 定义为对应的形参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163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根据传递的参数，编码实现逻辑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163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逻辑处理的结果，通过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语句返回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551384" y="442525"/>
            <a:ext cx="7982489" cy="61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en-US" altLang="zh-CN" sz="3200" dirty="0">
                <a:solidFill>
                  <a:srgbClr val="C00000"/>
                </a:solidFill>
              </a:rPr>
              <a:t>   </a:t>
            </a:r>
            <a:r>
              <a:rPr lang="zh-CN" altLang="en-US" sz="3200" dirty="0">
                <a:solidFill>
                  <a:srgbClr val="C00000"/>
                </a:solidFill>
              </a:rPr>
              <a:t>总结：设计函数的要点   重要</a:t>
            </a:r>
            <a:endParaRPr lang="en-US" altLang="zh-CN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16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0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0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uiExpand="1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9416" y="373709"/>
            <a:ext cx="7959634" cy="64470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sz="3200" dirty="0"/>
              <a:t>函数的调用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95400" y="1124744"/>
            <a:ext cx="10513168" cy="518457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参数表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调用函数时，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内的参数被称为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，简称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，对应于定义函数时的形参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参数传递：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实参与形参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一一对应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类型兼容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类型兼容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即当实参传递给形参时，可转换为逻辑需要的数据类型，保证函数运行逻辑不受影响。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 “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”语句的函数，调用时可用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263" indent="0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实参表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否则用     函数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实参表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45239617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r>
              <a:rPr lang="en-US" altLang="zh-CN" dirty="0"/>
              <a:t>—</a:t>
            </a:r>
            <a:r>
              <a:rPr lang="zh-CN" altLang="en-US" dirty="0"/>
              <a:t>形参分类  四种类型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位置参数：（必选参数），必须给对应的实参</a:t>
            </a:r>
            <a:endParaRPr lang="en-US" altLang="zh-CN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默认值参数（调用时可以不提供对应的实参）</a:t>
            </a:r>
            <a:endParaRPr lang="en-US" altLang="zh-CN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元组可变长参数，参数前有一个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，搜集实参，形成元组</a:t>
            </a:r>
            <a:endParaRPr lang="en-US" altLang="zh-CN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字典可变长参数，参数前有两个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，收集参数，形成字典。（要求实参格式： 标识符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值）</a:t>
            </a:r>
          </a:p>
        </p:txBody>
      </p:sp>
    </p:spTree>
    <p:extLst>
      <p:ext uri="{BB962C8B-B14F-4D97-AF65-F5344CB8AC3E}">
        <p14:creationId xmlns:p14="http://schemas.microsoft.com/office/powerpoint/2010/main" val="1545157798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多种形参共存时，顺序该如何排列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007534"/>
            <a:ext cx="11057467" cy="511256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如果只有：位置参数、默认值参数，则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位置参数在前，默认值参数在后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如果元组变长参数（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参数）与位置、默认值参数共存，处于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参数之前的位置参数，默认值参数，必须遵循位置参数在前，默认值参数在后。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参数后面的位置参数、默认值参数，次序可随意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若元组变长参数、位置参数、默认值、字典变长参数，则字典变长参数必须放最后，其他参数遵循规则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参数后面的参数，实参必须使用形参关键字方式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推荐规则：位置、默认值、元组变长、字典变长</a:t>
            </a:r>
            <a:endParaRPr lang="en-US" altLang="zh-CN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6289002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836500" y="332656"/>
            <a:ext cx="7982489" cy="61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  <a:endParaRPr lang="en-US" altLang="zh-CN" dirty="0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811557" y="1412776"/>
            <a:ext cx="10585175" cy="31683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150000"/>
              </a:lnSpc>
              <a:buNone/>
            </a:pPr>
            <a:r>
              <a:rPr lang="zh-CN" altLang="zh-CN" dirty="0"/>
              <a:t>逻辑特别简单的函数，</a:t>
            </a:r>
            <a:r>
              <a:rPr lang="zh-CN" altLang="en-US" dirty="0"/>
              <a:t>可使用</a:t>
            </a:r>
            <a:r>
              <a:rPr lang="en-US" altLang="zh-CN" dirty="0"/>
              <a:t>lambda</a:t>
            </a:r>
            <a:r>
              <a:rPr lang="zh-CN" altLang="zh-CN" dirty="0"/>
              <a:t>表达式</a:t>
            </a:r>
            <a:endParaRPr lang="en-US" altLang="zh-CN" dirty="0"/>
          </a:p>
          <a:p>
            <a:pPr marL="68263" indent="0">
              <a:lnSpc>
                <a:spcPct val="150000"/>
              </a:lnSpc>
              <a:buNone/>
            </a:pPr>
            <a:r>
              <a:rPr lang="zh-CN" altLang="zh-CN" dirty="0"/>
              <a:t>格式：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C00000"/>
                </a:solidFill>
              </a:rPr>
              <a:t>函数名</a:t>
            </a:r>
            <a:r>
              <a:rPr lang="en-US" altLang="zh-CN" b="1" dirty="0">
                <a:solidFill>
                  <a:srgbClr val="C00000"/>
                </a:solidFill>
              </a:rPr>
              <a:t> = lambda </a:t>
            </a:r>
            <a:r>
              <a:rPr lang="zh-CN" altLang="zh-CN" b="1" dirty="0">
                <a:solidFill>
                  <a:srgbClr val="C00000"/>
                </a:solidFill>
              </a:rPr>
              <a:t>形参表</a:t>
            </a:r>
            <a:r>
              <a:rPr lang="en-US" altLang="zh-CN" b="1" dirty="0">
                <a:solidFill>
                  <a:srgbClr val="C00000"/>
                </a:solidFill>
              </a:rPr>
              <a:t> : </a:t>
            </a:r>
            <a:r>
              <a:rPr lang="zh-CN" altLang="zh-CN" b="1" dirty="0">
                <a:solidFill>
                  <a:srgbClr val="C00000"/>
                </a:solidFill>
              </a:rPr>
              <a:t>表达式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函数的调用方式：函数名</a:t>
            </a:r>
            <a:r>
              <a:rPr lang="en-US" altLang="zh-CN" dirty="0"/>
              <a:t>(</a:t>
            </a:r>
            <a:r>
              <a:rPr lang="zh-CN" altLang="en-US" dirty="0"/>
              <a:t>实</a:t>
            </a:r>
            <a:r>
              <a:rPr lang="zh-CN" altLang="zh-CN" dirty="0"/>
              <a:t>参表</a:t>
            </a:r>
            <a:r>
              <a:rPr lang="en-US" altLang="zh-CN" dirty="0"/>
              <a:t>)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660995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73C9D-747A-46AA-BBF4-3C6290834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528" y="3051022"/>
            <a:ext cx="8143198" cy="294213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def fun(</a:t>
            </a:r>
            <a:r>
              <a:rPr lang="en-US" altLang="zh-CN" dirty="0" err="1"/>
              <a:t>a,b</a:t>
            </a:r>
            <a:r>
              <a:rPr lang="en-US" altLang="zh-CN" dirty="0"/>
              <a:t>):</a:t>
            </a:r>
          </a:p>
          <a:p>
            <a:pPr marL="0" indent="0">
              <a:buNone/>
            </a:pPr>
            <a:r>
              <a:rPr lang="en-US" altLang="zh-CN" dirty="0"/>
              <a:t>    x=</a:t>
            </a:r>
            <a:r>
              <a:rPr lang="en-US" altLang="zh-CN" dirty="0" err="1"/>
              <a:t>a+b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return x</a:t>
            </a:r>
          </a:p>
          <a:p>
            <a:pPr marL="0" indent="0">
              <a:buNone/>
            </a:pPr>
            <a:r>
              <a:rPr lang="en-US" altLang="zh-CN" dirty="0" err="1"/>
              <a:t>m,n</a:t>
            </a:r>
            <a:r>
              <a:rPr lang="en-US" altLang="zh-CN" dirty="0"/>
              <a:t>=2,3</a:t>
            </a:r>
          </a:p>
          <a:p>
            <a:pPr marL="0" indent="0">
              <a:buNone/>
            </a:pPr>
            <a:r>
              <a:rPr lang="en-US" altLang="zh-CN" dirty="0"/>
              <a:t>y=fun(</a:t>
            </a:r>
            <a:r>
              <a:rPr lang="en-US" altLang="zh-CN" dirty="0" err="1"/>
              <a:t>m,n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print(y)</a:t>
            </a:r>
            <a:endParaRPr lang="zh-CN" altLang="en-US" dirty="0"/>
          </a:p>
        </p:txBody>
      </p:sp>
      <p:sp>
        <p:nvSpPr>
          <p:cNvPr id="4" name="Text Box 126">
            <a:extLst>
              <a:ext uri="{FF2B5EF4-FFF2-40B4-BE49-F238E27FC236}">
                <a16:creationId xmlns:a16="http://schemas.microsoft.com/office/drawing/2014/main" id="{D49FDDC8-543D-44FC-B207-614654837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286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en-US" altLang="zh-CN" dirty="0"/>
              <a:t>   </a:t>
            </a:r>
            <a:r>
              <a:rPr lang="zh-CN" altLang="en-US" dirty="0"/>
              <a:t>变量的作用域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3DE4FB1-FD9B-4067-82F6-30136A86E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96" y="1097050"/>
            <a:ext cx="9937104" cy="188913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变量的有效使用范围，称为作用域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函数中定义的变量，只在函数内有效，称局部变量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主函数里定义的变量，称全局变量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198529-D647-430C-8CB6-4223E67FC73D}"/>
              </a:ext>
            </a:extLst>
          </p:cNvPr>
          <p:cNvSpPr txBox="1"/>
          <p:nvPr/>
        </p:nvSpPr>
        <p:spPr>
          <a:xfrm>
            <a:off x="4295800" y="3079072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a,b,x</a:t>
            </a:r>
            <a:r>
              <a:rPr lang="en-US" altLang="zh-CN" sz="2400" dirty="0"/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局部变量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198529-D647-430C-8CB6-4223E67FC73D}"/>
              </a:ext>
            </a:extLst>
          </p:cNvPr>
          <p:cNvSpPr txBox="1"/>
          <p:nvPr/>
        </p:nvSpPr>
        <p:spPr>
          <a:xfrm>
            <a:off x="4295800" y="4522089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m,n,y</a:t>
            </a:r>
            <a:r>
              <a:rPr lang="en-US" altLang="zh-CN" sz="2400" dirty="0"/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全局变量</a:t>
            </a:r>
          </a:p>
        </p:txBody>
      </p:sp>
    </p:spTree>
    <p:extLst>
      <p:ext uri="{BB962C8B-B14F-4D97-AF65-F5344CB8AC3E}">
        <p14:creationId xmlns:p14="http://schemas.microsoft.com/office/powerpoint/2010/main" val="1852089563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983432" y="746991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en-US" altLang="zh-CN" sz="3200" dirty="0">
                <a:solidFill>
                  <a:srgbClr val="0070C0"/>
                </a:solidFill>
              </a:rPr>
              <a:t>   </a:t>
            </a:r>
            <a:r>
              <a:rPr lang="zh-CN" altLang="en-US" sz="3200" dirty="0">
                <a:solidFill>
                  <a:srgbClr val="0070C0"/>
                </a:solidFill>
              </a:rPr>
              <a:t>函数中使用全局变量 用</a:t>
            </a:r>
            <a:r>
              <a:rPr lang="en-US" altLang="zh-CN" sz="3200" dirty="0">
                <a:solidFill>
                  <a:srgbClr val="0070C0"/>
                </a:solidFill>
              </a:rPr>
              <a:t>global</a:t>
            </a:r>
            <a:r>
              <a:rPr lang="zh-CN" altLang="en-US" sz="3200" dirty="0">
                <a:solidFill>
                  <a:srgbClr val="0070C0"/>
                </a:solidFill>
              </a:rPr>
              <a:t>声明</a:t>
            </a:r>
          </a:p>
        </p:txBody>
      </p:sp>
      <p:sp>
        <p:nvSpPr>
          <p:cNvPr id="5" name="矩形 4"/>
          <p:cNvSpPr/>
          <p:nvPr/>
        </p:nvSpPr>
        <p:spPr>
          <a:xfrm>
            <a:off x="6240016" y="1772816"/>
            <a:ext cx="2232248" cy="576064"/>
          </a:xfrm>
          <a:prstGeom prst="rect">
            <a:avLst/>
          </a:prstGeom>
          <a:solidFill>
            <a:srgbClr val="CC66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400" b="1" dirty="0"/>
              <a:t>全局的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448633" y="1772816"/>
            <a:ext cx="3411048" cy="388843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None/>
            </a:pPr>
            <a:r>
              <a:rPr lang="fr-FR" altLang="zh-CN" sz="2400" b="1" dirty="0"/>
              <a:t>x=1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fr-FR" altLang="zh-CN" sz="2400" b="1" dirty="0"/>
              <a:t>def fx():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fr-FR" altLang="zh-CN" sz="2400" b="1" dirty="0"/>
              <a:t>    global x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fr-FR" altLang="zh-CN" sz="2400" b="1" dirty="0"/>
              <a:t>    x=1000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fr-FR" altLang="zh-CN" sz="2400" b="1" dirty="0"/>
              <a:t>    print("x=",x)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endParaRPr lang="fr-FR" altLang="zh-CN" sz="2400" b="1" dirty="0"/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fr-FR" altLang="zh-CN" sz="2400" b="1" dirty="0"/>
              <a:t>fx()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fr-FR" altLang="zh-CN" sz="2400" b="1" dirty="0"/>
              <a:t>print ("</a:t>
            </a:r>
            <a:r>
              <a:rPr lang="zh-CN" altLang="en-US" sz="2400" b="1" dirty="0"/>
              <a:t>全局的</a:t>
            </a:r>
            <a:r>
              <a:rPr lang="fr-FR" altLang="zh-CN" sz="2400" b="1" dirty="0"/>
              <a:t>x=", x)</a:t>
            </a:r>
          </a:p>
        </p:txBody>
      </p:sp>
      <p:sp>
        <p:nvSpPr>
          <p:cNvPr id="7" name="矩形 6"/>
          <p:cNvSpPr/>
          <p:nvPr/>
        </p:nvSpPr>
        <p:spPr>
          <a:xfrm>
            <a:off x="6233112" y="2641351"/>
            <a:ext cx="2239152" cy="576064"/>
          </a:xfrm>
          <a:prstGeom prst="rect">
            <a:avLst/>
          </a:prstGeom>
          <a:solidFill>
            <a:srgbClr val="CC66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400" b="1" dirty="0"/>
              <a:t>引用全局变量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2999656" y="1988840"/>
            <a:ext cx="2902538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3623362" y="2780928"/>
            <a:ext cx="2472638" cy="7456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6159121" y="4293096"/>
            <a:ext cx="2387133" cy="14401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000" b="1" dirty="0"/>
              <a:t>执行结果</a:t>
            </a:r>
            <a:endParaRPr lang="en-US" altLang="zh-CN" sz="2000" b="1" dirty="0"/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fr-FR" altLang="zh-CN" sz="2000" b="1" dirty="0"/>
              <a:t>x= 1000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000" b="1" dirty="0"/>
              <a:t>全局的</a:t>
            </a:r>
            <a:r>
              <a:rPr lang="en-US" altLang="zh-CN" sz="2000" b="1" dirty="0"/>
              <a:t>x=</a:t>
            </a:r>
            <a:r>
              <a:rPr lang="fr-FR" altLang="zh-CN" sz="2000" b="1" dirty="0"/>
              <a:t>1</a:t>
            </a:r>
            <a:r>
              <a:rPr lang="en-US" altLang="zh-CN" sz="2000" b="1" dirty="0"/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227137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2135560" y="336170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en-US" altLang="zh-CN" dirty="0"/>
              <a:t>   </a:t>
            </a:r>
            <a:r>
              <a:rPr lang="zh-CN" altLang="en-US" dirty="0"/>
              <a:t>递归问题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107878" y="1268760"/>
            <a:ext cx="8308602" cy="468052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递归问题的例子：</a:t>
            </a:r>
            <a:endParaRPr lang="en-US" altLang="zh-CN" sz="2400" b="1" dirty="0"/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求</a:t>
            </a:r>
            <a:r>
              <a:rPr lang="en-US" altLang="zh-CN" sz="2400" b="1" dirty="0" err="1"/>
              <a:t>x</a:t>
            </a:r>
            <a:r>
              <a:rPr lang="en-US" altLang="zh-CN" sz="2400" b="1" baseline="30000" dirty="0" err="1"/>
              <a:t>n</a:t>
            </a:r>
            <a:r>
              <a:rPr lang="en-US" altLang="zh-CN" sz="2400" b="1" dirty="0"/>
              <a:t>,   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x</a:t>
            </a:r>
            <a:r>
              <a:rPr lang="en-US" altLang="zh-CN" sz="2400" b="1" baseline="30000" dirty="0"/>
              <a:t>0</a:t>
            </a:r>
            <a:r>
              <a:rPr lang="en-US" altLang="zh-CN" sz="2400" b="1" dirty="0"/>
              <a:t>=1, </a:t>
            </a:r>
            <a:r>
              <a:rPr lang="en-US" altLang="zh-CN" sz="2400" b="1" dirty="0" err="1"/>
              <a:t>x</a:t>
            </a:r>
            <a:r>
              <a:rPr lang="en-US" altLang="zh-CN" sz="2400" b="1" baseline="30000" dirty="0" err="1"/>
              <a:t>n</a:t>
            </a:r>
            <a:r>
              <a:rPr lang="en-US" altLang="zh-CN" sz="2400" b="1" dirty="0"/>
              <a:t>=x*x</a:t>
            </a:r>
            <a:r>
              <a:rPr lang="en-US" altLang="zh-CN" sz="2400" b="1" baseline="30000" dirty="0"/>
              <a:t>n-1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求阶乘：</a:t>
            </a:r>
            <a:r>
              <a:rPr lang="en-US" altLang="zh-CN" sz="2400" b="1" dirty="0"/>
              <a:t>n!=n*(n-1)!     1!=1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特点：</a:t>
            </a:r>
            <a:endParaRPr lang="en-US" altLang="zh-CN" sz="2400" b="1" dirty="0"/>
          </a:p>
          <a:p>
            <a:pPr marL="525463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zh-CN" altLang="en-US" sz="2400" b="1" dirty="0"/>
              <a:t>一个</a:t>
            </a:r>
            <a:r>
              <a:rPr lang="zh-CN" altLang="en-US" sz="2400" b="1" dirty="0">
                <a:solidFill>
                  <a:srgbClr val="FF0000"/>
                </a:solidFill>
              </a:rPr>
              <a:t>大问题</a:t>
            </a:r>
            <a:r>
              <a:rPr lang="zh-CN" altLang="en-US" sz="2400" b="1" dirty="0"/>
              <a:t>，被分解为可用自身</a:t>
            </a:r>
            <a:r>
              <a:rPr lang="zh-CN" altLang="en-US" sz="2400" b="1" dirty="0">
                <a:solidFill>
                  <a:srgbClr val="FF0000"/>
                </a:solidFill>
              </a:rPr>
              <a:t>规模更小的问题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525463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zh-CN" altLang="en-US" sz="2400" b="1" dirty="0"/>
              <a:t>递归问题要有一个</a:t>
            </a:r>
            <a:r>
              <a:rPr lang="zh-CN" altLang="en-US" sz="2400" b="1" dirty="0">
                <a:solidFill>
                  <a:srgbClr val="FF0000"/>
                </a:solidFill>
              </a:rPr>
              <a:t>终止条件</a:t>
            </a:r>
            <a:r>
              <a:rPr lang="zh-CN" altLang="en-US" sz="2400" b="1" dirty="0"/>
              <a:t>，例如上述</a:t>
            </a:r>
            <a:r>
              <a:rPr lang="en-US" altLang="zh-CN" sz="2400" b="1" dirty="0"/>
              <a:t>x</a:t>
            </a:r>
            <a:r>
              <a:rPr lang="en-US" altLang="zh-CN" sz="2400" b="1" baseline="30000" dirty="0"/>
              <a:t>0</a:t>
            </a:r>
            <a:r>
              <a:rPr lang="en-US" altLang="zh-CN" sz="2400" b="1" dirty="0"/>
              <a:t>=1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marL="68263" indent="0" eaLnBrk="1" hangingPunct="1">
              <a:lnSpc>
                <a:spcPct val="90000"/>
              </a:lnSpc>
              <a:buNone/>
            </a:pPr>
            <a:endParaRPr lang="en-US" altLang="zh-CN" sz="2400" b="1" dirty="0"/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递归反应的思维方式：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大问题分解为</a:t>
            </a:r>
            <a:r>
              <a:rPr lang="zh-CN" altLang="en-US" sz="2400" b="1" dirty="0">
                <a:solidFill>
                  <a:srgbClr val="FF0000"/>
                </a:solidFill>
              </a:rPr>
              <a:t>相同类型的小问题</a:t>
            </a:r>
            <a:r>
              <a:rPr lang="zh-CN" altLang="en-US" sz="2400" b="1" dirty="0"/>
              <a:t>，直至最小化（终止），小问题解决了，大问题也就解决了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2910434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8959" y="310161"/>
            <a:ext cx="11030194" cy="675813"/>
          </a:xfrm>
        </p:spPr>
        <p:txBody>
          <a:bodyPr/>
          <a:lstStyle/>
          <a:p>
            <a:r>
              <a:rPr lang="en-US" altLang="zh-CN" sz="3199" dirty="0"/>
              <a:t>3. </a:t>
            </a:r>
            <a:r>
              <a:rPr lang="zh-CN" altLang="en-US" sz="3199" dirty="0"/>
              <a:t>列表及其元素的删除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6395" y="1107727"/>
            <a:ext cx="11053469" cy="529760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altLang="zh-CN" sz="2100" b="1" dirty="0">
                <a:solidFill>
                  <a:srgbClr val="C00000"/>
                </a:solidFill>
              </a:rPr>
              <a:t>del</a:t>
            </a:r>
            <a:r>
              <a:rPr lang="zh-CN" altLang="en-US" sz="2100" b="1" dirty="0">
                <a:solidFill>
                  <a:srgbClr val="C00000"/>
                </a:solidFill>
              </a:rPr>
              <a:t>运算符：      </a:t>
            </a:r>
            <a:r>
              <a:rPr lang="en-US" altLang="zh-CN" sz="2100" b="1" dirty="0">
                <a:solidFill>
                  <a:srgbClr val="00B050"/>
                </a:solidFill>
              </a:rPr>
              <a:t>del </a:t>
            </a:r>
            <a:r>
              <a:rPr lang="en-US" altLang="zh-CN" sz="2100" b="1" dirty="0" err="1">
                <a:solidFill>
                  <a:srgbClr val="00B050"/>
                </a:solidFill>
              </a:rPr>
              <a:t>listN</a:t>
            </a:r>
            <a:r>
              <a:rPr lang="en-US" altLang="zh-CN" sz="2100" b="1" dirty="0">
                <a:solidFill>
                  <a:srgbClr val="00B050"/>
                </a:solidFill>
              </a:rPr>
              <a:t>[index]</a:t>
            </a:r>
            <a:r>
              <a:rPr lang="zh-CN" altLang="en-US" sz="2100" b="1" dirty="0">
                <a:solidFill>
                  <a:srgbClr val="00B050"/>
                </a:solidFill>
              </a:rPr>
              <a:t>或</a:t>
            </a:r>
            <a:r>
              <a:rPr lang="en-US" altLang="zh-CN" sz="2100" b="1" dirty="0">
                <a:solidFill>
                  <a:srgbClr val="00B050"/>
                </a:solidFill>
              </a:rPr>
              <a:t>del </a:t>
            </a:r>
            <a:r>
              <a:rPr lang="en-US" altLang="zh-CN" sz="2100" b="1" dirty="0" err="1">
                <a:solidFill>
                  <a:srgbClr val="00B050"/>
                </a:solidFill>
              </a:rPr>
              <a:t>listN</a:t>
            </a:r>
            <a:r>
              <a:rPr lang="en-US" altLang="zh-CN" sz="2100" b="1" dirty="0">
                <a:solidFill>
                  <a:srgbClr val="00B050"/>
                </a:solidFill>
              </a:rPr>
              <a:t>[start : end</a:t>
            </a:r>
            <a:r>
              <a:rPr lang="zh-CN" altLang="en-US" sz="2100" b="1" dirty="0">
                <a:solidFill>
                  <a:srgbClr val="00B050"/>
                </a:solidFill>
              </a:rPr>
              <a:t>：</a:t>
            </a:r>
            <a:r>
              <a:rPr lang="en-US" altLang="zh-CN" sz="2100" b="1" dirty="0">
                <a:solidFill>
                  <a:srgbClr val="00B050"/>
                </a:solidFill>
              </a:rPr>
              <a:t>] 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lang="en-US" altLang="zh-CN" sz="2100" dirty="0"/>
              <a:t>      </a:t>
            </a:r>
            <a:r>
              <a:rPr lang="zh-CN" altLang="en-US" sz="2100" dirty="0"/>
              <a:t>已知</a:t>
            </a:r>
            <a:r>
              <a:rPr lang="en-US" altLang="zh-CN" sz="2100" dirty="0" err="1"/>
              <a:t>lt</a:t>
            </a:r>
            <a:r>
              <a:rPr lang="en-US" altLang="zh-CN" sz="2100" dirty="0"/>
              <a:t>=[1,3,5,7,9]</a:t>
            </a:r>
            <a:r>
              <a:rPr lang="zh-CN" altLang="en-US" sz="2100" dirty="0"/>
              <a:t>，</a:t>
            </a:r>
            <a:r>
              <a:rPr lang="en-US" altLang="zh-CN" sz="2100" dirty="0"/>
              <a:t>del </a:t>
            </a:r>
            <a:r>
              <a:rPr lang="en-US" altLang="zh-CN" sz="2100" dirty="0" err="1"/>
              <a:t>lt</a:t>
            </a:r>
            <a:r>
              <a:rPr lang="en-US" altLang="zh-CN" sz="2100" dirty="0"/>
              <a:t>[3]</a:t>
            </a:r>
            <a:r>
              <a:rPr lang="zh-CN" altLang="en-US" sz="2100" dirty="0"/>
              <a:t>     </a:t>
            </a:r>
            <a:r>
              <a:rPr lang="en-US" altLang="zh-CN" sz="2100" dirty="0"/>
              <a:t>#</a:t>
            </a:r>
            <a:r>
              <a:rPr lang="zh-CN" altLang="en-US" sz="2100" dirty="0"/>
              <a:t>删除第</a:t>
            </a:r>
            <a:r>
              <a:rPr lang="en-US" altLang="zh-CN" sz="2100" dirty="0"/>
              <a:t>3</a:t>
            </a:r>
            <a:r>
              <a:rPr lang="zh-CN" altLang="en-US" sz="2100" dirty="0"/>
              <a:t>项，结果为</a:t>
            </a:r>
            <a:r>
              <a:rPr lang="en-US" altLang="zh-CN" sz="2100" dirty="0"/>
              <a:t>[1, 3, 5, 9]</a:t>
            </a:r>
            <a:r>
              <a:rPr lang="zh-CN" altLang="en-US" sz="2100" dirty="0"/>
              <a:t>；</a:t>
            </a:r>
            <a:r>
              <a:rPr lang="en-US" altLang="zh-CN" sz="2100" dirty="0"/>
              <a:t>del </a:t>
            </a:r>
            <a:r>
              <a:rPr lang="en-US" altLang="zh-CN" sz="2100" dirty="0" err="1"/>
              <a:t>lt</a:t>
            </a:r>
            <a:r>
              <a:rPr lang="en-US" altLang="zh-CN" sz="2100" dirty="0"/>
              <a:t>   #</a:t>
            </a:r>
            <a:r>
              <a:rPr lang="zh-CN" altLang="en-US" sz="2100" dirty="0"/>
              <a:t>删除列表</a:t>
            </a:r>
            <a:endParaRPr lang="en-US" altLang="zh-CN" sz="2100" dirty="0"/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altLang="zh-CN" sz="2100" b="1" dirty="0">
                <a:solidFill>
                  <a:srgbClr val="C00000"/>
                </a:solidFill>
              </a:rPr>
              <a:t>pop</a:t>
            </a:r>
            <a:r>
              <a:rPr lang="zh-CN" altLang="en-US" sz="2100" b="1" dirty="0">
                <a:solidFill>
                  <a:srgbClr val="C00000"/>
                </a:solidFill>
              </a:rPr>
              <a:t>方法：  </a:t>
            </a:r>
            <a:r>
              <a:rPr lang="en-US" altLang="zh-CN" sz="2100" b="1" dirty="0" err="1">
                <a:solidFill>
                  <a:srgbClr val="00B050"/>
                </a:solidFill>
              </a:rPr>
              <a:t>listN.pop</a:t>
            </a:r>
            <a:r>
              <a:rPr lang="en-US" altLang="zh-CN" sz="2100" b="1" dirty="0">
                <a:solidFill>
                  <a:srgbClr val="00B050"/>
                </a:solidFill>
              </a:rPr>
              <a:t>(index</a:t>
            </a:r>
            <a:r>
              <a:rPr lang="en-US" altLang="zh-CN" sz="2400" b="1" dirty="0">
                <a:solidFill>
                  <a:srgbClr val="00B050"/>
                </a:solidFill>
              </a:rPr>
              <a:t>)   </a:t>
            </a:r>
            <a:r>
              <a:rPr lang="en-US" altLang="zh-CN" sz="1800" dirty="0"/>
              <a:t>#index</a:t>
            </a:r>
            <a:r>
              <a:rPr lang="zh-CN" altLang="en-US" sz="1800" dirty="0"/>
              <a:t>默认是</a:t>
            </a:r>
            <a:r>
              <a:rPr lang="en-US" altLang="zh-CN" sz="1800" dirty="0"/>
              <a:t>-1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lang="en-US" altLang="zh-CN" sz="2100" dirty="0"/>
              <a:t>     </a:t>
            </a:r>
            <a:r>
              <a:rPr lang="zh-CN" altLang="en-US" sz="2100" dirty="0"/>
              <a:t>例如：</a:t>
            </a:r>
            <a:r>
              <a:rPr lang="en-US" altLang="zh-CN" sz="2100" dirty="0" err="1"/>
              <a:t>lt.pop</a:t>
            </a:r>
            <a:r>
              <a:rPr lang="en-US" altLang="zh-CN" sz="2100" dirty="0"/>
              <a:t>(2)     #</a:t>
            </a:r>
            <a:r>
              <a:rPr lang="zh-CN" altLang="en-US" sz="2100" dirty="0"/>
              <a:t>弹出第</a:t>
            </a:r>
            <a:r>
              <a:rPr lang="en-US" altLang="zh-CN" sz="2100" dirty="0"/>
              <a:t>2</a:t>
            </a:r>
            <a:r>
              <a:rPr lang="zh-CN" altLang="en-US" sz="2100" dirty="0"/>
              <a:t>项</a:t>
            </a:r>
            <a:r>
              <a:rPr lang="en-US" altLang="zh-CN" sz="2100" dirty="0"/>
              <a:t>5</a:t>
            </a:r>
            <a:r>
              <a:rPr lang="zh-CN" altLang="en-US" sz="2100" dirty="0"/>
              <a:t>，结果为</a:t>
            </a:r>
            <a:r>
              <a:rPr lang="en-US" altLang="zh-CN" sz="2100" dirty="0"/>
              <a:t>[1, 3, 7, 9]</a:t>
            </a: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altLang="zh-CN" sz="2100" b="1" dirty="0">
                <a:solidFill>
                  <a:srgbClr val="C00000"/>
                </a:solidFill>
              </a:rPr>
              <a:t>Remove</a:t>
            </a:r>
            <a:r>
              <a:rPr lang="zh-CN" altLang="en-US" sz="2100" b="1" dirty="0">
                <a:solidFill>
                  <a:srgbClr val="C00000"/>
                </a:solidFill>
              </a:rPr>
              <a:t>方法</a:t>
            </a:r>
            <a:r>
              <a:rPr lang="zh-CN" altLang="en-US" sz="2100" b="1" dirty="0">
                <a:solidFill>
                  <a:srgbClr val="00B050"/>
                </a:solidFill>
              </a:rPr>
              <a:t>：  </a:t>
            </a:r>
            <a:r>
              <a:rPr lang="en-US" altLang="zh-CN" sz="2100" b="1" dirty="0" err="1">
                <a:solidFill>
                  <a:srgbClr val="00B050"/>
                </a:solidFill>
              </a:rPr>
              <a:t>listN.remove</a:t>
            </a:r>
            <a:r>
              <a:rPr lang="en-US" altLang="zh-CN" sz="2100" b="1" dirty="0">
                <a:solidFill>
                  <a:srgbClr val="00B050"/>
                </a:solidFill>
              </a:rPr>
              <a:t>(</a:t>
            </a:r>
            <a:r>
              <a:rPr lang="zh-CN" altLang="en-US" sz="2100" b="1" dirty="0">
                <a:solidFill>
                  <a:srgbClr val="00B050"/>
                </a:solidFill>
              </a:rPr>
              <a:t>列表值或</a:t>
            </a:r>
            <a:r>
              <a:rPr lang="en-US" altLang="zh-CN" sz="2100" b="1" dirty="0" err="1">
                <a:solidFill>
                  <a:srgbClr val="00B050"/>
                </a:solidFill>
              </a:rPr>
              <a:t>listN</a:t>
            </a:r>
            <a:r>
              <a:rPr lang="en-US" altLang="zh-CN" sz="2100" b="1" dirty="0">
                <a:solidFill>
                  <a:srgbClr val="00B050"/>
                </a:solidFill>
              </a:rPr>
              <a:t>[index])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lang="en-US" altLang="zh-CN" sz="2100" b="1" dirty="0">
                <a:solidFill>
                  <a:srgbClr val="00B050"/>
                </a:solidFill>
              </a:rPr>
              <a:t>     </a:t>
            </a:r>
            <a:r>
              <a:rPr lang="zh-CN" altLang="en-US" sz="2100" dirty="0"/>
              <a:t>例如：</a:t>
            </a:r>
            <a:r>
              <a:rPr lang="en-US" altLang="zh-CN" sz="2100" dirty="0" err="1"/>
              <a:t>lt</a:t>
            </a:r>
            <a:r>
              <a:rPr lang="en-US" altLang="zh-CN" sz="2100" dirty="0"/>
              <a:t>=[10,20,30,10,25,20,30] 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lang="en-US" altLang="zh-CN" sz="2100" dirty="0"/>
              <a:t>     </a:t>
            </a:r>
            <a:r>
              <a:rPr lang="en-US" altLang="zh-CN" sz="2100" dirty="0" err="1"/>
              <a:t>lt.remove</a:t>
            </a:r>
            <a:r>
              <a:rPr lang="en-US" altLang="zh-CN" sz="2100" dirty="0"/>
              <a:t>(20) </a:t>
            </a:r>
            <a:r>
              <a:rPr lang="zh-CN" altLang="en-US" sz="2100" dirty="0"/>
              <a:t>或者</a:t>
            </a:r>
            <a:r>
              <a:rPr lang="en-US" altLang="zh-CN" sz="2100" b="1" dirty="0" err="1">
                <a:solidFill>
                  <a:srgbClr val="0070C0"/>
                </a:solidFill>
              </a:rPr>
              <a:t>lt.remove</a:t>
            </a:r>
            <a:r>
              <a:rPr lang="en-US" altLang="zh-CN" sz="2100" b="1" dirty="0">
                <a:solidFill>
                  <a:srgbClr val="0070C0"/>
                </a:solidFill>
              </a:rPr>
              <a:t>(</a:t>
            </a:r>
            <a:r>
              <a:rPr lang="en-US" altLang="zh-CN" sz="2100" b="1" dirty="0" err="1">
                <a:solidFill>
                  <a:srgbClr val="0070C0"/>
                </a:solidFill>
              </a:rPr>
              <a:t>lt</a:t>
            </a:r>
            <a:r>
              <a:rPr lang="en-US" altLang="zh-CN" sz="2100" b="1" dirty="0">
                <a:solidFill>
                  <a:srgbClr val="0070C0"/>
                </a:solidFill>
              </a:rPr>
              <a:t>[-2])        </a:t>
            </a:r>
            <a:r>
              <a:rPr lang="en-US" altLang="zh-CN" sz="2100" dirty="0"/>
              <a:t>#</a:t>
            </a:r>
            <a:r>
              <a:rPr lang="zh-CN" altLang="en-US" sz="2100" dirty="0"/>
              <a:t>结果都是</a:t>
            </a:r>
            <a:r>
              <a:rPr lang="en-US" altLang="zh-CN" sz="2100" dirty="0"/>
              <a:t>[10, 30, 10, 25, 20, 30]</a:t>
            </a:r>
            <a:endParaRPr lang="en-US" altLang="zh-CN" sz="21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altLang="zh-CN" sz="2100" b="1" dirty="0">
                <a:solidFill>
                  <a:srgbClr val="C00000"/>
                </a:solidFill>
              </a:rPr>
              <a:t>clear()</a:t>
            </a:r>
            <a:r>
              <a:rPr lang="zh-CN" altLang="en-US" sz="2100" b="1" dirty="0">
                <a:solidFill>
                  <a:srgbClr val="C00000"/>
                </a:solidFill>
              </a:rPr>
              <a:t>：</a:t>
            </a:r>
            <a:r>
              <a:rPr lang="zh-CN" altLang="en-US" sz="2100" b="1" dirty="0">
                <a:solidFill>
                  <a:srgbClr val="00B050"/>
                </a:solidFill>
              </a:rPr>
              <a:t>删除列表所有元素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100" dirty="0"/>
              <a:t>     例如： </a:t>
            </a:r>
            <a:r>
              <a:rPr lang="en-US" altLang="zh-CN" sz="2100" dirty="0" err="1"/>
              <a:t>lt.clear</a:t>
            </a:r>
            <a:r>
              <a:rPr lang="en-US" altLang="zh-CN" sz="2100" dirty="0"/>
              <a:t>()</a:t>
            </a:r>
            <a:r>
              <a:rPr lang="zh-CN" altLang="en-US" sz="2100" dirty="0"/>
              <a:t>      </a:t>
            </a:r>
            <a:r>
              <a:rPr lang="en-US" altLang="zh-CN" sz="2100" dirty="0"/>
              <a:t>#</a:t>
            </a:r>
            <a:r>
              <a:rPr lang="en-US" altLang="zh-CN" sz="2100" dirty="0" err="1"/>
              <a:t>lt</a:t>
            </a:r>
            <a:r>
              <a:rPr lang="zh-CN" altLang="en-US" sz="2100" dirty="0"/>
              <a:t>的结果为空列表</a:t>
            </a:r>
            <a:r>
              <a:rPr lang="en-US" altLang="zh-CN" sz="2100" dirty="0"/>
              <a:t>[]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0E82ED-6D3A-426C-BD40-F9F4CD663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635" y="2468894"/>
            <a:ext cx="4029521" cy="71134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33F3AE4-2D85-478D-BE7D-80AFF9243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9828" y="3302000"/>
            <a:ext cx="1758326" cy="25400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2541E40-9214-493B-9AD4-6F289EC3C777}"/>
              </a:ext>
            </a:extLst>
          </p:cNvPr>
          <p:cNvSpPr/>
          <p:nvPr/>
        </p:nvSpPr>
        <p:spPr>
          <a:xfrm>
            <a:off x="5904049" y="4072596"/>
            <a:ext cx="3860083" cy="484691"/>
          </a:xfrm>
          <a:prstGeom prst="rect">
            <a:avLst/>
          </a:prstGeom>
          <a:solidFill>
            <a:srgbClr val="FFFF00"/>
          </a:solidFill>
        </p:spPr>
        <p:txBody>
          <a:bodyPr wrap="none" lIns="121884" tIns="60941" rIns="121884" bIns="60941">
            <a:spAutoFit/>
          </a:bodyPr>
          <a:lstStyle/>
          <a:p>
            <a:pPr defTabSz="91421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</a:pP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注意：若有重复项，总是删除第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项</a:t>
            </a:r>
            <a:endParaRPr lang="en-US" altLang="zh-CN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8530648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817324" y="512676"/>
            <a:ext cx="5258625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2" tIns="45706" rIns="91412" bIns="45706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列表的切片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817323" y="1440925"/>
            <a:ext cx="7678077" cy="50405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12" tIns="45706" rIns="91412" bIns="45706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11081" indent="-342831" algn="just" defTabSz="914217" eaLnBrk="1" hangingPunct="1">
              <a:lnSpc>
                <a:spcPct val="150000"/>
              </a:lnSpc>
              <a:buClr>
                <a:srgbClr val="BF311A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切片适用于</a:t>
            </a:r>
            <a:r>
              <a:rPr lang="zh-CN" altLang="en-US" sz="2400" b="1" dirty="0">
                <a:solidFill>
                  <a:srgbClr val="C00000"/>
                </a:solidFill>
                <a:latin typeface="Arial"/>
              </a:rPr>
              <a:t>列表</a:t>
            </a: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、元组、字符串、</a:t>
            </a: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range</a:t>
            </a: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等类型</a:t>
            </a:r>
            <a:endParaRPr lang="en-US" altLang="zh-CN" sz="2400" dirty="0">
              <a:solidFill>
                <a:srgbClr val="000000"/>
              </a:solidFill>
              <a:latin typeface="Arial"/>
            </a:endParaRPr>
          </a:p>
          <a:p>
            <a:pPr marL="411081" indent="-342831" algn="just" defTabSz="914217" eaLnBrk="1" hangingPunct="1">
              <a:lnSpc>
                <a:spcPct val="150000"/>
              </a:lnSpc>
              <a:buClr>
                <a:srgbClr val="BF311A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功能：</a:t>
            </a:r>
            <a:endParaRPr lang="en-US" altLang="zh-CN" sz="2400" dirty="0">
              <a:solidFill>
                <a:srgbClr val="000000"/>
              </a:solidFill>
              <a:latin typeface="Arial"/>
            </a:endParaRPr>
          </a:p>
          <a:p>
            <a:pPr marL="739627" lvl="1" indent="-285693" algn="just" defTabSz="914217" eaLnBrk="1" hangingPunct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Arial"/>
              </a:rPr>
              <a:t>截取</a:t>
            </a: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列表中的部分元素，得到一个新列表</a:t>
            </a:r>
            <a:endParaRPr lang="en-US" altLang="zh-CN" sz="2400" dirty="0">
              <a:solidFill>
                <a:srgbClr val="000000"/>
              </a:solidFill>
              <a:latin typeface="Arial"/>
            </a:endParaRPr>
          </a:p>
          <a:p>
            <a:pPr marL="739627" lvl="1" indent="-285693" algn="just" defTabSz="914217" eaLnBrk="1" hangingPunct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通过切片</a:t>
            </a:r>
            <a:r>
              <a:rPr lang="zh-CN" altLang="en-US" sz="2400" b="1" dirty="0">
                <a:solidFill>
                  <a:srgbClr val="C00000"/>
                </a:solidFill>
                <a:latin typeface="Arial"/>
              </a:rPr>
              <a:t>修改或删除</a:t>
            </a: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列表中部分元素</a:t>
            </a:r>
            <a:endParaRPr lang="en-US" altLang="zh-CN" sz="2400" dirty="0">
              <a:solidFill>
                <a:srgbClr val="000000"/>
              </a:solidFill>
              <a:latin typeface="Arial"/>
            </a:endParaRPr>
          </a:p>
          <a:p>
            <a:pPr marL="739627" lvl="1" indent="-285693" algn="just" defTabSz="914217" eaLnBrk="1" hangingPunct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通过切片为列表对象</a:t>
            </a:r>
            <a:r>
              <a:rPr lang="zh-CN" altLang="en-US" sz="2400" b="1" dirty="0">
                <a:solidFill>
                  <a:srgbClr val="C00000"/>
                </a:solidFill>
                <a:latin typeface="Arial"/>
              </a:rPr>
              <a:t>增加</a:t>
            </a: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元素</a:t>
            </a:r>
            <a:endParaRPr lang="en-US" altLang="zh-CN" sz="2400" dirty="0">
              <a:solidFill>
                <a:srgbClr val="000000"/>
              </a:solidFill>
              <a:latin typeface="Arial"/>
            </a:endParaRPr>
          </a:p>
          <a:p>
            <a:pPr marL="411081" indent="-342831" algn="just" defTabSz="914217" eaLnBrk="1" hangingPunct="1">
              <a:lnSpc>
                <a:spcPct val="150000"/>
              </a:lnSpc>
              <a:buClr>
                <a:srgbClr val="BF311A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形式：</a:t>
            </a:r>
            <a:r>
              <a:rPr lang="en-US" altLang="zh-CN" sz="2400" dirty="0" err="1">
                <a:solidFill>
                  <a:srgbClr val="000000"/>
                </a:solidFill>
                <a:latin typeface="Arial"/>
              </a:rPr>
              <a:t>ls</a:t>
            </a: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latin typeface="Arial"/>
              </a:rPr>
              <a:t>m:n:step</a:t>
            </a: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]</a:t>
            </a: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，</a:t>
            </a:r>
            <a:r>
              <a:rPr lang="zh-CN" altLang="en-US" sz="2400" b="1" dirty="0">
                <a:solidFill>
                  <a:srgbClr val="00B050"/>
                </a:solidFill>
                <a:latin typeface="Arial"/>
              </a:rPr>
              <a:t>左闭右开</a:t>
            </a:r>
            <a:endParaRPr lang="en-US" altLang="zh-CN" sz="2400" b="1" dirty="0">
              <a:solidFill>
                <a:srgbClr val="00B050"/>
              </a:solidFill>
              <a:latin typeface="Arial"/>
            </a:endParaRPr>
          </a:p>
          <a:p>
            <a:pPr marL="739627" lvl="1" indent="-285693" algn="just" defTabSz="914217" eaLnBrk="1" hangingPunct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m: </a:t>
            </a: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切片开始位置，默认为</a:t>
            </a: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0</a:t>
            </a:r>
          </a:p>
          <a:p>
            <a:pPr marL="739627" lvl="1" indent="-285693" algn="just" defTabSz="914217" eaLnBrk="1" hangingPunct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n: </a:t>
            </a: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切片截止位置（</a:t>
            </a:r>
            <a:r>
              <a:rPr lang="zh-CN" altLang="en-US" sz="2400" b="1" dirty="0">
                <a:solidFill>
                  <a:srgbClr val="C00000"/>
                </a:solidFill>
                <a:latin typeface="Arial"/>
              </a:rPr>
              <a:t>不包含</a:t>
            </a: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），默认为列表长度</a:t>
            </a:r>
            <a:endParaRPr lang="en-US" altLang="zh-CN" sz="2400" dirty="0">
              <a:solidFill>
                <a:srgbClr val="000000"/>
              </a:solidFill>
              <a:latin typeface="Arial"/>
            </a:endParaRPr>
          </a:p>
          <a:p>
            <a:pPr marL="739627" lvl="1" indent="-285693" algn="just" defTabSz="914217" eaLnBrk="1" hangingPunct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step</a:t>
            </a: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：步长，默认为</a:t>
            </a: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1</a:t>
            </a:r>
          </a:p>
          <a:p>
            <a:pPr marL="739627" lvl="1" indent="-285693" algn="just" defTabSz="914217" eaLnBrk="1" hangingPunct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全部省略时取整个列表</a:t>
            </a:r>
            <a:endParaRPr lang="en-US" altLang="zh-CN" sz="240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375267" y="728700"/>
          <a:ext cx="36099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zh-CN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34290" marB="34290" anchor="ctr"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1"/>
                          </a:solidFill>
                        </a:rPr>
                        <a:t>16.2</a:t>
                      </a:r>
                      <a:endParaRPr lang="zh-CN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34290" marB="34290" anchor="ctr"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1"/>
                          </a:solidFill>
                        </a:rPr>
                        <a:t>8.4</a:t>
                      </a:r>
                      <a:endParaRPr lang="zh-CN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34290" marB="3429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1"/>
                          </a:solidFill>
                        </a:rPr>
                        <a:t>7.6</a:t>
                      </a:r>
                      <a:endParaRPr lang="zh-CN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34290" marB="3429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1"/>
                          </a:solidFill>
                        </a:rPr>
                        <a:t>12.2</a:t>
                      </a:r>
                      <a:endParaRPr lang="zh-CN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34290" marB="34290" anchor="ctr">
                    <a:solidFill>
                      <a:srgbClr val="00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8015521" y="256310"/>
            <a:ext cx="932619" cy="413735"/>
          </a:xfrm>
          <a:prstGeom prst="rect">
            <a:avLst/>
          </a:prstGeom>
        </p:spPr>
        <p:txBody>
          <a:bodyPr wrap="none" lIns="121884" tIns="60941" rIns="121884" bIns="60941">
            <a:spAutoFit/>
          </a:bodyPr>
          <a:lstStyle/>
          <a:p>
            <a:pPr defTabSz="91421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ls[2:4]</a:t>
            </a:r>
          </a:p>
        </p:txBody>
      </p:sp>
    </p:spTree>
    <p:extLst>
      <p:ext uri="{BB962C8B-B14F-4D97-AF65-F5344CB8AC3E}">
        <p14:creationId xmlns:p14="http://schemas.microsoft.com/office/powerpoint/2010/main" val="3948037609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625372" y="260649"/>
            <a:ext cx="7769589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2" tIns="45706" rIns="91412" bIns="45706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sz="3199" dirty="0"/>
              <a:t>5. </a:t>
            </a:r>
            <a:r>
              <a:rPr lang="zh-CN" altLang="en-US" sz="3199" dirty="0"/>
              <a:t>列表运算符： </a:t>
            </a:r>
            <a:r>
              <a:rPr lang="en-US" altLang="zh-CN" sz="3199" dirty="0"/>
              <a:t>+</a:t>
            </a:r>
            <a:r>
              <a:rPr lang="zh-CN" altLang="en-US" sz="3199" dirty="0"/>
              <a:t>、* 和 </a:t>
            </a:r>
            <a:r>
              <a:rPr lang="en-US" altLang="zh-CN" sz="3199" dirty="0"/>
              <a:t>in</a:t>
            </a:r>
            <a:endParaRPr lang="zh-CN" altLang="en-US" sz="3199" dirty="0"/>
          </a:p>
        </p:txBody>
      </p:sp>
      <p:sp>
        <p:nvSpPr>
          <p:cNvPr id="2" name="矩形 1"/>
          <p:cNvSpPr/>
          <p:nvPr/>
        </p:nvSpPr>
        <p:spPr>
          <a:xfrm>
            <a:off x="721347" y="1193649"/>
            <a:ext cx="10583572" cy="42411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1884" tIns="60941" rIns="121884" bIns="60941">
            <a:spAutoFit/>
          </a:bodyPr>
          <a:lstStyle/>
          <a:p>
            <a:pPr marL="449140" indent="-380897" algn="just" defTabSz="914217" fontAlgn="base">
              <a:spcBef>
                <a:spcPct val="0"/>
              </a:spcBef>
              <a:spcAft>
                <a:spcPts val="800"/>
              </a:spcAft>
              <a:buFont typeface="Wingdings" panose="05000000000000000000" pitchFamily="2" charset="2"/>
              <a:buChar char="u"/>
            </a:pPr>
            <a:r>
              <a:rPr lang="en-US" altLang="zh-CN" b="1" dirty="0">
                <a:solidFill>
                  <a:srgbClr val="C00000"/>
                </a:solidFill>
              </a:rPr>
              <a:t>+</a:t>
            </a:r>
            <a:r>
              <a:rPr lang="en-US" altLang="zh-CN" b="1" dirty="0">
                <a:solidFill>
                  <a:srgbClr val="00B050"/>
                </a:solidFill>
              </a:rPr>
              <a:t>  </a:t>
            </a:r>
            <a:r>
              <a:rPr lang="zh-CN" altLang="en-US" b="1" dirty="0">
                <a:solidFill>
                  <a:srgbClr val="00B050"/>
                </a:solidFill>
              </a:rPr>
              <a:t>实现增加元素，返回新列表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677679" lvl="1" algn="just" defTabSz="914217" fontAlgn="base">
              <a:spcBef>
                <a:spcPct val="0"/>
              </a:spcBef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</a:rPr>
              <a:t>fibs=[0,1,1,2,3]	</a:t>
            </a:r>
          </a:p>
          <a:p>
            <a:pPr marL="677679" lvl="1" algn="just" defTabSz="914217" fontAlgn="base">
              <a:spcBef>
                <a:spcPct val="0"/>
              </a:spcBef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</a:rPr>
              <a:t>fibs+[5,8]          # </a:t>
            </a:r>
            <a:r>
              <a:rPr lang="zh-CN" altLang="en-US" dirty="0">
                <a:solidFill>
                  <a:srgbClr val="000000"/>
                </a:solidFill>
              </a:rPr>
              <a:t>显示：</a:t>
            </a:r>
            <a:r>
              <a:rPr lang="en-US" altLang="zh-CN" dirty="0">
                <a:solidFill>
                  <a:srgbClr val="000000"/>
                </a:solidFill>
              </a:rPr>
              <a:t>[0, 1, 1, 2, 3, 5, 8]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fibs</a:t>
            </a:r>
            <a:r>
              <a:rPr lang="zh-CN" altLang="en-US" b="1" dirty="0">
                <a:solidFill>
                  <a:srgbClr val="C00000"/>
                </a:solidFill>
              </a:rPr>
              <a:t>列表本身并没改变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677679" lvl="1" algn="just" defTabSz="914217" fontAlgn="base">
              <a:spcBef>
                <a:spcPct val="0"/>
              </a:spcBef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</a:rPr>
              <a:t>fibs+=[6]           # fibs</a:t>
            </a:r>
            <a:r>
              <a:rPr lang="zh-CN" altLang="en-US" dirty="0">
                <a:solidFill>
                  <a:srgbClr val="000000"/>
                </a:solidFill>
              </a:rPr>
              <a:t>列表变为</a:t>
            </a:r>
            <a:r>
              <a:rPr lang="en-US" altLang="zh-CN" dirty="0">
                <a:solidFill>
                  <a:srgbClr val="000000"/>
                </a:solidFill>
              </a:rPr>
              <a:t> [0, 1, 1, 2, 3, 6]</a:t>
            </a:r>
          </a:p>
          <a:p>
            <a:pPr marL="449140" indent="-380897" algn="just" defTabSz="914217" fontAlgn="base">
              <a:spcBef>
                <a:spcPct val="0"/>
              </a:spcBef>
              <a:spcAft>
                <a:spcPts val="800"/>
              </a:spcAft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00000"/>
                </a:solidFill>
              </a:rPr>
              <a:t> *  </a:t>
            </a:r>
            <a:r>
              <a:rPr lang="zh-CN" altLang="en-US" b="1" dirty="0">
                <a:solidFill>
                  <a:srgbClr val="00B050"/>
                </a:solidFill>
              </a:rPr>
              <a:t>实现序列重复，返回新列表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677679" lvl="1" algn="just" defTabSz="914217" fontAlgn="base">
              <a:spcBef>
                <a:spcPct val="0"/>
              </a:spcBef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</a:rPr>
              <a:t>fibs*2               # </a:t>
            </a:r>
            <a:r>
              <a:rPr lang="zh-CN" altLang="en-US" dirty="0">
                <a:solidFill>
                  <a:srgbClr val="000000"/>
                </a:solidFill>
              </a:rPr>
              <a:t>显示 </a:t>
            </a:r>
            <a:r>
              <a:rPr lang="en-US" altLang="zh-CN" dirty="0">
                <a:solidFill>
                  <a:srgbClr val="000000"/>
                </a:solidFill>
              </a:rPr>
              <a:t>[0, 1, 1, 2, 3, 6, 0, 1, 1, 2, 3, 6]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fibs</a:t>
            </a:r>
            <a:r>
              <a:rPr lang="zh-CN" altLang="en-US" dirty="0">
                <a:solidFill>
                  <a:srgbClr val="000000"/>
                </a:solidFill>
              </a:rPr>
              <a:t>没变</a:t>
            </a:r>
            <a:endParaRPr lang="en-US" altLang="zh-CN" dirty="0">
              <a:solidFill>
                <a:srgbClr val="000000"/>
              </a:solidFill>
            </a:endParaRPr>
          </a:p>
          <a:p>
            <a:pPr marL="677679" lvl="1" algn="just" defTabSz="914217" fontAlgn="base">
              <a:spcBef>
                <a:spcPct val="0"/>
              </a:spcBef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</a:rPr>
              <a:t>fibs*=0             # fibs</a:t>
            </a:r>
            <a:r>
              <a:rPr lang="zh-CN" altLang="en-US" dirty="0">
                <a:solidFill>
                  <a:srgbClr val="000000"/>
                </a:solidFill>
              </a:rPr>
              <a:t>变为空列表</a:t>
            </a:r>
            <a:r>
              <a:rPr lang="en-US" altLang="zh-CN" dirty="0">
                <a:solidFill>
                  <a:srgbClr val="000000"/>
                </a:solidFill>
              </a:rPr>
              <a:t>[]</a:t>
            </a:r>
          </a:p>
          <a:p>
            <a:pPr marL="449140" indent="-380897" algn="just" defTabSz="914217" fontAlgn="base">
              <a:spcBef>
                <a:spcPct val="0"/>
              </a:spcBef>
              <a:spcAft>
                <a:spcPts val="800"/>
              </a:spcAft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in  </a:t>
            </a:r>
            <a:r>
              <a:rPr lang="zh-CN" altLang="en-US" b="1" dirty="0">
                <a:solidFill>
                  <a:srgbClr val="00B050"/>
                </a:solidFill>
              </a:rPr>
              <a:t>用于测试列表中是否包含某个元素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677679" lvl="1" algn="just" defTabSz="914217" fontAlgn="base">
              <a:spcBef>
                <a:spcPct val="0"/>
              </a:spcBef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</a:rPr>
              <a:t>fibs=[0,1,1,2,3,5,8]	</a:t>
            </a:r>
          </a:p>
          <a:p>
            <a:pPr marL="677679" lvl="1" algn="just" defTabSz="914217" fontAlgn="base">
              <a:spcBef>
                <a:spcPct val="0"/>
              </a:spcBef>
              <a:spcAft>
                <a:spcPts val="800"/>
              </a:spcAft>
            </a:pPr>
            <a:r>
              <a:rPr lang="en-US" altLang="zh-CN" dirty="0">
                <a:solidFill>
                  <a:srgbClr val="000000"/>
                </a:solidFill>
              </a:rPr>
              <a:t>3 in fibs          # True</a:t>
            </a:r>
          </a:p>
          <a:p>
            <a:pPr marL="677679" lvl="1" algn="just" defTabSz="914217" fontAlgn="base">
              <a:spcBef>
                <a:spcPct val="0"/>
              </a:spcBef>
              <a:spcAft>
                <a:spcPts val="800"/>
              </a:spcAft>
            </a:pP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'3'  </a:t>
            </a:r>
            <a:r>
              <a:rPr lang="en-US" altLang="zh-CN" dirty="0">
                <a:solidFill>
                  <a:srgbClr val="000000"/>
                </a:solidFill>
              </a:rPr>
              <a:t>in fibs       # False</a:t>
            </a:r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821959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913300" y="452671"/>
            <a:ext cx="7769589" cy="60006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4" tIns="60941" rIns="121884" bIns="60941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5.1.3 </a:t>
            </a:r>
            <a:r>
              <a:rPr lang="zh-CN" altLang="en-US" dirty="0"/>
              <a:t>列表对象方法 </a:t>
            </a:r>
            <a:r>
              <a:rPr lang="en-US" altLang="zh-CN" dirty="0"/>
              <a:t>— append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960313" y="1124745"/>
            <a:ext cx="10318390" cy="273416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12" tIns="45706" rIns="91412" bIns="45706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80897" indent="-380897" defTabSz="914217">
              <a:spcBef>
                <a:spcPts val="0"/>
              </a:spcBef>
              <a:spcAft>
                <a:spcPts val="800"/>
              </a:spcAft>
              <a:buClr>
                <a:srgbClr val="BF311A"/>
              </a:buClr>
              <a:buFont typeface="Wingdings" panose="05000000000000000000" pitchFamily="2" charset="2"/>
              <a:buChar char="u"/>
            </a:pPr>
            <a:r>
              <a:rPr lang="zh-CN" altLang="en-US" sz="2699" b="1" dirty="0">
                <a:solidFill>
                  <a:srgbClr val="00B050"/>
                </a:solidFill>
                <a:latin typeface="Arial"/>
              </a:rPr>
              <a:t>列表</a:t>
            </a:r>
            <a:r>
              <a:rPr lang="en-US" altLang="zh-CN" sz="2699" b="1" dirty="0">
                <a:solidFill>
                  <a:srgbClr val="00B050"/>
                </a:solidFill>
                <a:latin typeface="Arial"/>
              </a:rPr>
              <a:t>.append(object)</a:t>
            </a:r>
            <a:r>
              <a:rPr lang="en-US" altLang="zh-CN" sz="2699" dirty="0">
                <a:solidFill>
                  <a:srgbClr val="00B050"/>
                </a:solidFill>
                <a:latin typeface="Arial"/>
              </a:rPr>
              <a:t>       </a:t>
            </a:r>
            <a:r>
              <a:rPr lang="en-US" altLang="zh-CN" sz="2699" b="1" dirty="0">
                <a:solidFill>
                  <a:srgbClr val="00B050"/>
                </a:solidFill>
                <a:latin typeface="Arial"/>
              </a:rPr>
              <a:t>#</a:t>
            </a:r>
            <a:r>
              <a:rPr lang="zh-CN" altLang="en-US" sz="2699" b="1" dirty="0">
                <a:solidFill>
                  <a:srgbClr val="00B050"/>
                </a:solidFill>
                <a:latin typeface="Arial"/>
              </a:rPr>
              <a:t>向列表尾部追加</a:t>
            </a:r>
            <a:r>
              <a:rPr lang="zh-CN" altLang="en-US" sz="2699" b="1" dirty="0">
                <a:solidFill>
                  <a:srgbClr val="FF0000"/>
                </a:solidFill>
                <a:latin typeface="Arial"/>
              </a:rPr>
              <a:t>一个元素 </a:t>
            </a:r>
            <a:endParaRPr lang="en-US" altLang="zh-CN" sz="2699" b="1" dirty="0">
              <a:solidFill>
                <a:srgbClr val="FF0000"/>
              </a:solidFill>
              <a:latin typeface="Arial"/>
            </a:endParaRPr>
          </a:p>
          <a:p>
            <a:pPr marL="0" indent="0" defTabSz="914217">
              <a:spcBef>
                <a:spcPts val="0"/>
              </a:spcBef>
              <a:spcAft>
                <a:spcPts val="800"/>
              </a:spcAft>
              <a:buClr>
                <a:srgbClr val="BF311A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Arial"/>
              </a:rPr>
              <a:t>x.append</a:t>
            </a: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(6,7)    #</a:t>
            </a: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报错：</a:t>
            </a: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append() takes exactly one argument (2 given)</a:t>
            </a:r>
          </a:p>
          <a:p>
            <a:pPr marL="0" indent="0" defTabSz="914217">
              <a:spcBef>
                <a:spcPts val="0"/>
              </a:spcBef>
              <a:spcAft>
                <a:spcPts val="800"/>
              </a:spcAft>
              <a:buClr>
                <a:srgbClr val="BF311A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Arial"/>
              </a:rPr>
              <a:t>x.append</a:t>
            </a: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([6,7])  # </a:t>
            </a:r>
            <a:r>
              <a:rPr lang="zh-CN" altLang="en-US" sz="2400" dirty="0">
                <a:solidFill>
                  <a:srgbClr val="000000"/>
                </a:solidFill>
                <a:latin typeface="Arial"/>
              </a:rPr>
              <a:t>追加一个列表元素</a:t>
            </a:r>
            <a:r>
              <a:rPr lang="en-US" altLang="zh-CN" sz="2400" dirty="0">
                <a:solidFill>
                  <a:srgbClr val="000000"/>
                </a:solidFill>
                <a:latin typeface="Arial"/>
              </a:rPr>
              <a:t>[1, 5, 8, 6, [6, 7]]</a:t>
            </a:r>
          </a:p>
          <a:p>
            <a:pPr marL="525320" indent="-342831" defTabSz="914217">
              <a:buClr>
                <a:srgbClr val="BF311A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00000"/>
                </a:solidFill>
                <a:latin typeface="Arial"/>
              </a:rPr>
              <a:t>思考</a:t>
            </a:r>
            <a:r>
              <a:rPr lang="zh-CN" altLang="en-US" sz="2400" dirty="0">
                <a:solidFill>
                  <a:srgbClr val="C00000"/>
                </a:solidFill>
                <a:latin typeface="Arial"/>
              </a:rPr>
              <a:t>：</a:t>
            </a: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append</a:t>
            </a:r>
            <a:r>
              <a:rPr lang="zh-CN" altLang="en-US" sz="2100" dirty="0">
                <a:solidFill>
                  <a:srgbClr val="000000"/>
                </a:solidFill>
                <a:latin typeface="Arial"/>
              </a:rPr>
              <a:t>方法与列表的 </a:t>
            </a: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+ </a:t>
            </a:r>
            <a:r>
              <a:rPr lang="zh-CN" altLang="en-US" sz="2100" dirty="0">
                <a:solidFill>
                  <a:srgbClr val="000000"/>
                </a:solidFill>
                <a:latin typeface="Arial"/>
              </a:rPr>
              <a:t>运算有何不同？</a:t>
            </a:r>
            <a:endParaRPr lang="en-US" altLang="zh-CN" sz="2100" dirty="0">
              <a:solidFill>
                <a:srgbClr val="000000"/>
              </a:solidFill>
              <a:latin typeface="Arial"/>
            </a:endParaRPr>
          </a:p>
          <a:p>
            <a:pPr marL="182488" indent="0" defTabSz="914217">
              <a:buClr>
                <a:srgbClr val="BF311A"/>
              </a:buClr>
              <a:buNone/>
            </a:pP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          + </a:t>
            </a:r>
            <a:r>
              <a:rPr lang="zh-CN" altLang="en-US" sz="2100" dirty="0">
                <a:solidFill>
                  <a:srgbClr val="000000"/>
                </a:solidFill>
                <a:latin typeface="Arial"/>
              </a:rPr>
              <a:t>只能连接一个列表</a:t>
            </a:r>
            <a:endParaRPr lang="en-US" altLang="zh-CN" sz="2100" dirty="0">
              <a:solidFill>
                <a:srgbClr val="000000"/>
              </a:solidFill>
              <a:latin typeface="Arial"/>
            </a:endParaRPr>
          </a:p>
          <a:p>
            <a:pPr marL="68244" indent="0" algn="just" defTabSz="914217" eaLnBrk="1" hangingPunct="1">
              <a:buClr>
                <a:srgbClr val="BF311A"/>
              </a:buClr>
              <a:buNone/>
            </a:pP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zh-CN" sz="2100" b="1" dirty="0">
                <a:solidFill>
                  <a:srgbClr val="C00000"/>
                </a:solidFill>
                <a:latin typeface="Arial"/>
              </a:rPr>
              <a:t>+ </a:t>
            </a:r>
            <a:r>
              <a:rPr lang="zh-CN" altLang="en-US" sz="2100" b="1" dirty="0">
                <a:solidFill>
                  <a:srgbClr val="C00000"/>
                </a:solidFill>
                <a:latin typeface="Arial"/>
              </a:rPr>
              <a:t>可能会改变内存地址，</a:t>
            </a:r>
            <a:r>
              <a:rPr lang="en-US" altLang="zh-CN" sz="2100" b="1" dirty="0">
                <a:solidFill>
                  <a:srgbClr val="C00000"/>
                </a:solidFill>
                <a:latin typeface="Arial"/>
              </a:rPr>
              <a:t>append </a:t>
            </a:r>
            <a:r>
              <a:rPr lang="zh-CN" altLang="en-US" sz="2100" b="1" dirty="0">
                <a:solidFill>
                  <a:srgbClr val="C00000"/>
                </a:solidFill>
                <a:latin typeface="Arial"/>
              </a:rPr>
              <a:t>则不会</a:t>
            </a:r>
            <a:endParaRPr lang="en-US" altLang="zh-CN" sz="2100" b="1" dirty="0">
              <a:solidFill>
                <a:srgbClr val="C00000"/>
              </a:solidFill>
              <a:latin typeface="Arial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3300" y="3858904"/>
            <a:ext cx="5278677" cy="226931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121884" tIns="60941" rIns="121884" bIns="60941">
            <a:spAutoFit/>
          </a:bodyPr>
          <a:lstStyle/>
          <a:p>
            <a:pPr algn="just" defTabSz="91421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 </a:t>
            </a: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计算斐波那契数列前</a:t>
            </a: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endParaRPr lang="en-US" altLang="zh-CN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06275" lvl="1" defTabSz="91421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Arial"/>
              </a:rPr>
              <a:t>fib=[0,1]</a:t>
            </a:r>
            <a:endParaRPr lang="zh-CN" altLang="zh-CN" dirty="0">
              <a:solidFill>
                <a:srgbClr val="000000"/>
              </a:solidFill>
              <a:latin typeface="Arial"/>
            </a:endParaRPr>
          </a:p>
          <a:p>
            <a:pPr marL="506275" lvl="1" defTabSz="91421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Arial"/>
              </a:rPr>
              <a:t>for </a:t>
            </a:r>
            <a:r>
              <a:rPr lang="en-US" altLang="zh-CN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Arial"/>
              </a:rPr>
              <a:t> in range(2,10):     #</a:t>
            </a:r>
            <a:r>
              <a:rPr lang="zh-CN" altLang="zh-CN" sz="1600" dirty="0">
                <a:solidFill>
                  <a:srgbClr val="000000"/>
                </a:solidFill>
                <a:latin typeface="Arial"/>
              </a:rPr>
              <a:t>从</a:t>
            </a:r>
            <a:r>
              <a:rPr lang="en-US" altLang="zh-CN" sz="1600" dirty="0">
                <a:solidFill>
                  <a:srgbClr val="000000"/>
                </a:solidFill>
                <a:latin typeface="Arial"/>
              </a:rPr>
              <a:t>2</a:t>
            </a:r>
            <a:r>
              <a:rPr lang="zh-CN" altLang="zh-CN" sz="1600" dirty="0">
                <a:solidFill>
                  <a:srgbClr val="000000"/>
                </a:solidFill>
                <a:latin typeface="Arial"/>
              </a:rPr>
              <a:t>开始</a:t>
            </a:r>
            <a:endParaRPr lang="zh-CN" altLang="zh-CN" dirty="0">
              <a:solidFill>
                <a:srgbClr val="000000"/>
              </a:solidFill>
              <a:latin typeface="Arial"/>
            </a:endParaRPr>
          </a:p>
          <a:p>
            <a:pPr marL="506275" lvl="1" defTabSz="91421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Arial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Arial"/>
              </a:rPr>
              <a:t>fib.append</a:t>
            </a:r>
            <a:r>
              <a:rPr lang="en-US" altLang="zh-CN" dirty="0">
                <a:solidFill>
                  <a:srgbClr val="000000"/>
                </a:solidFill>
                <a:latin typeface="Arial"/>
              </a:rPr>
              <a:t>(fib[i-1]+fib[i-2])</a:t>
            </a:r>
          </a:p>
          <a:p>
            <a:pPr marL="506275" lvl="1" defTabSz="91421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Arial"/>
              </a:rPr>
              <a:t>    # fib +=</a:t>
            </a:r>
            <a:r>
              <a:rPr lang="en-US" altLang="zh-CN" dirty="0">
                <a:solidFill>
                  <a:srgbClr val="C00000"/>
                </a:solidFill>
                <a:latin typeface="Arial"/>
              </a:rPr>
              <a:t>[</a:t>
            </a:r>
            <a:r>
              <a:rPr lang="en-US" altLang="zh-CN" dirty="0">
                <a:solidFill>
                  <a:srgbClr val="000000"/>
                </a:solidFill>
                <a:latin typeface="Arial"/>
              </a:rPr>
              <a:t> fib[i-1]+fib[i-2] </a:t>
            </a:r>
            <a:r>
              <a:rPr lang="en-US" altLang="zh-CN" dirty="0">
                <a:solidFill>
                  <a:srgbClr val="C00000"/>
                </a:solidFill>
                <a:latin typeface="Arial"/>
              </a:rPr>
              <a:t>]</a:t>
            </a:r>
            <a:endParaRPr lang="zh-CN" altLang="zh-CN" dirty="0">
              <a:solidFill>
                <a:srgbClr val="C00000"/>
              </a:solidFill>
              <a:latin typeface="Arial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45B05D-D2CB-49EC-A642-ADF334433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966" y="3868918"/>
            <a:ext cx="4751785" cy="74976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B68451A-84FE-4549-B433-F458B9347956}"/>
              </a:ext>
            </a:extLst>
          </p:cNvPr>
          <p:cNvSpPr/>
          <p:nvPr/>
        </p:nvSpPr>
        <p:spPr>
          <a:xfrm>
            <a:off x="6383966" y="4796835"/>
            <a:ext cx="4751785" cy="1272144"/>
          </a:xfrm>
          <a:prstGeom prst="rect">
            <a:avLst/>
          </a:prstGeom>
          <a:solidFill>
            <a:srgbClr val="FFFF00"/>
          </a:solidFill>
        </p:spPr>
        <p:txBody>
          <a:bodyPr wrap="square" lIns="121884" tIns="60941" rIns="121884" bIns="60941">
            <a:spAutoFit/>
          </a:bodyPr>
          <a:lstStyle/>
          <a:p>
            <a:pPr defTabSz="91421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#修订如下：</a:t>
            </a:r>
          </a:p>
          <a:p>
            <a:pPr defTabSz="91421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fib=[0,1]+[0]*8</a:t>
            </a:r>
          </a:p>
          <a:p>
            <a:pPr defTabSz="91421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 i in range(2,10): 	</a:t>
            </a:r>
          </a:p>
          <a:p>
            <a:pPr defTabSz="91421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fib[i] =fib[i-1]+fib[i-2]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9C568CB-46CC-459A-BD50-8A2BE7584660}"/>
              </a:ext>
            </a:extLst>
          </p:cNvPr>
          <p:cNvCxnSpPr>
            <a:cxnSpLocks/>
          </p:cNvCxnSpPr>
          <p:nvPr/>
        </p:nvCxnSpPr>
        <p:spPr bwMode="auto">
          <a:xfrm flipV="1">
            <a:off x="4560386" y="4485117"/>
            <a:ext cx="2327904" cy="134414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97576249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3411" y="356659"/>
            <a:ext cx="11030194" cy="675813"/>
          </a:xfrm>
        </p:spPr>
        <p:txBody>
          <a:bodyPr/>
          <a:lstStyle/>
          <a:p>
            <a:r>
              <a:rPr lang="zh-CN" altLang="en-US" sz="3199" dirty="0"/>
              <a:t>列表对象常用方法</a:t>
            </a:r>
            <a:endParaRPr lang="zh-CN" altLang="en-US" sz="2400" b="0" dirty="0">
              <a:solidFill>
                <a:schemeClr val="tx1"/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73409" y="1220756"/>
            <a:ext cx="10893220" cy="518457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zh-CN" altLang="en-US" sz="2100" dirty="0"/>
              <a:t>设</a:t>
            </a:r>
            <a:r>
              <a:rPr lang="en-US" altLang="zh-CN" sz="2100" dirty="0"/>
              <a:t>x=[1,5,8,6]</a:t>
            </a:r>
            <a:endParaRPr lang="en-US" altLang="zh-CN" sz="2100" b="1" dirty="0">
              <a:solidFill>
                <a:srgbClr val="00B05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100" b="1" dirty="0" err="1">
                <a:solidFill>
                  <a:srgbClr val="C00000"/>
                </a:solidFill>
              </a:rPr>
              <a:t>x.insert</a:t>
            </a:r>
            <a:r>
              <a:rPr lang="en-US" altLang="zh-CN" sz="2100" b="1" dirty="0">
                <a:solidFill>
                  <a:srgbClr val="C00000"/>
                </a:solidFill>
              </a:rPr>
              <a:t>(</a:t>
            </a:r>
            <a:r>
              <a:rPr lang="en-US" altLang="zh-CN" sz="2100" b="1" dirty="0" err="1">
                <a:solidFill>
                  <a:srgbClr val="C00000"/>
                </a:solidFill>
              </a:rPr>
              <a:t>index,object</a:t>
            </a:r>
            <a:r>
              <a:rPr lang="en-US" altLang="zh-CN" sz="2100" b="1" dirty="0">
                <a:solidFill>
                  <a:srgbClr val="C00000"/>
                </a:solidFill>
              </a:rPr>
              <a:t>)</a:t>
            </a:r>
            <a:r>
              <a:rPr lang="en-US" altLang="zh-CN" sz="2100" b="1" dirty="0">
                <a:solidFill>
                  <a:srgbClr val="00B050"/>
                </a:solidFill>
              </a:rPr>
              <a:t>  </a:t>
            </a:r>
            <a:r>
              <a:rPr lang="en-US" altLang="zh-CN" sz="2100" b="1" dirty="0">
                <a:solidFill>
                  <a:srgbClr val="0070C0"/>
                </a:solidFill>
              </a:rPr>
              <a:t>#</a:t>
            </a:r>
            <a:r>
              <a:rPr lang="zh-CN" altLang="en-US" sz="2100" b="1" dirty="0">
                <a:solidFill>
                  <a:srgbClr val="0070C0"/>
                </a:solidFill>
              </a:rPr>
              <a:t>将元素插入在指定索引位置</a:t>
            </a:r>
            <a:endParaRPr lang="en-US" altLang="zh-CN" sz="2100" b="1" dirty="0">
              <a:solidFill>
                <a:srgbClr val="0070C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100" dirty="0" err="1"/>
              <a:t>x.insert</a:t>
            </a:r>
            <a:r>
              <a:rPr lang="en-US" altLang="zh-CN" sz="2100" dirty="0"/>
              <a:t>(0,2)        #</a:t>
            </a:r>
            <a:r>
              <a:rPr lang="zh-CN" altLang="en-US" sz="2100" dirty="0"/>
              <a:t> 将</a:t>
            </a:r>
            <a:r>
              <a:rPr lang="en-US" altLang="zh-CN" sz="2100" dirty="0"/>
              <a:t>2</a:t>
            </a:r>
            <a:r>
              <a:rPr lang="zh-CN" altLang="en-US" sz="2100" dirty="0"/>
              <a:t>插在索引为</a:t>
            </a:r>
            <a:r>
              <a:rPr lang="en-US" altLang="zh-CN" sz="2100" dirty="0"/>
              <a:t>0</a:t>
            </a:r>
            <a:r>
              <a:rPr lang="zh-CN" altLang="en-US" sz="2100" dirty="0"/>
              <a:t>处：</a:t>
            </a:r>
            <a:r>
              <a:rPr lang="en-US" altLang="zh-CN" sz="2100" dirty="0"/>
              <a:t> [2, 1, 5, 8, 6]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100" b="1" dirty="0" err="1">
                <a:solidFill>
                  <a:srgbClr val="C00000"/>
                </a:solidFill>
              </a:rPr>
              <a:t>x.extend</a:t>
            </a:r>
            <a:r>
              <a:rPr lang="en-US" altLang="zh-CN" sz="2100" b="1" dirty="0">
                <a:solidFill>
                  <a:srgbClr val="C00000"/>
                </a:solidFill>
              </a:rPr>
              <a:t>(</a:t>
            </a:r>
            <a:r>
              <a:rPr lang="en-US" altLang="zh-CN" sz="2100" b="1" dirty="0" err="1">
                <a:solidFill>
                  <a:srgbClr val="C00000"/>
                </a:solidFill>
              </a:rPr>
              <a:t>iterable</a:t>
            </a:r>
            <a:r>
              <a:rPr lang="en-US" altLang="zh-CN" sz="2100" b="1" dirty="0">
                <a:solidFill>
                  <a:srgbClr val="C00000"/>
                </a:solidFill>
              </a:rPr>
              <a:t>)</a:t>
            </a:r>
            <a:r>
              <a:rPr lang="en-US" altLang="zh-CN" sz="2100" b="1" dirty="0">
                <a:solidFill>
                  <a:srgbClr val="00B050"/>
                </a:solidFill>
              </a:rPr>
              <a:t>       </a:t>
            </a:r>
            <a:r>
              <a:rPr lang="en-US" altLang="zh-CN" sz="2100" b="1" dirty="0">
                <a:solidFill>
                  <a:srgbClr val="0070C0"/>
                </a:solidFill>
              </a:rPr>
              <a:t>#</a:t>
            </a:r>
            <a:r>
              <a:rPr lang="zh-CN" altLang="en-US" sz="2100" b="1" dirty="0">
                <a:solidFill>
                  <a:srgbClr val="0070C0"/>
                </a:solidFill>
              </a:rPr>
              <a:t>将序列中的所有元素添加在末尾</a:t>
            </a:r>
            <a:endParaRPr lang="en-US" altLang="zh-CN" sz="2100" b="1" dirty="0">
              <a:solidFill>
                <a:srgbClr val="0070C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100" dirty="0" err="1"/>
              <a:t>x.extend</a:t>
            </a:r>
            <a:r>
              <a:rPr lang="en-US" altLang="zh-CN" sz="2100" dirty="0"/>
              <a:t>([11,12,13])       # [2, 1, 5, 8, 6, 11, 12, 13]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100" b="1" dirty="0" err="1">
                <a:solidFill>
                  <a:srgbClr val="C00000"/>
                </a:solidFill>
              </a:rPr>
              <a:t>x.sort</a:t>
            </a:r>
            <a:r>
              <a:rPr lang="en-US" altLang="zh-CN" sz="2100" b="1" dirty="0">
                <a:solidFill>
                  <a:srgbClr val="C00000"/>
                </a:solidFill>
              </a:rPr>
              <a:t>()   </a:t>
            </a:r>
            <a:r>
              <a:rPr lang="en-US" altLang="zh-CN" sz="2100" b="1" dirty="0">
                <a:solidFill>
                  <a:srgbClr val="0070C0"/>
                </a:solidFill>
              </a:rPr>
              <a:t>#</a:t>
            </a:r>
            <a:r>
              <a:rPr lang="zh-CN" altLang="en-US" sz="2100" b="1" dirty="0">
                <a:solidFill>
                  <a:srgbClr val="0070C0"/>
                </a:solidFill>
              </a:rPr>
              <a:t>列表元素排列，降序指定：</a:t>
            </a:r>
            <a:r>
              <a:rPr lang="en-US" altLang="zh-CN" sz="2100" b="1" dirty="0">
                <a:solidFill>
                  <a:srgbClr val="0070C0"/>
                </a:solidFill>
              </a:rPr>
              <a:t>reverse=True</a:t>
            </a:r>
            <a:r>
              <a:rPr lang="zh-CN" altLang="en-US" sz="2100" b="1" dirty="0">
                <a:solidFill>
                  <a:srgbClr val="0070C0"/>
                </a:solidFill>
              </a:rPr>
              <a:t>，列表中元素是可比较的</a:t>
            </a:r>
            <a:endParaRPr lang="en-US" altLang="zh-CN" sz="2100" b="1" dirty="0">
              <a:solidFill>
                <a:srgbClr val="0070C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100" dirty="0"/>
              <a:t>L=['abc',1,3,18.9]; </a:t>
            </a:r>
            <a:r>
              <a:rPr lang="en-US" altLang="zh-CN" sz="2100" dirty="0" err="1"/>
              <a:t>L.sort</a:t>
            </a:r>
            <a:r>
              <a:rPr lang="en-US" altLang="zh-CN" sz="2100" dirty="0"/>
              <a:t>()</a:t>
            </a:r>
            <a:r>
              <a:rPr lang="en-US" altLang="zh-CN" sz="2100" dirty="0">
                <a:solidFill>
                  <a:srgbClr val="FF0000"/>
                </a:solidFill>
              </a:rPr>
              <a:t>×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100" dirty="0"/>
              <a:t> </a:t>
            </a:r>
            <a:r>
              <a:rPr lang="en-US" altLang="zh-CN" sz="2100" dirty="0" err="1"/>
              <a:t>L.sort</a:t>
            </a:r>
            <a:r>
              <a:rPr lang="en-US" altLang="zh-CN" sz="2100" dirty="0"/>
              <a:t>(key=</a:t>
            </a:r>
            <a:r>
              <a:rPr lang="en-US" altLang="zh-CN" sz="2100" dirty="0" err="1"/>
              <a:t>str</a:t>
            </a:r>
            <a:r>
              <a:rPr lang="en-US" altLang="zh-CN" sz="2100" dirty="0"/>
              <a:t>)</a:t>
            </a:r>
            <a:r>
              <a:rPr lang="zh-CN" altLang="en-US" sz="2100" dirty="0">
                <a:solidFill>
                  <a:srgbClr val="FF0000"/>
                </a:solidFill>
              </a:rPr>
              <a:t>√</a:t>
            </a:r>
            <a:r>
              <a:rPr lang="en-US" altLang="zh-CN" sz="2100" dirty="0"/>
              <a:t>      </a:t>
            </a:r>
            <a:r>
              <a:rPr lang="en-US" altLang="zh-CN" sz="1800" dirty="0"/>
              <a:t># </a:t>
            </a:r>
            <a:r>
              <a:rPr lang="zh-CN" altLang="en-US" sz="1800" dirty="0"/>
              <a:t>按字符串顺序，数值自动转换成字符串</a:t>
            </a:r>
            <a:endParaRPr lang="en-US" altLang="zh-CN" sz="2100" b="1" dirty="0">
              <a:solidFill>
                <a:srgbClr val="00B05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100" b="1" dirty="0" err="1">
                <a:solidFill>
                  <a:srgbClr val="C00000"/>
                </a:solidFill>
              </a:rPr>
              <a:t>x.reverse</a:t>
            </a:r>
            <a:r>
              <a:rPr lang="en-US" altLang="zh-CN" sz="2100" b="1" dirty="0">
                <a:solidFill>
                  <a:srgbClr val="C00000"/>
                </a:solidFill>
              </a:rPr>
              <a:t>()                  </a:t>
            </a:r>
            <a:r>
              <a:rPr lang="en-US" altLang="zh-CN" sz="2100" b="1" dirty="0">
                <a:solidFill>
                  <a:srgbClr val="0070C0"/>
                </a:solidFill>
              </a:rPr>
              <a:t>#</a:t>
            </a:r>
            <a:r>
              <a:rPr lang="zh-CN" altLang="en-US" sz="2100" b="1" dirty="0">
                <a:solidFill>
                  <a:srgbClr val="0070C0"/>
                </a:solidFill>
              </a:rPr>
              <a:t>对列表元素逆序排列</a:t>
            </a:r>
            <a:endParaRPr lang="en-US" altLang="zh-CN" sz="21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048865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21348" y="548681"/>
            <a:ext cx="7769589" cy="72237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2" tIns="45706" rIns="91412" bIns="45706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sz="3199" dirty="0"/>
              <a:t>列表对象方法</a:t>
            </a:r>
            <a:r>
              <a:rPr lang="en-US" altLang="zh-CN" sz="3199" dirty="0"/>
              <a:t> — index</a:t>
            </a:r>
            <a:endParaRPr lang="zh-CN" altLang="en-US" sz="3199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25371" y="1412777"/>
            <a:ext cx="11229187" cy="496855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12" tIns="45706" rIns="91412" bIns="45706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11081" indent="-342831" algn="just" defTabSz="914217" eaLnBrk="1" hangingPunct="1">
              <a:buClr>
                <a:srgbClr val="BF311A"/>
              </a:buClr>
              <a:buFont typeface="Wingdings" panose="05000000000000000000" pitchFamily="2" charset="2"/>
              <a:buChar char="u"/>
            </a:pPr>
            <a:r>
              <a:rPr lang="zh-CN" altLang="en-US" sz="2100" b="1" dirty="0">
                <a:solidFill>
                  <a:srgbClr val="C00000"/>
                </a:solidFill>
                <a:latin typeface="Arial"/>
              </a:rPr>
              <a:t>功能：</a:t>
            </a:r>
            <a:r>
              <a:rPr lang="zh-CN" altLang="en-US" sz="2100" dirty="0">
                <a:solidFill>
                  <a:srgbClr val="000000"/>
                </a:solidFill>
                <a:latin typeface="Arial"/>
              </a:rPr>
              <a:t>返回指定元素在列表中首次出现的位置</a:t>
            </a:r>
            <a:endParaRPr lang="en-US" altLang="zh-CN" sz="2100" dirty="0">
              <a:solidFill>
                <a:srgbClr val="000000"/>
              </a:solidFill>
              <a:latin typeface="Arial"/>
            </a:endParaRPr>
          </a:p>
          <a:p>
            <a:pPr marL="411081" indent="-342831" algn="just" defTabSz="914217" eaLnBrk="1" hangingPunct="1">
              <a:buClr>
                <a:srgbClr val="BF311A"/>
              </a:buClr>
              <a:buFont typeface="Wingdings" panose="05000000000000000000" pitchFamily="2" charset="2"/>
              <a:buChar char="u"/>
            </a:pPr>
            <a:r>
              <a:rPr lang="zh-CN" altLang="en-US" sz="2100" b="1" dirty="0">
                <a:solidFill>
                  <a:srgbClr val="C00000"/>
                </a:solidFill>
                <a:latin typeface="Arial"/>
              </a:rPr>
              <a:t>格式：</a:t>
            </a:r>
            <a:r>
              <a:rPr lang="zh-CN" altLang="en-US" sz="2100" b="1" dirty="0">
                <a:solidFill>
                  <a:srgbClr val="00B050"/>
                </a:solidFill>
                <a:latin typeface="Arial"/>
              </a:rPr>
              <a:t>列表</a:t>
            </a:r>
            <a:r>
              <a:rPr lang="en-US" altLang="zh-CN" sz="2100" b="1" dirty="0">
                <a:solidFill>
                  <a:srgbClr val="00B050"/>
                </a:solidFill>
                <a:latin typeface="Arial"/>
              </a:rPr>
              <a:t>.index(</a:t>
            </a:r>
            <a:r>
              <a:rPr lang="zh-CN" altLang="en-US" sz="2100" b="1" dirty="0">
                <a:solidFill>
                  <a:srgbClr val="FF0000"/>
                </a:solidFill>
                <a:latin typeface="Arial"/>
              </a:rPr>
              <a:t>元素</a:t>
            </a:r>
            <a:r>
              <a:rPr lang="en-US" altLang="zh-CN" sz="2100" b="1" dirty="0">
                <a:solidFill>
                  <a:srgbClr val="00B050"/>
                </a:solidFill>
                <a:latin typeface="Arial"/>
              </a:rPr>
              <a:t>)</a:t>
            </a:r>
          </a:p>
          <a:p>
            <a:pPr marL="506275" lvl="1" indent="0" defTabSz="914217">
              <a:buClr>
                <a:srgbClr val="BEC0C2"/>
              </a:buClr>
              <a:buNone/>
            </a:pP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L1=[1,3,6,3,3,7,8,1,1,1]</a:t>
            </a:r>
            <a:endParaRPr lang="zh-CN" altLang="zh-CN" sz="2100" dirty="0">
              <a:solidFill>
                <a:srgbClr val="000000"/>
              </a:solidFill>
              <a:latin typeface="Arial"/>
            </a:endParaRPr>
          </a:p>
          <a:p>
            <a:pPr marL="506275" lvl="1" indent="0" defTabSz="914217">
              <a:buClr>
                <a:srgbClr val="BEC0C2"/>
              </a:buClr>
              <a:buNone/>
            </a:pP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pos1=L1.index(3)</a:t>
            </a:r>
            <a:endParaRPr lang="zh-CN" altLang="zh-CN" sz="2100" dirty="0">
              <a:solidFill>
                <a:srgbClr val="000000"/>
              </a:solidFill>
              <a:latin typeface="Arial"/>
            </a:endParaRPr>
          </a:p>
          <a:p>
            <a:pPr marL="506275" lvl="1" indent="0" defTabSz="914217">
              <a:buClr>
                <a:srgbClr val="BEC0C2"/>
              </a:buClr>
              <a:buNone/>
            </a:pP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print(pos1)                  #</a:t>
            </a:r>
            <a:r>
              <a:rPr lang="zh-CN" altLang="en-US" sz="2100" dirty="0">
                <a:solidFill>
                  <a:srgbClr val="000000"/>
                </a:solidFill>
                <a:latin typeface="Arial"/>
              </a:rPr>
              <a:t> 输出</a:t>
            </a: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3</a:t>
            </a:r>
            <a:r>
              <a:rPr lang="zh-CN" altLang="en-US" sz="2100" dirty="0">
                <a:solidFill>
                  <a:srgbClr val="000000"/>
                </a:solidFill>
                <a:latin typeface="Arial"/>
              </a:rPr>
              <a:t>这个的元素首次出现的索引号</a:t>
            </a: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1</a:t>
            </a:r>
          </a:p>
          <a:p>
            <a:pPr marL="177728" indent="0" defTabSz="914217">
              <a:buClr>
                <a:srgbClr val="BF311A"/>
              </a:buClr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不存在则抛出异常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506275" lvl="1" indent="0" defTabSz="914217">
              <a:buClr>
                <a:srgbClr val="BEC0C2"/>
              </a:buClr>
              <a:buNone/>
            </a:pP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pos2=L1.index(0)          # </a:t>
            </a:r>
            <a:r>
              <a:rPr lang="zh-CN" altLang="en-US" sz="2100" dirty="0">
                <a:solidFill>
                  <a:srgbClr val="000000"/>
                </a:solidFill>
                <a:latin typeface="Arial"/>
              </a:rPr>
              <a:t>注意列表中没有</a:t>
            </a: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0</a:t>
            </a:r>
            <a:r>
              <a:rPr lang="zh-CN" altLang="en-US" sz="2100" dirty="0">
                <a:solidFill>
                  <a:srgbClr val="000000"/>
                </a:solidFill>
                <a:latin typeface="Arial"/>
              </a:rPr>
              <a:t>这个元素</a:t>
            </a:r>
            <a:endParaRPr lang="zh-CN" altLang="zh-CN" sz="2100" dirty="0">
              <a:solidFill>
                <a:srgbClr val="000000"/>
              </a:solidFill>
              <a:latin typeface="Arial"/>
            </a:endParaRPr>
          </a:p>
          <a:p>
            <a:pPr marL="506275" lvl="1" indent="0" defTabSz="914217">
              <a:buClr>
                <a:srgbClr val="BEC0C2"/>
              </a:buClr>
              <a:buNone/>
            </a:pP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print(pos2)                    # </a:t>
            </a:r>
            <a:r>
              <a:rPr lang="en-US" altLang="zh-CN" sz="2100" dirty="0" err="1">
                <a:solidFill>
                  <a:srgbClr val="000000"/>
                </a:solidFill>
                <a:latin typeface="Arial"/>
              </a:rPr>
              <a:t>ValueError</a:t>
            </a:r>
            <a:r>
              <a:rPr lang="en-US" altLang="zh-CN" sz="2100" dirty="0">
                <a:solidFill>
                  <a:srgbClr val="000000"/>
                </a:solidFill>
                <a:latin typeface="Arial"/>
              </a:rPr>
              <a:t>: 0 is not in list</a:t>
            </a:r>
          </a:p>
          <a:p>
            <a:pPr marL="506275" lvl="1" indent="0" defTabSz="914217">
              <a:buClr>
                <a:srgbClr val="BEC0C2"/>
              </a:buClr>
              <a:buNone/>
            </a:pPr>
            <a:endParaRPr lang="en-US" altLang="zh-CN" sz="21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56606" y="4508870"/>
            <a:ext cx="4740379" cy="178468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21884" tIns="60941" rIns="121884" bIns="60941">
            <a:spAutoFit/>
          </a:bodyPr>
          <a:lstStyle/>
          <a:p>
            <a:pPr defTabSz="91421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B050"/>
                </a:solidFill>
                <a:latin typeface="Arial"/>
              </a:rPr>
              <a:t>#</a:t>
            </a:r>
            <a:r>
              <a:rPr lang="zh-CN" altLang="en-US" b="1" dirty="0">
                <a:solidFill>
                  <a:srgbClr val="00B050"/>
                </a:solidFill>
                <a:latin typeface="Arial"/>
              </a:rPr>
              <a:t>改进</a:t>
            </a:r>
            <a:r>
              <a:rPr lang="en-US" altLang="zh-CN" b="1" dirty="0">
                <a:solidFill>
                  <a:srgbClr val="00B050"/>
                </a:solidFill>
                <a:latin typeface="Arial"/>
              </a:rPr>
              <a:t>: </a:t>
            </a:r>
            <a:r>
              <a:rPr lang="zh-CN" altLang="en-US" b="1" dirty="0">
                <a:solidFill>
                  <a:srgbClr val="00B050"/>
                </a:solidFill>
                <a:latin typeface="Arial"/>
              </a:rPr>
              <a:t>用选择结构给出提示，避免出现异常</a:t>
            </a:r>
          </a:p>
          <a:p>
            <a:pPr marL="609435" lvl="1" defTabSz="91421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Arial"/>
              </a:rPr>
              <a:t>if 0 in L1:</a:t>
            </a:r>
          </a:p>
          <a:p>
            <a:pPr marL="609435" lvl="1" defTabSz="91421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Arial"/>
              </a:rPr>
              <a:t>    print(L1.index(0))</a:t>
            </a:r>
          </a:p>
          <a:p>
            <a:pPr marL="609435" lvl="1" defTabSz="91421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Arial"/>
              </a:rPr>
              <a:t>else:</a:t>
            </a:r>
          </a:p>
          <a:p>
            <a:pPr marL="609435" lvl="1" defTabSz="91421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Arial"/>
              </a:rPr>
              <a:t>    print("</a:t>
            </a:r>
            <a:r>
              <a:rPr lang="zh-CN" altLang="en-US" dirty="0">
                <a:solidFill>
                  <a:srgbClr val="000000"/>
                </a:solidFill>
                <a:latin typeface="Arial"/>
              </a:rPr>
              <a:t>不存在</a:t>
            </a:r>
            <a:r>
              <a:rPr lang="en-US" altLang="zh-CN" dirty="0">
                <a:solidFill>
                  <a:srgbClr val="000000"/>
                </a:solidFill>
                <a:latin typeface="Arial"/>
              </a:rPr>
              <a:t>")</a:t>
            </a:r>
          </a:p>
          <a:p>
            <a:pPr defTabSz="91421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0429734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4192" y="548681"/>
            <a:ext cx="7769589" cy="91439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2" tIns="45706" rIns="91412" bIns="45706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列表对象方法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— count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67756" y="1604798"/>
            <a:ext cx="10706922" cy="364840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12" tIns="45706" rIns="91412" bIns="45706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11081" indent="-342831" algn="just" defTabSz="914217" eaLnBrk="1" hangingPunct="1">
              <a:lnSpc>
                <a:spcPct val="150000"/>
              </a:lnSpc>
              <a:buClr>
                <a:srgbClr val="BF311A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对指定的元素计数，即该元素在列表中出现的次数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081" indent="-342831" algn="just" defTabSz="914217" eaLnBrk="1" hangingPunct="1">
              <a:lnSpc>
                <a:spcPct val="150000"/>
              </a:lnSpc>
              <a:buClr>
                <a:srgbClr val="BF311A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.count(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506275" lvl="1" indent="0" defTabSz="914217">
              <a:lnSpc>
                <a:spcPct val="150000"/>
              </a:lnSpc>
              <a:buClr>
                <a:srgbClr val="BEC0C2"/>
              </a:buClr>
              <a:buNone/>
            </a:pPr>
            <a:r>
              <a:rPr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L=['</a:t>
            </a:r>
            <a:r>
              <a:rPr lang="en-US" altLang="zh-CN" sz="25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hellen</a:t>
            </a:r>
            <a:r>
              <a:rPr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','</a:t>
            </a:r>
            <a:r>
              <a:rPr lang="en-US" altLang="zh-CN" sz="25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stery</a:t>
            </a:r>
            <a:r>
              <a:rPr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','</a:t>
            </a:r>
            <a:r>
              <a:rPr lang="en-US" altLang="zh-CN" sz="25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antongni</a:t>
            </a:r>
            <a:r>
              <a:rPr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','</a:t>
            </a:r>
            <a:r>
              <a:rPr lang="en-US" altLang="zh-CN" sz="25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hellen</a:t>
            </a:r>
            <a:r>
              <a:rPr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']</a:t>
            </a:r>
            <a:endParaRPr lang="zh-CN" altLang="zh-CN" sz="25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06275" lvl="1" indent="0" defTabSz="914217">
              <a:lnSpc>
                <a:spcPct val="150000"/>
              </a:lnSpc>
              <a:buClr>
                <a:srgbClr val="BEC0C2"/>
              </a:buClr>
              <a:buNone/>
            </a:pPr>
            <a:r>
              <a:rPr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</a:t>
            </a:r>
            <a:r>
              <a:rPr lang="en-US" altLang="zh-CN" sz="25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L.count</a:t>
            </a:r>
            <a:r>
              <a:rPr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en-US" altLang="zh-CN" sz="25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hellen</a:t>
            </a:r>
            <a:r>
              <a:rPr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  <a:endParaRPr lang="zh-CN" altLang="zh-CN" sz="25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06275" lvl="1" indent="0" defTabSz="914217">
              <a:lnSpc>
                <a:spcPct val="150000"/>
              </a:lnSpc>
              <a:buClr>
                <a:srgbClr val="BEC0C2"/>
              </a:buClr>
              <a:buNone/>
            </a:pPr>
            <a:r>
              <a:rPr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print(n)                 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60206420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827383" y="513272"/>
            <a:ext cx="7769589" cy="64688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2" tIns="45706" rIns="91412" bIns="45706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sz="3199" dirty="0"/>
              <a:t>5.1.4 </a:t>
            </a:r>
            <a:r>
              <a:rPr lang="zh-CN" altLang="en-US" sz="3199" dirty="0"/>
              <a:t>操作列表的内置函数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827383" y="1412777"/>
            <a:ext cx="10749307" cy="441649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12" tIns="45706" rIns="91412" bIns="45706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699" b="1" dirty="0">
                <a:solidFill>
                  <a:srgbClr val="C00000"/>
                </a:solidFill>
              </a:rPr>
              <a:t>sum: </a:t>
            </a:r>
            <a:r>
              <a:rPr lang="zh-CN" altLang="en-US" sz="2699" dirty="0"/>
              <a:t>返回列表中所有元素之和</a:t>
            </a:r>
            <a:endParaRPr lang="en-US" altLang="zh-CN" sz="2699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699" b="1" dirty="0" err="1">
                <a:solidFill>
                  <a:srgbClr val="C00000"/>
                </a:solidFill>
              </a:rPr>
              <a:t>len</a:t>
            </a:r>
            <a:r>
              <a:rPr lang="en-US" altLang="zh-CN" sz="2699" b="1" dirty="0">
                <a:solidFill>
                  <a:srgbClr val="C00000"/>
                </a:solidFill>
              </a:rPr>
              <a:t>:  </a:t>
            </a:r>
            <a:r>
              <a:rPr lang="zh-CN" altLang="zh-CN" sz="2699" dirty="0"/>
              <a:t>返回列表的元素个数</a:t>
            </a:r>
            <a:endParaRPr lang="en-US" altLang="zh-CN" sz="2699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699" b="1" dirty="0">
                <a:solidFill>
                  <a:srgbClr val="C00000"/>
                </a:solidFill>
              </a:rPr>
              <a:t>max</a:t>
            </a:r>
            <a:r>
              <a:rPr lang="zh-CN" altLang="en-US" sz="2699" b="1" dirty="0">
                <a:solidFill>
                  <a:srgbClr val="C00000"/>
                </a:solidFill>
              </a:rPr>
              <a:t>，</a:t>
            </a:r>
            <a:r>
              <a:rPr lang="en-US" altLang="zh-CN" sz="2699" b="1" dirty="0">
                <a:solidFill>
                  <a:srgbClr val="C00000"/>
                </a:solidFill>
              </a:rPr>
              <a:t>min: </a:t>
            </a:r>
            <a:r>
              <a:rPr lang="zh-CN" altLang="zh-CN" sz="2699" dirty="0"/>
              <a:t>返回列表</a:t>
            </a:r>
            <a:r>
              <a:rPr lang="zh-CN" altLang="en-US" sz="2699" dirty="0"/>
              <a:t>中</a:t>
            </a:r>
            <a:r>
              <a:rPr lang="zh-CN" altLang="zh-CN" sz="2699" dirty="0"/>
              <a:t>的</a:t>
            </a:r>
            <a:r>
              <a:rPr lang="zh-CN" altLang="en-US" sz="2699" dirty="0"/>
              <a:t>最大和最小值</a:t>
            </a:r>
            <a:endParaRPr lang="en-US" altLang="zh-CN" sz="2699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699" b="1" dirty="0">
                <a:solidFill>
                  <a:srgbClr val="C00000"/>
                </a:solidFill>
              </a:rPr>
              <a:t>map: </a:t>
            </a:r>
            <a:r>
              <a:rPr lang="zh-CN" altLang="en-US" sz="2699" dirty="0"/>
              <a:t>将指定函数作用于列表中的每个元素</a:t>
            </a:r>
            <a:endParaRPr lang="en-US" altLang="zh-CN" sz="2699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699" b="1" dirty="0">
                <a:solidFill>
                  <a:srgbClr val="C00000"/>
                </a:solidFill>
              </a:rPr>
              <a:t>zip</a:t>
            </a:r>
            <a:r>
              <a:rPr lang="zh-CN" altLang="en-US" sz="2699" b="1" dirty="0">
                <a:solidFill>
                  <a:srgbClr val="C00000"/>
                </a:solidFill>
              </a:rPr>
              <a:t>：</a:t>
            </a:r>
            <a:r>
              <a:rPr lang="zh-CN" altLang="en-US" sz="2699" dirty="0"/>
              <a:t>将</a:t>
            </a:r>
            <a:r>
              <a:rPr lang="zh-CN" altLang="en-US" sz="2699" b="1" dirty="0">
                <a:solidFill>
                  <a:srgbClr val="00B050"/>
                </a:solidFill>
              </a:rPr>
              <a:t>多个列表的对应元素整合为元组</a:t>
            </a:r>
            <a:endParaRPr lang="en-US" altLang="zh-CN" sz="2699" b="1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699" b="1" dirty="0">
                <a:solidFill>
                  <a:srgbClr val="C00000"/>
                </a:solidFill>
              </a:rPr>
              <a:t>enumerate:</a:t>
            </a:r>
            <a:r>
              <a:rPr lang="en-US" altLang="zh-CN" sz="2699" dirty="0"/>
              <a:t> </a:t>
            </a:r>
            <a:r>
              <a:rPr lang="zh-CN" altLang="en-US" sz="2699" dirty="0"/>
              <a:t>将</a:t>
            </a:r>
            <a:r>
              <a:rPr lang="zh-CN" altLang="en-US" sz="2699" b="1" dirty="0">
                <a:solidFill>
                  <a:srgbClr val="00B050"/>
                </a:solidFill>
              </a:rPr>
              <a:t>一个列表的元素与其索引组成元组</a:t>
            </a:r>
            <a:endParaRPr lang="en-US" altLang="zh-CN" sz="2699" b="1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699" b="1" dirty="0">
                <a:solidFill>
                  <a:srgbClr val="C00000"/>
                </a:solidFill>
              </a:rPr>
              <a:t>filter</a:t>
            </a:r>
            <a:r>
              <a:rPr lang="zh-CN" altLang="en-US" sz="2699" b="1" dirty="0">
                <a:solidFill>
                  <a:srgbClr val="C00000"/>
                </a:solidFill>
              </a:rPr>
              <a:t>：</a:t>
            </a:r>
            <a:r>
              <a:rPr lang="zh-CN" altLang="en-US" sz="2699" dirty="0"/>
              <a:t>按指定条件过滤列表的元素</a:t>
            </a:r>
            <a:endParaRPr lang="en-US" altLang="zh-CN" sz="2699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83580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843" y="548680"/>
            <a:ext cx="11030194" cy="672074"/>
          </a:xfrm>
        </p:spPr>
        <p:txBody>
          <a:bodyPr/>
          <a:lstStyle/>
          <a:p>
            <a:r>
              <a:rPr lang="en-US" altLang="zh-CN" sz="3199" dirty="0"/>
              <a:t>5.1.6  </a:t>
            </a:r>
            <a:r>
              <a:rPr lang="zh-CN" altLang="en-US" sz="3199" dirty="0"/>
              <a:t>元组（</a:t>
            </a:r>
            <a:r>
              <a:rPr lang="en-US" altLang="zh-CN" sz="3199" dirty="0"/>
              <a:t>tuple</a:t>
            </a:r>
            <a:r>
              <a:rPr lang="zh-CN" altLang="en-US" sz="3199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844" y="1508787"/>
            <a:ext cx="11053469" cy="480060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2400" dirty="0"/>
              <a:t>定义：   元组名</a:t>
            </a:r>
            <a:r>
              <a:rPr lang="en-US" altLang="zh-CN" sz="2400" dirty="0"/>
              <a:t>=</a:t>
            </a:r>
            <a:r>
              <a:rPr lang="zh-CN" altLang="en-US" sz="2400" dirty="0"/>
              <a:t>（数据</a:t>
            </a:r>
            <a:r>
              <a:rPr lang="en-US" altLang="zh-CN" sz="2400" dirty="0"/>
              <a:t>1</a:t>
            </a:r>
            <a:r>
              <a:rPr lang="zh-CN" altLang="en-US" sz="2400" dirty="0"/>
              <a:t>，数据</a:t>
            </a:r>
            <a:r>
              <a:rPr lang="en-US" altLang="zh-CN" sz="24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……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zh-CN" altLang="en-US" sz="2000" dirty="0"/>
              <a:t>例：</a:t>
            </a:r>
            <a:r>
              <a:rPr lang="en-US" altLang="zh-CN" sz="2000" dirty="0"/>
              <a:t>t1=(10,20,30)</a:t>
            </a:r>
            <a:r>
              <a:rPr lang="zh-CN" altLang="en-US" sz="2000" dirty="0"/>
              <a:t>；</a:t>
            </a:r>
            <a:r>
              <a:rPr lang="en-US" altLang="zh-CN" sz="2000" dirty="0"/>
              <a:t>t2=tuple([1,2,3])</a:t>
            </a:r>
          </a:p>
          <a:p>
            <a:r>
              <a:rPr lang="zh-CN" altLang="en-US" sz="2400" dirty="0"/>
              <a:t>元素类型不受限制</a:t>
            </a:r>
            <a:endParaRPr lang="en-US" altLang="zh-CN" sz="2400" dirty="0"/>
          </a:p>
          <a:p>
            <a:pPr marL="0" indent="0">
              <a:buNone/>
            </a:pPr>
            <a:r>
              <a:rPr lang="it-IT" altLang="zh-CN" sz="2000" dirty="0"/>
              <a:t>               t3=([11, 22], 33, </a:t>
            </a:r>
            <a:r>
              <a:rPr lang="en-US" altLang="zh-CN" sz="2000" dirty="0"/>
              <a:t>" </a:t>
            </a:r>
            <a:r>
              <a:rPr lang="it-IT" altLang="zh-CN" sz="2000" dirty="0"/>
              <a:t>88</a:t>
            </a:r>
            <a:r>
              <a:rPr lang="en-US" altLang="zh-CN" sz="2000" dirty="0"/>
              <a:t> "</a:t>
            </a:r>
            <a:r>
              <a:rPr lang="it-IT" altLang="zh-CN" sz="2000" dirty="0"/>
              <a:t>)</a:t>
            </a:r>
            <a:endParaRPr lang="en-US" altLang="zh-CN" sz="2000" dirty="0"/>
          </a:p>
          <a:p>
            <a:r>
              <a:rPr lang="zh-CN" altLang="en-US" sz="2400" dirty="0"/>
              <a:t>只有一个数的元组（</a:t>
            </a:r>
            <a:r>
              <a:rPr lang="en-US" altLang="zh-CN" sz="2400" dirty="0"/>
              <a:t>10</a:t>
            </a:r>
            <a:r>
              <a:rPr lang="zh-CN" altLang="en-US" sz="2400" dirty="0"/>
              <a:t>，）</a:t>
            </a:r>
            <a:endParaRPr lang="en-US" altLang="zh-CN" sz="2400" dirty="0"/>
          </a:p>
          <a:p>
            <a:r>
              <a:rPr lang="zh-CN" altLang="en-US" sz="2400" dirty="0"/>
              <a:t>使用：   元组</a:t>
            </a:r>
            <a:r>
              <a:rPr lang="en-US" altLang="zh-CN" sz="2400" dirty="0"/>
              <a:t>[</a:t>
            </a:r>
            <a:r>
              <a:rPr lang="zh-CN" altLang="en-US" sz="2400" dirty="0"/>
              <a:t>下标</a:t>
            </a:r>
            <a:r>
              <a:rPr lang="en-US" altLang="zh-CN" sz="2400" dirty="0"/>
              <a:t>]   </a:t>
            </a:r>
            <a:endParaRPr lang="it-IT" altLang="zh-CN" sz="2400" dirty="0"/>
          </a:p>
          <a:p>
            <a:r>
              <a:rPr lang="zh-CN" altLang="en-US" sz="2400" dirty="0"/>
              <a:t>特点：</a:t>
            </a:r>
            <a:r>
              <a:rPr lang="zh-CN" altLang="en-US" sz="2400" b="1" dirty="0">
                <a:solidFill>
                  <a:srgbClr val="C00000"/>
                </a:solidFill>
              </a:rPr>
              <a:t>元组元素不可变更</a:t>
            </a:r>
            <a:r>
              <a:rPr lang="zh-CN" altLang="en-US" sz="2400" dirty="0"/>
              <a:t>， 系统开销比列表小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      </a:t>
            </a:r>
            <a:r>
              <a:rPr lang="en-US" altLang="zh-CN" sz="2000" dirty="0"/>
              <a:t>t3[1]=55</a:t>
            </a:r>
            <a:r>
              <a:rPr lang="en-US" altLang="zh-CN" sz="2000" dirty="0">
                <a:solidFill>
                  <a:srgbClr val="FF0000"/>
                </a:solidFill>
              </a:rPr>
              <a:t>× </a:t>
            </a:r>
          </a:p>
          <a:p>
            <a:pPr marL="0" indent="0">
              <a:buNone/>
            </a:pPr>
            <a:r>
              <a:rPr lang="it-IT" altLang="zh-CN" sz="2000" dirty="0"/>
              <a:t>	       t3[0].append(-55) </a:t>
            </a:r>
          </a:p>
          <a:p>
            <a:pPr marL="0" indent="0">
              <a:buNone/>
            </a:pPr>
            <a:r>
              <a:rPr lang="it-IT" altLang="zh-CN" sz="2000" dirty="0"/>
              <a:t>                   print(t3)         </a:t>
            </a:r>
            <a:r>
              <a:rPr lang="en-US" altLang="zh-CN" sz="2000" dirty="0"/>
              <a:t>#</a:t>
            </a:r>
            <a:r>
              <a:rPr lang="zh-CN" altLang="en-US" sz="2000" dirty="0"/>
              <a:t>输出结果：</a:t>
            </a:r>
            <a:r>
              <a:rPr lang="en-US" altLang="zh-CN" sz="2000" dirty="0"/>
              <a:t>([11, 22, -55], 33, " 88") </a:t>
            </a:r>
          </a:p>
          <a:p>
            <a:pPr marL="0" indent="0"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5967062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35" y="452669"/>
            <a:ext cx="11030195" cy="672074"/>
          </a:xfrm>
        </p:spPr>
        <p:txBody>
          <a:bodyPr/>
          <a:lstStyle/>
          <a:p>
            <a:r>
              <a:rPr lang="en-US" altLang="zh-CN" sz="3199" dirty="0"/>
              <a:t>5.2  </a:t>
            </a:r>
            <a:r>
              <a:rPr lang="zh-CN" altLang="en-US" sz="3199" dirty="0"/>
              <a:t>字典与集合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1349" y="1220754"/>
            <a:ext cx="10990285" cy="508856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5.2.1 </a:t>
            </a:r>
            <a:r>
              <a:rPr lang="zh-CN" altLang="en-US" b="1" dirty="0">
                <a:solidFill>
                  <a:srgbClr val="C00000"/>
                </a:solidFill>
              </a:rPr>
              <a:t>字典的创建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sz="2400" dirty="0"/>
              <a:t>       字典：以</a:t>
            </a:r>
            <a:r>
              <a:rPr lang="zh-CN" altLang="en-US" sz="2400" dirty="0">
                <a:solidFill>
                  <a:srgbClr val="C00000"/>
                </a:solidFill>
              </a:rPr>
              <a:t>键值对</a:t>
            </a:r>
            <a:r>
              <a:rPr lang="zh-CN" altLang="en-US" sz="2400" dirty="0"/>
              <a:t>形式存储数据，键唯一，值类型可任意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    特点：字典中的对象是无序的（不可排序）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</a:rPr>
              <a:t>1. </a:t>
            </a:r>
            <a:r>
              <a:rPr lang="zh-CN" altLang="en-US" sz="2400" b="1" dirty="0">
                <a:solidFill>
                  <a:srgbClr val="0070C0"/>
                </a:solidFill>
              </a:rPr>
              <a:t>逐项创建    </a:t>
            </a:r>
            <a:r>
              <a:rPr lang="zh-CN" altLang="en-US" sz="2400" dirty="0">
                <a:solidFill>
                  <a:srgbClr val="C00000"/>
                </a:solidFill>
              </a:rPr>
              <a:t>字典名</a:t>
            </a:r>
            <a:r>
              <a:rPr lang="en-US" altLang="zh-CN" sz="2400" dirty="0">
                <a:solidFill>
                  <a:srgbClr val="C00000"/>
                </a:solidFill>
              </a:rPr>
              <a:t>={</a:t>
            </a:r>
            <a:r>
              <a:rPr lang="zh-CN" altLang="en-US" sz="2400" dirty="0">
                <a:solidFill>
                  <a:srgbClr val="C00000"/>
                </a:solidFill>
              </a:rPr>
              <a:t>键：值，</a:t>
            </a:r>
            <a:r>
              <a:rPr lang="en-US" altLang="zh-CN" sz="2400" dirty="0">
                <a:solidFill>
                  <a:srgbClr val="C00000"/>
                </a:solidFill>
              </a:rPr>
              <a:t>……}  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       </a:t>
            </a:r>
            <a:r>
              <a:rPr lang="zh-CN" altLang="en-US" sz="2400" dirty="0"/>
              <a:t>例： </a:t>
            </a:r>
            <a:r>
              <a:rPr lang="en-US" altLang="zh-CN" sz="2100" dirty="0" err="1"/>
              <a:t>Dcountry</a:t>
            </a:r>
            <a:r>
              <a:rPr lang="en-US" altLang="zh-CN" sz="2100" dirty="0"/>
              <a:t>={'</a:t>
            </a:r>
            <a:r>
              <a:rPr lang="zh-CN" altLang="en-US" sz="2100" dirty="0"/>
              <a:t>中国</a:t>
            </a:r>
            <a:r>
              <a:rPr lang="en-US" altLang="zh-CN" sz="2100" dirty="0"/>
              <a:t>':'</a:t>
            </a:r>
            <a:r>
              <a:rPr lang="zh-CN" altLang="en-US" sz="2100" dirty="0"/>
              <a:t>北京</a:t>
            </a:r>
            <a:r>
              <a:rPr lang="en-US" altLang="zh-CN" sz="2100" dirty="0"/>
              <a:t>','</a:t>
            </a:r>
            <a:r>
              <a:rPr lang="zh-CN" altLang="en-US" sz="2100" dirty="0"/>
              <a:t>美国</a:t>
            </a:r>
            <a:r>
              <a:rPr lang="en-US" altLang="zh-CN" sz="2100" dirty="0"/>
              <a:t>':'</a:t>
            </a:r>
            <a:r>
              <a:rPr lang="zh-CN" altLang="en-US" sz="2100" dirty="0"/>
              <a:t>华盛顿</a:t>
            </a:r>
            <a:r>
              <a:rPr lang="en-US" altLang="zh-CN" sz="2100" dirty="0"/>
              <a:t>','</a:t>
            </a:r>
            <a:r>
              <a:rPr lang="zh-CN" altLang="en-US" sz="2100" dirty="0"/>
              <a:t>德国</a:t>
            </a:r>
            <a:r>
              <a:rPr lang="en-US" altLang="zh-CN" sz="2100" dirty="0"/>
              <a:t>':'</a:t>
            </a:r>
            <a:r>
              <a:rPr lang="zh-CN" altLang="en-US" sz="2100" dirty="0"/>
              <a:t>柏林</a:t>
            </a:r>
            <a:r>
              <a:rPr lang="en-US" altLang="zh-CN" sz="2100" dirty="0"/>
              <a:t>'} 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</a:rPr>
              <a:t>2. </a:t>
            </a:r>
            <a:r>
              <a:rPr lang="zh-CN" altLang="en-US" sz="2400" b="1" dirty="0">
                <a:solidFill>
                  <a:srgbClr val="0070C0"/>
                </a:solidFill>
              </a:rPr>
              <a:t>用</a:t>
            </a:r>
            <a:r>
              <a:rPr lang="en-US" altLang="zh-CN" sz="2400" b="1" dirty="0" err="1">
                <a:solidFill>
                  <a:srgbClr val="0070C0"/>
                </a:solidFill>
              </a:rPr>
              <a:t>dict</a:t>
            </a:r>
            <a:r>
              <a:rPr lang="en-US" altLang="zh-CN" sz="2400" b="1" dirty="0">
                <a:solidFill>
                  <a:srgbClr val="0070C0"/>
                </a:solidFill>
              </a:rPr>
              <a:t>()</a:t>
            </a:r>
            <a:r>
              <a:rPr lang="zh-CN" altLang="en-US" sz="2400" b="1" dirty="0">
                <a:solidFill>
                  <a:srgbClr val="0070C0"/>
                </a:solidFill>
              </a:rPr>
              <a:t>转换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100" dirty="0"/>
              <a:t>data=[[“</a:t>
            </a:r>
            <a:r>
              <a:rPr lang="zh-CN" altLang="en-US" sz="2100" dirty="0"/>
              <a:t>中国</a:t>
            </a:r>
            <a:r>
              <a:rPr lang="en-US" altLang="zh-CN" sz="2100" dirty="0"/>
              <a:t>”,“</a:t>
            </a:r>
            <a:r>
              <a:rPr lang="zh-CN" altLang="en-US" sz="2100" dirty="0"/>
              <a:t>北京</a:t>
            </a:r>
            <a:r>
              <a:rPr lang="en-US" altLang="zh-CN" sz="2100" dirty="0"/>
              <a:t>”],[“</a:t>
            </a:r>
            <a:r>
              <a:rPr lang="zh-CN" altLang="en-US" sz="2100" dirty="0"/>
              <a:t>英国</a:t>
            </a:r>
            <a:r>
              <a:rPr lang="en-US" altLang="zh-CN" sz="2100" dirty="0"/>
              <a:t>”,“</a:t>
            </a:r>
            <a:r>
              <a:rPr lang="zh-CN" altLang="en-US" sz="2100" dirty="0"/>
              <a:t>伦敦</a:t>
            </a:r>
            <a:r>
              <a:rPr lang="en-US" altLang="zh-CN" sz="2100" dirty="0"/>
              <a:t>”],[“</a:t>
            </a:r>
            <a:r>
              <a:rPr lang="zh-CN" altLang="en-US" sz="2100" dirty="0"/>
              <a:t>美国</a:t>
            </a:r>
            <a:r>
              <a:rPr lang="en-US" altLang="zh-CN" sz="2100" dirty="0"/>
              <a:t>”,“</a:t>
            </a:r>
            <a:r>
              <a:rPr lang="zh-CN" altLang="en-US" sz="2100" dirty="0"/>
              <a:t>华盛顿</a:t>
            </a:r>
            <a:r>
              <a:rPr lang="en-US" altLang="zh-CN" sz="2100" dirty="0"/>
              <a:t>”]]</a:t>
            </a:r>
          </a:p>
          <a:p>
            <a:pPr marL="0" indent="0">
              <a:buNone/>
            </a:pPr>
            <a:r>
              <a:rPr lang="en-US" altLang="zh-CN" sz="2100" dirty="0"/>
              <a:t>     </a:t>
            </a:r>
            <a:r>
              <a:rPr lang="en-US" altLang="zh-CN" sz="2100" dirty="0" err="1"/>
              <a:t>Dcountry</a:t>
            </a:r>
            <a:r>
              <a:rPr lang="en-US" altLang="zh-CN" sz="2100" dirty="0"/>
              <a:t>=</a:t>
            </a:r>
            <a:r>
              <a:rPr lang="en-US" altLang="zh-CN" sz="2100" dirty="0" err="1"/>
              <a:t>dict</a:t>
            </a:r>
            <a:r>
              <a:rPr lang="en-US" altLang="zh-CN" sz="2100" dirty="0"/>
              <a:t>(data)    #</a:t>
            </a:r>
            <a:r>
              <a:rPr lang="zh-CN" altLang="en-US" sz="2100" dirty="0"/>
              <a:t>结果为 </a:t>
            </a:r>
            <a:r>
              <a:rPr lang="en-US" altLang="zh-CN" sz="2100" dirty="0"/>
              <a:t>{'</a:t>
            </a:r>
            <a:r>
              <a:rPr lang="zh-CN" altLang="en-US" sz="2100" dirty="0"/>
              <a:t>中国</a:t>
            </a:r>
            <a:r>
              <a:rPr lang="en-US" altLang="zh-CN" sz="2100" dirty="0"/>
              <a:t>': '</a:t>
            </a:r>
            <a:r>
              <a:rPr lang="zh-CN" altLang="en-US" sz="2100" dirty="0"/>
              <a:t>北京</a:t>
            </a:r>
            <a:r>
              <a:rPr lang="en-US" altLang="zh-CN" sz="2100" dirty="0"/>
              <a:t>', '</a:t>
            </a:r>
            <a:r>
              <a:rPr lang="zh-CN" altLang="en-US" sz="2100" dirty="0"/>
              <a:t>英国</a:t>
            </a:r>
            <a:r>
              <a:rPr lang="en-US" altLang="zh-CN" sz="2100" dirty="0"/>
              <a:t>': '</a:t>
            </a:r>
            <a:r>
              <a:rPr lang="zh-CN" altLang="en-US" sz="2100" dirty="0"/>
              <a:t>伦敦</a:t>
            </a:r>
            <a:r>
              <a:rPr lang="en-US" altLang="zh-CN" sz="2100" dirty="0"/>
              <a:t>', '</a:t>
            </a:r>
            <a:r>
              <a:rPr lang="zh-CN" altLang="en-US" sz="2100" dirty="0"/>
              <a:t>美国</a:t>
            </a:r>
            <a:r>
              <a:rPr lang="en-US" altLang="zh-CN" sz="2100" dirty="0"/>
              <a:t>': '</a:t>
            </a:r>
            <a:r>
              <a:rPr lang="zh-CN" altLang="en-US" sz="2100" dirty="0"/>
              <a:t>华盛顿</a:t>
            </a:r>
            <a:r>
              <a:rPr lang="en-US" altLang="zh-CN" sz="2100" dirty="0"/>
              <a:t>'}</a:t>
            </a:r>
          </a:p>
        </p:txBody>
      </p:sp>
    </p:spTree>
    <p:extLst>
      <p:ext uri="{BB962C8B-B14F-4D97-AF65-F5344CB8AC3E}">
        <p14:creationId xmlns:p14="http://schemas.microsoft.com/office/powerpoint/2010/main" val="1433121155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797" y="740702"/>
            <a:ext cx="11030195" cy="650874"/>
          </a:xfrm>
        </p:spPr>
        <p:txBody>
          <a:bodyPr/>
          <a:lstStyle/>
          <a:p>
            <a:r>
              <a:rPr lang="zh-CN" altLang="en-US" sz="2699" dirty="0"/>
              <a:t>字典属性及其访问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3120" y="1604798"/>
            <a:ext cx="10269427" cy="460851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sz="2400" dirty="0" err="1">
                <a:solidFill>
                  <a:srgbClr val="C00000"/>
                </a:solidFill>
              </a:rPr>
              <a:t>len</a:t>
            </a:r>
            <a:r>
              <a:rPr lang="en-US" altLang="zh-CN" sz="2400" dirty="0">
                <a:solidFill>
                  <a:srgbClr val="C00000"/>
                </a:solidFill>
              </a:rPr>
              <a:t>(d)</a:t>
            </a:r>
            <a:r>
              <a:rPr lang="zh-CN" altLang="en-US" sz="2400" dirty="0"/>
              <a:t>        返回 </a:t>
            </a:r>
            <a:r>
              <a:rPr lang="en-US" altLang="zh-CN" sz="2400" dirty="0"/>
              <a:t>d </a:t>
            </a:r>
            <a:r>
              <a:rPr lang="zh-CN" altLang="en-US" sz="2400" dirty="0"/>
              <a:t>中“键</a:t>
            </a:r>
            <a:r>
              <a:rPr lang="en-US" altLang="zh-CN" sz="2400" dirty="0"/>
              <a:t>-</a:t>
            </a:r>
            <a:r>
              <a:rPr lang="zh-CN" altLang="en-US" sz="2400" dirty="0"/>
              <a:t>值”对的数量，即表项数目</a:t>
            </a:r>
            <a:endParaRPr lang="en-US" altLang="zh-CN" sz="2400" dirty="0"/>
          </a:p>
          <a:p>
            <a:r>
              <a:rPr lang="en-US" altLang="zh-CN" sz="2400" dirty="0" err="1">
                <a:solidFill>
                  <a:srgbClr val="C00000"/>
                </a:solidFill>
              </a:rPr>
              <a:t>d.keys</a:t>
            </a:r>
            <a:r>
              <a:rPr lang="en-US" altLang="zh-CN" sz="2400" dirty="0">
                <a:solidFill>
                  <a:srgbClr val="C00000"/>
                </a:solidFill>
              </a:rPr>
              <a:t>()     </a:t>
            </a:r>
            <a:r>
              <a:rPr lang="zh-CN" altLang="en-US" sz="2400" dirty="0"/>
              <a:t>返回所有键</a:t>
            </a:r>
            <a:endParaRPr lang="en-US" altLang="zh-CN" sz="2400" dirty="0"/>
          </a:p>
          <a:p>
            <a:r>
              <a:rPr lang="en-US" altLang="zh-CN" sz="2400" dirty="0" err="1">
                <a:solidFill>
                  <a:srgbClr val="C00000"/>
                </a:solidFill>
              </a:rPr>
              <a:t>d.values</a:t>
            </a:r>
            <a:r>
              <a:rPr lang="en-US" altLang="zh-CN" sz="2400" dirty="0">
                <a:solidFill>
                  <a:srgbClr val="C00000"/>
                </a:solidFill>
              </a:rPr>
              <a:t>()  </a:t>
            </a:r>
            <a:r>
              <a:rPr lang="zh-CN" altLang="en-US" sz="2400" dirty="0"/>
              <a:t>返回所有的值</a:t>
            </a:r>
            <a:endParaRPr lang="en-US" altLang="zh-CN" sz="2400" dirty="0"/>
          </a:p>
          <a:p>
            <a:r>
              <a:rPr lang="en-US" altLang="zh-CN" sz="2400" dirty="0" err="1">
                <a:solidFill>
                  <a:srgbClr val="C00000"/>
                </a:solidFill>
              </a:rPr>
              <a:t>d.items</a:t>
            </a:r>
            <a:r>
              <a:rPr lang="en-US" altLang="zh-CN" sz="2400" dirty="0">
                <a:solidFill>
                  <a:srgbClr val="C00000"/>
                </a:solidFill>
              </a:rPr>
              <a:t>()   </a:t>
            </a:r>
            <a:r>
              <a:rPr lang="zh-CN" altLang="en-US" sz="2400" dirty="0"/>
              <a:t>返回所有键值对</a:t>
            </a:r>
            <a:endParaRPr lang="en-US" altLang="zh-CN" sz="2400" dirty="0"/>
          </a:p>
          <a:p>
            <a:r>
              <a:rPr lang="en-US" altLang="zh-CN" sz="2400" dirty="0" err="1">
                <a:solidFill>
                  <a:srgbClr val="C00000"/>
                </a:solidFill>
              </a:rPr>
              <a:t>d.get</a:t>
            </a:r>
            <a:r>
              <a:rPr lang="en-US" altLang="zh-CN" sz="2400" dirty="0">
                <a:solidFill>
                  <a:srgbClr val="C00000"/>
                </a:solidFill>
              </a:rPr>
              <a:t>(key, default=None)    </a:t>
            </a:r>
            <a:r>
              <a:rPr lang="zh-CN" altLang="en-US" sz="2400" dirty="0"/>
              <a:t>返回字典键 </a:t>
            </a:r>
            <a:r>
              <a:rPr lang="en-US" altLang="zh-CN" sz="2400" dirty="0"/>
              <a:t>key </a:t>
            </a:r>
            <a:r>
              <a:rPr lang="zh-CN" altLang="en-US" sz="2400" dirty="0"/>
              <a:t>的值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C00000"/>
                </a:solidFill>
              </a:rPr>
              <a:t>d[k]    </a:t>
            </a:r>
            <a:r>
              <a:rPr lang="zh-CN" altLang="en-US" sz="2400" dirty="0">
                <a:solidFill>
                  <a:srgbClr val="C00000"/>
                </a:solidFill>
              </a:rPr>
              <a:t>       </a:t>
            </a:r>
            <a:r>
              <a:rPr lang="zh-CN" altLang="en-US" sz="2400" dirty="0"/>
              <a:t>返回键 </a:t>
            </a:r>
            <a:r>
              <a:rPr lang="en-US" altLang="zh-CN" sz="2400" dirty="0"/>
              <a:t>k </a:t>
            </a:r>
            <a:r>
              <a:rPr lang="zh-CN" altLang="en-US" sz="2400" dirty="0"/>
              <a:t>对应的值</a:t>
            </a:r>
            <a:r>
              <a:rPr lang="en-US" altLang="zh-CN" sz="2400" dirty="0"/>
              <a:t>,K</a:t>
            </a:r>
            <a:r>
              <a:rPr lang="zh-CN" altLang="en-US" sz="2400" dirty="0"/>
              <a:t>不存在报错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C00000"/>
                </a:solidFill>
              </a:rPr>
              <a:t>d[k] = v </a:t>
            </a:r>
            <a:r>
              <a:rPr lang="zh-CN" altLang="en-US" sz="2400" dirty="0">
                <a:solidFill>
                  <a:srgbClr val="C00000"/>
                </a:solidFill>
              </a:rPr>
              <a:t>   </a:t>
            </a:r>
            <a:r>
              <a:rPr lang="zh-CN" altLang="en-US" sz="2400" dirty="0"/>
              <a:t>将值 </a:t>
            </a:r>
            <a:r>
              <a:rPr lang="en-US" altLang="zh-CN" sz="2400" dirty="0"/>
              <a:t>v </a:t>
            </a:r>
            <a:r>
              <a:rPr lang="zh-CN" altLang="en-US" sz="2400" dirty="0"/>
              <a:t>与键 </a:t>
            </a:r>
            <a:r>
              <a:rPr lang="en-US" altLang="zh-CN" sz="2400" dirty="0"/>
              <a:t>k</a:t>
            </a:r>
            <a:r>
              <a:rPr lang="zh-CN" altLang="en-US" sz="2400" dirty="0"/>
              <a:t>对应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C00000"/>
                </a:solidFill>
              </a:rPr>
              <a:t>del  d[k]</a:t>
            </a:r>
            <a:r>
              <a:rPr lang="zh-CN" altLang="en-US" sz="2400" dirty="0">
                <a:solidFill>
                  <a:srgbClr val="C00000"/>
                </a:solidFill>
              </a:rPr>
              <a:t>   </a:t>
            </a:r>
            <a:r>
              <a:rPr lang="zh-CN" altLang="en-US" sz="2400" dirty="0"/>
              <a:t>删除键为 </a:t>
            </a:r>
            <a:r>
              <a:rPr lang="en-US" altLang="zh-CN" sz="2400" dirty="0"/>
              <a:t>k </a:t>
            </a:r>
            <a:r>
              <a:rPr lang="zh-CN" altLang="en-US" sz="2400" dirty="0"/>
              <a:t>的项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C00000"/>
                </a:solidFill>
              </a:rPr>
              <a:t>k in d</a:t>
            </a:r>
            <a:r>
              <a:rPr lang="zh-CN" altLang="en-US" sz="2400" dirty="0">
                <a:solidFill>
                  <a:srgbClr val="C00000"/>
                </a:solidFill>
              </a:rPr>
              <a:t>       </a:t>
            </a:r>
            <a:r>
              <a:rPr lang="zh-CN" altLang="en-US" sz="2400" dirty="0"/>
              <a:t>判断 </a:t>
            </a:r>
            <a:r>
              <a:rPr lang="en-US" altLang="zh-CN" sz="2400" dirty="0"/>
              <a:t>k </a:t>
            </a:r>
            <a:r>
              <a:rPr lang="zh-CN" altLang="en-US" sz="2400" dirty="0"/>
              <a:t>是否是 </a:t>
            </a:r>
            <a:r>
              <a:rPr lang="en-US" altLang="zh-CN" sz="2400" dirty="0"/>
              <a:t>d </a:t>
            </a:r>
            <a:r>
              <a:rPr lang="zh-CN" altLang="en-US" sz="2400" dirty="0"/>
              <a:t>中的一个键 </a:t>
            </a:r>
          </a:p>
        </p:txBody>
      </p:sp>
    </p:spTree>
    <p:extLst>
      <p:ext uri="{BB962C8B-B14F-4D97-AF65-F5344CB8AC3E}">
        <p14:creationId xmlns:p14="http://schemas.microsoft.com/office/powerpoint/2010/main" val="1213582918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199" dirty="0"/>
              <a:t>5.2.2 </a:t>
            </a:r>
            <a:r>
              <a:rPr lang="zh-CN" altLang="en-US" sz="3199" dirty="0"/>
              <a:t>集合运算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272581" y="2637095"/>
          <a:ext cx="9597595" cy="2790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086">
                  <a:extLst>
                    <a:ext uri="{9D8B030D-6E8A-4147-A177-3AD203B41FA5}">
                      <a16:colId xmlns:a16="http://schemas.microsoft.com/office/drawing/2014/main" val="666894175"/>
                    </a:ext>
                  </a:extLst>
                </a:gridCol>
                <a:gridCol w="4746063">
                  <a:extLst>
                    <a:ext uri="{9D8B030D-6E8A-4147-A177-3AD203B41FA5}">
                      <a16:colId xmlns:a16="http://schemas.microsoft.com/office/drawing/2014/main" val="4115336004"/>
                    </a:ext>
                  </a:extLst>
                </a:gridCol>
                <a:gridCol w="1476552">
                  <a:extLst>
                    <a:ext uri="{9D8B030D-6E8A-4147-A177-3AD203B41FA5}">
                      <a16:colId xmlns:a16="http://schemas.microsoft.com/office/drawing/2014/main" val="2457360260"/>
                    </a:ext>
                  </a:extLst>
                </a:gridCol>
                <a:gridCol w="2003894">
                  <a:extLst>
                    <a:ext uri="{9D8B030D-6E8A-4147-A177-3AD203B41FA5}">
                      <a16:colId xmlns:a16="http://schemas.microsoft.com/office/drawing/2014/main" val="3454495648"/>
                    </a:ext>
                  </a:extLst>
                </a:gridCol>
              </a:tblGrid>
              <a:tr h="4944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运算符</a:t>
                      </a:r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含义</a:t>
                      </a:r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示例</a:t>
                      </a:r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结果</a:t>
                      </a:r>
                    </a:p>
                  </a:txBody>
                  <a:tcPr marL="121876" marR="121876" marT="60960" marB="60960" anchor="ctr"/>
                </a:tc>
                <a:extLst>
                  <a:ext uri="{0D108BD9-81ED-4DB2-BD59-A6C34878D82A}">
                    <a16:rowId xmlns:a16="http://schemas.microsoft.com/office/drawing/2014/main" val="1315941427"/>
                  </a:ext>
                </a:extLst>
              </a:tr>
              <a:tr h="4944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</a:t>
                      </a:r>
                      <a:endParaRPr lang="zh-CN" altLang="en-US" sz="2400" dirty="0"/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差集</a:t>
                      </a:r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s1-s2</a:t>
                      </a:r>
                      <a:endParaRPr lang="zh-CN" altLang="en-US" sz="2400" dirty="0"/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{1,3,7}</a:t>
                      </a:r>
                      <a:endParaRPr lang="zh-CN" altLang="en-US" sz="2400" dirty="0"/>
                    </a:p>
                  </a:txBody>
                  <a:tcPr marL="121876" marR="121876" marT="60960" marB="60960" anchor="ctr"/>
                </a:tc>
                <a:extLst>
                  <a:ext uri="{0D108BD9-81ED-4DB2-BD59-A6C34878D82A}">
                    <a16:rowId xmlns:a16="http://schemas.microsoft.com/office/drawing/2014/main" val="905850772"/>
                  </a:ext>
                </a:extLst>
              </a:tr>
              <a:tr h="4944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&amp;</a:t>
                      </a:r>
                      <a:endParaRPr lang="zh-CN" altLang="en-US" sz="2400" dirty="0"/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交集</a:t>
                      </a:r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s1&amp;s2</a:t>
                      </a:r>
                      <a:endParaRPr lang="zh-CN" altLang="en-US" sz="2400" dirty="0"/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{8}</a:t>
                      </a:r>
                      <a:endParaRPr lang="zh-CN" altLang="en-US" sz="2400" dirty="0"/>
                    </a:p>
                  </a:txBody>
                  <a:tcPr marL="121876" marR="121876" marT="60960" marB="60960" anchor="ctr"/>
                </a:tc>
                <a:extLst>
                  <a:ext uri="{0D108BD9-81ED-4DB2-BD59-A6C34878D82A}">
                    <a16:rowId xmlns:a16="http://schemas.microsoft.com/office/drawing/2014/main" val="3295050321"/>
                  </a:ext>
                </a:extLst>
              </a:tr>
              <a:tr h="4944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|</a:t>
                      </a:r>
                      <a:endParaRPr lang="zh-CN" altLang="en-US" sz="2400" dirty="0"/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并集</a:t>
                      </a:r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s1|s2</a:t>
                      </a:r>
                      <a:endParaRPr lang="zh-CN" altLang="en-US" sz="2400" dirty="0"/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{1,2,3,7,8,10}</a:t>
                      </a:r>
                      <a:endParaRPr lang="zh-CN" altLang="en-US" sz="2400" dirty="0"/>
                    </a:p>
                  </a:txBody>
                  <a:tcPr marL="121876" marR="121876" marT="60960" marB="60960" anchor="ctr"/>
                </a:tc>
                <a:extLst>
                  <a:ext uri="{0D108BD9-81ED-4DB2-BD59-A6C34878D82A}">
                    <a16:rowId xmlns:a16="http://schemas.microsoft.com/office/drawing/2014/main" val="310736600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^</a:t>
                      </a:r>
                      <a:endParaRPr lang="zh-CN" altLang="en-US" sz="2400" dirty="0"/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对称差集</a:t>
                      </a:r>
                      <a:endParaRPr lang="en-US" altLang="zh-CN" sz="2400" dirty="0"/>
                    </a:p>
                    <a:p>
                      <a:pPr algn="ctr"/>
                      <a:r>
                        <a:rPr lang="en-US" altLang="zh-CN" sz="2100" dirty="0"/>
                        <a:t>(</a:t>
                      </a:r>
                      <a:r>
                        <a:rPr lang="zh-CN" altLang="en-US" sz="2100" dirty="0"/>
                        <a:t>两个集合中不重复的元素集合</a:t>
                      </a:r>
                      <a:r>
                        <a:rPr lang="en-US" altLang="zh-CN" sz="2100" dirty="0"/>
                        <a:t>)</a:t>
                      </a:r>
                      <a:endParaRPr lang="zh-CN" altLang="en-US" sz="2100" dirty="0"/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s1^s2</a:t>
                      </a:r>
                      <a:endParaRPr lang="zh-CN" altLang="en-US" sz="2400" dirty="0"/>
                    </a:p>
                  </a:txBody>
                  <a:tcPr marL="121876" marR="121876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{1,2,3,7,10}</a:t>
                      </a:r>
                      <a:endParaRPr lang="zh-CN" altLang="en-US" sz="2400" dirty="0"/>
                    </a:p>
                  </a:txBody>
                  <a:tcPr marL="121876" marR="121876" marT="60960" marB="60960" anchor="ctr"/>
                </a:tc>
                <a:extLst>
                  <a:ext uri="{0D108BD9-81ED-4DB2-BD59-A6C34878D82A}">
                    <a16:rowId xmlns:a16="http://schemas.microsoft.com/office/drawing/2014/main" val="1994146938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777083" y="1195249"/>
            <a:ext cx="4414894" cy="11972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设有如下集合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s1=set((1,3,7,8))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s2=set([2,8,10])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7148372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199" dirty="0"/>
              <a:t>集合对象的方法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21347" y="1124745"/>
          <a:ext cx="10365403" cy="5222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8068">
                  <a:extLst>
                    <a:ext uri="{9D8B030D-6E8A-4147-A177-3AD203B41FA5}">
                      <a16:colId xmlns:a16="http://schemas.microsoft.com/office/drawing/2014/main" val="1253703568"/>
                    </a:ext>
                  </a:extLst>
                </a:gridCol>
                <a:gridCol w="6447335">
                  <a:extLst>
                    <a:ext uri="{9D8B030D-6E8A-4147-A177-3AD203B41FA5}">
                      <a16:colId xmlns:a16="http://schemas.microsoft.com/office/drawing/2014/main" val="4052437972"/>
                    </a:ext>
                  </a:extLst>
                </a:gridCol>
              </a:tblGrid>
              <a:tr h="494454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方 法</a:t>
                      </a: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含   义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4018362061"/>
                  </a:ext>
                </a:extLst>
              </a:tr>
              <a:tr h="494454">
                <a:tc>
                  <a:txBody>
                    <a:bodyPr/>
                    <a:lstStyle/>
                    <a:p>
                      <a:r>
                        <a:rPr lang="en-US" altLang="zh-CN" sz="2100" dirty="0" err="1"/>
                        <a:t>s.add</a:t>
                      </a:r>
                      <a:r>
                        <a:rPr lang="en-US" altLang="zh-CN" sz="2100" dirty="0"/>
                        <a:t>(x)</a:t>
                      </a:r>
                      <a:endParaRPr lang="zh-CN" altLang="en-US" sz="2100" dirty="0"/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增加新元素</a:t>
                      </a:r>
                      <a:r>
                        <a:rPr lang="en-US" altLang="zh-CN" sz="2100" dirty="0"/>
                        <a:t>x</a:t>
                      </a:r>
                      <a:endParaRPr lang="zh-CN" altLang="en-US" sz="2100" dirty="0"/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2504418611"/>
                  </a:ext>
                </a:extLst>
              </a:tr>
              <a:tr h="4944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 err="1"/>
                        <a:t>s.update</a:t>
                      </a:r>
                      <a:r>
                        <a:rPr lang="en-US" altLang="zh-CN" sz="2100" dirty="0"/>
                        <a:t>(x)</a:t>
                      </a:r>
                      <a:endParaRPr lang="zh-CN" altLang="en-US" sz="2100" dirty="0"/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将序列</a:t>
                      </a:r>
                      <a:r>
                        <a:rPr lang="en-US" altLang="zh-CN" sz="2100" dirty="0"/>
                        <a:t>x</a:t>
                      </a:r>
                      <a:r>
                        <a:rPr lang="zh-CN" altLang="en-US" sz="2100" dirty="0"/>
                        <a:t>中的每一项加入集合</a:t>
                      </a:r>
                      <a:r>
                        <a:rPr lang="en-US" altLang="zh-CN" sz="2100" dirty="0"/>
                        <a:t>s</a:t>
                      </a:r>
                      <a:endParaRPr lang="zh-CN" altLang="en-US" sz="2100" dirty="0"/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66026187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 err="1"/>
                        <a:t>s.remove</a:t>
                      </a:r>
                      <a:r>
                        <a:rPr lang="en-US" altLang="zh-CN" sz="2100" dirty="0"/>
                        <a:t>(x)</a:t>
                      </a:r>
                      <a:endParaRPr lang="zh-CN" altLang="en-US" sz="2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 err="1"/>
                        <a:t>s.discard</a:t>
                      </a:r>
                      <a:r>
                        <a:rPr lang="en-US" altLang="zh-CN" sz="2100" dirty="0"/>
                        <a:t>(x)</a:t>
                      </a:r>
                      <a:endParaRPr lang="zh-CN" altLang="en-US" sz="2100" dirty="0"/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从集合</a:t>
                      </a:r>
                      <a:r>
                        <a:rPr lang="en-US" altLang="zh-CN" sz="2100" dirty="0"/>
                        <a:t>s</a:t>
                      </a:r>
                      <a:r>
                        <a:rPr lang="zh-CN" altLang="en-US" sz="2100" dirty="0"/>
                        <a:t>中移除元素</a:t>
                      </a:r>
                      <a:r>
                        <a:rPr lang="en-US" altLang="zh-CN" sz="2100" dirty="0"/>
                        <a:t>x</a:t>
                      </a:r>
                      <a:r>
                        <a:rPr lang="zh-CN" altLang="en-US" sz="2100" dirty="0"/>
                        <a:t>，若</a:t>
                      </a:r>
                      <a:r>
                        <a:rPr lang="en-US" altLang="zh-CN" sz="2100" dirty="0"/>
                        <a:t>x</a:t>
                      </a:r>
                      <a:r>
                        <a:rPr lang="zh-CN" altLang="en-US" sz="2100" dirty="0"/>
                        <a:t>不存在，报错</a:t>
                      </a:r>
                      <a:endParaRPr lang="en-US" altLang="zh-CN" sz="2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100" dirty="0"/>
                        <a:t>从集合</a:t>
                      </a:r>
                      <a:r>
                        <a:rPr lang="en-US" altLang="zh-CN" sz="2100" dirty="0"/>
                        <a:t>s</a:t>
                      </a:r>
                      <a:r>
                        <a:rPr lang="zh-CN" altLang="en-US" sz="2100" dirty="0"/>
                        <a:t>中移除元素</a:t>
                      </a:r>
                      <a:r>
                        <a:rPr lang="en-US" altLang="zh-CN" sz="2100" dirty="0"/>
                        <a:t>x</a:t>
                      </a:r>
                      <a:r>
                        <a:rPr lang="zh-CN" altLang="en-US" sz="2100" dirty="0"/>
                        <a:t>，若</a:t>
                      </a:r>
                      <a:r>
                        <a:rPr lang="en-US" altLang="zh-CN" sz="2100" dirty="0"/>
                        <a:t>x</a:t>
                      </a:r>
                      <a:r>
                        <a:rPr lang="zh-CN" altLang="en-US" sz="2100" dirty="0"/>
                        <a:t>不存在，不报错</a:t>
                      </a:r>
                      <a:endParaRPr lang="en-US" altLang="zh-CN" sz="2100" dirty="0"/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443576788"/>
                  </a:ext>
                </a:extLst>
              </a:tr>
              <a:tr h="4944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 err="1"/>
                        <a:t>s.clear</a:t>
                      </a:r>
                      <a:r>
                        <a:rPr lang="en-US" altLang="zh-CN" sz="2100" dirty="0"/>
                        <a:t>(x)</a:t>
                      </a:r>
                      <a:endParaRPr lang="zh-CN" altLang="en-US" sz="2100" dirty="0"/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清除集合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412722404"/>
                  </a:ext>
                </a:extLst>
              </a:tr>
              <a:tr h="4944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 err="1"/>
                        <a:t>s.difference</a:t>
                      </a:r>
                      <a:r>
                        <a:rPr lang="en-US" altLang="zh-CN" sz="2100" dirty="0"/>
                        <a:t>(x)</a:t>
                      </a:r>
                      <a:endParaRPr lang="zh-CN" altLang="en-US" sz="2100" dirty="0"/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差集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333322344"/>
                  </a:ext>
                </a:extLst>
              </a:tr>
              <a:tr h="4944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 err="1"/>
                        <a:t>s.intersection</a:t>
                      </a:r>
                      <a:r>
                        <a:rPr lang="en-US" altLang="zh-CN" sz="2100" dirty="0"/>
                        <a:t>(x)</a:t>
                      </a:r>
                      <a:endParaRPr lang="zh-CN" altLang="en-US" sz="2100" dirty="0"/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交集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3646291435"/>
                  </a:ext>
                </a:extLst>
              </a:tr>
              <a:tr h="4944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 err="1"/>
                        <a:t>s.issubset</a:t>
                      </a:r>
                      <a:r>
                        <a:rPr lang="en-US" altLang="zh-CN" sz="2100" dirty="0"/>
                        <a:t>(s1)</a:t>
                      </a:r>
                      <a:endParaRPr lang="zh-CN" altLang="en-US" sz="2100" dirty="0"/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100" dirty="0"/>
                        <a:t>s1</a:t>
                      </a:r>
                      <a:r>
                        <a:rPr lang="zh-CN" altLang="en-US" sz="2100" dirty="0"/>
                        <a:t>是否是</a:t>
                      </a:r>
                      <a:r>
                        <a:rPr lang="en-US" altLang="zh-CN" sz="2100" dirty="0"/>
                        <a:t>s</a:t>
                      </a:r>
                      <a:r>
                        <a:rPr lang="zh-CN" altLang="en-US" sz="2100" dirty="0"/>
                        <a:t>的子集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3014609923"/>
                  </a:ext>
                </a:extLst>
              </a:tr>
              <a:tr h="4944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 err="1"/>
                        <a:t>s.union</a:t>
                      </a:r>
                      <a:r>
                        <a:rPr lang="en-US" altLang="zh-CN" sz="2100" dirty="0"/>
                        <a:t>(x)</a:t>
                      </a:r>
                      <a:endParaRPr lang="zh-CN" altLang="en-US" sz="2100" dirty="0"/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并集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2962259913"/>
                  </a:ext>
                </a:extLst>
              </a:tr>
              <a:tr h="4944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 err="1"/>
                        <a:t>s.symmetric_difference</a:t>
                      </a:r>
                      <a:r>
                        <a:rPr lang="en-US" altLang="zh-CN" sz="2100" dirty="0"/>
                        <a:t>(x)</a:t>
                      </a:r>
                      <a:endParaRPr lang="zh-CN" altLang="en-US" sz="2100" dirty="0"/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对称差集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2263795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210075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/>
          <p:cNvGraphicFramePr/>
          <p:nvPr/>
        </p:nvGraphicFramePr>
        <p:xfrm>
          <a:off x="4420295" y="1052737"/>
          <a:ext cx="4760015" cy="2353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圆角矩形 10"/>
          <p:cNvSpPr/>
          <p:nvPr/>
        </p:nvSpPr>
        <p:spPr>
          <a:xfrm>
            <a:off x="2585611" y="4948841"/>
            <a:ext cx="2862263" cy="735806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zh-CN" sz="165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读操作，</a:t>
            </a:r>
            <a:r>
              <a:rPr lang="zh-CN" altLang="en-US" sz="165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zh-CN" altLang="zh-CN" sz="165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输入，将数据从文件读入到变量供程序使用</a:t>
            </a:r>
            <a:endParaRPr lang="zh-CN" altLang="en-US" sz="16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717958" y="4979326"/>
            <a:ext cx="3996444" cy="735806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5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写操作，即输出，将数据写入文件。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2585611" y="1412776"/>
            <a:ext cx="927147" cy="2148698"/>
            <a:chOff x="1763458" y="1988840"/>
            <a:chExt cx="1236197" cy="2864931"/>
          </a:xfrm>
        </p:grpSpPr>
        <p:sp>
          <p:nvSpPr>
            <p:cNvPr id="4" name="矩形 3"/>
            <p:cNvSpPr/>
            <p:nvPr/>
          </p:nvSpPr>
          <p:spPr bwMode="auto">
            <a:xfrm>
              <a:off x="1782297" y="2370263"/>
              <a:ext cx="1210588" cy="400109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685800"/>
              <a:r>
                <a:rPr lang="zh-CN" altLang="en-US" sz="15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打开文件</a:t>
              </a: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1763458" y="3204357"/>
              <a:ext cx="1210588" cy="400109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685800"/>
              <a:r>
                <a:rPr lang="zh-CN" altLang="en-US" sz="15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读写文件</a:t>
              </a: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1789067" y="4093622"/>
              <a:ext cx="1210588" cy="400109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685800"/>
              <a:r>
                <a:rPr lang="zh-CN" altLang="en-US" sz="15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关闭文件</a:t>
              </a:r>
            </a:p>
          </p:txBody>
        </p:sp>
        <p:cxnSp>
          <p:nvCxnSpPr>
            <p:cNvPr id="6" name="直接箭头连接符 5"/>
            <p:cNvCxnSpPr/>
            <p:nvPr/>
          </p:nvCxnSpPr>
          <p:spPr bwMode="auto">
            <a:xfrm>
              <a:off x="2351584" y="1988840"/>
              <a:ext cx="0" cy="366035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 bwMode="auto">
            <a:xfrm>
              <a:off x="2351584" y="2785762"/>
              <a:ext cx="0" cy="377034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 bwMode="auto">
            <a:xfrm>
              <a:off x="2351583" y="3619856"/>
              <a:ext cx="0" cy="432048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 bwMode="auto">
            <a:xfrm>
              <a:off x="2351583" y="4493731"/>
              <a:ext cx="0" cy="36004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1426" y="3432952"/>
            <a:ext cx="4857750" cy="1328738"/>
          </a:xfrm>
          <a:prstGeom prst="rect">
            <a:avLst/>
          </a:prstGeom>
        </p:spPr>
      </p:pic>
      <p:sp>
        <p:nvSpPr>
          <p:cNvPr id="17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2553" y="116633"/>
            <a:ext cx="7290810" cy="581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文件访问流程</a:t>
            </a:r>
          </a:p>
        </p:txBody>
      </p:sp>
    </p:spTree>
    <p:extLst>
      <p:ext uri="{BB962C8B-B14F-4D97-AF65-F5344CB8AC3E}">
        <p14:creationId xmlns:p14="http://schemas.microsoft.com/office/powerpoint/2010/main" val="57378073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</a:rPr>
              <a:t>6.2.1  </a:t>
            </a:r>
            <a:r>
              <a:rPr lang="zh-CN" altLang="zh-CN" dirty="0">
                <a:solidFill>
                  <a:schemeClr val="tx2"/>
                </a:solidFill>
              </a:rPr>
              <a:t>文本文件的打开与关闭</a:t>
            </a:r>
            <a:endParaRPr lang="zh-CN" altLang="en-US" sz="2100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8577" y="1230514"/>
            <a:ext cx="7614846" cy="855360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打开文件</a:t>
            </a:r>
            <a:endParaRPr kumimoji="1" lang="en-US" altLang="zh-CN" dirty="0">
              <a:solidFill>
                <a:srgbClr val="000066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fp</a:t>
            </a:r>
            <a:r>
              <a:rPr lang="en-US" altLang="zh-CN" dirty="0"/>
              <a:t> = open(filename, mode='r', encoding='utf-8')</a:t>
            </a:r>
            <a:endParaRPr lang="zh-CN" altLang="zh-CN" dirty="0"/>
          </a:p>
        </p:txBody>
      </p:sp>
      <p:sp>
        <p:nvSpPr>
          <p:cNvPr id="7" name="矩形 6"/>
          <p:cNvSpPr/>
          <p:nvPr/>
        </p:nvSpPr>
        <p:spPr>
          <a:xfrm>
            <a:off x="2201360" y="2559046"/>
            <a:ext cx="2047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文件对象的属性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260201" y="2962250"/>
          <a:ext cx="3143514" cy="1409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469">
                  <a:extLst>
                    <a:ext uri="{9D8B030D-6E8A-4147-A177-3AD203B41FA5}">
                      <a16:colId xmlns:a16="http://schemas.microsoft.com/office/drawing/2014/main" val="3716126505"/>
                    </a:ext>
                  </a:extLst>
                </a:gridCol>
                <a:gridCol w="2278045">
                  <a:extLst>
                    <a:ext uri="{9D8B030D-6E8A-4147-A177-3AD203B41FA5}">
                      <a16:colId xmlns:a16="http://schemas.microsoft.com/office/drawing/2014/main" val="3137966718"/>
                    </a:ext>
                  </a:extLst>
                </a:gridCol>
              </a:tblGrid>
              <a:tr h="248603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dirty="0">
                          <a:effectLst/>
                        </a:rPr>
                        <a:t>属性</a:t>
                      </a:r>
                      <a:endParaRPr lang="zh-CN" altLang="en-US" sz="14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21431" marR="21431" marT="21431" marB="21431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dirty="0">
                          <a:effectLst/>
                        </a:rPr>
                        <a:t>描述</a:t>
                      </a:r>
                      <a:endParaRPr lang="zh-CN" altLang="en-US" sz="14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21431" marR="21431" marT="21431" marB="21431" anchor="ctr"/>
                </a:tc>
                <a:extLst>
                  <a:ext uri="{0D108BD9-81ED-4DB2-BD59-A6C34878D82A}">
                    <a16:rowId xmlns:a16="http://schemas.microsoft.com/office/drawing/2014/main" val="2964668369"/>
                  </a:ext>
                </a:extLst>
              </a:tr>
              <a:tr h="5114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 err="1">
                          <a:effectLst/>
                        </a:rPr>
                        <a:t>fp.closed</a:t>
                      </a:r>
                      <a:endParaRPr lang="en-US" sz="1400" dirty="0">
                        <a:effectLst/>
                      </a:endParaRPr>
                    </a:p>
                  </a:txBody>
                  <a:tcPr marL="35719" marR="35719" marT="50006" marB="50006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 dirty="0">
                          <a:effectLst/>
                        </a:rPr>
                        <a:t>如果文件已被关闭返回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，否则返回</a:t>
                      </a: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Flase</a:t>
                      </a:r>
                      <a:r>
                        <a:rPr lang="zh-CN" altLang="en-US" sz="1400" dirty="0">
                          <a:effectLst/>
                        </a:rPr>
                        <a:t>。</a:t>
                      </a:r>
                    </a:p>
                  </a:txBody>
                  <a:tcPr marL="35719" marR="35719" marT="50006" marB="50006" anchor="ctr"/>
                </a:tc>
                <a:extLst>
                  <a:ext uri="{0D108BD9-81ED-4DB2-BD59-A6C34878D82A}">
                    <a16:rowId xmlns:a16="http://schemas.microsoft.com/office/drawing/2014/main" val="2468590381"/>
                  </a:ext>
                </a:extLst>
              </a:tr>
              <a:tr h="305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 err="1">
                          <a:effectLst/>
                        </a:rPr>
                        <a:t>fp.mode</a:t>
                      </a:r>
                      <a:endParaRPr lang="en-US" sz="1400" dirty="0">
                        <a:effectLst/>
                      </a:endParaRPr>
                    </a:p>
                  </a:txBody>
                  <a:tcPr marL="35719" marR="35719" marT="50006" marB="50006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 dirty="0">
                          <a:effectLst/>
                        </a:rPr>
                        <a:t>返回被打开文件的访问模式。</a:t>
                      </a:r>
                    </a:p>
                  </a:txBody>
                  <a:tcPr marL="35719" marR="35719" marT="50006" marB="50006" anchor="ctr"/>
                </a:tc>
                <a:extLst>
                  <a:ext uri="{0D108BD9-81ED-4DB2-BD59-A6C34878D82A}">
                    <a16:rowId xmlns:a16="http://schemas.microsoft.com/office/drawing/2014/main" val="157031428"/>
                  </a:ext>
                </a:extLst>
              </a:tr>
              <a:tr h="305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fp.name</a:t>
                      </a:r>
                    </a:p>
                  </a:txBody>
                  <a:tcPr marL="35719" marR="35719" marT="50006" marB="50006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 dirty="0">
                          <a:effectLst/>
                        </a:rPr>
                        <a:t>返回文件的名称。</a:t>
                      </a:r>
                    </a:p>
                  </a:txBody>
                  <a:tcPr marL="35719" marR="35719" marT="50006" marB="50006" anchor="ctr"/>
                </a:tc>
                <a:extLst>
                  <a:ext uri="{0D108BD9-81ED-4DB2-BD59-A6C34878D82A}">
                    <a16:rowId xmlns:a16="http://schemas.microsoft.com/office/drawing/2014/main" val="790848316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2340143" y="4594400"/>
            <a:ext cx="3429563" cy="1791131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lvl="2" indent="-620316">
              <a:lnSpc>
                <a:spcPct val="125000"/>
              </a:lnSpc>
            </a:pPr>
            <a:r>
              <a:rPr kumimoji="1"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=open("d:\\data\\gc-4-1.py","r")</a:t>
            </a:r>
          </a:p>
          <a:p>
            <a:pPr lvl="2" indent="-620316">
              <a:lnSpc>
                <a:spcPct val="125000"/>
              </a:lnSpc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print(fp.name)</a:t>
            </a:r>
          </a:p>
          <a:p>
            <a:pPr lvl="2" indent="-620316">
              <a:lnSpc>
                <a:spcPct val="125000"/>
              </a:lnSpc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kumimoji="1"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fp.closed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indent="-620316">
              <a:lnSpc>
                <a:spcPct val="125000"/>
              </a:lnSpc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kumimoji="1"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fp.mode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zh-CN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27A48E-79EA-4AFB-B23C-BCA574340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988" y="4635167"/>
            <a:ext cx="3348372" cy="10572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42B89C7-1D10-4AF4-BAF2-460559194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953" y="2960467"/>
            <a:ext cx="4111259" cy="70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71926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495600" y="698229"/>
            <a:ext cx="5969726" cy="52378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文件的读写模式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999657" y="2777609"/>
          <a:ext cx="610267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113361997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978639883"/>
                    </a:ext>
                  </a:extLst>
                </a:gridCol>
                <a:gridCol w="4104455">
                  <a:extLst>
                    <a:ext uri="{9D8B030D-6E8A-4147-A177-3AD203B41FA5}">
                      <a16:colId xmlns:a16="http://schemas.microsoft.com/office/drawing/2014/main" val="205187709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Mode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作用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说明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070519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r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读模式（默认）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文件不存在则异常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2140037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写模式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文件不存在则创建；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</a:rPr>
                        <a:t>文件存在则清空内容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3552375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x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写模式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创建新文件，文件存在则异常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92850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追加模式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文件存在则追加；文件不存在则创建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09753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二进制模式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可与其他模式组合使用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875618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文本模式（默认）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可与其他模式组合使用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433523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+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读</a:t>
                      </a:r>
                      <a:r>
                        <a:rPr lang="en-US" altLang="zh-CN" sz="1400" dirty="0"/>
                        <a:t>/</a:t>
                      </a:r>
                      <a:r>
                        <a:rPr lang="zh-CN" altLang="en-US" sz="1400" dirty="0"/>
                        <a:t>写模式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打开文件进行更新，可以其他模式组合使用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62117258"/>
                  </a:ext>
                </a:extLst>
              </a:tr>
            </a:tbl>
          </a:graphicData>
        </a:graphic>
      </p:graphicFrame>
      <p:sp>
        <p:nvSpPr>
          <p:cNvPr id="7" name="圆角矩形 6"/>
          <p:cNvSpPr/>
          <p:nvPr/>
        </p:nvSpPr>
        <p:spPr bwMode="auto">
          <a:xfrm>
            <a:off x="2315580" y="1628801"/>
            <a:ext cx="7560840" cy="93784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 = open("d:\\abc.txt" ,"r")                                    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以读模式打开</a:t>
            </a: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fp2 = open(</a:t>
            </a:r>
            <a:r>
              <a:rPr kumimoji="1"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1"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D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:\jsjjc\student.txt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w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)                  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#</a:t>
            </a: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以写模式打开</a:t>
            </a:r>
            <a:endParaRPr kumimoji="1" lang="zh-CN" altLang="zh-CN" b="1" dirty="0">
              <a:solidFill>
                <a:srgbClr val="C00000"/>
              </a:solidFill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0C2D2A-D595-34EC-DFB1-7682E99B7594}"/>
              </a:ext>
            </a:extLst>
          </p:cNvPr>
          <p:cNvSpPr txBox="1"/>
          <p:nvPr/>
        </p:nvSpPr>
        <p:spPr>
          <a:xfrm>
            <a:off x="3359696" y="5457453"/>
            <a:ext cx="4602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模式间合并，如</a:t>
            </a:r>
            <a:r>
              <a:rPr kumimoji="1" lang="en-US" altLang="zh-CN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'</a:t>
            </a:r>
            <a:r>
              <a:rPr kumimoji="1" lang="en-US" altLang="zh-CN" b="1" dirty="0" err="1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rb</a:t>
            </a:r>
            <a:r>
              <a:rPr kumimoji="1" lang="en-US" altLang="zh-CN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'</a:t>
            </a:r>
            <a:r>
              <a:rPr kumimoji="1" lang="zh-CN" altLang="en-US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，二进制读</a:t>
            </a:r>
            <a:endParaRPr kumimoji="1" lang="en-US" altLang="zh-CN" b="1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137475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59A5B-C2CB-4CDD-AF3E-45947711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</a:t>
            </a:r>
            <a:r>
              <a:rPr lang="en-US" altLang="zh-CN" dirty="0"/>
              <a:t>—</a:t>
            </a:r>
            <a:r>
              <a:rPr lang="zh-CN" altLang="en-US" dirty="0"/>
              <a:t>文件的编码问题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1C008-4BC2-47A5-BD11-C566F1A47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4850" y="1412777"/>
            <a:ext cx="8441630" cy="4094163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kumimoji="1" lang="zh-CN" altLang="en-US" sz="2800" kern="1200" dirty="0">
                <a:latin typeface="等线" panose="02010600030101010101" pitchFamily="2" charset="-122"/>
                <a:ea typeface="等线" panose="02010600030101010101" pitchFamily="2" charset="-122"/>
              </a:rPr>
              <a:t>有</a:t>
            </a:r>
            <a:r>
              <a:rPr kumimoji="1" lang="zh-CN" altLang="en-US" sz="2800" kern="1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汉字的文件</a:t>
            </a:r>
            <a:r>
              <a:rPr kumimoji="1" lang="zh-CN" altLang="en-US" sz="2800" kern="1200" dirty="0">
                <a:latin typeface="等线" panose="02010600030101010101" pitchFamily="2" charset="-122"/>
                <a:ea typeface="等线" panose="02010600030101010101" pitchFamily="2" charset="-122"/>
              </a:rPr>
              <a:t>，经常用  </a:t>
            </a:r>
            <a:r>
              <a:rPr kumimoji="1" lang="en-US" altLang="zh-CN" sz="2800" kern="1200" dirty="0">
                <a:latin typeface="等线" panose="02010600030101010101" pitchFamily="2" charset="-122"/>
                <a:ea typeface="等线" panose="02010600030101010101" pitchFamily="2" charset="-122"/>
              </a:rPr>
              <a:t>utf-8 </a:t>
            </a:r>
            <a:r>
              <a:rPr kumimoji="1" lang="zh-CN" altLang="en-US" sz="2800" kern="1200" dirty="0">
                <a:latin typeface="等线" panose="02010600030101010101" pitchFamily="2" charset="-122"/>
                <a:ea typeface="等线" panose="02010600030101010101" pitchFamily="2" charset="-122"/>
              </a:rPr>
              <a:t>编码，打开时需要指定编码</a:t>
            </a:r>
            <a:endParaRPr kumimoji="1" lang="en-US" altLang="zh-CN" sz="2800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800" kern="1200" dirty="0">
                <a:latin typeface="等线" panose="02010600030101010101" pitchFamily="2" charset="-122"/>
                <a:ea typeface="等线" panose="02010600030101010101" pitchFamily="2" charset="-122"/>
              </a:rPr>
              <a:t>例子</a:t>
            </a:r>
            <a:endParaRPr kumimoji="1" lang="en-US" altLang="zh-CN" sz="2800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f=open('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学生成绩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.txt',  'r',  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encoding='utf-8'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endParaRPr lang="zh-CN" altLang="en-US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877" y="4077072"/>
            <a:ext cx="6532215" cy="338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1963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4269" y="836712"/>
            <a:ext cx="8275638" cy="651272"/>
          </a:xfrm>
        </p:spPr>
        <p:txBody>
          <a:bodyPr/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文件关闭：</a:t>
            </a:r>
            <a:r>
              <a:rPr lang="en-US" altLang="zh-CN" sz="2400" dirty="0"/>
              <a:t>close()</a:t>
            </a:r>
            <a:r>
              <a:rPr lang="zh-CN" altLang="en-US" sz="2400" dirty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63450" y="2402886"/>
            <a:ext cx="7785596" cy="21602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通常数据是被送到缓冲区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关闭文件时才将缓冲区中数据全部写入文件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关闭文件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对象：文件操作完以后一定要关闭</a:t>
            </a:r>
            <a:endParaRPr kumimoji="1"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kumimoji="1" lang="en-US" altLang="zh-CN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kumimoji="1" lang="zh-CN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文件对象</a:t>
            </a:r>
            <a:r>
              <a:rPr kumimoji="1"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.close()  </a:t>
            </a:r>
            <a:endParaRPr kumimoji="1" lang="zh-CN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fp.close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05849980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75C2F-B9CE-4A44-BC0D-FE8534678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6" y="1645077"/>
            <a:ext cx="7992888" cy="3510390"/>
          </a:xfrm>
        </p:spPr>
        <p:txBody>
          <a:bodyPr/>
          <a:lstStyle/>
          <a:p>
            <a:r>
              <a:rPr kumimoji="1" lang="zh-CN" altLang="en-US" kern="1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前提   </a:t>
            </a:r>
            <a:r>
              <a:rPr kumimoji="1" lang="en-US" altLang="zh-CN" kern="1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f=open(</a:t>
            </a:r>
            <a:r>
              <a:rPr kumimoji="1" lang="zh-CN" altLang="en-US" kern="1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‘文件名’</a:t>
            </a:r>
            <a:r>
              <a:rPr kumimoji="1" lang="en-US" altLang="zh-CN" kern="1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,’r’, encoding=‘utf-8’)</a:t>
            </a:r>
          </a:p>
          <a:p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常用四种方式：</a:t>
            </a:r>
            <a:endParaRPr kumimoji="1"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buFont typeface="+mj-lt"/>
              <a:buAutoNum type="arabicPeriod"/>
            </a:pPr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将文件看作一个列表，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for line in f:     line</a:t>
            </a:r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是一个字符串</a:t>
            </a:r>
            <a:endParaRPr kumimoji="1"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buFont typeface="+mj-lt"/>
              <a:buAutoNum type="arabicPeriod"/>
            </a:pP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read</a:t>
            </a:r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方法：一次读取全部文件内容，整个文件形成一个字符串  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txt=</a:t>
            </a:r>
            <a:r>
              <a:rPr kumimoji="1"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f.read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>
              <a:buFont typeface="+mj-lt"/>
              <a:buAutoNum type="arabicPeriod"/>
            </a:pPr>
            <a:r>
              <a:rPr kumimoji="1"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readline</a:t>
            </a:r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方法：一次读取文件中的一行，一行形成一个字符串   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line=</a:t>
            </a:r>
            <a:r>
              <a:rPr kumimoji="1"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>
              <a:buFont typeface="+mj-lt"/>
              <a:buAutoNum type="arabicPeriod"/>
            </a:pPr>
            <a:r>
              <a:rPr kumimoji="1"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readlines</a:t>
            </a:r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方法：一次读取文件中的所有行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以行为单位形成列表，即列表中的每个元素，是文件的一行</a:t>
            </a:r>
            <a:endParaRPr kumimoji="1"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  <a:r>
              <a:rPr kumimoji="1"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allLinie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kumimoji="1"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f.readlines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endParaRPr kumimoji="1"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089922D-F8BA-07DD-A7A2-E2C148932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552" y="476672"/>
            <a:ext cx="3564396" cy="523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kumimoji="1"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6.2.2  </a:t>
            </a:r>
            <a:r>
              <a:rPr kumimoji="1"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文件的读写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976B3D-9C39-AE23-A053-A6F69ED96F58}"/>
              </a:ext>
            </a:extLst>
          </p:cNvPr>
          <p:cNvSpPr/>
          <p:nvPr/>
        </p:nvSpPr>
        <p:spPr>
          <a:xfrm>
            <a:off x="2033910" y="1062791"/>
            <a:ext cx="8124181" cy="51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00025">
              <a:lnSpc>
                <a:spcPct val="150000"/>
              </a:lnSpc>
              <a:spcBef>
                <a:spcPts val="225"/>
              </a:spcBef>
            </a:pP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．读文件</a:t>
            </a:r>
          </a:p>
        </p:txBody>
      </p:sp>
    </p:spTree>
    <p:extLst>
      <p:ext uri="{BB962C8B-B14F-4D97-AF65-F5344CB8AC3E}">
        <p14:creationId xmlns:p14="http://schemas.microsoft.com/office/powerpoint/2010/main" val="1195992839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06A31-56EB-4016-A834-BDE7CAF1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写文件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E6DCD9-6745-42A1-BC71-A7FD553B2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850" y="1033291"/>
            <a:ext cx="7632848" cy="254084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/>
            <a:r>
              <a:rPr lang="zh-CN" altLang="en-US" sz="2400" b="1" dirty="0"/>
              <a:t>将程序计算结果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内</a:t>
            </a:r>
            <a:r>
              <a:rPr lang="zh-CN" altLang="en-US" sz="2400" b="1" dirty="0">
                <a:solidFill>
                  <a:srgbClr val="FF0000"/>
                </a:solidFill>
              </a:rPr>
              <a:t>存中的内容</a:t>
            </a:r>
            <a:r>
              <a:rPr lang="en-US" altLang="zh-CN" sz="2400" b="1" dirty="0">
                <a:solidFill>
                  <a:srgbClr val="FF0000"/>
                </a:solidFill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</a:rPr>
              <a:t>即变量中的值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，保存到文件</a:t>
            </a:r>
            <a:endParaRPr lang="en-US" altLang="zh-CN" sz="2400" b="1" dirty="0"/>
          </a:p>
          <a:p>
            <a:pPr eaLnBrk="1" hangingPunct="1"/>
            <a:r>
              <a:rPr lang="zh-CN" altLang="en-US" sz="2400" b="1" dirty="0"/>
              <a:t>文件要以</a:t>
            </a:r>
            <a:r>
              <a:rPr lang="en-US" altLang="zh-CN" sz="2400" b="1" dirty="0"/>
              <a:t>'</a:t>
            </a:r>
            <a:r>
              <a:rPr lang="en-US" altLang="zh-CN" sz="3200" b="1" dirty="0">
                <a:solidFill>
                  <a:srgbClr val="FF0000"/>
                </a:solidFill>
              </a:rPr>
              <a:t>w</a:t>
            </a:r>
            <a:r>
              <a:rPr lang="en-US" altLang="zh-CN" sz="2400" b="1" dirty="0"/>
              <a:t>'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'x'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'a'</a:t>
            </a:r>
            <a:r>
              <a:rPr lang="zh-CN" altLang="en-US" sz="2400" b="1" dirty="0"/>
              <a:t>模式打开</a:t>
            </a:r>
            <a:endParaRPr lang="en-US" altLang="zh-CN" sz="2400" b="1" dirty="0"/>
          </a:p>
          <a:p>
            <a:pPr marL="68263" indent="0" eaLnBrk="1" hangingPunct="1">
              <a:buNone/>
            </a:pPr>
            <a:r>
              <a:rPr lang="en-US" altLang="zh-CN" sz="2400" b="1" dirty="0"/>
              <a:t>  f=open(‘</a:t>
            </a:r>
            <a:r>
              <a:rPr lang="zh-CN" altLang="en-US" sz="2400" b="1" dirty="0"/>
              <a:t>文件名</a:t>
            </a:r>
            <a:r>
              <a:rPr lang="en-US" altLang="zh-CN" sz="2400" b="1" dirty="0"/>
              <a:t>’,’w’)</a:t>
            </a:r>
          </a:p>
          <a:p>
            <a:pPr marL="68263" indent="0" eaLnBrk="1" hangingPunct="1">
              <a:buNone/>
            </a:pPr>
            <a:r>
              <a:rPr lang="zh-CN" altLang="en-US" sz="2400" b="1" dirty="0"/>
              <a:t>文件已经存在时，内容清零，不存在时，则创建</a:t>
            </a:r>
            <a:endParaRPr lang="en-US" altLang="zh-CN" sz="24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D24BEB-F938-45C4-BF7C-AC6520383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850" y="3599360"/>
            <a:ext cx="7632848" cy="26379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/>
            <a:r>
              <a:rPr lang="zh-CN" altLang="en-US" sz="2400" b="1" dirty="0"/>
              <a:t>常用的两种写文件方法</a:t>
            </a:r>
            <a:endParaRPr lang="en-US" altLang="zh-CN" sz="2400" b="1" dirty="0"/>
          </a:p>
          <a:p>
            <a:pPr eaLnBrk="1" hangingPunct="1"/>
            <a:r>
              <a:rPr lang="en-US" altLang="zh-CN" sz="2400" b="1" dirty="0" err="1">
                <a:solidFill>
                  <a:srgbClr val="FF0000"/>
                </a:solidFill>
              </a:rPr>
              <a:t>f.write</a:t>
            </a:r>
            <a:r>
              <a:rPr lang="en-US" altLang="zh-CN" sz="2400" b="1" dirty="0">
                <a:solidFill>
                  <a:srgbClr val="FF0000"/>
                </a:solidFill>
              </a:rPr>
              <a:t>(x)</a:t>
            </a:r>
            <a:r>
              <a:rPr lang="en-US" altLang="zh-CN" sz="2400" b="1" dirty="0"/>
              <a:t>: </a:t>
            </a:r>
            <a:r>
              <a:rPr lang="zh-CN" altLang="en-US" sz="2400" b="1" dirty="0"/>
              <a:t>变量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写入文件，</a:t>
            </a:r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</a:rPr>
              <a:t>必须是</a:t>
            </a:r>
            <a:r>
              <a:rPr lang="en-US" altLang="zh-CN" sz="2400" b="1" dirty="0" err="1">
                <a:solidFill>
                  <a:srgbClr val="FF0000"/>
                </a:solidFill>
              </a:rPr>
              <a:t>str</a:t>
            </a:r>
            <a:r>
              <a:rPr lang="zh-CN" altLang="en-US" sz="2400" b="1" dirty="0">
                <a:solidFill>
                  <a:srgbClr val="FF0000"/>
                </a:solidFill>
              </a:rPr>
              <a:t>类</a:t>
            </a:r>
            <a:r>
              <a:rPr lang="zh-CN" altLang="en-US" sz="2400" b="1" dirty="0"/>
              <a:t>型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不是字符串，则用</a:t>
            </a:r>
            <a:r>
              <a:rPr lang="en-US" altLang="zh-CN" sz="2400" b="1" dirty="0" err="1"/>
              <a:t>str</a:t>
            </a:r>
            <a:r>
              <a:rPr lang="zh-CN" altLang="en-US" sz="2400" b="1" dirty="0"/>
              <a:t>函数转</a:t>
            </a:r>
            <a:endParaRPr lang="en-US" altLang="zh-CN" sz="2400" b="1" dirty="0"/>
          </a:p>
          <a:p>
            <a:pPr eaLnBrk="1" hangingPunct="1"/>
            <a:r>
              <a:rPr lang="en-US" altLang="zh-CN" sz="2400" b="1" dirty="0" err="1"/>
              <a:t>f.writelines</a:t>
            </a:r>
            <a:r>
              <a:rPr lang="en-US" altLang="zh-CN" sz="2400" b="1" dirty="0"/>
              <a:t>(x)</a:t>
            </a:r>
            <a:r>
              <a:rPr lang="zh-CN" altLang="en-US" sz="2400" b="1" dirty="0"/>
              <a:t>：</a:t>
            </a:r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</a:rPr>
              <a:t>是列表或字符串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元素必须是</a:t>
            </a:r>
            <a:r>
              <a:rPr lang="en-US" altLang="zh-CN" sz="2400" b="1" dirty="0" err="1">
                <a:solidFill>
                  <a:srgbClr val="FF0000"/>
                </a:solidFill>
              </a:rPr>
              <a:t>str</a:t>
            </a:r>
            <a:r>
              <a:rPr lang="zh-CN" altLang="en-US" sz="2400" b="1" dirty="0"/>
              <a:t>类型</a:t>
            </a:r>
            <a:endParaRPr lang="en-US" altLang="zh-CN" sz="2400" b="1" dirty="0"/>
          </a:p>
          <a:p>
            <a:pPr eaLnBrk="1" hangingPunct="1"/>
            <a:r>
              <a:rPr lang="zh-CN" altLang="en-US" sz="2400" b="1" dirty="0"/>
              <a:t>总结：</a:t>
            </a:r>
            <a:r>
              <a:rPr lang="zh-CN" altLang="en-US" sz="2800" b="1" dirty="0">
                <a:solidFill>
                  <a:srgbClr val="FF0000"/>
                </a:solidFill>
              </a:rPr>
              <a:t>字符串、字符串、字符串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671744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84768-3791-4278-A058-BC387E10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write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C9799-D732-473E-82D9-52A62E2AB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2564" y="1052786"/>
            <a:ext cx="5541588" cy="525653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形式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说明：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、一次只能写一个字符串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若写入多个数据，只能使用多个语句：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例如：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('1850001',"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张杰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",'90')      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❌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要写成：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('1850001')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张杰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')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('90')</a:t>
            </a:r>
          </a:p>
          <a:p>
            <a:pPr marL="0" indent="0">
              <a:buNone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24192" y="5229201"/>
            <a:ext cx="25172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1850001张杰90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行不行？</a:t>
            </a:r>
          </a:p>
        </p:txBody>
      </p:sp>
      <p:cxnSp>
        <p:nvCxnSpPr>
          <p:cNvPr id="6" name="直接箭头连接符 5"/>
          <p:cNvCxnSpPr/>
          <p:nvPr/>
        </p:nvCxnSpPr>
        <p:spPr bwMode="auto">
          <a:xfrm flipV="1">
            <a:off x="4583832" y="5445224"/>
            <a:ext cx="3096344" cy="1440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矩形 6"/>
          <p:cNvSpPr/>
          <p:nvPr/>
        </p:nvSpPr>
        <p:spPr bwMode="auto">
          <a:xfrm>
            <a:off x="6520789" y="4969616"/>
            <a:ext cx="748923" cy="43088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200" dirty="0">
                <a:solidFill>
                  <a:schemeClr val="bg1"/>
                </a:solidFill>
                <a:latin typeface="Arial" pitchFamily="34" charset="0"/>
              </a:rPr>
              <a:t>结果</a:t>
            </a:r>
          </a:p>
        </p:txBody>
      </p:sp>
    </p:spTree>
    <p:extLst>
      <p:ext uri="{BB962C8B-B14F-4D97-AF65-F5344CB8AC3E}">
        <p14:creationId xmlns:p14="http://schemas.microsoft.com/office/powerpoint/2010/main" val="1415034864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E02B0-D88B-4C17-BCF8-7B5AE72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write</a:t>
            </a:r>
            <a:r>
              <a:rPr lang="zh-CN" altLang="en-US" dirty="0"/>
              <a:t>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DD03C3-B8CB-4EC3-BBFE-72873F6F9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388" y="1340769"/>
            <a:ext cx="8293100" cy="40941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、 参数只能是字符串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“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90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 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✔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(90)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❌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、写数据时不会自动换行，若要换行，加入</a:t>
            </a:r>
            <a:r>
              <a:rPr lang="en-US" altLang="zh-CN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’\n’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、字符串写入文件不会自动添加双引号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可以 用字符串的</a:t>
            </a:r>
            <a:r>
              <a:rPr lang="en-US" altLang="zh-CN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+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运算，如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('1850001\t'+'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张杰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\t'+'90\n')</a:t>
            </a:r>
          </a:p>
          <a:p>
            <a:pPr marL="0" indent="0">
              <a:buNone/>
            </a:pP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6538439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1891E-34CC-4336-87EB-5E744907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writelines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4DCA13-FA48-4D2C-A2FF-CBFBA202A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4512" y="1088952"/>
            <a:ext cx="8293100" cy="5148360"/>
          </a:xfrm>
        </p:spPr>
        <p:txBody>
          <a:bodyPr/>
          <a:lstStyle/>
          <a:p>
            <a:r>
              <a:rPr kumimoji="1" lang="zh-CN" altLang="zh-CN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文件对象</a:t>
            </a:r>
            <a:r>
              <a:rPr kumimoji="1" lang="en-US" altLang="zh-CN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1" lang="en-US" altLang="zh-CN" dirty="0" err="1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writelines</a:t>
            </a:r>
            <a:r>
              <a:rPr kumimoji="1" lang="en-US" altLang="zh-CN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元素是</a:t>
            </a:r>
            <a:r>
              <a:rPr kumimoji="1" lang="zh-CN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字符串</a:t>
            </a:r>
            <a:r>
              <a:rPr kumimoji="1"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zh-CN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列表</a:t>
            </a:r>
            <a:r>
              <a:rPr kumimoji="1" lang="en-US" altLang="zh-CN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 algn="ctr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fp.writelines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字符串构成的列表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将存放在列表中的多行数据一次性写入文件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若要换行，在列表元素的末尾添加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\n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DCF414-28C8-461F-B756-A4BCAC3078F0}"/>
              </a:ext>
            </a:extLst>
          </p:cNvPr>
          <p:cNvSpPr/>
          <p:nvPr/>
        </p:nvSpPr>
        <p:spPr>
          <a:xfrm>
            <a:off x="1775520" y="3296499"/>
            <a:ext cx="5489302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=open(</a:t>
            </a:r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r"D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:\python\Sushi.txt","w")</a:t>
            </a:r>
            <a:endParaRPr kumimoji="1" lang="zh-CN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lines</a:t>
            </a:r>
            <a:r>
              <a:rPr kumimoji="1" lang="en-US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=["</a:t>
            </a:r>
            <a:r>
              <a:rPr kumimoji="1" lang="zh-CN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竹外桃花三两枝，</a:t>
            </a:r>
            <a:r>
              <a:rPr kumimoji="1" lang="en-US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\n","</a:t>
            </a:r>
            <a:r>
              <a:rPr kumimoji="1" lang="zh-CN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春江水暖鸭先知。</a:t>
            </a:r>
            <a:r>
              <a:rPr kumimoji="1" lang="en-US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\n","</a:t>
            </a:r>
            <a:r>
              <a:rPr kumimoji="1" lang="zh-CN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蒌蒿满地芦芽短，</a:t>
            </a:r>
            <a:r>
              <a:rPr kumimoji="1" lang="en-US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\n","</a:t>
            </a:r>
            <a:r>
              <a:rPr kumimoji="1" lang="zh-CN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正是河豚欲上时。</a:t>
            </a:r>
            <a:r>
              <a:rPr kumimoji="1" lang="en-US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\n"]</a:t>
            </a:r>
            <a:endParaRPr kumimoji="1" lang="zh-CN" altLang="zh-CN" sz="13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fp.writelines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(lines)</a:t>
            </a:r>
            <a:endParaRPr kumimoji="1" lang="zh-CN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fp.close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kumimoji="1" lang="zh-CN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2642FAC7-C23A-4BAF-AE2B-11A4CE5A3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830" y="2824708"/>
            <a:ext cx="3341197" cy="20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DED19A4-C745-4EE4-B2FA-5047BD5A5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536" y="6329770"/>
            <a:ext cx="8136578" cy="524245"/>
          </a:xfrm>
          <a:prstGeom prst="rect">
            <a:avLst/>
          </a:prstGeom>
          <a:solidFill>
            <a:srgbClr val="CC3300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chemeClr val="bg1"/>
                </a:solidFill>
              </a:rPr>
              <a:t>将列表写入文件，不分行，若要换行，用户自己控制</a:t>
            </a:r>
            <a:r>
              <a:rPr lang="en-US" altLang="zh-CN" sz="2000" b="1" dirty="0">
                <a:solidFill>
                  <a:schemeClr val="bg1"/>
                </a:solidFill>
              </a:rPr>
              <a:t>\n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26515D-2696-5B7B-1BC2-5E96D1D9E4E3}"/>
              </a:ext>
            </a:extLst>
          </p:cNvPr>
          <p:cNvSpPr txBox="1"/>
          <p:nvPr/>
        </p:nvSpPr>
        <p:spPr>
          <a:xfrm>
            <a:off x="5719484" y="5089865"/>
            <a:ext cx="4948516" cy="1477328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#</a:t>
            </a:r>
            <a:r>
              <a:rPr lang="zh-CN" altLang="en-US" dirty="0"/>
              <a:t>改用</a:t>
            </a:r>
            <a:r>
              <a:rPr lang="en-US" altLang="zh-CN" dirty="0"/>
              <a:t>with</a:t>
            </a:r>
          </a:p>
          <a:p>
            <a:r>
              <a:rPr lang="en-US" altLang="zh-CN" dirty="0"/>
              <a:t>with open(r</a:t>
            </a:r>
            <a:r>
              <a:rPr lang="zh-CN" altLang="en-US" dirty="0"/>
              <a:t>"</a:t>
            </a:r>
            <a:r>
              <a:rPr lang="en-US" altLang="zh-CN" dirty="0"/>
              <a:t>poem1.txt", 'w') as f:</a:t>
            </a:r>
          </a:p>
          <a:p>
            <a:r>
              <a:rPr lang="en-US" altLang="zh-CN" dirty="0"/>
              <a:t>    for line in lines: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f.write</a:t>
            </a:r>
            <a:r>
              <a:rPr lang="en-US" altLang="zh-CN" dirty="0"/>
              <a:t>(line+"\n")</a:t>
            </a:r>
          </a:p>
          <a:p>
            <a:r>
              <a:rPr lang="en-US" altLang="zh-CN" dirty="0" err="1"/>
              <a:t>f.close</a:t>
            </a:r>
            <a:r>
              <a:rPr lang="en-US" altLang="zh-CN" dirty="0"/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2194841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CE6ED-5766-4DAC-80E5-8244769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模式与操作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DF5BFE-1208-46F7-B85E-8B980FCBD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7915" y="1276543"/>
            <a:ext cx="8293100" cy="40941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</a:t>
            </a:r>
            <a:r>
              <a:rPr lang="zh-CN" altLang="en-US" sz="3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模式打开，不能写，</a:t>
            </a:r>
            <a:r>
              <a:rPr lang="en-US" altLang="zh-CN" sz="3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w</a:t>
            </a:r>
            <a:r>
              <a:rPr lang="zh-CN" altLang="en-US" sz="3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模式打开，不能读</a:t>
            </a:r>
            <a:endParaRPr lang="en-US" altLang="zh-CN" sz="32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f=open(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r'd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:\python\data-ex\file3.txt','w')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lines=['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竹外桃花三两枝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\n','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春江水暖鸭先知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\n','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蒌蒿满地芦芽短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\n','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正是河豚欲上时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\n']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f.writelines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(lines)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all=</a:t>
            </a:r>
            <a:r>
              <a:rPr lang="en-US" altLang="zh-CN" dirty="0" err="1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f.read</a:t>
            </a: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print(all)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f.close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ABC1E1-9EF6-4BA1-8864-1A22A7CBA553}"/>
              </a:ext>
            </a:extLst>
          </p:cNvPr>
          <p:cNvSpPr txBox="1"/>
          <p:nvPr/>
        </p:nvSpPr>
        <p:spPr>
          <a:xfrm>
            <a:off x="4655840" y="4221088"/>
            <a:ext cx="59001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思考：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增加两句读文件的语句，结果是什么？为什么？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怎么才能读出来？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dirty="0"/>
              <a:t>关闭文件后重新以读方式打开</a:t>
            </a:r>
          </a:p>
        </p:txBody>
      </p:sp>
    </p:spTree>
    <p:extLst>
      <p:ext uri="{BB962C8B-B14F-4D97-AF65-F5344CB8AC3E}">
        <p14:creationId xmlns:p14="http://schemas.microsoft.com/office/powerpoint/2010/main" val="107386899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CSV</a:t>
            </a:r>
            <a:r>
              <a:rPr lang="zh-CN" altLang="en-US" dirty="0">
                <a:solidFill>
                  <a:srgbClr val="FF0000"/>
                </a:solidFill>
              </a:rPr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4850" y="1102557"/>
            <a:ext cx="8293100" cy="165361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文本格式，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列间逗号为分隔符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扩展名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csv  (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omma 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eparated 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alue )</a:t>
            </a:r>
          </a:p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用与文本文件一样的方法处理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1" y="3068961"/>
            <a:ext cx="5768365" cy="1055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006720" y="4293097"/>
            <a:ext cx="691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例：如上，文件中记录一组学生</a:t>
            </a:r>
            <a:r>
              <a:rPr lang="en-US" altLang="zh-CN" dirty="0"/>
              <a:t>3</a:t>
            </a:r>
            <a:r>
              <a:rPr lang="zh-CN" altLang="en-US" dirty="0"/>
              <a:t>们课程的分数，读取文件内容，求所有分数的平均分</a:t>
            </a:r>
          </a:p>
        </p:txBody>
      </p:sp>
    </p:spTree>
    <p:extLst>
      <p:ext uri="{BB962C8B-B14F-4D97-AF65-F5344CB8AC3E}">
        <p14:creationId xmlns:p14="http://schemas.microsoft.com/office/powerpoint/2010/main" val="3139010610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1544" y="404664"/>
            <a:ext cx="8293100" cy="57606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file='d:/python/data-ex/scores.csv'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f=open(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file,'r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total=0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count=0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lines=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for line in lines:</a:t>
            </a:r>
          </a:p>
          <a:p>
            <a:pPr marL="0" indent="0">
              <a:buNone/>
            </a:pP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    temp=</a:t>
            </a:r>
            <a:r>
              <a:rPr lang="en-US" altLang="zh-CN" sz="3600" dirty="0" err="1">
                <a:latin typeface="等线" panose="02010600030101010101" pitchFamily="2" charset="-122"/>
                <a:ea typeface="等线" panose="02010600030101010101" pitchFamily="2" charset="-122"/>
              </a:rPr>
              <a:t>line.split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6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','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)   # </a:t>
            </a:r>
            <a:r>
              <a:rPr lang="zh-CN" altLang="en-US" sz="3600" dirty="0">
                <a:latin typeface="等线" panose="02010600030101010101" pitchFamily="2" charset="-122"/>
                <a:ea typeface="等线" panose="02010600030101010101" pitchFamily="2" charset="-122"/>
              </a:rPr>
              <a:t>因为是 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csv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for i in range(2,5):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total=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total+int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(temp[i])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count=count+1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average=total/count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print("average:%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f"%average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147761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4464" y="1329665"/>
            <a:ext cx="8275638" cy="416148"/>
          </a:xfrm>
        </p:spPr>
        <p:txBody>
          <a:bodyPr/>
          <a:lstStyle/>
          <a:p>
            <a:r>
              <a:rPr lang="en-US" altLang="zh-CN" sz="2400" dirty="0" err="1"/>
              <a:t>jieba</a:t>
            </a:r>
            <a:r>
              <a:rPr lang="zh-CN" altLang="en-US" sz="2400" dirty="0"/>
              <a:t>分词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6191" y="1808821"/>
            <a:ext cx="8293100" cy="167418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1500" dirty="0"/>
              <a:t>jieba </a:t>
            </a:r>
            <a:r>
              <a:rPr lang="zh-CN" altLang="en-US" sz="1500" dirty="0"/>
              <a:t>是 </a:t>
            </a:r>
            <a:r>
              <a:rPr lang="en-US" altLang="zh-CN" sz="1500" dirty="0"/>
              <a:t>python </a:t>
            </a:r>
            <a:r>
              <a:rPr lang="zh-CN" altLang="en-US" sz="1500" dirty="0"/>
              <a:t>的</a:t>
            </a:r>
            <a:r>
              <a:rPr lang="zh-CN" altLang="en-US" sz="1500" dirty="0">
                <a:solidFill>
                  <a:srgbClr val="FF0000"/>
                </a:solidFill>
              </a:rPr>
              <a:t>中文分词</a:t>
            </a:r>
            <a:r>
              <a:rPr lang="zh-CN" altLang="en-US" sz="1500" dirty="0"/>
              <a:t>工具，它提供了多种分词模式，把中文文本中的各种词组的组合分解出来</a:t>
            </a:r>
            <a:endParaRPr lang="en-US" altLang="zh-CN" sz="1500" dirty="0"/>
          </a:p>
          <a:p>
            <a:pPr>
              <a:lnSpc>
                <a:spcPct val="100000"/>
              </a:lnSpc>
            </a:pPr>
            <a:r>
              <a:rPr lang="en-US" altLang="zh-CN" sz="1500" dirty="0">
                <a:solidFill>
                  <a:srgbClr val="00B050"/>
                </a:solidFill>
              </a:rPr>
              <a:t>pip install jieba       </a:t>
            </a:r>
            <a:r>
              <a:rPr lang="en-US" altLang="zh-CN" sz="1500" dirty="0"/>
              <a:t>#</a:t>
            </a:r>
            <a:r>
              <a:rPr lang="zh-CN" altLang="en-US" sz="1500" dirty="0"/>
              <a:t>安装</a:t>
            </a:r>
            <a:r>
              <a:rPr lang="en-US" altLang="zh-CN" sz="1500" dirty="0"/>
              <a:t>jieba</a:t>
            </a:r>
            <a:r>
              <a:rPr lang="zh-CN" altLang="en-US" sz="1500" dirty="0"/>
              <a:t>库</a:t>
            </a:r>
            <a:endParaRPr lang="en-US" altLang="zh-CN" sz="1500" dirty="0"/>
          </a:p>
          <a:p>
            <a:pPr marL="0" indent="0">
              <a:lnSpc>
                <a:spcPct val="100000"/>
              </a:lnSpc>
              <a:buNone/>
            </a:pPr>
            <a:r>
              <a:rPr lang="sv-SE" altLang="zh-CN" sz="1350" dirty="0"/>
              <a:t>                                   </a:t>
            </a:r>
            <a:r>
              <a:rPr lang="en-US" altLang="zh-CN" sz="1350" dirty="0">
                <a:solidFill>
                  <a:srgbClr val="7030A0"/>
                </a:solidFill>
              </a:rPr>
              <a:t>pip install jieba -</a:t>
            </a:r>
            <a:r>
              <a:rPr lang="en-US" altLang="zh-CN" sz="1350" dirty="0" err="1">
                <a:solidFill>
                  <a:srgbClr val="7030A0"/>
                </a:solidFill>
              </a:rPr>
              <a:t>i</a:t>
            </a:r>
            <a:r>
              <a:rPr lang="en-US" altLang="zh-CN" sz="1350" dirty="0">
                <a:solidFill>
                  <a:srgbClr val="7030A0"/>
                </a:solidFill>
              </a:rPr>
              <a:t> https://mirrors.aliyun.com/pypi/simple/</a:t>
            </a:r>
            <a:endParaRPr lang="zh-CN" altLang="zh-CN" sz="1350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500" dirty="0"/>
              <a:t>jieba</a:t>
            </a:r>
            <a:r>
              <a:rPr lang="zh-CN" altLang="zh-CN" sz="1500" dirty="0"/>
              <a:t>库的中文分词模式有三种：</a:t>
            </a:r>
            <a:r>
              <a:rPr lang="zh-CN" altLang="zh-CN" sz="1500" dirty="0">
                <a:solidFill>
                  <a:srgbClr val="00B050"/>
                </a:solidFill>
              </a:rPr>
              <a:t>精简模式、全模式、搜索引擎模式</a:t>
            </a:r>
            <a:endParaRPr lang="sv-SE" altLang="zh-CN" sz="1500" dirty="0">
              <a:solidFill>
                <a:srgbClr val="00B050"/>
              </a:solidFill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993653" y="3807042"/>
            <a:ext cx="8293100" cy="17281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u"/>
              <a:defRPr sz="24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1800" kern="0" dirty="0">
                <a:solidFill>
                  <a:srgbClr val="0070C0"/>
                </a:solidFill>
              </a:rPr>
              <a:t>1. </a:t>
            </a:r>
            <a:r>
              <a:rPr lang="zh-CN" altLang="en-US" sz="1800" kern="0" dirty="0">
                <a:solidFill>
                  <a:srgbClr val="0070C0"/>
                </a:solidFill>
              </a:rPr>
              <a:t>精简模式</a:t>
            </a:r>
            <a:endParaRPr lang="en-US" altLang="zh-CN" sz="1800" kern="0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500" b="0" dirty="0"/>
              <a:t>    </a:t>
            </a:r>
            <a:r>
              <a:rPr lang="zh-CN" altLang="zh-CN" sz="1500" b="0" dirty="0"/>
              <a:t>将句子</a:t>
            </a:r>
            <a:r>
              <a:rPr lang="zh-CN" altLang="en-US" sz="1500" b="0" dirty="0"/>
              <a:t>进行最精简的</a:t>
            </a:r>
            <a:r>
              <a:rPr lang="zh-CN" altLang="zh-CN" sz="1500" b="0" dirty="0"/>
              <a:t>分词，适合文本分析。使用</a:t>
            </a:r>
            <a:r>
              <a:rPr lang="en-US" altLang="zh-CN" sz="1500" dirty="0" err="1">
                <a:solidFill>
                  <a:srgbClr val="00B050"/>
                </a:solidFill>
              </a:rPr>
              <a:t>lcut</a:t>
            </a:r>
            <a:r>
              <a:rPr lang="zh-CN" altLang="zh-CN" sz="1500" b="0" dirty="0"/>
              <a:t>方法实现，其返回值是列表</a:t>
            </a:r>
            <a:r>
              <a:rPr lang="zh-CN" altLang="en-US" sz="1500" b="0" dirty="0"/>
              <a:t>。</a:t>
            </a:r>
            <a:endParaRPr lang="en-US" altLang="zh-CN" sz="1500" b="0" dirty="0"/>
          </a:p>
          <a:p>
            <a:pPr marL="300038" lvl="1" indent="0">
              <a:lnSpc>
                <a:spcPct val="100000"/>
              </a:lnSpc>
              <a:buNone/>
            </a:pPr>
            <a:r>
              <a:rPr lang="en-US" altLang="zh-CN" sz="1350" kern="0" dirty="0"/>
              <a:t>import jieba</a:t>
            </a:r>
          </a:p>
          <a:p>
            <a:pPr marL="300038" lvl="1" indent="0">
              <a:lnSpc>
                <a:spcPct val="100000"/>
              </a:lnSpc>
              <a:buNone/>
            </a:pPr>
            <a:r>
              <a:rPr lang="en-US" altLang="zh-CN" sz="1350" kern="0" dirty="0" err="1"/>
              <a:t>lst</a:t>
            </a:r>
            <a:r>
              <a:rPr lang="en-US" altLang="zh-CN" sz="1350" kern="0" dirty="0"/>
              <a:t> =</a:t>
            </a:r>
            <a:r>
              <a:rPr lang="en-US" altLang="zh-CN" sz="1350" b="1" kern="0" dirty="0" err="1">
                <a:solidFill>
                  <a:srgbClr val="C00000"/>
                </a:solidFill>
              </a:rPr>
              <a:t>jieba.lcut</a:t>
            </a:r>
            <a:r>
              <a:rPr lang="en-US" altLang="zh-CN" sz="1350" kern="0" dirty="0"/>
              <a:t>('</a:t>
            </a:r>
            <a:r>
              <a:rPr lang="zh-CN" altLang="en-US" sz="1350" kern="0" dirty="0"/>
              <a:t>小明本科毕业于同济大学，后在耶鲁大学深造</a:t>
            </a:r>
            <a:r>
              <a:rPr lang="en-US" altLang="zh-CN" sz="1350" kern="0" dirty="0"/>
              <a:t>')</a:t>
            </a:r>
          </a:p>
          <a:p>
            <a:pPr marL="300038" lvl="1" indent="0">
              <a:lnSpc>
                <a:spcPct val="100000"/>
              </a:lnSpc>
              <a:buNone/>
            </a:pPr>
            <a:r>
              <a:rPr lang="en-US" altLang="zh-CN" sz="1350" kern="0" dirty="0"/>
              <a:t>print(</a:t>
            </a:r>
            <a:r>
              <a:rPr lang="en-US" altLang="zh-CN" sz="1350" kern="0" dirty="0" err="1"/>
              <a:t>lst</a:t>
            </a:r>
            <a:r>
              <a:rPr lang="en-US" altLang="zh-CN" sz="1350" kern="0" dirty="0"/>
              <a:t>)     #</a:t>
            </a:r>
            <a:r>
              <a:rPr lang="zh-CN" altLang="en-US" sz="1350" kern="0" dirty="0"/>
              <a:t>结果：</a:t>
            </a:r>
            <a:r>
              <a:rPr lang="en-US" altLang="zh-CN" sz="1350" kern="0" dirty="0"/>
              <a:t>['</a:t>
            </a:r>
            <a:r>
              <a:rPr lang="zh-CN" altLang="en-US" sz="1350" kern="0" dirty="0"/>
              <a:t>小明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本科毕业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同济大学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，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在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耶鲁大学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深造</a:t>
            </a:r>
            <a:r>
              <a:rPr lang="en-US" altLang="zh-CN" sz="1350" kern="0" dirty="0"/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3068779280"/>
      </p:ext>
    </p:extLst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>
            <a:spLocks/>
          </p:cNvSpPr>
          <p:nvPr/>
        </p:nvSpPr>
        <p:spPr bwMode="auto">
          <a:xfrm>
            <a:off x="2207570" y="1808820"/>
            <a:ext cx="7938881" cy="34023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u"/>
              <a:defRPr sz="24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1800" b="0" dirty="0"/>
              <a:t>     </a:t>
            </a:r>
            <a:r>
              <a:rPr lang="zh-CN" altLang="zh-CN" sz="1800" b="0" dirty="0"/>
              <a:t>把句子中所有可以成词的词语都扫描出来，速度非常快，但其分词得到的结果有可能</a:t>
            </a:r>
            <a:r>
              <a:rPr lang="zh-CN" altLang="en-US" sz="1800" b="0" dirty="0"/>
              <a:t>会</a:t>
            </a:r>
            <a:r>
              <a:rPr lang="zh-CN" altLang="zh-CN" sz="1800" b="0" dirty="0"/>
              <a:t>有歧义</a:t>
            </a:r>
            <a:r>
              <a:rPr lang="zh-CN" altLang="en-US" sz="1800" b="0" dirty="0"/>
              <a:t>。</a:t>
            </a:r>
            <a:endParaRPr lang="en-US" altLang="zh-CN" sz="1500" b="0" dirty="0"/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/>
              <a:t>import jieba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 err="1"/>
              <a:t>lst</a:t>
            </a:r>
            <a:r>
              <a:rPr lang="en-US" altLang="zh-CN" sz="1350" kern="0" dirty="0"/>
              <a:t>=</a:t>
            </a:r>
            <a:r>
              <a:rPr lang="en-US" altLang="zh-CN" sz="1350" b="1" kern="0" dirty="0" err="1">
                <a:solidFill>
                  <a:srgbClr val="C00000"/>
                </a:solidFill>
              </a:rPr>
              <a:t>jieba.lcut</a:t>
            </a:r>
            <a:r>
              <a:rPr lang="en-US" altLang="zh-CN" sz="1350" kern="0" dirty="0"/>
              <a:t>('</a:t>
            </a:r>
            <a:r>
              <a:rPr lang="zh-CN" altLang="en-US" sz="1350" kern="0" dirty="0"/>
              <a:t>小明本科毕业于同济大学，后在耶鲁大学深造</a:t>
            </a:r>
            <a:r>
              <a:rPr lang="en-US" altLang="zh-CN" sz="1350" kern="0" dirty="0">
                <a:solidFill>
                  <a:schemeClr val="tx1"/>
                </a:solidFill>
              </a:rPr>
              <a:t>',</a:t>
            </a:r>
            <a:r>
              <a:rPr lang="en-US" altLang="zh-CN" sz="1350" b="1" kern="0" dirty="0" err="1">
                <a:solidFill>
                  <a:srgbClr val="C00000"/>
                </a:solidFill>
              </a:rPr>
              <a:t>cut_all</a:t>
            </a:r>
            <a:r>
              <a:rPr lang="en-US" altLang="zh-CN" sz="1350" b="1" kern="0" dirty="0">
                <a:solidFill>
                  <a:srgbClr val="C00000"/>
                </a:solidFill>
              </a:rPr>
              <a:t>=True</a:t>
            </a:r>
            <a:r>
              <a:rPr lang="en-US" altLang="zh-CN" sz="1350" kern="0" dirty="0"/>
              <a:t>)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/>
              <a:t>print(</a:t>
            </a:r>
            <a:r>
              <a:rPr lang="en-US" altLang="zh-CN" sz="1350" kern="0" dirty="0" err="1"/>
              <a:t>lst</a:t>
            </a:r>
            <a:r>
              <a:rPr lang="en-US" altLang="zh-CN" sz="1350" kern="0" dirty="0"/>
              <a:t>)  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/>
              <a:t>#</a:t>
            </a:r>
            <a:r>
              <a:rPr lang="zh-CN" altLang="en-US" sz="1350" kern="0" dirty="0"/>
              <a:t>显示结果：</a:t>
            </a:r>
            <a:r>
              <a:rPr lang="en-US" altLang="zh-CN" sz="1350" kern="0" dirty="0"/>
              <a:t>['</a:t>
            </a:r>
            <a:r>
              <a:rPr lang="zh-CN" altLang="en-US" sz="1350" kern="0" dirty="0"/>
              <a:t>小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本科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本科毕业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毕业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同济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同济大学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大学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，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后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在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耶鲁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耶鲁大学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大学</a:t>
            </a:r>
            <a:r>
              <a:rPr lang="en-US" altLang="zh-CN" sz="1350" kern="0" dirty="0"/>
              <a:t>', '</a:t>
            </a:r>
            <a:r>
              <a:rPr lang="zh-CN" altLang="en-US" sz="1350" kern="0" dirty="0"/>
              <a:t>深造</a:t>
            </a:r>
            <a:r>
              <a:rPr lang="en-US" altLang="zh-CN" sz="1350" kern="0" dirty="0"/>
              <a:t>']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58C3E8-64B0-41E0-BFE0-17F5188B47F7}"/>
              </a:ext>
            </a:extLst>
          </p:cNvPr>
          <p:cNvSpPr/>
          <p:nvPr/>
        </p:nvSpPr>
        <p:spPr>
          <a:xfrm>
            <a:off x="2153564" y="1268760"/>
            <a:ext cx="1154483" cy="4173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全模式</a:t>
            </a:r>
            <a:endParaRPr lang="en-US" altLang="zh-CN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3390010"/>
      </p:ext>
    </p:extLst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991546" y="1754814"/>
            <a:ext cx="7938881" cy="264629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u"/>
              <a:defRPr sz="24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</a:t>
            </a:r>
            <a:r>
              <a:rPr lang="zh-CN" altLang="zh-CN" sz="1800" b="0" dirty="0"/>
              <a:t>在精确模式的基础上，对长词再次切分，适合于搜索引擎分词</a:t>
            </a:r>
            <a:endParaRPr lang="en-US" altLang="zh-CN" sz="1800" b="0" dirty="0"/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/>
              <a:t>import jieba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/>
              <a:t>list1=</a:t>
            </a:r>
            <a:r>
              <a:rPr lang="en-US" altLang="zh-CN" sz="1350" b="1" kern="0" dirty="0" err="1">
                <a:solidFill>
                  <a:srgbClr val="C00000"/>
                </a:solidFill>
              </a:rPr>
              <a:t>jieba.lcut_for_search</a:t>
            </a:r>
            <a:r>
              <a:rPr lang="en-US" altLang="zh-CN" sz="1350" kern="0" dirty="0"/>
              <a:t>('</a:t>
            </a:r>
            <a:r>
              <a:rPr lang="zh-CN" altLang="en-US" sz="1350" kern="0" dirty="0"/>
              <a:t>小明本科毕业于同济大学，后在耶鲁大学深造</a:t>
            </a:r>
            <a:r>
              <a:rPr lang="en-US" altLang="zh-CN" sz="1350" kern="0" dirty="0"/>
              <a:t>')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350" kern="0" dirty="0"/>
              <a:t>print(list1)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500" b="0" kern="0" dirty="0"/>
              <a:t>     #</a:t>
            </a:r>
            <a:r>
              <a:rPr lang="zh-CN" altLang="en-US" sz="1500" b="0" kern="0" dirty="0"/>
              <a:t>显示结果：</a:t>
            </a:r>
            <a:r>
              <a:rPr lang="en-US" altLang="zh-CN" sz="1500" b="0" kern="0" dirty="0"/>
              <a:t>['</a:t>
            </a:r>
            <a:r>
              <a:rPr lang="zh-CN" altLang="en-US" sz="1500" b="0" kern="0" dirty="0"/>
              <a:t>小明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本科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毕业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本科毕业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于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同济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大学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同济大学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，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后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在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耶鲁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大学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耶鲁大学</a:t>
            </a:r>
            <a:r>
              <a:rPr lang="en-US" altLang="zh-CN" sz="1500" b="0" kern="0" dirty="0"/>
              <a:t>', '</a:t>
            </a:r>
            <a:r>
              <a:rPr lang="zh-CN" altLang="en-US" sz="1500" b="0" kern="0" dirty="0"/>
              <a:t>深造</a:t>
            </a:r>
            <a:r>
              <a:rPr lang="en-US" altLang="zh-CN" sz="1500" b="0" kern="0" dirty="0"/>
              <a:t>']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B3EA6C-6126-44F9-8B21-C37219A10A21}"/>
              </a:ext>
            </a:extLst>
          </p:cNvPr>
          <p:cNvSpPr/>
          <p:nvPr/>
        </p:nvSpPr>
        <p:spPr>
          <a:xfrm>
            <a:off x="2045550" y="1268760"/>
            <a:ext cx="1846980" cy="4173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搜索引擎模式</a:t>
            </a:r>
            <a:endParaRPr lang="en-US" altLang="zh-CN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1867173"/>
      </p:ext>
    </p:extLst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75598" y="594065"/>
            <a:ext cx="8293100" cy="360045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1600" dirty="0"/>
              <a:t>    </a:t>
            </a:r>
            <a:r>
              <a:rPr lang="en-US" altLang="zh-CN" dirty="0" err="1">
                <a:solidFill>
                  <a:srgbClr val="C00000"/>
                </a:solidFill>
              </a:rPr>
              <a:t>extract_tags</a:t>
            </a:r>
            <a:r>
              <a:rPr lang="en-US" altLang="zh-CN" b="0" dirty="0">
                <a:solidFill>
                  <a:schemeClr val="tx1"/>
                </a:solidFill>
              </a:rPr>
              <a:t>(</a:t>
            </a:r>
            <a:r>
              <a:rPr lang="zh-CN" altLang="en-US" b="0" dirty="0">
                <a:solidFill>
                  <a:schemeClr val="tx1"/>
                </a:solidFill>
              </a:rPr>
              <a:t>待分析文本</a:t>
            </a:r>
            <a:r>
              <a:rPr lang="en-US" altLang="zh-CN" b="0" dirty="0">
                <a:solidFill>
                  <a:schemeClr val="tx1"/>
                </a:solidFill>
              </a:rPr>
              <a:t>, </a:t>
            </a:r>
            <a:r>
              <a:rPr lang="en-US" altLang="zh-CN" b="0" dirty="0" err="1">
                <a:solidFill>
                  <a:schemeClr val="tx1"/>
                </a:solidFill>
              </a:rPr>
              <a:t>topK</a:t>
            </a:r>
            <a:r>
              <a:rPr lang="en-US" altLang="zh-CN" b="0" dirty="0">
                <a:solidFill>
                  <a:schemeClr val="tx1"/>
                </a:solidFill>
              </a:rPr>
              <a:t>=20, </a:t>
            </a:r>
            <a:r>
              <a:rPr lang="en-US" altLang="zh-CN" b="0" dirty="0" err="1">
                <a:solidFill>
                  <a:schemeClr val="tx1"/>
                </a:solidFill>
              </a:rPr>
              <a:t>withWeight</a:t>
            </a:r>
            <a:r>
              <a:rPr lang="en-US" altLang="zh-CN" b="0" dirty="0">
                <a:solidFill>
                  <a:schemeClr val="tx1"/>
                </a:solidFill>
              </a:rPr>
              <a:t>=False, </a:t>
            </a:r>
            <a:r>
              <a:rPr lang="en-US" altLang="zh-CN" b="0" dirty="0" err="1">
                <a:solidFill>
                  <a:schemeClr val="tx1"/>
                </a:solidFill>
              </a:rPr>
              <a:t>allowPOS</a:t>
            </a:r>
            <a:r>
              <a:rPr lang="en-US" altLang="zh-CN" b="0" dirty="0">
                <a:solidFill>
                  <a:schemeClr val="tx1"/>
                </a:solidFill>
              </a:rPr>
              <a:t>=( ))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err="1"/>
              <a:t>topK</a:t>
            </a:r>
            <a:r>
              <a:rPr lang="en-US" altLang="zh-CN" sz="1600" dirty="0"/>
              <a:t> </a:t>
            </a:r>
            <a:r>
              <a:rPr lang="zh-CN" altLang="en-US" sz="1600" dirty="0"/>
              <a:t>参数</a:t>
            </a:r>
            <a:r>
              <a:rPr lang="zh-CN" altLang="en-US" dirty="0"/>
              <a:t>返回前</a:t>
            </a:r>
            <a:r>
              <a:rPr lang="en-US" altLang="zh-CN" dirty="0"/>
              <a:t>n</a:t>
            </a:r>
            <a:r>
              <a:rPr lang="zh-CN" altLang="en-US" dirty="0"/>
              <a:t>个权重最高的词</a:t>
            </a:r>
            <a:r>
              <a:rPr lang="zh-CN" altLang="en-US" sz="1600" dirty="0"/>
              <a:t>，默认</a:t>
            </a:r>
            <a:r>
              <a:rPr lang="en-US" altLang="zh-CN" sz="1600" dirty="0"/>
              <a:t>20 </a:t>
            </a:r>
            <a:r>
              <a:rPr lang="zh-CN" altLang="en-US" sz="1600" dirty="0"/>
              <a:t>个</a:t>
            </a:r>
            <a:endParaRPr lang="en-US" altLang="zh-CN" sz="16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err="1"/>
              <a:t>withWeight</a:t>
            </a:r>
            <a:r>
              <a:rPr lang="en-US" altLang="zh-CN" sz="1600" dirty="0"/>
              <a:t> </a:t>
            </a:r>
            <a:r>
              <a:rPr lang="zh-CN" altLang="en-US" sz="1600" dirty="0"/>
              <a:t>指定是否计算关键字的权重</a:t>
            </a:r>
            <a:endParaRPr lang="en-US" altLang="zh-CN" sz="16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err="1"/>
              <a:t>allowPOS</a:t>
            </a:r>
            <a:r>
              <a:rPr lang="en-US" altLang="zh-CN" sz="1600" dirty="0"/>
              <a:t> </a:t>
            </a:r>
            <a:r>
              <a:rPr lang="zh-CN" altLang="en-US" sz="1600" dirty="0"/>
              <a:t>仅包括指定词性的词，默认值为空，取值：（</a:t>
            </a:r>
            <a:r>
              <a:rPr lang="en-US" altLang="zh-CN" dirty="0"/>
              <a:t>'ns', 'n', '</a:t>
            </a:r>
            <a:r>
              <a:rPr lang="en-US" altLang="zh-CN" dirty="0" err="1"/>
              <a:t>vn</a:t>
            </a:r>
            <a:r>
              <a:rPr lang="en-US" altLang="zh-CN" dirty="0"/>
              <a:t>', 'v '</a:t>
            </a:r>
            <a:r>
              <a:rPr lang="zh-CN" altLang="en-US" dirty="0"/>
              <a:t>）</a:t>
            </a:r>
            <a:endParaRPr lang="en-US" altLang="zh-CN" sz="1600" dirty="0"/>
          </a:p>
          <a:p>
            <a:pPr marL="457189" lvl="1" indent="0">
              <a:buNone/>
            </a:pPr>
            <a:r>
              <a:rPr lang="zh-CN" altLang="en-US" dirty="0"/>
              <a:t>          对应提取地名、名词、动名词、动词</a:t>
            </a:r>
            <a:endParaRPr lang="en-US" altLang="zh-CN" sz="1600" dirty="0"/>
          </a:p>
          <a:p>
            <a:pPr marL="457189" lvl="1" indent="0">
              <a:buNone/>
            </a:pPr>
            <a:r>
              <a:rPr lang="en-US" altLang="zh-CN" sz="1600" dirty="0"/>
              <a:t>import  </a:t>
            </a:r>
            <a:r>
              <a:rPr lang="en-US" altLang="zh-CN" sz="1600" dirty="0" err="1"/>
              <a:t>jieba.analyse</a:t>
            </a:r>
            <a:r>
              <a:rPr lang="en-US" altLang="zh-CN" sz="1600" dirty="0"/>
              <a:t>  as  </a:t>
            </a:r>
            <a:r>
              <a:rPr lang="en-US" altLang="zh-CN" sz="1600" dirty="0" err="1"/>
              <a:t>analyse</a:t>
            </a:r>
            <a:endParaRPr lang="en-US" altLang="zh-CN" sz="1600" dirty="0"/>
          </a:p>
          <a:p>
            <a:pPr marL="457189" lvl="1" indent="0">
              <a:buNone/>
            </a:pPr>
            <a:r>
              <a:rPr lang="en-US" altLang="zh-CN" sz="1600" dirty="0"/>
              <a:t>file = open(</a:t>
            </a:r>
            <a:r>
              <a:rPr lang="en-US" altLang="zh-CN" sz="1600" dirty="0" err="1"/>
              <a:t>r"d</a:t>
            </a:r>
            <a:r>
              <a:rPr lang="en-US" altLang="zh-CN" sz="1600" dirty="0"/>
              <a:t>:\data\</a:t>
            </a:r>
            <a:r>
              <a:rPr lang="zh-CN" altLang="en-US" sz="1600" dirty="0"/>
              <a:t>红楼梦</a:t>
            </a:r>
            <a:r>
              <a:rPr lang="en-US" altLang="zh-CN" sz="1600" dirty="0"/>
              <a:t>.txt", "r", encoding='utf-8')</a:t>
            </a:r>
          </a:p>
          <a:p>
            <a:pPr marL="457189" lvl="1" indent="0">
              <a:buNone/>
            </a:pPr>
            <a:r>
              <a:rPr lang="en-US" altLang="zh-CN" sz="1600" dirty="0"/>
              <a:t>txt=</a:t>
            </a:r>
            <a:r>
              <a:rPr lang="en-US" altLang="zh-CN" sz="1600" dirty="0" err="1"/>
              <a:t>file.read</a:t>
            </a:r>
            <a:r>
              <a:rPr lang="en-US" altLang="zh-CN" sz="1600" dirty="0"/>
              <a:t>()</a:t>
            </a:r>
          </a:p>
          <a:p>
            <a:pPr marL="457189" lvl="1" indent="0">
              <a:buNone/>
            </a:pPr>
            <a:r>
              <a:rPr lang="en-US" altLang="zh-CN" sz="1600" dirty="0"/>
              <a:t>lists=</a:t>
            </a:r>
            <a:r>
              <a:rPr lang="en-US" altLang="zh-CN" sz="1600" dirty="0" err="1"/>
              <a:t>analyse.</a:t>
            </a:r>
            <a:r>
              <a:rPr lang="en-US" altLang="zh-CN" sz="1600" b="1" dirty="0" err="1">
                <a:solidFill>
                  <a:srgbClr val="00B050"/>
                </a:solidFill>
              </a:rPr>
              <a:t>extract_tags</a:t>
            </a:r>
            <a:r>
              <a:rPr lang="en-US" altLang="zh-CN" sz="1600" dirty="0"/>
              <a:t>(txt, </a:t>
            </a:r>
            <a:r>
              <a:rPr lang="en-US" altLang="zh-CN" sz="1600" dirty="0" err="1"/>
              <a:t>topK</a:t>
            </a:r>
            <a:r>
              <a:rPr lang="en-US" altLang="zh-CN" sz="1600" dirty="0"/>
              <a:t>=5, </a:t>
            </a:r>
            <a:r>
              <a:rPr lang="en-US" altLang="zh-CN" sz="1600" dirty="0" err="1"/>
              <a:t>withWeight</a:t>
            </a:r>
            <a:r>
              <a:rPr lang="en-US" altLang="zh-CN" sz="1600" dirty="0"/>
              <a:t>=False, </a:t>
            </a:r>
            <a:r>
              <a:rPr lang="en-US" altLang="zh-CN" sz="1600" dirty="0" err="1"/>
              <a:t>allowPOS</a:t>
            </a:r>
            <a:r>
              <a:rPr lang="en-US" altLang="zh-CN" sz="1600" dirty="0"/>
              <a:t>=( ) )</a:t>
            </a:r>
          </a:p>
          <a:p>
            <a:pPr marL="457189" lvl="1" indent="0">
              <a:buNone/>
            </a:pPr>
            <a:r>
              <a:rPr lang="en-US" altLang="zh-CN" sz="1600" dirty="0"/>
              <a:t>print(lists)                    # </a:t>
            </a:r>
            <a:r>
              <a:rPr lang="zh-CN" altLang="en-US" sz="1600" dirty="0"/>
              <a:t>输出结果：</a:t>
            </a:r>
            <a:r>
              <a:rPr lang="en-US" altLang="zh-CN" sz="1600" dirty="0"/>
              <a:t>['</a:t>
            </a:r>
            <a:r>
              <a:rPr lang="zh-CN" altLang="en-US" sz="1600" dirty="0"/>
              <a:t>宝玉</a:t>
            </a:r>
            <a:r>
              <a:rPr lang="en-US" altLang="zh-CN" sz="1600" dirty="0"/>
              <a:t>', '</a:t>
            </a:r>
            <a:r>
              <a:rPr lang="zh-CN" altLang="en-US" sz="1600" dirty="0"/>
              <a:t>袭人</a:t>
            </a:r>
            <a:r>
              <a:rPr lang="en-US" altLang="zh-CN" sz="1600" dirty="0"/>
              <a:t>', '</a:t>
            </a:r>
            <a:r>
              <a:rPr lang="zh-CN" altLang="en-US" sz="1600" dirty="0"/>
              <a:t>王夫人</a:t>
            </a:r>
            <a:r>
              <a:rPr lang="en-US" altLang="zh-CN" sz="1600" dirty="0"/>
              <a:t>', '</a:t>
            </a:r>
            <a:r>
              <a:rPr lang="zh-CN" altLang="en-US" sz="1600" dirty="0"/>
              <a:t>凤姐</a:t>
            </a:r>
            <a:r>
              <a:rPr lang="en-US" altLang="zh-CN" sz="1600" dirty="0"/>
              <a:t>', '</a:t>
            </a:r>
            <a:r>
              <a:rPr lang="zh-CN" altLang="en-US" sz="1600" dirty="0"/>
              <a:t>丫头</a:t>
            </a:r>
            <a:r>
              <a:rPr lang="en-US" altLang="zh-CN" sz="1600" dirty="0"/>
              <a:t>']</a:t>
            </a:r>
            <a:endParaRPr lang="zh-CN" altLang="en-US" sz="16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91209" y="0"/>
            <a:ext cx="8009582" cy="435248"/>
          </a:xfrm>
        </p:spPr>
        <p:txBody>
          <a:bodyPr/>
          <a:lstStyle/>
          <a:p>
            <a:r>
              <a:rPr lang="en-US" altLang="zh-CN" sz="2100" dirty="0"/>
              <a:t>4. </a:t>
            </a:r>
            <a:r>
              <a:rPr lang="zh-CN" altLang="en-US" sz="2100" dirty="0"/>
              <a:t>文本关键词抽取</a:t>
            </a:r>
          </a:p>
        </p:txBody>
      </p:sp>
    </p:spTree>
    <p:extLst>
      <p:ext uri="{BB962C8B-B14F-4D97-AF65-F5344CB8AC3E}">
        <p14:creationId xmlns:p14="http://schemas.microsoft.com/office/powerpoint/2010/main" val="2161549766"/>
      </p:ext>
    </p:extLst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4.1 </a:t>
            </a:r>
            <a:r>
              <a:rPr lang="zh-CN" altLang="en-US" sz="2400" dirty="0"/>
              <a:t>图像基本处理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99557" y="2135326"/>
            <a:ext cx="8293100" cy="350792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sz="1350" dirty="0" err="1">
                <a:solidFill>
                  <a:srgbClr val="C00000"/>
                </a:solidFill>
              </a:rPr>
              <a:t>Image.open</a:t>
            </a:r>
            <a:r>
              <a:rPr lang="en-US" altLang="zh-CN" sz="1350" dirty="0">
                <a:solidFill>
                  <a:srgbClr val="C00000"/>
                </a:solidFill>
              </a:rPr>
              <a:t>(</a:t>
            </a:r>
            <a:r>
              <a:rPr lang="en-US" altLang="zh-CN" sz="1350" dirty="0" err="1">
                <a:solidFill>
                  <a:srgbClr val="C00000"/>
                </a:solidFill>
              </a:rPr>
              <a:t>filename,mode</a:t>
            </a:r>
            <a:r>
              <a:rPr lang="en-US" altLang="zh-CN" sz="1350" dirty="0">
                <a:solidFill>
                  <a:srgbClr val="C00000"/>
                </a:solidFill>
              </a:rPr>
              <a:t>)   </a:t>
            </a:r>
            <a:r>
              <a:rPr lang="zh-CN" altLang="en-US" sz="1350" dirty="0"/>
              <a:t>打开一张图像</a:t>
            </a:r>
            <a:r>
              <a:rPr lang="en-US" altLang="zh-CN" sz="1350" dirty="0"/>
              <a:t>,</a:t>
            </a:r>
          </a:p>
          <a:p>
            <a:pPr marL="0" indent="0">
              <a:buNone/>
            </a:pPr>
            <a:r>
              <a:rPr lang="zh-CN" altLang="en-US" sz="1350" dirty="0"/>
              <a:t>    返回一个</a:t>
            </a:r>
            <a:r>
              <a:rPr lang="en-US" altLang="zh-CN" sz="1350" dirty="0"/>
              <a:t>Image</a:t>
            </a:r>
            <a:r>
              <a:rPr lang="zh-CN" altLang="en-US" sz="1350" dirty="0"/>
              <a:t>对象，该对象有</a:t>
            </a:r>
            <a:r>
              <a:rPr lang="en-US" altLang="zh-CN" sz="1350" dirty="0" err="1"/>
              <a:t>size,format,mode</a:t>
            </a:r>
            <a:r>
              <a:rPr lang="zh-CN" altLang="en-US" sz="1350" dirty="0"/>
              <a:t>等属性</a:t>
            </a:r>
            <a:endParaRPr lang="en-US" altLang="zh-CN" sz="135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350" dirty="0"/>
              <a:t>size</a:t>
            </a:r>
            <a:r>
              <a:rPr lang="zh-CN" altLang="en-US" sz="1350" dirty="0"/>
              <a:t>表示图像的宽度和高度</a:t>
            </a:r>
            <a:r>
              <a:rPr lang="en-US" altLang="zh-CN" sz="1350" dirty="0"/>
              <a:t>(</a:t>
            </a:r>
            <a:r>
              <a:rPr lang="zh-CN" altLang="en-US" sz="1350" dirty="0"/>
              <a:t>像素表示</a:t>
            </a:r>
            <a:r>
              <a:rPr lang="en-US" altLang="zh-CN" sz="135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350" dirty="0"/>
              <a:t>format</a:t>
            </a:r>
            <a:r>
              <a:rPr lang="zh-CN" altLang="en-US" sz="1350" dirty="0"/>
              <a:t>表示图像的格式</a:t>
            </a:r>
            <a:r>
              <a:rPr lang="en-US" altLang="zh-CN" sz="1350" dirty="0"/>
              <a:t>,</a:t>
            </a:r>
            <a:r>
              <a:rPr lang="zh-CN" altLang="en-US" sz="1350" dirty="0"/>
              <a:t>常见的包括</a:t>
            </a:r>
            <a:r>
              <a:rPr lang="en-US" altLang="zh-CN" sz="1350" dirty="0"/>
              <a:t>JPEG,PNG</a:t>
            </a:r>
            <a:r>
              <a:rPr lang="zh-CN" altLang="en-US" sz="1350" dirty="0"/>
              <a:t>等格式</a:t>
            </a:r>
            <a:endParaRPr lang="en-US" altLang="zh-CN" sz="135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350" dirty="0"/>
              <a:t>mode</a:t>
            </a:r>
            <a:r>
              <a:rPr lang="zh-CN" altLang="en-US" sz="1350" dirty="0"/>
              <a:t>表示图像的模式，定义了像素类型还有图像深度等，常见的有</a:t>
            </a:r>
            <a:r>
              <a:rPr lang="en-US" altLang="zh-CN" sz="1350" dirty="0"/>
              <a:t>RGB,HSV</a:t>
            </a:r>
            <a:r>
              <a:rPr lang="zh-CN" altLang="en-US" sz="1350" dirty="0"/>
              <a:t>等。</a:t>
            </a:r>
            <a:endParaRPr lang="en-US" altLang="zh-CN" sz="1350" dirty="0"/>
          </a:p>
          <a:p>
            <a:pPr marL="0" indent="0">
              <a:buNone/>
            </a:pPr>
            <a:r>
              <a:rPr lang="zh-CN" altLang="en-US" sz="1350" dirty="0"/>
              <a:t>例如：</a:t>
            </a:r>
            <a:endParaRPr lang="en-US" altLang="zh-CN" sz="1350" dirty="0"/>
          </a:p>
          <a:p>
            <a:pPr marL="300038" lvl="1" indent="0">
              <a:buNone/>
            </a:pPr>
            <a:r>
              <a:rPr lang="en-US" altLang="zh-CN" sz="1350" dirty="0">
                <a:solidFill>
                  <a:schemeClr val="tx1"/>
                </a:solidFill>
              </a:rPr>
              <a:t>from PIL import Image</a:t>
            </a:r>
          </a:p>
          <a:p>
            <a:pPr marL="300038" lvl="1" indent="0">
              <a:buNone/>
            </a:pPr>
            <a:r>
              <a:rPr lang="en-US" altLang="zh-CN" sz="1350" dirty="0" err="1">
                <a:solidFill>
                  <a:schemeClr val="tx1"/>
                </a:solidFill>
              </a:rPr>
              <a:t>im</a:t>
            </a:r>
            <a:r>
              <a:rPr lang="en-US" altLang="zh-CN" sz="1350" dirty="0">
                <a:solidFill>
                  <a:schemeClr val="tx1"/>
                </a:solidFill>
              </a:rPr>
              <a:t> = </a:t>
            </a:r>
            <a:r>
              <a:rPr lang="en-US" altLang="zh-CN" sz="1350" dirty="0" err="1">
                <a:solidFill>
                  <a:schemeClr val="tx1"/>
                </a:solidFill>
              </a:rPr>
              <a:t>Image.open</a:t>
            </a:r>
            <a:r>
              <a:rPr lang="en-US" altLang="zh-CN" sz="1350" dirty="0">
                <a:solidFill>
                  <a:schemeClr val="tx1"/>
                </a:solidFill>
              </a:rPr>
              <a:t>("d:/images/hm.jpg","r") </a:t>
            </a:r>
          </a:p>
          <a:p>
            <a:pPr marL="300038" lvl="1" indent="0">
              <a:buNone/>
            </a:pPr>
            <a:r>
              <a:rPr lang="en-US" altLang="zh-CN" sz="1350" dirty="0">
                <a:solidFill>
                  <a:schemeClr val="tx1"/>
                </a:solidFill>
              </a:rPr>
              <a:t>print(</a:t>
            </a:r>
            <a:r>
              <a:rPr lang="en-US" altLang="zh-CN" sz="1350" dirty="0" err="1">
                <a:solidFill>
                  <a:schemeClr val="tx1"/>
                </a:solidFill>
              </a:rPr>
              <a:t>im.size,im.format,im.mode</a:t>
            </a:r>
            <a:r>
              <a:rPr lang="en-US" altLang="zh-CN" sz="1350" dirty="0">
                <a:solidFill>
                  <a:schemeClr val="tx1"/>
                </a:solidFill>
              </a:rPr>
              <a:t>)      #</a:t>
            </a:r>
            <a:r>
              <a:rPr lang="zh-CN" altLang="en-US" sz="1350" dirty="0">
                <a:solidFill>
                  <a:schemeClr val="tx1"/>
                </a:solidFill>
              </a:rPr>
              <a:t>显示图像的大小，格式和模式</a:t>
            </a:r>
          </a:p>
          <a:p>
            <a:pPr marL="300038" lvl="1" indent="0">
              <a:buNone/>
            </a:pPr>
            <a:r>
              <a:rPr lang="en-US" altLang="zh-CN" sz="1350" dirty="0" err="1">
                <a:solidFill>
                  <a:schemeClr val="tx1"/>
                </a:solidFill>
              </a:rPr>
              <a:t>im.show</a:t>
            </a:r>
            <a:r>
              <a:rPr lang="en-US" altLang="zh-CN" sz="1350" dirty="0">
                <a:solidFill>
                  <a:schemeClr val="tx1"/>
                </a:solidFill>
              </a:rPr>
              <a:t>()          #</a:t>
            </a:r>
            <a:r>
              <a:rPr lang="zh-CN" altLang="en-US" sz="1350" dirty="0">
                <a:solidFill>
                  <a:schemeClr val="tx1"/>
                </a:solidFill>
              </a:rPr>
              <a:t>显示图像</a:t>
            </a:r>
          </a:p>
        </p:txBody>
      </p:sp>
      <p:sp>
        <p:nvSpPr>
          <p:cNvPr id="4" name="矩形 3"/>
          <p:cNvSpPr/>
          <p:nvPr/>
        </p:nvSpPr>
        <p:spPr>
          <a:xfrm>
            <a:off x="2315580" y="1701187"/>
            <a:ext cx="71679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PIL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中最重要的类，可以用来实现图像处理的所有基本功能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217" y="4401108"/>
            <a:ext cx="1975483" cy="27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42362"/>
      </p:ext>
    </p:extLst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09006" y="1350850"/>
            <a:ext cx="8275638" cy="651272"/>
          </a:xfrm>
        </p:spPr>
        <p:txBody>
          <a:bodyPr/>
          <a:lstStyle/>
          <a:p>
            <a:r>
              <a:rPr lang="en-US" altLang="zh-CN" sz="2100" dirty="0"/>
              <a:t>1</a:t>
            </a:r>
            <a:r>
              <a:rPr lang="zh-CN" altLang="zh-CN" sz="2100" dirty="0"/>
              <a:t>．图像打开、显示、转换和保存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1545" y="2132856"/>
            <a:ext cx="8293100" cy="253828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B050"/>
                </a:solidFill>
              </a:rPr>
              <a:t>（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en-US" dirty="0">
                <a:solidFill>
                  <a:srgbClr val="00B050"/>
                </a:solidFill>
              </a:rPr>
              <a:t>）打开图像：  </a:t>
            </a:r>
            <a:r>
              <a:rPr lang="en-US" altLang="zh-CN" b="0" dirty="0" err="1">
                <a:solidFill>
                  <a:schemeClr val="tx1"/>
                </a:solidFill>
              </a:rPr>
              <a:t>Image.open</a:t>
            </a:r>
            <a:r>
              <a:rPr lang="en-US" altLang="zh-CN" b="0" dirty="0">
                <a:solidFill>
                  <a:schemeClr val="tx1"/>
                </a:solidFill>
              </a:rPr>
              <a:t>(filename)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B050"/>
                </a:solidFill>
              </a:rPr>
              <a:t>（</a:t>
            </a:r>
            <a:r>
              <a:rPr lang="en-US" altLang="zh-CN" dirty="0">
                <a:solidFill>
                  <a:srgbClr val="00B050"/>
                </a:solidFill>
              </a:rPr>
              <a:t>2</a:t>
            </a:r>
            <a:r>
              <a:rPr lang="zh-CN" altLang="en-US" dirty="0">
                <a:solidFill>
                  <a:srgbClr val="00B050"/>
                </a:solidFill>
              </a:rPr>
              <a:t>）显示图像：  </a:t>
            </a:r>
            <a:r>
              <a:rPr lang="en-US" altLang="zh-CN" b="0" dirty="0" err="1">
                <a:solidFill>
                  <a:schemeClr val="tx1"/>
                </a:solidFill>
              </a:rPr>
              <a:t>im.show</a:t>
            </a:r>
            <a:r>
              <a:rPr lang="en-US" altLang="zh-CN" b="0" dirty="0">
                <a:solidFill>
                  <a:schemeClr val="tx1"/>
                </a:solidFill>
              </a:rPr>
              <a:t>()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B050"/>
                </a:solidFill>
              </a:rPr>
              <a:t>（</a:t>
            </a:r>
            <a:r>
              <a:rPr lang="en-US" altLang="zh-CN" dirty="0">
                <a:solidFill>
                  <a:srgbClr val="00B050"/>
                </a:solidFill>
              </a:rPr>
              <a:t>3</a:t>
            </a:r>
            <a:r>
              <a:rPr lang="zh-CN" altLang="en-US" dirty="0">
                <a:solidFill>
                  <a:srgbClr val="00B050"/>
                </a:solidFill>
              </a:rPr>
              <a:t>）保存图像： 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Image. save(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filename,format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/>
              <a:t>         </a:t>
            </a:r>
            <a:r>
              <a:rPr lang="en-US" altLang="zh-CN" sz="1800" dirty="0" err="1"/>
              <a:t>im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Image.open</a:t>
            </a:r>
            <a:r>
              <a:rPr lang="en-US" altLang="zh-CN" sz="1800" dirty="0"/>
              <a:t>(</a:t>
            </a:r>
            <a:r>
              <a:rPr lang="en-US" altLang="zh-CN" sz="1800" dirty="0" err="1"/>
              <a:t>r"digit.jpg</a:t>
            </a:r>
            <a:r>
              <a:rPr lang="en-US" altLang="zh-CN" sz="1800" dirty="0"/>
              <a:t>")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</a:t>
            </a:r>
            <a:r>
              <a:rPr lang="en-US" altLang="zh-CN" sz="1800" dirty="0" err="1">
                <a:solidFill>
                  <a:schemeClr val="tx1"/>
                </a:solidFill>
              </a:rPr>
              <a:t>im.save</a:t>
            </a:r>
            <a:r>
              <a:rPr lang="en-US" altLang="zh-CN" sz="1800" dirty="0">
                <a:solidFill>
                  <a:schemeClr val="tx1"/>
                </a:solidFill>
              </a:rPr>
              <a:t>(“</a:t>
            </a:r>
            <a:r>
              <a:rPr lang="en-US" altLang="zh-CN" sz="1800" dirty="0" err="1">
                <a:solidFill>
                  <a:schemeClr val="tx1"/>
                </a:solidFill>
              </a:rPr>
              <a:t>digit.bmp”,“bmp</a:t>
            </a:r>
            <a:r>
              <a:rPr lang="en-US" altLang="zh-CN" sz="1800" dirty="0">
                <a:solidFill>
                  <a:schemeClr val="tx1"/>
                </a:solidFill>
              </a:rPr>
              <a:t>”)        #</a:t>
            </a:r>
            <a:r>
              <a:rPr lang="zh-CN" altLang="en-US" sz="1800" dirty="0">
                <a:solidFill>
                  <a:schemeClr val="tx1"/>
                </a:solidFill>
              </a:rPr>
              <a:t>存成</a:t>
            </a:r>
            <a:r>
              <a:rPr lang="en-US" altLang="zh-CN" sz="1800" dirty="0">
                <a:solidFill>
                  <a:schemeClr val="tx1"/>
                </a:solidFill>
              </a:rPr>
              <a:t>bmp</a:t>
            </a:r>
            <a:r>
              <a:rPr lang="zh-CN" altLang="en-US" sz="1800" dirty="0">
                <a:solidFill>
                  <a:schemeClr val="tx1"/>
                </a:solidFill>
              </a:rPr>
              <a:t>格式</a:t>
            </a:r>
          </a:p>
        </p:txBody>
      </p:sp>
    </p:spTree>
    <p:extLst>
      <p:ext uri="{BB962C8B-B14F-4D97-AF65-F5344CB8AC3E}">
        <p14:creationId xmlns:p14="http://schemas.microsoft.com/office/powerpoint/2010/main" val="2437036322"/>
      </p:ext>
    </p:extLst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99556" y="1160749"/>
            <a:ext cx="7826896" cy="651272"/>
          </a:xfrm>
        </p:spPr>
        <p:txBody>
          <a:bodyPr/>
          <a:lstStyle/>
          <a:p>
            <a:r>
              <a:rPr lang="zh-CN" altLang="en-US" sz="2100" dirty="0"/>
              <a:t>（</a:t>
            </a:r>
            <a:r>
              <a:rPr lang="en-US" altLang="zh-CN" sz="2100" dirty="0"/>
              <a:t>4</a:t>
            </a:r>
            <a:r>
              <a:rPr lang="zh-CN" altLang="en-US" sz="2100" dirty="0"/>
              <a:t>）图像转换</a:t>
            </a:r>
            <a:r>
              <a:rPr lang="en-US" altLang="zh-CN" sz="2100" dirty="0"/>
              <a:t>         </a:t>
            </a:r>
            <a:r>
              <a:rPr lang="zh-CN" altLang="en-US" sz="1800" dirty="0">
                <a:solidFill>
                  <a:srgbClr val="00B050"/>
                </a:solidFill>
              </a:rPr>
              <a:t>图像对象</a:t>
            </a:r>
            <a:r>
              <a:rPr lang="en-US" altLang="zh-CN" sz="1800" dirty="0">
                <a:solidFill>
                  <a:srgbClr val="00B050"/>
                </a:solidFill>
              </a:rPr>
              <a:t>.convert(</a:t>
            </a:r>
            <a:r>
              <a:rPr lang="zh-CN" altLang="en-US" sz="1800" dirty="0">
                <a:solidFill>
                  <a:srgbClr val="00B050"/>
                </a:solidFill>
              </a:rPr>
              <a:t>格式</a:t>
            </a:r>
            <a:r>
              <a:rPr lang="en-US" altLang="zh-CN" sz="1800" dirty="0">
                <a:solidFill>
                  <a:srgbClr val="00B050"/>
                </a:solidFill>
              </a:rPr>
              <a:t>) </a:t>
            </a:r>
            <a:endParaRPr lang="zh-CN" altLang="en-US" sz="1800" dirty="0">
              <a:solidFill>
                <a:srgbClr val="00B05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99557" y="1916832"/>
            <a:ext cx="8125736" cy="345638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zh-CN" altLang="en-US" sz="1350" dirty="0"/>
              <a:t>例如：</a:t>
            </a:r>
            <a:endParaRPr lang="en-US" altLang="zh-CN" sz="1350" dirty="0"/>
          </a:p>
          <a:p>
            <a:pPr marL="300038" lvl="1" indent="0">
              <a:buNone/>
            </a:pPr>
            <a:r>
              <a:rPr lang="en-US" altLang="zh-CN" sz="1350" dirty="0"/>
              <a:t>from PIL import Image		       # </a:t>
            </a:r>
            <a:r>
              <a:rPr lang="zh-CN" altLang="en-US" sz="1350" dirty="0"/>
              <a:t>导入</a:t>
            </a:r>
            <a:r>
              <a:rPr lang="en-US" altLang="zh-CN" sz="1350" dirty="0"/>
              <a:t>PIL</a:t>
            </a:r>
            <a:r>
              <a:rPr lang="zh-CN" altLang="en-US" sz="1350" dirty="0"/>
              <a:t>库的</a:t>
            </a:r>
            <a:r>
              <a:rPr lang="en-US" altLang="zh-CN" sz="1350" dirty="0"/>
              <a:t>Image</a:t>
            </a:r>
            <a:r>
              <a:rPr lang="zh-CN" altLang="en-US" sz="1350" dirty="0"/>
              <a:t>模块</a:t>
            </a:r>
          </a:p>
          <a:p>
            <a:pPr marL="300038" lvl="1" indent="0">
              <a:buNone/>
            </a:pPr>
            <a:r>
              <a:rPr lang="en-US" altLang="zh-CN" sz="1350" dirty="0" err="1"/>
              <a:t>im</a:t>
            </a:r>
            <a:r>
              <a:rPr lang="en-US" altLang="zh-CN" sz="1350" dirty="0"/>
              <a:t> = </a:t>
            </a:r>
            <a:r>
              <a:rPr lang="en-US" altLang="zh-CN" sz="1350" dirty="0" err="1"/>
              <a:t>Image.open</a:t>
            </a:r>
            <a:r>
              <a:rPr lang="en-US" altLang="zh-CN" sz="1350" dirty="0"/>
              <a:t>(</a:t>
            </a:r>
            <a:r>
              <a:rPr lang="en-US" altLang="zh-CN" sz="1350" dirty="0" err="1"/>
              <a:t>r"D</a:t>
            </a:r>
            <a:r>
              <a:rPr lang="en-US" altLang="zh-CN" sz="1350" dirty="0"/>
              <a:t>:\images\Tulips.jpg") # </a:t>
            </a:r>
            <a:r>
              <a:rPr lang="zh-CN" altLang="en-US" sz="1350" dirty="0"/>
              <a:t>打开图像文件</a:t>
            </a:r>
          </a:p>
          <a:p>
            <a:pPr marL="300038" lvl="1" indent="0">
              <a:buNone/>
            </a:pPr>
            <a:r>
              <a:rPr lang="en-US" altLang="zh-CN" sz="1350" dirty="0" err="1"/>
              <a:t>im_L</a:t>
            </a:r>
            <a:r>
              <a:rPr lang="en-US" altLang="zh-CN" sz="1350" dirty="0"/>
              <a:t> = </a:t>
            </a:r>
            <a:r>
              <a:rPr lang="en-US" altLang="zh-CN" sz="1350" b="1" dirty="0" err="1">
                <a:solidFill>
                  <a:srgbClr val="00B050"/>
                </a:solidFill>
              </a:rPr>
              <a:t>im.convert</a:t>
            </a:r>
            <a:r>
              <a:rPr lang="en-US" altLang="zh-CN" sz="1350" b="1" dirty="0">
                <a:solidFill>
                  <a:srgbClr val="00B050"/>
                </a:solidFill>
              </a:rPr>
              <a:t>("L")</a:t>
            </a:r>
          </a:p>
          <a:p>
            <a:pPr marL="300038" lvl="1" indent="0">
              <a:buNone/>
            </a:pPr>
            <a:r>
              <a:rPr lang="en-US" altLang="zh-CN" sz="1350" dirty="0" err="1"/>
              <a:t>im_L.show</a:t>
            </a:r>
            <a:r>
              <a:rPr lang="en-US" altLang="zh-CN" sz="1350" dirty="0"/>
              <a:t>()</a:t>
            </a:r>
          </a:p>
          <a:p>
            <a:pPr marL="300038" lvl="1" indent="0">
              <a:buNone/>
            </a:pPr>
            <a:r>
              <a:rPr lang="en-US" altLang="zh-CN" sz="1350" dirty="0" err="1"/>
              <a:t>im_rgb</a:t>
            </a:r>
            <a:r>
              <a:rPr lang="en-US" altLang="zh-CN" sz="1350" dirty="0"/>
              <a:t> </a:t>
            </a:r>
            <a:r>
              <a:rPr lang="en-US" altLang="zh-CN" sz="1350" b="1" dirty="0">
                <a:solidFill>
                  <a:srgbClr val="C00000"/>
                </a:solidFill>
              </a:rPr>
              <a:t>= </a:t>
            </a:r>
            <a:r>
              <a:rPr lang="en-US" altLang="zh-CN" sz="1350" b="1" dirty="0" err="1">
                <a:solidFill>
                  <a:srgbClr val="00B050"/>
                </a:solidFill>
              </a:rPr>
              <a:t>im_L.convert</a:t>
            </a:r>
            <a:r>
              <a:rPr lang="en-US" altLang="zh-CN" sz="1350" b="1" dirty="0">
                <a:solidFill>
                  <a:srgbClr val="00B050"/>
                </a:solidFill>
              </a:rPr>
              <a:t>("RGB")</a:t>
            </a:r>
          </a:p>
          <a:p>
            <a:pPr marL="300038" lvl="1" indent="0">
              <a:buNone/>
            </a:pPr>
            <a:r>
              <a:rPr lang="en-US" altLang="zh-CN" sz="1350" dirty="0" err="1"/>
              <a:t>im_rgb.show</a:t>
            </a:r>
            <a:r>
              <a:rPr lang="en-US" altLang="zh-CN" sz="1350" dirty="0"/>
              <a:t>()</a:t>
            </a:r>
          </a:p>
          <a:p>
            <a:pPr marL="300038" lvl="1" indent="0">
              <a:buNone/>
            </a:pPr>
            <a:r>
              <a:rPr lang="en-US" altLang="zh-CN" sz="1500" dirty="0"/>
              <a:t>convert</a:t>
            </a:r>
            <a:r>
              <a:rPr lang="zh-CN" altLang="en-US" sz="1500" dirty="0"/>
              <a:t>方法可以改变图像的</a:t>
            </a:r>
            <a:r>
              <a:rPr lang="en-US" altLang="zh-CN" sz="1500" dirty="0"/>
              <a:t>mode</a:t>
            </a:r>
            <a:r>
              <a:rPr lang="zh-CN" altLang="en-US" sz="1500" dirty="0"/>
              <a:t>，一般是在</a:t>
            </a:r>
            <a:r>
              <a:rPr lang="en-US" altLang="zh-CN" sz="1500" dirty="0"/>
              <a:t>‘RGB’(</a:t>
            </a:r>
            <a:r>
              <a:rPr lang="zh-CN" altLang="en-US" sz="1500" dirty="0"/>
              <a:t>真彩图</a:t>
            </a:r>
            <a:r>
              <a:rPr lang="en-US" altLang="zh-CN" sz="1500" dirty="0"/>
              <a:t>)</a:t>
            </a:r>
            <a:r>
              <a:rPr lang="zh-CN" altLang="en-US" sz="1500" dirty="0"/>
              <a:t>、</a:t>
            </a:r>
            <a:r>
              <a:rPr lang="en-US" altLang="zh-CN" sz="1500" dirty="0"/>
              <a:t>‘L’(</a:t>
            </a:r>
            <a:r>
              <a:rPr lang="zh-CN" altLang="en-US" sz="1500" dirty="0"/>
              <a:t>灰度图</a:t>
            </a:r>
            <a:r>
              <a:rPr lang="en-US" altLang="zh-CN" sz="1500" dirty="0"/>
              <a:t>)</a:t>
            </a:r>
            <a:r>
              <a:rPr lang="zh-CN" altLang="en-US" sz="1500" dirty="0"/>
              <a:t>、</a:t>
            </a:r>
            <a:r>
              <a:rPr lang="en-US" altLang="zh-CN" sz="1500" dirty="0"/>
              <a:t>‘CMYK’(</a:t>
            </a:r>
            <a:r>
              <a:rPr lang="zh-CN" altLang="en-US" sz="1500" dirty="0"/>
              <a:t>印刷模式</a:t>
            </a:r>
            <a:r>
              <a:rPr lang="en-US" altLang="zh-CN" sz="1500" dirty="0"/>
              <a:t>)</a:t>
            </a:r>
            <a:r>
              <a:rPr lang="zh-CN" altLang="en-US" sz="1500" dirty="0"/>
              <a:t>之间转换。   </a:t>
            </a:r>
            <a:endParaRPr lang="en-US" altLang="zh-CN" sz="15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500" dirty="0">
                <a:solidFill>
                  <a:srgbClr val="C00000"/>
                </a:solidFill>
              </a:rPr>
              <a:t>      注意：</a:t>
            </a:r>
            <a:r>
              <a:rPr lang="zh-CN" altLang="en-US" sz="1500" dirty="0"/>
              <a:t>前面将图像转化为灰度图，再从灰度图转化为真彩图，但是恢复不了原来的真彩色。</a:t>
            </a:r>
          </a:p>
          <a:p>
            <a:endParaRPr lang="en-US" altLang="zh-CN" sz="1500" dirty="0"/>
          </a:p>
        </p:txBody>
      </p:sp>
    </p:spTree>
    <p:extLst>
      <p:ext uri="{BB962C8B-B14F-4D97-AF65-F5344CB8AC3E}">
        <p14:creationId xmlns:p14="http://schemas.microsoft.com/office/powerpoint/2010/main" val="4139638284"/>
      </p:ext>
    </p:extLst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45552" y="1430778"/>
            <a:ext cx="7976219" cy="4320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500" dirty="0"/>
              <a:t>PIL</a:t>
            </a:r>
            <a:r>
              <a:rPr lang="zh-CN" altLang="en-US" sz="1500" dirty="0"/>
              <a:t>支持</a:t>
            </a:r>
            <a:r>
              <a:rPr lang="en-US" altLang="zh-CN" sz="1500" dirty="0"/>
              <a:t>9</a:t>
            </a:r>
            <a:r>
              <a:rPr lang="zh-CN" altLang="en-US" sz="1500" dirty="0"/>
              <a:t>种图像模式</a:t>
            </a:r>
            <a:r>
              <a:rPr lang="en-US" altLang="zh-CN" sz="1500" dirty="0"/>
              <a:t>:    </a:t>
            </a:r>
            <a:r>
              <a:rPr lang="en-US" altLang="zh-CN" sz="1500" dirty="0">
                <a:solidFill>
                  <a:srgbClr val="00B050"/>
                </a:solidFill>
              </a:rPr>
              <a:t>1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>
                <a:solidFill>
                  <a:srgbClr val="00B050"/>
                </a:solidFill>
              </a:rPr>
              <a:t>L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>
                <a:solidFill>
                  <a:srgbClr val="00B050"/>
                </a:solidFill>
              </a:rPr>
              <a:t>P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>
                <a:solidFill>
                  <a:srgbClr val="00B050"/>
                </a:solidFill>
              </a:rPr>
              <a:t>RGB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>
                <a:solidFill>
                  <a:srgbClr val="00B050"/>
                </a:solidFill>
              </a:rPr>
              <a:t>RGBA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>
                <a:solidFill>
                  <a:srgbClr val="00B050"/>
                </a:solidFill>
              </a:rPr>
              <a:t>CMYK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 err="1">
                <a:solidFill>
                  <a:srgbClr val="00B050"/>
                </a:solidFill>
              </a:rPr>
              <a:t>YCbCr</a:t>
            </a:r>
            <a:r>
              <a:rPr lang="en-US" altLang="zh-CN" sz="1500" dirty="0">
                <a:solidFill>
                  <a:srgbClr val="00B050"/>
                </a:solidFill>
              </a:rPr>
              <a:t>, I</a:t>
            </a:r>
            <a:r>
              <a:rPr lang="zh-CN" altLang="en-US" sz="1500" dirty="0">
                <a:solidFill>
                  <a:srgbClr val="00B050"/>
                </a:solidFill>
              </a:rPr>
              <a:t>，</a:t>
            </a:r>
            <a:r>
              <a:rPr lang="en-US" altLang="zh-CN" sz="1500" dirty="0">
                <a:solidFill>
                  <a:srgbClr val="00B050"/>
                </a:solidFill>
              </a:rPr>
              <a:t>F</a:t>
            </a:r>
            <a:r>
              <a:rPr lang="en-US" altLang="zh-CN" sz="1500" b="0" dirty="0"/>
              <a:t> </a:t>
            </a:r>
            <a:endParaRPr lang="zh-CN" altLang="en-US" sz="15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99556" y="2024844"/>
            <a:ext cx="7668852" cy="3294366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</a:rPr>
              <a:t>1” </a:t>
            </a:r>
            <a:r>
              <a:rPr lang="zh-CN" altLang="en-US" sz="1200" dirty="0"/>
              <a:t> 二值图像，每个像素用</a:t>
            </a:r>
            <a:r>
              <a:rPr lang="en-US" altLang="zh-CN" sz="1200" dirty="0"/>
              <a:t>8</a:t>
            </a:r>
            <a:r>
              <a:rPr lang="zh-CN" altLang="en-US" sz="1200" dirty="0"/>
              <a:t>个</a:t>
            </a:r>
            <a:r>
              <a:rPr lang="en-US" altLang="zh-CN" sz="1200" dirty="0"/>
              <a:t>bit</a:t>
            </a:r>
            <a:r>
              <a:rPr lang="zh-CN" altLang="en-US" sz="1200" dirty="0"/>
              <a:t>表示，</a:t>
            </a:r>
            <a:r>
              <a:rPr lang="en-US" altLang="zh-CN" sz="1200" dirty="0"/>
              <a:t>0</a:t>
            </a:r>
            <a:r>
              <a:rPr lang="zh-CN" altLang="en-US" sz="1200" dirty="0"/>
              <a:t>表示黑，</a:t>
            </a:r>
            <a:r>
              <a:rPr lang="en-US" altLang="zh-CN" sz="1200" dirty="0"/>
              <a:t>255</a:t>
            </a:r>
            <a:r>
              <a:rPr lang="zh-CN" altLang="en-US" sz="1200" dirty="0"/>
              <a:t>表示白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</a:rPr>
              <a:t>L”</a:t>
            </a:r>
            <a:r>
              <a:rPr lang="en-US" altLang="zh-CN" sz="1200" dirty="0"/>
              <a:t> </a:t>
            </a:r>
            <a:r>
              <a:rPr lang="zh-CN" altLang="en-US" sz="1200" dirty="0"/>
              <a:t>为灰色图像，每个像素用</a:t>
            </a:r>
            <a:r>
              <a:rPr lang="en-US" altLang="zh-CN" sz="1200" dirty="0"/>
              <a:t>8</a:t>
            </a:r>
            <a:r>
              <a:rPr lang="zh-CN" altLang="en-US" sz="1200" dirty="0"/>
              <a:t>个</a:t>
            </a:r>
            <a:r>
              <a:rPr lang="en-US" altLang="zh-CN" sz="1200" dirty="0"/>
              <a:t>bit</a:t>
            </a:r>
            <a:r>
              <a:rPr lang="zh-CN" altLang="en-US" sz="1200" dirty="0"/>
              <a:t>表示，</a:t>
            </a:r>
            <a:r>
              <a:rPr lang="en-US" altLang="zh-CN" sz="1200" dirty="0"/>
              <a:t>0~255</a:t>
            </a:r>
            <a:r>
              <a:rPr lang="zh-CN" altLang="en-US" sz="1200" dirty="0"/>
              <a:t>对应</a:t>
            </a:r>
            <a:r>
              <a:rPr lang="en-US" altLang="zh-CN" sz="1200" dirty="0"/>
              <a:t>256</a:t>
            </a:r>
            <a:r>
              <a:rPr lang="zh-CN" altLang="en-US" sz="1200" dirty="0"/>
              <a:t>个灰度级别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</a:rPr>
              <a:t>P</a:t>
            </a:r>
            <a:r>
              <a:rPr lang="zh-CN" altLang="en-US" sz="1200" dirty="0">
                <a:solidFill>
                  <a:srgbClr val="00B050"/>
                </a:solidFill>
              </a:rPr>
              <a:t>” </a:t>
            </a:r>
            <a:r>
              <a:rPr lang="zh-CN" altLang="en-US" sz="1200" dirty="0"/>
              <a:t>为</a:t>
            </a:r>
            <a:r>
              <a:rPr lang="en-US" altLang="zh-CN" sz="1200" dirty="0"/>
              <a:t>8</a:t>
            </a:r>
            <a:r>
              <a:rPr lang="zh-CN" altLang="en-US" sz="1200" dirty="0"/>
              <a:t>位彩色图像，每个像素用</a:t>
            </a:r>
            <a:r>
              <a:rPr lang="en-US" altLang="zh-CN" sz="1200" dirty="0"/>
              <a:t>8</a:t>
            </a:r>
            <a:r>
              <a:rPr lang="zh-CN" altLang="en-US" sz="1200" dirty="0"/>
              <a:t>个</a:t>
            </a:r>
            <a:r>
              <a:rPr lang="en-US" altLang="zh-CN" sz="1200" dirty="0"/>
              <a:t>bit</a:t>
            </a:r>
            <a:r>
              <a:rPr lang="zh-CN" altLang="en-US" sz="1200" dirty="0"/>
              <a:t>表示，其对应的彩色值是按照调色板查询出来的。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</a:rPr>
              <a:t>RGBA</a:t>
            </a:r>
            <a:r>
              <a:rPr lang="zh-CN" altLang="en-US" sz="1200" dirty="0">
                <a:solidFill>
                  <a:srgbClr val="00B050"/>
                </a:solidFill>
              </a:rPr>
              <a:t>” </a:t>
            </a:r>
            <a:r>
              <a:rPr lang="zh-CN" altLang="en-US" sz="1200" dirty="0"/>
              <a:t>为</a:t>
            </a:r>
            <a:r>
              <a:rPr lang="en-US" altLang="zh-CN" sz="1200" dirty="0"/>
              <a:t>32</a:t>
            </a:r>
            <a:r>
              <a:rPr lang="zh-CN" altLang="en-US" sz="1200" dirty="0"/>
              <a:t>位彩色图像    </a:t>
            </a:r>
            <a:endParaRPr lang="en-US" altLang="zh-CN" sz="1200" dirty="0"/>
          </a:p>
          <a:p>
            <a:pPr marL="342900" lvl="1" indent="0">
              <a:lnSpc>
                <a:spcPct val="150000"/>
              </a:lnSpc>
              <a:buNone/>
            </a:pPr>
            <a:r>
              <a:rPr lang="zh-CN" altLang="en-US" sz="1200" dirty="0"/>
              <a:t>每个像素用</a:t>
            </a:r>
            <a:r>
              <a:rPr lang="en-US" altLang="zh-CN" sz="1200" dirty="0"/>
              <a:t>32</a:t>
            </a:r>
            <a:r>
              <a:rPr lang="zh-CN" altLang="en-US" sz="1200" dirty="0"/>
              <a:t>个</a:t>
            </a:r>
            <a:r>
              <a:rPr lang="en-US" altLang="zh-CN" sz="1200" dirty="0"/>
              <a:t>bit</a:t>
            </a:r>
            <a:r>
              <a:rPr lang="zh-CN" altLang="en-US" sz="1200" dirty="0"/>
              <a:t>表示，其中</a:t>
            </a:r>
            <a:r>
              <a:rPr lang="en-US" altLang="zh-CN" sz="1200" dirty="0"/>
              <a:t>24bit</a:t>
            </a:r>
            <a:r>
              <a:rPr lang="zh-CN" altLang="en-US" sz="1200" dirty="0"/>
              <a:t>表示</a:t>
            </a:r>
            <a:r>
              <a:rPr lang="en-US" altLang="zh-CN" sz="1200" dirty="0"/>
              <a:t>RGB</a:t>
            </a:r>
            <a:r>
              <a:rPr lang="zh-CN" altLang="en-US" sz="1200" dirty="0"/>
              <a:t>三个通道，另外</a:t>
            </a:r>
            <a:r>
              <a:rPr lang="en-US" altLang="zh-CN" sz="1200" dirty="0"/>
              <a:t>8bit</a:t>
            </a:r>
            <a:r>
              <a:rPr lang="zh-CN" altLang="en-US" sz="1200" dirty="0"/>
              <a:t>表示</a:t>
            </a:r>
            <a:r>
              <a:rPr lang="en-US" altLang="zh-CN" sz="1200" dirty="0"/>
              <a:t>alpha</a:t>
            </a:r>
            <a:r>
              <a:rPr lang="zh-CN" altLang="en-US" sz="1200" dirty="0"/>
              <a:t>通道，控制透明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</a:rPr>
              <a:t>CMYK</a:t>
            </a:r>
            <a:r>
              <a:rPr lang="zh-CN" altLang="en-US" sz="1200" dirty="0">
                <a:solidFill>
                  <a:srgbClr val="00B050"/>
                </a:solidFill>
              </a:rPr>
              <a:t>”</a:t>
            </a:r>
            <a:r>
              <a:rPr lang="zh-CN" altLang="en-US" sz="1200" dirty="0"/>
              <a:t>为</a:t>
            </a:r>
            <a:r>
              <a:rPr lang="en-US" altLang="zh-CN" sz="1200" dirty="0"/>
              <a:t>32</a:t>
            </a:r>
            <a:r>
              <a:rPr lang="zh-CN" altLang="en-US" sz="1200" dirty="0"/>
              <a:t>位彩色图像，每个像素用</a:t>
            </a:r>
            <a:r>
              <a:rPr lang="en-US" altLang="zh-CN" sz="1200" dirty="0"/>
              <a:t>32</a:t>
            </a:r>
            <a:r>
              <a:rPr lang="zh-CN" altLang="en-US" sz="1200" dirty="0"/>
              <a:t>个</a:t>
            </a:r>
            <a:r>
              <a:rPr lang="en-US" altLang="zh-CN" sz="1200" dirty="0"/>
              <a:t>bit</a:t>
            </a:r>
            <a:r>
              <a:rPr lang="zh-CN" altLang="en-US" sz="1200" dirty="0"/>
              <a:t>表示，是印刷的四分色模式</a:t>
            </a:r>
            <a:endParaRPr lang="en-US" altLang="zh-CN" sz="1200" dirty="0"/>
          </a:p>
          <a:p>
            <a:pPr marL="257175" lvl="1" indent="-257175">
              <a:lnSpc>
                <a:spcPct val="150000"/>
              </a:lnSpc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 sz="1200" b="1" dirty="0">
                <a:solidFill>
                  <a:srgbClr val="00B050"/>
                </a:solidFill>
                <a:cs typeface="+mn-cs"/>
              </a:rPr>
              <a:t>模式“</a:t>
            </a:r>
            <a:r>
              <a:rPr lang="en-US" altLang="zh-CN" sz="1200" b="1" dirty="0" err="1">
                <a:solidFill>
                  <a:srgbClr val="00B050"/>
                </a:solidFill>
                <a:cs typeface="+mn-cs"/>
              </a:rPr>
              <a:t>YCbCr</a:t>
            </a:r>
            <a:r>
              <a:rPr lang="zh-CN" altLang="en-US" sz="1200" b="1" dirty="0">
                <a:solidFill>
                  <a:srgbClr val="00B050"/>
                </a:solidFill>
                <a:cs typeface="+mn-cs"/>
              </a:rPr>
              <a:t>”</a:t>
            </a:r>
            <a:r>
              <a:rPr lang="zh-CN" altLang="en-US" sz="1200" dirty="0">
                <a:cs typeface="+mn-cs"/>
              </a:rPr>
              <a:t>为</a:t>
            </a:r>
            <a:r>
              <a:rPr lang="en-US" altLang="zh-CN" sz="1200" dirty="0">
                <a:cs typeface="+mn-cs"/>
              </a:rPr>
              <a:t>24</a:t>
            </a:r>
            <a:r>
              <a:rPr lang="zh-CN" altLang="en-US" sz="1200" dirty="0">
                <a:cs typeface="+mn-cs"/>
              </a:rPr>
              <a:t>位彩色图像</a:t>
            </a:r>
            <a:endParaRPr lang="en-US" altLang="zh-CN" sz="1200" dirty="0">
              <a:cs typeface="+mn-cs"/>
            </a:endParaRPr>
          </a:p>
          <a:p>
            <a:pPr marL="342900" lvl="1" indent="0">
              <a:lnSpc>
                <a:spcPct val="150000"/>
              </a:lnSpc>
              <a:buNone/>
            </a:pPr>
            <a:r>
              <a:rPr lang="zh-CN" altLang="en-US" sz="1200" dirty="0"/>
              <a:t>每个像素用</a:t>
            </a:r>
            <a:r>
              <a:rPr lang="en-US" altLang="zh-CN" sz="1200" dirty="0"/>
              <a:t>24</a:t>
            </a:r>
            <a:r>
              <a:rPr lang="zh-CN" altLang="en-US" sz="1200" dirty="0"/>
              <a:t>个</a:t>
            </a:r>
            <a:r>
              <a:rPr lang="en-US" altLang="zh-CN" sz="1200" dirty="0"/>
              <a:t>bit</a:t>
            </a:r>
            <a:r>
              <a:rPr lang="zh-CN" altLang="en-US" sz="1200" dirty="0"/>
              <a:t>表示，</a:t>
            </a:r>
            <a:r>
              <a:rPr lang="en-US" altLang="zh-CN" sz="1200" dirty="0"/>
              <a:t>Y</a:t>
            </a:r>
            <a:r>
              <a:rPr lang="zh-CN" altLang="en-US" sz="1200" dirty="0"/>
              <a:t>是亮度，</a:t>
            </a:r>
            <a:r>
              <a:rPr lang="en-US" altLang="zh-CN" sz="1200" dirty="0" err="1"/>
              <a:t>Cb</a:t>
            </a:r>
            <a:r>
              <a:rPr lang="zh-CN" altLang="en-US" sz="1200" dirty="0"/>
              <a:t>：蓝色色度分量，</a:t>
            </a:r>
            <a:r>
              <a:rPr lang="en-US" altLang="zh-CN" sz="1200" dirty="0"/>
              <a:t>Cr</a:t>
            </a:r>
            <a:r>
              <a:rPr lang="zh-CN" altLang="en-US" sz="1200" dirty="0"/>
              <a:t>：红色色度分量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</a:rPr>
              <a:t>I</a:t>
            </a:r>
            <a:r>
              <a:rPr lang="zh-CN" altLang="en-US" sz="1200" dirty="0">
                <a:solidFill>
                  <a:srgbClr val="00B050"/>
                </a:solidFill>
              </a:rPr>
              <a:t>”</a:t>
            </a:r>
            <a:r>
              <a:rPr lang="zh-CN" altLang="en-US" sz="1200" dirty="0"/>
              <a:t>为</a:t>
            </a:r>
            <a:r>
              <a:rPr lang="en-US" altLang="zh-CN" sz="1200" dirty="0"/>
              <a:t>32</a:t>
            </a:r>
            <a:r>
              <a:rPr lang="zh-CN" altLang="en-US" sz="1200" dirty="0"/>
              <a:t>位整型灰色图像</a:t>
            </a:r>
            <a:r>
              <a:rPr lang="zh-CN" altLang="en-US" sz="1200" dirty="0">
                <a:solidFill>
                  <a:srgbClr val="00B050"/>
                </a:solidFill>
              </a:rPr>
              <a:t>， </a:t>
            </a:r>
            <a:endParaRPr lang="en-US" altLang="zh-CN" sz="1200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B050"/>
                </a:solidFill>
              </a:rPr>
              <a:t>模式“</a:t>
            </a:r>
            <a:r>
              <a:rPr lang="en-US" altLang="zh-CN" sz="1200" dirty="0">
                <a:solidFill>
                  <a:srgbClr val="00B050"/>
                </a:solidFill>
              </a:rPr>
              <a:t>F</a:t>
            </a:r>
            <a:r>
              <a:rPr lang="zh-CN" altLang="en-US" sz="1200" dirty="0">
                <a:solidFill>
                  <a:srgbClr val="00B050"/>
                </a:solidFill>
              </a:rPr>
              <a:t>”</a:t>
            </a:r>
            <a:r>
              <a:rPr lang="zh-CN" altLang="en-US" sz="1200" dirty="0"/>
              <a:t>为</a:t>
            </a:r>
            <a:r>
              <a:rPr lang="en-US" altLang="zh-CN" sz="1200" dirty="0"/>
              <a:t>32</a:t>
            </a:r>
            <a:r>
              <a:rPr lang="zh-CN" altLang="en-US" sz="1200" dirty="0"/>
              <a:t>位浮点灰色图像，每个像素用</a:t>
            </a:r>
            <a:r>
              <a:rPr lang="en-US" altLang="zh-CN" sz="1200" dirty="0"/>
              <a:t>32</a:t>
            </a:r>
            <a:r>
              <a:rPr lang="zh-CN" altLang="en-US" sz="1200" dirty="0"/>
              <a:t>个</a:t>
            </a:r>
            <a:r>
              <a:rPr lang="en-US" altLang="zh-CN" sz="1200" dirty="0"/>
              <a:t>bit</a:t>
            </a:r>
            <a:r>
              <a:rPr lang="zh-CN" altLang="en-US" sz="1200" dirty="0"/>
              <a:t>表示，</a:t>
            </a:r>
            <a:r>
              <a:rPr lang="en-US" altLang="zh-CN" sz="1200" dirty="0"/>
              <a:t>0~255</a:t>
            </a:r>
            <a:r>
              <a:rPr lang="zh-CN" altLang="en-US" sz="1200" dirty="0"/>
              <a:t>对应</a:t>
            </a:r>
            <a:r>
              <a:rPr lang="en-US" altLang="zh-CN" sz="1200" dirty="0"/>
              <a:t>256</a:t>
            </a:r>
            <a:r>
              <a:rPr lang="zh-CN" altLang="en-US" sz="1200" dirty="0"/>
              <a:t>个灰度级别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2667758831"/>
      </p:ext>
    </p:extLst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7169" y="1052736"/>
            <a:ext cx="8275638" cy="506556"/>
          </a:xfrm>
        </p:spPr>
        <p:txBody>
          <a:bodyPr/>
          <a:lstStyle/>
          <a:p>
            <a:r>
              <a:rPr lang="zh-CN" altLang="zh-CN" sz="2100" dirty="0"/>
              <a:t>（</a:t>
            </a:r>
            <a:r>
              <a:rPr lang="en-US" altLang="zh-CN" sz="2100" dirty="0"/>
              <a:t>5</a:t>
            </a:r>
            <a:r>
              <a:rPr lang="zh-CN" altLang="zh-CN" sz="2100" dirty="0"/>
              <a:t>）像素</a:t>
            </a:r>
            <a:r>
              <a:rPr lang="zh-CN" altLang="en-US" sz="2100" dirty="0"/>
              <a:t>点处理</a:t>
            </a:r>
            <a:endParaRPr lang="zh-CN" altLang="zh-CN" sz="21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4850" y="1613298"/>
            <a:ext cx="8046894" cy="4083954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>
                <a:solidFill>
                  <a:srgbClr val="00B050"/>
                </a:solidFill>
              </a:rPr>
              <a:t>图像对象</a:t>
            </a:r>
            <a:r>
              <a:rPr lang="en-US" altLang="zh-CN" dirty="0">
                <a:solidFill>
                  <a:srgbClr val="00B050"/>
                </a:solidFill>
              </a:rPr>
              <a:t>.</a:t>
            </a:r>
            <a:r>
              <a:rPr lang="en-US" altLang="zh-CN" dirty="0" err="1">
                <a:solidFill>
                  <a:srgbClr val="00B050"/>
                </a:solidFill>
              </a:rPr>
              <a:t>getpixel</a:t>
            </a:r>
            <a:r>
              <a:rPr lang="en-US" altLang="zh-CN" dirty="0">
                <a:solidFill>
                  <a:srgbClr val="00B050"/>
                </a:solidFill>
              </a:rPr>
              <a:t>(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x,y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r>
              <a:rPr lang="en-US" altLang="zh-CN" dirty="0">
                <a:solidFill>
                  <a:srgbClr val="00B050"/>
                </a:solidFill>
              </a:rPr>
              <a:t> )           #</a:t>
            </a:r>
            <a:r>
              <a:rPr lang="zh-CN" altLang="en-US" dirty="0">
                <a:solidFill>
                  <a:srgbClr val="00B050"/>
                </a:solidFill>
              </a:rPr>
              <a:t>获取指定位置像素点的颜色值</a:t>
            </a:r>
            <a:endParaRPr lang="en-US" altLang="zh-CN" dirty="0">
              <a:solidFill>
                <a:srgbClr val="00B050"/>
              </a:solidFill>
            </a:endParaRPr>
          </a:p>
          <a:p>
            <a:pPr marL="600075" lvl="2" indent="0">
              <a:buNone/>
            </a:pPr>
            <a:r>
              <a:rPr lang="en-US" altLang="zh-CN" sz="1200" dirty="0"/>
              <a:t>from PIL import Image		          # </a:t>
            </a:r>
            <a:r>
              <a:rPr lang="zh-CN" altLang="en-US" sz="1200" dirty="0"/>
              <a:t>导入</a:t>
            </a:r>
            <a:r>
              <a:rPr lang="en-US" altLang="zh-CN" sz="1200" dirty="0"/>
              <a:t>PIL</a:t>
            </a:r>
            <a:r>
              <a:rPr lang="zh-CN" altLang="en-US" sz="1200" dirty="0"/>
              <a:t>库的</a:t>
            </a:r>
            <a:r>
              <a:rPr lang="en-US" altLang="zh-CN" sz="1200" dirty="0"/>
              <a:t>Image</a:t>
            </a:r>
            <a:r>
              <a:rPr lang="zh-CN" altLang="en-US" sz="1200" dirty="0"/>
              <a:t>模块</a:t>
            </a:r>
          </a:p>
          <a:p>
            <a:pPr marL="600075" lvl="2" indent="0">
              <a:buNone/>
            </a:pPr>
            <a:r>
              <a:rPr lang="en-US" altLang="zh-CN" sz="1200" dirty="0" err="1"/>
              <a:t>im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Image.open</a:t>
            </a:r>
            <a:r>
              <a:rPr lang="en-US" altLang="zh-CN" sz="1200" dirty="0"/>
              <a:t>(</a:t>
            </a:r>
            <a:r>
              <a:rPr lang="en-US" altLang="zh-CN" sz="1200" dirty="0" err="1"/>
              <a:t>r"D</a:t>
            </a:r>
            <a:r>
              <a:rPr lang="en-US" altLang="zh-CN" sz="1200" dirty="0"/>
              <a:t>:\images\Tulips.jpg")     # </a:t>
            </a:r>
            <a:r>
              <a:rPr lang="zh-CN" altLang="en-US" sz="1200" dirty="0"/>
              <a:t>打开图像文件</a:t>
            </a:r>
          </a:p>
          <a:p>
            <a:pPr marL="600075" lvl="2" indent="0">
              <a:buNone/>
            </a:pPr>
            <a:r>
              <a:rPr lang="en-US" altLang="zh-CN" sz="1200" dirty="0"/>
              <a:t>print(</a:t>
            </a:r>
            <a:r>
              <a:rPr lang="en-US" altLang="zh-CN" sz="1200" dirty="0" err="1"/>
              <a:t>im.getpixel</a:t>
            </a:r>
            <a:r>
              <a:rPr lang="en-US" altLang="zh-CN" sz="1200" dirty="0"/>
              <a:t>( (100,80) ))                           # </a:t>
            </a:r>
            <a:r>
              <a:rPr lang="zh-CN" altLang="en-US" sz="1200" dirty="0"/>
              <a:t>返回指定位置的</a:t>
            </a:r>
            <a:r>
              <a:rPr lang="en-US" altLang="zh-CN" sz="1200" dirty="0"/>
              <a:t>RGB</a:t>
            </a:r>
            <a:r>
              <a:rPr lang="zh-CN" altLang="en-US" sz="1200" dirty="0"/>
              <a:t>值</a:t>
            </a:r>
            <a:r>
              <a:rPr lang="en-US" altLang="zh-CN" sz="1200" dirty="0"/>
              <a:t>(156, 204, 253)</a:t>
            </a:r>
            <a:r>
              <a:rPr lang="en-US" altLang="zh-CN" sz="1200" b="1" dirty="0">
                <a:solidFill>
                  <a:srgbClr val="00B050"/>
                </a:solidFill>
                <a:cs typeface="+mn-cs"/>
              </a:rPr>
              <a:t>  </a:t>
            </a:r>
          </a:p>
          <a:p>
            <a:pPr marL="0" lvl="1" indent="0">
              <a:buClr>
                <a:schemeClr val="hlink"/>
              </a:buClr>
              <a:buNone/>
            </a:pPr>
            <a:r>
              <a:rPr lang="en-US" altLang="zh-CN" sz="1800" b="1" dirty="0">
                <a:solidFill>
                  <a:srgbClr val="00B050"/>
                </a:solidFill>
                <a:cs typeface="+mn-cs"/>
              </a:rPr>
              <a:t>    </a:t>
            </a:r>
            <a:r>
              <a:rPr lang="zh-CN" altLang="zh-CN" sz="1800" b="1" dirty="0">
                <a:solidFill>
                  <a:srgbClr val="00B050"/>
                </a:solidFill>
                <a:cs typeface="+mn-cs"/>
              </a:rPr>
              <a:t>图像对象</a:t>
            </a:r>
            <a:r>
              <a:rPr lang="en-US" altLang="zh-CN" sz="1800" b="1" dirty="0">
                <a:solidFill>
                  <a:srgbClr val="00B050"/>
                </a:solidFill>
                <a:cs typeface="+mn-cs"/>
              </a:rPr>
              <a:t>. </a:t>
            </a:r>
            <a:r>
              <a:rPr lang="zh-CN" altLang="zh-CN" sz="1800" b="1" dirty="0">
                <a:solidFill>
                  <a:srgbClr val="00B050"/>
                </a:solidFill>
                <a:cs typeface="+mn-cs"/>
              </a:rPr>
              <a:t>putpixel(self, </a:t>
            </a:r>
            <a:r>
              <a:rPr lang="zh-CN" altLang="en-US" sz="1800" b="1" dirty="0">
                <a:solidFill>
                  <a:srgbClr val="C00000"/>
                </a:solidFill>
                <a:cs typeface="+mn-cs"/>
              </a:rPr>
              <a:t>（</a:t>
            </a:r>
            <a:r>
              <a:rPr lang="zh-CN" altLang="zh-CN" sz="1800" b="1" dirty="0">
                <a:solidFill>
                  <a:srgbClr val="C00000"/>
                </a:solidFill>
                <a:cs typeface="+mn-cs"/>
              </a:rPr>
              <a:t>x</a:t>
            </a:r>
            <a:r>
              <a:rPr lang="en-US" altLang="zh-CN" sz="1800" b="1" dirty="0">
                <a:solidFill>
                  <a:srgbClr val="C00000"/>
                </a:solidFill>
                <a:cs typeface="+mn-cs"/>
              </a:rPr>
              <a:t>,</a:t>
            </a:r>
            <a:r>
              <a:rPr lang="zh-CN" altLang="zh-CN" sz="1800" b="1" dirty="0">
                <a:solidFill>
                  <a:srgbClr val="C00000"/>
                </a:solidFill>
                <a:cs typeface="+mn-cs"/>
              </a:rPr>
              <a:t>y</a:t>
            </a:r>
            <a:r>
              <a:rPr lang="zh-CN" altLang="en-US" sz="1800" b="1" dirty="0">
                <a:solidFill>
                  <a:srgbClr val="C00000"/>
                </a:solidFill>
                <a:cs typeface="+mn-cs"/>
              </a:rPr>
              <a:t>）</a:t>
            </a:r>
            <a:r>
              <a:rPr lang="zh-CN" altLang="zh-CN" sz="1800" b="1" dirty="0">
                <a:solidFill>
                  <a:srgbClr val="00B050"/>
                </a:solidFill>
                <a:cs typeface="+mn-cs"/>
              </a:rPr>
              <a:t>, color) </a:t>
            </a:r>
            <a:r>
              <a:rPr lang="en-US" altLang="zh-CN" sz="1800" b="1" dirty="0">
                <a:solidFill>
                  <a:srgbClr val="00B050"/>
                </a:solidFill>
                <a:cs typeface="+mn-cs"/>
              </a:rPr>
              <a:t> #</a:t>
            </a:r>
            <a:r>
              <a:rPr lang="zh-CN" altLang="en-US" sz="1800" b="1" dirty="0">
                <a:solidFill>
                  <a:srgbClr val="00B050"/>
                </a:solidFill>
                <a:cs typeface="+mn-cs"/>
              </a:rPr>
              <a:t>修改指定像素点的颜色</a:t>
            </a:r>
            <a:endParaRPr lang="en-US" altLang="zh-CN" sz="1800" b="1" dirty="0">
              <a:solidFill>
                <a:srgbClr val="00B050"/>
              </a:solidFill>
              <a:cs typeface="+mn-cs"/>
            </a:endParaRPr>
          </a:p>
          <a:p>
            <a:pPr marL="600075" lvl="2" indent="0">
              <a:buNone/>
            </a:pPr>
            <a:r>
              <a:rPr lang="en-US" altLang="zh-CN" sz="1200" dirty="0"/>
              <a:t>from PIL import Image</a:t>
            </a:r>
          </a:p>
          <a:p>
            <a:pPr marL="600075" lvl="2" indent="0">
              <a:buNone/>
            </a:pPr>
            <a:r>
              <a:rPr lang="en-US" altLang="zh-CN" sz="1200" dirty="0" err="1"/>
              <a:t>im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Image.open</a:t>
            </a:r>
            <a:r>
              <a:rPr lang="en-US" altLang="zh-CN" sz="1200" dirty="0"/>
              <a:t>(</a:t>
            </a:r>
            <a:r>
              <a:rPr lang="en-US" altLang="zh-CN" sz="1200" dirty="0" err="1"/>
              <a:t>r'd</a:t>
            </a:r>
            <a:r>
              <a:rPr lang="en-US" altLang="zh-CN" sz="1200" dirty="0"/>
              <a:t>:\images\hm.jpg')  </a:t>
            </a:r>
          </a:p>
          <a:p>
            <a:pPr marL="600075" lvl="2" indent="0">
              <a:buNone/>
            </a:pPr>
            <a:r>
              <a:rPr lang="en-US" altLang="zh-CN" sz="1200" dirty="0"/>
              <a:t>width, height = </a:t>
            </a:r>
            <a:r>
              <a:rPr lang="en-US" altLang="zh-CN" sz="1200" dirty="0" err="1"/>
              <a:t>im.size</a:t>
            </a:r>
            <a:r>
              <a:rPr lang="en-US" altLang="zh-CN" sz="1200" dirty="0"/>
              <a:t>  </a:t>
            </a:r>
          </a:p>
          <a:p>
            <a:pPr marL="600075" lvl="2" indent="0">
              <a:buNone/>
            </a:pPr>
            <a:r>
              <a:rPr lang="en-US" altLang="zh-CN" sz="1200" dirty="0"/>
              <a:t>for x in range(width):</a:t>
            </a:r>
          </a:p>
          <a:p>
            <a:pPr marL="600075" lvl="2" indent="0">
              <a:buNone/>
            </a:pPr>
            <a:r>
              <a:rPr lang="en-US" altLang="zh-CN" sz="1200" dirty="0"/>
              <a:t>    for y in range(height):</a:t>
            </a:r>
          </a:p>
          <a:p>
            <a:pPr marL="600075" lvl="2" indent="0">
              <a:buNone/>
            </a:pPr>
            <a:r>
              <a:rPr lang="en-US" altLang="zh-CN" sz="1200" dirty="0"/>
              <a:t>        a=</a:t>
            </a:r>
            <a:r>
              <a:rPr lang="en-US" altLang="zh-CN" sz="1200" dirty="0" err="1"/>
              <a:t>im.getpixel</a:t>
            </a:r>
            <a:r>
              <a:rPr lang="en-US" altLang="zh-CN" sz="1200" dirty="0"/>
              <a:t>((</a:t>
            </a:r>
            <a:r>
              <a:rPr lang="en-US" altLang="zh-CN" sz="1200" dirty="0" err="1"/>
              <a:t>x,y</a:t>
            </a:r>
            <a:r>
              <a:rPr lang="en-US" altLang="zh-CN" sz="1200" dirty="0"/>
              <a:t>))     #</a:t>
            </a:r>
            <a:r>
              <a:rPr lang="zh-CN" altLang="en-US" sz="1200" dirty="0"/>
              <a:t>获取了每个像素点的</a:t>
            </a:r>
            <a:r>
              <a:rPr lang="en-US" altLang="zh-CN" sz="1200" dirty="0"/>
              <a:t>RGB</a:t>
            </a:r>
            <a:r>
              <a:rPr lang="zh-CN" altLang="en-US" sz="1200" dirty="0"/>
              <a:t>值（元组）</a:t>
            </a:r>
          </a:p>
          <a:p>
            <a:pPr marL="600075" lvl="2" indent="0">
              <a:buNone/>
            </a:pPr>
            <a:r>
              <a:rPr lang="zh-CN" altLang="en-US" sz="1200" dirty="0"/>
              <a:t>        </a:t>
            </a:r>
            <a:r>
              <a:rPr lang="en-US" altLang="zh-CN" sz="1200" dirty="0" err="1"/>
              <a:t>r,g,b</a:t>
            </a:r>
            <a:r>
              <a:rPr lang="en-US" altLang="zh-CN" sz="1200" dirty="0"/>
              <a:t>=a                        #</a:t>
            </a:r>
            <a:r>
              <a:rPr lang="zh-CN" altLang="en-US" sz="1200" dirty="0"/>
              <a:t>先解包获取各个颜色值</a:t>
            </a:r>
          </a:p>
          <a:p>
            <a:pPr marL="600075" lvl="2" indent="0">
              <a:buNone/>
            </a:pPr>
            <a:r>
              <a:rPr lang="zh-CN" altLang="en-US" sz="1200" dirty="0"/>
              <a:t>        </a:t>
            </a:r>
            <a:r>
              <a:rPr lang="en-US" altLang="zh-CN" sz="1200" dirty="0"/>
              <a:t>b=(r*10,g+b,b-50)      #</a:t>
            </a:r>
            <a:r>
              <a:rPr lang="zh-CN" altLang="en-US" sz="1200" dirty="0"/>
              <a:t>每个颜色处理后重新放到元组中</a:t>
            </a:r>
          </a:p>
          <a:p>
            <a:pPr marL="600075" lvl="2" indent="0">
              <a:buNone/>
            </a:pPr>
            <a:r>
              <a:rPr lang="zh-CN" altLang="en-US" sz="1200" dirty="0"/>
              <a:t>        </a:t>
            </a:r>
            <a:r>
              <a:rPr lang="en-US" altLang="zh-CN" sz="1200" dirty="0" err="1"/>
              <a:t>im.putpixel</a:t>
            </a:r>
            <a:r>
              <a:rPr lang="en-US" altLang="zh-CN" sz="1200" dirty="0"/>
              <a:t>( (x, y), b )  #</a:t>
            </a:r>
            <a:r>
              <a:rPr lang="zh-CN" altLang="en-US" sz="1200" dirty="0"/>
              <a:t>修改每个像素点的颜色值  </a:t>
            </a:r>
          </a:p>
          <a:p>
            <a:pPr marL="600075" lvl="2" indent="0">
              <a:buNone/>
            </a:pPr>
            <a:r>
              <a:rPr lang="en-US" altLang="zh-CN" sz="1200" dirty="0" err="1"/>
              <a:t>im.show</a:t>
            </a:r>
            <a:r>
              <a:rPr lang="en-US" altLang="zh-CN" sz="1200" dirty="0"/>
              <a:t>()</a:t>
            </a:r>
            <a:endParaRPr lang="zh-CN" altLang="zh-CN" sz="1200" dirty="0"/>
          </a:p>
          <a:p>
            <a:pPr marL="0" indent="0">
              <a:buNone/>
            </a:pPr>
            <a:endParaRPr lang="en-US" altLang="zh-CN" sz="1500" dirty="0"/>
          </a:p>
        </p:txBody>
      </p:sp>
    </p:spTree>
    <p:extLst>
      <p:ext uri="{BB962C8B-B14F-4D97-AF65-F5344CB8AC3E}">
        <p14:creationId xmlns:p14="http://schemas.microsoft.com/office/powerpoint/2010/main" val="3745614282"/>
      </p:ext>
    </p:extLst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1846629" y="1376773"/>
            <a:ext cx="8275638" cy="651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zh-CN" sz="2100" kern="0" dirty="0">
                <a:solidFill>
                  <a:srgbClr val="0070C0"/>
                </a:solidFill>
              </a:rPr>
              <a:t>（</a:t>
            </a:r>
            <a:r>
              <a:rPr lang="en-US" altLang="zh-CN" sz="2100" kern="0" dirty="0">
                <a:solidFill>
                  <a:srgbClr val="0070C0"/>
                </a:solidFill>
              </a:rPr>
              <a:t>6</a:t>
            </a:r>
            <a:r>
              <a:rPr lang="zh-CN" altLang="zh-CN" sz="2100" kern="0" dirty="0">
                <a:solidFill>
                  <a:srgbClr val="0070C0"/>
                </a:solidFill>
              </a:rPr>
              <a:t>）</a:t>
            </a:r>
            <a:r>
              <a:rPr lang="zh-CN" altLang="en-US" sz="2100" kern="0" dirty="0">
                <a:solidFill>
                  <a:srgbClr val="0070C0"/>
                </a:solidFill>
              </a:rPr>
              <a:t>更改</a:t>
            </a:r>
            <a:r>
              <a:rPr lang="zh-CN" altLang="zh-CN" sz="2100" kern="0" dirty="0">
                <a:solidFill>
                  <a:srgbClr val="0070C0"/>
                </a:solidFill>
              </a:rPr>
              <a:t>像素</a:t>
            </a:r>
            <a:r>
              <a:rPr lang="zh-CN" altLang="en-US" sz="2100" kern="0" dirty="0">
                <a:solidFill>
                  <a:srgbClr val="0070C0"/>
                </a:solidFill>
              </a:rPr>
              <a:t>点的值</a:t>
            </a:r>
            <a:endParaRPr lang="zh-CN" altLang="zh-CN" sz="2100" kern="0" dirty="0">
              <a:solidFill>
                <a:srgbClr val="0070C0"/>
              </a:solidFill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2049507" y="2186863"/>
            <a:ext cx="8420980" cy="214987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u"/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zh-CN" sz="1800" kern="0" dirty="0"/>
              <a:t>     </a:t>
            </a:r>
            <a:r>
              <a:rPr lang="zh-CN" altLang="zh-CN" sz="1800" b="0" kern="0" dirty="0">
                <a:solidFill>
                  <a:schemeClr val="tx1"/>
                </a:solidFill>
              </a:rPr>
              <a:t>图像对象</a:t>
            </a:r>
            <a:r>
              <a:rPr lang="en-US" altLang="zh-CN" sz="1800" b="0" kern="0" dirty="0">
                <a:solidFill>
                  <a:schemeClr val="tx1"/>
                </a:solidFill>
              </a:rPr>
              <a:t>.point(</a:t>
            </a:r>
            <a:r>
              <a:rPr lang="en-US" altLang="zh-CN" sz="1800" b="0" kern="0" dirty="0" err="1">
                <a:solidFill>
                  <a:schemeClr val="tx1"/>
                </a:solidFill>
              </a:rPr>
              <a:t>lut,mode</a:t>
            </a:r>
            <a:r>
              <a:rPr lang="en-US" altLang="zh-CN" sz="1800" b="0" kern="0" dirty="0">
                <a:solidFill>
                  <a:schemeClr val="tx1"/>
                </a:solidFill>
              </a:rPr>
              <a:t>=None)  </a:t>
            </a:r>
          </a:p>
          <a:p>
            <a:pPr marL="0" indent="0">
              <a:buNone/>
            </a:pPr>
            <a:r>
              <a:rPr lang="en-US" altLang="zh-CN" sz="1800" b="0" kern="0" dirty="0">
                <a:solidFill>
                  <a:schemeClr val="tx1"/>
                </a:solidFill>
              </a:rPr>
              <a:t>      #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500" b="0" dirty="0">
                <a:solidFill>
                  <a:schemeClr val="tx1"/>
                </a:solidFill>
              </a:rPr>
              <a:t>对图像的每个像素点进行改变，</a:t>
            </a:r>
            <a:r>
              <a:rPr lang="en-US" altLang="zh-CN" sz="1500" b="0" dirty="0" err="1">
                <a:solidFill>
                  <a:schemeClr val="tx1"/>
                </a:solidFill>
              </a:rPr>
              <a:t>lut</a:t>
            </a:r>
            <a:r>
              <a:rPr lang="zh-CN" altLang="en-US" sz="1500" b="0" dirty="0">
                <a:solidFill>
                  <a:schemeClr val="tx1"/>
                </a:solidFill>
              </a:rPr>
              <a:t>：</a:t>
            </a:r>
            <a:r>
              <a:rPr lang="en-US" altLang="zh-CN" sz="1500" b="0" dirty="0">
                <a:solidFill>
                  <a:schemeClr val="tx1"/>
                </a:solidFill>
              </a:rPr>
              <a:t>look up table </a:t>
            </a:r>
            <a:r>
              <a:rPr lang="zh-CN" altLang="en-US" sz="1500" b="0" dirty="0">
                <a:solidFill>
                  <a:schemeClr val="tx1"/>
                </a:solidFill>
              </a:rPr>
              <a:t>查找表</a:t>
            </a:r>
            <a:endParaRPr lang="en-US" altLang="zh-CN" sz="1500" b="0" kern="0" dirty="0">
              <a:solidFill>
                <a:schemeClr val="tx1"/>
              </a:solidFill>
            </a:endParaRPr>
          </a:p>
          <a:p>
            <a:pPr marL="300038" lvl="1" indent="0">
              <a:buNone/>
            </a:pPr>
            <a:r>
              <a:rPr lang="en-US" altLang="zh-CN" sz="1350" kern="0" dirty="0"/>
              <a:t>from PIL import Image		                   # </a:t>
            </a:r>
            <a:r>
              <a:rPr lang="zh-CN" altLang="en-US" sz="1350" kern="0" dirty="0"/>
              <a:t>导入</a:t>
            </a:r>
            <a:r>
              <a:rPr lang="en-US" altLang="zh-CN" sz="1350" kern="0" dirty="0"/>
              <a:t>PIL</a:t>
            </a:r>
            <a:r>
              <a:rPr lang="zh-CN" altLang="en-US" sz="1350" kern="0" dirty="0"/>
              <a:t>库的</a:t>
            </a:r>
            <a:r>
              <a:rPr lang="en-US" altLang="zh-CN" sz="1350" kern="0" dirty="0"/>
              <a:t>Image</a:t>
            </a:r>
            <a:r>
              <a:rPr lang="zh-CN" altLang="en-US" sz="1350" kern="0" dirty="0"/>
              <a:t>模块</a:t>
            </a:r>
          </a:p>
          <a:p>
            <a:pPr marL="300038" lvl="1" indent="0">
              <a:buNone/>
            </a:pPr>
            <a:r>
              <a:rPr lang="en-US" altLang="zh-CN" sz="1350" kern="0" dirty="0" err="1"/>
              <a:t>im</a:t>
            </a:r>
            <a:r>
              <a:rPr lang="en-US" altLang="zh-CN" sz="1350" kern="0" dirty="0"/>
              <a:t> = </a:t>
            </a:r>
            <a:r>
              <a:rPr lang="en-US" altLang="zh-CN" sz="1350" kern="0" dirty="0" err="1"/>
              <a:t>Image.open</a:t>
            </a:r>
            <a:r>
              <a:rPr lang="en-US" altLang="zh-CN" sz="1350" kern="0" dirty="0"/>
              <a:t>(</a:t>
            </a:r>
            <a:r>
              <a:rPr lang="en-US" altLang="zh-CN" sz="1350" kern="0" dirty="0" err="1"/>
              <a:t>r"D</a:t>
            </a:r>
            <a:r>
              <a:rPr lang="en-US" altLang="zh-CN" sz="1350" kern="0" dirty="0"/>
              <a:t>:\images\Tulips.jpg")             # </a:t>
            </a:r>
            <a:r>
              <a:rPr lang="zh-CN" altLang="en-US" sz="1350" kern="0" dirty="0"/>
              <a:t>打开图像文件</a:t>
            </a:r>
            <a:endParaRPr lang="en-US" altLang="zh-CN" sz="1350" kern="0" dirty="0"/>
          </a:p>
          <a:p>
            <a:pPr marL="300038" lvl="1" indent="0">
              <a:buNone/>
            </a:pPr>
            <a:r>
              <a:rPr lang="en-US" altLang="zh-CN" sz="1350" kern="0" dirty="0"/>
              <a:t>im1=</a:t>
            </a:r>
            <a:r>
              <a:rPr lang="en-US" altLang="zh-CN" sz="1350" kern="0" dirty="0" err="1"/>
              <a:t>im.point</a:t>
            </a:r>
            <a:r>
              <a:rPr lang="en-US" altLang="zh-CN" sz="1350" kern="0" dirty="0"/>
              <a:t>(lambda x: 255 if x &gt; 127 else 0)       #lambda</a:t>
            </a:r>
            <a:r>
              <a:rPr lang="zh-CN" altLang="en-US" sz="1350" kern="0" dirty="0"/>
              <a:t>的作用：使图像三个通道的值都改</a:t>
            </a:r>
            <a:endParaRPr lang="en-US" altLang="zh-CN" sz="1350" kern="0" dirty="0"/>
          </a:p>
          <a:p>
            <a:pPr marL="300038" lvl="1" indent="0">
              <a:buNone/>
            </a:pPr>
            <a:r>
              <a:rPr lang="en-US" altLang="zh-CN" sz="1350" kern="0" dirty="0"/>
              <a:t>im1.show()</a:t>
            </a:r>
            <a:endParaRPr lang="en-US" altLang="zh-CN" sz="1500" kern="0" dirty="0"/>
          </a:p>
        </p:txBody>
      </p:sp>
    </p:spTree>
    <p:extLst>
      <p:ext uri="{BB962C8B-B14F-4D97-AF65-F5344CB8AC3E}">
        <p14:creationId xmlns:p14="http://schemas.microsoft.com/office/powerpoint/2010/main" val="1447128005"/>
      </p:ext>
    </p:extLst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48102" y="1664830"/>
            <a:ext cx="5036030" cy="47486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zh-CN" altLang="en-US" sz="2100" dirty="0"/>
              <a:t>图像模式转换，去除背景灰度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2245784" y="2294874"/>
            <a:ext cx="7884876" cy="324377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algn="just" eaLnBrk="1" hangingPunct="1">
              <a:buNone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from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PIL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import Image</a:t>
            </a:r>
          </a:p>
          <a:p>
            <a:pPr marL="0" indent="0" algn="just" eaLnBrk="1" hangingPunct="1">
              <a:buNone/>
              <a:defRPr/>
            </a:pP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Image.open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r"d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:\images\digit.jpg")</a:t>
            </a:r>
          </a:p>
          <a:p>
            <a:pPr marL="0" indent="0" algn="just" eaLnBrk="1" hangingPunct="1">
              <a:buNone/>
              <a:defRPr/>
            </a:pP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im.show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marL="0" indent="0" algn="just" eaLnBrk="1" hangingPunct="1">
              <a:buNone/>
              <a:defRPr/>
            </a:pP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im.convert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("L")                                              # </a:t>
            </a:r>
            <a:r>
              <a:rPr lang="zh-CN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转换为灰度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buNone/>
              <a:defRPr/>
            </a:pP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im.point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(lambda x: 255 if x &gt; 196 else 0)     #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像素点处理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indent="0" algn="just" eaLnBrk="1" hangingPunct="1">
              <a:buNone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zh-CN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代表数字的图像的像素值是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	</a:t>
            </a:r>
          </a:p>
          <a:p>
            <a:pPr marL="0" indent="0" algn="just" eaLnBrk="1" hangingPunct="1">
              <a:buNone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im1 =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im.convert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("1")               #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位表示颜色，只有黑和白，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取值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</a:p>
          <a:p>
            <a:pPr marL="0" indent="0" algn="just" eaLnBrk="1" hangingPunct="1">
              <a:buNone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im1.save("sample_1.bmp")       #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转存为位图</a:t>
            </a:r>
            <a:endParaRPr lang="zh-CN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buNone/>
              <a:defRPr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im1.show()</a:t>
            </a:r>
          </a:p>
        </p:txBody>
      </p:sp>
      <p:pic>
        <p:nvPicPr>
          <p:cNvPr id="7" name="图片 6" descr="E:\pyteach\sample_1.bmp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198" y="1397310"/>
            <a:ext cx="2252462" cy="1005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439664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40235" y="620688"/>
            <a:ext cx="7938882" cy="651272"/>
          </a:xfrm>
        </p:spPr>
        <p:txBody>
          <a:bodyPr/>
          <a:lstStyle/>
          <a:p>
            <a:r>
              <a:rPr lang="en-US" altLang="zh-CN" sz="2100" dirty="0"/>
              <a:t>2. </a:t>
            </a:r>
            <a:r>
              <a:rPr lang="zh-CN" altLang="en-US" sz="2100" dirty="0"/>
              <a:t>图像的变换</a:t>
            </a:r>
            <a:endParaRPr lang="zh-CN" altLang="zh-CN" sz="21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0235" y="1412776"/>
            <a:ext cx="7938882" cy="345638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sz="1500" dirty="0">
                <a:solidFill>
                  <a:srgbClr val="C00000"/>
                </a:solidFill>
              </a:rPr>
              <a:t>transpose(method)                                            </a:t>
            </a:r>
            <a:r>
              <a:rPr lang="en-US" altLang="zh-CN" sz="1500" dirty="0"/>
              <a:t>#</a:t>
            </a:r>
            <a:r>
              <a:rPr lang="zh-CN" altLang="en-US" sz="1500" dirty="0"/>
              <a:t>图像翻转或者旋转</a:t>
            </a:r>
            <a:endParaRPr lang="en-US" altLang="zh-CN" sz="1500" dirty="0"/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</a:rPr>
              <a:t>im_new</a:t>
            </a:r>
            <a:r>
              <a:rPr lang="en-US" altLang="zh-CN" sz="1500" dirty="0">
                <a:solidFill>
                  <a:schemeClr val="tx1"/>
                </a:solidFill>
              </a:rPr>
              <a:t> = </a:t>
            </a:r>
            <a:r>
              <a:rPr lang="en-US" altLang="zh-CN" sz="1500" dirty="0" err="1">
                <a:solidFill>
                  <a:schemeClr val="tx1"/>
                </a:solidFill>
              </a:rPr>
              <a:t>im.transpose</a:t>
            </a:r>
            <a:r>
              <a:rPr lang="en-US" altLang="zh-CN" sz="1500" dirty="0">
                <a:solidFill>
                  <a:schemeClr val="tx1"/>
                </a:solidFill>
              </a:rPr>
              <a:t>(Image.ROTATE_180)      #</a:t>
            </a:r>
            <a:r>
              <a:rPr lang="zh-CN" altLang="en-US" sz="1500" dirty="0">
                <a:solidFill>
                  <a:schemeClr val="tx1"/>
                </a:solidFill>
              </a:rPr>
              <a:t>画布旋转</a:t>
            </a:r>
            <a:endParaRPr lang="en-US" altLang="zh-CN" sz="1500" dirty="0">
              <a:solidFill>
                <a:schemeClr val="tx1"/>
              </a:solidFill>
            </a:endParaRP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</a:rPr>
              <a:t>im_new.show</a:t>
            </a:r>
            <a:r>
              <a:rPr lang="en-US" altLang="zh-CN" sz="1500" dirty="0">
                <a:solidFill>
                  <a:schemeClr val="tx1"/>
                </a:solidFill>
              </a:rPr>
              <a:t>()</a:t>
            </a:r>
          </a:p>
          <a:p>
            <a:pPr marL="0" indent="0">
              <a:buNone/>
            </a:pPr>
            <a:r>
              <a:rPr lang="en-US" altLang="zh-CN" sz="1500" dirty="0"/>
              <a:t>     method</a:t>
            </a:r>
            <a:r>
              <a:rPr lang="zh-CN" altLang="en-US" sz="1500" dirty="0"/>
              <a:t>是</a:t>
            </a:r>
            <a:r>
              <a:rPr lang="en-US" altLang="zh-CN" sz="1500" dirty="0"/>
              <a:t>transpose</a:t>
            </a:r>
            <a:r>
              <a:rPr lang="zh-CN" altLang="en-US" sz="1500" dirty="0"/>
              <a:t>的参数，表示选择什么样的翻转或者旋转方式，可以选择的值有</a:t>
            </a:r>
            <a:r>
              <a:rPr lang="en-US" altLang="zh-CN" sz="15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/>
              <a:t>  </a:t>
            </a:r>
            <a:r>
              <a:rPr lang="en-US" altLang="zh-CN" sz="1500" dirty="0" err="1"/>
              <a:t>Image.</a:t>
            </a:r>
            <a:r>
              <a:rPr lang="en-US" altLang="zh-CN" sz="1500" dirty="0" err="1">
                <a:solidFill>
                  <a:srgbClr val="00B050"/>
                </a:solidFill>
              </a:rPr>
              <a:t>FLIP_LEFT_RIGHT</a:t>
            </a:r>
            <a:r>
              <a:rPr lang="zh-CN" altLang="en-US" sz="1500" dirty="0"/>
              <a:t>      表示将图像左右翻转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/>
              <a:t>  </a:t>
            </a:r>
            <a:r>
              <a:rPr lang="en-US" altLang="zh-CN" sz="1500" dirty="0" err="1"/>
              <a:t>Image.</a:t>
            </a:r>
            <a:r>
              <a:rPr lang="en-US" altLang="zh-CN" sz="1500" dirty="0" err="1">
                <a:solidFill>
                  <a:srgbClr val="00B050"/>
                </a:solidFill>
              </a:rPr>
              <a:t>FLIP_TOP_BOTTOM</a:t>
            </a:r>
            <a:r>
              <a:rPr lang="zh-CN" altLang="en-US" sz="1500" dirty="0"/>
              <a:t>  表示将图像上下翻转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/>
              <a:t>  Image.</a:t>
            </a:r>
            <a:r>
              <a:rPr lang="en-US" altLang="zh-CN" sz="1500" dirty="0">
                <a:solidFill>
                  <a:srgbClr val="00B050"/>
                </a:solidFill>
              </a:rPr>
              <a:t>ROTATE_90</a:t>
            </a:r>
            <a:r>
              <a:rPr lang="zh-CN" altLang="en-US" sz="1500" dirty="0"/>
              <a:t>               表示将图像逆时针旋转</a:t>
            </a:r>
            <a:r>
              <a:rPr lang="en-US" altLang="zh-CN" sz="1500" dirty="0"/>
              <a:t>90°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/>
              <a:t>  Image.</a:t>
            </a:r>
            <a:r>
              <a:rPr lang="en-US" altLang="zh-CN" sz="1500" dirty="0">
                <a:solidFill>
                  <a:srgbClr val="00B050"/>
                </a:solidFill>
              </a:rPr>
              <a:t>ROTATE_180</a:t>
            </a:r>
            <a:r>
              <a:rPr lang="zh-CN" altLang="en-US" sz="1500" dirty="0"/>
              <a:t>             表示将图像逆时针旋转</a:t>
            </a:r>
            <a:r>
              <a:rPr lang="en-US" altLang="zh-CN" sz="1500" dirty="0"/>
              <a:t>180°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/>
              <a:t>  Image.</a:t>
            </a:r>
            <a:r>
              <a:rPr lang="en-US" altLang="zh-CN" sz="1500" dirty="0">
                <a:solidFill>
                  <a:srgbClr val="00B050"/>
                </a:solidFill>
              </a:rPr>
              <a:t>ROTATE_270</a:t>
            </a:r>
            <a:r>
              <a:rPr lang="zh-CN" altLang="en-US" sz="1500" dirty="0"/>
              <a:t>             表示将图像逆时针旋转</a:t>
            </a:r>
            <a:r>
              <a:rPr lang="en-US" altLang="zh-CN" sz="1500" dirty="0"/>
              <a:t>270°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/>
              <a:t>  </a:t>
            </a:r>
            <a:r>
              <a:rPr lang="en-US" altLang="zh-CN" sz="1500" dirty="0" err="1"/>
              <a:t>Image.</a:t>
            </a:r>
            <a:r>
              <a:rPr lang="en-US" altLang="zh-CN" sz="1500" dirty="0" err="1">
                <a:solidFill>
                  <a:srgbClr val="00B050"/>
                </a:solidFill>
              </a:rPr>
              <a:t>TRANSPOSE</a:t>
            </a:r>
            <a:r>
              <a:rPr lang="zh-CN" altLang="en-US" sz="1500" dirty="0"/>
              <a:t>              表示将图像进行转置</a:t>
            </a:r>
            <a:r>
              <a:rPr lang="en-US" altLang="zh-CN" sz="1500" dirty="0"/>
              <a:t>(</a:t>
            </a:r>
            <a:r>
              <a:rPr lang="zh-CN" altLang="en-US" sz="1500" dirty="0"/>
              <a:t>相当于顺时针旋转</a:t>
            </a:r>
            <a:r>
              <a:rPr lang="en-US" altLang="zh-CN" sz="1500" dirty="0"/>
              <a:t>90°)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500" dirty="0"/>
              <a:t>  </a:t>
            </a:r>
            <a:r>
              <a:rPr lang="en-US" altLang="zh-CN" sz="1500" dirty="0" err="1"/>
              <a:t>Image.</a:t>
            </a:r>
            <a:r>
              <a:rPr lang="en-US" altLang="zh-CN" sz="1500" dirty="0" err="1">
                <a:solidFill>
                  <a:srgbClr val="00B050"/>
                </a:solidFill>
              </a:rPr>
              <a:t>TRANSVERSE</a:t>
            </a:r>
            <a:r>
              <a:rPr lang="zh-CN" altLang="en-US" sz="1500" dirty="0"/>
              <a:t>            表示将图像进行转置，再水平翻转</a:t>
            </a:r>
          </a:p>
        </p:txBody>
      </p:sp>
    </p:spTree>
    <p:extLst>
      <p:ext uri="{BB962C8B-B14F-4D97-AF65-F5344CB8AC3E}">
        <p14:creationId xmlns:p14="http://schemas.microsoft.com/office/powerpoint/2010/main" val="3276442195"/>
      </p:ext>
    </p:extLst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79109" y="620688"/>
            <a:ext cx="8275638" cy="651272"/>
          </a:xfrm>
        </p:spPr>
        <p:txBody>
          <a:bodyPr/>
          <a:lstStyle/>
          <a:p>
            <a:r>
              <a:rPr lang="en-US" altLang="zh-CN" sz="2100" dirty="0"/>
              <a:t>3. </a:t>
            </a:r>
            <a:r>
              <a:rPr lang="zh-CN" altLang="zh-CN" sz="2100" dirty="0"/>
              <a:t>色彩通道的分离和合并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5418" y="1271960"/>
            <a:ext cx="8043020" cy="467732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图像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每个像素都是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三个分量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分离：把所有像素的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分量分开，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生成三个列表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合并：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分离的逆操作，通过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个颜色通道合并成新图像</a:t>
            </a:r>
          </a:p>
          <a:p>
            <a:r>
              <a:rPr lang="en-US" altLang="zh-CN" sz="1500" dirty="0">
                <a:solidFill>
                  <a:srgbClr val="C00000"/>
                </a:solidFill>
              </a:rPr>
              <a:t>split()      </a:t>
            </a:r>
            <a:r>
              <a:rPr lang="zh-CN" altLang="en-US" sz="1500" dirty="0">
                <a:solidFill>
                  <a:srgbClr val="00B050"/>
                </a:solidFill>
              </a:rPr>
              <a:t>颜色通道分离</a:t>
            </a:r>
            <a:endParaRPr lang="en-US" altLang="zh-CN" sz="1500" dirty="0">
              <a:solidFill>
                <a:srgbClr val="00B050"/>
              </a:solidFill>
            </a:endParaRP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</a:rPr>
              <a:t>r,g,b</a:t>
            </a:r>
            <a:r>
              <a:rPr lang="en-US" altLang="zh-CN" sz="1500" dirty="0">
                <a:solidFill>
                  <a:schemeClr val="tx1"/>
                </a:solidFill>
              </a:rPr>
              <a:t> = </a:t>
            </a:r>
            <a:r>
              <a:rPr lang="en-US" altLang="zh-CN" sz="1500" dirty="0" err="1">
                <a:solidFill>
                  <a:schemeClr val="tx1"/>
                </a:solidFill>
              </a:rPr>
              <a:t>im.split</a:t>
            </a:r>
            <a:r>
              <a:rPr lang="en-US" altLang="zh-CN" sz="1500" dirty="0">
                <a:solidFill>
                  <a:schemeClr val="tx1"/>
                </a:solidFill>
              </a:rPr>
              <a:t>()</a:t>
            </a: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</a:rPr>
              <a:t>r.show</a:t>
            </a:r>
            <a:r>
              <a:rPr lang="en-US" altLang="zh-CN" sz="1500" dirty="0">
                <a:solidFill>
                  <a:schemeClr val="tx1"/>
                </a:solidFill>
              </a:rPr>
              <a:t>();  </a:t>
            </a:r>
            <a:r>
              <a:rPr lang="en-US" altLang="zh-CN" sz="1500" dirty="0" err="1">
                <a:solidFill>
                  <a:schemeClr val="tx1"/>
                </a:solidFill>
              </a:rPr>
              <a:t>g.show</a:t>
            </a:r>
            <a:r>
              <a:rPr lang="en-US" altLang="zh-CN" sz="1500" dirty="0">
                <a:solidFill>
                  <a:schemeClr val="tx1"/>
                </a:solidFill>
              </a:rPr>
              <a:t>();  </a:t>
            </a:r>
            <a:r>
              <a:rPr lang="en-US" altLang="zh-CN" sz="1500" dirty="0" err="1">
                <a:solidFill>
                  <a:schemeClr val="tx1"/>
                </a:solidFill>
              </a:rPr>
              <a:t>b.show</a:t>
            </a:r>
            <a:r>
              <a:rPr lang="en-US" altLang="zh-CN" sz="1500" dirty="0">
                <a:solidFill>
                  <a:schemeClr val="tx1"/>
                </a:solidFill>
              </a:rPr>
              <a:t>()</a:t>
            </a:r>
          </a:p>
          <a:p>
            <a:pPr marL="300038" lvl="1" indent="0">
              <a:buNone/>
            </a:pPr>
            <a:r>
              <a:rPr lang="en-US" altLang="zh-CN" sz="1500" dirty="0">
                <a:solidFill>
                  <a:schemeClr val="tx1"/>
                </a:solidFill>
              </a:rPr>
              <a:t>split()</a:t>
            </a:r>
            <a:r>
              <a:rPr lang="zh-CN" altLang="en-US" sz="1500" dirty="0">
                <a:solidFill>
                  <a:schemeClr val="tx1"/>
                </a:solidFill>
              </a:rPr>
              <a:t>方法可以使原来图像的各个通道分离</a:t>
            </a:r>
            <a:r>
              <a:rPr lang="en-US" altLang="zh-CN" sz="1500" dirty="0">
                <a:solidFill>
                  <a:schemeClr val="tx1"/>
                </a:solidFill>
              </a:rPr>
              <a:t>,</a:t>
            </a:r>
            <a:r>
              <a:rPr lang="zh-CN" altLang="en-US" sz="1500" dirty="0">
                <a:solidFill>
                  <a:schemeClr val="tx1"/>
                </a:solidFill>
              </a:rPr>
              <a:t> 对</a:t>
            </a:r>
            <a:r>
              <a:rPr lang="en-US" altLang="zh-CN" sz="1500" dirty="0">
                <a:solidFill>
                  <a:schemeClr val="tx1"/>
                </a:solidFill>
              </a:rPr>
              <a:t>RGB</a:t>
            </a:r>
            <a:r>
              <a:rPr lang="zh-CN" altLang="en-US" sz="1500" dirty="0">
                <a:solidFill>
                  <a:schemeClr val="tx1"/>
                </a:solidFill>
              </a:rPr>
              <a:t>图像，可分离成</a:t>
            </a:r>
            <a:r>
              <a:rPr lang="en-US" altLang="zh-CN" sz="1500" dirty="0">
                <a:solidFill>
                  <a:schemeClr val="tx1"/>
                </a:solidFill>
              </a:rPr>
              <a:t>3</a:t>
            </a:r>
            <a:r>
              <a:rPr lang="zh-CN" altLang="en-US" sz="1500" dirty="0">
                <a:solidFill>
                  <a:schemeClr val="tx1"/>
                </a:solidFill>
              </a:rPr>
              <a:t>个通道</a:t>
            </a:r>
            <a:endParaRPr lang="en-US" altLang="zh-CN" sz="1500" dirty="0">
              <a:solidFill>
                <a:schemeClr val="tx1"/>
              </a:solidFill>
            </a:endParaRPr>
          </a:p>
          <a:p>
            <a:endParaRPr lang="en-US" altLang="zh-CN" sz="1500" dirty="0"/>
          </a:p>
          <a:p>
            <a:r>
              <a:rPr lang="en-US" altLang="zh-CN" sz="1500" dirty="0">
                <a:solidFill>
                  <a:srgbClr val="C00000"/>
                </a:solidFill>
              </a:rPr>
              <a:t>merge(</a:t>
            </a:r>
            <a:r>
              <a:rPr lang="en-US" altLang="zh-CN" sz="1500" dirty="0" err="1">
                <a:solidFill>
                  <a:srgbClr val="C00000"/>
                </a:solidFill>
              </a:rPr>
              <a:t>mode,channels</a:t>
            </a:r>
            <a:r>
              <a:rPr lang="en-US" altLang="zh-CN" sz="1500" dirty="0">
                <a:solidFill>
                  <a:srgbClr val="C00000"/>
                </a:solidFill>
              </a:rPr>
              <a:t>)      </a:t>
            </a:r>
            <a:r>
              <a:rPr lang="zh-CN" altLang="en-US" sz="1500" dirty="0">
                <a:solidFill>
                  <a:srgbClr val="00B050"/>
                </a:solidFill>
              </a:rPr>
              <a:t>颜色通道合并</a:t>
            </a:r>
            <a:endParaRPr lang="en-US" altLang="zh-CN" sz="1500" dirty="0">
              <a:solidFill>
                <a:srgbClr val="00B050"/>
              </a:solidFill>
            </a:endParaRPr>
          </a:p>
          <a:p>
            <a:pPr marL="300038" lvl="1" indent="0">
              <a:buNone/>
            </a:pPr>
            <a:r>
              <a:rPr lang="en-US" altLang="zh-CN" sz="1500" dirty="0" err="1"/>
              <a:t>im_merge</a:t>
            </a:r>
            <a:r>
              <a:rPr lang="en-US" altLang="zh-CN" sz="1500" dirty="0"/>
              <a:t> = </a:t>
            </a:r>
            <a:r>
              <a:rPr lang="en-US" altLang="zh-CN" sz="1500" dirty="0" err="1"/>
              <a:t>Image.merge</a:t>
            </a:r>
            <a:r>
              <a:rPr lang="en-US" altLang="zh-CN" sz="1500" dirty="0"/>
              <a:t>("RGB",[</a:t>
            </a:r>
            <a:r>
              <a:rPr lang="en-US" altLang="zh-CN" sz="1500" dirty="0" err="1"/>
              <a:t>b,r,g</a:t>
            </a:r>
            <a:r>
              <a:rPr lang="en-US" altLang="zh-CN" sz="1500" dirty="0"/>
              <a:t>])</a:t>
            </a:r>
          </a:p>
          <a:p>
            <a:pPr marL="300038" lvl="1" indent="0">
              <a:buNone/>
            </a:pPr>
            <a:r>
              <a:rPr lang="en-US" altLang="zh-CN" sz="1500" dirty="0" err="1"/>
              <a:t>im_merge.show</a:t>
            </a:r>
            <a:r>
              <a:rPr lang="en-US" altLang="zh-CN" sz="1500" dirty="0"/>
              <a:t>()</a:t>
            </a:r>
          </a:p>
          <a:p>
            <a:pPr marL="300038" lvl="1" indent="0">
              <a:buNone/>
            </a:pPr>
            <a:r>
              <a:rPr lang="en-US" altLang="zh-CN" sz="1500" dirty="0">
                <a:solidFill>
                  <a:schemeClr val="tx1"/>
                </a:solidFill>
              </a:rPr>
              <a:t>merge</a:t>
            </a:r>
            <a:r>
              <a:rPr lang="zh-CN" altLang="en-US" sz="1500" dirty="0">
                <a:solidFill>
                  <a:schemeClr val="tx1"/>
                </a:solidFill>
              </a:rPr>
              <a:t>方法和</a:t>
            </a:r>
            <a:r>
              <a:rPr lang="en-US" altLang="zh-CN" sz="1500" dirty="0">
                <a:solidFill>
                  <a:schemeClr val="tx1"/>
                </a:solidFill>
              </a:rPr>
              <a:t>split</a:t>
            </a:r>
            <a:r>
              <a:rPr lang="zh-CN" altLang="en-US" sz="1500" dirty="0">
                <a:solidFill>
                  <a:schemeClr val="tx1"/>
                </a:solidFill>
              </a:rPr>
              <a:t>方法相对的，将多个单一通道的序列合并起来，组成一个多通道的图像</a:t>
            </a:r>
            <a:endParaRPr lang="en-US" altLang="zh-CN" sz="1500" dirty="0">
              <a:solidFill>
                <a:schemeClr val="tx1"/>
              </a:solidFill>
            </a:endParaRPr>
          </a:p>
          <a:p>
            <a:pPr marL="300038" lvl="1" indent="0">
              <a:buNone/>
            </a:pPr>
            <a:r>
              <a:rPr lang="en-US" altLang="zh-CN" sz="1500" dirty="0">
                <a:solidFill>
                  <a:schemeClr val="tx1"/>
                </a:solidFill>
              </a:rPr>
              <a:t>mode</a:t>
            </a:r>
            <a:r>
              <a:rPr lang="zh-CN" altLang="en-US" sz="1500" dirty="0">
                <a:solidFill>
                  <a:schemeClr val="tx1"/>
                </a:solidFill>
              </a:rPr>
              <a:t>是合并之后图像的模式，比如</a:t>
            </a:r>
            <a:r>
              <a:rPr lang="en-US" altLang="zh-CN" sz="1500" dirty="0">
                <a:solidFill>
                  <a:schemeClr val="tx1"/>
                </a:solidFill>
              </a:rPr>
              <a:t>"RGB"</a:t>
            </a:r>
          </a:p>
          <a:p>
            <a:pPr marL="300038" lvl="1" indent="0">
              <a:buNone/>
            </a:pPr>
            <a:r>
              <a:rPr lang="en-US" altLang="zh-CN" sz="1500" dirty="0">
                <a:solidFill>
                  <a:schemeClr val="tx1"/>
                </a:solidFill>
              </a:rPr>
              <a:t>channels</a:t>
            </a:r>
            <a:r>
              <a:rPr lang="zh-CN" altLang="en-US" sz="1500" dirty="0">
                <a:solidFill>
                  <a:schemeClr val="tx1"/>
                </a:solidFill>
              </a:rPr>
              <a:t>是多个单一通道组成的序列。</a:t>
            </a:r>
          </a:p>
        </p:txBody>
      </p:sp>
    </p:spTree>
    <p:extLst>
      <p:ext uri="{BB962C8B-B14F-4D97-AF65-F5344CB8AC3E}">
        <p14:creationId xmlns:p14="http://schemas.microsoft.com/office/powerpoint/2010/main" val="4124590518"/>
      </p:ext>
    </p:extLst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544" y="620688"/>
            <a:ext cx="8275638" cy="435248"/>
          </a:xfrm>
        </p:spPr>
        <p:txBody>
          <a:bodyPr/>
          <a:lstStyle/>
          <a:p>
            <a:r>
              <a:rPr lang="zh-CN" altLang="en-US" sz="2400" dirty="0"/>
              <a:t>改变图像大小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5560" y="1268760"/>
            <a:ext cx="7776864" cy="410445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resize(</a:t>
            </a:r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size,resample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 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改变图像大小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</a:rPr>
              <a:t>im_resize</a:t>
            </a:r>
            <a:r>
              <a:rPr lang="en-US" altLang="zh-CN" sz="1500" dirty="0">
                <a:solidFill>
                  <a:schemeClr val="tx1"/>
                </a:solidFill>
              </a:rPr>
              <a:t> = </a:t>
            </a:r>
            <a:r>
              <a:rPr lang="en-US" altLang="zh-CN" sz="1500" dirty="0" err="1">
                <a:solidFill>
                  <a:schemeClr val="tx1"/>
                </a:solidFill>
              </a:rPr>
              <a:t>im.resize</a:t>
            </a:r>
            <a:r>
              <a:rPr lang="en-US" altLang="zh-CN" sz="1500" dirty="0">
                <a:solidFill>
                  <a:schemeClr val="tx1"/>
                </a:solidFill>
              </a:rPr>
              <a:t>((200,200))</a:t>
            </a: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</a:rPr>
              <a:t>im_resize.show</a:t>
            </a:r>
            <a:r>
              <a:rPr lang="en-US" altLang="zh-CN" sz="1500" dirty="0">
                <a:solidFill>
                  <a:schemeClr val="tx1"/>
                </a:solidFill>
              </a:rPr>
              <a:t>()</a:t>
            </a: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</a:rPr>
              <a:t>im_resize_box</a:t>
            </a:r>
            <a:r>
              <a:rPr lang="en-US" altLang="zh-CN" sz="1500" dirty="0">
                <a:solidFill>
                  <a:schemeClr val="tx1"/>
                </a:solidFill>
              </a:rPr>
              <a:t> = </a:t>
            </a:r>
            <a:r>
              <a:rPr lang="en-US" altLang="zh-CN" sz="1500" dirty="0" err="1">
                <a:solidFill>
                  <a:schemeClr val="tx1"/>
                </a:solidFill>
              </a:rPr>
              <a:t>im.resize</a:t>
            </a:r>
            <a:r>
              <a:rPr lang="en-US" altLang="zh-CN" sz="1500" dirty="0">
                <a:solidFill>
                  <a:schemeClr val="tx1"/>
                </a:solidFill>
              </a:rPr>
              <a:t>((100,100)</a:t>
            </a:r>
            <a:r>
              <a:rPr lang="zh-CN" altLang="en-US" sz="1500" dirty="0">
                <a:solidFill>
                  <a:schemeClr val="tx1"/>
                </a:solidFill>
              </a:rPr>
              <a:t>，</a:t>
            </a:r>
            <a:r>
              <a:rPr lang="en-US" altLang="zh-CN" sz="1500" b="1" dirty="0" err="1">
                <a:solidFill>
                  <a:srgbClr val="00B050"/>
                </a:solidFill>
              </a:rPr>
              <a:t>Image.NEAREST</a:t>
            </a:r>
            <a:r>
              <a:rPr lang="zh-CN" altLang="en-US" sz="1500" dirty="0">
                <a:solidFill>
                  <a:schemeClr val="tx1"/>
                </a:solidFill>
              </a:rPr>
              <a:t>） </a:t>
            </a:r>
            <a:r>
              <a:rPr lang="en-US" altLang="zh-CN" sz="1500" dirty="0">
                <a:solidFill>
                  <a:schemeClr val="tx1"/>
                </a:solidFill>
              </a:rPr>
              <a:t>#</a:t>
            </a:r>
            <a:r>
              <a:rPr lang="zh-CN" altLang="en-US" sz="1500" dirty="0">
                <a:solidFill>
                  <a:schemeClr val="tx1"/>
                </a:solidFill>
              </a:rPr>
              <a:t>指定重采样方法</a:t>
            </a:r>
            <a:endParaRPr lang="en-US" altLang="zh-CN" sz="1500" dirty="0">
              <a:solidFill>
                <a:schemeClr val="tx1"/>
              </a:solidFill>
            </a:endParaRPr>
          </a:p>
          <a:p>
            <a:pPr marL="300038" lvl="1" indent="0">
              <a:buNone/>
            </a:pPr>
            <a:r>
              <a:rPr lang="en-US" altLang="zh-CN" sz="1500" dirty="0" err="1">
                <a:solidFill>
                  <a:schemeClr val="tx1"/>
                </a:solidFill>
              </a:rPr>
              <a:t>im_resize_box.show</a:t>
            </a:r>
            <a:r>
              <a:rPr lang="en-US" altLang="zh-CN" sz="1500" dirty="0">
                <a:solidFill>
                  <a:schemeClr val="tx1"/>
                </a:solidFill>
              </a:rPr>
              <a:t>()</a:t>
            </a:r>
          </a:p>
          <a:p>
            <a:pPr lvl="1" indent="-257175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500" dirty="0">
                <a:solidFill>
                  <a:schemeClr val="tx1"/>
                </a:solidFill>
              </a:rPr>
              <a:t>size</a:t>
            </a:r>
            <a:r>
              <a:rPr lang="zh-CN" altLang="en-US" sz="1500" dirty="0">
                <a:solidFill>
                  <a:schemeClr val="tx1"/>
                </a:solidFill>
              </a:rPr>
              <a:t>是转换之后的大小，二元组：（</a:t>
            </a:r>
            <a:r>
              <a:rPr lang="en-US" altLang="zh-CN" sz="1500" dirty="0">
                <a:solidFill>
                  <a:schemeClr val="tx1"/>
                </a:solidFill>
              </a:rPr>
              <a:t>width, height</a:t>
            </a:r>
            <a:r>
              <a:rPr lang="zh-CN" altLang="en-US" sz="1500" dirty="0">
                <a:solidFill>
                  <a:schemeClr val="tx1"/>
                </a:solidFill>
              </a:rPr>
              <a:t>）</a:t>
            </a:r>
            <a:endParaRPr lang="en-US" altLang="zh-CN" sz="1500" dirty="0">
              <a:solidFill>
                <a:schemeClr val="tx1"/>
              </a:solidFill>
            </a:endParaRPr>
          </a:p>
          <a:p>
            <a:pPr lvl="1" indent="-257175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500" dirty="0">
                <a:solidFill>
                  <a:schemeClr val="tx1"/>
                </a:solidFill>
              </a:rPr>
              <a:t>resample</a:t>
            </a:r>
            <a:r>
              <a:rPr lang="zh-CN" altLang="en-US" sz="1500" dirty="0">
                <a:solidFill>
                  <a:schemeClr val="tx1"/>
                </a:solidFill>
              </a:rPr>
              <a:t>是重新采样使用的方法</a:t>
            </a:r>
            <a:endParaRPr lang="en-US" altLang="zh-CN" sz="1500" dirty="0">
              <a:solidFill>
                <a:schemeClr val="tx1"/>
              </a:solidFill>
            </a:endParaRPr>
          </a:p>
          <a:p>
            <a:pPr lvl="2" indent="-257175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PIL.Image.BICUBIC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(4*4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的三次样条插值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 indent="-257175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PIL.Image.LANCZOS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kern="1200" dirty="0">
                <a:solidFill>
                  <a:schemeClr val="tx1"/>
                </a:solidFill>
              </a:rPr>
              <a:t> </a:t>
            </a:r>
            <a:r>
              <a:rPr lang="en-US" altLang="zh-CN" kern="1200" dirty="0" err="1">
                <a:solidFill>
                  <a:schemeClr val="tx1"/>
                </a:solidFill>
              </a:rPr>
              <a:t>Lanczos</a:t>
            </a:r>
            <a:r>
              <a:rPr lang="zh-CN" altLang="en-US" kern="1200" dirty="0">
                <a:solidFill>
                  <a:schemeClr val="tx1"/>
                </a:solidFill>
              </a:rPr>
              <a:t>迭代法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indent="-257175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PIL.Image.BILINEAR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(2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的线性插值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 indent="-257175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PIL.Image.NEAREST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(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最近邻插值法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0874159"/>
      </p:ext>
    </p:extLst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23331" y="692696"/>
            <a:ext cx="8275638" cy="651272"/>
          </a:xfrm>
        </p:spPr>
        <p:txBody>
          <a:bodyPr/>
          <a:lstStyle/>
          <a:p>
            <a:r>
              <a:rPr lang="zh-CN" altLang="en-US" sz="2400" dirty="0"/>
              <a:t>图像复制</a:t>
            </a:r>
            <a:r>
              <a:rPr lang="en-US" altLang="zh-CN" sz="2400" dirty="0"/>
              <a:t>—</a:t>
            </a:r>
            <a:r>
              <a:rPr lang="zh-CN" altLang="en-US" sz="2400" dirty="0"/>
              <a:t>合成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85684" y="2024845"/>
            <a:ext cx="8150932" cy="307062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500" dirty="0">
                <a:solidFill>
                  <a:srgbClr val="C00000"/>
                </a:solidFill>
              </a:rPr>
              <a:t>paste(</a:t>
            </a:r>
            <a:r>
              <a:rPr lang="en-US" altLang="zh-CN" sz="1500" dirty="0" err="1">
                <a:solidFill>
                  <a:srgbClr val="C00000"/>
                </a:solidFill>
              </a:rPr>
              <a:t>region,box,mask</a:t>
            </a:r>
            <a:r>
              <a:rPr lang="en-US" altLang="zh-CN" sz="1500" dirty="0">
                <a:solidFill>
                  <a:srgbClr val="C00000"/>
                </a:solidFill>
              </a:rPr>
              <a:t>)   </a:t>
            </a:r>
            <a:r>
              <a:rPr lang="zh-CN" altLang="en-US" sz="1500" dirty="0"/>
              <a:t>将一个图像粘贴到另一个图像上</a:t>
            </a:r>
            <a:endParaRPr lang="en-US" altLang="zh-CN" sz="1500" dirty="0"/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500" dirty="0" err="1">
                <a:solidFill>
                  <a:schemeClr val="tx1"/>
                </a:solidFill>
              </a:rPr>
              <a:t>im.paste</a:t>
            </a:r>
            <a:r>
              <a:rPr lang="en-US" altLang="zh-CN" sz="1500" dirty="0">
                <a:solidFill>
                  <a:schemeClr val="tx1"/>
                </a:solidFill>
              </a:rPr>
              <a:t>(region,(100,100),None)</a:t>
            </a: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sz="1500" dirty="0" err="1">
                <a:solidFill>
                  <a:schemeClr val="tx1"/>
                </a:solidFill>
              </a:rPr>
              <a:t>im.show</a:t>
            </a:r>
            <a:r>
              <a:rPr lang="en-US" altLang="zh-CN" sz="1500" dirty="0">
                <a:solidFill>
                  <a:schemeClr val="tx1"/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zh-CN" altLang="en-US" sz="1500" dirty="0"/>
              <a:t>将</a:t>
            </a:r>
            <a:r>
              <a:rPr lang="en-US" altLang="zh-CN" sz="1500" dirty="0"/>
              <a:t>region</a:t>
            </a:r>
            <a:r>
              <a:rPr lang="zh-CN" altLang="en-US" sz="1500" dirty="0"/>
              <a:t>图像粘贴到左上角为</a:t>
            </a:r>
            <a:r>
              <a:rPr lang="en-US" altLang="zh-CN" sz="1500" dirty="0"/>
              <a:t>(100,100)</a:t>
            </a:r>
            <a:r>
              <a:rPr lang="zh-CN" altLang="en-US" sz="1500" dirty="0"/>
              <a:t>的位置。</a:t>
            </a:r>
            <a:endParaRPr lang="en-US" altLang="zh-CN" sz="1500" dirty="0"/>
          </a:p>
          <a:p>
            <a:pPr>
              <a:lnSpc>
                <a:spcPct val="150000"/>
              </a:lnSpc>
            </a:pPr>
            <a:r>
              <a:rPr lang="en-US" altLang="zh-CN" sz="1500" dirty="0"/>
              <a:t>region</a:t>
            </a:r>
            <a:r>
              <a:rPr lang="zh-CN" altLang="en-US" sz="1500" dirty="0"/>
              <a:t>是要粘贴的</a:t>
            </a:r>
            <a:r>
              <a:rPr lang="en-US" altLang="zh-CN" sz="1500" dirty="0"/>
              <a:t>Image</a:t>
            </a:r>
            <a:r>
              <a:rPr lang="zh-CN" altLang="en-US" sz="1500" dirty="0"/>
              <a:t>对象</a:t>
            </a:r>
            <a:r>
              <a:rPr lang="en-US" altLang="zh-CN" sz="1500" dirty="0"/>
              <a:t>,box</a:t>
            </a:r>
            <a:r>
              <a:rPr lang="zh-CN" altLang="en-US" sz="1500" dirty="0"/>
              <a:t>是要粘贴的位置，可以是</a:t>
            </a:r>
            <a:r>
              <a:rPr lang="en-US" altLang="zh-CN" sz="1500" dirty="0"/>
              <a:t>2</a:t>
            </a:r>
            <a:r>
              <a:rPr lang="zh-CN" altLang="en-US" sz="1500" dirty="0"/>
              <a:t>个元素的元组，表示粘贴区域的左上角坐标</a:t>
            </a:r>
            <a:r>
              <a:rPr lang="en-US" altLang="zh-CN" sz="1500" dirty="0"/>
              <a:t>,</a:t>
            </a:r>
            <a:r>
              <a:rPr lang="zh-CN" altLang="en-US" sz="1500" dirty="0"/>
              <a:t>也可以是一个</a:t>
            </a:r>
            <a:r>
              <a:rPr lang="en-US" altLang="zh-CN" sz="1500" dirty="0"/>
              <a:t>4</a:t>
            </a:r>
            <a:r>
              <a:rPr lang="zh-CN" altLang="en-US" sz="1500" dirty="0"/>
              <a:t>个元素的元组，表示左上角和右下角的坐标。</a:t>
            </a:r>
            <a:endParaRPr lang="en-US" altLang="zh-CN" sz="1500" dirty="0"/>
          </a:p>
          <a:p>
            <a:pPr>
              <a:lnSpc>
                <a:spcPct val="150000"/>
              </a:lnSpc>
            </a:pPr>
            <a:r>
              <a:rPr lang="zh-CN" altLang="en-US" sz="1500" dirty="0"/>
              <a:t>如果是四个元素元组的话</a:t>
            </a:r>
            <a:r>
              <a:rPr lang="en-US" altLang="zh-CN" sz="1500" dirty="0"/>
              <a:t>,box</a:t>
            </a:r>
            <a:r>
              <a:rPr lang="zh-CN" altLang="en-US" sz="1500" dirty="0"/>
              <a:t>的</a:t>
            </a:r>
            <a:r>
              <a:rPr lang="en-US" altLang="zh-CN" sz="1500" dirty="0"/>
              <a:t>size</a:t>
            </a:r>
            <a:r>
              <a:rPr lang="zh-CN" altLang="en-US" sz="1500" dirty="0"/>
              <a:t>必须要和</a:t>
            </a:r>
            <a:r>
              <a:rPr lang="en-US" altLang="zh-CN" sz="1500" dirty="0"/>
              <a:t>region</a:t>
            </a:r>
            <a:r>
              <a:rPr lang="zh-CN" altLang="en-US" sz="1500" dirty="0"/>
              <a:t>的</a:t>
            </a:r>
            <a:r>
              <a:rPr lang="en-US" altLang="zh-CN" sz="1500" dirty="0"/>
              <a:t>size</a:t>
            </a:r>
            <a:r>
              <a:rPr lang="zh-CN" altLang="en-US" sz="1500" dirty="0"/>
              <a:t>保持一致</a:t>
            </a:r>
          </a:p>
        </p:txBody>
      </p:sp>
    </p:spTree>
    <p:extLst>
      <p:ext uri="{BB962C8B-B14F-4D97-AF65-F5344CB8AC3E}">
        <p14:creationId xmlns:p14="http://schemas.microsoft.com/office/powerpoint/2010/main" val="440188852"/>
      </p:ext>
    </p:extLst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0673" y="692696"/>
            <a:ext cx="8096926" cy="398544"/>
          </a:xfrm>
        </p:spPr>
        <p:txBody>
          <a:bodyPr/>
          <a:lstStyle/>
          <a:p>
            <a:r>
              <a:rPr lang="zh-CN" altLang="en-US" sz="2100" dirty="0"/>
              <a:t>图像的裁切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3563" y="1672582"/>
            <a:ext cx="7793558" cy="413268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500" dirty="0">
                <a:solidFill>
                  <a:srgbClr val="00B050"/>
                </a:solidFill>
              </a:rPr>
              <a:t>crop(box)   </a:t>
            </a:r>
            <a:r>
              <a:rPr lang="zh-CN" altLang="en-US" sz="1500" dirty="0">
                <a:solidFill>
                  <a:srgbClr val="00B050"/>
                </a:solidFill>
              </a:rPr>
              <a:t>裁剪矩形区域</a:t>
            </a:r>
            <a:endParaRPr lang="en-US" altLang="zh-CN" sz="1500" dirty="0">
              <a:solidFill>
                <a:srgbClr val="00B050"/>
              </a:solidFill>
            </a:endParaRPr>
          </a:p>
          <a:p>
            <a:pPr marL="600075" lvl="2" indent="0">
              <a:lnSpc>
                <a:spcPct val="150000"/>
              </a:lnSpc>
              <a:buNone/>
            </a:pPr>
            <a:r>
              <a:rPr lang="en-US" altLang="zh-CN" sz="1500" dirty="0" err="1">
                <a:solidFill>
                  <a:schemeClr val="tx1"/>
                </a:solidFill>
              </a:rPr>
              <a:t>im</a:t>
            </a:r>
            <a:r>
              <a:rPr lang="en-US" altLang="zh-CN" sz="1500" dirty="0">
                <a:solidFill>
                  <a:schemeClr val="tx1"/>
                </a:solidFill>
              </a:rPr>
              <a:t> = </a:t>
            </a:r>
            <a:r>
              <a:rPr lang="en-US" altLang="zh-CN" sz="1500" dirty="0" err="1">
                <a:solidFill>
                  <a:schemeClr val="tx1"/>
                </a:solidFill>
              </a:rPr>
              <a:t>Image.open</a:t>
            </a:r>
            <a:r>
              <a:rPr lang="en-US" altLang="zh-CN" sz="1500" dirty="0">
                <a:solidFill>
                  <a:schemeClr val="tx1"/>
                </a:solidFill>
              </a:rPr>
              <a:t>("</a:t>
            </a:r>
            <a:r>
              <a:rPr lang="en-US" altLang="zh-CN" sz="1500" dirty="0" err="1">
                <a:solidFill>
                  <a:schemeClr val="tx1"/>
                </a:solidFill>
              </a:rPr>
              <a:t>digit.jpg","r</a:t>
            </a:r>
            <a:r>
              <a:rPr lang="en-US" altLang="zh-CN" sz="1500" dirty="0">
                <a:solidFill>
                  <a:schemeClr val="tx1"/>
                </a:solidFill>
              </a:rPr>
              <a:t>")</a:t>
            </a:r>
          </a:p>
          <a:p>
            <a:pPr marL="600075" lvl="2" indent="0">
              <a:lnSpc>
                <a:spcPct val="150000"/>
              </a:lnSpc>
              <a:buNone/>
            </a:pPr>
            <a:r>
              <a:rPr lang="en-US" altLang="zh-CN" sz="1500" dirty="0">
                <a:solidFill>
                  <a:schemeClr val="tx1"/>
                </a:solidFill>
              </a:rPr>
              <a:t>box = (100,100,200,200)</a:t>
            </a:r>
          </a:p>
          <a:p>
            <a:pPr marL="600075" lvl="2" indent="0">
              <a:lnSpc>
                <a:spcPct val="150000"/>
              </a:lnSpc>
              <a:buNone/>
            </a:pPr>
            <a:r>
              <a:rPr lang="en-US" altLang="zh-CN" sz="1500" dirty="0">
                <a:solidFill>
                  <a:schemeClr val="tx1"/>
                </a:solidFill>
              </a:rPr>
              <a:t>region = </a:t>
            </a:r>
            <a:r>
              <a:rPr lang="en-US" altLang="zh-CN" sz="1500" dirty="0" err="1">
                <a:solidFill>
                  <a:schemeClr val="tx1"/>
                </a:solidFill>
              </a:rPr>
              <a:t>im.crop</a:t>
            </a:r>
            <a:r>
              <a:rPr lang="en-US" altLang="zh-CN" sz="1500" dirty="0">
                <a:solidFill>
                  <a:schemeClr val="tx1"/>
                </a:solidFill>
              </a:rPr>
              <a:t>(box)</a:t>
            </a:r>
          </a:p>
          <a:p>
            <a:pPr marL="600075" lvl="2" indent="0">
              <a:lnSpc>
                <a:spcPct val="150000"/>
              </a:lnSpc>
              <a:buNone/>
            </a:pPr>
            <a:r>
              <a:rPr lang="en-US" altLang="zh-CN" sz="1500" dirty="0" err="1">
                <a:solidFill>
                  <a:schemeClr val="tx1"/>
                </a:solidFill>
              </a:rPr>
              <a:t>region.show</a:t>
            </a:r>
            <a:r>
              <a:rPr lang="en-US" altLang="zh-CN" sz="1500" dirty="0">
                <a:solidFill>
                  <a:schemeClr val="tx1"/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zh-CN" altLang="en-US" sz="1350" dirty="0"/>
              <a:t>在</a:t>
            </a:r>
            <a:r>
              <a:rPr lang="en-US" altLang="zh-CN" sz="1350" dirty="0" err="1"/>
              <a:t>im</a:t>
            </a:r>
            <a:r>
              <a:rPr lang="zh-CN" altLang="en-US" sz="1350" dirty="0"/>
              <a:t>图像上裁剪一个</a:t>
            </a:r>
            <a:r>
              <a:rPr lang="en-US" altLang="zh-CN" sz="1350" dirty="0"/>
              <a:t>box</a:t>
            </a:r>
            <a:r>
              <a:rPr lang="zh-CN" altLang="en-US" sz="1350" dirty="0"/>
              <a:t>矩形区域，然后显示出来</a:t>
            </a:r>
            <a:endParaRPr lang="en-US" altLang="zh-CN" sz="1350" dirty="0"/>
          </a:p>
          <a:p>
            <a:pPr>
              <a:lnSpc>
                <a:spcPct val="150000"/>
              </a:lnSpc>
            </a:pPr>
            <a:r>
              <a:rPr lang="en-US" altLang="zh-CN" sz="1350" dirty="0"/>
              <a:t>box</a:t>
            </a:r>
            <a:r>
              <a:rPr lang="zh-CN" altLang="en-US" sz="1350" dirty="0"/>
              <a:t>是一个包含四个数字的元组</a:t>
            </a:r>
            <a:r>
              <a:rPr lang="en-US" altLang="zh-CN" sz="1350" dirty="0"/>
              <a:t>(</a:t>
            </a:r>
            <a:r>
              <a:rPr lang="en-US" altLang="zh-CN" sz="1350" dirty="0" err="1"/>
              <a:t>upper_left_x,upper_left_y,lower_right_x,lower_right_y</a:t>
            </a:r>
            <a:r>
              <a:rPr lang="en-US" altLang="zh-CN" sz="135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350" dirty="0"/>
              <a:t>     即裁剪矩形区域的左上角</a:t>
            </a:r>
            <a:r>
              <a:rPr lang="en-US" altLang="zh-CN" sz="1350" dirty="0" err="1"/>
              <a:t>x,y</a:t>
            </a:r>
            <a:r>
              <a:rPr lang="zh-CN" altLang="en-US" sz="1350" dirty="0"/>
              <a:t>坐标，右下角的</a:t>
            </a:r>
            <a:r>
              <a:rPr lang="en-US" altLang="zh-CN" sz="1350" dirty="0" err="1"/>
              <a:t>x,y</a:t>
            </a:r>
            <a:r>
              <a:rPr lang="zh-CN" altLang="en-US" sz="1350" dirty="0"/>
              <a:t>坐标</a:t>
            </a:r>
            <a:endParaRPr lang="en-US" altLang="zh-CN" sz="1350" dirty="0"/>
          </a:p>
          <a:p>
            <a:pPr>
              <a:lnSpc>
                <a:spcPct val="150000"/>
              </a:lnSpc>
            </a:pPr>
            <a:r>
              <a:rPr lang="zh-CN" altLang="en-US" sz="1350" dirty="0"/>
              <a:t>规定图像的最左上角的坐标为原点</a:t>
            </a:r>
            <a:r>
              <a:rPr lang="en-US" altLang="zh-CN" sz="1350" dirty="0"/>
              <a:t>(0,0)</a:t>
            </a:r>
            <a:r>
              <a:rPr lang="zh-CN" altLang="en-US" sz="1350" dirty="0"/>
              <a:t>，宽度的方向为</a:t>
            </a:r>
            <a:r>
              <a:rPr lang="en-US" altLang="zh-CN" sz="1350" dirty="0"/>
              <a:t>x</a:t>
            </a:r>
            <a:r>
              <a:rPr lang="zh-CN" altLang="en-US" sz="1350" dirty="0"/>
              <a:t>轴，高度的方向为</a:t>
            </a:r>
            <a:r>
              <a:rPr lang="en-US" altLang="zh-CN" sz="1350" dirty="0"/>
              <a:t>y</a:t>
            </a:r>
            <a:r>
              <a:rPr lang="zh-CN" altLang="en-US" sz="1350" dirty="0"/>
              <a:t>轴</a:t>
            </a:r>
            <a:endParaRPr lang="en-US" altLang="zh-CN" sz="1350" dirty="0"/>
          </a:p>
          <a:p>
            <a:pPr>
              <a:lnSpc>
                <a:spcPct val="150000"/>
              </a:lnSpc>
            </a:pPr>
            <a:r>
              <a:rPr lang="en-US" altLang="zh-CN" sz="1350" dirty="0"/>
              <a:t>crop()</a:t>
            </a:r>
            <a:r>
              <a:rPr lang="zh-CN" altLang="en-US" sz="1350" dirty="0"/>
              <a:t>返回的仍然是一个</a:t>
            </a:r>
            <a:r>
              <a:rPr lang="en-US" altLang="zh-CN" sz="1350" dirty="0"/>
              <a:t>Image</a:t>
            </a:r>
            <a:r>
              <a:rPr lang="zh-CN" altLang="en-US" sz="1350" dirty="0"/>
              <a:t>对象。</a:t>
            </a:r>
            <a:endParaRPr lang="en-US" altLang="zh-CN" sz="1350" dirty="0"/>
          </a:p>
        </p:txBody>
      </p:sp>
      <p:grpSp>
        <p:nvGrpSpPr>
          <p:cNvPr id="6" name="组合 5"/>
          <p:cNvGrpSpPr/>
          <p:nvPr/>
        </p:nvGrpSpPr>
        <p:grpSpPr>
          <a:xfrm>
            <a:off x="7288027" y="1807635"/>
            <a:ext cx="2646528" cy="2168244"/>
            <a:chOff x="7685369" y="1267180"/>
            <a:chExt cx="3528704" cy="289099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85369" y="1267180"/>
              <a:ext cx="2757488" cy="2324100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8129210" y="3665729"/>
              <a:ext cx="3084863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box</a:t>
              </a:r>
              <a:r>
                <a:rPr lang="zh-CN" altLang="en-US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（</a:t>
              </a:r>
              <a:r>
                <a:rPr lang="en-US" altLang="zh-CN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b1,a1,b2,a2</a:t>
              </a:r>
              <a:r>
                <a:rPr lang="zh-CN" altLang="en-US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）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1696987"/>
      </p:ext>
    </p:extLst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100" dirty="0"/>
              <a:t>4.2  </a:t>
            </a:r>
            <a:r>
              <a:rPr lang="zh-CN" altLang="zh-CN" sz="2100" dirty="0"/>
              <a:t>图像的滤波和增强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56194" y="1340768"/>
            <a:ext cx="8312950" cy="383442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filter(filter)   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滤镜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0075" lvl="2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from PIL import Image</a:t>
            </a: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 err="1">
                <a:solidFill>
                  <a:schemeClr val="tx1"/>
                </a:solidFill>
              </a:rPr>
              <a:t>Image.open</a:t>
            </a:r>
            <a:r>
              <a:rPr lang="en-US" altLang="zh-CN" dirty="0">
                <a:solidFill>
                  <a:schemeClr val="tx1"/>
                </a:solidFill>
              </a:rPr>
              <a:t>("d:\images\hm.jpg","r")</a:t>
            </a:r>
          </a:p>
          <a:p>
            <a:pPr marL="600075" lvl="2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from PIL import </a:t>
            </a:r>
            <a:r>
              <a:rPr lang="en-US" altLang="zh-CN" b="1" dirty="0" err="1">
                <a:solidFill>
                  <a:srgbClr val="C00000"/>
                </a:solidFill>
              </a:rPr>
              <a:t>ImageFilter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im_blur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 err="1">
                <a:solidFill>
                  <a:schemeClr val="tx1"/>
                </a:solidFill>
              </a:rPr>
              <a:t>im.filter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ImageFilter.BLUR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im_blur.show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im_blur.save</a:t>
            </a:r>
            <a:r>
              <a:rPr lang="en-US" altLang="zh-CN" dirty="0">
                <a:solidFill>
                  <a:schemeClr val="tx1"/>
                </a:solidFill>
              </a:rPr>
              <a:t>("blur.jpg")</a:t>
            </a: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im_contour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 err="1">
                <a:solidFill>
                  <a:schemeClr val="tx1"/>
                </a:solidFill>
              </a:rPr>
              <a:t>im.filter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ImageFilter.CONTOUR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im_contour.show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  <a:p>
            <a:pPr marL="600075" lvl="2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im_contour.save</a:t>
            </a:r>
            <a:r>
              <a:rPr lang="en-US" altLang="zh-CN" dirty="0">
                <a:solidFill>
                  <a:schemeClr val="tx1"/>
                </a:solidFill>
              </a:rPr>
              <a:t>("contour.jpg")</a:t>
            </a:r>
          </a:p>
          <a:p>
            <a:r>
              <a:rPr lang="en-US" altLang="zh-CN" sz="1500" dirty="0"/>
              <a:t>filter</a:t>
            </a:r>
            <a:r>
              <a:rPr lang="zh-CN" altLang="en-US" sz="1500" dirty="0"/>
              <a:t>是过滤器函数，在</a:t>
            </a:r>
            <a:r>
              <a:rPr lang="en-US" altLang="zh-CN" sz="1500" dirty="0" err="1"/>
              <a:t>PIL.ImageFilter</a:t>
            </a:r>
            <a:r>
              <a:rPr lang="zh-CN" altLang="en-US" sz="1500" dirty="0"/>
              <a:t>函数中定义了大量内置的</a:t>
            </a:r>
            <a:r>
              <a:rPr lang="en-US" altLang="zh-CN" sz="1500" dirty="0"/>
              <a:t>filter</a:t>
            </a:r>
            <a:r>
              <a:rPr lang="zh-CN" altLang="en-US" sz="1500" dirty="0"/>
              <a:t>函数，比如</a:t>
            </a:r>
            <a:r>
              <a:rPr lang="en-US" altLang="zh-CN" sz="1500" dirty="0"/>
              <a:t>BLUR(</a:t>
            </a:r>
            <a:r>
              <a:rPr lang="zh-CN" altLang="en-US" sz="1500" dirty="0"/>
              <a:t>模糊操作</a:t>
            </a:r>
            <a:r>
              <a:rPr lang="en-US" altLang="zh-CN" sz="1500" dirty="0"/>
              <a:t>)</a:t>
            </a:r>
            <a:r>
              <a:rPr lang="zh-CN" altLang="en-US" sz="1500" dirty="0"/>
              <a:t>，</a:t>
            </a:r>
            <a:r>
              <a:rPr lang="en-US" altLang="zh-CN" sz="1500" dirty="0" err="1"/>
              <a:t>GaussianBlur</a:t>
            </a:r>
            <a:r>
              <a:rPr lang="en-US" altLang="zh-CN" sz="1500" dirty="0"/>
              <a:t>(</a:t>
            </a:r>
            <a:r>
              <a:rPr lang="zh-CN" altLang="en-US" sz="1500" dirty="0"/>
              <a:t>高斯模糊</a:t>
            </a:r>
            <a:r>
              <a:rPr lang="en-US" altLang="zh-CN" sz="1500" dirty="0"/>
              <a:t>)</a:t>
            </a:r>
            <a:r>
              <a:rPr lang="zh-CN" altLang="en-US" sz="1500" dirty="0"/>
              <a:t>，</a:t>
            </a:r>
            <a:r>
              <a:rPr lang="en-US" altLang="zh-CN" sz="1500" dirty="0" err="1"/>
              <a:t>MedianFilter</a:t>
            </a:r>
            <a:r>
              <a:rPr lang="en-US" altLang="zh-CN" sz="1500" dirty="0"/>
              <a:t>(</a:t>
            </a:r>
            <a:r>
              <a:rPr lang="zh-CN" altLang="en-US" sz="1500" dirty="0"/>
              <a:t>中值过滤器</a:t>
            </a:r>
            <a:r>
              <a:rPr lang="en-US" altLang="zh-CN" sz="1500" dirty="0"/>
              <a:t>)</a:t>
            </a:r>
            <a:r>
              <a:rPr lang="zh-CN" altLang="en-US" sz="1500" dirty="0"/>
              <a:t>，</a:t>
            </a:r>
            <a:r>
              <a:rPr lang="en-US" altLang="zh-CN" sz="1500" dirty="0"/>
              <a:t>FIND_EDGES(</a:t>
            </a:r>
            <a:r>
              <a:rPr lang="zh-CN" altLang="en-US" sz="1500" dirty="0"/>
              <a:t>查找边缘</a:t>
            </a:r>
            <a:r>
              <a:rPr lang="en-US" altLang="zh-CN" sz="1500" dirty="0"/>
              <a:t>)</a:t>
            </a:r>
            <a:r>
              <a:rPr lang="zh-CN" altLang="en-US" sz="1500" dirty="0"/>
              <a:t>等。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7248128" y="1484784"/>
            <a:ext cx="2754000" cy="27042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1197">
              <a:spcBef>
                <a:spcPts val="525"/>
              </a:spcBef>
              <a:buClr>
                <a:schemeClr val="tx2"/>
              </a:buClr>
              <a:buSzPct val="95000"/>
            </a:pP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BLUR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	</a:t>
            </a: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变模糊</a:t>
            </a:r>
          </a:p>
          <a:p>
            <a:pPr marL="51197">
              <a:spcBef>
                <a:spcPts val="525"/>
              </a:spcBef>
              <a:buClr>
                <a:schemeClr val="tx2"/>
              </a:buClr>
              <a:buSzPct val="95000"/>
            </a:pP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CONTOUR	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黑白边框素描</a:t>
            </a:r>
          </a:p>
          <a:p>
            <a:pPr marL="51197">
              <a:spcBef>
                <a:spcPts val="525"/>
              </a:spcBef>
              <a:buClr>
                <a:schemeClr val="tx2"/>
              </a:buClr>
              <a:buSzPct val="95000"/>
            </a:pP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DETAIL	     	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变清晰</a:t>
            </a:r>
          </a:p>
          <a:p>
            <a:pPr marL="51197">
              <a:spcBef>
                <a:spcPts val="525"/>
              </a:spcBef>
              <a:buClr>
                <a:schemeClr val="tx2"/>
              </a:buClr>
              <a:buSzPct val="95000"/>
            </a:pP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EDGE_ENHANCE	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边缘明显</a:t>
            </a:r>
          </a:p>
          <a:p>
            <a:pPr marL="51197">
              <a:spcBef>
                <a:spcPts val="525"/>
              </a:spcBef>
              <a:buClr>
                <a:schemeClr val="tx2"/>
              </a:buClr>
              <a:buSzPct val="95000"/>
            </a:pP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EMBOSS		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灰色浮雕</a:t>
            </a:r>
          </a:p>
          <a:p>
            <a:pPr marL="51197">
              <a:spcBef>
                <a:spcPts val="525"/>
              </a:spcBef>
              <a:buClr>
                <a:schemeClr val="tx2"/>
              </a:buClr>
              <a:buSzPct val="95000"/>
            </a:pPr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SHARPEN	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锐化</a:t>
            </a:r>
            <a:endParaRPr lang="en-US" altLang="zh-CN" sz="1200" dirty="0">
              <a:solidFill>
                <a:srgbClr val="0000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FIND_EDGES      	#</a:t>
            </a:r>
            <a:r>
              <a:rPr lang="zh-CN" altLang="en-US" sz="1200" dirty="0">
                <a:solidFill>
                  <a:srgbClr val="0000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寻找边缘信息</a:t>
            </a:r>
          </a:p>
        </p:txBody>
      </p:sp>
    </p:spTree>
    <p:extLst>
      <p:ext uri="{BB962C8B-B14F-4D97-AF65-F5344CB8AC3E}">
        <p14:creationId xmlns:p14="http://schemas.microsoft.com/office/powerpoint/2010/main" val="484386209"/>
      </p:ext>
    </p:extLst>
  </p:cSld>
  <p:clrMapOvr>
    <a:masterClrMapping/>
  </p:clrMapOvr>
  <p:transition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A2E18500-DBD8-4CAC-A244-AFCDC2397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5167" y="260648"/>
            <a:ext cx="7959634" cy="7703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zh-CN" altLang="en-US" sz="2800" b="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七、</a:t>
            </a:r>
            <a:r>
              <a:rPr lang="zh-CN" altLang="zh-CN" sz="2800" b="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图像的滤波和增强</a:t>
            </a:r>
            <a:endParaRPr lang="zh-CN" altLang="en-US" sz="2800" b="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351929"/>
              </p:ext>
            </p:extLst>
          </p:nvPr>
        </p:nvGraphicFramePr>
        <p:xfrm>
          <a:off x="0" y="1124744"/>
          <a:ext cx="12191999" cy="5364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063">
                  <a:extLst>
                    <a:ext uri="{9D8B030D-6E8A-4147-A177-3AD203B41FA5}">
                      <a16:colId xmlns:a16="http://schemas.microsoft.com/office/drawing/2014/main" val="4167987035"/>
                    </a:ext>
                  </a:extLst>
                </a:gridCol>
                <a:gridCol w="4362274">
                  <a:extLst>
                    <a:ext uri="{9D8B030D-6E8A-4147-A177-3AD203B41FA5}">
                      <a16:colId xmlns:a16="http://schemas.microsoft.com/office/drawing/2014/main" val="1903207399"/>
                    </a:ext>
                  </a:extLst>
                </a:gridCol>
                <a:gridCol w="5592662">
                  <a:extLst>
                    <a:ext uri="{9D8B030D-6E8A-4147-A177-3AD203B41FA5}">
                      <a16:colId xmlns:a16="http://schemas.microsoft.com/office/drawing/2014/main" val="1404643626"/>
                    </a:ext>
                  </a:extLst>
                </a:gridCol>
              </a:tblGrid>
              <a:tr h="402557">
                <a:tc>
                  <a:txBody>
                    <a:bodyPr/>
                    <a:lstStyle/>
                    <a:p>
                      <a:r>
                        <a:rPr lang="zh-CN" altLang="en-US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使用类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例子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929349"/>
                  </a:ext>
                </a:extLst>
              </a:tr>
              <a:tr h="992608">
                <a:tc>
                  <a:txBody>
                    <a:bodyPr/>
                    <a:lstStyle/>
                    <a:p>
                      <a:r>
                        <a:rPr lang="zh-CN" altLang="en-US" dirty="0"/>
                        <a:t>色彩增强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ImageEnhance.Color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en</a:t>
                      </a:r>
                      <a:r>
                        <a:rPr lang="en-US" altLang="zh-CN" dirty="0"/>
                        <a:t>=</a:t>
                      </a:r>
                      <a:r>
                        <a:rPr lang="en-US" altLang="zh-CN" dirty="0" err="1"/>
                        <a:t>ImageEnhance.Color</a:t>
                      </a:r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im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  <a:p>
                      <a:r>
                        <a:rPr lang="en-US" altLang="zh-CN" dirty="0"/>
                        <a:t>im1=</a:t>
                      </a:r>
                      <a:r>
                        <a:rPr lang="en-US" altLang="zh-CN" dirty="0" err="1"/>
                        <a:t>en.enhance</a:t>
                      </a:r>
                      <a:r>
                        <a:rPr lang="en-US" altLang="zh-CN" dirty="0"/>
                        <a:t>(2)</a:t>
                      </a:r>
                      <a:endParaRPr lang="zh-CN" altLang="en-US" dirty="0"/>
                    </a:p>
                    <a:p>
                      <a:r>
                        <a:rPr lang="en-US" altLang="zh-CN" dirty="0"/>
                        <a:t>im1.show()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16258"/>
                  </a:ext>
                </a:extLst>
              </a:tr>
              <a:tr h="1341139">
                <a:tc>
                  <a:txBody>
                    <a:bodyPr/>
                    <a:lstStyle/>
                    <a:p>
                      <a:r>
                        <a:rPr lang="zh-CN" altLang="en-US" dirty="0"/>
                        <a:t>亮度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ImageEnhance.Brightness</a:t>
                      </a:r>
                      <a:endParaRPr lang="en-US" altLang="zh-CN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# Brightness</a:t>
                      </a:r>
                      <a:r>
                        <a:rPr lang="zh-CN" altLang="en-US" dirty="0"/>
                        <a:t>是一个派生类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en</a:t>
                      </a:r>
                      <a:r>
                        <a:rPr lang="en-US" altLang="zh-CN" dirty="0"/>
                        <a:t>=</a:t>
                      </a:r>
                      <a:r>
                        <a:rPr lang="en-US" altLang="zh-CN" dirty="0" err="1"/>
                        <a:t>ImageEnhance.Brightness</a:t>
                      </a:r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im</a:t>
                      </a:r>
                      <a:r>
                        <a:rPr lang="en-US" altLang="zh-CN" dirty="0"/>
                        <a:t>)</a:t>
                      </a:r>
                    </a:p>
                    <a:p>
                      <a:r>
                        <a:rPr lang="en-US" altLang="zh-CN" dirty="0"/>
                        <a:t>im1=</a:t>
                      </a:r>
                      <a:r>
                        <a:rPr lang="en-US" altLang="zh-CN" dirty="0" err="1"/>
                        <a:t>en.enhance</a:t>
                      </a:r>
                      <a:r>
                        <a:rPr lang="en-US" altLang="zh-CN" dirty="0"/>
                        <a:t>(2)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dirty="0"/>
                        <a:t># </a:t>
                      </a:r>
                      <a:r>
                        <a:rPr lang="zh-CN" altLang="en-US" dirty="0"/>
                        <a:t>增强一倍</a:t>
                      </a:r>
                    </a:p>
                    <a:p>
                      <a:r>
                        <a:rPr lang="en-US" altLang="zh-CN" dirty="0"/>
                        <a:t>im1.show()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542672"/>
                  </a:ext>
                </a:extLst>
              </a:tr>
              <a:tr h="992608">
                <a:tc>
                  <a:txBody>
                    <a:bodyPr/>
                    <a:lstStyle/>
                    <a:p>
                      <a:r>
                        <a:rPr lang="zh-CN" altLang="en-US" dirty="0"/>
                        <a:t>对比度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ImageEnhance.Contrast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en</a:t>
                      </a:r>
                      <a:r>
                        <a:rPr lang="en-US" altLang="zh-CN" dirty="0"/>
                        <a:t>=</a:t>
                      </a:r>
                      <a:r>
                        <a:rPr lang="en-US" altLang="zh-CN" dirty="0" err="1"/>
                        <a:t>ImageEnhance.Contrast</a:t>
                      </a:r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im</a:t>
                      </a:r>
                      <a:r>
                        <a:rPr lang="en-US" altLang="zh-CN" dirty="0"/>
                        <a:t>)</a:t>
                      </a:r>
                    </a:p>
                    <a:p>
                      <a:r>
                        <a:rPr lang="en-US" altLang="zh-CN" dirty="0"/>
                        <a:t>im1=</a:t>
                      </a:r>
                      <a:r>
                        <a:rPr lang="en-US" altLang="zh-CN" dirty="0" err="1"/>
                        <a:t>en.enhance</a:t>
                      </a:r>
                      <a:r>
                        <a:rPr lang="en-US" altLang="zh-CN" dirty="0"/>
                        <a:t>(2)</a:t>
                      </a:r>
                    </a:p>
                    <a:p>
                      <a:r>
                        <a:rPr lang="en-US" altLang="zh-CN" dirty="0"/>
                        <a:t>im1.show()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555427"/>
                  </a:ext>
                </a:extLst>
              </a:tr>
              <a:tr h="694825">
                <a:tc>
                  <a:txBody>
                    <a:bodyPr/>
                    <a:lstStyle/>
                    <a:p>
                      <a:r>
                        <a:rPr lang="zh-CN" altLang="en-US" dirty="0"/>
                        <a:t>锐度增强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ImageEnhance.Sharpness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en</a:t>
                      </a:r>
                      <a:r>
                        <a:rPr lang="en-US" altLang="zh-CN" dirty="0"/>
                        <a:t>=</a:t>
                      </a:r>
                      <a:r>
                        <a:rPr lang="en-US" altLang="zh-CN" dirty="0" err="1"/>
                        <a:t>ImageEnhance.Sharpness</a:t>
                      </a:r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im</a:t>
                      </a:r>
                      <a:r>
                        <a:rPr lang="en-US" altLang="zh-CN" dirty="0"/>
                        <a:t>)</a:t>
                      </a:r>
                    </a:p>
                    <a:p>
                      <a:r>
                        <a:rPr lang="en-US" altLang="zh-CN" dirty="0"/>
                        <a:t>im1=</a:t>
                      </a:r>
                      <a:r>
                        <a:rPr lang="en-US" altLang="zh-CN" dirty="0" err="1"/>
                        <a:t>en.enhance</a:t>
                      </a:r>
                      <a:r>
                        <a:rPr lang="en-US" altLang="zh-CN" dirty="0"/>
                        <a:t>(2)</a:t>
                      </a:r>
                    </a:p>
                    <a:p>
                      <a:r>
                        <a:rPr lang="en-US" altLang="zh-CN" dirty="0"/>
                        <a:t>im1.show()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697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64183"/>
      </p:ext>
    </p:extLst>
  </p:cSld>
  <p:clrMapOvr>
    <a:masterClrMapping/>
  </p:clrMapOvr>
  <p:transition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911424" y="619708"/>
            <a:ext cx="7162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</a:p>
        </p:txBody>
      </p:sp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900903" y="1352511"/>
            <a:ext cx="10513168" cy="443198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对象：</a:t>
            </a:r>
            <a:r>
              <a:rPr lang="zh-CN" altLang="en-US" sz="24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现实世界的实体，每个对象都有自己的特征和行为</a:t>
            </a:r>
            <a:b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具体的概念，如某个人，某辆汽车  </a:t>
            </a:r>
            <a:endParaRPr lang="en-US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类：</a:t>
            </a:r>
            <a:r>
              <a:rPr lang="zh-CN" altLang="en-US" sz="24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对一组对象共有属性特征和行为的抽象</a:t>
            </a:r>
            <a:r>
              <a:rPr lang="en-US" altLang="zh-CN" sz="24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如人类，汽车等</a:t>
            </a:r>
            <a:endParaRPr lang="en-US" altLang="zh-CN" sz="26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数据描述：数据名称、类型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行为描述：有哪些行为，如何实现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抽象：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一个类是一组对象的抽象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抽取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出</a:t>
            </a:r>
            <a:r>
              <a:rPr lang="zh-CN" altLang="en-US" sz="2400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用得上的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共同特征</a:t>
            </a:r>
            <a:endParaRPr lang="en-US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完成必须完成的动作。</a:t>
            </a:r>
            <a:endParaRPr lang="zh-CN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73436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 idx="4294967295"/>
          </p:nvPr>
        </p:nvSpPr>
        <p:spPr>
          <a:xfrm>
            <a:off x="983432" y="445876"/>
            <a:ext cx="7772400" cy="5715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0070C0"/>
                </a:solidFill>
              </a:rPr>
              <a:t>7.1.2  </a:t>
            </a:r>
            <a:r>
              <a:rPr lang="zh-CN" altLang="en-US" sz="3200" dirty="0">
                <a:solidFill>
                  <a:srgbClr val="0070C0"/>
                </a:solidFill>
              </a:rPr>
              <a:t>类的特点</a:t>
            </a:r>
            <a:endParaRPr lang="en-US" altLang="zh-CN" sz="3200" dirty="0">
              <a:solidFill>
                <a:srgbClr val="0070C0"/>
              </a:solidFill>
            </a:endParaRPr>
          </a:p>
        </p:txBody>
      </p:sp>
      <p:pic>
        <p:nvPicPr>
          <p:cNvPr id="6148" name="Picture 2" descr="C:\Users\kaichen2\AppData\Local\Microsoft\Windows\Temporary Internet Files\Content.IE5\BZHCP6R8\MC90028647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099" y="1916832"/>
            <a:ext cx="3869318" cy="2786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966704" y="1017376"/>
            <a:ext cx="1029714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封装性：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对象的行为和属性是一个有机的整体，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将对象的状态和行为打包在一个软件构件中。</a:t>
            </a:r>
            <a:endParaRPr lang="en-US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019362" y="4869160"/>
            <a:ext cx="10225136" cy="1497442"/>
          </a:xfrm>
          <a:prstGeom prst="roundRect">
            <a:avLst>
              <a:gd name="adj" fmla="val 2896"/>
            </a:avLst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封装性：将对象的所有成员集成在一起（暗箱）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隐藏：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保护内部细节，类内的某些成员可以被保护起来   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作用：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具有较好的独立性，防止外部程序破坏类的内部数据，便于程序维护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41590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/>
          </p:nvPr>
        </p:nvSpPr>
        <p:spPr>
          <a:xfrm>
            <a:off x="957186" y="1458885"/>
            <a:ext cx="6434958" cy="204212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电视机：黑白</a:t>
            </a:r>
            <a:r>
              <a:rPr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彩色</a:t>
            </a:r>
            <a:r>
              <a:rPr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高清</a:t>
            </a:r>
            <a:endParaRPr lang="en-US" altLang="zh-CN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其中声音和图像的功能一直延续下来</a:t>
            </a:r>
            <a:endParaRPr lang="en-US" altLang="zh-CN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后一代“</a:t>
            </a:r>
            <a:r>
              <a:rPr lang="zh-CN" altLang="en-US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继承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”前一代的功能并有所发展</a:t>
            </a:r>
            <a:endParaRPr lang="en-US" altLang="zh-CN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旧电视</a:t>
            </a:r>
            <a:r>
              <a:rPr lang="zh-CN" altLang="en-US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派生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出新电视</a:t>
            </a:r>
            <a:r>
              <a:rPr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新电视</a:t>
            </a:r>
            <a:r>
              <a:rPr lang="zh-CN" altLang="en-US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继承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了旧电视</a:t>
            </a:r>
            <a:endParaRPr lang="en-US" altLang="zh-CN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Title 1"/>
          <p:cNvSpPr>
            <a:spLocks noGrp="1"/>
          </p:cNvSpPr>
          <p:nvPr>
            <p:ph type="title" idx="4294967295"/>
          </p:nvPr>
        </p:nvSpPr>
        <p:spPr>
          <a:xfrm>
            <a:off x="959898" y="667890"/>
            <a:ext cx="6314513" cy="635257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0070C0"/>
                </a:solidFill>
              </a:rPr>
              <a:t>2. </a:t>
            </a:r>
            <a:r>
              <a:rPr lang="zh-CN" altLang="en-US" sz="3200" dirty="0">
                <a:solidFill>
                  <a:srgbClr val="0070C0"/>
                </a:solidFill>
              </a:rPr>
              <a:t>继承性</a:t>
            </a:r>
            <a:endParaRPr lang="en-US" altLang="zh-CN" sz="3200" dirty="0">
              <a:solidFill>
                <a:srgbClr val="0070C0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406663" y="1124744"/>
            <a:ext cx="4624648" cy="5139485"/>
            <a:chOff x="6935940" y="1070352"/>
            <a:chExt cx="4624648" cy="5139485"/>
          </a:xfrm>
        </p:grpSpPr>
        <p:pic>
          <p:nvPicPr>
            <p:cNvPr id="8196" name="Picture 3" descr="C:\Users\kaichen2\AppData\Local\Microsoft\Windows\Temporary Internet Files\Content.IE5\LFNSQC6M\MC900014736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5940" y="1070352"/>
              <a:ext cx="1236663" cy="159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197" name="Picture 4" descr="C:\Users\kaichen2\AppData\Local\Microsoft\Windows\Temporary Internet Files\Content.IE5\PMYZYYB7\MC900432517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44451" y="4516927"/>
              <a:ext cx="2116137" cy="1692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198" name="Picture 5" descr="C:\Users\kaichen2\AppData\Local\Microsoft\Windows\Temporary Internet Files\Content.IE5\PMYZYYB7\MC900186162[1].wm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34145" y="1076247"/>
              <a:ext cx="1806575" cy="1770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ight Arrow 7"/>
            <p:cNvSpPr/>
            <p:nvPr/>
          </p:nvSpPr>
          <p:spPr>
            <a:xfrm>
              <a:off x="8411293" y="1236694"/>
              <a:ext cx="990600" cy="685800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dirty="0">
                  <a:solidFill>
                    <a:srgbClr val="002060"/>
                  </a:solidFill>
                  <a:cs typeface="Arial" charset="0"/>
                </a:rPr>
                <a:t>派生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9816720" y="3043175"/>
              <a:ext cx="685800" cy="1295400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>
                  <a:solidFill>
                    <a:srgbClr val="002060"/>
                  </a:solidFill>
                  <a:cs typeface="Arial" charset="0"/>
                </a:rPr>
                <a:t>派生</a:t>
              </a:r>
            </a:p>
          </p:txBody>
        </p:sp>
        <p:sp>
          <p:nvSpPr>
            <p:cNvPr id="12" name="Up Arrow 11"/>
            <p:cNvSpPr/>
            <p:nvPr/>
          </p:nvSpPr>
          <p:spPr>
            <a:xfrm>
              <a:off x="10593829" y="3043175"/>
              <a:ext cx="609600" cy="1295400"/>
            </a:xfrm>
            <a:prstGeom prst="upArrow">
              <a:avLst/>
            </a:prstGeom>
            <a:solidFill>
              <a:srgbClr val="FF7C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dirty="0">
                  <a:solidFill>
                    <a:srgbClr val="002060"/>
                  </a:solidFill>
                </a:rPr>
                <a:t>继承</a:t>
              </a:r>
              <a:endParaRPr lang="en-US" altLang="zh-CN" dirty="0">
                <a:solidFill>
                  <a:srgbClr val="002060"/>
                </a:solidFill>
              </a:endParaRPr>
            </a:p>
          </p:txBody>
        </p:sp>
        <p:sp>
          <p:nvSpPr>
            <p:cNvPr id="13" name="Left Arrow 12"/>
            <p:cNvSpPr/>
            <p:nvPr/>
          </p:nvSpPr>
          <p:spPr>
            <a:xfrm>
              <a:off x="8391145" y="1913826"/>
              <a:ext cx="1010748" cy="609600"/>
            </a:xfrm>
            <a:prstGeom prst="leftArrow">
              <a:avLst/>
            </a:prstGeom>
            <a:solidFill>
              <a:srgbClr val="FF7C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dirty="0">
                  <a:solidFill>
                    <a:srgbClr val="002060"/>
                  </a:solidFill>
                </a:rPr>
                <a:t>继承</a:t>
              </a:r>
              <a:endParaRPr lang="en-US" altLang="zh-CN" dirty="0">
                <a:solidFill>
                  <a:srgbClr val="002060"/>
                </a:solidFill>
              </a:endParaRPr>
            </a:p>
          </p:txBody>
        </p:sp>
      </p:grp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39416" y="4184929"/>
            <a:ext cx="8275362" cy="208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基类（父类）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派生类（子类）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子类拥有父类的特性，又可增加子类的新特性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设计程序时，只需考虑添加新功能的代码或修改原有代码</a:t>
            </a:r>
          </a:p>
        </p:txBody>
      </p:sp>
    </p:spTree>
    <p:extLst>
      <p:ext uri="{BB962C8B-B14F-4D97-AF65-F5344CB8AC3E}">
        <p14:creationId xmlns:p14="http://schemas.microsoft.com/office/powerpoint/2010/main" val="383384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4" descr="MC900055585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0248745">
            <a:off x="580746" y="3285248"/>
            <a:ext cx="1083016" cy="1935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5" descr="j030125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084" y="3042460"/>
            <a:ext cx="1640260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5" name="AutoShape 7"/>
          <p:cNvSpPr>
            <a:spLocks noChangeArrowheads="1"/>
          </p:cNvSpPr>
          <p:nvPr/>
        </p:nvSpPr>
        <p:spPr bwMode="auto">
          <a:xfrm>
            <a:off x="4458379" y="3042460"/>
            <a:ext cx="1942413" cy="1051520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Arial" panose="020B0604020202020204" pitchFamily="34" charset="0"/>
              </a:rPr>
              <a:t>开始讲课</a:t>
            </a:r>
            <a:endParaRPr lang="en-US" altLang="zh-CN" sz="1800" dirty="0">
              <a:latin typeface="Arial" panose="020B0604020202020204" pitchFamily="34" charset="0"/>
            </a:endParaRPr>
          </a:p>
        </p:txBody>
      </p:sp>
      <p:sp>
        <p:nvSpPr>
          <p:cNvPr id="68616" name="AutoShape 8"/>
          <p:cNvSpPr>
            <a:spLocks noChangeArrowheads="1"/>
          </p:cNvSpPr>
          <p:nvPr/>
        </p:nvSpPr>
        <p:spPr bwMode="auto">
          <a:xfrm>
            <a:off x="4509592" y="4931096"/>
            <a:ext cx="1793006" cy="1125466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Arial" panose="020B0604020202020204" pitchFamily="34" charset="0"/>
              </a:rPr>
              <a:t>开始听课</a:t>
            </a:r>
            <a:endParaRPr lang="en-US" altLang="zh-CN" sz="1800" dirty="0">
              <a:latin typeface="Arial" panose="020B0604020202020204" pitchFamily="34" charset="0"/>
            </a:endParaRPr>
          </a:p>
        </p:txBody>
      </p:sp>
      <p:sp>
        <p:nvSpPr>
          <p:cNvPr id="68617" name="AutoShape 9"/>
          <p:cNvSpPr>
            <a:spLocks noChangeArrowheads="1"/>
          </p:cNvSpPr>
          <p:nvPr/>
        </p:nvSpPr>
        <p:spPr bwMode="auto">
          <a:xfrm>
            <a:off x="1732484" y="3690051"/>
            <a:ext cx="609600" cy="3048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68618" name="AutoShape 10"/>
          <p:cNvSpPr>
            <a:spLocks noChangeArrowheads="1"/>
          </p:cNvSpPr>
          <p:nvPr/>
        </p:nvSpPr>
        <p:spPr bwMode="auto">
          <a:xfrm rot="1513970">
            <a:off x="1490908" y="4841581"/>
            <a:ext cx="1205193" cy="342900"/>
          </a:xfrm>
          <a:prstGeom prst="rightArrow">
            <a:avLst>
              <a:gd name="adj1" fmla="val 50000"/>
              <a:gd name="adj2" fmla="val 155556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68620" name="Picture 12" descr="C:\Users\kaichen2\AppData\Local\Microsoft\Windows\Temporary Internet Files\Content.IE5\UWCG8IH3\MC900232133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468" y="4499716"/>
            <a:ext cx="1894653" cy="1944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8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827" y="4093980"/>
            <a:ext cx="4970594" cy="126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 txBox="1">
            <a:spLocks/>
          </p:cNvSpPr>
          <p:nvPr/>
        </p:nvSpPr>
        <p:spPr bwMode="auto">
          <a:xfrm>
            <a:off x="623392" y="429334"/>
            <a:ext cx="7772400" cy="67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3200" kern="0" dirty="0">
                <a:solidFill>
                  <a:srgbClr val="0070C0"/>
                </a:solidFill>
              </a:rPr>
              <a:t>3. </a:t>
            </a:r>
            <a:r>
              <a:rPr lang="zh-CN" altLang="en-US" sz="3200" kern="0" dirty="0">
                <a:solidFill>
                  <a:srgbClr val="0070C0"/>
                </a:solidFill>
              </a:rPr>
              <a:t>多态性</a:t>
            </a:r>
            <a:endParaRPr lang="en-US" altLang="zh-CN" sz="3200" kern="0" dirty="0">
              <a:solidFill>
                <a:srgbClr val="0070C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/>
          </p:nvPr>
        </p:nvSpPr>
        <p:spPr>
          <a:xfrm>
            <a:off x="316482" y="1324703"/>
            <a:ext cx="11180117" cy="104954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同一操作作用于不同类的对象，将产生不同的执行结果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，即不同类的对象收到相同的消息时，得到不同的结果。</a:t>
            </a:r>
          </a:p>
        </p:txBody>
      </p:sp>
    </p:spTree>
    <p:extLst>
      <p:ext uri="{BB962C8B-B14F-4D97-AF65-F5344CB8AC3E}">
        <p14:creationId xmlns:p14="http://schemas.microsoft.com/office/powerpoint/2010/main" val="266375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5" grpId="0" animBg="1"/>
      <p:bldP spid="68616" grpId="0" animBg="1"/>
      <p:bldP spid="68617" grpId="0" animBg="1"/>
      <p:bldP spid="6861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407368" y="260648"/>
            <a:ext cx="3456384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</a:t>
            </a:r>
          </a:p>
        </p:txBody>
      </p:sp>
      <p:sp>
        <p:nvSpPr>
          <p:cNvPr id="13315" name="Text Box 4" descr="蓝色砂纸"/>
          <p:cNvSpPr txBox="1">
            <a:spLocks noChangeArrowheads="1"/>
          </p:cNvSpPr>
          <p:nvPr/>
        </p:nvSpPr>
        <p:spPr bwMode="auto">
          <a:xfrm>
            <a:off x="263352" y="1052736"/>
            <a:ext cx="5616624" cy="4708981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class Student: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# </a:t>
            </a:r>
            <a:r>
              <a:rPr lang="en-US" altLang="zh-CN" sz="2000" dirty="0" err="1">
                <a:solidFill>
                  <a:srgbClr val="0070C0"/>
                </a:solidFill>
                <a:latin typeface="+mn-ea"/>
                <a:ea typeface="+mn-ea"/>
              </a:rPr>
              <a:t>SetValue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方法用于定义该类对象的数据属性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    </a:t>
            </a:r>
            <a:r>
              <a:rPr lang="en-US" altLang="zh-CN" sz="2000" dirty="0" err="1">
                <a:latin typeface="+mn-ea"/>
                <a:ea typeface="+mn-ea"/>
              </a:rPr>
              <a:t>def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err="1">
                <a:latin typeface="+mn-ea"/>
                <a:ea typeface="+mn-ea"/>
              </a:rPr>
              <a:t>SetValue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en-US" altLang="zh-CN" sz="2000" dirty="0" err="1">
                <a:latin typeface="+mn-ea"/>
                <a:ea typeface="+mn-ea"/>
              </a:rPr>
              <a:t>self,a,b,c</a:t>
            </a:r>
            <a:r>
              <a:rPr lang="en-US" altLang="zh-CN" sz="2000" dirty="0">
                <a:latin typeface="+mn-ea"/>
                <a:ea typeface="+mn-ea"/>
              </a:rPr>
              <a:t>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self.No</a:t>
            </a:r>
            <a:r>
              <a:rPr lang="en-US" altLang="zh-CN" sz="2000" dirty="0">
                <a:latin typeface="+mn-ea"/>
                <a:ea typeface="+mn-ea"/>
              </a:rPr>
              <a:t>=a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self.Name</a:t>
            </a:r>
            <a:r>
              <a:rPr lang="en-US" altLang="zh-CN" sz="2000" dirty="0">
                <a:latin typeface="+mn-ea"/>
                <a:ea typeface="+mn-ea"/>
              </a:rPr>
              <a:t>=b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self.Score</a:t>
            </a:r>
            <a:r>
              <a:rPr lang="en-US" altLang="zh-CN" sz="2000" dirty="0">
                <a:latin typeface="+mn-ea"/>
                <a:ea typeface="+mn-ea"/>
              </a:rPr>
              <a:t>=c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# </a:t>
            </a:r>
            <a:r>
              <a:rPr lang="en-US" altLang="zh-CN" sz="2000" dirty="0" err="1">
                <a:solidFill>
                  <a:srgbClr val="0070C0"/>
                </a:solidFill>
                <a:latin typeface="+mn-ea"/>
                <a:ea typeface="+mn-ea"/>
              </a:rPr>
              <a:t>Disp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方法用于输出该类对象的数据属性值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    </a:t>
            </a:r>
            <a:r>
              <a:rPr lang="en-US" altLang="zh-CN" sz="2000" dirty="0" err="1">
                <a:latin typeface="+mn-ea"/>
                <a:ea typeface="+mn-ea"/>
              </a:rPr>
              <a:t>def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err="1">
                <a:latin typeface="+mn-ea"/>
                <a:ea typeface="+mn-ea"/>
              </a:rPr>
              <a:t>Disp</a:t>
            </a:r>
            <a:r>
              <a:rPr lang="en-US" altLang="zh-CN" sz="2000" dirty="0">
                <a:latin typeface="+mn-ea"/>
                <a:ea typeface="+mn-ea"/>
              </a:rPr>
              <a:t>(self):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print(</a:t>
            </a:r>
            <a:r>
              <a:rPr lang="en-US" altLang="zh-CN" sz="2000" dirty="0" err="1">
                <a:latin typeface="+mn-ea"/>
                <a:ea typeface="+mn-ea"/>
              </a:rPr>
              <a:t>self.No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print(</a:t>
            </a:r>
            <a:r>
              <a:rPr lang="en-US" altLang="zh-CN" sz="2000" dirty="0" err="1">
                <a:latin typeface="+mn-ea"/>
                <a:ea typeface="+mn-ea"/>
              </a:rPr>
              <a:t>self.Name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print(</a:t>
            </a:r>
            <a:r>
              <a:rPr lang="en-US" altLang="zh-CN" sz="2000" dirty="0" err="1">
                <a:latin typeface="+mn-ea"/>
                <a:ea typeface="+mn-ea"/>
              </a:rPr>
              <a:t>self.Score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p=Student()                                        # </a:t>
            </a:r>
            <a:r>
              <a:rPr lang="zh-CN" altLang="en-US" sz="2000" dirty="0">
                <a:latin typeface="+mn-ea"/>
                <a:ea typeface="+mn-ea"/>
              </a:rPr>
              <a:t>创建</a:t>
            </a:r>
            <a:r>
              <a:rPr lang="en-US" altLang="zh-CN" sz="2000" dirty="0">
                <a:latin typeface="+mn-ea"/>
                <a:ea typeface="+mn-ea"/>
              </a:rPr>
              <a:t>Student</a:t>
            </a:r>
            <a:r>
              <a:rPr lang="zh-CN" altLang="en-US" sz="2000" dirty="0">
                <a:latin typeface="+mn-ea"/>
                <a:ea typeface="+mn-ea"/>
              </a:rPr>
              <a:t>对象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 err="1">
                <a:latin typeface="+mn-ea"/>
                <a:ea typeface="+mn-ea"/>
              </a:rPr>
              <a:t>p.SetValue</a:t>
            </a:r>
            <a:r>
              <a:rPr lang="en-US" altLang="zh-CN" sz="2000" dirty="0">
                <a:latin typeface="+mn-ea"/>
                <a:ea typeface="+mn-ea"/>
              </a:rPr>
              <a:t>("2020001", "</a:t>
            </a:r>
            <a:r>
              <a:rPr lang="zh-CN" altLang="en-US" sz="2000" dirty="0">
                <a:latin typeface="+mn-ea"/>
                <a:ea typeface="+mn-ea"/>
              </a:rPr>
              <a:t>张三</a:t>
            </a:r>
            <a:r>
              <a:rPr lang="en-US" altLang="zh-CN" sz="2000" dirty="0">
                <a:latin typeface="+mn-ea"/>
                <a:ea typeface="+mn-ea"/>
              </a:rPr>
              <a:t>", 88)   # </a:t>
            </a:r>
            <a:r>
              <a:rPr lang="zh-CN" altLang="en-US" sz="2000" dirty="0">
                <a:latin typeface="+mn-ea"/>
                <a:ea typeface="+mn-ea"/>
              </a:rPr>
              <a:t>对象初始化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dirty="0" err="1">
                <a:latin typeface="+mn-ea"/>
                <a:ea typeface="+mn-ea"/>
              </a:rPr>
              <a:t>p.Disp</a:t>
            </a:r>
            <a:r>
              <a:rPr lang="en-US" altLang="zh-CN" sz="2000" dirty="0">
                <a:latin typeface="+mn-ea"/>
                <a:ea typeface="+mn-ea"/>
              </a:rPr>
              <a:t>()	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7" name="Text Box 4" descr="蓝色砂纸"/>
          <p:cNvSpPr txBox="1">
            <a:spLocks noChangeArrowheads="1"/>
          </p:cNvSpPr>
          <p:nvPr/>
        </p:nvSpPr>
        <p:spPr bwMode="auto">
          <a:xfrm>
            <a:off x="6312024" y="1052736"/>
            <a:ext cx="5625430" cy="3231654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</a:rPr>
              <a:t>类名  </a:t>
            </a:r>
            <a:r>
              <a:rPr lang="en-US" altLang="zh-CN" sz="2400" dirty="0">
                <a:solidFill>
                  <a:srgbClr val="000066"/>
                </a:solidFill>
              </a:rPr>
              <a:t>Student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zh-CN" sz="2400" dirty="0">
                <a:solidFill>
                  <a:srgbClr val="000066"/>
                </a:solidFill>
              </a:rPr>
              <a:t>①类</a:t>
            </a:r>
            <a:r>
              <a:rPr lang="en-US" altLang="zh-CN" sz="2400" dirty="0">
                <a:solidFill>
                  <a:srgbClr val="000066"/>
                </a:solidFill>
              </a:rPr>
              <a:t>Student</a:t>
            </a:r>
            <a:r>
              <a:rPr lang="zh-CN" altLang="zh-CN" sz="2400" dirty="0">
                <a:solidFill>
                  <a:srgbClr val="000066"/>
                </a:solidFill>
              </a:rPr>
              <a:t>中定义了</a:t>
            </a:r>
            <a:r>
              <a:rPr lang="en-US" altLang="zh-CN" sz="2400" dirty="0" err="1">
                <a:solidFill>
                  <a:srgbClr val="000066"/>
                </a:solidFill>
              </a:rPr>
              <a:t>SetValue</a:t>
            </a:r>
            <a:r>
              <a:rPr lang="zh-CN" altLang="zh-CN" sz="2400" dirty="0">
                <a:solidFill>
                  <a:srgbClr val="000066"/>
                </a:solidFill>
              </a:rPr>
              <a:t>和</a:t>
            </a:r>
            <a:r>
              <a:rPr lang="en-US" altLang="zh-CN" sz="2400" dirty="0" err="1">
                <a:solidFill>
                  <a:srgbClr val="000066"/>
                </a:solidFill>
              </a:rPr>
              <a:t>Disp</a:t>
            </a:r>
            <a:r>
              <a:rPr lang="zh-CN" altLang="zh-CN" sz="2400" dirty="0">
                <a:solidFill>
                  <a:srgbClr val="000066"/>
                </a:solidFill>
              </a:rPr>
              <a:t>函数，</a:t>
            </a:r>
            <a:br>
              <a:rPr lang="en-US" altLang="zh-CN" sz="2400" dirty="0">
                <a:solidFill>
                  <a:srgbClr val="000066"/>
                </a:solidFill>
              </a:rPr>
            </a:br>
            <a:r>
              <a:rPr lang="en-US" altLang="zh-CN" sz="2400" dirty="0">
                <a:solidFill>
                  <a:srgbClr val="000066"/>
                </a:solidFill>
              </a:rPr>
              <a:t>     </a:t>
            </a:r>
            <a:r>
              <a:rPr lang="zh-CN" altLang="en-US" sz="2400" dirty="0">
                <a:solidFill>
                  <a:srgbClr val="000066"/>
                </a:solidFill>
              </a:rPr>
              <a:t>是</a:t>
            </a:r>
            <a:r>
              <a:rPr lang="zh-CN" altLang="zh-CN" sz="2400" dirty="0">
                <a:solidFill>
                  <a:srgbClr val="000066"/>
                </a:solidFill>
              </a:rPr>
              <a:t>类</a:t>
            </a:r>
            <a:r>
              <a:rPr lang="zh-CN" altLang="en-US" sz="2400" dirty="0">
                <a:solidFill>
                  <a:srgbClr val="000066"/>
                </a:solidFill>
              </a:rPr>
              <a:t>的函数，或叫方法</a:t>
            </a:r>
            <a:endParaRPr lang="en-US" altLang="zh-CN" sz="2400" dirty="0">
              <a:solidFill>
                <a:srgbClr val="000066"/>
              </a:solidFill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66"/>
                </a:solidFill>
              </a:rPr>
              <a:t> </a:t>
            </a:r>
            <a:r>
              <a:rPr lang="zh-CN" altLang="zh-CN" sz="2400" dirty="0">
                <a:solidFill>
                  <a:srgbClr val="000066"/>
                </a:solidFill>
              </a:rPr>
              <a:t>② </a:t>
            </a:r>
            <a:r>
              <a:rPr lang="en-US" altLang="zh-CN" sz="2400" dirty="0">
                <a:solidFill>
                  <a:srgbClr val="000066"/>
                </a:solidFill>
              </a:rPr>
              <a:t>p=Student()</a:t>
            </a:r>
            <a:br>
              <a:rPr lang="en-US" altLang="zh-CN" sz="2400" dirty="0">
                <a:solidFill>
                  <a:srgbClr val="000066"/>
                </a:solidFill>
              </a:rPr>
            </a:br>
            <a:r>
              <a:rPr lang="en-US" altLang="zh-CN" sz="2400" dirty="0">
                <a:solidFill>
                  <a:srgbClr val="000066"/>
                </a:solidFill>
              </a:rPr>
              <a:t>      </a:t>
            </a:r>
            <a:r>
              <a:rPr lang="zh-CN" altLang="zh-CN" sz="2400" dirty="0">
                <a:solidFill>
                  <a:srgbClr val="000066"/>
                </a:solidFill>
              </a:rPr>
              <a:t>创建</a:t>
            </a:r>
            <a:r>
              <a:rPr lang="en-US" altLang="zh-CN" sz="2400" dirty="0">
                <a:solidFill>
                  <a:srgbClr val="000066"/>
                </a:solidFill>
              </a:rPr>
              <a:t>Student</a:t>
            </a:r>
            <a:r>
              <a:rPr lang="zh-CN" altLang="zh-CN" sz="2400" dirty="0">
                <a:solidFill>
                  <a:srgbClr val="000066"/>
                </a:solidFill>
              </a:rPr>
              <a:t>类的一个实例</a:t>
            </a:r>
            <a:r>
              <a:rPr lang="zh-CN" altLang="en-US" sz="2400" dirty="0">
                <a:solidFill>
                  <a:srgbClr val="000066"/>
                </a:solidFill>
              </a:rPr>
              <a:t>，</a:t>
            </a:r>
            <a:r>
              <a:rPr lang="zh-CN" altLang="zh-CN" sz="2400" dirty="0">
                <a:solidFill>
                  <a:srgbClr val="000066"/>
                </a:solidFill>
              </a:rPr>
              <a:t>并且赋值给</a:t>
            </a:r>
            <a:r>
              <a:rPr lang="en-US" altLang="zh-CN" sz="2400" dirty="0">
                <a:solidFill>
                  <a:srgbClr val="000066"/>
                </a:solidFill>
              </a:rPr>
              <a:t>p</a:t>
            </a:r>
            <a:r>
              <a:rPr lang="zh-CN" altLang="en-US" sz="2400" dirty="0">
                <a:solidFill>
                  <a:srgbClr val="000066"/>
                </a:solidFill>
              </a:rPr>
              <a:t>（绑定）。</a:t>
            </a:r>
            <a:br>
              <a:rPr lang="en-US" altLang="zh-CN" sz="2400" dirty="0">
                <a:solidFill>
                  <a:srgbClr val="000066"/>
                </a:solidFill>
              </a:rPr>
            </a:br>
            <a:r>
              <a:rPr lang="en-US" altLang="zh-CN" sz="2400" dirty="0">
                <a:solidFill>
                  <a:srgbClr val="000066"/>
                </a:solidFill>
              </a:rPr>
              <a:t>  </a:t>
            </a:r>
            <a:endParaRPr lang="zh-CN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8894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407368" y="189726"/>
            <a:ext cx="4248472" cy="6469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类成员的属性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918248"/>
              </p:ext>
            </p:extLst>
          </p:nvPr>
        </p:nvGraphicFramePr>
        <p:xfrm>
          <a:off x="3011886" y="-809208"/>
          <a:ext cx="820110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783">
                  <a:extLst>
                    <a:ext uri="{9D8B030D-6E8A-4147-A177-3AD203B41FA5}">
                      <a16:colId xmlns:a16="http://schemas.microsoft.com/office/drawing/2014/main" val="3116900273"/>
                    </a:ext>
                  </a:extLst>
                </a:gridCol>
                <a:gridCol w="682292">
                  <a:extLst>
                    <a:ext uri="{9D8B030D-6E8A-4147-A177-3AD203B41FA5}">
                      <a16:colId xmlns:a16="http://schemas.microsoft.com/office/drawing/2014/main" val="2289244633"/>
                    </a:ext>
                  </a:extLst>
                </a:gridCol>
                <a:gridCol w="6386026">
                  <a:extLst>
                    <a:ext uri="{9D8B030D-6E8A-4147-A177-3AD203B41FA5}">
                      <a16:colId xmlns:a16="http://schemas.microsoft.com/office/drawing/2014/main" val="2871649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权限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91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私有成员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__X 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两个下划线，在类的内部可以访问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72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保护成员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_X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一个下划线，类和派生类中可以访问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66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公有成员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类的内部和外部都可以访问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544942"/>
                  </a:ext>
                </a:extLst>
              </a:tr>
            </a:tbl>
          </a:graphicData>
        </a:graphic>
      </p:graphicFrame>
      <p:sp>
        <p:nvSpPr>
          <p:cNvPr id="6" name="Text Box 4" descr="蓝色砂纸"/>
          <p:cNvSpPr txBox="1">
            <a:spLocks noChangeArrowheads="1"/>
          </p:cNvSpPr>
          <p:nvPr/>
        </p:nvSpPr>
        <p:spPr bwMode="auto">
          <a:xfrm>
            <a:off x="416961" y="2492896"/>
            <a:ext cx="5616624" cy="3170099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class Student: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# </a:t>
            </a:r>
            <a:r>
              <a:rPr lang="en-US" altLang="zh-CN" sz="2000" dirty="0" err="1">
                <a:solidFill>
                  <a:srgbClr val="0070C0"/>
                </a:solidFill>
                <a:latin typeface="+mn-ea"/>
                <a:ea typeface="+mn-ea"/>
              </a:rPr>
              <a:t>SetValue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方法用于定义该类对象的数据属性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    </a:t>
            </a:r>
            <a:r>
              <a:rPr lang="en-US" altLang="zh-CN" sz="2000" dirty="0" err="1">
                <a:latin typeface="+mn-ea"/>
                <a:ea typeface="+mn-ea"/>
              </a:rPr>
              <a:t>def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err="1">
                <a:latin typeface="+mn-ea"/>
                <a:ea typeface="+mn-ea"/>
              </a:rPr>
              <a:t>SetValue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en-US" altLang="zh-CN" sz="2000" dirty="0" err="1">
                <a:latin typeface="+mn-ea"/>
                <a:ea typeface="+mn-ea"/>
              </a:rPr>
              <a:t>self,a,b,c</a:t>
            </a:r>
            <a:r>
              <a:rPr lang="en-US" altLang="zh-CN" sz="2000" dirty="0">
                <a:latin typeface="+mn-ea"/>
                <a:ea typeface="+mn-ea"/>
              </a:rPr>
              <a:t>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self.No</a:t>
            </a:r>
            <a:r>
              <a:rPr lang="en-US" altLang="zh-CN" sz="2000" dirty="0">
                <a:latin typeface="+mn-ea"/>
                <a:ea typeface="+mn-ea"/>
              </a:rPr>
              <a:t>=a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self.Name</a:t>
            </a:r>
            <a:r>
              <a:rPr lang="en-US" altLang="zh-CN" sz="2000" dirty="0">
                <a:latin typeface="+mn-ea"/>
                <a:ea typeface="+mn-ea"/>
              </a:rPr>
              <a:t>=b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self.Score</a:t>
            </a:r>
            <a:r>
              <a:rPr lang="en-US" altLang="zh-CN" sz="2000" dirty="0">
                <a:latin typeface="+mn-ea"/>
                <a:ea typeface="+mn-ea"/>
              </a:rPr>
              <a:t>=c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# </a:t>
            </a:r>
            <a:r>
              <a:rPr lang="en-US" altLang="zh-CN" sz="2000" dirty="0" err="1">
                <a:solidFill>
                  <a:srgbClr val="0070C0"/>
                </a:solidFill>
                <a:latin typeface="+mn-ea"/>
                <a:ea typeface="+mn-ea"/>
              </a:rPr>
              <a:t>Disp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方法用于输出该类对象的数据属性值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p=Student()                           # </a:t>
            </a:r>
            <a:r>
              <a:rPr lang="zh-CN" altLang="en-US" sz="2000" dirty="0">
                <a:latin typeface="+mn-ea"/>
                <a:ea typeface="+mn-ea"/>
              </a:rPr>
              <a:t>创建</a:t>
            </a:r>
            <a:r>
              <a:rPr lang="en-US" altLang="zh-CN" sz="2000" dirty="0">
                <a:latin typeface="+mn-ea"/>
                <a:ea typeface="+mn-ea"/>
              </a:rPr>
              <a:t>Student</a:t>
            </a:r>
            <a:r>
              <a:rPr lang="zh-CN" altLang="en-US" sz="2000" dirty="0">
                <a:latin typeface="+mn-ea"/>
                <a:ea typeface="+mn-ea"/>
              </a:rPr>
              <a:t>对象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 err="1">
                <a:latin typeface="+mn-ea"/>
                <a:ea typeface="+mn-ea"/>
              </a:rPr>
              <a:t>p.SetValue</a:t>
            </a:r>
            <a:r>
              <a:rPr lang="en-US" altLang="zh-CN" sz="2000" dirty="0">
                <a:latin typeface="+mn-ea"/>
                <a:ea typeface="+mn-ea"/>
              </a:rPr>
              <a:t>("2020001", "</a:t>
            </a:r>
            <a:r>
              <a:rPr lang="zh-CN" altLang="en-US" sz="2000" dirty="0">
                <a:latin typeface="+mn-ea"/>
                <a:ea typeface="+mn-ea"/>
              </a:rPr>
              <a:t>张三</a:t>
            </a:r>
            <a:r>
              <a:rPr lang="en-US" altLang="zh-CN" sz="2000" dirty="0">
                <a:latin typeface="+mn-ea"/>
                <a:ea typeface="+mn-ea"/>
              </a:rPr>
              <a:t>", 88)   # </a:t>
            </a:r>
            <a:r>
              <a:rPr lang="zh-CN" altLang="en-US" sz="2000" dirty="0">
                <a:latin typeface="+mn-ea"/>
                <a:ea typeface="+mn-ea"/>
              </a:rPr>
              <a:t>对象初始化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print(</a:t>
            </a:r>
            <a:r>
              <a:rPr lang="en-US" altLang="zh-CN" sz="2000" dirty="0" err="1">
                <a:latin typeface="+mn-ea"/>
                <a:ea typeface="+mn-ea"/>
              </a:rPr>
              <a:t>p.No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7" name="Text Box 4" descr="蓝色砂纸"/>
          <p:cNvSpPr txBox="1">
            <a:spLocks noChangeArrowheads="1"/>
          </p:cNvSpPr>
          <p:nvPr/>
        </p:nvSpPr>
        <p:spPr bwMode="auto">
          <a:xfrm>
            <a:off x="6168008" y="2405090"/>
            <a:ext cx="5616624" cy="347787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class Student: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# </a:t>
            </a:r>
            <a:r>
              <a:rPr lang="en-US" altLang="zh-CN" sz="2000" dirty="0" err="1">
                <a:latin typeface="+mn-ea"/>
                <a:ea typeface="+mn-ea"/>
              </a:rPr>
              <a:t>SetValue</a:t>
            </a:r>
            <a:r>
              <a:rPr lang="zh-CN" altLang="en-US" sz="2000" dirty="0">
                <a:latin typeface="+mn-ea"/>
                <a:ea typeface="+mn-ea"/>
              </a:rPr>
              <a:t>方法用于定义该类对象的数据属性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    </a:t>
            </a:r>
            <a:r>
              <a:rPr lang="en-US" altLang="zh-CN" sz="2000" dirty="0" err="1">
                <a:latin typeface="+mn-ea"/>
                <a:ea typeface="+mn-ea"/>
              </a:rPr>
              <a:t>def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err="1">
                <a:latin typeface="+mn-ea"/>
                <a:ea typeface="+mn-ea"/>
              </a:rPr>
              <a:t>SetValue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en-US" altLang="zh-CN" sz="2000" dirty="0" err="1">
                <a:latin typeface="+mn-ea"/>
                <a:ea typeface="+mn-ea"/>
              </a:rPr>
              <a:t>self,a,b,c</a:t>
            </a:r>
            <a:r>
              <a:rPr lang="en-US" altLang="zh-CN" sz="2000" dirty="0">
                <a:latin typeface="+mn-ea"/>
                <a:ea typeface="+mn-ea"/>
              </a:rPr>
              <a:t>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self.__No</a:t>
            </a:r>
            <a:r>
              <a:rPr lang="en-US" altLang="zh-CN" sz="2000" dirty="0">
                <a:latin typeface="+mn-ea"/>
                <a:ea typeface="+mn-ea"/>
              </a:rPr>
              <a:t>=</a:t>
            </a:r>
            <a:r>
              <a:rPr lang="en-US" altLang="zh-CN" sz="2000" dirty="0" err="1">
                <a:latin typeface="+mn-ea"/>
                <a:ea typeface="+mn-ea"/>
              </a:rPr>
              <a:t>a;self</a:t>
            </a:r>
            <a:r>
              <a:rPr lang="en-US" altLang="zh-CN" sz="2000" dirty="0">
                <a:latin typeface="+mn-ea"/>
                <a:ea typeface="+mn-ea"/>
              </a:rPr>
              <a:t>.__Name=b;  </a:t>
            </a:r>
            <a:r>
              <a:rPr lang="en-US" altLang="zh-CN" sz="2000" dirty="0" err="1">
                <a:latin typeface="+mn-ea"/>
                <a:ea typeface="+mn-ea"/>
              </a:rPr>
              <a:t>self.__Score</a:t>
            </a:r>
            <a:r>
              <a:rPr lang="en-US" altLang="zh-CN" sz="2000" dirty="0">
                <a:latin typeface="+mn-ea"/>
                <a:ea typeface="+mn-ea"/>
              </a:rPr>
              <a:t>=c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# </a:t>
            </a:r>
            <a:r>
              <a:rPr lang="en-US" altLang="zh-CN" sz="2000" dirty="0" err="1">
                <a:latin typeface="+mn-ea"/>
                <a:ea typeface="+mn-ea"/>
              </a:rPr>
              <a:t>Disp</a:t>
            </a:r>
            <a:r>
              <a:rPr lang="zh-CN" altLang="en-US" sz="2000" dirty="0">
                <a:latin typeface="+mn-ea"/>
                <a:ea typeface="+mn-ea"/>
              </a:rPr>
              <a:t>方法用于输出该类对象的数据属性值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    </a:t>
            </a:r>
            <a:r>
              <a:rPr lang="en-US" altLang="zh-CN" sz="2000" dirty="0" err="1">
                <a:latin typeface="+mn-ea"/>
                <a:ea typeface="+mn-ea"/>
              </a:rPr>
              <a:t>def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err="1">
                <a:latin typeface="+mn-ea"/>
                <a:ea typeface="+mn-ea"/>
              </a:rPr>
              <a:t>disp</a:t>
            </a:r>
            <a:r>
              <a:rPr lang="en-US" altLang="zh-CN" sz="2000" dirty="0">
                <a:latin typeface="+mn-ea"/>
                <a:ea typeface="+mn-ea"/>
              </a:rPr>
              <a:t>(self):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print(</a:t>
            </a:r>
            <a:r>
              <a:rPr lang="en-US" altLang="zh-CN" sz="2000" dirty="0" err="1">
                <a:latin typeface="+mn-ea"/>
                <a:ea typeface="+mn-ea"/>
              </a:rPr>
              <a:t>self.__No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p=Student()                           # </a:t>
            </a:r>
            <a:r>
              <a:rPr lang="zh-CN" altLang="en-US" sz="2000" dirty="0">
                <a:latin typeface="+mn-ea"/>
                <a:ea typeface="+mn-ea"/>
              </a:rPr>
              <a:t>创建</a:t>
            </a:r>
            <a:r>
              <a:rPr lang="en-US" altLang="zh-CN" sz="2000" dirty="0">
                <a:latin typeface="+mn-ea"/>
                <a:ea typeface="+mn-ea"/>
              </a:rPr>
              <a:t>Student</a:t>
            </a:r>
            <a:r>
              <a:rPr lang="zh-CN" altLang="en-US" sz="2000" dirty="0">
                <a:latin typeface="+mn-ea"/>
                <a:ea typeface="+mn-ea"/>
              </a:rPr>
              <a:t>对象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 err="1">
                <a:latin typeface="+mn-ea"/>
                <a:ea typeface="+mn-ea"/>
              </a:rPr>
              <a:t>p.SetValue</a:t>
            </a:r>
            <a:r>
              <a:rPr lang="en-US" altLang="zh-CN" sz="2000" dirty="0">
                <a:latin typeface="+mn-ea"/>
                <a:ea typeface="+mn-ea"/>
              </a:rPr>
              <a:t>("2020001", "</a:t>
            </a:r>
            <a:r>
              <a:rPr lang="zh-CN" altLang="en-US" sz="2000" dirty="0">
                <a:latin typeface="+mn-ea"/>
                <a:ea typeface="+mn-ea"/>
              </a:rPr>
              <a:t>张三</a:t>
            </a:r>
            <a:r>
              <a:rPr lang="en-US" altLang="zh-CN" sz="2000" dirty="0">
                <a:latin typeface="+mn-ea"/>
                <a:ea typeface="+mn-ea"/>
              </a:rPr>
              <a:t>", 88)   # </a:t>
            </a:r>
            <a:r>
              <a:rPr lang="zh-CN" altLang="en-US" sz="2000" dirty="0">
                <a:latin typeface="+mn-ea"/>
                <a:ea typeface="+mn-ea"/>
              </a:rPr>
              <a:t>对象初始化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print(</a:t>
            </a:r>
            <a:r>
              <a:rPr lang="en-US" altLang="zh-CN" sz="2000" dirty="0" err="1">
                <a:latin typeface="+mn-ea"/>
                <a:ea typeface="+mn-ea"/>
              </a:rPr>
              <a:t>p.__No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 err="1">
                <a:latin typeface="+mn-ea"/>
                <a:ea typeface="+mn-ea"/>
              </a:rPr>
              <a:t>p.disp</a:t>
            </a:r>
            <a:r>
              <a:rPr lang="en-US" altLang="zh-CN" sz="2000" dirty="0">
                <a:latin typeface="+mn-ea"/>
                <a:ea typeface="+mn-ea"/>
              </a:rPr>
              <a:t>()</a:t>
            </a:r>
            <a:endParaRPr lang="zh-CN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22882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 descr="蓝色砂纸"/>
          <p:cNvSpPr txBox="1">
            <a:spLocks noChangeArrowheads="1"/>
          </p:cNvSpPr>
          <p:nvPr/>
        </p:nvSpPr>
        <p:spPr bwMode="auto">
          <a:xfrm>
            <a:off x="621230" y="1339682"/>
            <a:ext cx="11089231" cy="5078313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>
                <a:solidFill>
                  <a:srgbClr val="339933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 indent="-285750">
              <a:lnSpc>
                <a:spcPct val="150000"/>
              </a:lnSpc>
            </a:pP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类名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父类名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（父类缺省为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>
              <a:lnSpc>
                <a:spcPct val="150000"/>
              </a:lnSpc>
            </a:pP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类体前的字符串说明类的帮助信息，可以通过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.__doc__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</a:t>
            </a:r>
            <a:endParaRPr lang="en-US" altLang="zh-CN" sz="2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>
              <a:lnSpc>
                <a:spcPct val="150000"/>
              </a:lnSpc>
            </a:pP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类体包括类的方法和数据属性，方法和数据都称为类的成员</a:t>
            </a:r>
            <a:endParaRPr lang="en-US" altLang="zh-CN" sz="24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>
              <a:lnSpc>
                <a:spcPct val="150000"/>
              </a:lnSpc>
            </a:pP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altLang="zh-CN" sz="2400" b="1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__(self,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的方法，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创建实例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时被调用，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前后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个下划线</a:t>
            </a:r>
            <a:endParaRPr lang="en-US" altLang="zh-CN" sz="24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>
              <a:lnSpc>
                <a:spcPct val="150000"/>
              </a:lnSpc>
            </a:pP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 </a:t>
            </a: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其他方法可以通过</a:t>
            </a: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实例调用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，格式为： 对象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.xxx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类内的方法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第一个参数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是对象自身的引用</a:t>
            </a:r>
            <a:endParaRPr lang="en-US" altLang="zh-CN" sz="24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⑦ 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创建实例对象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初始化参数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来创建，调用构造函数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⑧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实例调用方法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方法名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2000" dirty="0" err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p.SetValue</a:t>
            </a: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("2020001", "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张三</a:t>
            </a: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", 88)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23392" y="692696"/>
            <a:ext cx="4248472" cy="6469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类的定义语法格式</a:t>
            </a:r>
          </a:p>
        </p:txBody>
      </p:sp>
    </p:spTree>
    <p:extLst>
      <p:ext uri="{BB962C8B-B14F-4D97-AF65-F5344CB8AC3E}">
        <p14:creationId xmlns:p14="http://schemas.microsoft.com/office/powerpoint/2010/main" val="4874750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 descr="蓝色砂纸"/>
          <p:cNvSpPr txBox="1">
            <a:spLocks noChangeArrowheads="1"/>
          </p:cNvSpPr>
          <p:nvPr/>
        </p:nvSpPr>
        <p:spPr bwMode="auto">
          <a:xfrm>
            <a:off x="623392" y="1124744"/>
            <a:ext cx="11089231" cy="4708981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>
                <a:solidFill>
                  <a:srgbClr val="339933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</a:rPr>
              <a:t>class</a:t>
            </a:r>
            <a:r>
              <a:rPr lang="en-US" altLang="zh-CN" sz="2400" dirty="0">
                <a:solidFill>
                  <a:srgbClr val="000066"/>
                </a:solidFill>
              </a:rPr>
              <a:t> </a:t>
            </a:r>
            <a:r>
              <a:rPr lang="zh-CN" altLang="en-US" sz="2400" dirty="0">
                <a:solidFill>
                  <a:srgbClr val="000066"/>
                </a:solidFill>
              </a:rPr>
              <a:t>类名</a:t>
            </a:r>
            <a:r>
              <a:rPr lang="en-US" altLang="zh-CN" sz="2400" dirty="0">
                <a:solidFill>
                  <a:srgbClr val="000066"/>
                </a:solidFill>
              </a:rPr>
              <a:t>:</a:t>
            </a:r>
          </a:p>
          <a:p>
            <a:r>
              <a:rPr lang="en-US" altLang="zh-CN" sz="2400" dirty="0">
                <a:solidFill>
                  <a:srgbClr val="000066"/>
                </a:solidFill>
              </a:rPr>
              <a:t>    </a:t>
            </a:r>
            <a:r>
              <a:rPr lang="en-US" altLang="zh-CN" sz="2400" dirty="0" err="1">
                <a:solidFill>
                  <a:srgbClr val="000066"/>
                </a:solidFill>
              </a:rPr>
              <a:t>def</a:t>
            </a:r>
            <a:r>
              <a:rPr lang="en-US" altLang="zh-CN" sz="2400" dirty="0">
                <a:solidFill>
                  <a:srgbClr val="000066"/>
                </a:solidFill>
              </a:rPr>
              <a:t>  __</a:t>
            </a:r>
            <a:r>
              <a:rPr lang="en-US" altLang="zh-CN" sz="2400" dirty="0" err="1">
                <a:solidFill>
                  <a:srgbClr val="000066"/>
                </a:solidFill>
              </a:rPr>
              <a:t>init</a:t>
            </a:r>
            <a:r>
              <a:rPr lang="en-US" altLang="zh-CN" sz="2400" dirty="0">
                <a:solidFill>
                  <a:srgbClr val="000066"/>
                </a:solidFill>
              </a:rPr>
              <a:t>__(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  <a:r>
              <a:rPr lang="en-US" altLang="zh-CN" sz="2400" dirty="0">
                <a:solidFill>
                  <a:srgbClr val="000066"/>
                </a:solidFill>
              </a:rPr>
              <a:t>, </a:t>
            </a:r>
            <a:r>
              <a:rPr lang="zh-CN" altLang="en-US" sz="2400" dirty="0">
                <a:solidFill>
                  <a:srgbClr val="000066"/>
                </a:solidFill>
              </a:rPr>
              <a:t>形参列表</a:t>
            </a:r>
            <a:r>
              <a:rPr lang="en-US" altLang="zh-CN" sz="2400" dirty="0">
                <a:solidFill>
                  <a:srgbClr val="000066"/>
                </a:solidFill>
              </a:rPr>
              <a:t>):  # </a:t>
            </a:r>
            <a:r>
              <a:rPr lang="zh-CN" altLang="en-US" sz="2400" dirty="0">
                <a:solidFill>
                  <a:srgbClr val="000066"/>
                </a:solidFill>
              </a:rPr>
              <a:t>构造函数</a:t>
            </a:r>
            <a:endParaRPr lang="en-US" altLang="zh-CN" sz="2400" dirty="0">
              <a:solidFill>
                <a:srgbClr val="000066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# </a:t>
            </a:r>
            <a:r>
              <a:rPr lang="zh-CN" altLang="en-US" sz="2400" dirty="0">
                <a:solidFill>
                  <a:srgbClr val="000066"/>
                </a:solidFill>
              </a:rPr>
              <a:t>当一个类中，不编写 </a:t>
            </a:r>
            <a:r>
              <a:rPr lang="en-US" altLang="zh-CN" sz="2400" dirty="0">
                <a:solidFill>
                  <a:srgbClr val="000066"/>
                </a:solidFill>
              </a:rPr>
              <a:t>__</a:t>
            </a:r>
            <a:r>
              <a:rPr lang="en-US" altLang="zh-CN" sz="2400" dirty="0" err="1">
                <a:solidFill>
                  <a:srgbClr val="000066"/>
                </a:solidFill>
              </a:rPr>
              <a:t>init</a:t>
            </a:r>
            <a:r>
              <a:rPr lang="en-US" altLang="zh-CN" sz="2400" dirty="0">
                <a:solidFill>
                  <a:srgbClr val="000066"/>
                </a:solidFill>
              </a:rPr>
              <a:t>__</a:t>
            </a:r>
            <a:r>
              <a:rPr lang="zh-CN" altLang="en-US" sz="2400" dirty="0">
                <a:solidFill>
                  <a:srgbClr val="000066"/>
                </a:solidFill>
              </a:rPr>
              <a:t>函数时，系统自动提供无参的构造，对象实例化时调用构造函数</a:t>
            </a:r>
            <a:r>
              <a:rPr lang="en-US" altLang="zh-CN" sz="2400" dirty="0">
                <a:solidFill>
                  <a:srgbClr val="000066"/>
                </a:solidFill>
              </a:rPr>
              <a:t> </a:t>
            </a:r>
            <a:r>
              <a:rPr lang="zh-CN" altLang="en-US" sz="2400" dirty="0">
                <a:solidFill>
                  <a:srgbClr val="000066"/>
                </a:solidFill>
              </a:rPr>
              <a:t>，类似定义了一个  </a:t>
            </a:r>
            <a:r>
              <a:rPr lang="en-US" altLang="zh-CN" sz="2400" dirty="0">
                <a:solidFill>
                  <a:srgbClr val="000066"/>
                </a:solidFill>
              </a:rPr>
              <a:t>__</a:t>
            </a:r>
            <a:r>
              <a:rPr lang="en-US" altLang="zh-CN" sz="2400" dirty="0" err="1">
                <a:solidFill>
                  <a:srgbClr val="000066"/>
                </a:solidFill>
              </a:rPr>
              <a:t>init</a:t>
            </a:r>
            <a:r>
              <a:rPr lang="en-US" altLang="zh-CN" sz="2400" dirty="0">
                <a:solidFill>
                  <a:srgbClr val="000066"/>
                </a:solidFill>
              </a:rPr>
              <a:t>__(self) </a:t>
            </a:r>
            <a:r>
              <a:rPr lang="zh-CN" altLang="en-US" sz="2400" dirty="0">
                <a:solidFill>
                  <a:srgbClr val="000066"/>
                </a:solidFill>
              </a:rPr>
              <a:t>的函数</a:t>
            </a:r>
            <a:endParaRPr lang="zh-CN" altLang="zh-CN" sz="2400" dirty="0">
              <a:solidFill>
                <a:srgbClr val="000066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    ...</a:t>
            </a:r>
          </a:p>
          <a:p>
            <a:r>
              <a:rPr lang="en-US" altLang="zh-CN" sz="2400" dirty="0">
                <a:solidFill>
                  <a:srgbClr val="000066"/>
                </a:solidFill>
              </a:rPr>
              <a:t>    </a:t>
            </a:r>
            <a:r>
              <a:rPr lang="en-US" altLang="zh-CN" sz="2400" dirty="0" err="1">
                <a:solidFill>
                  <a:srgbClr val="000066"/>
                </a:solidFill>
              </a:rPr>
              <a:t>def</a:t>
            </a:r>
            <a:r>
              <a:rPr lang="en-US" altLang="zh-CN" sz="2400" dirty="0">
                <a:solidFill>
                  <a:srgbClr val="000066"/>
                </a:solidFill>
              </a:rPr>
              <a:t>  </a:t>
            </a:r>
            <a:r>
              <a:rPr lang="zh-CN" altLang="en-US" sz="2400" dirty="0">
                <a:solidFill>
                  <a:srgbClr val="000066"/>
                </a:solidFill>
              </a:rPr>
              <a:t>函数名</a:t>
            </a:r>
            <a:r>
              <a:rPr lang="en-US" altLang="zh-CN" sz="2400" dirty="0">
                <a:solidFill>
                  <a:srgbClr val="000066"/>
                </a:solidFill>
              </a:rPr>
              <a:t>1(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  <a:r>
              <a:rPr lang="en-US" altLang="zh-CN" sz="2400" dirty="0">
                <a:solidFill>
                  <a:srgbClr val="000066"/>
                </a:solidFill>
              </a:rPr>
              <a:t>,</a:t>
            </a:r>
            <a:r>
              <a:rPr lang="zh-CN" altLang="en-US" sz="2400" dirty="0">
                <a:solidFill>
                  <a:srgbClr val="000066"/>
                </a:solidFill>
              </a:rPr>
              <a:t>形参列表</a:t>
            </a:r>
            <a:r>
              <a:rPr lang="en-US" altLang="zh-CN" sz="2400" dirty="0">
                <a:solidFill>
                  <a:srgbClr val="000066"/>
                </a:solidFill>
              </a:rPr>
              <a:t>):  # </a:t>
            </a:r>
            <a:r>
              <a:rPr lang="zh-CN" altLang="en-US" sz="2400" dirty="0">
                <a:solidFill>
                  <a:srgbClr val="000066"/>
                </a:solidFill>
              </a:rPr>
              <a:t>函数</a:t>
            </a:r>
            <a:r>
              <a:rPr lang="en-US" altLang="zh-CN" sz="2400" dirty="0">
                <a:solidFill>
                  <a:srgbClr val="000066"/>
                </a:solidFill>
              </a:rPr>
              <a:t>1</a:t>
            </a:r>
            <a:endParaRPr lang="zh-CN" altLang="zh-CN" sz="2400" dirty="0">
              <a:solidFill>
                <a:srgbClr val="000066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  ...</a:t>
            </a:r>
          </a:p>
          <a:p>
            <a:r>
              <a:rPr lang="en-US" altLang="zh-CN" sz="2400" dirty="0">
                <a:solidFill>
                  <a:srgbClr val="000066"/>
                </a:solidFill>
              </a:rPr>
              <a:t>    </a:t>
            </a:r>
            <a:r>
              <a:rPr lang="en-US" altLang="zh-CN" sz="2400" dirty="0" err="1">
                <a:solidFill>
                  <a:srgbClr val="000066"/>
                </a:solidFill>
              </a:rPr>
              <a:t>def</a:t>
            </a:r>
            <a:r>
              <a:rPr lang="en-US" altLang="zh-CN" sz="2400" dirty="0">
                <a:solidFill>
                  <a:srgbClr val="000066"/>
                </a:solidFill>
              </a:rPr>
              <a:t>  </a:t>
            </a:r>
            <a:r>
              <a:rPr lang="zh-CN" altLang="en-US" sz="2400" dirty="0">
                <a:solidFill>
                  <a:srgbClr val="000066"/>
                </a:solidFill>
              </a:rPr>
              <a:t>函数名</a:t>
            </a:r>
            <a:r>
              <a:rPr lang="en-US" altLang="zh-CN" sz="2400" dirty="0">
                <a:solidFill>
                  <a:srgbClr val="000066"/>
                </a:solidFill>
              </a:rPr>
              <a:t>n(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  <a:r>
              <a:rPr lang="en-US" altLang="zh-CN" sz="2400" dirty="0">
                <a:solidFill>
                  <a:srgbClr val="000066"/>
                </a:solidFill>
              </a:rPr>
              <a:t>,</a:t>
            </a:r>
            <a:r>
              <a:rPr lang="zh-CN" altLang="en-US" sz="2400" dirty="0">
                <a:solidFill>
                  <a:srgbClr val="000066"/>
                </a:solidFill>
              </a:rPr>
              <a:t>形参列表</a:t>
            </a:r>
            <a:r>
              <a:rPr lang="en-US" altLang="zh-CN" sz="2400" dirty="0">
                <a:solidFill>
                  <a:srgbClr val="000066"/>
                </a:solidFill>
              </a:rPr>
              <a:t>):  # </a:t>
            </a:r>
            <a:r>
              <a:rPr lang="zh-CN" altLang="en-US" sz="2400" dirty="0">
                <a:solidFill>
                  <a:srgbClr val="000066"/>
                </a:solidFill>
              </a:rPr>
              <a:t>函数</a:t>
            </a:r>
            <a:r>
              <a:rPr lang="en-US" altLang="zh-CN" sz="2400" dirty="0">
                <a:solidFill>
                  <a:srgbClr val="000066"/>
                </a:solidFill>
              </a:rPr>
              <a:t>n</a:t>
            </a:r>
          </a:p>
          <a:p>
            <a:endParaRPr lang="en-US" altLang="zh-CN" sz="2400" dirty="0">
              <a:solidFill>
                <a:srgbClr val="000066"/>
              </a:solidFill>
            </a:endParaRPr>
          </a:p>
          <a:p>
            <a:endParaRPr lang="en-US" altLang="zh-CN" sz="2400" dirty="0">
              <a:solidFill>
                <a:srgbClr val="000066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类的每个函数的定义时，第一个参数，都是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</a:p>
          <a:p>
            <a:pPr indent="-285750"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51384" y="188640"/>
            <a:ext cx="9865096" cy="6469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类的定义语法格式，此页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请背诵牢记</a:t>
            </a:r>
          </a:p>
        </p:txBody>
      </p:sp>
    </p:spTree>
    <p:extLst>
      <p:ext uri="{BB962C8B-B14F-4D97-AF65-F5344CB8AC3E}">
        <p14:creationId xmlns:p14="http://schemas.microsoft.com/office/powerpoint/2010/main" val="38943748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 descr="蓝色砂纸"/>
          <p:cNvSpPr txBox="1">
            <a:spLocks noChangeArrowheads="1"/>
          </p:cNvSpPr>
          <p:nvPr/>
        </p:nvSpPr>
        <p:spPr bwMode="auto">
          <a:xfrm>
            <a:off x="623392" y="1196752"/>
            <a:ext cx="10513168" cy="501675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类不能直接调用，必须实例化后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．类的实例化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                     #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无参</a:t>
            </a:r>
            <a:endParaRPr lang="en-US" altLang="zh-CN" sz="20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实在参数表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  #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有参，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取决于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变量与实例的关系 ：绑定或引用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．对象成员的访问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数据成员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（属性）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对象变量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数据成员名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方法：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对象变量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b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对象变量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实在参数表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调用时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，定义时的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实参表中忽略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839416" y="457959"/>
            <a:ext cx="8686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7.2.3 </a:t>
            </a:r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类的实例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化、对象</a:t>
            </a:r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成员的访问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48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8" y="3284984"/>
            <a:ext cx="5009652" cy="1389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134" y="1219595"/>
            <a:ext cx="4079426" cy="385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983432" y="401447"/>
            <a:ext cx="8686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继承和派生</a:t>
            </a:r>
          </a:p>
        </p:txBody>
      </p:sp>
      <p:sp>
        <p:nvSpPr>
          <p:cNvPr id="23555" name="Text Box 4" descr="蓝色砂纸"/>
          <p:cNvSpPr txBox="1">
            <a:spLocks noChangeArrowheads="1"/>
          </p:cNvSpPr>
          <p:nvPr/>
        </p:nvSpPr>
        <p:spPr bwMode="auto">
          <a:xfrm>
            <a:off x="1127448" y="1498426"/>
            <a:ext cx="3776662" cy="47859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#</a:t>
            </a:r>
            <a:r>
              <a:rPr lang="zh-CN" altLang="en-US" dirty="0">
                <a:solidFill>
                  <a:srgbClr val="C00000"/>
                </a:solidFill>
              </a:rPr>
              <a:t>直接定义</a:t>
            </a:r>
            <a:r>
              <a:rPr lang="zh-CN" altLang="zh-CN" dirty="0">
                <a:solidFill>
                  <a:srgbClr val="C00000"/>
                </a:solidFill>
              </a:rPr>
              <a:t>学生干部类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StudentLeader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SetValue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self,a,b,c,d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self.No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=a	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self.Name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=b          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self.Score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=c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self.Duty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=d	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Disp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(self):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self.No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self.Name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self.Score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self.Duty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  </a:t>
            </a:r>
            <a:endParaRPr lang="zh-CN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556" name="Text Box 4" descr="蓝色砂纸"/>
          <p:cNvSpPr txBox="1">
            <a:spLocks noChangeArrowheads="1"/>
          </p:cNvSpPr>
          <p:nvPr/>
        </p:nvSpPr>
        <p:spPr bwMode="auto">
          <a:xfrm>
            <a:off x="5231904" y="1507242"/>
            <a:ext cx="6061248" cy="313162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#</a:t>
            </a:r>
            <a:r>
              <a:rPr lang="zh-CN" altLang="en-US" dirty="0">
                <a:solidFill>
                  <a:srgbClr val="C00000"/>
                </a:solidFill>
              </a:rPr>
              <a:t>通过派生定义</a:t>
            </a:r>
            <a:r>
              <a:rPr lang="zh-CN" altLang="zh-CN" dirty="0">
                <a:solidFill>
                  <a:srgbClr val="C00000"/>
                </a:solidFill>
              </a:rPr>
              <a:t>学生干部类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StudentLeader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(Student):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new_SetValue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self,a,b,c,d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self.SetValue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a,b,c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  # </a:t>
            </a:r>
            <a:r>
              <a:rPr lang="zh-CN" altLang="en-US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继承自父类，调用格式</a:t>
            </a:r>
            <a:endParaRPr lang="en-US" altLang="zh-CN" sz="20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self.Duty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=d				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New_Disp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(self):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self.Disp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 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 </a:t>
            </a:r>
            <a:r>
              <a:rPr lang="zh-CN" altLang="en-US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继承自父类   ，</a:t>
            </a:r>
            <a:endParaRPr lang="en-US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self.Duty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31904" y="5027553"/>
            <a:ext cx="6061248" cy="124649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 err="1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sLeader</a:t>
            </a:r>
            <a:r>
              <a:rPr lang="en-US" altLang="zh-CN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sz="2000" dirty="0" err="1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StudentLeader</a:t>
            </a:r>
            <a:r>
              <a:rPr lang="en-US" altLang="zh-CN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2000" dirty="0" err="1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sLeader.new_SetValue</a:t>
            </a:r>
            <a:r>
              <a:rPr lang="en-US" altLang="zh-CN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("1900001","</a:t>
            </a:r>
            <a:r>
              <a:rPr lang="zh-CN" altLang="en-US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王涛</a:t>
            </a:r>
            <a:r>
              <a:rPr lang="en-US" altLang="zh-CN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",82,"</a:t>
            </a:r>
            <a:r>
              <a:rPr lang="zh-CN" altLang="en-US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班长</a:t>
            </a:r>
            <a:r>
              <a:rPr lang="en-US" altLang="zh-CN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")</a:t>
            </a:r>
          </a:p>
          <a:p>
            <a:pPr>
              <a:lnSpc>
                <a:spcPct val="125000"/>
              </a:lnSpc>
            </a:pPr>
            <a:r>
              <a:rPr lang="en-US" altLang="zh-CN" sz="2000" dirty="0" err="1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sLeader.New_Disp</a:t>
            </a:r>
            <a:r>
              <a:rPr lang="en-US" altLang="zh-CN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  <a:endParaRPr lang="zh-CN" altLang="zh-CN" sz="2000" b="0" dirty="0">
              <a:solidFill>
                <a:srgbClr val="000099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9654" y="964434"/>
            <a:ext cx="1566454" cy="533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lnSpc>
                <a:spcPct val="133000"/>
              </a:lnSpc>
              <a:spcBef>
                <a:spcPts val="1200"/>
              </a:spcBef>
              <a:spcAft>
                <a:spcPts val="320"/>
              </a:spcAft>
            </a:pPr>
            <a:r>
              <a:rPr lang="en-US" altLang="zh-CN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．引例</a:t>
            </a:r>
          </a:p>
        </p:txBody>
      </p:sp>
    </p:spTree>
    <p:extLst>
      <p:ext uri="{BB962C8B-B14F-4D97-AF65-F5344CB8AC3E}">
        <p14:creationId xmlns:p14="http://schemas.microsoft.com/office/powerpoint/2010/main" val="12927386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4" descr="蓝色砂纸"/>
          <p:cNvSpPr txBox="1">
            <a:spLocks noChangeArrowheads="1"/>
          </p:cNvSpPr>
          <p:nvPr/>
        </p:nvSpPr>
        <p:spPr bwMode="auto">
          <a:xfrm>
            <a:off x="1524410" y="1484784"/>
            <a:ext cx="9684158" cy="170816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sz="28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</a:t>
            </a:r>
            <a:r>
              <a:rPr lang="en-US" altLang="zh-CN" sz="2800" dirty="0">
                <a:solidFill>
                  <a:srgbClr val="C00000"/>
                </a:solidFill>
              </a:rPr>
              <a:t>  </a:t>
            </a:r>
            <a:r>
              <a:rPr lang="zh-CN" altLang="zh-CN" sz="2800" dirty="0">
                <a:solidFill>
                  <a:srgbClr val="C00000"/>
                </a:solidFill>
              </a:rPr>
              <a:t>派生类名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zh-CN" altLang="zh-CN" sz="2800" dirty="0">
                <a:solidFill>
                  <a:srgbClr val="C00000"/>
                </a:solidFill>
              </a:rPr>
              <a:t>基类名</a:t>
            </a:r>
            <a:r>
              <a:rPr lang="en-US" altLang="zh-CN" sz="2800" dirty="0">
                <a:solidFill>
                  <a:srgbClr val="C00000"/>
                </a:solidFill>
              </a:rPr>
              <a:t>)</a:t>
            </a:r>
            <a:r>
              <a:rPr lang="en-US" altLang="zh-CN" sz="2800" dirty="0"/>
              <a:t>:</a:t>
            </a:r>
            <a:endParaRPr lang="zh-CN" altLang="zh-CN" sz="2800" dirty="0"/>
          </a:p>
          <a:p>
            <a:r>
              <a:rPr lang="en-US" altLang="zh-CN" sz="2800" dirty="0"/>
              <a:t>       '</a:t>
            </a:r>
            <a:r>
              <a:rPr lang="zh-CN" altLang="zh-CN" sz="2800" dirty="0"/>
              <a:t>类文档字符串</a:t>
            </a:r>
            <a:r>
              <a:rPr lang="en-US" altLang="zh-CN" sz="2800" dirty="0"/>
              <a:t>'</a:t>
            </a:r>
            <a:br>
              <a:rPr lang="en-US" altLang="zh-CN" sz="2800" dirty="0"/>
            </a:br>
            <a:r>
              <a:rPr lang="en-US" altLang="zh-CN" sz="2800" dirty="0"/>
              <a:t>       </a:t>
            </a:r>
            <a:r>
              <a:rPr lang="zh-CN" altLang="zh-CN" sz="2800" dirty="0"/>
              <a:t>类体</a:t>
            </a:r>
          </a:p>
        </p:txBody>
      </p:sp>
      <p:sp>
        <p:nvSpPr>
          <p:cNvPr id="5" name="Text Box 4" descr="蓝色砂纸"/>
          <p:cNvSpPr txBox="1">
            <a:spLocks noChangeArrowheads="1"/>
          </p:cNvSpPr>
          <p:nvPr/>
        </p:nvSpPr>
        <p:spPr bwMode="auto">
          <a:xfrm>
            <a:off x="1415480" y="4725144"/>
            <a:ext cx="9684158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</a:t>
            </a:r>
            <a:r>
              <a:rPr lang="en-US" altLang="zh-CN" sz="24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</a:t>
            </a:r>
            <a:r>
              <a:rPr lang="en-US" altLang="zh-CN" sz="2400" dirty="0">
                <a:solidFill>
                  <a:srgbClr val="C00000"/>
                </a:solidFill>
              </a:rPr>
              <a:t>(</a:t>
            </a:r>
            <a:r>
              <a:rPr lang="zh-CN" altLang="zh-CN" sz="2400" dirty="0">
                <a:solidFill>
                  <a:srgbClr val="C00000"/>
                </a:solidFill>
              </a:rPr>
              <a:t>派生类构造函数总参数表</a:t>
            </a:r>
            <a:r>
              <a:rPr lang="en-US" altLang="zh-CN" sz="2400" dirty="0">
                <a:solidFill>
                  <a:srgbClr val="C00000"/>
                </a:solidFill>
              </a:rPr>
              <a:t>):</a:t>
            </a:r>
            <a:endParaRPr lang="zh-CN" altLang="zh-CN" sz="2400" dirty="0">
              <a:solidFill>
                <a:srgbClr val="C00000"/>
              </a:solidFill>
            </a:endParaRPr>
          </a:p>
          <a:p>
            <a:r>
              <a:rPr lang="en-US" altLang="zh-CN" sz="2400" dirty="0"/>
              <a:t>       </a:t>
            </a:r>
            <a:r>
              <a:rPr lang="zh-CN" altLang="zh-CN" sz="2400" dirty="0"/>
              <a:t>基类名</a:t>
            </a:r>
            <a:r>
              <a:rPr lang="en-US" altLang="zh-CN" sz="2400" dirty="0"/>
              <a:t>.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</a:t>
            </a:r>
            <a:r>
              <a:rPr lang="en-US" altLang="zh-CN" sz="2400" dirty="0"/>
              <a:t>(</a:t>
            </a:r>
            <a:r>
              <a:rPr lang="zh-CN" altLang="zh-CN" sz="2400" dirty="0"/>
              <a:t>基类构造函数参数表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r>
              <a:rPr lang="en-US" altLang="zh-CN" sz="2400" dirty="0"/>
              <a:t>       </a:t>
            </a:r>
            <a:r>
              <a:rPr lang="zh-CN" altLang="zh-CN" sz="2400" dirty="0"/>
              <a:t>定义派生类对象属性数据成员初始化</a:t>
            </a:r>
          </a:p>
        </p:txBody>
      </p:sp>
      <p:sp>
        <p:nvSpPr>
          <p:cNvPr id="2" name="矩形 1"/>
          <p:cNvSpPr/>
          <p:nvPr/>
        </p:nvSpPr>
        <p:spPr>
          <a:xfrm>
            <a:off x="1524410" y="827032"/>
            <a:ext cx="26629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派生类的定义</a:t>
            </a:r>
          </a:p>
        </p:txBody>
      </p:sp>
      <p:sp>
        <p:nvSpPr>
          <p:cNvPr id="3" name="矩形 2"/>
          <p:cNvSpPr/>
          <p:nvPr/>
        </p:nvSpPr>
        <p:spPr>
          <a:xfrm>
            <a:off x="1538514" y="3766922"/>
            <a:ext cx="34884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派生类的构造函数</a:t>
            </a:r>
          </a:p>
        </p:txBody>
      </p:sp>
      <p:cxnSp>
        <p:nvCxnSpPr>
          <p:cNvPr id="6" name="直接箭头连接符 5"/>
          <p:cNvCxnSpPr/>
          <p:nvPr/>
        </p:nvCxnSpPr>
        <p:spPr bwMode="auto">
          <a:xfrm flipH="1">
            <a:off x="3071664" y="1916832"/>
            <a:ext cx="1872208" cy="345638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960517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983432" y="401447"/>
            <a:ext cx="8686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派生类的构造函数</a:t>
            </a:r>
          </a:p>
        </p:txBody>
      </p:sp>
      <p:sp>
        <p:nvSpPr>
          <p:cNvPr id="23555" name="Text Box 4" descr="蓝色砂纸"/>
          <p:cNvSpPr txBox="1">
            <a:spLocks noChangeArrowheads="1"/>
          </p:cNvSpPr>
          <p:nvPr/>
        </p:nvSpPr>
        <p:spPr bwMode="auto">
          <a:xfrm>
            <a:off x="407368" y="1498426"/>
            <a:ext cx="2952328" cy="320857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Student: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__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self,a,b,c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self.No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=a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self.Name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=b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self.Score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=c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Disp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(self):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self.No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self.Name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self.Score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556" name="Text Box 4" descr="蓝色砂纸"/>
          <p:cNvSpPr txBox="1">
            <a:spLocks noChangeArrowheads="1"/>
          </p:cNvSpPr>
          <p:nvPr/>
        </p:nvSpPr>
        <p:spPr bwMode="auto">
          <a:xfrm>
            <a:off x="3985256" y="1459954"/>
            <a:ext cx="7007288" cy="390106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#</a:t>
            </a:r>
            <a:r>
              <a:rPr lang="zh-CN" altLang="en-US" dirty="0">
                <a:solidFill>
                  <a:srgbClr val="C00000"/>
                </a:solidFill>
              </a:rPr>
              <a:t>通过派生定义</a:t>
            </a:r>
            <a:r>
              <a:rPr lang="zh-CN" altLang="zh-CN" dirty="0">
                <a:solidFill>
                  <a:srgbClr val="C00000"/>
                </a:solidFill>
              </a:rPr>
              <a:t>学生干部类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StudentLeader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__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self,a,b,c,d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b="1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Student.__</a:t>
            </a:r>
            <a:r>
              <a:rPr lang="en-US" altLang="zh-CN" sz="2000" b="1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000" b="1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sz="2000" b="1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self,a,b,c</a:t>
            </a:r>
            <a:r>
              <a:rPr lang="en-US" altLang="zh-CN" sz="2000" b="1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self.Duty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=d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New_Disp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(self):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self.Disp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  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self.Duty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</a:p>
          <a:p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sLeader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StudentLeader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("1900001","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王涛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",82,"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班长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")</a:t>
            </a:r>
          </a:p>
          <a:p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sLeader.New_Disp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384" y="925962"/>
            <a:ext cx="1069524" cy="533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lnSpc>
                <a:spcPct val="133000"/>
              </a:lnSpc>
              <a:spcBef>
                <a:spcPts val="1200"/>
              </a:spcBef>
              <a:spcAft>
                <a:spcPts val="320"/>
              </a:spcAft>
            </a:pPr>
            <a:r>
              <a:rPr lang="zh-CN" altLang="en-US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父类</a:t>
            </a:r>
            <a:endParaRPr lang="zh-CN" altLang="zh-CN" sz="2400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H="1" flipV="1">
            <a:off x="2135560" y="3501008"/>
            <a:ext cx="2520280" cy="5040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3541360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13815" y="1196752"/>
            <a:ext cx="5922195" cy="41764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7.4.1 </a:t>
            </a:r>
            <a:r>
              <a:rPr lang="zh-CN" altLang="zh-CN" dirty="0"/>
              <a:t>迭代器</a:t>
            </a:r>
          </a:p>
          <a:p>
            <a:pPr marL="0" indent="0">
              <a:buNone/>
            </a:pPr>
            <a:r>
              <a:rPr lang="en-US" altLang="zh-CN" b="0" dirty="0">
                <a:solidFill>
                  <a:srgbClr val="C00000"/>
                </a:solidFill>
              </a:rPr>
              <a:t>1</a:t>
            </a:r>
            <a:r>
              <a:rPr lang="zh-CN" altLang="zh-CN" b="0" dirty="0">
                <a:solidFill>
                  <a:srgbClr val="C00000"/>
                </a:solidFill>
              </a:rPr>
              <a:t>．可迭代对象</a:t>
            </a:r>
            <a:r>
              <a:rPr lang="en-US" altLang="zh-CN" b="0" dirty="0">
                <a:solidFill>
                  <a:srgbClr val="C00000"/>
                </a:solidFill>
              </a:rPr>
              <a:t>: </a:t>
            </a:r>
            <a:r>
              <a:rPr lang="zh-CN" altLang="zh-CN" b="0" dirty="0">
                <a:solidFill>
                  <a:schemeClr val="tx1"/>
                </a:solidFill>
              </a:rPr>
              <a:t>能够一次返回</a:t>
            </a:r>
            <a:r>
              <a:rPr lang="zh-CN" altLang="en-US" b="0" dirty="0">
                <a:solidFill>
                  <a:schemeClr val="tx1"/>
                </a:solidFill>
              </a:rPr>
              <a:t>它的</a:t>
            </a:r>
            <a:r>
              <a:rPr lang="zh-CN" altLang="zh-CN" b="0" dirty="0">
                <a:solidFill>
                  <a:schemeClr val="tx1"/>
                </a:solidFill>
              </a:rPr>
              <a:t>一个成员的对象。任何可以用</a:t>
            </a:r>
            <a:r>
              <a:rPr lang="en-US" altLang="zh-CN" b="0" dirty="0">
                <a:solidFill>
                  <a:schemeClr val="tx1"/>
                </a:solidFill>
              </a:rPr>
              <a:t>for</a:t>
            </a:r>
            <a:r>
              <a:rPr lang="zh-CN" altLang="zh-CN" b="0" dirty="0">
                <a:solidFill>
                  <a:schemeClr val="tx1"/>
                </a:solidFill>
              </a:rPr>
              <a:t>循环遍历的对象都是可迭代对象</a:t>
            </a:r>
            <a:r>
              <a:rPr lang="zh-CN" altLang="en-US" b="0" dirty="0">
                <a:solidFill>
                  <a:schemeClr val="tx1"/>
                </a:solidFill>
              </a:rPr>
              <a:t>，如</a:t>
            </a:r>
            <a:r>
              <a:rPr lang="zh-CN" altLang="zh-CN" dirty="0">
                <a:solidFill>
                  <a:srgbClr val="00B050"/>
                </a:solidFill>
              </a:rPr>
              <a:t>字符串、列表、元组、字典、集合都是可迭代对象</a:t>
            </a:r>
            <a:r>
              <a:rPr lang="zh-CN" altLang="en-US" b="0" dirty="0">
                <a:solidFill>
                  <a:schemeClr val="tx1"/>
                </a:solidFill>
              </a:rPr>
              <a:t>。</a:t>
            </a:r>
            <a:endParaRPr lang="en-US" altLang="zh-CN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b="0" dirty="0">
                <a:solidFill>
                  <a:srgbClr val="C00000"/>
                </a:solidFill>
              </a:rPr>
              <a:t>2</a:t>
            </a:r>
            <a:r>
              <a:rPr lang="zh-CN" altLang="zh-CN" b="0" dirty="0">
                <a:solidFill>
                  <a:srgbClr val="C00000"/>
                </a:solidFill>
              </a:rPr>
              <a:t>．迭代器</a:t>
            </a:r>
            <a:r>
              <a:rPr lang="zh-CN" altLang="en-US" b="0" dirty="0">
                <a:solidFill>
                  <a:srgbClr val="C00000"/>
                </a:solidFill>
              </a:rPr>
              <a:t>：</a:t>
            </a:r>
            <a:r>
              <a:rPr lang="zh-CN" altLang="zh-CN" sz="2000" b="0" dirty="0">
                <a:solidFill>
                  <a:schemeClr val="tx1"/>
                </a:solidFill>
              </a:rPr>
              <a:t>用来从可迭代对象中进行取值的循环方法，必须用</a:t>
            </a:r>
            <a:r>
              <a:rPr lang="en-US" altLang="zh-CN" sz="2000" b="0" dirty="0">
                <a:solidFill>
                  <a:schemeClr val="tx1"/>
                </a:solidFill>
              </a:rPr>
              <a:t>__</a:t>
            </a:r>
            <a:r>
              <a:rPr lang="en-US" altLang="zh-CN" sz="2000" b="0" dirty="0" err="1">
                <a:solidFill>
                  <a:schemeClr val="tx1"/>
                </a:solidFill>
              </a:rPr>
              <a:t>iter</a:t>
            </a:r>
            <a:r>
              <a:rPr lang="en-US" altLang="zh-CN" sz="2000" b="0" dirty="0">
                <a:solidFill>
                  <a:schemeClr val="tx1"/>
                </a:solidFill>
              </a:rPr>
              <a:t>__()</a:t>
            </a:r>
            <a:r>
              <a:rPr lang="zh-CN" altLang="zh-CN" sz="2000" b="0" dirty="0">
                <a:solidFill>
                  <a:schemeClr val="tx1"/>
                </a:solidFill>
              </a:rPr>
              <a:t>和</a:t>
            </a:r>
            <a:r>
              <a:rPr lang="en-US" altLang="zh-CN" sz="2000" b="0" dirty="0">
                <a:solidFill>
                  <a:schemeClr val="tx1"/>
                </a:solidFill>
              </a:rPr>
              <a:t>__next__()</a:t>
            </a:r>
            <a:r>
              <a:rPr lang="zh-CN" altLang="zh-CN" sz="2000" b="0" dirty="0">
                <a:solidFill>
                  <a:schemeClr val="tx1"/>
                </a:solidFill>
              </a:rPr>
              <a:t>实现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3</a:t>
            </a:r>
            <a:r>
              <a:rPr lang="zh-CN" altLang="en-US" sz="2000" b="0" dirty="0">
                <a:solidFill>
                  <a:schemeClr val="tx1"/>
                </a:solidFill>
              </a:rPr>
              <a:t>：当一个类，想让其具备迭代能力时，定义</a:t>
            </a:r>
            <a:r>
              <a:rPr lang="en-US" altLang="zh-CN" sz="2000" b="0" dirty="0">
                <a:solidFill>
                  <a:schemeClr val="tx1"/>
                </a:solidFill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</a:rPr>
              <a:t>中的函数</a:t>
            </a:r>
          </a:p>
        </p:txBody>
      </p:sp>
      <p:sp>
        <p:nvSpPr>
          <p:cNvPr id="3" name="矩形 2"/>
          <p:cNvSpPr/>
          <p:nvPr/>
        </p:nvSpPr>
        <p:spPr>
          <a:xfrm>
            <a:off x="407368" y="188640"/>
            <a:ext cx="4068743" cy="8377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7.4 </a:t>
            </a:r>
            <a:r>
              <a:rPr lang="zh-CN" altLang="en-US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</a:t>
            </a:r>
            <a:r>
              <a:rPr lang="zh-CN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迭代器和生成器</a:t>
            </a:r>
          </a:p>
        </p:txBody>
      </p:sp>
      <p:sp>
        <p:nvSpPr>
          <p:cNvPr id="4" name="矩形 3"/>
          <p:cNvSpPr/>
          <p:nvPr/>
        </p:nvSpPr>
        <p:spPr>
          <a:xfrm>
            <a:off x="6528048" y="908720"/>
            <a:ext cx="5386191" cy="452431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class Fibs():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def</a:t>
            </a:r>
            <a:r>
              <a:rPr lang="en-US" altLang="zh-CN" dirty="0"/>
              <a:t> __</a:t>
            </a:r>
            <a:r>
              <a:rPr lang="en-US" altLang="zh-CN" dirty="0" err="1"/>
              <a:t>init</a:t>
            </a:r>
            <a:r>
              <a:rPr lang="en-US" altLang="zh-CN" dirty="0"/>
              <a:t>__(</a:t>
            </a:r>
            <a:r>
              <a:rPr lang="en-US" altLang="zh-CN" dirty="0" err="1"/>
              <a:t>self,max</a:t>
            </a:r>
            <a:r>
              <a:rPr lang="en-US" altLang="zh-CN" dirty="0"/>
              <a:t>):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self.max</a:t>
            </a:r>
            <a:r>
              <a:rPr lang="en-US" altLang="zh-CN" dirty="0"/>
              <a:t>=max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self.n,self.a,self.b</a:t>
            </a:r>
            <a:r>
              <a:rPr lang="en-US" altLang="zh-CN" dirty="0"/>
              <a:t>=0,0,1 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def</a:t>
            </a:r>
            <a:r>
              <a:rPr lang="en-US" altLang="zh-CN" dirty="0"/>
              <a:t> __</a:t>
            </a:r>
            <a:r>
              <a:rPr lang="en-US" altLang="zh-CN" dirty="0" err="1"/>
              <a:t>iter</a:t>
            </a:r>
            <a:r>
              <a:rPr lang="en-US" altLang="zh-CN" dirty="0"/>
              <a:t>__(self):         #</a:t>
            </a:r>
            <a:r>
              <a:rPr lang="zh-CN" altLang="en-US" dirty="0"/>
              <a:t>定义</a:t>
            </a:r>
            <a:r>
              <a:rPr lang="en-US" altLang="zh-CN" dirty="0"/>
              <a:t>__</a:t>
            </a:r>
            <a:r>
              <a:rPr lang="en-US" altLang="zh-CN" dirty="0" err="1"/>
              <a:t>iter</a:t>
            </a:r>
            <a:r>
              <a:rPr lang="en-US" altLang="zh-CN" dirty="0"/>
              <a:t>__</a:t>
            </a:r>
            <a:r>
              <a:rPr lang="zh-CN" altLang="en-US" dirty="0"/>
              <a:t>方法</a:t>
            </a:r>
          </a:p>
          <a:p>
            <a:r>
              <a:rPr lang="zh-CN" altLang="en-US" dirty="0"/>
              <a:t>        </a:t>
            </a:r>
            <a:r>
              <a:rPr lang="en-US" altLang="zh-CN" dirty="0"/>
              <a:t>return self     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def</a:t>
            </a:r>
            <a:r>
              <a:rPr lang="en-US" altLang="zh-CN" dirty="0"/>
              <a:t> __next__(self):       #</a:t>
            </a:r>
            <a:r>
              <a:rPr lang="zh-CN" altLang="en-US" dirty="0"/>
              <a:t>定义</a:t>
            </a:r>
            <a:r>
              <a:rPr lang="en-US" altLang="zh-CN" dirty="0"/>
              <a:t>__next__</a:t>
            </a:r>
            <a:r>
              <a:rPr lang="zh-CN" altLang="en-US" dirty="0"/>
              <a:t>方法</a:t>
            </a:r>
          </a:p>
          <a:p>
            <a:r>
              <a:rPr lang="zh-CN" altLang="en-US" dirty="0"/>
              <a:t>        </a:t>
            </a:r>
            <a:r>
              <a:rPr lang="en-US" altLang="zh-CN" dirty="0"/>
              <a:t>if </a:t>
            </a:r>
            <a:r>
              <a:rPr lang="en-US" altLang="zh-CN" dirty="0" err="1"/>
              <a:t>self.n</a:t>
            </a:r>
            <a:r>
              <a:rPr lang="en-US" altLang="zh-CN" dirty="0"/>
              <a:t>&lt;</a:t>
            </a:r>
            <a:r>
              <a:rPr lang="en-US" altLang="zh-CN" dirty="0" err="1"/>
              <a:t>self.max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tmp</a:t>
            </a:r>
            <a:r>
              <a:rPr lang="en-US" altLang="zh-CN" dirty="0"/>
              <a:t>=</a:t>
            </a:r>
            <a:r>
              <a:rPr lang="en-US" altLang="zh-CN" dirty="0" err="1"/>
              <a:t>self.a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self.a,self.b</a:t>
            </a:r>
            <a:r>
              <a:rPr lang="en-US" altLang="zh-CN" dirty="0"/>
              <a:t>=</a:t>
            </a:r>
            <a:r>
              <a:rPr lang="en-US" altLang="zh-CN" dirty="0" err="1"/>
              <a:t>self.b,self.a+self.b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self.n</a:t>
            </a:r>
            <a:r>
              <a:rPr lang="en-US" altLang="zh-CN" dirty="0"/>
              <a:t>+=1</a:t>
            </a:r>
          </a:p>
          <a:p>
            <a:r>
              <a:rPr lang="en-US" altLang="zh-CN" dirty="0"/>
              <a:t>            return </a:t>
            </a:r>
            <a:r>
              <a:rPr lang="en-US" altLang="zh-CN" dirty="0" err="1"/>
              <a:t>tmp</a:t>
            </a:r>
            <a:endParaRPr lang="en-US" altLang="zh-CN" dirty="0"/>
          </a:p>
          <a:p>
            <a:r>
              <a:rPr lang="en-US" altLang="zh-CN" dirty="0"/>
              <a:t>        raise </a:t>
            </a:r>
            <a:r>
              <a:rPr lang="en-US" altLang="zh-CN" dirty="0" err="1"/>
              <a:t>StopIteration</a:t>
            </a:r>
            <a:r>
              <a:rPr lang="en-US" altLang="zh-CN" dirty="0"/>
              <a:t>	   # </a:t>
            </a:r>
            <a:r>
              <a:rPr lang="zh-CN" altLang="en-US" dirty="0"/>
              <a:t>停止迭代</a:t>
            </a:r>
          </a:p>
          <a:p>
            <a:r>
              <a:rPr lang="en-US" altLang="zh-CN" dirty="0"/>
              <a:t>fib10=Fibs(10)   # </a:t>
            </a:r>
            <a:r>
              <a:rPr lang="zh-CN" altLang="en-US" dirty="0"/>
              <a:t>求前</a:t>
            </a:r>
            <a:r>
              <a:rPr lang="en-US" altLang="zh-CN" dirty="0"/>
              <a:t>10</a:t>
            </a:r>
            <a:r>
              <a:rPr lang="zh-CN" altLang="en-US" dirty="0"/>
              <a:t>项</a:t>
            </a:r>
            <a:endParaRPr lang="en-US" altLang="zh-CN" dirty="0"/>
          </a:p>
          <a:p>
            <a:r>
              <a:rPr lang="en-US" altLang="zh-CN" dirty="0"/>
              <a:t>for item in fib10:</a:t>
            </a:r>
          </a:p>
          <a:p>
            <a:r>
              <a:rPr lang="en-US" altLang="zh-CN" dirty="0"/>
              <a:t>     print(</a:t>
            </a:r>
            <a:r>
              <a:rPr lang="en-US" altLang="zh-CN" dirty="0" err="1"/>
              <a:t>item,end</a:t>
            </a:r>
            <a:r>
              <a:rPr lang="en-US" altLang="zh-CN" dirty="0"/>
              <a:t>=" ")</a:t>
            </a:r>
            <a:endParaRPr lang="zh-CN" altLang="en-US" dirty="0"/>
          </a:p>
        </p:txBody>
      </p:sp>
      <p:sp>
        <p:nvSpPr>
          <p:cNvPr id="5" name="内容占位符 1"/>
          <p:cNvSpPr txBox="1">
            <a:spLocks/>
          </p:cNvSpPr>
          <p:nvPr/>
        </p:nvSpPr>
        <p:spPr bwMode="auto">
          <a:xfrm>
            <a:off x="388260" y="5661248"/>
            <a:ext cx="5922195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u"/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kern="0" dirty="0"/>
              <a:t>我是谁？  我在哪？  我在做啥？</a:t>
            </a:r>
            <a:endParaRPr lang="zh-CN" altLang="en-US" sz="2000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47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76540" y="1340624"/>
            <a:ext cx="7781652" cy="2664439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7.4.2 </a:t>
            </a:r>
            <a:r>
              <a:rPr lang="zh-CN" altLang="en-US" dirty="0"/>
              <a:t>生成</a:t>
            </a:r>
            <a:r>
              <a:rPr lang="zh-CN" altLang="zh-CN" dirty="0"/>
              <a:t>器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zh-CN" dirty="0">
                <a:solidFill>
                  <a:srgbClr val="C00000"/>
                </a:solidFill>
              </a:rPr>
              <a:t>．</a:t>
            </a:r>
            <a:r>
              <a:rPr lang="zh-CN" altLang="en-US" dirty="0">
                <a:solidFill>
                  <a:srgbClr val="C00000"/>
                </a:solidFill>
              </a:rPr>
              <a:t>生成器</a:t>
            </a:r>
            <a:r>
              <a:rPr lang="en-US" altLang="zh-CN" dirty="0">
                <a:solidFill>
                  <a:srgbClr val="C00000"/>
                </a:solidFill>
              </a:rPr>
              <a:t>: </a:t>
            </a:r>
            <a:r>
              <a:rPr lang="zh-CN" altLang="en-US" sz="2000" b="0" dirty="0">
                <a:solidFill>
                  <a:schemeClr val="tx1"/>
                </a:solidFill>
              </a:rPr>
              <a:t>也属于迭代器，作用于函数（不是类），所以无</a:t>
            </a:r>
            <a:r>
              <a:rPr lang="zh-CN" altLang="zh-CN" sz="2000" b="0" dirty="0">
                <a:solidFill>
                  <a:schemeClr val="tx1"/>
                </a:solidFill>
              </a:rPr>
              <a:t>须</a:t>
            </a:r>
            <a:r>
              <a:rPr lang="zh-CN" altLang="en-US" sz="2000" b="0" dirty="0">
                <a:solidFill>
                  <a:schemeClr val="tx1"/>
                </a:solidFill>
              </a:rPr>
              <a:t>写</a:t>
            </a:r>
            <a:r>
              <a:rPr lang="en-US" altLang="zh-CN" sz="2000" b="0" dirty="0">
                <a:solidFill>
                  <a:schemeClr val="tx1"/>
                </a:solidFill>
              </a:rPr>
              <a:t>__</a:t>
            </a:r>
            <a:r>
              <a:rPr lang="en-US" altLang="zh-CN" sz="2000" b="0" dirty="0" err="1">
                <a:solidFill>
                  <a:schemeClr val="tx1"/>
                </a:solidFill>
              </a:rPr>
              <a:t>iter</a:t>
            </a:r>
            <a:r>
              <a:rPr lang="en-US" altLang="zh-CN" sz="2000" b="0" dirty="0">
                <a:solidFill>
                  <a:schemeClr val="tx1"/>
                </a:solidFill>
              </a:rPr>
              <a:t>__()</a:t>
            </a:r>
            <a:r>
              <a:rPr lang="zh-CN" altLang="zh-CN" sz="2000" b="0" dirty="0">
                <a:solidFill>
                  <a:schemeClr val="tx1"/>
                </a:solidFill>
              </a:rPr>
              <a:t>和</a:t>
            </a:r>
            <a:r>
              <a:rPr lang="en-US" altLang="zh-CN" sz="2000" b="0" dirty="0">
                <a:solidFill>
                  <a:schemeClr val="tx1"/>
                </a:solidFill>
              </a:rPr>
              <a:t>__next__()</a:t>
            </a:r>
            <a:r>
              <a:rPr lang="zh-CN" altLang="en-US" sz="2000" b="0" dirty="0">
                <a:solidFill>
                  <a:schemeClr val="tx1"/>
                </a:solidFill>
              </a:rPr>
              <a:t>函数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r>
              <a:rPr lang="zh-CN" altLang="zh-CN" dirty="0"/>
              <a:t>生成器函数使用</a:t>
            </a:r>
            <a:r>
              <a:rPr lang="en-US" altLang="zh-CN" dirty="0"/>
              <a:t>yield</a:t>
            </a:r>
            <a:r>
              <a:rPr lang="zh-CN" altLang="zh-CN" dirty="0"/>
              <a:t>关键字返回</a:t>
            </a:r>
            <a:r>
              <a:rPr lang="zh-CN" altLang="en-US" dirty="0"/>
              <a:t>函数</a:t>
            </a:r>
            <a:r>
              <a:rPr lang="zh-CN" altLang="zh-CN" dirty="0"/>
              <a:t>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    yield</a:t>
            </a:r>
            <a:r>
              <a:rPr lang="zh-CN" altLang="en-US" sz="2000" b="0" dirty="0">
                <a:solidFill>
                  <a:schemeClr val="tx1"/>
                </a:solidFill>
              </a:rPr>
              <a:t>与</a:t>
            </a:r>
            <a:r>
              <a:rPr lang="en-US" altLang="zh-CN" sz="2000" b="0" dirty="0">
                <a:solidFill>
                  <a:schemeClr val="tx1"/>
                </a:solidFill>
              </a:rPr>
              <a:t>return</a:t>
            </a:r>
            <a:r>
              <a:rPr lang="zh-CN" altLang="en-US" sz="2000" b="0" dirty="0">
                <a:solidFill>
                  <a:schemeClr val="tx1"/>
                </a:solidFill>
              </a:rPr>
              <a:t>作用相似</a:t>
            </a:r>
            <a:r>
              <a:rPr lang="zh-CN" altLang="zh-CN" sz="2000" b="0" dirty="0">
                <a:solidFill>
                  <a:schemeClr val="tx1"/>
                </a:solidFill>
              </a:rPr>
              <a:t>，但它能记住函数的状态，</a:t>
            </a:r>
            <a:r>
              <a:rPr lang="zh-CN" altLang="zh-CN" sz="2000" dirty="0">
                <a:solidFill>
                  <a:srgbClr val="00B050"/>
                </a:solidFill>
              </a:rPr>
              <a:t>下次调用生成器函数时，它不是从头开始，而是从上次调用中停止的位置开始</a:t>
            </a:r>
            <a:r>
              <a:rPr lang="zh-CN" altLang="zh-CN" sz="2000" b="0" dirty="0">
                <a:solidFill>
                  <a:schemeClr val="tx1"/>
                </a:solidFill>
              </a:rPr>
              <a:t>。</a:t>
            </a:r>
            <a:endParaRPr lang="zh-CN" alt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2620" y="450759"/>
            <a:ext cx="3350597" cy="7369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7.4 </a:t>
            </a:r>
            <a:r>
              <a:rPr lang="zh-CN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迭代器和生成器</a:t>
            </a:r>
          </a:p>
        </p:txBody>
      </p:sp>
      <p:sp>
        <p:nvSpPr>
          <p:cNvPr id="4" name="矩形 3"/>
          <p:cNvSpPr/>
          <p:nvPr/>
        </p:nvSpPr>
        <p:spPr>
          <a:xfrm>
            <a:off x="8454629" y="450759"/>
            <a:ext cx="3456384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/>
              <a:t>def</a:t>
            </a:r>
            <a:r>
              <a:rPr lang="en-US" altLang="zh-CN" dirty="0"/>
              <a:t> Fibs(n):  # </a:t>
            </a:r>
            <a:r>
              <a:rPr lang="zh-CN" altLang="en-US" dirty="0"/>
              <a:t>打印前</a:t>
            </a:r>
            <a:r>
              <a:rPr lang="en-US" altLang="zh-CN" dirty="0"/>
              <a:t>n</a:t>
            </a:r>
            <a:r>
              <a:rPr lang="zh-CN" altLang="en-US" dirty="0"/>
              <a:t>项</a:t>
            </a:r>
            <a:endParaRPr lang="en-US" altLang="zh-CN" dirty="0"/>
          </a:p>
          <a:p>
            <a:r>
              <a:rPr lang="en-US" altLang="zh-CN" dirty="0"/>
              <a:t>    k=0  # </a:t>
            </a:r>
            <a:r>
              <a:rPr lang="zh-CN" altLang="en-US" dirty="0"/>
              <a:t>项数索引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a,b</a:t>
            </a:r>
            <a:r>
              <a:rPr lang="en-US" altLang="zh-CN" dirty="0"/>
              <a:t>=0,1  </a:t>
            </a:r>
          </a:p>
          <a:p>
            <a:r>
              <a:rPr lang="en-US" altLang="zh-CN" dirty="0"/>
              <a:t>    while k&lt;n:  </a:t>
            </a:r>
          </a:p>
          <a:p>
            <a:r>
              <a:rPr lang="en-US" altLang="zh-CN" dirty="0"/>
              <a:t>        value=a  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a,b</a:t>
            </a:r>
            <a:r>
              <a:rPr lang="en-US" altLang="zh-CN" dirty="0"/>
              <a:t>=</a:t>
            </a:r>
            <a:r>
              <a:rPr lang="en-US" altLang="zh-CN" dirty="0" err="1"/>
              <a:t>b,a+b</a:t>
            </a:r>
            <a:r>
              <a:rPr lang="en-US" altLang="zh-CN" dirty="0"/>
              <a:t>  </a:t>
            </a:r>
          </a:p>
          <a:p>
            <a:r>
              <a:rPr lang="en-US" altLang="zh-CN" dirty="0"/>
              <a:t>        k += 1</a:t>
            </a:r>
          </a:p>
          <a:p>
            <a:r>
              <a:rPr lang="en-US" altLang="zh-CN" dirty="0"/>
              <a:t>        yield value   # </a:t>
            </a:r>
            <a:r>
              <a:rPr lang="zh-CN" altLang="en-US" dirty="0"/>
              <a:t>冻住</a:t>
            </a:r>
            <a:endParaRPr lang="en-US" altLang="zh-CN" dirty="0"/>
          </a:p>
          <a:p>
            <a:r>
              <a:rPr lang="en-US" altLang="zh-CN" dirty="0"/>
              <a:t>for item in Fibs(10):</a:t>
            </a:r>
          </a:p>
          <a:p>
            <a:r>
              <a:rPr lang="en-US" altLang="zh-CN" dirty="0"/>
              <a:t>     print(</a:t>
            </a:r>
            <a:r>
              <a:rPr lang="en-US" altLang="zh-CN" dirty="0" err="1"/>
              <a:t>item,end</a:t>
            </a:r>
            <a:r>
              <a:rPr lang="en-US" altLang="zh-CN" dirty="0"/>
              <a:t>=" ")</a:t>
            </a:r>
            <a:endParaRPr lang="zh-CN" altLang="zh-CN" dirty="0"/>
          </a:p>
        </p:txBody>
      </p:sp>
      <p:sp>
        <p:nvSpPr>
          <p:cNvPr id="5" name="矩形 4"/>
          <p:cNvSpPr/>
          <p:nvPr/>
        </p:nvSpPr>
        <p:spPr>
          <a:xfrm>
            <a:off x="479376" y="4324040"/>
            <a:ext cx="2797561" cy="3579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just">
              <a:lnSpc>
                <a:spcPts val="2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．生成器表达式</a:t>
            </a:r>
          </a:p>
        </p:txBody>
      </p:sp>
      <p:sp>
        <p:nvSpPr>
          <p:cNvPr id="6" name="矩形 5"/>
          <p:cNvSpPr/>
          <p:nvPr/>
        </p:nvSpPr>
        <p:spPr>
          <a:xfrm>
            <a:off x="660841" y="4716951"/>
            <a:ext cx="65966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生成器表达式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与列表推导式类似，区别是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包含在圆括号内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7023" y="5373216"/>
            <a:ext cx="4430181" cy="9233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square_gen = (x*x for x in range(1,10))  </a:t>
            </a:r>
          </a:p>
          <a:p>
            <a:r>
              <a:rPr lang="zh-CN" altLang="en-US" dirty="0"/>
              <a:t>for i in square_gen:</a:t>
            </a:r>
          </a:p>
          <a:p>
            <a:r>
              <a:rPr lang="zh-CN" altLang="en-US" dirty="0"/>
              <a:t>     print(i)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DBF74E-CD41-40FE-90C7-B0FF3C78AD21}"/>
              </a:ext>
            </a:extLst>
          </p:cNvPr>
          <p:cNvSpPr/>
          <p:nvPr/>
        </p:nvSpPr>
        <p:spPr>
          <a:xfrm>
            <a:off x="8446004" y="3859014"/>
            <a:ext cx="3229610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如果改成</a:t>
            </a:r>
            <a:r>
              <a:rPr lang="en-US" altLang="zh-CN" b="1" dirty="0">
                <a:solidFill>
                  <a:srgbClr val="C00000"/>
                </a:solidFill>
              </a:rPr>
              <a:t>return</a:t>
            </a:r>
            <a:r>
              <a:rPr lang="zh-CN" altLang="en-US" b="1" dirty="0">
                <a:solidFill>
                  <a:srgbClr val="C00000"/>
                </a:solidFill>
              </a:rPr>
              <a:t>会怎么样？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dirty="0"/>
              <a:t>def Fibs(n):     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a,b</a:t>
            </a:r>
            <a:r>
              <a:rPr lang="en-US" altLang="zh-CN" dirty="0"/>
              <a:t>=0,1  </a:t>
            </a:r>
            <a:endParaRPr lang="zh-CN" altLang="zh-CN" dirty="0"/>
          </a:p>
          <a:p>
            <a:r>
              <a:rPr lang="en-US" altLang="zh-CN" dirty="0"/>
              <a:t>    while a&lt;n:  </a:t>
            </a:r>
            <a:endParaRPr lang="zh-CN" altLang="zh-CN" dirty="0"/>
          </a:p>
          <a:p>
            <a:r>
              <a:rPr lang="en-US" altLang="zh-CN" dirty="0"/>
              <a:t>        value=a  </a:t>
            </a:r>
            <a:endParaRPr lang="zh-CN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a,b</a:t>
            </a:r>
            <a:r>
              <a:rPr lang="en-US" altLang="zh-CN" dirty="0"/>
              <a:t>=</a:t>
            </a:r>
            <a:r>
              <a:rPr lang="en-US" altLang="zh-CN" dirty="0" err="1"/>
              <a:t>b,a+b</a:t>
            </a:r>
            <a:r>
              <a:rPr lang="en-US" altLang="zh-CN" dirty="0"/>
              <a:t>  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</a:t>
            </a:r>
            <a:r>
              <a:rPr lang="en-US" altLang="zh-CN" b="1" dirty="0">
                <a:solidFill>
                  <a:srgbClr val="00B050"/>
                </a:solidFill>
              </a:rPr>
              <a:t>return value </a:t>
            </a:r>
            <a:endParaRPr lang="zh-CN" altLang="zh-C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0075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51384" y="1268760"/>
            <a:ext cx="10972800" cy="4680520"/>
          </a:xfrm>
        </p:spPr>
        <p:txBody>
          <a:bodyPr/>
          <a:lstStyle/>
          <a:p>
            <a:r>
              <a:rPr lang="zh-CN" altLang="zh-CN" dirty="0">
                <a:solidFill>
                  <a:srgbClr val="00B050"/>
                </a:solidFill>
              </a:rPr>
              <a:t>模块（</a:t>
            </a:r>
            <a:r>
              <a:rPr lang="en-US" altLang="zh-CN" dirty="0">
                <a:solidFill>
                  <a:srgbClr val="00B050"/>
                </a:solidFill>
              </a:rPr>
              <a:t>module</a:t>
            </a:r>
            <a:r>
              <a:rPr lang="zh-CN" altLang="zh-CN" dirty="0">
                <a:solidFill>
                  <a:srgbClr val="00B050"/>
                </a:solidFill>
              </a:rPr>
              <a:t>）</a:t>
            </a:r>
            <a:r>
              <a:rPr lang="en-US" altLang="zh-CN" dirty="0">
                <a:solidFill>
                  <a:srgbClr val="00B050"/>
                </a:solidFill>
              </a:rPr>
              <a:t>: </a:t>
            </a:r>
            <a:r>
              <a:rPr lang="zh-CN" altLang="en-US" dirty="0">
                <a:solidFill>
                  <a:srgbClr val="00B050"/>
                </a:solidFill>
              </a:rPr>
              <a:t>即</a:t>
            </a:r>
            <a:r>
              <a:rPr lang="zh-CN" altLang="zh-CN" dirty="0">
                <a:solidFill>
                  <a:srgbClr val="00B050"/>
                </a:solidFill>
              </a:rPr>
              <a:t>一个</a:t>
            </a:r>
            <a:r>
              <a:rPr lang="en-US" altLang="zh-CN" dirty="0">
                <a:solidFill>
                  <a:srgbClr val="00B050"/>
                </a:solidFill>
              </a:rPr>
              <a:t>.</a:t>
            </a:r>
            <a:r>
              <a:rPr lang="en-US" altLang="zh-CN" dirty="0" err="1">
                <a:solidFill>
                  <a:srgbClr val="00B050"/>
                </a:solidFill>
              </a:rPr>
              <a:t>py</a:t>
            </a:r>
            <a:r>
              <a:rPr lang="zh-CN" altLang="zh-CN" dirty="0">
                <a:solidFill>
                  <a:srgbClr val="00B050"/>
                </a:solidFill>
              </a:rPr>
              <a:t>文件，</a:t>
            </a:r>
            <a:r>
              <a:rPr lang="zh-CN" altLang="zh-CN" b="0" dirty="0">
                <a:solidFill>
                  <a:schemeClr val="tx1"/>
                </a:solidFill>
              </a:rPr>
              <a:t>每个模块中定义了一些变量、函数</a:t>
            </a:r>
            <a:r>
              <a:rPr lang="zh-CN" altLang="en-US" b="0" dirty="0">
                <a:solidFill>
                  <a:schemeClr val="tx1"/>
                </a:solidFill>
              </a:rPr>
              <a:t>等。</a:t>
            </a:r>
            <a:endParaRPr lang="en-US" altLang="zh-CN" b="0" dirty="0">
              <a:solidFill>
                <a:schemeClr val="tx1"/>
              </a:solidFill>
            </a:endParaRPr>
          </a:p>
          <a:p>
            <a:pPr marL="685800" lvl="1">
              <a:buFont typeface="Wingdings" panose="05000000000000000000" pitchFamily="2" charset="2"/>
              <a:buChar char="p"/>
            </a:pPr>
            <a:r>
              <a:rPr lang="zh-CN" altLang="zh-CN" sz="1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使用模块的好处：</a:t>
            </a:r>
          </a:p>
          <a:p>
            <a:pPr marL="800100" lvl="2" indent="0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．提高代码的可维护性</a:t>
            </a:r>
          </a:p>
          <a:p>
            <a:pPr marL="800100" lvl="2" indent="0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．提高代码的可复用性。当一个模块编写完成之后，可以被其他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引用。</a:t>
            </a:r>
          </a:p>
          <a:p>
            <a:pPr marL="800100" lvl="2" indent="0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．使用模块还可以避免变量名、函数名、类名等命名冲突。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00B050"/>
                </a:solidFill>
              </a:rPr>
              <a:t>包（</a:t>
            </a:r>
            <a:r>
              <a:rPr lang="en-US" altLang="zh-CN" dirty="0">
                <a:solidFill>
                  <a:srgbClr val="00B050"/>
                </a:solidFill>
              </a:rPr>
              <a:t>package</a:t>
            </a:r>
            <a:r>
              <a:rPr lang="zh-CN" altLang="zh-CN" dirty="0">
                <a:solidFill>
                  <a:srgbClr val="00B050"/>
                </a:solidFill>
              </a:rPr>
              <a:t>）就是一个内含模块或子包的有层次的文件目录结构</a:t>
            </a:r>
            <a:endParaRPr lang="en-US" altLang="zh-C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                            </a:t>
            </a:r>
            <a:r>
              <a:rPr lang="zh-CN" altLang="zh-CN" dirty="0">
                <a:solidFill>
                  <a:srgbClr val="00B050"/>
                </a:solidFill>
              </a:rPr>
              <a:t>其中一定要</a:t>
            </a:r>
            <a:r>
              <a:rPr lang="zh-CN" altLang="en-US" dirty="0">
                <a:solidFill>
                  <a:srgbClr val="00B050"/>
                </a:solidFill>
              </a:rPr>
              <a:t>有</a:t>
            </a:r>
            <a:r>
              <a:rPr lang="en-US" altLang="zh-CN" dirty="0">
                <a:solidFill>
                  <a:srgbClr val="00B050"/>
                </a:solidFill>
              </a:rPr>
              <a:t>__init__.py</a:t>
            </a:r>
            <a:r>
              <a:rPr lang="zh-CN" altLang="zh-CN" dirty="0">
                <a:solidFill>
                  <a:srgbClr val="00B050"/>
                </a:solidFill>
              </a:rPr>
              <a:t>模块</a:t>
            </a:r>
            <a:r>
              <a:rPr lang="zh-CN" altLang="en-US" dirty="0">
                <a:solidFill>
                  <a:srgbClr val="00B050"/>
                </a:solidFill>
              </a:rPr>
              <a:t>。</a:t>
            </a:r>
            <a:endParaRPr lang="en-US" altLang="zh-CN" dirty="0">
              <a:solidFill>
                <a:srgbClr val="00B050"/>
              </a:solidFill>
            </a:endParaRPr>
          </a:p>
          <a:p>
            <a:pPr marL="800100" lvl="2" indent="0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每个包目录中必须含有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__init__.py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模块，否则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会将视为普通目录，而非一个包。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__init__.py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文件内容可以为空，也可以有相应的代码。</a:t>
            </a:r>
          </a:p>
          <a:p>
            <a:pPr marL="800100" lvl="2" indent="0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一个包目录中还可以存在多个目录，称为子包，组成多层级的包。</a:t>
            </a:r>
          </a:p>
        </p:txBody>
      </p:sp>
      <p:sp>
        <p:nvSpPr>
          <p:cNvPr id="3" name="矩形 2"/>
          <p:cNvSpPr/>
          <p:nvPr/>
        </p:nvSpPr>
        <p:spPr>
          <a:xfrm>
            <a:off x="609600" y="188640"/>
            <a:ext cx="2991525" cy="7369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7.5 </a:t>
            </a:r>
            <a:r>
              <a:rPr lang="zh-CN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模块、库、包</a:t>
            </a:r>
          </a:p>
        </p:txBody>
      </p:sp>
    </p:spTree>
    <p:extLst>
      <p:ext uri="{BB962C8B-B14F-4D97-AF65-F5344CB8AC3E}">
        <p14:creationId xmlns:p14="http://schemas.microsoft.com/office/powerpoint/2010/main" val="7894365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51384" y="1124744"/>
            <a:ext cx="10972800" cy="424847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rgbClr val="00B050"/>
                </a:solidFill>
              </a:rPr>
              <a:t>库（</a:t>
            </a:r>
            <a:r>
              <a:rPr lang="en-US" altLang="zh-CN" dirty="0">
                <a:solidFill>
                  <a:srgbClr val="00B050"/>
                </a:solidFill>
              </a:rPr>
              <a:t>lib</a:t>
            </a:r>
            <a:r>
              <a:rPr lang="zh-CN" altLang="zh-CN" dirty="0">
                <a:solidFill>
                  <a:srgbClr val="00B050"/>
                </a:solidFill>
              </a:rPr>
              <a:t>）</a:t>
            </a:r>
            <a:r>
              <a:rPr lang="zh-CN" altLang="en-US" dirty="0">
                <a:solidFill>
                  <a:srgbClr val="00B050"/>
                </a:solidFill>
              </a:rPr>
              <a:t>：</a:t>
            </a:r>
            <a:r>
              <a:rPr lang="zh-CN" altLang="zh-CN" b="0" dirty="0">
                <a:solidFill>
                  <a:schemeClr val="tx1"/>
                </a:solidFill>
              </a:rPr>
              <a:t>是具有相关功能模块的集合。库是一个抽象概念，任意一个模块或包都可以称为库。</a:t>
            </a:r>
            <a:endParaRPr lang="en-US" altLang="zh-CN" b="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标准库</a:t>
            </a: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自带的库。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random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等模块都是其中的一模块。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第三方库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就是第三方发布的具有特定功能的模块。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pandas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scikit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-learn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TensorFlow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Keras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SciPy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自定义模块  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用户自己可以自行编写模块，然后使用。</a:t>
            </a:r>
          </a:p>
        </p:txBody>
      </p:sp>
      <p:sp>
        <p:nvSpPr>
          <p:cNvPr id="3" name="矩形 2"/>
          <p:cNvSpPr/>
          <p:nvPr/>
        </p:nvSpPr>
        <p:spPr>
          <a:xfrm>
            <a:off x="551384" y="116632"/>
            <a:ext cx="2991525" cy="7369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7.5 </a:t>
            </a:r>
            <a:r>
              <a:rPr lang="zh-CN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模块、库、包</a:t>
            </a:r>
          </a:p>
        </p:txBody>
      </p:sp>
    </p:spTree>
    <p:extLst>
      <p:ext uri="{BB962C8B-B14F-4D97-AF65-F5344CB8AC3E}">
        <p14:creationId xmlns:p14="http://schemas.microsoft.com/office/powerpoint/2010/main" val="9736118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 descr="蓝色砂纸"/>
          <p:cNvSpPr txBox="1">
            <a:spLocks noChangeArrowheads="1"/>
          </p:cNvSpPr>
          <p:nvPr/>
        </p:nvSpPr>
        <p:spPr bwMode="auto">
          <a:xfrm>
            <a:off x="623392" y="1124744"/>
            <a:ext cx="11089231" cy="452431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>
                <a:solidFill>
                  <a:srgbClr val="339933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生成对象，格式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对象名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实参列表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对标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__()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函数的定义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调用类的函数，格式：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对象名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实参列表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调用类的属性，格式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对象名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类内不同函数间的调用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self.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实参表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1384" y="188640"/>
            <a:ext cx="9865096" cy="6469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类的调用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66202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1657" y="452670"/>
            <a:ext cx="11034184" cy="867833"/>
          </a:xfrm>
        </p:spPr>
        <p:txBody>
          <a:bodyPr/>
          <a:lstStyle/>
          <a:p>
            <a:r>
              <a:rPr lang="en-US" altLang="zh-CN" sz="3200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2.</a:t>
            </a:r>
            <a:r>
              <a:rPr lang="zh-CN" altLang="zh-CN" sz="3200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图表的组成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1657" y="1604798"/>
            <a:ext cx="11034184" cy="48281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355591" algn="just">
              <a:lnSpc>
                <a:spcPct val="150000"/>
              </a:lnSpc>
            </a:pPr>
            <a:r>
              <a:rPr lang="en-US" altLang="zh-CN" sz="24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Matplotlib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的图表区包含三个层次</a:t>
            </a:r>
            <a:endParaRPr lang="en-US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80990" indent="-38099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容器层  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Canvas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（画布）、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Figure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（绘图区）和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Axes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（坐标系）组成</a:t>
            </a:r>
            <a:endParaRPr lang="en-US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90575" lvl="1" indent="-38099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133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Canvas </a:t>
            </a:r>
            <a:r>
              <a:rPr lang="zh-CN" altLang="zh-CN" sz="2133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位于容器层的最底部（由系统自动创建）</a:t>
            </a:r>
            <a:endParaRPr lang="en-US" altLang="zh-CN" sz="2133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90575" lvl="1" indent="-38099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133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Figure  </a:t>
            </a:r>
            <a:r>
              <a:rPr lang="zh-CN" altLang="zh-CN" sz="2133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则建立在</a:t>
            </a:r>
            <a:r>
              <a:rPr lang="en-US" altLang="zh-CN" sz="2133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Canvas</a:t>
            </a:r>
            <a:r>
              <a:rPr lang="zh-CN" altLang="zh-CN" sz="2133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上面，</a:t>
            </a:r>
            <a:endParaRPr lang="en-US" altLang="zh-CN" sz="2133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90575" lvl="1" indent="-38099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133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Axes    </a:t>
            </a:r>
            <a:r>
              <a:rPr lang="zh-CN" altLang="zh-CN" sz="2133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则建立在</a:t>
            </a:r>
            <a:r>
              <a:rPr lang="en-US" altLang="zh-CN" sz="2133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Figure</a:t>
            </a:r>
            <a:r>
              <a:rPr lang="zh-CN" altLang="zh-CN" sz="2133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上面</a:t>
            </a:r>
            <a:endParaRPr lang="en-US" altLang="zh-CN" sz="2133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Figure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对象内可以包含多个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Axes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对象，每个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Axes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对象都是一个独立的坐标系，绘图过程中所有图像都是基于坐标系绘制的。</a:t>
            </a:r>
          </a:p>
          <a:p>
            <a:pPr marL="380990" indent="-38099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辅助显示层  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包括标题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坐标轴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、、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坐标轴刻度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刻度标签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图例等。</a:t>
            </a:r>
          </a:p>
          <a:p>
            <a:pPr marL="380990" indent="-38099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图像层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绘制的柱状图、折线图、饼图、散点图等图像。</a:t>
            </a:r>
          </a:p>
        </p:txBody>
      </p:sp>
    </p:spTree>
    <p:extLst>
      <p:ext uri="{BB962C8B-B14F-4D97-AF65-F5344CB8AC3E}">
        <p14:creationId xmlns:p14="http://schemas.microsoft.com/office/powerpoint/2010/main" val="3387150923"/>
      </p:ext>
    </p:extLst>
  </p:cSld>
  <p:clrMapOvr>
    <a:masterClrMapping/>
  </p:clrMapOvr>
  <p:transition>
    <p:zo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1" y="-22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1" y="-2308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815413" y="597992"/>
            <a:ext cx="5603931" cy="712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US" sz="3733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子绘图区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06188" y="1420597"/>
            <a:ext cx="11329259" cy="2217584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zh-CN" altLang="en-US" sz="2667" dirty="0">
                <a:solidFill>
                  <a:srgbClr val="00B050"/>
                </a:solidFill>
              </a:rPr>
              <a:t>（</a:t>
            </a:r>
            <a:r>
              <a:rPr lang="en-US" altLang="zh-CN" sz="2667" dirty="0">
                <a:solidFill>
                  <a:srgbClr val="00B050"/>
                </a:solidFill>
              </a:rPr>
              <a:t>1</a:t>
            </a:r>
            <a:r>
              <a:rPr lang="zh-CN" altLang="en-US" sz="2667" dirty="0">
                <a:solidFill>
                  <a:srgbClr val="00B050"/>
                </a:solidFill>
              </a:rPr>
              <a:t>）</a:t>
            </a:r>
            <a:r>
              <a:rPr lang="en-US" altLang="zh-CN" sz="2667" dirty="0">
                <a:solidFill>
                  <a:srgbClr val="00B050"/>
                </a:solidFill>
              </a:rPr>
              <a:t>subplot( )</a:t>
            </a:r>
            <a:r>
              <a:rPr lang="zh-CN" altLang="zh-CN" sz="2667" dirty="0">
                <a:solidFill>
                  <a:srgbClr val="00B050"/>
                </a:solidFill>
              </a:rPr>
              <a:t>函数</a:t>
            </a:r>
            <a:r>
              <a:rPr lang="en-US" altLang="zh-CN" sz="2667" dirty="0">
                <a:solidFill>
                  <a:srgbClr val="00B050"/>
                </a:solidFill>
              </a:rPr>
              <a:t>   </a:t>
            </a:r>
            <a:r>
              <a:rPr lang="zh-CN" altLang="zh-CN" sz="2667" dirty="0"/>
              <a:t>在全局绘图区创建子绘图区并显示。</a:t>
            </a:r>
          </a:p>
          <a:p>
            <a:pPr marL="0" indent="0">
              <a:buNone/>
            </a:pPr>
            <a:r>
              <a:rPr lang="en-US" altLang="zh-CN" sz="2667" dirty="0"/>
              <a:t>     </a:t>
            </a:r>
            <a:r>
              <a:rPr lang="en-US" altLang="zh-CN" sz="2400" dirty="0"/>
              <a:t>subplot(</a:t>
            </a:r>
            <a:r>
              <a:rPr lang="en-US" altLang="zh-CN" sz="2400" dirty="0" err="1"/>
              <a:t>nrows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ncols</a:t>
            </a:r>
            <a:r>
              <a:rPr lang="en-US" altLang="zh-CN" sz="2400" dirty="0"/>
              <a:t>, index, **</a:t>
            </a:r>
            <a:r>
              <a:rPr lang="en-US" altLang="zh-CN" sz="2400" dirty="0" err="1"/>
              <a:t>kwargs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r>
              <a:rPr lang="en-US" altLang="zh-CN" sz="2400" kern="100" dirty="0">
                <a:cs typeface="Times New Roman" panose="02020603050405020304" pitchFamily="18" charset="0"/>
              </a:rPr>
              <a:t>       </a:t>
            </a:r>
            <a:r>
              <a:rPr lang="zh-CN" altLang="en-US" sz="2400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注意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：</a:t>
            </a:r>
            <a:r>
              <a:rPr lang="zh-CN" altLang="zh-CN" sz="2400" kern="100" dirty="0">
                <a:cs typeface="Times New Roman" panose="02020603050405020304" pitchFamily="18" charset="0"/>
              </a:rPr>
              <a:t>如果</a:t>
            </a:r>
            <a:r>
              <a:rPr lang="en-US" altLang="zh-CN" sz="2400" kern="100" dirty="0" err="1">
                <a:cs typeface="Times New Roman" panose="02020603050405020304" pitchFamily="18" charset="0"/>
              </a:rPr>
              <a:t>nrows</a:t>
            </a:r>
            <a:r>
              <a:rPr lang="zh-CN" altLang="zh-CN" sz="2400" kern="100" dirty="0"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 err="1">
                <a:cs typeface="Times New Roman" panose="02020603050405020304" pitchFamily="18" charset="0"/>
              </a:rPr>
              <a:t>ncols</a:t>
            </a:r>
            <a:r>
              <a:rPr lang="zh-CN" altLang="zh-CN" sz="2400" kern="100" dirty="0"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cs typeface="Times New Roman" panose="02020603050405020304" pitchFamily="18" charset="0"/>
              </a:rPr>
              <a:t>index</a:t>
            </a:r>
            <a:r>
              <a:rPr lang="zh-CN" altLang="zh-CN" sz="2400" kern="100" dirty="0">
                <a:cs typeface="Times New Roman" panose="02020603050405020304" pitchFamily="18" charset="0"/>
              </a:rPr>
              <a:t>这三个数都小于</a:t>
            </a:r>
            <a:r>
              <a:rPr lang="en-US" altLang="zh-CN" sz="2400" kern="100" dirty="0">
                <a:cs typeface="Times New Roman" panose="02020603050405020304" pitchFamily="18" charset="0"/>
              </a:rPr>
              <a:t>10</a:t>
            </a:r>
            <a:r>
              <a:rPr lang="zh-CN" altLang="zh-CN" sz="2400" kern="100" dirty="0">
                <a:cs typeface="Times New Roman" panose="02020603050405020304" pitchFamily="18" charset="0"/>
              </a:rPr>
              <a:t>的话，可以把它们缩写为一个整数，例如</a:t>
            </a:r>
            <a:r>
              <a:rPr lang="en-US" altLang="zh-CN" sz="2400" kern="100" dirty="0">
                <a:cs typeface="Times New Roman" panose="02020603050405020304" pitchFamily="18" charset="0"/>
              </a:rPr>
              <a:t>subplot(323)</a:t>
            </a:r>
            <a:r>
              <a:rPr lang="zh-CN" altLang="zh-CN" sz="2400" kern="100" dirty="0"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cs typeface="Times New Roman" panose="02020603050405020304" pitchFamily="18" charset="0"/>
              </a:rPr>
              <a:t>subplot(3,2,3)</a:t>
            </a:r>
            <a:r>
              <a:rPr lang="zh-CN" altLang="zh-CN" sz="2400" kern="100" dirty="0">
                <a:cs typeface="Times New Roman" panose="02020603050405020304" pitchFamily="18" charset="0"/>
              </a:rPr>
              <a:t>是相同的。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9" y="4280627"/>
            <a:ext cx="2633452" cy="22082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113" y="4280628"/>
            <a:ext cx="2907335" cy="22037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矩形 1"/>
          <p:cNvSpPr/>
          <p:nvPr/>
        </p:nvSpPr>
        <p:spPr>
          <a:xfrm>
            <a:off x="572523" y="3813043"/>
            <a:ext cx="4992555" cy="115922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plt.subplot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(1,1,1)   </a:t>
            </a:r>
          </a:p>
          <a:p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表示有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列，绘制在第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个子绘图区</a:t>
            </a:r>
          </a:p>
        </p:txBody>
      </p:sp>
      <p:sp>
        <p:nvSpPr>
          <p:cNvPr id="6" name="矩形 5"/>
          <p:cNvSpPr/>
          <p:nvPr/>
        </p:nvSpPr>
        <p:spPr>
          <a:xfrm>
            <a:off x="527381" y="5253242"/>
            <a:ext cx="5129729" cy="7898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plt.subplot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(232)     </a:t>
            </a:r>
          </a:p>
          <a:p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列共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个子绘图区，只显示第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230694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 animBg="1"/>
      <p:bldP spid="2" grpId="0" animBg="1"/>
      <p:bldP spid="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1" y="-22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1" y="-2308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780101" y="164637"/>
            <a:ext cx="5603931" cy="712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US" sz="3733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子绘图区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23392" y="979180"/>
            <a:ext cx="11329259" cy="134414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subplots( )</a:t>
            </a:r>
            <a:r>
              <a:rPr lang="zh-CN" altLang="zh-CN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en-US" altLang="zh-CN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667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创建全局绘图区，然后添加多个子绘图区并显示所有子绘图区</a:t>
            </a:r>
            <a:endParaRPr lang="zh-CN" altLang="zh-CN" sz="2667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9881" y="2428288"/>
            <a:ext cx="11329259" cy="39018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-76198">
              <a:lnSpc>
                <a:spcPct val="150000"/>
              </a:lnSpc>
            </a:pP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</a:p>
          <a:p>
            <a:pPr indent="-76198">
              <a:lnSpc>
                <a:spcPct val="150000"/>
              </a:lnSpc>
            </a:pPr>
            <a:r>
              <a:rPr lang="en-US" altLang="zh-CN" sz="2400" dirty="0"/>
              <a:t>import matplotlib.pyplot as plt</a:t>
            </a:r>
            <a:endParaRPr lang="zh-CN" altLang="zh-CN" sz="2400" dirty="0"/>
          </a:p>
          <a:p>
            <a:pPr indent="-76198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</a:rPr>
              <a:t>fig,ax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plt.subplots</a:t>
            </a:r>
            <a:r>
              <a:rPr lang="en-US" altLang="zh-CN" sz="2400" dirty="0"/>
              <a:t>(</a:t>
            </a:r>
            <a:r>
              <a:rPr lang="en-US" altLang="zh-CN" sz="2400" dirty="0" err="1"/>
              <a:t>nrows</a:t>
            </a:r>
            <a:r>
              <a:rPr lang="en-US" altLang="zh-CN" sz="2400" dirty="0"/>
              <a:t>=2,ncols=3,figsize=(8,4),dpi=100)  </a:t>
            </a:r>
            <a:endParaRPr lang="zh-CN" altLang="zh-CN" sz="2400" dirty="0"/>
          </a:p>
          <a:p>
            <a:pPr indent="-76198">
              <a:lnSpc>
                <a:spcPct val="150000"/>
              </a:lnSpc>
            </a:pPr>
            <a:r>
              <a:rPr lang="en-US" altLang="zh-CN" sz="2400" dirty="0" err="1"/>
              <a:t>plt.subplots_adjust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wspace</a:t>
            </a:r>
            <a:r>
              <a:rPr lang="en-US" altLang="zh-CN" sz="2400" dirty="0"/>
              <a:t>=0.3,hspace=0.3) </a:t>
            </a:r>
          </a:p>
          <a:p>
            <a:pPr indent="-76198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ax[0][2].</a:t>
            </a:r>
            <a:r>
              <a:rPr lang="en-US" altLang="zh-CN" sz="2400" dirty="0"/>
              <a:t>plot((1),'</a:t>
            </a:r>
            <a:r>
              <a:rPr lang="en-US" altLang="zh-CN" sz="2400" dirty="0" err="1"/>
              <a:t>rD</a:t>
            </a:r>
            <a:r>
              <a:rPr lang="en-US" altLang="zh-CN" sz="2400" dirty="0"/>
              <a:t>') </a:t>
            </a:r>
          </a:p>
          <a:p>
            <a:pPr indent="-76198">
              <a:lnSpc>
                <a:spcPct val="150000"/>
              </a:lnSpc>
            </a:pPr>
            <a:r>
              <a:rPr lang="en-US" altLang="zh-CN" sz="2400" dirty="0"/>
              <a:t>ax[1][0].plot((1,2),'b') </a:t>
            </a:r>
          </a:p>
          <a:p>
            <a:pPr indent="-76198">
              <a:lnSpc>
                <a:spcPct val="150000"/>
              </a:lnSpc>
            </a:pPr>
            <a:r>
              <a:rPr lang="en-US" altLang="zh-CN" sz="2400" dirty="0" err="1"/>
              <a:t>plt.show</a:t>
            </a:r>
            <a:r>
              <a:rPr lang="en-US" altLang="zh-CN" sz="2400" dirty="0"/>
              <a:t>( )</a:t>
            </a:r>
            <a:endParaRPr lang="zh-CN" altLang="zh-CN" sz="3200" dirty="0"/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7344139" y="4167789"/>
            <a:ext cx="4608512" cy="2333553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sp>
        <p:nvSpPr>
          <p:cNvPr id="3" name="标注: 弯曲线形 2">
            <a:extLst>
              <a:ext uri="{FF2B5EF4-FFF2-40B4-BE49-F238E27FC236}">
                <a16:creationId xmlns:a16="http://schemas.microsoft.com/office/drawing/2014/main" id="{214F08A0-9E74-D770-6BC7-0B09CF62B320}"/>
              </a:ext>
            </a:extLst>
          </p:cNvPr>
          <p:cNvSpPr/>
          <p:nvPr/>
        </p:nvSpPr>
        <p:spPr bwMode="auto">
          <a:xfrm>
            <a:off x="4557960" y="345894"/>
            <a:ext cx="7544693" cy="57445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24547"/>
              <a:gd name="adj6" fmla="val -42858"/>
            </a:avLst>
          </a:prstGeom>
          <a:solidFill>
            <a:srgbClr val="FFFF00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933" dirty="0"/>
              <a:t>Ax</a:t>
            </a:r>
            <a:r>
              <a:rPr lang="zh-CN" altLang="en-US" sz="2933" dirty="0"/>
              <a:t>是个</a:t>
            </a:r>
            <a:r>
              <a:rPr lang="en-US" altLang="zh-CN" sz="2933" dirty="0"/>
              <a:t>2</a:t>
            </a:r>
            <a:r>
              <a:rPr lang="zh-CN" altLang="en-US" sz="2933" dirty="0"/>
              <a:t>行</a:t>
            </a:r>
            <a:r>
              <a:rPr lang="en-US" altLang="zh-CN" sz="2933" dirty="0"/>
              <a:t>3</a:t>
            </a:r>
            <a:r>
              <a:rPr lang="zh-CN" altLang="en-US" sz="2933" dirty="0"/>
              <a:t>列的数组，每个元素是</a:t>
            </a:r>
            <a:r>
              <a:rPr lang="en-US" altLang="zh-CN" sz="2933" dirty="0"/>
              <a:t>axes</a:t>
            </a:r>
            <a:r>
              <a:rPr lang="zh-CN" altLang="en-US" sz="2933" dirty="0"/>
              <a:t>对象</a:t>
            </a:r>
            <a:endParaRPr lang="zh-CN" altLang="en-US" sz="2933" dirty="0">
              <a:latin typeface="Arial" pitchFamily="34" charset="0"/>
            </a:endParaRPr>
          </a:p>
        </p:txBody>
      </p:sp>
      <p:sp>
        <p:nvSpPr>
          <p:cNvPr id="5" name="标注: 弯曲线形 4">
            <a:extLst>
              <a:ext uri="{FF2B5EF4-FFF2-40B4-BE49-F238E27FC236}">
                <a16:creationId xmlns:a16="http://schemas.microsoft.com/office/drawing/2014/main" id="{8FE34FD6-B0ED-1852-2B99-AAF58FD411E8}"/>
              </a:ext>
            </a:extLst>
          </p:cNvPr>
          <p:cNvSpPr/>
          <p:nvPr/>
        </p:nvSpPr>
        <p:spPr bwMode="auto">
          <a:xfrm>
            <a:off x="5806593" y="2616317"/>
            <a:ext cx="4766690" cy="57445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10738"/>
              <a:gd name="adj6" fmla="val -92549"/>
            </a:avLst>
          </a:prstGeom>
          <a:solidFill>
            <a:srgbClr val="FFFF00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933" dirty="0"/>
              <a:t>数组元素指明在那个坐标系</a:t>
            </a:r>
            <a:endParaRPr lang="zh-CN" altLang="en-US" sz="2933" dirty="0">
              <a:latin typeface="Arial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5FA9C6-14BC-50BE-1131-49081B1EA445}"/>
              </a:ext>
            </a:extLst>
          </p:cNvPr>
          <p:cNvSpPr txBox="1"/>
          <p:nvPr/>
        </p:nvSpPr>
        <p:spPr>
          <a:xfrm>
            <a:off x="3407701" y="5927385"/>
            <a:ext cx="3264363" cy="5746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867" b="1" dirty="0">
                <a:solidFill>
                  <a:srgbClr val="FF0000"/>
                </a:solidFill>
              </a:rPr>
              <a:t>思考：只有一个子图，一行（列）子图，</a:t>
            </a:r>
            <a:r>
              <a:rPr lang="en-US" altLang="zh-CN" sz="1867" b="1" dirty="0">
                <a:solidFill>
                  <a:srgbClr val="FF0000"/>
                </a:solidFill>
              </a:rPr>
              <a:t>ax</a:t>
            </a:r>
            <a:r>
              <a:rPr lang="zh-CN" altLang="en-US" sz="1867" b="1" dirty="0">
                <a:solidFill>
                  <a:srgbClr val="FF0000"/>
                </a:solidFill>
              </a:rPr>
              <a:t>是什么？</a:t>
            </a:r>
          </a:p>
        </p:txBody>
      </p:sp>
    </p:spTree>
    <p:extLst>
      <p:ext uri="{BB962C8B-B14F-4D97-AF65-F5344CB8AC3E}">
        <p14:creationId xmlns:p14="http://schemas.microsoft.com/office/powerpoint/2010/main" val="294199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 animBg="1"/>
      <p:bldP spid="2" grpId="0" animBg="1"/>
      <p:bldP spid="7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7381" y="1988840"/>
            <a:ext cx="11329259" cy="431515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133" dirty="0"/>
              <a:t>import matplotlib.pyplot as plt</a:t>
            </a:r>
            <a:endParaRPr lang="zh-CN" altLang="zh-CN" sz="2133" dirty="0"/>
          </a:p>
          <a:p>
            <a:pPr>
              <a:lnSpc>
                <a:spcPct val="130000"/>
              </a:lnSpc>
            </a:pPr>
            <a:r>
              <a:rPr lang="en-US" altLang="zh-CN" sz="2133" dirty="0"/>
              <a:t>import numpy as np</a:t>
            </a:r>
            <a:endParaRPr lang="zh-CN" altLang="zh-CN" sz="2133" dirty="0"/>
          </a:p>
          <a:p>
            <a:pPr>
              <a:lnSpc>
                <a:spcPct val="130000"/>
              </a:lnSpc>
            </a:pPr>
            <a:r>
              <a:rPr lang="en-US" altLang="zh-CN" sz="2133" dirty="0"/>
              <a:t>fig1=</a:t>
            </a:r>
            <a:r>
              <a:rPr lang="en-US" altLang="zh-CN" sz="2133" dirty="0" err="1"/>
              <a:t>plt.figure</a:t>
            </a:r>
            <a:r>
              <a:rPr lang="en-US" altLang="zh-CN" sz="2133" dirty="0"/>
              <a:t>( )                             #</a:t>
            </a:r>
            <a:r>
              <a:rPr lang="zh-CN" altLang="zh-CN" sz="2133" dirty="0"/>
              <a:t>创建一个全局绘图区</a:t>
            </a:r>
          </a:p>
          <a:p>
            <a:pPr>
              <a:lnSpc>
                <a:spcPct val="130000"/>
              </a:lnSpc>
            </a:pPr>
            <a:r>
              <a:rPr lang="en-US" altLang="zh-CN" sz="2133" dirty="0"/>
              <a:t>fig1.add_subplot(22</a:t>
            </a:r>
            <a:r>
              <a:rPr lang="en-US" altLang="zh-CN" sz="2133" dirty="0">
                <a:solidFill>
                  <a:srgbClr val="FF0000"/>
                </a:solidFill>
              </a:rPr>
              <a:t>1</a:t>
            </a:r>
            <a:r>
              <a:rPr lang="en-US" altLang="zh-CN" sz="2133" dirty="0"/>
              <a:t>)                    #</a:t>
            </a:r>
            <a:r>
              <a:rPr lang="zh-CN" altLang="zh-CN" sz="2133" dirty="0"/>
              <a:t>添加</a:t>
            </a:r>
            <a:r>
              <a:rPr lang="en-US" altLang="zh-CN" sz="2133" dirty="0"/>
              <a:t>2</a:t>
            </a:r>
            <a:r>
              <a:rPr lang="zh-CN" altLang="zh-CN" sz="2133" dirty="0"/>
              <a:t>行</a:t>
            </a:r>
            <a:r>
              <a:rPr lang="en-US" altLang="zh-CN" sz="2133" dirty="0"/>
              <a:t>2</a:t>
            </a:r>
            <a:r>
              <a:rPr lang="zh-CN" altLang="zh-CN" sz="2133" dirty="0"/>
              <a:t>列共</a:t>
            </a:r>
            <a:r>
              <a:rPr lang="en-US" altLang="zh-CN" sz="2133" dirty="0"/>
              <a:t>4</a:t>
            </a:r>
            <a:r>
              <a:rPr lang="zh-CN" altLang="zh-CN" sz="2133" dirty="0"/>
              <a:t>个子绘图区，只显示第</a:t>
            </a:r>
            <a:r>
              <a:rPr lang="en-US" altLang="zh-CN" sz="2133" dirty="0"/>
              <a:t>1</a:t>
            </a:r>
            <a:r>
              <a:rPr lang="zh-CN" altLang="zh-CN" sz="2133" dirty="0"/>
              <a:t>个</a:t>
            </a:r>
          </a:p>
          <a:p>
            <a:pPr>
              <a:lnSpc>
                <a:spcPct val="130000"/>
              </a:lnSpc>
            </a:pPr>
            <a:r>
              <a:rPr lang="en-US" altLang="zh-CN" sz="2133" dirty="0" err="1"/>
              <a:t>plt.plot</a:t>
            </a:r>
            <a:r>
              <a:rPr lang="en-US" altLang="zh-CN" sz="2133" dirty="0"/>
              <a:t>((1,6,2),c='</a:t>
            </a:r>
            <a:r>
              <a:rPr lang="en-US" altLang="zh-CN" sz="2133" dirty="0" err="1"/>
              <a:t>r',marker</a:t>
            </a:r>
            <a:r>
              <a:rPr lang="en-US" altLang="zh-CN" sz="2133" dirty="0"/>
              <a:t>='o')      #</a:t>
            </a:r>
            <a:r>
              <a:rPr lang="zh-CN" altLang="zh-CN" sz="2133" dirty="0"/>
              <a:t>在第</a:t>
            </a:r>
            <a:r>
              <a:rPr lang="en-US" altLang="zh-CN" sz="2133" dirty="0"/>
              <a:t>1</a:t>
            </a:r>
            <a:r>
              <a:rPr lang="zh-CN" altLang="zh-CN" sz="2133" dirty="0"/>
              <a:t>个子绘图区绘制红色折线并输出标记</a:t>
            </a:r>
          </a:p>
          <a:p>
            <a:pPr>
              <a:lnSpc>
                <a:spcPct val="130000"/>
              </a:lnSpc>
            </a:pPr>
            <a:r>
              <a:rPr lang="en-US" altLang="zh-CN" sz="2133" dirty="0"/>
              <a:t>fig1.add_subplot(22</a:t>
            </a:r>
            <a:r>
              <a:rPr lang="en-US" altLang="zh-CN" sz="2133" dirty="0">
                <a:solidFill>
                  <a:srgbClr val="FF0000"/>
                </a:solidFill>
              </a:rPr>
              <a:t>4</a:t>
            </a:r>
            <a:r>
              <a:rPr lang="en-US" altLang="zh-CN" sz="2133" dirty="0"/>
              <a:t>)                    #</a:t>
            </a:r>
            <a:r>
              <a:rPr lang="zh-CN" altLang="zh-CN" sz="2133" dirty="0"/>
              <a:t>指定显示第</a:t>
            </a:r>
            <a:r>
              <a:rPr lang="en-US" altLang="zh-CN" sz="2133" dirty="0"/>
              <a:t>4</a:t>
            </a:r>
            <a:r>
              <a:rPr lang="zh-CN" altLang="zh-CN" sz="2133" dirty="0"/>
              <a:t>个</a:t>
            </a:r>
          </a:p>
          <a:p>
            <a:pPr>
              <a:lnSpc>
                <a:spcPct val="130000"/>
              </a:lnSpc>
            </a:pPr>
            <a:r>
              <a:rPr lang="en-US" altLang="zh-CN" sz="2133" dirty="0"/>
              <a:t>x=</a:t>
            </a:r>
            <a:r>
              <a:rPr lang="en-US" altLang="zh-CN" sz="2133" dirty="0" err="1"/>
              <a:t>np.random.randint</a:t>
            </a:r>
            <a:r>
              <a:rPr lang="en-US" altLang="zh-CN" sz="2133" dirty="0"/>
              <a:t>(0,100,10)     #</a:t>
            </a:r>
            <a:r>
              <a:rPr lang="zh-CN" altLang="zh-CN" sz="2133" dirty="0"/>
              <a:t>随机生成</a:t>
            </a:r>
            <a:r>
              <a:rPr lang="en-US" altLang="zh-CN" sz="2133" dirty="0"/>
              <a:t>10</a:t>
            </a:r>
            <a:r>
              <a:rPr lang="zh-CN" altLang="zh-CN" sz="2133" dirty="0"/>
              <a:t>个坐标点（</a:t>
            </a:r>
            <a:r>
              <a:rPr lang="en-US" altLang="zh-CN" sz="2133" dirty="0" err="1"/>
              <a:t>x,y</a:t>
            </a:r>
            <a:r>
              <a:rPr lang="zh-CN" altLang="zh-CN" sz="2133" dirty="0"/>
              <a:t>）</a:t>
            </a:r>
          </a:p>
          <a:p>
            <a:pPr>
              <a:lnSpc>
                <a:spcPct val="130000"/>
              </a:lnSpc>
            </a:pPr>
            <a:r>
              <a:rPr lang="en-US" altLang="zh-CN" sz="2133" dirty="0"/>
              <a:t>y=</a:t>
            </a:r>
            <a:r>
              <a:rPr lang="en-US" altLang="zh-CN" sz="2133" dirty="0" err="1"/>
              <a:t>np.random.normal</a:t>
            </a:r>
            <a:r>
              <a:rPr lang="en-US" altLang="zh-CN" sz="2133" dirty="0"/>
              <a:t>(0,100,10)     #[0,100)</a:t>
            </a:r>
            <a:r>
              <a:rPr lang="zh-CN" altLang="en-US" sz="2133" dirty="0"/>
              <a:t>之间</a:t>
            </a:r>
            <a:endParaRPr lang="zh-CN" altLang="zh-CN" sz="2133" dirty="0"/>
          </a:p>
          <a:p>
            <a:pPr>
              <a:lnSpc>
                <a:spcPct val="130000"/>
              </a:lnSpc>
            </a:pPr>
            <a:r>
              <a:rPr lang="en-US" altLang="zh-CN" sz="2133" dirty="0" err="1"/>
              <a:t>plt.scatter</a:t>
            </a:r>
            <a:r>
              <a:rPr lang="en-US" altLang="zh-CN" sz="2133" dirty="0"/>
              <a:t>(</a:t>
            </a:r>
            <a:r>
              <a:rPr lang="en-US" altLang="zh-CN" sz="2133" dirty="0" err="1"/>
              <a:t>x,y,c</a:t>
            </a:r>
            <a:r>
              <a:rPr lang="en-US" altLang="zh-CN" sz="2133" dirty="0"/>
              <a:t>=‘g’)                       #</a:t>
            </a:r>
            <a:r>
              <a:rPr lang="zh-CN" altLang="en-US" sz="2133" dirty="0"/>
              <a:t>绘制在</a:t>
            </a:r>
            <a:r>
              <a:rPr lang="zh-CN" altLang="zh-CN" sz="2133" dirty="0"/>
              <a:t>第</a:t>
            </a:r>
            <a:r>
              <a:rPr lang="en-US" altLang="zh-CN" sz="2133" dirty="0"/>
              <a:t>4</a:t>
            </a:r>
            <a:r>
              <a:rPr lang="zh-CN" altLang="zh-CN" sz="2133" dirty="0"/>
              <a:t>个绘图区</a:t>
            </a:r>
          </a:p>
          <a:p>
            <a:pPr>
              <a:lnSpc>
                <a:spcPct val="130000"/>
              </a:lnSpc>
            </a:pPr>
            <a:r>
              <a:rPr lang="en-US" altLang="zh-CN" sz="2133" dirty="0" err="1"/>
              <a:t>plt.show</a:t>
            </a:r>
            <a:r>
              <a:rPr lang="en-US" altLang="zh-CN" sz="2133" dirty="0"/>
              <a:t>( ) </a:t>
            </a:r>
            <a:endParaRPr lang="zh-CN" altLang="zh-CN" sz="2400" dirty="0"/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1" y="-22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1" y="-2308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588080" y="68627"/>
            <a:ext cx="5603931" cy="712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US" sz="3733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子绘图区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27381" y="836712"/>
            <a:ext cx="11329259" cy="1056117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en-US" sz="2667" dirty="0">
                <a:solidFill>
                  <a:srgbClr val="00B050"/>
                </a:solidFill>
              </a:rPr>
              <a:t>（</a:t>
            </a:r>
            <a:r>
              <a:rPr lang="en-US" altLang="zh-CN" sz="2667" dirty="0">
                <a:solidFill>
                  <a:srgbClr val="00B050"/>
                </a:solidFill>
              </a:rPr>
              <a:t>3</a:t>
            </a:r>
            <a:r>
              <a:rPr lang="zh-CN" altLang="en-US" sz="2667" dirty="0">
                <a:solidFill>
                  <a:srgbClr val="00B050"/>
                </a:solidFill>
              </a:rPr>
              <a:t>）</a:t>
            </a:r>
            <a:r>
              <a:rPr lang="en-US" altLang="zh-CN" sz="2667" dirty="0" err="1">
                <a:solidFill>
                  <a:srgbClr val="00B050"/>
                </a:solidFill>
              </a:rPr>
              <a:t>add_subplot</a:t>
            </a:r>
            <a:r>
              <a:rPr lang="en-US" altLang="zh-CN" sz="2667" dirty="0">
                <a:solidFill>
                  <a:srgbClr val="00B050"/>
                </a:solidFill>
              </a:rPr>
              <a:t>(</a:t>
            </a:r>
            <a:r>
              <a:rPr lang="en-US" altLang="zh-CN" sz="2667" dirty="0" err="1">
                <a:solidFill>
                  <a:srgbClr val="00B050"/>
                </a:solidFill>
              </a:rPr>
              <a:t>nrows</a:t>
            </a:r>
            <a:r>
              <a:rPr lang="en-US" altLang="zh-CN" sz="2667" dirty="0">
                <a:solidFill>
                  <a:srgbClr val="00B050"/>
                </a:solidFill>
              </a:rPr>
              <a:t>, </a:t>
            </a:r>
            <a:r>
              <a:rPr lang="en-US" altLang="zh-CN" sz="2667" dirty="0" err="1">
                <a:solidFill>
                  <a:srgbClr val="00B050"/>
                </a:solidFill>
              </a:rPr>
              <a:t>ncols</a:t>
            </a:r>
            <a:r>
              <a:rPr lang="en-US" altLang="zh-CN" sz="2667" dirty="0">
                <a:solidFill>
                  <a:srgbClr val="00B050"/>
                </a:solidFill>
              </a:rPr>
              <a:t>, index[, **</a:t>
            </a:r>
            <a:r>
              <a:rPr lang="en-US" altLang="zh-CN" sz="2667" dirty="0" err="1">
                <a:solidFill>
                  <a:srgbClr val="00B050"/>
                </a:solidFill>
              </a:rPr>
              <a:t>kwargs</a:t>
            </a:r>
            <a:r>
              <a:rPr lang="en-US" altLang="zh-CN" sz="2667" dirty="0">
                <a:solidFill>
                  <a:srgbClr val="00B050"/>
                </a:solidFill>
              </a:rPr>
              <a:t>])</a:t>
            </a:r>
          </a:p>
          <a:p>
            <a:pPr marL="0" indent="0">
              <a:buNone/>
            </a:pPr>
            <a:r>
              <a:rPr lang="en-US" altLang="zh-CN" sz="2400" dirty="0"/>
              <a:t>           </a:t>
            </a:r>
            <a:r>
              <a:rPr lang="zh-CN" altLang="en-US" sz="2667" dirty="0"/>
              <a:t>用于给已有</a:t>
            </a:r>
            <a:r>
              <a:rPr lang="zh-CN" altLang="zh-CN" sz="2667" dirty="0"/>
              <a:t>全局绘图区</a:t>
            </a:r>
            <a:r>
              <a:rPr lang="zh-CN" altLang="zh-CN" sz="2667" dirty="0">
                <a:solidFill>
                  <a:srgbClr val="C00000"/>
                </a:solidFill>
              </a:rPr>
              <a:t>添加子绘图区</a:t>
            </a:r>
            <a:endParaRPr lang="en-US" altLang="zh-CN" sz="2667" dirty="0">
              <a:solidFill>
                <a:srgbClr val="C00000"/>
              </a:solidFill>
            </a:endParaRP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8688288" y="4264335"/>
            <a:ext cx="3168352" cy="2246733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411368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431371" y="356659"/>
            <a:ext cx="5088467" cy="687189"/>
          </a:xfrm>
        </p:spPr>
        <p:txBody>
          <a:bodyPr/>
          <a:lstStyle/>
          <a:p>
            <a:pPr eaLnBrk="1" hangingPunct="1"/>
            <a:r>
              <a:rPr lang="zh-CN" altLang="en-US" sz="3200" dirty="0"/>
              <a:t>常用图表绘制函数</a:t>
            </a:r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1" y="-22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27652" name="Rectangle 6"/>
          <p:cNvSpPr>
            <a:spLocks noChangeArrowheads="1"/>
          </p:cNvSpPr>
          <p:nvPr/>
        </p:nvSpPr>
        <p:spPr bwMode="auto">
          <a:xfrm>
            <a:off x="1" y="-2308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34434" y="1157182"/>
          <a:ext cx="11233151" cy="49423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89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</a:t>
                      </a: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71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plt.plot(x,y,color,linewidth,linestyle,label)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x,y</a:t>
                      </a: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数组绘制直线或曲线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71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plt.boxplot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data,notch,position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绘制一个箱型图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71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9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plt.bar</a:t>
                      </a:r>
                      <a:r>
                        <a:rPr lang="en-US" altLang="zh-CN" sz="1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(x, height, width, bottom, *, align='center', **</a:t>
                      </a:r>
                      <a:r>
                        <a:rPr lang="en-US" altLang="zh-CN" sz="19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kwargs</a:t>
                      </a:r>
                      <a:r>
                        <a:rPr lang="en-US" altLang="zh-CN" sz="1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绘制一个条形图（即柱状图）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71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plt.barh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(y, width, height, left, *, align='center', **</a:t>
                      </a: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kwargs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绘制一个横向条形图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71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plt.polar(theta,r)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绘制极坐标图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71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plt.pie(data,explode)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绘制饼图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7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plt.scatter(x,y)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绘制散点图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plt.hist(x,bins,normed)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绘制直方图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plt.contour(X,Y,Z,N)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绘制等高线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394516" y="290016"/>
            <a:ext cx="5088467" cy="738717"/>
          </a:xfrm>
        </p:spPr>
        <p:txBody>
          <a:bodyPr/>
          <a:lstStyle/>
          <a:p>
            <a:pPr eaLnBrk="1" hangingPunct="1"/>
            <a:r>
              <a:rPr lang="zh-CN" altLang="en-US" sz="3200" dirty="0"/>
              <a:t>坐标轴设置函数</a:t>
            </a: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1" y="-22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22532" name="Rectangle 6"/>
          <p:cNvSpPr>
            <a:spLocks noChangeArrowheads="1"/>
          </p:cNvSpPr>
          <p:nvPr/>
        </p:nvSpPr>
        <p:spPr bwMode="auto">
          <a:xfrm>
            <a:off x="1" y="-2308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94516" y="1028733"/>
          <a:ext cx="11281502" cy="497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00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7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  数</a:t>
                      </a: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7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  述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plt.axis( 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输出：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(0.0, 1.0, 0.0, 1.0)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显示当前坐标轴刻度的取值范围</a:t>
                      </a:r>
                    </a:p>
                  </a:txBody>
                  <a:tcPr marL="121919" marR="12191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plt.axes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 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输出：</a:t>
                      </a:r>
                      <a:r>
                        <a:rPr lang="en-US" altLang="zh-CN" sz="1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&lt;matplotlib.axes._</a:t>
                      </a:r>
                      <a:r>
                        <a:rPr lang="en-US" altLang="zh-CN" sz="19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subplots.AxesSubplot</a:t>
                      </a:r>
                      <a:r>
                        <a:rPr lang="en-US" altLang="zh-CN" sz="1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at 0x22f751cb3c8&gt;</a:t>
                      </a:r>
                      <a:endParaRPr lang="zh-CN" altLang="en-US" sz="1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显示子绘图区</a:t>
                      </a:r>
                    </a:p>
                  </a:txBody>
                  <a:tcPr marL="121919" marR="121919" anchor="ctr"/>
                </a:tc>
                <a:extLst>
                  <a:ext uri="{0D108BD9-81ED-4DB2-BD59-A6C34878D82A}">
                    <a16:rowId xmlns:a16="http://schemas.microsoft.com/office/drawing/2014/main" val="364424913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plt.xlim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xmin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=1,xmax=5)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轴刻度取值范围为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[1,5]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plt.ylim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ymin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=3,ymax=6)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轴刻度取值范围为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[3,6]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41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plt.text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x,y,s,fontdic,withdash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如：</a:t>
                      </a:r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plt.text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(0.5,0.5,'Max')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在指定位置添加注释文本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在两个坐标轴的中间位置输出“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</a:t>
                      </a:r>
                    </a:p>
                  </a:txBody>
                  <a:tcPr marL="121919" marR="12191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plt.grid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(True/False)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是否显示绘图网格</a:t>
                      </a:r>
                    </a:p>
                  </a:txBody>
                  <a:tcPr marL="121919" marR="12191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332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34434" y="452670"/>
            <a:ext cx="7201727" cy="738717"/>
          </a:xfrm>
        </p:spPr>
        <p:txBody>
          <a:bodyPr/>
          <a:lstStyle/>
          <a:p>
            <a:pPr eaLnBrk="1" hangingPunct="1"/>
            <a:r>
              <a:rPr lang="zh-CN" altLang="en-US" sz="3200" dirty="0"/>
              <a:t>标签设置函数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34434" y="1328056"/>
          <a:ext cx="11330186" cy="4763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39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0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47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 数</a:t>
                      </a:r>
                    </a:p>
                  </a:txBody>
                  <a:tcPr marL="121919" marR="121919"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 述</a:t>
                      </a:r>
                    </a:p>
                  </a:txBody>
                  <a:tcPr marL="121919" marR="121919" marT="45733" marB="4573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42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plt.title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("TITLE",</a:t>
                      </a: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='right')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 marT="45733" marB="45733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设置图表的标题</a:t>
                      </a: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:{'</a:t>
                      </a: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center','left','right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'}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74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plt.xlabel(“</a:t>
                      </a:r>
                      <a:r>
                        <a:rPr lang="zh-CN" altLang="en-US" sz="21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水平轴标题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”)</a:t>
                      </a:r>
                    </a:p>
                  </a:txBody>
                  <a:tcPr marL="121919" marR="121919" marT="45733" marB="4573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轴的标题</a:t>
                      </a:r>
                    </a:p>
                  </a:txBody>
                  <a:tcPr marL="121919" marR="121919"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82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plt.ylabel(“</a:t>
                      </a:r>
                      <a:r>
                        <a:rPr lang="zh-CN" altLang="en-US" sz="21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垂直轴标题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”)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 marT="45733" marB="4573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轴的标题</a:t>
                      </a:r>
                    </a:p>
                  </a:txBody>
                  <a:tcPr marL="121919" marR="121919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42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plt.xticks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 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如：</a:t>
                      </a: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plt.xticks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np.arange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(3), ('Tom', 'Dick', 'Harry'))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 marT="45733" marB="457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轴的刻度范围及显示标签</a:t>
                      </a:r>
                    </a:p>
                  </a:txBody>
                  <a:tcPr marL="121919" marR="121919" marT="45733" marB="4573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942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plt.yticks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1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如：</a:t>
                      </a: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plt.yticks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1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np.arange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(3), ('1', '2','3'))</a:t>
                      </a:r>
                      <a:endParaRPr lang="zh-CN" altLang="en-US" sz="2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19" marR="121919" marT="45733" marB="457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2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轴的刻度范围及显示标签</a:t>
                      </a:r>
                    </a:p>
                  </a:txBody>
                  <a:tcPr marL="121919" marR="121919" marT="45733" marB="4573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4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3935" y="908973"/>
            <a:ext cx="7258677" cy="675812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zh-CN" altLang="en-US" sz="3200" dirty="0"/>
              <a:t>解决汉字和负号显示问题</a:t>
            </a:r>
            <a:endParaRPr lang="zh-CN" altLang="zh-CN" sz="32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33935" y="1796787"/>
            <a:ext cx="11230684" cy="124603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6000" tIns="0" rIns="48000" bIns="9600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p"/>
            </a:pPr>
            <a:r>
              <a:rPr lang="zh-CN" altLang="en-US" sz="266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lang="en-US" altLang="zh-CN" sz="266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66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：在代码中添加语句</a:t>
            </a:r>
            <a:endParaRPr lang="en-US" altLang="zh-CN" sz="2667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defTabSz="121917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zh-CN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plt.rcParams['font.sa</a:t>
            </a:r>
            <a:r>
              <a:rPr lang="en-US" altLang="zh-CN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zh-CN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s-seri</a:t>
            </a:r>
            <a:r>
              <a:rPr lang="en-US" altLang="zh-CN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zh-CN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']=['SimHei']</a:t>
            </a:r>
            <a:endParaRPr lang="en-US" altLang="zh-CN" sz="2400" dirty="0">
              <a:solidFill>
                <a:srgbClr val="3333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defTabSz="121917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zh-CN" sz="2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plt.rcParams['axes.unicode_minus']=False </a:t>
            </a:r>
            <a:endParaRPr lang="en-US" altLang="zh-CN" sz="2400" dirty="0">
              <a:solidFill>
                <a:srgbClr val="3333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 bwMode="auto">
          <a:xfrm>
            <a:off x="433935" y="3288294"/>
            <a:ext cx="11230684" cy="317957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6000" tIns="0" rIns="48000" bIns="9600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p"/>
            </a:pPr>
            <a:r>
              <a:rPr lang="zh-CN" altLang="en-US" sz="2667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lang="en-US" altLang="zh-CN" sz="2667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667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：修改系统配置文件</a:t>
            </a:r>
            <a:endParaRPr lang="en-US" altLang="zh-CN" sz="2667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None/>
            </a:pPr>
            <a:r>
              <a:rPr lang="en-US" altLang="zh-CN" sz="2133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133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找到</a:t>
            </a:r>
            <a:r>
              <a:rPr lang="en-US" altLang="zh-CN" sz="2133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C:\Users\lxm\Anaconda3\Lib\site-packages\matplotlib\mpl-data</a:t>
            </a:r>
            <a:r>
              <a:rPr lang="zh-CN" altLang="en-US" sz="2133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目录下的文件</a:t>
            </a:r>
            <a:r>
              <a:rPr lang="en-US" altLang="zh-CN" sz="2133" kern="0" dirty="0" err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matplotlibrc</a:t>
            </a:r>
            <a:r>
              <a:rPr lang="zh-CN" altLang="en-US" sz="2133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，用记事本或</a:t>
            </a:r>
            <a:r>
              <a:rPr lang="en-US" altLang="zh-CN" sz="2133" kern="0" dirty="0" err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spyder</a:t>
            </a:r>
            <a:r>
              <a:rPr lang="zh-CN" altLang="en-US" sz="2133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打开</a:t>
            </a:r>
            <a:r>
              <a:rPr lang="en-US" altLang="zh-CN" sz="2133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133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修改下面参数并保存。</a:t>
            </a:r>
            <a:endParaRPr lang="en-US" altLang="zh-CN" sz="2133" kern="0" dirty="0">
              <a:solidFill>
                <a:srgbClr val="3333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585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133" dirty="0" err="1">
                <a:latin typeface="黑体" panose="02010609060101010101" pitchFamily="49" charset="-122"/>
                <a:ea typeface="黑体" panose="02010609060101010101" pitchFamily="49" charset="-122"/>
              </a:rPr>
              <a:t>font.family</a:t>
            </a:r>
            <a:r>
              <a:rPr lang="en-US" altLang="zh-CN" sz="2133" dirty="0">
                <a:latin typeface="黑体" panose="02010609060101010101" pitchFamily="49" charset="-122"/>
                <a:ea typeface="黑体" panose="02010609060101010101" pitchFamily="49" charset="-122"/>
              </a:rPr>
              <a:t>         : sans-serif</a:t>
            </a:r>
          </a:p>
          <a:p>
            <a:pPr marL="609585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133" dirty="0" err="1">
                <a:latin typeface="黑体" panose="02010609060101010101" pitchFamily="49" charset="-122"/>
                <a:ea typeface="黑体" panose="02010609060101010101" pitchFamily="49" charset="-122"/>
              </a:rPr>
              <a:t>font.serif</a:t>
            </a:r>
            <a:r>
              <a:rPr lang="en-US" altLang="zh-CN" sz="2133" dirty="0">
                <a:latin typeface="黑体" panose="02010609060101010101" pitchFamily="49" charset="-122"/>
                <a:ea typeface="黑体" panose="02010609060101010101" pitchFamily="49" charset="-122"/>
              </a:rPr>
              <a:t>          : </a:t>
            </a:r>
            <a:r>
              <a:rPr lang="en-US" altLang="zh-CN" sz="2133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SimHei</a:t>
            </a:r>
            <a:r>
              <a:rPr lang="en-US" altLang="zh-CN" sz="2133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133" dirty="0" err="1">
                <a:latin typeface="黑体" panose="02010609060101010101" pitchFamily="49" charset="-122"/>
                <a:ea typeface="黑体" panose="02010609060101010101" pitchFamily="49" charset="-122"/>
              </a:rPr>
              <a:t>DejaVu</a:t>
            </a:r>
            <a:r>
              <a:rPr lang="en-US" altLang="zh-CN" sz="2133" dirty="0">
                <a:latin typeface="黑体" panose="02010609060101010101" pitchFamily="49" charset="-122"/>
                <a:ea typeface="黑体" panose="02010609060101010101" pitchFamily="49" charset="-122"/>
              </a:rPr>
              <a:t> Serif, ……</a:t>
            </a:r>
          </a:p>
          <a:p>
            <a:pPr marL="609585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133" dirty="0" err="1">
                <a:latin typeface="黑体" panose="02010609060101010101" pitchFamily="49" charset="-122"/>
                <a:ea typeface="黑体" panose="02010609060101010101" pitchFamily="49" charset="-122"/>
              </a:rPr>
              <a:t>font.sans</a:t>
            </a:r>
            <a:r>
              <a:rPr lang="en-US" altLang="zh-CN" sz="2133" dirty="0">
                <a:latin typeface="黑体" panose="02010609060101010101" pitchFamily="49" charset="-122"/>
                <a:ea typeface="黑体" panose="02010609060101010101" pitchFamily="49" charset="-122"/>
              </a:rPr>
              <a:t>-serif     : </a:t>
            </a:r>
            <a:r>
              <a:rPr lang="en-US" altLang="zh-CN" sz="2133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SimHei</a:t>
            </a:r>
            <a:r>
              <a:rPr lang="en-US" altLang="zh-CN" sz="2133" dirty="0" err="1">
                <a:latin typeface="黑体" panose="02010609060101010101" pitchFamily="49" charset="-122"/>
                <a:ea typeface="黑体" panose="02010609060101010101" pitchFamily="49" charset="-122"/>
              </a:rPr>
              <a:t>,DejaVu</a:t>
            </a:r>
            <a:r>
              <a:rPr lang="en-US" altLang="zh-CN" sz="2133" dirty="0">
                <a:latin typeface="黑体" panose="02010609060101010101" pitchFamily="49" charset="-122"/>
                <a:ea typeface="黑体" panose="02010609060101010101" pitchFamily="49" charset="-122"/>
              </a:rPr>
              <a:t> Sans, ……</a:t>
            </a:r>
          </a:p>
          <a:p>
            <a:pPr marL="609585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133" dirty="0" err="1">
                <a:latin typeface="黑体" panose="02010609060101010101" pitchFamily="49" charset="-122"/>
                <a:ea typeface="黑体" panose="02010609060101010101" pitchFamily="49" charset="-122"/>
              </a:rPr>
              <a:t>axes.unicode_minus</a:t>
            </a:r>
            <a:r>
              <a:rPr lang="en-US" altLang="zh-CN" sz="2133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133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False  </a:t>
            </a:r>
            <a:r>
              <a:rPr lang="en-US" altLang="zh-CN" sz="2133" dirty="0">
                <a:latin typeface="黑体" panose="02010609060101010101" pitchFamily="49" charset="-122"/>
                <a:ea typeface="黑体" panose="02010609060101010101" pitchFamily="49" charset="-122"/>
              </a:rPr>
              <a:t>## use </a:t>
            </a:r>
            <a:r>
              <a:rPr lang="en-US" altLang="zh-CN" sz="2133" dirty="0" err="1">
                <a:latin typeface="黑体" panose="02010609060101010101" pitchFamily="49" charset="-122"/>
                <a:ea typeface="黑体" panose="02010609060101010101" pitchFamily="49" charset="-122"/>
              </a:rPr>
              <a:t>unicode</a:t>
            </a:r>
            <a:r>
              <a:rPr lang="en-US" altLang="zh-CN" sz="2133" dirty="0">
                <a:latin typeface="黑体" panose="02010609060101010101" pitchFamily="49" charset="-122"/>
                <a:ea typeface="黑体" panose="02010609060101010101" pitchFamily="49" charset="-122"/>
              </a:rPr>
              <a:t> for the minus symbol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注意：去除前面的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号再保存</a:t>
            </a:r>
          </a:p>
        </p:txBody>
      </p:sp>
    </p:spTree>
    <p:extLst>
      <p:ext uri="{BB962C8B-B14F-4D97-AF65-F5344CB8AC3E}">
        <p14:creationId xmlns:p14="http://schemas.microsoft.com/office/powerpoint/2010/main" val="277112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uiExpand="1" build="p" animBg="1"/>
      <p:bldP spid="5" grpId="0" uiExpand="1" build="p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382" y="210741"/>
            <a:ext cx="6818703" cy="867833"/>
          </a:xfrm>
        </p:spPr>
        <p:txBody>
          <a:bodyPr/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线条的类型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527382" y="1220755"/>
          <a:ext cx="6818703" cy="40894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58604">
                  <a:extLst>
                    <a:ext uri="{9D8B030D-6E8A-4147-A177-3AD203B41FA5}">
                      <a16:colId xmlns:a16="http://schemas.microsoft.com/office/drawing/2014/main" val="1280626767"/>
                    </a:ext>
                  </a:extLst>
                </a:gridCol>
                <a:gridCol w="1750748">
                  <a:extLst>
                    <a:ext uri="{9D8B030D-6E8A-4147-A177-3AD203B41FA5}">
                      <a16:colId xmlns:a16="http://schemas.microsoft.com/office/drawing/2014/main" val="2132242261"/>
                    </a:ext>
                  </a:extLst>
                </a:gridCol>
                <a:gridCol w="1566459">
                  <a:extLst>
                    <a:ext uri="{9D8B030D-6E8A-4147-A177-3AD203B41FA5}">
                      <a16:colId xmlns:a16="http://schemas.microsoft.com/office/drawing/2014/main" val="3154885686"/>
                    </a:ext>
                  </a:extLst>
                </a:gridCol>
                <a:gridCol w="1842892">
                  <a:extLst>
                    <a:ext uri="{9D8B030D-6E8A-4147-A177-3AD203B41FA5}">
                      <a16:colId xmlns:a16="http://schemas.microsoft.com/office/drawing/2014/main" val="1877446608"/>
                    </a:ext>
                  </a:extLst>
                </a:gridCol>
              </a:tblGrid>
              <a:tr h="1539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Linestyle</a:t>
                      </a:r>
                      <a:endParaRPr lang="en-US" sz="3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ls</a:t>
                      </a:r>
                      <a:endParaRPr lang="en-US" altLang="zh-CN" sz="3200" b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2100" b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Linestyle</a:t>
                      </a:r>
                      <a:endParaRPr lang="en-US" sz="3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ls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2100" b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657047994"/>
                  </a:ext>
                </a:extLst>
              </a:tr>
              <a:tr h="7264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-‘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减号</a:t>
                      </a:r>
                      <a:r>
                        <a:rPr lang="en-US" altLang="zh-CN" sz="2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algn="ctr"/>
                      <a:r>
                        <a:rPr lang="zh-CN" altLang="en-US" sz="2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画实线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:’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冒号</a:t>
                      </a:r>
                      <a:endParaRPr lang="en-US" altLang="zh-CN" sz="21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画短虚线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54985977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--’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2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个减号</a:t>
                      </a:r>
                      <a:endParaRPr lang="en-US" altLang="zh-CN" sz="21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画长虚线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‘None’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不画线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629459524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-.’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100" b="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（减号加点）</a:t>
                      </a:r>
                      <a:endParaRPr lang="en-US" altLang="zh-CN" sz="2100" b="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1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</a:t>
                      </a:r>
                      <a:r>
                        <a:rPr lang="zh-CN" altLang="en-US" sz="2100" b="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点划线</a:t>
                      </a:r>
                      <a:endParaRPr lang="zh-CN" altLang="en-US" sz="21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546406995"/>
                  </a:ext>
                </a:extLst>
              </a:tr>
            </a:tbl>
          </a:graphicData>
        </a:graphic>
      </p:graphicFrame>
      <p:sp>
        <p:nvSpPr>
          <p:cNvPr id="5" name="标题 1"/>
          <p:cNvSpPr txBox="1">
            <a:spLocks/>
          </p:cNvSpPr>
          <p:nvPr/>
        </p:nvSpPr>
        <p:spPr bwMode="auto">
          <a:xfrm>
            <a:off x="8016213" y="210742"/>
            <a:ext cx="3201856" cy="867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sz="3200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线条的标记</a:t>
            </a:r>
          </a:p>
        </p:txBody>
      </p:sp>
      <p:graphicFrame>
        <p:nvGraphicFramePr>
          <p:cNvPr id="6" name="内容占位符 3"/>
          <p:cNvGraphicFramePr>
            <a:graphicFrameLocks/>
          </p:cNvGraphicFramePr>
          <p:nvPr/>
        </p:nvGraphicFramePr>
        <p:xfrm>
          <a:off x="7648923" y="1222310"/>
          <a:ext cx="3936437" cy="480060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211211">
                  <a:extLst>
                    <a:ext uri="{9D8B030D-6E8A-4147-A177-3AD203B41FA5}">
                      <a16:colId xmlns:a16="http://schemas.microsoft.com/office/drawing/2014/main" val="3767584012"/>
                    </a:ext>
                  </a:extLst>
                </a:gridCol>
                <a:gridCol w="1028649">
                  <a:extLst>
                    <a:ext uri="{9D8B030D-6E8A-4147-A177-3AD203B41FA5}">
                      <a16:colId xmlns:a16="http://schemas.microsoft.com/office/drawing/2014/main" val="2908123616"/>
                    </a:ext>
                  </a:extLst>
                </a:gridCol>
                <a:gridCol w="746621">
                  <a:extLst>
                    <a:ext uri="{9D8B030D-6E8A-4147-A177-3AD203B41FA5}">
                      <a16:colId xmlns:a16="http://schemas.microsoft.com/office/drawing/2014/main" val="3119225258"/>
                    </a:ext>
                  </a:extLst>
                </a:gridCol>
                <a:gridCol w="949956">
                  <a:extLst>
                    <a:ext uri="{9D8B030D-6E8A-4147-A177-3AD203B41FA5}">
                      <a16:colId xmlns:a16="http://schemas.microsoft.com/office/drawing/2014/main" val="3742677862"/>
                    </a:ext>
                  </a:extLst>
                </a:gridCol>
              </a:tblGrid>
              <a:tr h="354779">
                <a:tc>
                  <a:txBody>
                    <a:bodyPr/>
                    <a:lstStyle/>
                    <a:p>
                      <a:r>
                        <a:rPr 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maker</a:t>
                      </a:r>
                      <a:endParaRPr lang="en-US" sz="1700" b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700" b="1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</a:t>
                      </a:r>
                      <a:endParaRPr lang="zh-CN" altLang="en-US" sz="1700" b="1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700" b="1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717" marR="27717" marT="27717" marB="27717" anchor="ctr"/>
                </a:tc>
                <a:extLst>
                  <a:ext uri="{0D108BD9-81ED-4DB2-BD59-A6C34878D82A}">
                    <a16:rowId xmlns:a16="http://schemas.microsoft.com/office/drawing/2014/main" val="1315181878"/>
                  </a:ext>
                </a:extLst>
              </a:tr>
              <a:tr h="354779">
                <a:tc>
                  <a:txBody>
                    <a:bodyPr/>
                    <a:lstStyle/>
                    <a:p>
                      <a:r>
                        <a:rPr 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‘o’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圆圈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</a:t>
                      </a:r>
                    </a:p>
                  </a:txBody>
                  <a:tcPr marL="27717" marR="27717" marT="27717" marB="27717" anchor="ctr"/>
                </a:tc>
                <a:extLst>
                  <a:ext uri="{0D108BD9-81ED-4DB2-BD59-A6C34878D82A}">
                    <a16:rowId xmlns:a16="http://schemas.microsoft.com/office/drawing/2014/main" val="1965221402"/>
                  </a:ext>
                </a:extLst>
              </a:tr>
              <a:tr h="354779">
                <a:tc>
                  <a:txBody>
                    <a:bodyPr/>
                    <a:lstStyle/>
                    <a:p>
                      <a:r>
                        <a:rPr 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‘D’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菱形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‘s’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正方形</a:t>
                      </a:r>
                    </a:p>
                  </a:txBody>
                  <a:tcPr marL="27717" marR="27717" marT="27717" marB="27717" anchor="ctr"/>
                </a:tc>
                <a:extLst>
                  <a:ext uri="{0D108BD9-81ED-4DB2-BD59-A6C34878D82A}">
                    <a16:rowId xmlns:a16="http://schemas.microsoft.com/office/drawing/2014/main" val="2906051203"/>
                  </a:ext>
                </a:extLst>
              </a:tr>
              <a:tr h="354779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‘h’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六边形</a:t>
                      </a:r>
                      <a:r>
                        <a:rPr lang="en-US" altLang="zh-CN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‘*’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星号</a:t>
                      </a:r>
                    </a:p>
                  </a:txBody>
                  <a:tcPr marL="27717" marR="27717" marT="27717" marB="27717" anchor="ctr"/>
                </a:tc>
                <a:extLst>
                  <a:ext uri="{0D108BD9-81ED-4DB2-BD59-A6C34878D82A}">
                    <a16:rowId xmlns:a16="http://schemas.microsoft.com/office/drawing/2014/main" val="2410641203"/>
                  </a:ext>
                </a:extLst>
              </a:tr>
              <a:tr h="354779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‘H’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六边形</a:t>
                      </a:r>
                      <a:r>
                        <a:rPr lang="en-US" altLang="zh-CN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‘d’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小菱形</a:t>
                      </a:r>
                    </a:p>
                  </a:txBody>
                  <a:tcPr marL="27717" marR="27717" marT="27717" marB="27717" anchor="ctr"/>
                </a:tc>
                <a:extLst>
                  <a:ext uri="{0D108BD9-81ED-4DB2-BD59-A6C34878D82A}">
                    <a16:rowId xmlns:a16="http://schemas.microsoft.com/office/drawing/2014/main" val="2266021788"/>
                  </a:ext>
                </a:extLst>
              </a:tr>
              <a:tr h="587603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水平线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‘v’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下三角形</a:t>
                      </a:r>
                    </a:p>
                  </a:txBody>
                  <a:tcPr marL="27717" marR="27717" marT="27717" marB="27717" anchor="ctr"/>
                </a:tc>
                <a:extLst>
                  <a:ext uri="{0D108BD9-81ED-4DB2-BD59-A6C34878D82A}">
                    <a16:rowId xmlns:a16="http://schemas.microsoft.com/office/drawing/2014/main" val="2540703612"/>
                  </a:ext>
                </a:extLst>
              </a:tr>
              <a:tr h="587603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八边形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左三角形</a:t>
                      </a:r>
                    </a:p>
                  </a:txBody>
                  <a:tcPr marL="27717" marR="27717" marT="27717" marB="27717" anchor="ctr"/>
                </a:tc>
                <a:extLst>
                  <a:ext uri="{0D108BD9-81ED-4DB2-BD59-A6C34878D82A}">
                    <a16:rowId xmlns:a16="http://schemas.microsoft.com/office/drawing/2014/main" val="1744328377"/>
                  </a:ext>
                </a:extLst>
              </a:tr>
              <a:tr h="587603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‘p’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五边形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右三角形</a:t>
                      </a:r>
                    </a:p>
                  </a:txBody>
                  <a:tcPr marL="27717" marR="27717" marT="27717" marB="27717" anchor="ctr"/>
                </a:tc>
                <a:extLst>
                  <a:ext uri="{0D108BD9-81ED-4DB2-BD59-A6C34878D82A}">
                    <a16:rowId xmlns:a16="http://schemas.microsoft.com/office/drawing/2014/main" val="3454637574"/>
                  </a:ext>
                </a:extLst>
              </a:tr>
              <a:tr h="587603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上三角形</a:t>
                      </a:r>
                    </a:p>
                  </a:txBody>
                  <a:tcPr marL="27717" marR="27717" marT="27717" marB="27717" anchor="ctr"/>
                </a:tc>
                <a:extLst>
                  <a:ext uri="{0D108BD9-81ED-4DB2-BD59-A6C34878D82A}">
                    <a16:rowId xmlns:a16="http://schemas.microsoft.com/office/drawing/2014/main" val="1218528738"/>
                  </a:ext>
                </a:extLst>
              </a:tr>
              <a:tr h="321519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加号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</a:p>
                  </a:txBody>
                  <a:tcPr marL="27717" marR="27717" marT="27717" marB="27717" anchor="ctr"/>
                </a:tc>
                <a:extLst>
                  <a:ext uri="{0D108BD9-81ED-4DB2-BD59-A6C34878D82A}">
                    <a16:rowId xmlns:a16="http://schemas.microsoft.com/office/drawing/2014/main" val="3934089903"/>
                  </a:ext>
                </a:extLst>
              </a:tr>
              <a:tr h="354779">
                <a:tc>
                  <a:txBody>
                    <a:bodyPr/>
                    <a:lstStyle/>
                    <a:p>
                      <a:r>
                        <a:rPr lang="it-IT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‘None’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‘x’</a:t>
                      </a:r>
                    </a:p>
                  </a:txBody>
                  <a:tcPr marL="27717" marR="27717" marT="27717" marB="27717" anchor="ctr"/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</a:p>
                  </a:txBody>
                  <a:tcPr marL="27717" marR="27717" marT="27717" marB="27717" anchor="ctr"/>
                </a:tc>
                <a:extLst>
                  <a:ext uri="{0D108BD9-81ED-4DB2-BD59-A6C34878D82A}">
                    <a16:rowId xmlns:a16="http://schemas.microsoft.com/office/drawing/2014/main" val="8685443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8D7D03E-307C-DF76-8BC5-3B106823FBD6}"/>
              </a:ext>
            </a:extLst>
          </p:cNvPr>
          <p:cNvSpPr txBox="1"/>
          <p:nvPr/>
        </p:nvSpPr>
        <p:spPr>
          <a:xfrm>
            <a:off x="529327" y="4272678"/>
            <a:ext cx="6816757" cy="258590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867" b="1" dirty="0"/>
              <a:t>常用的关键字：</a:t>
            </a:r>
            <a:endParaRPr lang="en-US" altLang="zh-CN" sz="1867" b="1" dirty="0"/>
          </a:p>
          <a:p>
            <a:r>
              <a:rPr lang="en-US" altLang="zh-CN" sz="1867" b="1" dirty="0"/>
              <a:t>color </a:t>
            </a:r>
            <a:r>
              <a:rPr lang="zh-CN" altLang="en-US" sz="1867" b="1" dirty="0"/>
              <a:t>颜色控制，</a:t>
            </a:r>
            <a:r>
              <a:rPr lang="en-US" altLang="zh-CN" sz="1867" b="1" dirty="0"/>
              <a:t>color=</a:t>
            </a:r>
            <a:r>
              <a:rPr lang="zh-CN" altLang="en-US" sz="1867" b="1" dirty="0"/>
              <a:t>‘</a:t>
            </a:r>
            <a:r>
              <a:rPr lang="en-US" altLang="zh-CN" sz="1867" b="1" dirty="0"/>
              <a:t>green’</a:t>
            </a:r>
          </a:p>
          <a:p>
            <a:r>
              <a:rPr lang="en-US" altLang="zh-CN" sz="1867" b="1" dirty="0" err="1"/>
              <a:t>linestyle</a:t>
            </a:r>
            <a:r>
              <a:rPr lang="en-US" altLang="zh-CN" sz="1867" b="1" dirty="0"/>
              <a:t>  </a:t>
            </a:r>
            <a:r>
              <a:rPr lang="zh-CN" altLang="en-US" sz="1867" b="1" dirty="0"/>
              <a:t>线形控制  </a:t>
            </a:r>
            <a:r>
              <a:rPr lang="en-US" altLang="zh-CN" sz="1867" b="1" dirty="0" err="1"/>
              <a:t>linestyle</a:t>
            </a:r>
            <a:r>
              <a:rPr lang="en-US" altLang="zh-CN" sz="1867" b="1" dirty="0"/>
              <a:t>=‘dashed’</a:t>
            </a:r>
          </a:p>
          <a:p>
            <a:r>
              <a:rPr lang="en-US" altLang="zh-CN" sz="1867" b="1" dirty="0"/>
              <a:t>linewidth  </a:t>
            </a:r>
            <a:r>
              <a:rPr lang="zh-CN" altLang="en-US" sz="1867" b="1" dirty="0"/>
              <a:t>线形控制  </a:t>
            </a:r>
            <a:r>
              <a:rPr lang="en-US" altLang="zh-CN" sz="1867" b="1" dirty="0"/>
              <a:t>linewidth=4</a:t>
            </a:r>
          </a:p>
          <a:p>
            <a:r>
              <a:rPr lang="zh-CN" altLang="en-US" sz="1867" b="1" dirty="0"/>
              <a:t>标记控制：</a:t>
            </a:r>
            <a:endParaRPr lang="en-US" altLang="zh-CN" sz="1867" b="1" dirty="0"/>
          </a:p>
          <a:p>
            <a:r>
              <a:rPr lang="en-US" altLang="zh-CN" sz="1867" b="1" dirty="0"/>
              <a:t>marker=‘o’  </a:t>
            </a:r>
            <a:r>
              <a:rPr lang="zh-CN" altLang="en-US" sz="1867" b="1" dirty="0"/>
              <a:t>标记符号</a:t>
            </a:r>
            <a:endParaRPr lang="en-US" altLang="zh-CN" sz="1867" b="1" dirty="0"/>
          </a:p>
          <a:p>
            <a:r>
              <a:rPr lang="en-US" altLang="zh-CN" sz="1867" b="1" dirty="0" err="1"/>
              <a:t>markfacecolor</a:t>
            </a:r>
            <a:r>
              <a:rPr lang="en-US" altLang="zh-CN" sz="1867" b="1" dirty="0"/>
              <a:t>=‘blue’   </a:t>
            </a:r>
            <a:r>
              <a:rPr lang="zh-CN" altLang="en-US" sz="1867" b="1" dirty="0"/>
              <a:t>标记颜色</a:t>
            </a:r>
            <a:endParaRPr lang="en-US" altLang="zh-CN" sz="1867" b="1" dirty="0"/>
          </a:p>
          <a:p>
            <a:r>
              <a:rPr lang="en-US" altLang="zh-CN" sz="1867" b="1" dirty="0" err="1"/>
              <a:t>markersize</a:t>
            </a:r>
            <a:r>
              <a:rPr lang="en-US" altLang="zh-CN" sz="1867" b="1" dirty="0"/>
              <a:t>=12    </a:t>
            </a:r>
            <a:r>
              <a:rPr lang="zh-CN" altLang="en-US" sz="1867" b="1" dirty="0"/>
              <a:t>标记大小</a:t>
            </a:r>
            <a:endParaRPr lang="en-US" altLang="zh-CN" sz="1867" b="1" dirty="0"/>
          </a:p>
          <a:p>
            <a:endParaRPr lang="zh-CN" altLang="en-US" sz="1867" dirty="0"/>
          </a:p>
        </p:txBody>
      </p:sp>
    </p:spTree>
    <p:extLst>
      <p:ext uri="{BB962C8B-B14F-4D97-AF65-F5344CB8AC3E}">
        <p14:creationId xmlns:p14="http://schemas.microsoft.com/office/powerpoint/2010/main" val="398498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814918" y="620185"/>
            <a:ext cx="9698567" cy="704849"/>
          </a:xfrm>
        </p:spPr>
        <p:txBody>
          <a:bodyPr/>
          <a:lstStyle/>
          <a:p>
            <a:pPr algn="ctr" eaLnBrk="1" hangingPunct="1"/>
            <a:r>
              <a:rPr lang="zh-CN" altLang="en-US" sz="3200" dirty="0"/>
              <a:t>颜色控制</a:t>
            </a:r>
          </a:p>
        </p:txBody>
      </p:sp>
      <p:graphicFrame>
        <p:nvGraphicFramePr>
          <p:cNvPr id="2" name="内容占位符 1"/>
          <p:cNvGraphicFramePr>
            <a:graphicFrameLocks noGrp="1"/>
          </p:cNvGraphicFramePr>
          <p:nvPr>
            <p:ph idx="1"/>
          </p:nvPr>
        </p:nvGraphicFramePr>
        <p:xfrm>
          <a:off x="2159563" y="1604798"/>
          <a:ext cx="7488832" cy="4394196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552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2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缩写</a:t>
                      </a:r>
                      <a:endParaRPr lang="zh-CN" sz="27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7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endParaRPr lang="zh-CN" sz="27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2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27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lang="en-US" sz="27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</a:t>
                      </a:r>
                      <a:endParaRPr lang="zh-CN" sz="27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>
                    <a:solidFill>
                      <a:srgbClr val="0000B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7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red</a:t>
                      </a:r>
                      <a:endParaRPr lang="zh-CN" sz="27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>
                    <a:solidFill>
                      <a:srgbClr val="0000B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2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'g'</a:t>
                      </a:r>
                      <a:endParaRPr lang="zh-CN" sz="2700" kern="100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green</a:t>
                      </a:r>
                      <a:endParaRPr lang="zh-CN" sz="2700" kern="100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2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‘b'</a:t>
                      </a:r>
                      <a:endParaRPr lang="zh-CN" sz="2700" kern="1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>
                    <a:solidFill>
                      <a:srgbClr val="0000B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blue</a:t>
                      </a:r>
                      <a:endParaRPr lang="zh-CN" sz="2700" kern="1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>
                    <a:solidFill>
                      <a:srgbClr val="0000B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2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rgbClr val="00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'c'</a:t>
                      </a:r>
                      <a:endParaRPr lang="zh-CN" sz="2700" kern="100" dirty="0">
                        <a:solidFill>
                          <a:srgbClr val="00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rgbClr val="00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cyan</a:t>
                      </a:r>
                      <a:endParaRPr lang="zh-CN" sz="2700" kern="100" dirty="0">
                        <a:solidFill>
                          <a:srgbClr val="00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2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rgbClr val="FF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'm'</a:t>
                      </a:r>
                      <a:endParaRPr lang="zh-CN" sz="2700" kern="100" dirty="0">
                        <a:solidFill>
                          <a:srgbClr val="FF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>
                    <a:solidFill>
                      <a:srgbClr val="0000B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rgbClr val="FF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magenta</a:t>
                      </a:r>
                      <a:endParaRPr lang="zh-CN" sz="2700" kern="100" dirty="0">
                        <a:solidFill>
                          <a:srgbClr val="FF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>
                    <a:solidFill>
                      <a:srgbClr val="0000B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2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rgbClr val="FFFF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'y'</a:t>
                      </a:r>
                      <a:endParaRPr lang="zh-CN" sz="2700" kern="100" dirty="0">
                        <a:solidFill>
                          <a:srgbClr val="FFFF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rgbClr val="FFFF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yellow</a:t>
                      </a:r>
                      <a:endParaRPr lang="zh-CN" sz="2700" kern="100" dirty="0">
                        <a:solidFill>
                          <a:srgbClr val="FFFF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2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'w'</a:t>
                      </a:r>
                      <a:endParaRPr lang="zh-CN" sz="27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>
                    <a:solidFill>
                      <a:srgbClr val="0000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white</a:t>
                      </a:r>
                    </a:p>
                  </a:txBody>
                  <a:tcPr marL="91441" marR="91441" marT="0" marB="0">
                    <a:solidFill>
                      <a:srgbClr val="0000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82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'k'</a:t>
                      </a:r>
                      <a:endParaRPr lang="zh-CN" sz="27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black</a:t>
                      </a:r>
                      <a:endParaRPr lang="zh-CN" sz="27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91441" marR="91441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539" name="Rectangle 2"/>
          <p:cNvSpPr>
            <a:spLocks noChangeArrowheads="1"/>
          </p:cNvSpPr>
          <p:nvPr/>
        </p:nvSpPr>
        <p:spPr bwMode="auto">
          <a:xfrm>
            <a:off x="1" y="-22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21540" name="Rectangle 6"/>
          <p:cNvSpPr>
            <a:spLocks noChangeArrowheads="1"/>
          </p:cNvSpPr>
          <p:nvPr/>
        </p:nvSpPr>
        <p:spPr bwMode="auto">
          <a:xfrm>
            <a:off x="1" y="-2308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431371" y="1316766"/>
            <a:ext cx="10273141" cy="2518997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arange(</a:t>
            </a:r>
            <a:r>
              <a:rPr lang="zh-CN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起始点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终止点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步长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</a:p>
          <a:p>
            <a:pPr marL="609585" lvl="1" indent="0" eaLnBrk="1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zh-CN" altLang="en-US" sz="2667" b="1" dirty="0">
                <a:latin typeface="宋体" panose="02010600030101010101" pitchFamily="2" charset="-122"/>
                <a:ea typeface="宋体" panose="02010600030101010101" pitchFamily="2" charset="-122"/>
              </a:rPr>
              <a:t>快速生成某个范围内的数据</a:t>
            </a:r>
            <a:r>
              <a:rPr lang="en-US" altLang="zh-CN" sz="2667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zh-CN" sz="2667" b="1" dirty="0">
                <a:latin typeface="宋体" panose="02010600030101010101" pitchFamily="2" charset="-122"/>
                <a:ea typeface="宋体" panose="02010600030101010101" pitchFamily="2" charset="-122"/>
              </a:rPr>
              <a:t>默认间隔值为</a:t>
            </a:r>
            <a:r>
              <a:rPr lang="en-US" altLang="zh-CN" sz="2667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 marL="609585" lvl="1" indent="0" eaLnBrk="1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zh-CN" altLang="en-US" sz="2667" kern="1200" dirty="0"/>
              <a:t>如：</a:t>
            </a:r>
            <a:r>
              <a:rPr lang="en-US" altLang="zh-CN" sz="2667" dirty="0" err="1">
                <a:solidFill>
                  <a:srgbClr val="0070C0"/>
                </a:solidFill>
                <a:cs typeface="Arial" panose="020B0604020202020204" pitchFamily="34" charset="0"/>
              </a:rPr>
              <a:t>np.arange</a:t>
            </a:r>
            <a:r>
              <a:rPr lang="en-US" altLang="zh-CN" sz="2667" dirty="0">
                <a:solidFill>
                  <a:srgbClr val="0070C0"/>
                </a:solidFill>
                <a:cs typeface="Arial" panose="020B0604020202020204" pitchFamily="34" charset="0"/>
              </a:rPr>
              <a:t>(0,1,0.2)</a:t>
            </a:r>
          </a:p>
          <a:p>
            <a:pPr marL="609585" lvl="1" indent="0" eaLnBrk="1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zh-CN" altLang="en-US" sz="2667" dirty="0">
                <a:cs typeface="Arial" panose="020B0604020202020204" pitchFamily="34" charset="0"/>
              </a:rPr>
              <a:t>结果为</a:t>
            </a:r>
            <a:r>
              <a:rPr lang="en-US" altLang="zh-CN" sz="2667" dirty="0">
                <a:cs typeface="Arial" panose="020B0604020202020204" pitchFamily="34" charset="0"/>
              </a:rPr>
              <a:t>array([0. , 0.2, 0.4, 0.6, 0.8])</a:t>
            </a:r>
            <a:endParaRPr lang="en-US" altLang="zh-CN" sz="2667" dirty="0">
              <a:solidFill>
                <a:srgbClr val="0000B4"/>
              </a:solidFill>
              <a:cs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1" y="-22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17412" name="Rectangle 6"/>
          <p:cNvSpPr>
            <a:spLocks noChangeArrowheads="1"/>
          </p:cNvSpPr>
          <p:nvPr/>
        </p:nvSpPr>
        <p:spPr bwMode="auto">
          <a:xfrm>
            <a:off x="1" y="-2308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431371" y="548431"/>
            <a:ext cx="7598635" cy="68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32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32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中快速生成数据的函数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31371" y="4005064"/>
            <a:ext cx="10273141" cy="249627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zh-CN" sz="3200" kern="0" dirty="0" err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linspace</a:t>
            </a:r>
            <a:r>
              <a:rPr lang="en-US" altLang="zh-CN" sz="3200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起始值，终值，元素个数）</a:t>
            </a:r>
            <a:endParaRPr lang="en-US" altLang="zh-CN" sz="3200" kern="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en-US" altLang="zh-CN" sz="3200" kern="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667" kern="0" dirty="0">
                <a:latin typeface="宋体" panose="02010600030101010101" pitchFamily="2" charset="-122"/>
                <a:ea typeface="宋体" panose="02010600030101010101" pitchFamily="2" charset="-122"/>
              </a:rPr>
              <a:t>endpoint</a:t>
            </a:r>
            <a:r>
              <a:rPr lang="zh-CN" altLang="en-US" sz="2667" kern="0" dirty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zh-CN" sz="2667" kern="0" dirty="0">
                <a:latin typeface="宋体" panose="02010600030101010101" pitchFamily="2" charset="-122"/>
                <a:ea typeface="宋体" panose="02010600030101010101" pitchFamily="2" charset="-122"/>
              </a:rPr>
              <a:t>指定是否包括终值</a:t>
            </a:r>
            <a:r>
              <a:rPr lang="zh-CN" altLang="en-US" sz="2667" kern="0" dirty="0">
                <a:latin typeface="宋体" panose="02010600030101010101" pitchFamily="2" charset="-122"/>
                <a:ea typeface="宋体" panose="02010600030101010101" pitchFamily="2" charset="-122"/>
              </a:rPr>
              <a:t>，默认为</a:t>
            </a:r>
            <a:r>
              <a:rPr lang="en-US" altLang="zh-CN" sz="2667" kern="0" dirty="0">
                <a:latin typeface="宋体" panose="02010600030101010101" pitchFamily="2" charset="-122"/>
                <a:ea typeface="宋体" panose="02010600030101010101" pitchFamily="2" charset="-122"/>
              </a:rPr>
              <a:t>True</a:t>
            </a:r>
          </a:p>
          <a:p>
            <a:pPr marL="152396" lvl="1" indent="0" eaLnBrk="1" hangingPunct="1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en-US" altLang="zh-CN" sz="2667" dirty="0"/>
              <a:t>    </a:t>
            </a:r>
            <a:r>
              <a:rPr lang="zh-CN" altLang="en-US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2667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np.linspace</a:t>
            </a:r>
            <a:r>
              <a:rPr lang="en-US" altLang="zh-CN" sz="2667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(10,100,6,endpoint=True)</a:t>
            </a:r>
          </a:p>
          <a:p>
            <a:pPr marL="152396" lvl="1" indent="0" eaLnBrk="1" hangingPunct="1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en-US" altLang="zh-CN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结果为</a:t>
            </a:r>
            <a:r>
              <a:rPr lang="en-US" altLang="zh-CN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array([ 10.,  28.,  46.,  64.,  82., 100.])</a:t>
            </a:r>
          </a:p>
        </p:txBody>
      </p:sp>
    </p:spTree>
    <p:extLst>
      <p:ext uri="{BB962C8B-B14F-4D97-AF65-F5344CB8AC3E}">
        <p14:creationId xmlns:p14="http://schemas.microsoft.com/office/powerpoint/2010/main" val="237430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animBg="1"/>
      <p:bldP spid="7" grpId="0"/>
      <p:bldP spid="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232E7-7173-4AD0-9AEE-6922512D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576" y="152316"/>
            <a:ext cx="11034184" cy="867833"/>
          </a:xfrm>
        </p:spPr>
        <p:txBody>
          <a:bodyPr/>
          <a:lstStyle/>
          <a:p>
            <a:r>
              <a:rPr lang="zh-CN" altLang="en-US" sz="3200" dirty="0"/>
              <a:t>调整图例位置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0F2E1B-8191-4F3C-8ABE-621C01E5781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81293" y="1124744"/>
            <a:ext cx="10203272" cy="33592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zh-CN" sz="2133" dirty="0" err="1"/>
              <a:t>plt.legend</a:t>
            </a:r>
            <a:r>
              <a:rPr lang="en-US" altLang="zh-CN" sz="2133" dirty="0"/>
              <a:t>(loc='String or Number', </a:t>
            </a:r>
            <a:r>
              <a:rPr lang="en-US" altLang="zh-CN" sz="2133" dirty="0" err="1"/>
              <a:t>bbox_to_anchor</a:t>
            </a:r>
            <a:r>
              <a:rPr lang="en-US" altLang="zh-CN" sz="2133" dirty="0"/>
              <a:t>=(num1, num2))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6C75926-FA9B-43F2-8510-F9635E25A5EB}"/>
              </a:ext>
            </a:extLst>
          </p:cNvPr>
          <p:cNvGraphicFramePr>
            <a:graphicFrameLocks noGrp="1"/>
          </p:cNvGraphicFramePr>
          <p:nvPr/>
        </p:nvGraphicFramePr>
        <p:xfrm>
          <a:off x="1103445" y="1870605"/>
          <a:ext cx="3840427" cy="4694976"/>
        </p:xfrm>
        <a:graphic>
          <a:graphicData uri="http://schemas.openxmlformats.org/drawingml/2006/table">
            <a:tbl>
              <a:tblPr/>
              <a:tblGrid>
                <a:gridCol w="2194627">
                  <a:extLst>
                    <a:ext uri="{9D8B030D-6E8A-4147-A177-3AD203B41FA5}">
                      <a16:colId xmlns:a16="http://schemas.microsoft.com/office/drawing/2014/main" val="961749938"/>
                    </a:ext>
                  </a:extLst>
                </a:gridCol>
                <a:gridCol w="1645800">
                  <a:extLst>
                    <a:ext uri="{9D8B030D-6E8A-4147-A177-3AD203B41FA5}">
                      <a16:colId xmlns:a16="http://schemas.microsoft.com/office/drawing/2014/main" val="523812911"/>
                    </a:ext>
                  </a:extLst>
                </a:gridCol>
              </a:tblGrid>
              <a:tr h="426816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effectLst/>
                        </a:rPr>
                        <a:t>String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effectLst/>
                        </a:rPr>
                        <a:t>Number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444049"/>
                  </a:ext>
                </a:extLst>
              </a:tr>
              <a:tr h="426816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effectLst/>
                        </a:rPr>
                        <a:t>upper right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>
                          <a:effectLst/>
                        </a:rPr>
                        <a:t>1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951393"/>
                  </a:ext>
                </a:extLst>
              </a:tr>
              <a:tr h="426816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effectLst/>
                        </a:rPr>
                        <a:t>upper left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>
                          <a:effectLst/>
                        </a:rPr>
                        <a:t>2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441744"/>
                  </a:ext>
                </a:extLst>
              </a:tr>
              <a:tr h="426816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effectLst/>
                        </a:rPr>
                        <a:t>lower left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>
                          <a:effectLst/>
                        </a:rPr>
                        <a:t>3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70382"/>
                  </a:ext>
                </a:extLst>
              </a:tr>
              <a:tr h="426816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effectLst/>
                        </a:rPr>
                        <a:t>lower right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>
                          <a:effectLst/>
                        </a:rPr>
                        <a:t>4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148832"/>
                  </a:ext>
                </a:extLst>
              </a:tr>
              <a:tr h="426816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effectLst/>
                        </a:rPr>
                        <a:t>right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>
                          <a:effectLst/>
                        </a:rPr>
                        <a:t>5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734475"/>
                  </a:ext>
                </a:extLst>
              </a:tr>
              <a:tr h="426816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effectLst/>
                        </a:rPr>
                        <a:t>center left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>
                          <a:effectLst/>
                        </a:rPr>
                        <a:t>6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170417"/>
                  </a:ext>
                </a:extLst>
              </a:tr>
              <a:tr h="426816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effectLst/>
                        </a:rPr>
                        <a:t>center right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>
                          <a:effectLst/>
                        </a:rPr>
                        <a:t>7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497910"/>
                  </a:ext>
                </a:extLst>
              </a:tr>
              <a:tr h="426816">
                <a:tc>
                  <a:txBody>
                    <a:bodyPr/>
                    <a:lstStyle/>
                    <a:p>
                      <a:pPr algn="l"/>
                      <a:r>
                        <a:rPr lang="en-US" sz="1900">
                          <a:effectLst/>
                        </a:rPr>
                        <a:t>lower center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>
                          <a:effectLst/>
                        </a:rPr>
                        <a:t>8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1753940"/>
                  </a:ext>
                </a:extLst>
              </a:tr>
              <a:tr h="426816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effectLst/>
                        </a:rPr>
                        <a:t>upper center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>
                          <a:effectLst/>
                        </a:rPr>
                        <a:t>9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444971"/>
                  </a:ext>
                </a:extLst>
              </a:tr>
              <a:tr h="426816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effectLst/>
                        </a:rPr>
                        <a:t>center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>
                          <a:effectLst/>
                        </a:rPr>
                        <a:t>10</a:t>
                      </a:r>
                    </a:p>
                  </a:txBody>
                  <a:tcPr marL="124543" marR="124543" marT="71168" marB="71168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6909125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6884633-A58B-4C0B-AC89-77E95269F5E4}"/>
              </a:ext>
            </a:extLst>
          </p:cNvPr>
          <p:cNvSpPr txBox="1"/>
          <p:nvPr/>
        </p:nvSpPr>
        <p:spPr>
          <a:xfrm>
            <a:off x="5423925" y="1870606"/>
            <a:ext cx="5568619" cy="2129429"/>
          </a:xfrm>
          <a:prstGeom prst="rect">
            <a:avLst/>
          </a:prstGeom>
          <a:solidFill>
            <a:srgbClr val="CCFFFF"/>
          </a:solidFill>
        </p:spPr>
        <p:txBody>
          <a:bodyPr wrap="square" lIns="12000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/>
              <a:t>bbox_to_anchor</a:t>
            </a:r>
            <a:r>
              <a:rPr lang="en-US" altLang="zh-CN" sz="2400" dirty="0"/>
              <a:t>=(num1, num2))</a:t>
            </a:r>
          </a:p>
          <a:p>
            <a:pPr marL="990575" lvl="1" indent="-38099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num1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：控制水平相对位置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990575" lvl="1" indent="-38099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num2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：控制垂直相对位置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使用该参数，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loc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不起作用</a:t>
            </a:r>
          </a:p>
        </p:txBody>
      </p:sp>
    </p:spTree>
    <p:extLst>
      <p:ext uri="{BB962C8B-B14F-4D97-AF65-F5344CB8AC3E}">
        <p14:creationId xmlns:p14="http://schemas.microsoft.com/office/powerpoint/2010/main" val="1331160426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defRPr sz="1400" dirty="0" smtClean="0"/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defRPr sz="1400" dirty="0" smtClean="0"/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</TotalTime>
  <Words>13568</Words>
  <Application>Microsoft Macintosh PowerPoint</Application>
  <PresentationFormat>宽屏</PresentationFormat>
  <Paragraphs>1584</Paragraphs>
  <Slides>98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98</vt:i4>
      </vt:variant>
    </vt:vector>
  </HeadingPairs>
  <TitlesOfParts>
    <vt:vector size="115" baseType="lpstr">
      <vt:lpstr>-apple-system</vt:lpstr>
      <vt:lpstr>等线</vt:lpstr>
      <vt:lpstr>黑体</vt:lpstr>
      <vt:lpstr>华文新魏</vt:lpstr>
      <vt:lpstr>宋体</vt:lpstr>
      <vt:lpstr>Microsoft YaHei</vt:lpstr>
      <vt:lpstr>Microsoft YaHei</vt:lpstr>
      <vt:lpstr>Arial Unicode MS</vt:lpstr>
      <vt:lpstr>PingFang SC</vt:lpstr>
      <vt:lpstr>Arial</vt:lpstr>
      <vt:lpstr>Bodoni MT Black</vt:lpstr>
      <vt:lpstr>Calibri</vt:lpstr>
      <vt:lpstr>Courier New</vt:lpstr>
      <vt:lpstr>Times New Roman</vt:lpstr>
      <vt:lpstr>Wingdings</vt:lpstr>
      <vt:lpstr>主题1</vt:lpstr>
      <vt:lpstr>1_主题1</vt:lpstr>
      <vt:lpstr>PowerPoint 演示文稿</vt:lpstr>
      <vt:lpstr>变量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关系运算</vt:lpstr>
      <vt:lpstr>逻辑运算</vt:lpstr>
      <vt:lpstr>运算优先级</vt:lpstr>
      <vt:lpstr>随机数控制</vt:lpstr>
      <vt:lpstr>输入控制</vt:lpstr>
      <vt:lpstr>PowerPoint 演示文稿</vt:lpstr>
      <vt:lpstr>PowerPoint 演示文稿</vt:lpstr>
      <vt:lpstr>PowerPoint 演示文稿</vt:lpstr>
      <vt:lpstr>按指定格式输出</vt:lpstr>
      <vt:lpstr>F 表达式</vt:lpstr>
      <vt:lpstr>PowerPoint 演示文稿</vt:lpstr>
      <vt:lpstr>函数的调用</vt:lpstr>
      <vt:lpstr>总结—形参分类  四种类型</vt:lpstr>
      <vt:lpstr>多种形参共存时，顺序该如何排列</vt:lpstr>
      <vt:lpstr>PowerPoint 演示文稿</vt:lpstr>
      <vt:lpstr>PowerPoint 演示文稿</vt:lpstr>
      <vt:lpstr>PowerPoint 演示文稿</vt:lpstr>
      <vt:lpstr>PowerPoint 演示文稿</vt:lpstr>
      <vt:lpstr>3. 列表及其元素的删除</vt:lpstr>
      <vt:lpstr>4. 列表的切片</vt:lpstr>
      <vt:lpstr>5. 列表运算符： +、* 和 in</vt:lpstr>
      <vt:lpstr>5.1.3 列表对象方法 — append</vt:lpstr>
      <vt:lpstr>列表对象常用方法</vt:lpstr>
      <vt:lpstr>列表对象方法 — index</vt:lpstr>
      <vt:lpstr>列表对象方法 — count</vt:lpstr>
      <vt:lpstr>5.1.4 操作列表的内置函数</vt:lpstr>
      <vt:lpstr>5.1.6  元组（tuple）</vt:lpstr>
      <vt:lpstr>5.2  字典与集合</vt:lpstr>
      <vt:lpstr>字典属性及其访问</vt:lpstr>
      <vt:lpstr>5.2.2 集合运算</vt:lpstr>
      <vt:lpstr>集合对象的方法</vt:lpstr>
      <vt:lpstr>PowerPoint 演示文稿</vt:lpstr>
      <vt:lpstr>6.2.1  文本文件的打开与关闭</vt:lpstr>
      <vt:lpstr>文件的读写模式</vt:lpstr>
      <vt:lpstr>补充—文件的编码问题</vt:lpstr>
      <vt:lpstr>2. 文件关闭：close()方法</vt:lpstr>
      <vt:lpstr>PowerPoint 演示文稿</vt:lpstr>
      <vt:lpstr>写文件</vt:lpstr>
      <vt:lpstr>1、write方法</vt:lpstr>
      <vt:lpstr>write续</vt:lpstr>
      <vt:lpstr>2、writelines方法</vt:lpstr>
      <vt:lpstr>模式与操作</vt:lpstr>
      <vt:lpstr>CSV文件</vt:lpstr>
      <vt:lpstr>PowerPoint 演示文稿</vt:lpstr>
      <vt:lpstr>jieba分词</vt:lpstr>
      <vt:lpstr>PowerPoint 演示文稿</vt:lpstr>
      <vt:lpstr>PowerPoint 演示文稿</vt:lpstr>
      <vt:lpstr>4. 文本关键词抽取</vt:lpstr>
      <vt:lpstr>4.1 图像基本处理</vt:lpstr>
      <vt:lpstr>1．图像打开、显示、转换和保存</vt:lpstr>
      <vt:lpstr>（4）图像转换         图像对象.convert(格式) </vt:lpstr>
      <vt:lpstr>PIL支持9种图像模式:    1，L，P，RGB，RGBA，CMYK，YCbCr, I，F </vt:lpstr>
      <vt:lpstr>（5）像素点处理</vt:lpstr>
      <vt:lpstr>PowerPoint 演示文稿</vt:lpstr>
      <vt:lpstr>图像模式转换，去除背景灰度</vt:lpstr>
      <vt:lpstr>2. 图像的变换</vt:lpstr>
      <vt:lpstr>3. 色彩通道的分离和合并</vt:lpstr>
      <vt:lpstr>改变图像大小</vt:lpstr>
      <vt:lpstr>图像复制—合成</vt:lpstr>
      <vt:lpstr>图像的裁切</vt:lpstr>
      <vt:lpstr>4.2  图像的滤波和增强</vt:lpstr>
      <vt:lpstr>七、图像的滤波和增强</vt:lpstr>
      <vt:lpstr>PowerPoint 演示文稿</vt:lpstr>
      <vt:lpstr>7.1.2  类的特点</vt:lpstr>
      <vt:lpstr>2. 继承性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2.图表的组成</vt:lpstr>
      <vt:lpstr>PowerPoint 演示文稿</vt:lpstr>
      <vt:lpstr>PowerPoint 演示文稿</vt:lpstr>
      <vt:lpstr>PowerPoint 演示文稿</vt:lpstr>
      <vt:lpstr>常用图表绘制函数</vt:lpstr>
      <vt:lpstr>坐标轴设置函数</vt:lpstr>
      <vt:lpstr>标签设置函数</vt:lpstr>
      <vt:lpstr>解决汉字和负号显示问题</vt:lpstr>
      <vt:lpstr>线条的类型</vt:lpstr>
      <vt:lpstr>颜色控制</vt:lpstr>
      <vt:lpstr>PowerPoint 演示文稿</vt:lpstr>
      <vt:lpstr>调整图例位置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2026-06-16T06:40:34Z</dcterms:created>
  <dcterms:modified xsi:type="dcterms:W3CDTF">2026-06-21T07:38:42Z</dcterms:modified>
</cp:coreProperties>
</file>