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68"/>
  </p:notesMasterIdLst>
  <p:handoutMasterIdLst>
    <p:handoutMasterId r:id="rId69"/>
  </p:handoutMasterIdLst>
  <p:sldIdLst>
    <p:sldId id="256" r:id="rId2"/>
    <p:sldId id="464" r:id="rId3"/>
    <p:sldId id="448" r:id="rId4"/>
    <p:sldId id="449" r:id="rId5"/>
    <p:sldId id="443" r:id="rId6"/>
    <p:sldId id="466" r:id="rId7"/>
    <p:sldId id="467" r:id="rId8"/>
    <p:sldId id="468" r:id="rId9"/>
    <p:sldId id="469" r:id="rId10"/>
    <p:sldId id="470" r:id="rId11"/>
    <p:sldId id="471" r:id="rId12"/>
    <p:sldId id="338" r:id="rId13"/>
    <p:sldId id="398" r:id="rId14"/>
    <p:sldId id="397" r:id="rId15"/>
    <p:sldId id="476" r:id="rId16"/>
    <p:sldId id="410" r:id="rId17"/>
    <p:sldId id="368" r:id="rId18"/>
    <p:sldId id="391" r:id="rId19"/>
    <p:sldId id="396" r:id="rId20"/>
    <p:sldId id="382" r:id="rId21"/>
    <p:sldId id="477" r:id="rId22"/>
    <p:sldId id="478" r:id="rId23"/>
    <p:sldId id="479" r:id="rId24"/>
    <p:sldId id="389" r:id="rId25"/>
    <p:sldId id="329" r:id="rId26"/>
    <p:sldId id="424" r:id="rId27"/>
    <p:sldId id="328" r:id="rId28"/>
    <p:sldId id="442" r:id="rId29"/>
    <p:sldId id="324" r:id="rId30"/>
    <p:sldId id="480" r:id="rId31"/>
    <p:sldId id="412" r:id="rId32"/>
    <p:sldId id="426" r:id="rId33"/>
    <p:sldId id="427" r:id="rId34"/>
    <p:sldId id="429" r:id="rId35"/>
    <p:sldId id="414" r:id="rId36"/>
    <p:sldId id="432" r:id="rId37"/>
    <p:sldId id="433" r:id="rId38"/>
    <p:sldId id="336" r:id="rId39"/>
    <p:sldId id="458" r:id="rId40"/>
    <p:sldId id="459" r:id="rId41"/>
    <p:sldId id="481" r:id="rId42"/>
    <p:sldId id="460" r:id="rId43"/>
    <p:sldId id="461" r:id="rId44"/>
    <p:sldId id="462" r:id="rId45"/>
    <p:sldId id="463" r:id="rId46"/>
    <p:sldId id="337" r:id="rId47"/>
    <p:sldId id="435" r:id="rId48"/>
    <p:sldId id="436" r:id="rId49"/>
    <p:sldId id="472" r:id="rId50"/>
    <p:sldId id="473" r:id="rId51"/>
    <p:sldId id="474" r:id="rId52"/>
    <p:sldId id="418" r:id="rId53"/>
    <p:sldId id="373" r:id="rId54"/>
    <p:sldId id="402" r:id="rId55"/>
    <p:sldId id="404" r:id="rId56"/>
    <p:sldId id="417" r:id="rId57"/>
    <p:sldId id="400" r:id="rId58"/>
    <p:sldId id="344" r:id="rId59"/>
    <p:sldId id="346" r:id="rId60"/>
    <p:sldId id="455" r:id="rId61"/>
    <p:sldId id="456" r:id="rId62"/>
    <p:sldId id="457" r:id="rId63"/>
    <p:sldId id="348" r:id="rId64"/>
    <p:sldId id="437" r:id="rId65"/>
    <p:sldId id="430" r:id="rId66"/>
    <p:sldId id="475" r:id="rId67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A8"/>
    <a:srgbClr val="000096"/>
    <a:srgbClr val="CCFFFF"/>
    <a:srgbClr val="0000B4"/>
    <a:srgbClr val="0000FF"/>
    <a:srgbClr val="000066"/>
    <a:srgbClr val="0000A8"/>
    <a:srgbClr val="FF00FF"/>
    <a:srgbClr val="00FF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8311" autoAdjust="0"/>
  </p:normalViewPr>
  <p:slideViewPr>
    <p:cSldViewPr>
      <p:cViewPr varScale="1">
        <p:scale>
          <a:sx n="133" d="100"/>
          <a:sy n="133" d="100"/>
        </p:scale>
        <p:origin x="208" y="20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758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3F1A6AC-1568-4D97-B1A6-D2F5D0C5FA21}" type="datetimeFigureOut">
              <a:rPr lang="zh-CN" altLang="en-US"/>
              <a:pPr>
                <a:defRPr/>
              </a:pPr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1C5DEC9-6472-4206-B59B-1A30B65930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721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FFE69E8-AAF3-420D-97F5-31FA21EBBEB8}" type="datetimeFigureOut">
              <a:rPr lang="zh-CN" altLang="en-US"/>
              <a:pPr>
                <a:defRPr/>
              </a:pPr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7EB3F29-63AA-456A-8033-9D7C5DEBDA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637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07035F9-BDD9-48E3-8DD2-CB6EA1D42B55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63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箭头的绘制</a:t>
            </a:r>
            <a:endParaRPr lang="es-ES" altLang="zh-CN" dirty="0"/>
          </a:p>
          <a:p>
            <a:r>
              <a:rPr lang="es-ES" altLang="zh-CN" dirty="0"/>
              <a:t>import matplotlib.pyplot as plt</a:t>
            </a:r>
          </a:p>
          <a:p>
            <a:r>
              <a:rPr lang="es-ES" altLang="zh-CN" dirty="0"/>
              <a:t>import numpy as np</a:t>
            </a:r>
          </a:p>
          <a:p>
            <a:endParaRPr lang="es-ES" altLang="zh-CN" dirty="0"/>
          </a:p>
          <a:p>
            <a:r>
              <a:rPr lang="es-ES" altLang="zh-CN" dirty="0"/>
              <a:t>X = np.arange(-10, 10, 1)</a:t>
            </a:r>
          </a:p>
          <a:p>
            <a:r>
              <a:rPr lang="es-ES" altLang="zh-CN" dirty="0"/>
              <a:t>Y = np.arange(-10, 10, 1)</a:t>
            </a:r>
          </a:p>
          <a:p>
            <a:r>
              <a:rPr lang="es-ES" altLang="zh-CN" dirty="0"/>
              <a:t>U, V = np.meshgrid(X, Y)</a:t>
            </a:r>
          </a:p>
          <a:p>
            <a:endParaRPr lang="es-ES" altLang="zh-CN" dirty="0"/>
          </a:p>
          <a:p>
            <a:r>
              <a:rPr lang="es-ES" altLang="zh-CN" dirty="0"/>
              <a:t>fig, ax = plt.subplots()</a:t>
            </a:r>
          </a:p>
          <a:p>
            <a:r>
              <a:rPr lang="es-ES" altLang="zh-CN" dirty="0"/>
              <a:t>q = ax.quiver(X, Y, U, V)</a:t>
            </a:r>
          </a:p>
          <a:p>
            <a:r>
              <a:rPr lang="es-ES" altLang="zh-CN" dirty="0"/>
              <a:t>ax.quiverkey(q, X=0.3, Y=1.1, U=10,</a:t>
            </a:r>
          </a:p>
          <a:p>
            <a:r>
              <a:rPr lang="es-ES" altLang="zh-CN" dirty="0"/>
              <a:t>             label='Quiver key, length = 10', labelpos='E')</a:t>
            </a:r>
          </a:p>
          <a:p>
            <a:endParaRPr lang="es-ES" altLang="zh-CN" dirty="0"/>
          </a:p>
          <a:p>
            <a:r>
              <a:rPr lang="es-ES" altLang="zh-CN"/>
              <a:t>plt.show()</a:t>
            </a:r>
            <a:endParaRPr lang="es-E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112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/>
              <a:t>np.random.randint</a:t>
            </a:r>
            <a:endParaRPr lang="en-US" altLang="zh-CN" sz="1200" dirty="0"/>
          </a:p>
          <a:p>
            <a:r>
              <a:rPr lang="en-US" altLang="zh-CN" dirty="0" err="1">
                <a:effectLst/>
              </a:rPr>
              <a:t>randint</a:t>
            </a:r>
            <a:r>
              <a:rPr lang="en-US" altLang="zh-CN" dirty="0">
                <a:effectLst/>
              </a:rPr>
              <a:t>(low, high=None, size=None, </a:t>
            </a:r>
            <a:r>
              <a:rPr lang="en-US" altLang="zh-CN" dirty="0" err="1">
                <a:effectLst/>
              </a:rPr>
              <a:t>dtype</a:t>
            </a:r>
            <a:r>
              <a:rPr lang="en-US" altLang="zh-CN" dirty="0">
                <a:effectLst/>
              </a:rPr>
              <a:t>=</a:t>
            </a:r>
            <a:r>
              <a:rPr lang="en-US" altLang="zh-CN" dirty="0" err="1">
                <a:effectLst/>
              </a:rPr>
              <a:t>int</a:t>
            </a:r>
            <a:r>
              <a:rPr lang="en-US" altLang="zh-CN" dirty="0">
                <a:effectLst/>
              </a:rPr>
              <a:t>)</a:t>
            </a:r>
          </a:p>
          <a:p>
            <a:br>
              <a:rPr lang="en-US" altLang="zh-CN" dirty="0">
                <a:effectLst/>
              </a:rPr>
            </a:b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Return random integers from `low` (inclusive) to `high` (exclusive).</a:t>
            </a:r>
          </a:p>
          <a:p>
            <a:br>
              <a:rPr lang="en-US" altLang="zh-CN" dirty="0">
                <a:effectLst/>
              </a:rPr>
            </a:b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Return random integers from the "discrete uniform" distribution of</a:t>
            </a:r>
          </a:p>
          <a:p>
            <a:r>
              <a:rPr lang="en-US" altLang="zh-CN" dirty="0">
                <a:effectLst/>
              </a:rPr>
              <a:t>the specified </a:t>
            </a:r>
            <a:r>
              <a:rPr lang="en-US" altLang="zh-CN" dirty="0" err="1">
                <a:effectLst/>
              </a:rPr>
              <a:t>dtype</a:t>
            </a:r>
            <a:r>
              <a:rPr lang="en-US" altLang="zh-CN" dirty="0">
                <a:effectLst/>
              </a:rPr>
              <a:t> in the "half-open" interval [`low`, `high`). If</a:t>
            </a:r>
          </a:p>
          <a:p>
            <a:r>
              <a:rPr lang="en-US" altLang="zh-CN" dirty="0">
                <a:effectLst/>
              </a:rPr>
              <a:t>`high` is None (the default), then results are from [0, `low`).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新细明体：</a:t>
            </a:r>
            <a:r>
              <a:rPr lang="en-US" altLang="zh-CN" dirty="0" err="1"/>
              <a:t>PMingLiU</a:t>
            </a:r>
            <a:endParaRPr lang="en-US" altLang="zh-CN" dirty="0"/>
          </a:p>
          <a:p>
            <a:r>
              <a:rPr lang="zh-CN" altLang="en-US" dirty="0"/>
              <a:t>细明体：</a:t>
            </a:r>
            <a:r>
              <a:rPr lang="en-US" altLang="zh-CN" dirty="0" err="1"/>
              <a:t>MingLiU</a:t>
            </a:r>
            <a:endParaRPr lang="en-US" altLang="zh-CN" dirty="0"/>
          </a:p>
          <a:p>
            <a:r>
              <a:rPr lang="zh-CN" altLang="en-US" dirty="0"/>
              <a:t>标楷体：</a:t>
            </a:r>
            <a:r>
              <a:rPr lang="en-US" altLang="zh-CN" dirty="0" err="1"/>
              <a:t>DFKai</a:t>
            </a:r>
            <a:r>
              <a:rPr lang="en-US" altLang="zh-CN" dirty="0"/>
              <a:t>-SB</a:t>
            </a:r>
          </a:p>
          <a:p>
            <a:r>
              <a:rPr lang="zh-CN" altLang="en-US" dirty="0"/>
              <a:t>黑体：</a:t>
            </a:r>
            <a:r>
              <a:rPr lang="en-US" altLang="zh-CN" dirty="0" err="1"/>
              <a:t>SimHei</a:t>
            </a:r>
            <a:endParaRPr lang="en-US" altLang="zh-CN" dirty="0"/>
          </a:p>
          <a:p>
            <a:r>
              <a:rPr lang="zh-CN" altLang="en-US" dirty="0"/>
              <a:t>宋体：</a:t>
            </a:r>
            <a:r>
              <a:rPr lang="en-US" altLang="zh-CN" dirty="0" err="1"/>
              <a:t>SimSun</a:t>
            </a:r>
            <a:endParaRPr lang="en-US" altLang="zh-CN" dirty="0"/>
          </a:p>
          <a:p>
            <a:r>
              <a:rPr lang="zh-CN" altLang="en-US" dirty="0"/>
              <a:t>新宋体：</a:t>
            </a:r>
            <a:r>
              <a:rPr lang="en-US" altLang="zh-CN" dirty="0" err="1"/>
              <a:t>NSimSun</a:t>
            </a:r>
            <a:endParaRPr lang="en-US" altLang="zh-CN" dirty="0"/>
          </a:p>
          <a:p>
            <a:r>
              <a:rPr lang="zh-CN" altLang="en-US" dirty="0"/>
              <a:t>仿宋：</a:t>
            </a:r>
            <a:r>
              <a:rPr lang="en-US" altLang="zh-CN" dirty="0" err="1"/>
              <a:t>FangSong</a:t>
            </a:r>
            <a:endParaRPr lang="en-US" altLang="zh-CN" dirty="0"/>
          </a:p>
          <a:p>
            <a:r>
              <a:rPr lang="zh-CN" altLang="en-US" dirty="0"/>
              <a:t>楷体：</a:t>
            </a:r>
            <a:r>
              <a:rPr lang="en-US" altLang="zh-CN" dirty="0" err="1"/>
              <a:t>KaiTi</a:t>
            </a:r>
            <a:endParaRPr lang="en-US" altLang="zh-CN" dirty="0"/>
          </a:p>
          <a:p>
            <a:r>
              <a:rPr lang="zh-CN" altLang="en-US" dirty="0"/>
              <a:t>仿宋</a:t>
            </a:r>
            <a:r>
              <a:rPr lang="en-US" altLang="zh-CN" dirty="0"/>
              <a:t>_GB2312</a:t>
            </a:r>
            <a:r>
              <a:rPr lang="zh-CN" altLang="en-US" dirty="0"/>
              <a:t>：</a:t>
            </a:r>
            <a:r>
              <a:rPr lang="en-US" altLang="zh-CN" dirty="0"/>
              <a:t>FangSong_GB2312</a:t>
            </a:r>
          </a:p>
          <a:p>
            <a:r>
              <a:rPr lang="zh-CN" altLang="en-US" dirty="0"/>
              <a:t>楷体</a:t>
            </a:r>
            <a:r>
              <a:rPr lang="en-US" altLang="zh-CN" dirty="0"/>
              <a:t>_GB2312</a:t>
            </a:r>
            <a:r>
              <a:rPr lang="zh-CN" altLang="en-US" dirty="0"/>
              <a:t>：</a:t>
            </a:r>
            <a:r>
              <a:rPr lang="en-US" altLang="zh-CN" dirty="0"/>
              <a:t>KaiTi_GB2312</a:t>
            </a:r>
          </a:p>
          <a:p>
            <a:r>
              <a:rPr lang="zh-CN" altLang="en-US" dirty="0"/>
              <a:t>微软正黑体：</a:t>
            </a:r>
            <a:r>
              <a:rPr lang="en-US" altLang="zh-CN" dirty="0"/>
              <a:t>Microsoft </a:t>
            </a:r>
            <a:r>
              <a:rPr lang="en-US" altLang="zh-CN" dirty="0" err="1"/>
              <a:t>JhengHei</a:t>
            </a:r>
            <a:endParaRPr lang="en-US" altLang="zh-CN" dirty="0"/>
          </a:p>
          <a:p>
            <a:r>
              <a:rPr lang="zh-CN" altLang="en-US" dirty="0"/>
              <a:t>微软雅黑体：</a:t>
            </a:r>
            <a:r>
              <a:rPr lang="en-US" altLang="zh-CN" dirty="0"/>
              <a:t>Microsoft </a:t>
            </a:r>
            <a:r>
              <a:rPr lang="en-US" altLang="zh-CN" dirty="0" err="1"/>
              <a:t>YaHei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266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color=“#FF0000”  </a:t>
            </a:r>
          </a:p>
          <a:p>
            <a:r>
              <a:rPr lang="en-US" altLang="zh-CN" dirty="0"/>
              <a:t>color=“r”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83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import   math     </a:t>
            </a:r>
          </a:p>
          <a:p>
            <a:r>
              <a:rPr lang="en-US" altLang="zh-CN" dirty="0"/>
              <a:t>import random                              #</a:t>
            </a:r>
            <a:r>
              <a:rPr lang="zh-CN" altLang="en-US" dirty="0"/>
              <a:t>导入数学函数库</a:t>
            </a:r>
          </a:p>
          <a:p>
            <a:r>
              <a:rPr lang="en-US" altLang="zh-CN" dirty="0"/>
              <a:t>import   </a:t>
            </a:r>
            <a:r>
              <a:rPr lang="en-US" altLang="zh-CN" dirty="0" err="1"/>
              <a:t>matplotlib.pyplot</a:t>
            </a:r>
            <a:r>
              <a:rPr lang="en-US" altLang="zh-CN" dirty="0"/>
              <a:t> as </a:t>
            </a:r>
            <a:r>
              <a:rPr lang="en-US" altLang="zh-CN" dirty="0" err="1"/>
              <a:t>plt</a:t>
            </a:r>
            <a:r>
              <a:rPr lang="en-US" altLang="zh-CN" dirty="0"/>
              <a:t>     #</a:t>
            </a:r>
            <a:r>
              <a:rPr lang="zh-CN" altLang="en-US" dirty="0"/>
              <a:t>导入绘图库</a:t>
            </a:r>
          </a:p>
          <a:p>
            <a:r>
              <a:rPr lang="en-US" altLang="zh-CN" dirty="0" err="1"/>
              <a:t>plt.title</a:t>
            </a:r>
            <a:r>
              <a:rPr lang="en-US" altLang="zh-CN" dirty="0"/>
              <a:t>("</a:t>
            </a:r>
            <a:r>
              <a:rPr lang="zh-CN" altLang="en-US" dirty="0"/>
              <a:t>三角函数曲线</a:t>
            </a:r>
            <a:r>
              <a:rPr lang="en-US" altLang="zh-CN" dirty="0"/>
              <a:t>")                    #</a:t>
            </a:r>
            <a:r>
              <a:rPr lang="zh-CN" altLang="en-US" dirty="0"/>
              <a:t>显示图表标题</a:t>
            </a:r>
          </a:p>
          <a:p>
            <a:r>
              <a:rPr lang="en-US" altLang="zh-CN" dirty="0" err="1"/>
              <a:t>plt.ylim</a:t>
            </a:r>
            <a:r>
              <a:rPr lang="en-US" altLang="zh-CN" dirty="0"/>
              <a:t>(-1,2)                                     #</a:t>
            </a:r>
            <a:r>
              <a:rPr lang="zh-CN" altLang="en-US" dirty="0"/>
              <a:t>设置</a:t>
            </a:r>
            <a:r>
              <a:rPr lang="en-US" altLang="zh-CN" dirty="0"/>
              <a:t>y</a:t>
            </a:r>
            <a:r>
              <a:rPr lang="zh-CN" altLang="en-US" dirty="0"/>
              <a:t>轴的取值范围</a:t>
            </a:r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font.sans</a:t>
            </a:r>
            <a:r>
              <a:rPr lang="en-US" altLang="zh-CN" dirty="0"/>
              <a:t>-serif']=['</a:t>
            </a:r>
            <a:r>
              <a:rPr lang="en-US" altLang="zh-CN" dirty="0" err="1"/>
              <a:t>SimHei</a:t>
            </a:r>
            <a:r>
              <a:rPr lang="en-US" altLang="zh-CN" dirty="0"/>
              <a:t>']     #</a:t>
            </a:r>
            <a:r>
              <a:rPr lang="zh-CN" altLang="en-US" dirty="0"/>
              <a:t>设置中文字体</a:t>
            </a:r>
          </a:p>
          <a:p>
            <a:r>
              <a:rPr lang="en-US" altLang="zh-CN" dirty="0" err="1"/>
              <a:t>plt.rcParams</a:t>
            </a:r>
            <a:r>
              <a:rPr lang="en-US" altLang="zh-CN" dirty="0"/>
              <a:t>['</a:t>
            </a:r>
            <a:r>
              <a:rPr lang="en-US" altLang="zh-CN" dirty="0" err="1"/>
              <a:t>axes.unicode_minus</a:t>
            </a:r>
            <a:r>
              <a:rPr lang="en-US" altLang="zh-CN" dirty="0"/>
              <a:t>']=False   #</a:t>
            </a:r>
            <a:r>
              <a:rPr lang="zh-CN" altLang="en-US" dirty="0"/>
              <a:t>显示负号</a:t>
            </a:r>
          </a:p>
          <a:p>
            <a:r>
              <a:rPr lang="en-US" altLang="zh-CN" dirty="0"/>
              <a:t>x=-</a:t>
            </a:r>
            <a:r>
              <a:rPr lang="en-US" altLang="zh-CN" dirty="0" err="1"/>
              <a:t>math.pi</a:t>
            </a:r>
            <a:r>
              <a:rPr lang="en-US" altLang="zh-CN" dirty="0"/>
              <a:t>             </a:t>
            </a:r>
          </a:p>
          <a:p>
            <a:r>
              <a:rPr lang="en-US" altLang="zh-CN" dirty="0"/>
              <a:t>while x&lt;=</a:t>
            </a:r>
            <a:r>
              <a:rPr lang="en-US" altLang="zh-CN" dirty="0" err="1"/>
              <a:t>math.pi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r=</a:t>
            </a:r>
            <a:r>
              <a:rPr lang="en-US" altLang="zh-CN" dirty="0" err="1"/>
              <a:t>random.random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g=</a:t>
            </a:r>
            <a:r>
              <a:rPr lang="en-US" altLang="zh-CN" dirty="0" err="1"/>
              <a:t>random.random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b=</a:t>
            </a:r>
            <a:r>
              <a:rPr lang="en-US" altLang="zh-CN" dirty="0" err="1"/>
              <a:t>random.random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tm=</a:t>
            </a:r>
            <a:r>
              <a:rPr lang="en-US" altLang="zh-CN" dirty="0" err="1"/>
              <a:t>random.random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    size=</a:t>
            </a:r>
            <a:r>
              <a:rPr lang="en-US" altLang="zh-CN" dirty="0" err="1"/>
              <a:t>random.randint</a:t>
            </a:r>
            <a:r>
              <a:rPr lang="en-US" altLang="zh-CN" dirty="0"/>
              <a:t>(1,20)</a:t>
            </a:r>
          </a:p>
          <a:p>
            <a:r>
              <a:rPr lang="en-US" altLang="zh-CN" dirty="0"/>
              <a:t>    sin=</a:t>
            </a:r>
            <a:r>
              <a:rPr lang="en-US" altLang="zh-CN" dirty="0" err="1"/>
              <a:t>math.sin</a:t>
            </a:r>
            <a:r>
              <a:rPr lang="en-US" altLang="zh-CN" dirty="0"/>
              <a:t>(x)                   #</a:t>
            </a:r>
            <a:r>
              <a:rPr lang="zh-CN" altLang="en-US" dirty="0"/>
              <a:t>计算当前坐标</a:t>
            </a:r>
            <a:r>
              <a:rPr lang="en-US" altLang="zh-CN" dirty="0"/>
              <a:t>x</a:t>
            </a:r>
            <a:r>
              <a:rPr lang="zh-CN" altLang="en-US" dirty="0"/>
              <a:t>对应的</a:t>
            </a:r>
            <a:r>
              <a:rPr lang="en-US" altLang="zh-CN" dirty="0"/>
              <a:t>sin</a:t>
            </a:r>
            <a:r>
              <a:rPr lang="zh-CN" altLang="en-US" dirty="0"/>
              <a:t>函数值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cos=</a:t>
            </a:r>
            <a:r>
              <a:rPr lang="en-US" altLang="zh-CN" dirty="0" err="1"/>
              <a:t>math.cos</a:t>
            </a:r>
            <a:r>
              <a:rPr lang="en-US" altLang="zh-CN" dirty="0"/>
              <a:t>(x)                   #</a:t>
            </a:r>
            <a:r>
              <a:rPr lang="zh-CN" altLang="en-US" dirty="0"/>
              <a:t>计算当前坐标</a:t>
            </a:r>
            <a:r>
              <a:rPr lang="en-US" altLang="zh-CN" dirty="0"/>
              <a:t>x</a:t>
            </a:r>
            <a:r>
              <a:rPr lang="zh-CN" altLang="en-US" dirty="0"/>
              <a:t>对应的</a:t>
            </a:r>
            <a:r>
              <a:rPr lang="en-US" altLang="zh-CN" dirty="0"/>
              <a:t>cos</a:t>
            </a:r>
            <a:r>
              <a:rPr lang="zh-CN" altLang="en-US" dirty="0"/>
              <a:t>函数值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plt.plot</a:t>
            </a:r>
            <a:r>
              <a:rPr lang="en-US" altLang="zh-CN" dirty="0"/>
              <a:t>(</a:t>
            </a:r>
            <a:r>
              <a:rPr lang="en-US" altLang="zh-CN" dirty="0" err="1"/>
              <a:t>x,sin,c</a:t>
            </a:r>
            <a:r>
              <a:rPr lang="en-US" altLang="zh-CN" dirty="0"/>
              <a:t>=[</a:t>
            </a:r>
            <a:r>
              <a:rPr lang="en-US" altLang="zh-CN" dirty="0" err="1"/>
              <a:t>r,g,b,tm</a:t>
            </a:r>
            <a:r>
              <a:rPr lang="en-US" altLang="zh-CN" dirty="0"/>
              <a:t>],</a:t>
            </a:r>
            <a:r>
              <a:rPr lang="en-US" altLang="zh-CN" dirty="0" err="1"/>
              <a:t>markersize</a:t>
            </a:r>
            <a:r>
              <a:rPr lang="en-US" altLang="zh-CN" dirty="0"/>
              <a:t>=</a:t>
            </a:r>
            <a:r>
              <a:rPr lang="en-US" altLang="zh-CN" dirty="0" err="1"/>
              <a:t>size,marker</a:t>
            </a:r>
            <a:r>
              <a:rPr lang="en-US" altLang="zh-CN" dirty="0"/>
              <a:t>='*')     #</a:t>
            </a:r>
            <a:r>
              <a:rPr lang="zh-CN" altLang="en-US" dirty="0"/>
              <a:t>在</a:t>
            </a:r>
            <a:r>
              <a:rPr lang="en-US" altLang="zh-CN" dirty="0"/>
              <a:t>sin</a:t>
            </a:r>
            <a:r>
              <a:rPr lang="zh-CN" altLang="en-US" dirty="0"/>
              <a:t>函数的每个坐标点输出一个星形标记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#</a:t>
            </a:r>
            <a:r>
              <a:rPr lang="en-US" altLang="zh-CN" dirty="0" err="1"/>
              <a:t>plt.plot</a:t>
            </a:r>
            <a:r>
              <a:rPr lang="en-US" altLang="zh-CN" dirty="0"/>
              <a:t>(</a:t>
            </a:r>
            <a:r>
              <a:rPr lang="en-US" altLang="zh-CN"/>
              <a:t>x,cos,marker</a:t>
            </a:r>
            <a:r>
              <a:rPr lang="en-US" altLang="zh-CN" dirty="0"/>
              <a:t>='D')   #</a:t>
            </a:r>
            <a:r>
              <a:rPr lang="zh-CN" altLang="en-US" dirty="0"/>
              <a:t>在</a:t>
            </a:r>
            <a:r>
              <a:rPr lang="en-US" altLang="zh-CN" dirty="0"/>
              <a:t>cos</a:t>
            </a:r>
            <a:r>
              <a:rPr lang="zh-CN" altLang="en-US" dirty="0"/>
              <a:t>函数的每个坐标点输出一个菱形标记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x+=0.5</a:t>
            </a:r>
          </a:p>
          <a:p>
            <a:r>
              <a:rPr lang="en-US" altLang="zh-CN" dirty="0" err="1"/>
              <a:t>plt.show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00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箱形图又叫盒须图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用于显示一组数据的分布情况，因形状像箱子而得名。先将一组数据从小到大排序，找出这组数据的下边缘（最小值）、下四分位数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（四分之一处）、中位数（中间）、上四分位数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（四分之三处）、上边缘（最大值），然后连接两个四分位数画出箱子，再将上边缘和下边缘与箱子相连接，中位数则位于箱子内。异常值被定义为小于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－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1.5*IQR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或大于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Q3+1.5*IQR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的数，其中四分位距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IQR=Q3-Q1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197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必须在“</a:t>
            </a:r>
            <a:r>
              <a:rPr lang="en-US" altLang="zh-CN" dirty="0"/>
              <a:t>Tools / Preference</a:t>
            </a:r>
            <a:r>
              <a:rPr lang="zh-CN" altLang="en-US" dirty="0"/>
              <a:t>”中设置</a:t>
            </a:r>
            <a:r>
              <a:rPr lang="en-US" altLang="zh-CN" dirty="0" err="1"/>
              <a:t>Ipython</a:t>
            </a:r>
            <a:r>
              <a:rPr lang="en-US" altLang="zh-CN" dirty="0"/>
              <a:t>  Console</a:t>
            </a:r>
            <a:r>
              <a:rPr lang="zh-CN" altLang="en-US" dirty="0"/>
              <a:t>的</a:t>
            </a:r>
            <a:r>
              <a:rPr lang="en-US" altLang="zh-CN" dirty="0"/>
              <a:t>Graphic</a:t>
            </a:r>
            <a:r>
              <a:rPr lang="zh-CN" altLang="en-US" dirty="0"/>
              <a:t>为</a:t>
            </a:r>
            <a:r>
              <a:rPr lang="en-US" altLang="zh-CN" dirty="0"/>
              <a:t>QT4(</a:t>
            </a:r>
            <a:r>
              <a:rPr lang="zh-CN" altLang="en-US" dirty="0"/>
              <a:t>默认是</a:t>
            </a:r>
            <a:r>
              <a:rPr lang="en-US" altLang="zh-CN" dirty="0"/>
              <a:t>Inline) </a:t>
            </a:r>
          </a:p>
          <a:p>
            <a:r>
              <a:rPr lang="zh-CN" altLang="en-US" dirty="0"/>
              <a:t>级联模式看不到动画效果，必须是图形界面下</a:t>
            </a:r>
            <a:endParaRPr lang="en-US" altLang="zh-CN" dirty="0"/>
          </a:p>
          <a:p>
            <a:r>
              <a:rPr lang="zh-CN" altLang="en-US" dirty="0"/>
              <a:t>动态可视化的窗口关闭以后，再次运行无法开启新的窗体，在程序开头加上</a:t>
            </a:r>
            <a:r>
              <a:rPr lang="en-US" altLang="zh-CN" dirty="0" err="1"/>
              <a:t>plt.close</a:t>
            </a:r>
            <a:r>
              <a:rPr lang="en-US" altLang="zh-CN" dirty="0"/>
              <a:t>(“all”)</a:t>
            </a:r>
            <a:r>
              <a:rPr lang="zh-CN" altLang="en-US" dirty="0"/>
              <a:t>，表示把前面所有的窗体都关闭</a:t>
            </a:r>
            <a:endParaRPr lang="en-US" altLang="zh-CN" dirty="0"/>
          </a:p>
          <a:p>
            <a:r>
              <a:rPr lang="en-US" altLang="zh-CN" dirty="0" err="1"/>
              <a:t>plt.close</a:t>
            </a:r>
            <a:r>
              <a:rPr lang="en-US" altLang="zh-CN" dirty="0"/>
              <a:t>("all")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B3F29-63AA-456A-8033-9D7C5DEBDA43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16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0" y="4826000"/>
            <a:ext cx="403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CE680026-A519-4A84-9AD5-EF3476A9A4DC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2716213" y="4311650"/>
            <a:ext cx="3711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李湘梅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r" eaLnBrk="1" hangingPunct="1">
              <a:defRPr/>
            </a:pPr>
            <a:r>
              <a:rPr lang="en-US" altLang="zh-CN" sz="2000" b="1" dirty="0">
                <a:solidFill>
                  <a:schemeClr val="bg1"/>
                </a:solidFill>
              </a:rPr>
              <a:t>lixiangmei@tongji.edu.cn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7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17463"/>
            <a:ext cx="766762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015713" y="3723878"/>
            <a:ext cx="5112568" cy="576064"/>
          </a:xfrm>
          <a:noFill/>
          <a:ln>
            <a:noFill/>
          </a:ln>
        </p:spPr>
        <p:txBody>
          <a:bodyPr/>
          <a:lstStyle>
            <a:lvl1pPr marL="0" indent="0" algn="ctr">
              <a:spcBef>
                <a:spcPct val="20000"/>
              </a:spcBef>
              <a:buClrTx/>
              <a:buFontTx/>
              <a:buNone/>
              <a:defRPr sz="3600" u="sng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 dirty="0"/>
              <a:t>单击以编辑母版副标题样式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396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51435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1619067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zh-CN" altLang="en-US" noProof="0" dirty="0"/>
              <a:t>单击图标添加表格</a:t>
            </a: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268538" y="4818063"/>
            <a:ext cx="3455987" cy="273050"/>
          </a:xfrm>
          <a:prstGeom prst="rect">
            <a:avLst/>
          </a:prstGeom>
        </p:spPr>
        <p:txBody>
          <a:bodyPr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112485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498725" y="4837113"/>
            <a:ext cx="5602288" cy="273050"/>
          </a:xfrm>
          <a:prstGeom prst="rect">
            <a:avLst/>
          </a:prstGeom>
        </p:spPr>
        <p:txBody>
          <a:bodyPr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39971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2339975" y="4851400"/>
            <a:ext cx="5602288" cy="274638"/>
          </a:xfrm>
          <a:prstGeom prst="rect">
            <a:avLst/>
          </a:prstGeom>
        </p:spPr>
        <p:txBody>
          <a:bodyPr/>
          <a:lstStyle>
            <a:lvl1pPr eaLnBrk="1" hangingPunct="1"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http://cal.tongji.edu.cn/soft</a:t>
            </a:r>
          </a:p>
        </p:txBody>
      </p:sp>
    </p:spTree>
    <p:extLst>
      <p:ext uri="{BB962C8B-B14F-4D97-AF65-F5344CB8AC3E}">
        <p14:creationId xmlns:p14="http://schemas.microsoft.com/office/powerpoint/2010/main" val="353209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 userDrawn="1"/>
        </p:nvSpPr>
        <p:spPr bwMode="gray">
          <a:xfrm>
            <a:off x="0" y="4962526"/>
            <a:ext cx="9144000" cy="18097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029" name="Line 56"/>
          <p:cNvSpPr>
            <a:spLocks noChangeShapeType="1"/>
          </p:cNvSpPr>
          <p:nvPr/>
        </p:nvSpPr>
        <p:spPr bwMode="gray">
          <a:xfrm>
            <a:off x="0" y="4948014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058862"/>
            <a:ext cx="8293100" cy="381714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31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04775"/>
            <a:ext cx="8275638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pic>
        <p:nvPicPr>
          <p:cNvPr id="1032" name="图片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4974102"/>
            <a:ext cx="576635" cy="15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0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matplotlib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ctrTitle" sz="quarter" idx="4294967295"/>
          </p:nvPr>
        </p:nvSpPr>
        <p:spPr>
          <a:xfrm>
            <a:off x="1547664" y="1635646"/>
            <a:ext cx="6552728" cy="108012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6000" b="1" dirty="0">
                <a:effectLst>
                  <a:reflection blurRad="6350" stA="55000" endA="300" endPos="45500" dir="5400000" sy="-100000" algn="bl" rotWithShape="0"/>
                </a:effectLst>
              </a:rPr>
              <a:t>第</a:t>
            </a:r>
            <a:r>
              <a:rPr lang="en-US" altLang="zh-CN" sz="6000" b="1" dirty="0">
                <a:effectLst>
                  <a:reflection blurRad="6350" stA="55000" endA="300" endPos="45500" dir="5400000" sy="-100000" algn="bl" rotWithShape="0"/>
                </a:effectLst>
              </a:rPr>
              <a:t>8</a:t>
            </a:r>
            <a:r>
              <a:rPr lang="zh-CN" altLang="en-US" sz="6000" b="1" dirty="0">
                <a:effectLst>
                  <a:reflection blurRad="6350" stA="55000" endA="300" endPos="45500" dir="5400000" sy="-100000" algn="bl" rotWithShape="0"/>
                </a:effectLst>
              </a:rPr>
              <a:t>章 数据可视化</a:t>
            </a:r>
          </a:p>
        </p:txBody>
      </p:sp>
      <p:sp>
        <p:nvSpPr>
          <p:cNvPr id="9219" name="副标题 1"/>
          <p:cNvSpPr>
            <a:spLocks noGrp="1"/>
          </p:cNvSpPr>
          <p:nvPr>
            <p:ph type="subTitle" sz="quarter" idx="1"/>
          </p:nvPr>
        </p:nvSpPr>
        <p:spPr>
          <a:xfrm>
            <a:off x="-50" y="3291830"/>
            <a:ext cx="9144000" cy="158539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2800" u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同济大学</a:t>
            </a:r>
            <a:endParaRPr lang="en-US" altLang="zh-CN" sz="2800" u="non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u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计算机基础教研室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3928A-AF36-4FC0-8B7D-3F129488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53" y="699542"/>
            <a:ext cx="8275638" cy="650875"/>
          </a:xfrm>
        </p:spPr>
        <p:txBody>
          <a:bodyPr/>
          <a:lstStyle/>
          <a:p>
            <a:r>
              <a:rPr lang="zh-CN" altLang="en-US" sz="2800" b="1" dirty="0"/>
              <a:t>可视化的优点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AD3B09-3974-4E82-B7F6-F93A35AD3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491" y="1419622"/>
            <a:ext cx="8293100" cy="34563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、传递速度快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人脑对视觉信息的处理要比书面信息快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倍。使用图表展示复杂的数据，能更快地理解数据中蕴含的关系。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、数据显示的多维性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可以从多个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维度形象地观察到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数据之间的关系。</a:t>
            </a:r>
            <a:endParaRPr lang="en-US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、更直观的展示信息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可视化能够用一些简短的图形体现那些复杂的信息。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、易于理解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研究表明，图文能够帮助我们更好地了解所要学习的内容，更易理解和记忆。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422563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755576" y="1055102"/>
            <a:ext cx="2681288" cy="650875"/>
          </a:xfrm>
        </p:spPr>
        <p:txBody>
          <a:bodyPr/>
          <a:lstStyle/>
          <a:p>
            <a:r>
              <a:rPr lang="en-US" altLang="zh-CN" sz="3200" b="1" dirty="0" err="1"/>
              <a:t>Matplotlib</a:t>
            </a:r>
            <a:endParaRPr lang="zh-CN" altLang="en-US" sz="3200" b="1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755576" y="1851670"/>
            <a:ext cx="7797874" cy="2952328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r>
              <a:rPr lang="en-US" altLang="zh-CN" sz="2000" b="0" dirty="0"/>
              <a:t>Python</a:t>
            </a:r>
            <a:r>
              <a:rPr lang="zh-CN" altLang="zh-CN" sz="2000" b="0" dirty="0"/>
              <a:t>环境下实现</a:t>
            </a:r>
            <a:r>
              <a:rPr lang="en-US" altLang="zh-CN" sz="2000" b="0" dirty="0" err="1"/>
              <a:t>Matlab</a:t>
            </a:r>
            <a:r>
              <a:rPr lang="zh-CN" altLang="zh-CN" sz="2000" b="0" dirty="0"/>
              <a:t>制图功能的第三方库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 b="0" dirty="0"/>
              <a:t>可绘制</a:t>
            </a:r>
            <a:r>
              <a:rPr lang="zh-CN" altLang="zh-CN" sz="2000" b="0" dirty="0"/>
              <a:t>二维</a:t>
            </a:r>
            <a:r>
              <a:rPr lang="zh-CN" altLang="en-US" sz="2000" b="0" dirty="0"/>
              <a:t>和</a:t>
            </a:r>
            <a:r>
              <a:rPr lang="zh-CN" altLang="zh-CN" sz="2000" b="0" dirty="0"/>
              <a:t>三维数据</a:t>
            </a:r>
            <a:r>
              <a:rPr lang="zh-CN" altLang="en-US" sz="2000" b="0" dirty="0"/>
              <a:t>图表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zh-CN" sz="2000" b="0" dirty="0"/>
              <a:t>提供迪卡尔坐标、极坐标、球坐标和三维坐标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zh-CN" sz="2000" b="0" dirty="0"/>
              <a:t>制作的图形达到出版级的标准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 b="0" dirty="0"/>
              <a:t>可绘制多个子图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r>
              <a:rPr lang="zh-CN" altLang="en-US" sz="2000" b="0" dirty="0"/>
              <a:t>数据处理一般</a:t>
            </a:r>
            <a:r>
              <a:rPr lang="zh-CN" altLang="zh-CN" sz="2000" b="0" dirty="0"/>
              <a:t>需要</a:t>
            </a:r>
            <a:r>
              <a:rPr lang="en-US" altLang="zh-CN" sz="2000" b="0" dirty="0" err="1"/>
              <a:t>numpy</a:t>
            </a:r>
            <a:r>
              <a:rPr lang="zh-CN" altLang="zh-CN" sz="2000" b="0" dirty="0"/>
              <a:t>库</a:t>
            </a:r>
            <a:r>
              <a:rPr lang="zh-CN" altLang="en-US" sz="2000" b="0" dirty="0"/>
              <a:t>和</a:t>
            </a:r>
            <a:r>
              <a:rPr lang="en-US" altLang="zh-CN" sz="2000" b="0" dirty="0"/>
              <a:t>pandas</a:t>
            </a:r>
            <a:r>
              <a:rPr lang="zh-CN" altLang="en-US" sz="2000" b="0" dirty="0"/>
              <a:t>库</a:t>
            </a:r>
            <a:r>
              <a:rPr lang="zh-CN" altLang="zh-CN" sz="2000" b="0" dirty="0"/>
              <a:t>的支持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</a:pPr>
            <a:endParaRPr lang="zh-CN" altLang="zh-CN" sz="2000" b="0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3412226" y="1149706"/>
            <a:ext cx="53285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SzPct val="70000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官网地址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http://matplotlib.org/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87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 uiExpand="1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003450"/>
            <a:ext cx="2160240" cy="18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06885"/>
            <a:ext cx="7911378" cy="93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31790"/>
            <a:ext cx="2613844" cy="1783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49" y="3003450"/>
            <a:ext cx="2757144" cy="18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27784" y="680786"/>
            <a:ext cx="2821160" cy="666406"/>
          </a:xfrm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</a:rPr>
              <a:t>图表样例</a:t>
            </a:r>
          </a:p>
        </p:txBody>
      </p:sp>
    </p:spTree>
    <p:extLst>
      <p:ext uri="{BB962C8B-B14F-4D97-AF65-F5344CB8AC3E}">
        <p14:creationId xmlns:p14="http://schemas.microsoft.com/office/powerpoint/2010/main" val="13788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0105" y="267494"/>
            <a:ext cx="7704856" cy="650875"/>
          </a:xfrm>
        </p:spPr>
        <p:txBody>
          <a:bodyPr/>
          <a:lstStyle/>
          <a:p>
            <a:r>
              <a:rPr lang="zh-CN" altLang="en-US" sz="2000" b="1" dirty="0"/>
              <a:t>例</a:t>
            </a:r>
            <a:r>
              <a:rPr lang="en-US" altLang="zh-CN" sz="2000" b="1" dirty="0"/>
              <a:t>8.1</a:t>
            </a:r>
            <a:r>
              <a:rPr lang="zh-CN" altLang="zh-CN" sz="2000" b="1" dirty="0"/>
              <a:t>—绘制销售柱状图（条形图</a:t>
            </a:r>
            <a:r>
              <a:rPr lang="en-US" altLang="zh-CN" sz="2000" b="1" dirty="0"/>
              <a:t>)</a:t>
            </a:r>
            <a:r>
              <a:rPr lang="zh-CN" altLang="zh-CN" sz="2000" b="1" dirty="0"/>
              <a:t>，显示某产品各季度的销售量</a:t>
            </a:r>
            <a:endParaRPr lang="zh-CN" altLang="en-US" sz="2000" b="1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56209" y="1203598"/>
            <a:ext cx="5832648" cy="36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4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660" y="915566"/>
            <a:ext cx="8497819" cy="39604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zh-CN" sz="1800" dirty="0">
                <a:solidFill>
                  <a:srgbClr val="00B050"/>
                </a:solidFill>
              </a:rPr>
              <a:t>①</a:t>
            </a:r>
            <a:r>
              <a:rPr lang="en-US" altLang="zh-CN" sz="1800" dirty="0">
                <a:solidFill>
                  <a:srgbClr val="00B050"/>
                </a:solidFill>
              </a:rPr>
              <a:t> </a:t>
            </a:r>
            <a:r>
              <a:rPr lang="zh-CN" altLang="zh-CN" sz="1800" dirty="0">
                <a:solidFill>
                  <a:srgbClr val="00B050"/>
                </a:solidFill>
              </a:rPr>
              <a:t>导入库</a:t>
            </a:r>
          </a:p>
          <a:p>
            <a:pPr marL="0" indent="0">
              <a:buNone/>
            </a:pPr>
            <a:r>
              <a:rPr lang="en-US" altLang="zh-CN" sz="1800" b="0" dirty="0"/>
              <a:t>         import </a:t>
            </a:r>
            <a:r>
              <a:rPr lang="en-US" altLang="zh-CN" sz="1800" b="0" dirty="0" err="1"/>
              <a:t>matplotlib.pyplot</a:t>
            </a:r>
            <a:r>
              <a:rPr lang="en-US" altLang="zh-CN" sz="1800" b="0" dirty="0"/>
              <a:t> as </a:t>
            </a:r>
            <a:r>
              <a:rPr lang="en-US" altLang="zh-CN" sz="1800" b="0" dirty="0" err="1"/>
              <a:t>plt</a:t>
            </a:r>
            <a:r>
              <a:rPr lang="en-US" altLang="zh-CN" sz="1800" b="0" dirty="0"/>
              <a:t>         #</a:t>
            </a:r>
            <a:r>
              <a:rPr lang="zh-CN" altLang="zh-CN" sz="1800" b="0" dirty="0"/>
              <a:t>导入</a:t>
            </a:r>
            <a:r>
              <a:rPr lang="en-US" altLang="zh-CN" sz="1800" b="0" dirty="0" err="1"/>
              <a:t>matplotlib</a:t>
            </a:r>
            <a:r>
              <a:rPr lang="zh-CN" altLang="zh-CN" sz="1800" b="0" dirty="0"/>
              <a:t>库中的</a:t>
            </a:r>
            <a:r>
              <a:rPr lang="en-US" altLang="zh-CN" sz="1800" b="0" dirty="0" err="1"/>
              <a:t>pyplot</a:t>
            </a:r>
            <a:r>
              <a:rPr lang="zh-CN" altLang="zh-CN" sz="1800" b="0" dirty="0"/>
              <a:t>子库</a:t>
            </a:r>
          </a:p>
          <a:p>
            <a:pPr marL="0" indent="0">
              <a:buNone/>
            </a:pPr>
            <a:r>
              <a:rPr lang="zh-CN" altLang="zh-CN" sz="1800" dirty="0">
                <a:solidFill>
                  <a:srgbClr val="00B050"/>
                </a:solidFill>
              </a:rPr>
              <a:t>②</a:t>
            </a:r>
            <a:r>
              <a:rPr lang="en-US" altLang="zh-CN" sz="1800" dirty="0">
                <a:solidFill>
                  <a:srgbClr val="00B050"/>
                </a:solidFill>
              </a:rPr>
              <a:t> </a:t>
            </a:r>
            <a:r>
              <a:rPr lang="zh-CN" altLang="zh-CN" sz="1800" dirty="0">
                <a:solidFill>
                  <a:srgbClr val="00B050"/>
                </a:solidFill>
              </a:rPr>
              <a:t>新建绘图区 </a:t>
            </a:r>
          </a:p>
          <a:p>
            <a:pPr marL="0" indent="0">
              <a:buNone/>
            </a:pPr>
            <a:r>
              <a:rPr lang="en-US" altLang="zh-CN" sz="1800" b="0" dirty="0"/>
              <a:t>        fig, ax = </a:t>
            </a:r>
            <a:r>
              <a:rPr lang="en-US" altLang="zh-CN" sz="1800" b="0" dirty="0" err="1"/>
              <a:t>plt.subplots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figsize</a:t>
            </a:r>
            <a:r>
              <a:rPr lang="en-US" altLang="zh-CN" sz="1800" b="0" dirty="0"/>
              <a:t>=(6,4))               #</a:t>
            </a:r>
            <a:r>
              <a:rPr lang="zh-CN" altLang="zh-CN" sz="1800" b="0" dirty="0"/>
              <a:t>指定绘图区大小为</a:t>
            </a:r>
            <a:r>
              <a:rPr lang="en-US" altLang="zh-CN" sz="1800" b="0" dirty="0"/>
              <a:t>6*4</a:t>
            </a:r>
            <a:r>
              <a:rPr lang="zh-CN" altLang="zh-CN" sz="1800" b="0" dirty="0"/>
              <a:t>英寸</a:t>
            </a:r>
            <a:endParaRPr lang="en-US" altLang="zh-CN" sz="1800" b="0" dirty="0"/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b="0" dirty="0" err="1"/>
              <a:t>plt.rcParams</a:t>
            </a:r>
            <a:r>
              <a:rPr lang="en-US" altLang="zh-CN" sz="1800" b="0" dirty="0"/>
              <a:t>['</a:t>
            </a:r>
            <a:r>
              <a:rPr lang="en-US" altLang="zh-CN" sz="1800" b="0" dirty="0" err="1"/>
              <a:t>font.sans</a:t>
            </a:r>
            <a:r>
              <a:rPr lang="en-US" altLang="zh-CN" sz="1800" b="0" dirty="0"/>
              <a:t>-serif'] = ['</a:t>
            </a:r>
            <a:r>
              <a:rPr lang="en-US" altLang="zh-CN" sz="1800" b="0" dirty="0" err="1"/>
              <a:t>SimHei</a:t>
            </a:r>
            <a:r>
              <a:rPr lang="en-US" altLang="zh-CN" sz="1800" b="0" dirty="0"/>
              <a:t>']   #</a:t>
            </a:r>
            <a:r>
              <a:rPr lang="zh-CN" altLang="zh-CN" sz="1800" b="0" dirty="0"/>
              <a:t>设置显示中文字体（黑体）</a:t>
            </a:r>
          </a:p>
          <a:p>
            <a:pPr marL="0" indent="0">
              <a:buNone/>
            </a:pPr>
            <a:r>
              <a:rPr lang="zh-CN" altLang="zh-CN" sz="1800" dirty="0">
                <a:solidFill>
                  <a:srgbClr val="00B050"/>
                </a:solidFill>
              </a:rPr>
              <a:t>③</a:t>
            </a:r>
            <a:r>
              <a:rPr lang="en-US" altLang="zh-CN" sz="1800" dirty="0">
                <a:solidFill>
                  <a:srgbClr val="00B050"/>
                </a:solidFill>
              </a:rPr>
              <a:t> </a:t>
            </a:r>
            <a:r>
              <a:rPr lang="zh-CN" altLang="zh-CN" sz="1800" dirty="0">
                <a:solidFill>
                  <a:srgbClr val="00B050"/>
                </a:solidFill>
              </a:rPr>
              <a:t>准备数据</a:t>
            </a:r>
          </a:p>
          <a:p>
            <a:pPr marL="400050" lvl="1" indent="0">
              <a:buNone/>
            </a:pPr>
            <a:r>
              <a:rPr lang="en-US" altLang="zh-CN" sz="1800" b="0" dirty="0" err="1"/>
              <a:t>seazons</a:t>
            </a:r>
            <a:r>
              <a:rPr lang="en-US" altLang="zh-CN" sz="1800" b="0" dirty="0"/>
              <a:t>=['</a:t>
            </a:r>
            <a:r>
              <a:rPr lang="zh-CN" altLang="zh-CN" sz="1800" b="0" dirty="0"/>
              <a:t>一季度</a:t>
            </a:r>
            <a:r>
              <a:rPr lang="en-US" altLang="zh-CN" sz="1800" b="0" dirty="0"/>
              <a:t>', '</a:t>
            </a:r>
            <a:r>
              <a:rPr lang="zh-CN" altLang="zh-CN" sz="1800" b="0" dirty="0"/>
              <a:t>二季度</a:t>
            </a:r>
            <a:r>
              <a:rPr lang="en-US" altLang="zh-CN" sz="1800" b="0" dirty="0"/>
              <a:t>', '</a:t>
            </a:r>
            <a:r>
              <a:rPr lang="zh-CN" altLang="zh-CN" sz="1800" b="0" dirty="0"/>
              <a:t>三季度</a:t>
            </a:r>
            <a:r>
              <a:rPr lang="en-US" altLang="zh-CN" sz="1800" b="0" dirty="0"/>
              <a:t>','</a:t>
            </a:r>
            <a:r>
              <a:rPr lang="zh-CN" altLang="zh-CN" sz="1800" b="0" dirty="0"/>
              <a:t>四季度</a:t>
            </a:r>
            <a:r>
              <a:rPr lang="en-US" altLang="zh-CN" sz="1800" b="0" dirty="0"/>
              <a:t>']  #</a:t>
            </a:r>
            <a:r>
              <a:rPr lang="zh-CN" altLang="zh-CN" sz="1800" b="0" dirty="0"/>
              <a:t>设置分类轴显示文本</a:t>
            </a:r>
          </a:p>
          <a:p>
            <a:pPr marL="400050" lvl="1" indent="0">
              <a:buNone/>
            </a:pPr>
            <a:r>
              <a:rPr lang="en-US" altLang="zh-CN" sz="1800" b="0" dirty="0"/>
              <a:t>sales=[2780,1950,2680,2120]		          #</a:t>
            </a:r>
            <a:r>
              <a:rPr lang="zh-CN" altLang="zh-CN" sz="1800" b="0" dirty="0"/>
              <a:t>设置某产品的销售量数据</a:t>
            </a:r>
          </a:p>
          <a:p>
            <a:pPr marL="400050" lvl="1" indent="0">
              <a:buNone/>
            </a:pPr>
            <a:r>
              <a:rPr lang="en-US" altLang="zh-CN" sz="1800" b="0" dirty="0"/>
              <a:t>index=[0,1,2,3]		  	          #index</a:t>
            </a:r>
            <a:r>
              <a:rPr lang="zh-CN" altLang="zh-CN" sz="1800" b="0" dirty="0"/>
              <a:t>控制分类轴刻度</a:t>
            </a:r>
          </a:p>
          <a:p>
            <a:pPr marL="400050" lvl="1" indent="0">
              <a:buNone/>
            </a:pPr>
            <a:r>
              <a:rPr lang="en-US" altLang="zh-CN" sz="1800" b="0" dirty="0" err="1"/>
              <a:t>barW</a:t>
            </a:r>
            <a:r>
              <a:rPr lang="en-US" altLang="zh-CN" sz="1800" b="0" dirty="0"/>
              <a:t>=0.7	                                                  #</a:t>
            </a:r>
            <a:r>
              <a:rPr lang="en-US" altLang="zh-CN" sz="1800" b="0" dirty="0" err="1"/>
              <a:t>barW</a:t>
            </a:r>
            <a:r>
              <a:rPr lang="zh-CN" altLang="zh-CN" sz="1800" b="0" dirty="0"/>
              <a:t>控制条形的宽度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8353" y="339502"/>
            <a:ext cx="8275638" cy="506859"/>
          </a:xfrm>
        </p:spPr>
        <p:txBody>
          <a:bodyPr/>
          <a:lstStyle/>
          <a:p>
            <a:r>
              <a:rPr lang="zh-CN" altLang="zh-CN" sz="2400" b="1" dirty="0"/>
              <a:t>引例—销售量柱状图</a:t>
            </a:r>
            <a:r>
              <a:rPr lang="zh-CN" altLang="en-US" sz="2400" b="1" dirty="0"/>
              <a:t>（或条形图）</a:t>
            </a:r>
          </a:p>
        </p:txBody>
      </p:sp>
    </p:spTree>
    <p:extLst>
      <p:ext uri="{BB962C8B-B14F-4D97-AF65-F5344CB8AC3E}">
        <p14:creationId xmlns:p14="http://schemas.microsoft.com/office/powerpoint/2010/main" val="279855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555526"/>
            <a:ext cx="8352928" cy="4359347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en-US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设置图表属性</a:t>
            </a:r>
          </a:p>
          <a:p>
            <a:pPr marL="400050" lvl="1" indent="0">
              <a:buNone/>
            </a:pPr>
            <a:r>
              <a:rPr lang="en-US" altLang="zh-CN" sz="1600" dirty="0" err="1"/>
              <a:t>plt.title</a:t>
            </a:r>
            <a:r>
              <a:rPr lang="en-US" altLang="zh-CN" sz="1600" dirty="0"/>
              <a:t>("</a:t>
            </a:r>
            <a:r>
              <a:rPr lang="zh-CN" altLang="zh-CN" sz="1600" dirty="0"/>
              <a:t>产品销售</a:t>
            </a:r>
            <a:r>
              <a:rPr lang="en-US" altLang="zh-CN" sz="1600" dirty="0"/>
              <a:t>") 			#</a:t>
            </a:r>
            <a:r>
              <a:rPr lang="zh-CN" altLang="zh-CN" sz="1600" dirty="0"/>
              <a:t>设置图表标题</a:t>
            </a:r>
          </a:p>
          <a:p>
            <a:pPr marL="400050" lvl="1" indent="0">
              <a:buNone/>
            </a:pPr>
            <a:r>
              <a:rPr lang="en-US" altLang="zh-CN" sz="1600" dirty="0" err="1"/>
              <a:t>plt.xlabel</a:t>
            </a:r>
            <a:r>
              <a:rPr lang="en-US" altLang="zh-CN" sz="1600" dirty="0"/>
              <a:t>("</a:t>
            </a:r>
            <a:r>
              <a:rPr lang="zh-CN" altLang="zh-CN" sz="1600" dirty="0"/>
              <a:t>时间</a:t>
            </a:r>
            <a:r>
              <a:rPr lang="en-US" altLang="zh-CN" sz="1600" dirty="0"/>
              <a:t>")			#</a:t>
            </a:r>
            <a:r>
              <a:rPr lang="zh-CN" altLang="zh-CN" sz="1600" dirty="0"/>
              <a:t>设置</a:t>
            </a:r>
            <a:r>
              <a:rPr lang="en-US" altLang="zh-CN" sz="1600" dirty="0"/>
              <a:t>X</a:t>
            </a:r>
            <a:r>
              <a:rPr lang="zh-CN" altLang="zh-CN" sz="1600" dirty="0"/>
              <a:t>坐标轴标签</a:t>
            </a:r>
          </a:p>
          <a:p>
            <a:pPr marL="400050" lvl="1" indent="0">
              <a:buNone/>
            </a:pPr>
            <a:r>
              <a:rPr lang="en-US" altLang="zh-CN" sz="1600" dirty="0" err="1"/>
              <a:t>plt.ylabel</a:t>
            </a:r>
            <a:r>
              <a:rPr lang="en-US" altLang="zh-CN" sz="1600" dirty="0"/>
              <a:t>("</a:t>
            </a:r>
            <a:r>
              <a:rPr lang="zh-CN" altLang="zh-CN" sz="1600" dirty="0"/>
              <a:t>销售量</a:t>
            </a:r>
            <a:r>
              <a:rPr lang="en-US" altLang="zh-CN" sz="1600" dirty="0"/>
              <a:t>")		               #</a:t>
            </a:r>
            <a:r>
              <a:rPr lang="zh-CN" altLang="zh-CN" sz="1600" dirty="0"/>
              <a:t>设置</a:t>
            </a:r>
            <a:r>
              <a:rPr lang="en-US" altLang="zh-CN" sz="1600" dirty="0"/>
              <a:t>Y</a:t>
            </a:r>
            <a:r>
              <a:rPr lang="zh-CN" altLang="zh-CN" sz="1600" dirty="0"/>
              <a:t>坐标轴标签</a:t>
            </a:r>
          </a:p>
          <a:p>
            <a:pPr marL="400050" lvl="1" indent="0">
              <a:buNone/>
            </a:pPr>
            <a:r>
              <a:rPr lang="en-US" altLang="zh-CN" sz="1600" dirty="0" err="1"/>
              <a:t>plt.xticks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index,seazons</a:t>
            </a:r>
            <a:r>
              <a:rPr lang="en-US" altLang="zh-CN" sz="1600" dirty="0"/>
              <a:t>)		               #</a:t>
            </a:r>
            <a:r>
              <a:rPr lang="zh-CN" altLang="zh-CN" sz="1600" dirty="0"/>
              <a:t>设置分类轴标记</a:t>
            </a:r>
          </a:p>
          <a:p>
            <a:pPr marL="400050" lvl="1" indent="0">
              <a:buNone/>
            </a:pPr>
            <a:r>
              <a:rPr lang="en-US" altLang="zh-CN" sz="1600" dirty="0" err="1"/>
              <a:t>plt.grid</a:t>
            </a:r>
            <a:r>
              <a:rPr lang="en-US" altLang="zh-CN" sz="1600" dirty="0"/>
              <a:t>(axis="y") 			#</a:t>
            </a:r>
            <a:r>
              <a:rPr lang="zh-CN" altLang="zh-CN" sz="1600" dirty="0"/>
              <a:t>显示横向网格线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zh-CN" sz="1600" dirty="0">
                <a:solidFill>
                  <a:srgbClr val="00B050"/>
                </a:solidFill>
              </a:rPr>
              <a:t>⑤</a:t>
            </a:r>
            <a:r>
              <a:rPr lang="en-US" altLang="zh-CN" sz="1600" dirty="0">
                <a:solidFill>
                  <a:srgbClr val="00B050"/>
                </a:solidFill>
              </a:rPr>
              <a:t> </a:t>
            </a:r>
            <a:r>
              <a:rPr lang="zh-CN" altLang="zh-CN" sz="1600" dirty="0">
                <a:solidFill>
                  <a:srgbClr val="00B050"/>
                </a:solidFill>
              </a:rPr>
              <a:t>绘制图表</a:t>
            </a:r>
            <a:endParaRPr lang="en-US" altLang="zh-CN" sz="16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r>
              <a:rPr lang="en-US" altLang="zh-CN" sz="1600" dirty="0" err="1"/>
              <a:t>plt.bar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index,sales,barW,color</a:t>
            </a:r>
            <a:r>
              <a:rPr lang="en-US" altLang="zh-CN" sz="1600" dirty="0"/>
              <a:t>='</a:t>
            </a:r>
            <a:r>
              <a:rPr lang="en-US" altLang="zh-CN" sz="1600" dirty="0" err="1"/>
              <a:t>b',label</a:t>
            </a:r>
            <a:r>
              <a:rPr lang="en-US" altLang="zh-CN" sz="1600" dirty="0"/>
              <a:t>='</a:t>
            </a:r>
            <a:r>
              <a:rPr lang="zh-CN" altLang="zh-CN" sz="1600" dirty="0"/>
              <a:t>某产品</a:t>
            </a:r>
            <a:r>
              <a:rPr lang="en-US" altLang="zh-CN" sz="1600" dirty="0"/>
              <a:t>')              #</a:t>
            </a:r>
            <a:r>
              <a:rPr lang="zh-CN" altLang="zh-CN" sz="1600" dirty="0"/>
              <a:t>绘制柱状图</a:t>
            </a:r>
          </a:p>
          <a:p>
            <a:pPr marL="400050" lvl="1" indent="0">
              <a:buNone/>
            </a:pPr>
            <a:r>
              <a:rPr lang="en-US" altLang="zh-CN" sz="1600" dirty="0"/>
              <a:t>for </a:t>
            </a:r>
            <a:r>
              <a:rPr lang="en-US" altLang="zh-CN" sz="1600" dirty="0" err="1"/>
              <a:t>a,b</a:t>
            </a:r>
            <a:r>
              <a:rPr lang="en-US" altLang="zh-CN" sz="1600" dirty="0"/>
              <a:t> in zip(</a:t>
            </a:r>
            <a:r>
              <a:rPr lang="en-US" altLang="zh-CN" sz="1600" dirty="0" err="1"/>
              <a:t>index,sales</a:t>
            </a:r>
            <a:r>
              <a:rPr lang="en-US" altLang="zh-CN" sz="1600" dirty="0"/>
              <a:t>):			       #</a:t>
            </a:r>
            <a:r>
              <a:rPr lang="zh-CN" altLang="zh-CN" sz="1600" dirty="0"/>
              <a:t>显示数值标注</a:t>
            </a:r>
          </a:p>
          <a:p>
            <a:pPr marL="400050" lvl="1" indent="0">
              <a:buNone/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plt.text</a:t>
            </a:r>
            <a:r>
              <a:rPr lang="en-US" altLang="zh-CN" sz="1600" dirty="0"/>
              <a:t>(a,b+30, '%.0f'%b, ha='center', </a:t>
            </a:r>
            <a:r>
              <a:rPr lang="en-US" altLang="zh-CN" sz="1600" dirty="0" err="1"/>
              <a:t>fontsize</a:t>
            </a:r>
            <a:r>
              <a:rPr lang="en-US" altLang="zh-CN" sz="1600" dirty="0"/>
              <a:t>=9)      #ha</a:t>
            </a:r>
            <a:r>
              <a:rPr lang="zh-CN" altLang="zh-CN" sz="1600" dirty="0"/>
              <a:t>设置水平对齐方式</a:t>
            </a:r>
            <a:endParaRPr lang="zh-CN" altLang="zh-CN" sz="1200" dirty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1600" dirty="0">
                <a:solidFill>
                  <a:srgbClr val="00B050"/>
                </a:solidFill>
              </a:rPr>
              <a:t>⑥</a:t>
            </a:r>
            <a:r>
              <a:rPr lang="en-US" altLang="zh-CN" sz="1600" dirty="0">
                <a:solidFill>
                  <a:srgbClr val="00B050"/>
                </a:solidFill>
              </a:rPr>
              <a:t> </a:t>
            </a:r>
            <a:r>
              <a:rPr lang="zh-CN" altLang="zh-CN" sz="1600" dirty="0">
                <a:solidFill>
                  <a:srgbClr val="00B050"/>
                </a:solidFill>
              </a:rPr>
              <a:t>显示图例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        </a:t>
            </a:r>
            <a:r>
              <a:rPr lang="en-US" altLang="zh-CN" sz="1600" b="0" dirty="0" err="1"/>
              <a:t>plt.legend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loc</a:t>
            </a:r>
            <a:r>
              <a:rPr lang="en-US" altLang="zh-CN" sz="1600" b="0" dirty="0"/>
              <a:t>='upper right' )                                           #</a:t>
            </a:r>
            <a:r>
              <a:rPr lang="zh-CN" altLang="zh-CN" sz="1600" b="0" dirty="0"/>
              <a:t>在右上角显示图例文字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1600" dirty="0">
                <a:solidFill>
                  <a:srgbClr val="00B050"/>
                </a:solidFill>
              </a:rPr>
              <a:t>⑦</a:t>
            </a:r>
            <a:r>
              <a:rPr lang="en-US" altLang="zh-CN" sz="1600" dirty="0">
                <a:solidFill>
                  <a:srgbClr val="00B050"/>
                </a:solidFill>
              </a:rPr>
              <a:t> </a:t>
            </a:r>
            <a:r>
              <a:rPr lang="zh-CN" altLang="zh-CN" sz="1600" dirty="0">
                <a:solidFill>
                  <a:srgbClr val="00B050"/>
                </a:solidFill>
              </a:rPr>
              <a:t>显示图表 </a:t>
            </a:r>
            <a:r>
              <a:rPr lang="en-US" altLang="zh-CN" sz="1600" dirty="0">
                <a:solidFill>
                  <a:srgbClr val="00B050"/>
                </a:solidFill>
              </a:rPr>
              <a:t>  </a:t>
            </a:r>
            <a:r>
              <a:rPr lang="en-US" altLang="zh-CN" sz="1600" b="0" dirty="0" err="1"/>
              <a:t>plt.show</a:t>
            </a:r>
            <a:r>
              <a:rPr lang="en-US" altLang="zh-CN" sz="1600" b="0" dirty="0"/>
              <a:t>( ) </a:t>
            </a:r>
            <a:endParaRPr lang="zh-CN" altLang="zh-CN" sz="1400" b="0" dirty="0"/>
          </a:p>
        </p:txBody>
      </p:sp>
    </p:spTree>
    <p:extLst>
      <p:ext uri="{BB962C8B-B14F-4D97-AF65-F5344CB8AC3E}">
        <p14:creationId xmlns:p14="http://schemas.microsoft.com/office/powerpoint/2010/main" val="8100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498094" y="459445"/>
            <a:ext cx="5874106" cy="53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8.1.2  </a:t>
            </a:r>
            <a:r>
              <a:rPr lang="en-US" altLang="zh-CN" sz="2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绘图基础</a:t>
            </a:r>
            <a:endParaRPr lang="zh-CN" altLang="en-US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98094" y="1086358"/>
            <a:ext cx="8276282" cy="37856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子绘图库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pyplot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（一般用于项目文件中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import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as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pylab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（更适合于交互环境）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from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pylab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import  *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pyplot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：用别名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引用绘图函数 ，如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plt.plot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pylab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直接调用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80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243" y="339502"/>
            <a:ext cx="8275638" cy="650875"/>
          </a:xfrm>
        </p:spPr>
        <p:txBody>
          <a:bodyPr/>
          <a:lstStyle/>
          <a:p>
            <a:r>
              <a:rPr lang="en-US" altLang="zh-CN" sz="24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2.</a:t>
            </a:r>
            <a:r>
              <a:rPr lang="zh-CN" altLang="zh-CN" sz="24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图表的组成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1243" y="1203598"/>
            <a:ext cx="8275638" cy="36443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Matplotlib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的图表区包含三个层次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容器层 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Canvas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（画布）、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（绘图区）和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（坐标系）组成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Canvas 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位于容器层的最底部（由系统自动创建）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  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则建立在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Canvas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上面，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    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则建立在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</a:t>
            </a:r>
            <a:r>
              <a:rPr lang="zh-CN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</a:t>
            </a: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对象内可以包含多个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对象，每个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对象都是一个独立的坐标系，绘图过程中所有图像都是基于坐标系绘制的。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辅助显示层 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包括标题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坐标轴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、、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坐标轴刻度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刻度标签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图例等。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图像层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绘制的柱状图、折线图、饼图、散点图等图像。</a:t>
            </a:r>
          </a:p>
        </p:txBody>
      </p:sp>
    </p:spTree>
    <p:extLst>
      <p:ext uri="{BB962C8B-B14F-4D97-AF65-F5344CB8AC3E}">
        <p14:creationId xmlns:p14="http://schemas.microsoft.com/office/powerpoint/2010/main" val="338715092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850" y="1347614"/>
            <a:ext cx="8293100" cy="3528391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000" dirty="0">
                <a:solidFill>
                  <a:srgbClr val="0070C0"/>
                </a:solidFill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</a:rPr>
              <a:t>1</a:t>
            </a:r>
            <a:r>
              <a:rPr lang="zh-CN" altLang="zh-CN" sz="2000" dirty="0">
                <a:solidFill>
                  <a:srgbClr val="0070C0"/>
                </a:solidFill>
              </a:rPr>
              <a:t>）自动创建绘图区</a:t>
            </a:r>
          </a:p>
          <a:p>
            <a:pPr marL="0" indent="0">
              <a:buNone/>
            </a:pPr>
            <a:r>
              <a:rPr lang="en-US" altLang="zh-CN" sz="2000" b="0" dirty="0"/>
              <a:t>      </a:t>
            </a:r>
            <a:r>
              <a:rPr lang="zh-CN" altLang="zh-CN" sz="2000" b="0" dirty="0"/>
              <a:t>直接调用图表绘制函数，系统将自动创建一个绘图区</a:t>
            </a:r>
            <a:endParaRPr lang="en-US" altLang="zh-CN" sz="2000" b="0" dirty="0"/>
          </a:p>
          <a:p>
            <a:pPr marL="0" indent="0">
              <a:buNone/>
            </a:pPr>
            <a:r>
              <a:rPr lang="en-US" altLang="zh-CN" sz="2000" b="0" dirty="0"/>
              <a:t>      </a:t>
            </a:r>
            <a:r>
              <a:rPr lang="zh-CN" altLang="zh-CN" sz="2000" b="0" dirty="0"/>
              <a:t>默认大小为</a:t>
            </a:r>
            <a:r>
              <a:rPr lang="en-US" altLang="zh-CN" sz="2000" b="0" dirty="0"/>
              <a:t>6.4*4.8</a:t>
            </a:r>
            <a:r>
              <a:rPr lang="zh-CN" altLang="zh-CN" sz="2000" b="0" dirty="0"/>
              <a:t>英寸，即</a:t>
            </a:r>
            <a:r>
              <a:rPr lang="en-US" altLang="zh-CN" sz="2000" b="0" dirty="0" err="1"/>
              <a:t>figsize</a:t>
            </a:r>
            <a:r>
              <a:rPr lang="en-US" altLang="zh-CN" sz="2000" b="0" dirty="0"/>
              <a:t>=(6.4,4.8)</a:t>
            </a:r>
          </a:p>
          <a:p>
            <a:pPr marL="0" indent="0">
              <a:buNone/>
            </a:pPr>
            <a:r>
              <a:rPr lang="en-US" altLang="zh-CN" sz="2000" b="0" dirty="0"/>
              <a:t>      </a:t>
            </a:r>
            <a:r>
              <a:rPr lang="zh-CN" altLang="zh-CN" sz="2000" b="0" dirty="0"/>
              <a:t>分辨率为</a:t>
            </a:r>
            <a:r>
              <a:rPr lang="en-US" altLang="zh-CN" sz="2000" b="0" dirty="0"/>
              <a:t>100</a:t>
            </a:r>
            <a:r>
              <a:rPr lang="zh-CN" altLang="zh-CN" sz="2000" b="0" dirty="0"/>
              <a:t>，即</a:t>
            </a:r>
            <a:r>
              <a:rPr lang="en-US" altLang="zh-CN" sz="2000" b="0" dirty="0"/>
              <a:t>dpi=100</a:t>
            </a:r>
          </a:p>
          <a:p>
            <a:pPr marL="0" indent="0">
              <a:buNone/>
            </a:pPr>
            <a:r>
              <a:rPr lang="en-US" altLang="zh-CN" sz="2000" b="0" dirty="0"/>
              <a:t>      </a:t>
            </a:r>
            <a:r>
              <a:rPr lang="zh-CN" altLang="zh-CN" sz="2000" b="0" dirty="0"/>
              <a:t>背景为白色，即</a:t>
            </a:r>
            <a:r>
              <a:rPr lang="en-US" altLang="zh-CN" sz="2000" b="0" dirty="0" err="1"/>
              <a:t>facecolor</a:t>
            </a:r>
            <a:r>
              <a:rPr lang="en-US" altLang="zh-CN" sz="2000" b="0" dirty="0"/>
              <a:t>=</a:t>
            </a:r>
            <a:r>
              <a:rPr lang="zh-CN" altLang="zh-CN" sz="2000" b="0" dirty="0"/>
              <a:t>“</a:t>
            </a:r>
            <a:r>
              <a:rPr lang="en-US" altLang="zh-CN" sz="2000" b="0" dirty="0"/>
              <a:t>white</a:t>
            </a:r>
            <a:r>
              <a:rPr lang="zh-CN" altLang="zh-CN" sz="2000" b="0" dirty="0"/>
              <a:t>”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zh-CN" sz="2000" dirty="0">
                <a:solidFill>
                  <a:srgbClr val="00B050"/>
                </a:solidFill>
              </a:rPr>
              <a:t>例如：</a:t>
            </a:r>
          </a:p>
          <a:p>
            <a:pPr marL="400050" lvl="1" indent="0">
              <a:buNone/>
            </a:pPr>
            <a:r>
              <a:rPr lang="en-US" altLang="zh-CN" sz="1800" dirty="0"/>
              <a:t>import </a:t>
            </a:r>
            <a:r>
              <a:rPr lang="en-US" altLang="zh-CN" sz="1800" dirty="0" err="1"/>
              <a:t>matplotlib.pyplot</a:t>
            </a:r>
            <a:r>
              <a:rPr lang="en-US" altLang="zh-CN" sz="1800" dirty="0"/>
              <a:t> as </a:t>
            </a:r>
            <a:r>
              <a:rPr lang="en-US" altLang="zh-CN" sz="1800" dirty="0" err="1"/>
              <a:t>plt</a:t>
            </a:r>
            <a:endParaRPr lang="zh-CN" altLang="zh-CN" sz="1800" dirty="0"/>
          </a:p>
          <a:p>
            <a:pPr marL="400050" lvl="1" indent="0">
              <a:buNone/>
            </a:pPr>
            <a:r>
              <a:rPr lang="en-US" altLang="zh-CN" sz="1800" dirty="0" err="1"/>
              <a:t>plt.plot</a:t>
            </a:r>
            <a:r>
              <a:rPr lang="en-US" altLang="zh-CN" sz="1800" dirty="0"/>
              <a:t>((3,5))	   #</a:t>
            </a:r>
            <a:r>
              <a:rPr lang="zh-CN" altLang="zh-CN" sz="1800" dirty="0"/>
              <a:t>自动创建一个绘图区，绘制一条从</a:t>
            </a:r>
            <a:r>
              <a:rPr lang="en-US" altLang="zh-CN" sz="1800" dirty="0"/>
              <a:t>(0,3)</a:t>
            </a:r>
            <a:r>
              <a:rPr lang="zh-CN" altLang="zh-CN" sz="1800" dirty="0"/>
              <a:t>到</a:t>
            </a:r>
            <a:r>
              <a:rPr lang="en-US" altLang="zh-CN" sz="1800" dirty="0"/>
              <a:t>(1,5)</a:t>
            </a:r>
            <a:r>
              <a:rPr lang="zh-CN" altLang="zh-CN" sz="1800" dirty="0"/>
              <a:t>的直线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486471" y="627534"/>
            <a:ext cx="4898294" cy="53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绘图区（画板</a:t>
            </a:r>
            <a:r>
              <a:rPr lang="en-US" altLang="zh-CN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画布）</a:t>
            </a:r>
          </a:p>
        </p:txBody>
      </p:sp>
    </p:spTree>
    <p:extLst>
      <p:ext uri="{BB962C8B-B14F-4D97-AF65-F5344CB8AC3E}">
        <p14:creationId xmlns:p14="http://schemas.microsoft.com/office/powerpoint/2010/main" val="27628819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9552" y="1059582"/>
            <a:ext cx="8042920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chemeClr val="hlink"/>
              </a:buClr>
            </a:pP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）手动创建绘图区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如果需要指定绘图区的大小、分辨率和背景颜色等参数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那么先调用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figure()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函数创建一个绘图区，然后再调用图表绘制函数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</a:p>
          <a:p>
            <a:pPr marL="266700"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kern="1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matplotlib.pyplot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as </a:t>
            </a:r>
            <a:r>
              <a:rPr lang="en-US" altLang="zh-CN" kern="1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plt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plt.figure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figsize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=(4,3),dpi=72) #</a:t>
            </a:r>
            <a:r>
              <a:rPr lang="zh-CN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绘图区指定为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4*3</a:t>
            </a:r>
            <a:r>
              <a:rPr lang="zh-CN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英寸，分辨率为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72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plt.plot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((6,2))		#</a:t>
            </a:r>
            <a:r>
              <a:rPr lang="zh-CN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绘制一条从顶点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(0,6)</a:t>
            </a:r>
            <a:r>
              <a:rPr lang="zh-CN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到顶点</a:t>
            </a:r>
            <a:r>
              <a:rPr lang="en-US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(1,2)</a:t>
            </a:r>
            <a:r>
              <a:rPr lang="zh-CN" altLang="zh-CN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的直线</a:t>
            </a: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89732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9552" y="915566"/>
            <a:ext cx="8276282" cy="129266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figure( )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      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用于生成一个全局绘图区。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figure([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=None,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figsize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=None, dpi=None,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facecolor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=None……, **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kwargs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]) 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当前绘图区上没有建立坐标轴，默认不显示该全局绘图区。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0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355726"/>
            <a:ext cx="2980555" cy="255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627611" y="2643758"/>
            <a:ext cx="2731666" cy="133882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266700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&gt;&gt;&gt;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plt.figure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 )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&gt;&gt;&gt;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 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466970" y="184150"/>
            <a:ext cx="4202948" cy="53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绘图区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964" y="764283"/>
            <a:ext cx="6551240" cy="24087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lvl="0" indent="0">
              <a:lnSpc>
                <a:spcPct val="150000"/>
              </a:lnSpc>
              <a:buNone/>
            </a:pPr>
            <a:r>
              <a:rPr lang="zh-CN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axes( )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 ：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坐标系风格的绘图区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并显示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用来在画图板上确认图形区的位置和大小的函数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缺省时该操作在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figure()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上操作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&gt;&gt;&gt;</a:t>
            </a:r>
            <a:r>
              <a:rPr lang="en-US" altLang="zh-CN" sz="2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plt.axes</a:t>
            </a:r>
            <a:r>
              <a:rPr lang="en-US" altLang="zh-CN" sz="2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)</a:t>
            </a: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164288" y="3172983"/>
            <a:ext cx="1882090" cy="1631015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7172746" y="955040"/>
            <a:ext cx="1894840" cy="161671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5" name="内容占位符 2"/>
          <p:cNvSpPr txBox="1">
            <a:spLocks/>
          </p:cNvSpPr>
          <p:nvPr/>
        </p:nvSpPr>
        <p:spPr bwMode="auto">
          <a:xfrm>
            <a:off x="450964" y="3272638"/>
            <a:ext cx="6551240" cy="163101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altLang="zh-CN" sz="2000" kern="0" dirty="0">
                <a:latin typeface="黑体" panose="02010609060101010101" pitchFamily="49" charset="-122"/>
                <a:ea typeface="黑体" panose="02010609060101010101" pitchFamily="49" charset="-122"/>
              </a:rPr>
              <a:t>&gt;&gt;&gt; </a:t>
            </a:r>
            <a:r>
              <a:rPr lang="en-US" altLang="zh-CN" sz="2000" kern="0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plt.axes</a:t>
            </a:r>
            <a:r>
              <a:rPr lang="en-US" altLang="zh-CN" sz="2000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((0.1,0.3,0.5,0.8),</a:t>
            </a:r>
            <a:r>
              <a:rPr lang="en-US" altLang="zh-CN" sz="2000" kern="0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facecolor</a:t>
            </a:r>
            <a:r>
              <a:rPr lang="en-US" altLang="zh-CN" sz="2000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='y')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注意：参数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对应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left,bottom,width,height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坐标原点默认为左下角的（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5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611560" y="448494"/>
            <a:ext cx="4202948" cy="53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子绘图区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79641" y="1065448"/>
            <a:ext cx="8496944" cy="1663188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B050"/>
                </a:solidFill>
              </a:rPr>
              <a:t>（</a:t>
            </a:r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r>
              <a:rPr lang="zh-CN" altLang="en-US" sz="2000" dirty="0">
                <a:solidFill>
                  <a:srgbClr val="00B050"/>
                </a:solidFill>
              </a:rPr>
              <a:t>）</a:t>
            </a:r>
            <a:r>
              <a:rPr lang="en-US" altLang="zh-CN" sz="2000" dirty="0">
                <a:solidFill>
                  <a:srgbClr val="00B050"/>
                </a:solidFill>
              </a:rPr>
              <a:t>subplot( )</a:t>
            </a:r>
            <a:r>
              <a:rPr lang="zh-CN" altLang="zh-CN" sz="2000" dirty="0">
                <a:solidFill>
                  <a:srgbClr val="00B050"/>
                </a:solidFill>
              </a:rPr>
              <a:t>函数</a:t>
            </a:r>
            <a:r>
              <a:rPr lang="en-US" altLang="zh-CN" sz="2000" dirty="0">
                <a:solidFill>
                  <a:srgbClr val="00B050"/>
                </a:solidFill>
              </a:rPr>
              <a:t>   </a:t>
            </a:r>
            <a:r>
              <a:rPr lang="zh-CN" altLang="zh-CN" sz="2000" dirty="0"/>
              <a:t>在全局绘图区创建子绘图区并显示。</a:t>
            </a:r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en-US" altLang="zh-CN" sz="1800" dirty="0"/>
              <a:t>subplot(</a:t>
            </a:r>
            <a:r>
              <a:rPr lang="en-US" altLang="zh-CN" sz="1800" dirty="0" err="1"/>
              <a:t>nrows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ncols</a:t>
            </a:r>
            <a:r>
              <a:rPr lang="en-US" altLang="zh-CN" sz="1800" dirty="0"/>
              <a:t>, index, **</a:t>
            </a:r>
            <a:r>
              <a:rPr lang="en-US" altLang="zh-CN" sz="1800" dirty="0" err="1"/>
              <a:t>kwargs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kern="100" dirty="0">
                <a:cs typeface="Times New Roman" panose="02020603050405020304" pitchFamily="18" charset="0"/>
              </a:rPr>
              <a:t>       </a:t>
            </a:r>
            <a:r>
              <a:rPr lang="zh-CN" altLang="en-US" sz="1800" b="0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注意</a:t>
            </a:r>
            <a:r>
              <a:rPr lang="zh-CN" altLang="en-US" sz="1800" b="0" kern="100" dirty="0">
                <a:cs typeface="Times New Roman" panose="02020603050405020304" pitchFamily="18" charset="0"/>
              </a:rPr>
              <a:t>：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如果</a:t>
            </a:r>
            <a:r>
              <a:rPr lang="en-US" altLang="zh-CN" sz="1800" b="0" kern="100" dirty="0" err="1">
                <a:cs typeface="Times New Roman" panose="02020603050405020304" pitchFamily="18" charset="0"/>
              </a:rPr>
              <a:t>nrows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、</a:t>
            </a:r>
            <a:r>
              <a:rPr lang="en-US" altLang="zh-CN" sz="1800" b="0" kern="100" dirty="0" err="1">
                <a:cs typeface="Times New Roman" panose="02020603050405020304" pitchFamily="18" charset="0"/>
              </a:rPr>
              <a:t>ncols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和</a:t>
            </a:r>
            <a:r>
              <a:rPr lang="en-US" altLang="zh-CN" sz="1800" b="0" kern="100" dirty="0">
                <a:cs typeface="Times New Roman" panose="02020603050405020304" pitchFamily="18" charset="0"/>
              </a:rPr>
              <a:t>index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这三个数都小于</a:t>
            </a:r>
            <a:r>
              <a:rPr lang="en-US" altLang="zh-CN" sz="1800" b="0" kern="100" dirty="0">
                <a:cs typeface="Times New Roman" panose="02020603050405020304" pitchFamily="18" charset="0"/>
              </a:rPr>
              <a:t>10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的话，可以把它们缩写为一个整数，例如</a:t>
            </a:r>
            <a:r>
              <a:rPr lang="en-US" altLang="zh-CN" sz="1800" b="0" kern="100" dirty="0">
                <a:cs typeface="Times New Roman" panose="02020603050405020304" pitchFamily="18" charset="0"/>
              </a:rPr>
              <a:t>subplot(323)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和</a:t>
            </a:r>
            <a:r>
              <a:rPr lang="en-US" altLang="zh-CN" sz="1800" b="0" kern="100" dirty="0">
                <a:cs typeface="Times New Roman" panose="02020603050405020304" pitchFamily="18" charset="0"/>
              </a:rPr>
              <a:t>subplot(3,2,3)</a:t>
            </a:r>
            <a:r>
              <a:rPr lang="zh-CN" altLang="zh-CN" sz="1800" b="0" kern="100" dirty="0">
                <a:cs typeface="Times New Roman" panose="02020603050405020304" pitchFamily="18" charset="0"/>
              </a:rPr>
              <a:t>是相同的。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210470"/>
            <a:ext cx="1975089" cy="16562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84" y="3210470"/>
            <a:ext cx="2180501" cy="1652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矩形 1"/>
          <p:cNvSpPr/>
          <p:nvPr/>
        </p:nvSpPr>
        <p:spPr>
          <a:xfrm>
            <a:off x="429392" y="2859782"/>
            <a:ext cx="3744416" cy="89255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(1,1,1)   </a:t>
            </a:r>
          </a:p>
          <a:p>
            <a:pPr marL="0" indent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列，绘制在第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个子绘图区</a:t>
            </a:r>
          </a:p>
        </p:txBody>
      </p:sp>
      <p:sp>
        <p:nvSpPr>
          <p:cNvPr id="6" name="矩形 5"/>
          <p:cNvSpPr/>
          <p:nvPr/>
        </p:nvSpPr>
        <p:spPr>
          <a:xfrm>
            <a:off x="395535" y="3939931"/>
            <a:ext cx="3847297" cy="61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(232)     </a:t>
            </a:r>
          </a:p>
          <a:p>
            <a:pPr marL="0" indent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个子绘图区，只显示第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23069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2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585076" y="123478"/>
            <a:ext cx="4202948" cy="53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子绘图区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734385"/>
            <a:ext cx="8496944" cy="10081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subplots( )</a:t>
            </a:r>
            <a:r>
              <a:rPr lang="zh-CN" altLang="zh-CN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创建全局绘图区，然后添加多个子绘图区并显示所有子绘图区</a:t>
            </a:r>
            <a:endParaRPr lang="zh-CN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9911" y="1821215"/>
            <a:ext cx="8496944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57150">
              <a:lnSpc>
                <a:spcPct val="150000"/>
              </a:lnSpc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</a:p>
          <a:p>
            <a:pPr indent="-57150">
              <a:lnSpc>
                <a:spcPct val="150000"/>
              </a:lnSpc>
            </a:pPr>
            <a:r>
              <a:rPr lang="en-US" altLang="zh-CN" dirty="0"/>
              <a:t>import matplotlib.pyplot as plt</a:t>
            </a:r>
            <a:endParaRPr lang="zh-CN" altLang="zh-CN" dirty="0"/>
          </a:p>
          <a:p>
            <a:pPr indent="-57150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fig,ax</a:t>
            </a:r>
            <a:r>
              <a:rPr lang="en-US" altLang="zh-CN" dirty="0"/>
              <a:t> = </a:t>
            </a:r>
            <a:r>
              <a:rPr lang="en-US" altLang="zh-CN" dirty="0" err="1"/>
              <a:t>plt.subplots</a:t>
            </a:r>
            <a:r>
              <a:rPr lang="en-US" altLang="zh-CN" dirty="0"/>
              <a:t>(</a:t>
            </a:r>
            <a:r>
              <a:rPr lang="en-US" altLang="zh-CN" dirty="0" err="1"/>
              <a:t>nrows</a:t>
            </a:r>
            <a:r>
              <a:rPr lang="en-US" altLang="zh-CN" dirty="0"/>
              <a:t>=2,ncols=3,figsize=(8,4),dpi=100)  </a:t>
            </a:r>
            <a:endParaRPr lang="zh-CN" altLang="zh-CN" dirty="0"/>
          </a:p>
          <a:p>
            <a:pPr indent="-57150">
              <a:lnSpc>
                <a:spcPct val="150000"/>
              </a:lnSpc>
            </a:pPr>
            <a:r>
              <a:rPr lang="en-US" altLang="zh-CN" dirty="0" err="1"/>
              <a:t>plt.subplots_adjust</a:t>
            </a:r>
            <a:r>
              <a:rPr lang="en-US" altLang="zh-CN" dirty="0"/>
              <a:t>(</a:t>
            </a:r>
            <a:r>
              <a:rPr lang="en-US" altLang="zh-CN" dirty="0" err="1"/>
              <a:t>wspace</a:t>
            </a:r>
            <a:r>
              <a:rPr lang="en-US" altLang="zh-CN" dirty="0"/>
              <a:t>=0.3,hspace=0.3) </a:t>
            </a:r>
          </a:p>
          <a:p>
            <a:pPr indent="-57150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ax[0][2].</a:t>
            </a:r>
            <a:r>
              <a:rPr lang="en-US" altLang="zh-CN" dirty="0"/>
              <a:t>plot((1),'</a:t>
            </a:r>
            <a:r>
              <a:rPr lang="en-US" altLang="zh-CN" dirty="0" err="1"/>
              <a:t>rD</a:t>
            </a:r>
            <a:r>
              <a:rPr lang="en-US" altLang="zh-CN" dirty="0"/>
              <a:t>') </a:t>
            </a:r>
          </a:p>
          <a:p>
            <a:pPr indent="-57150">
              <a:lnSpc>
                <a:spcPct val="150000"/>
              </a:lnSpc>
            </a:pPr>
            <a:r>
              <a:rPr lang="en-US" altLang="zh-CN" dirty="0"/>
              <a:t>ax[1][0].plot((1,2),'b') </a:t>
            </a:r>
          </a:p>
          <a:p>
            <a:pPr indent="-57150">
              <a:lnSpc>
                <a:spcPct val="150000"/>
              </a:lnSpc>
            </a:pPr>
            <a:r>
              <a:rPr lang="en-US" altLang="zh-CN" dirty="0" err="1"/>
              <a:t>plt.show</a:t>
            </a:r>
            <a:r>
              <a:rPr lang="en-US" altLang="zh-CN" dirty="0"/>
              <a:t>( )</a:t>
            </a:r>
            <a:endParaRPr lang="zh-CN" altLang="zh-CN" sz="2400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508104" y="3125841"/>
            <a:ext cx="3456384" cy="1750165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214F08A0-9E74-D770-6BC7-0B09CF62B320}"/>
              </a:ext>
            </a:extLst>
          </p:cNvPr>
          <p:cNvSpPr/>
          <p:nvPr/>
        </p:nvSpPr>
        <p:spPr bwMode="auto">
          <a:xfrm>
            <a:off x="3419872" y="259397"/>
            <a:ext cx="5655715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4547"/>
              <a:gd name="adj6" fmla="val -42858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dirty="0"/>
              <a:t>Ax</a:t>
            </a:r>
            <a:r>
              <a:rPr lang="zh-CN" altLang="en-US" sz="2200" dirty="0"/>
              <a:t>是个</a:t>
            </a:r>
            <a:r>
              <a:rPr lang="en-US" altLang="zh-CN" sz="2200" dirty="0"/>
              <a:t>2</a:t>
            </a:r>
            <a:r>
              <a:rPr lang="zh-CN" altLang="en-US" sz="2200" dirty="0"/>
              <a:t>行</a:t>
            </a:r>
            <a:r>
              <a:rPr lang="en-US" altLang="zh-CN" sz="2200" dirty="0"/>
              <a:t>3</a:t>
            </a:r>
            <a:r>
              <a:rPr lang="zh-CN" altLang="en-US" sz="2200" dirty="0"/>
              <a:t>列的数组，每个元素是</a:t>
            </a:r>
            <a:r>
              <a:rPr lang="en-US" altLang="zh-CN" sz="2200" dirty="0"/>
              <a:t>axes</a:t>
            </a:r>
            <a:r>
              <a:rPr lang="zh-CN" altLang="en-US" sz="2200" dirty="0"/>
              <a:t>对象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8FE34FD6-B0ED-1852-2B99-AAF58FD411E8}"/>
              </a:ext>
            </a:extLst>
          </p:cNvPr>
          <p:cNvSpPr/>
          <p:nvPr/>
        </p:nvSpPr>
        <p:spPr bwMode="auto">
          <a:xfrm>
            <a:off x="4357349" y="1962214"/>
            <a:ext cx="3570208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10738"/>
              <a:gd name="adj6" fmla="val -92549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数组元素指明在那个坐标系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5FA9C6-14BC-50BE-1131-49081B1EA445}"/>
              </a:ext>
            </a:extLst>
          </p:cNvPr>
          <p:cNvSpPr txBox="1"/>
          <p:nvPr/>
        </p:nvSpPr>
        <p:spPr>
          <a:xfrm>
            <a:off x="2555776" y="4445538"/>
            <a:ext cx="244827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思考：只有一个子图，一行（列）子图，</a:t>
            </a:r>
            <a:r>
              <a:rPr lang="en-US" altLang="zh-CN" sz="1400" b="1" dirty="0">
                <a:solidFill>
                  <a:srgbClr val="FF0000"/>
                </a:solidFill>
              </a:rPr>
              <a:t>ax</a:t>
            </a:r>
            <a:r>
              <a:rPr lang="zh-CN" altLang="en-US" sz="1400" b="1" dirty="0">
                <a:solidFill>
                  <a:srgbClr val="FF0000"/>
                </a:solidFill>
              </a:rPr>
              <a:t>是什么？</a:t>
            </a:r>
          </a:p>
        </p:txBody>
      </p:sp>
    </p:spTree>
    <p:extLst>
      <p:ext uri="{BB962C8B-B14F-4D97-AF65-F5344CB8AC3E}">
        <p14:creationId xmlns:p14="http://schemas.microsoft.com/office/powerpoint/2010/main" val="294199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2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1491630"/>
            <a:ext cx="8496944" cy="341324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import matplotlib.pyplot as plt</a:t>
            </a:r>
            <a:endParaRPr lang="zh-CN" altLang="zh-CN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import numpy as np</a:t>
            </a:r>
            <a:endParaRPr lang="zh-CN" altLang="zh-CN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fig1=</a:t>
            </a:r>
            <a:r>
              <a:rPr lang="en-US" altLang="zh-CN" sz="1600" dirty="0" err="1"/>
              <a:t>plt.figure</a:t>
            </a:r>
            <a:r>
              <a:rPr lang="en-US" altLang="zh-CN" sz="1600" dirty="0"/>
              <a:t>( )                             #</a:t>
            </a:r>
            <a:r>
              <a:rPr lang="zh-CN" altLang="zh-CN" sz="1600" dirty="0"/>
              <a:t>创建一个全局绘图区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fig1.add_subplot(22</a:t>
            </a:r>
            <a:r>
              <a:rPr lang="en-US" altLang="zh-CN" sz="1600" dirty="0">
                <a:solidFill>
                  <a:srgbClr val="FF0000"/>
                </a:solidFill>
              </a:rPr>
              <a:t>1</a:t>
            </a:r>
            <a:r>
              <a:rPr lang="en-US" altLang="zh-CN" sz="1600" dirty="0"/>
              <a:t>)                    #</a:t>
            </a:r>
            <a:r>
              <a:rPr lang="zh-CN" altLang="zh-CN" sz="1600" dirty="0"/>
              <a:t>添加</a:t>
            </a:r>
            <a:r>
              <a:rPr lang="en-US" altLang="zh-CN" sz="1600" dirty="0"/>
              <a:t>2</a:t>
            </a:r>
            <a:r>
              <a:rPr lang="zh-CN" altLang="zh-CN" sz="1600" dirty="0"/>
              <a:t>行</a:t>
            </a:r>
            <a:r>
              <a:rPr lang="en-US" altLang="zh-CN" sz="1600" dirty="0"/>
              <a:t>2</a:t>
            </a:r>
            <a:r>
              <a:rPr lang="zh-CN" altLang="zh-CN" sz="1600" dirty="0"/>
              <a:t>列共</a:t>
            </a:r>
            <a:r>
              <a:rPr lang="en-US" altLang="zh-CN" sz="1600" dirty="0"/>
              <a:t>4</a:t>
            </a:r>
            <a:r>
              <a:rPr lang="zh-CN" altLang="zh-CN" sz="1600" dirty="0"/>
              <a:t>个子绘图区，只显示第</a:t>
            </a:r>
            <a:r>
              <a:rPr lang="en-US" altLang="zh-CN" sz="1600" dirty="0"/>
              <a:t>1</a:t>
            </a:r>
            <a:r>
              <a:rPr lang="zh-CN" altLang="zh-CN" sz="1600" dirty="0"/>
              <a:t>个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 err="1"/>
              <a:t>plt.plot</a:t>
            </a:r>
            <a:r>
              <a:rPr lang="en-US" altLang="zh-CN" sz="1600" dirty="0"/>
              <a:t>((1,6,2),c='</a:t>
            </a:r>
            <a:r>
              <a:rPr lang="en-US" altLang="zh-CN" sz="1600" dirty="0" err="1"/>
              <a:t>r',marker</a:t>
            </a:r>
            <a:r>
              <a:rPr lang="en-US" altLang="zh-CN" sz="1600" dirty="0"/>
              <a:t>='o')      #</a:t>
            </a:r>
            <a:r>
              <a:rPr lang="zh-CN" altLang="zh-CN" sz="1600" dirty="0"/>
              <a:t>在第</a:t>
            </a:r>
            <a:r>
              <a:rPr lang="en-US" altLang="zh-CN" sz="1600" dirty="0"/>
              <a:t>1</a:t>
            </a:r>
            <a:r>
              <a:rPr lang="zh-CN" altLang="zh-CN" sz="1600" dirty="0"/>
              <a:t>个子绘图区绘制红色折线并输出标记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fig1.add_subplot(22</a:t>
            </a:r>
            <a:r>
              <a:rPr lang="en-US" altLang="zh-CN" sz="1600" dirty="0">
                <a:solidFill>
                  <a:srgbClr val="FF0000"/>
                </a:solidFill>
              </a:rPr>
              <a:t>4</a:t>
            </a:r>
            <a:r>
              <a:rPr lang="en-US" altLang="zh-CN" sz="1600" dirty="0"/>
              <a:t>)                    #</a:t>
            </a:r>
            <a:r>
              <a:rPr lang="zh-CN" altLang="zh-CN" sz="1600" dirty="0"/>
              <a:t>指定显示第</a:t>
            </a:r>
            <a:r>
              <a:rPr lang="en-US" altLang="zh-CN" sz="1600" dirty="0"/>
              <a:t>4</a:t>
            </a:r>
            <a:r>
              <a:rPr lang="zh-CN" altLang="zh-CN" sz="1600" dirty="0"/>
              <a:t>个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x=</a:t>
            </a:r>
            <a:r>
              <a:rPr lang="en-US" altLang="zh-CN" sz="1600" dirty="0" err="1"/>
              <a:t>np.random.randint</a:t>
            </a:r>
            <a:r>
              <a:rPr lang="en-US" altLang="zh-CN" sz="1600" dirty="0"/>
              <a:t>(0,100,10)     #</a:t>
            </a:r>
            <a:r>
              <a:rPr lang="zh-CN" altLang="zh-CN" sz="1600" dirty="0"/>
              <a:t>随机生成</a:t>
            </a:r>
            <a:r>
              <a:rPr lang="en-US" altLang="zh-CN" sz="1600" dirty="0"/>
              <a:t>10</a:t>
            </a:r>
            <a:r>
              <a:rPr lang="zh-CN" altLang="zh-CN" sz="1600" dirty="0"/>
              <a:t>个坐标点（</a:t>
            </a:r>
            <a:r>
              <a:rPr lang="en-US" altLang="zh-CN" sz="1600" dirty="0" err="1"/>
              <a:t>x,y</a:t>
            </a:r>
            <a:r>
              <a:rPr lang="zh-CN" altLang="zh-CN" sz="1600" dirty="0"/>
              <a:t>）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/>
              <a:t>y=</a:t>
            </a:r>
            <a:r>
              <a:rPr lang="en-US" altLang="zh-CN" sz="1600" dirty="0" err="1"/>
              <a:t>np.random.normal</a:t>
            </a:r>
            <a:r>
              <a:rPr lang="en-US" altLang="zh-CN" sz="1600" dirty="0"/>
              <a:t>(0,100,10)     #[0,100)</a:t>
            </a:r>
            <a:r>
              <a:rPr lang="zh-CN" altLang="en-US" sz="1600" dirty="0"/>
              <a:t>之间</a:t>
            </a:r>
            <a:endParaRPr lang="zh-CN" altLang="zh-CN" sz="1600" dirty="0"/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 err="1"/>
              <a:t>plt.scatter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x,y,c</a:t>
            </a:r>
            <a:r>
              <a:rPr lang="en-US" altLang="zh-CN" sz="1600" dirty="0"/>
              <a:t>=‘g’)                       #</a:t>
            </a:r>
            <a:r>
              <a:rPr lang="zh-CN" altLang="en-US" sz="1600" dirty="0"/>
              <a:t>绘制在</a:t>
            </a:r>
            <a:r>
              <a:rPr lang="zh-CN" altLang="zh-CN" sz="1600" dirty="0"/>
              <a:t>第</a:t>
            </a:r>
            <a:r>
              <a:rPr lang="en-US" altLang="zh-CN" sz="1600" dirty="0"/>
              <a:t>4</a:t>
            </a:r>
            <a:r>
              <a:rPr lang="zh-CN" altLang="zh-CN" sz="1600" dirty="0"/>
              <a:t>个绘图区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 err="1"/>
              <a:t>plt.show</a:t>
            </a:r>
            <a:r>
              <a:rPr lang="en-US" altLang="zh-CN" sz="1600" dirty="0"/>
              <a:t>( ) </a:t>
            </a:r>
            <a:endParaRPr lang="zh-CN" altLang="zh-CN" dirty="0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441060" y="51470"/>
            <a:ext cx="4202948" cy="53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子绘图区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5536" y="627534"/>
            <a:ext cx="8496944" cy="792088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add_subplot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nrows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ncols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index[, **</a:t>
            </a:r>
            <a:r>
              <a:rPr lang="en-US" altLang="zh-CN" sz="20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kwargs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</a:p>
          <a:p>
            <a:pPr marL="0" indent="0">
              <a:buNone/>
            </a:pPr>
            <a:r>
              <a:rPr lang="en-US" altLang="zh-CN" sz="1800" dirty="0"/>
              <a:t>           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用于给已有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全局绘图区</a:t>
            </a:r>
            <a:r>
              <a:rPr lang="zh-CN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添加子绘图区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516216" y="3198251"/>
            <a:ext cx="2376264" cy="168505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11368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3816350" cy="515392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70C0"/>
                </a:solidFill>
              </a:rPr>
              <a:t>常用图表绘制函数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191379"/>
              </p:ext>
            </p:extLst>
          </p:nvPr>
        </p:nvGraphicFramePr>
        <p:xfrm>
          <a:off x="250825" y="867886"/>
          <a:ext cx="8424863" cy="37067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函数</a:t>
                      </a: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plt.plot(x,y,color,linewidth,linestyle,label)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x,y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数组绘制直线或曲线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plt.boxplot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data,notch,position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绘制一个箱型图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plt.bar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(x, height, width, bottom, *, align='center', **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kwargs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绘制一个条形图（即柱状图）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plt.barh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(y, width, height, left, *, align='center', **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kwargs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绘制一个横向条形图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plt.polar(theta,r)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绘制极坐标图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plt.pie(data,explode)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绘制饼图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plt.scatter(x,y)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绘制散点图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plt.hist(x,bins,normed)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绘制直方图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plt.contour(X,Y,Z,N)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绘制等高线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295887" y="217512"/>
            <a:ext cx="3816350" cy="554038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70C0"/>
                </a:solidFill>
              </a:rPr>
              <a:t>坐标轴设置函数</a:t>
            </a: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7420"/>
              </p:ext>
            </p:extLst>
          </p:nvPr>
        </p:nvGraphicFramePr>
        <p:xfrm>
          <a:off x="295887" y="771550"/>
          <a:ext cx="8461126" cy="372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  数</a:t>
                      </a: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  述</a:t>
                      </a:r>
                    </a:p>
                  </a:txBody>
                  <a:tcPr marL="91439" marR="91439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plt.axis( 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输出：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(0.0, 1.0, 0.0, 1.0)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显示当前坐标轴刻度的取值范围</a:t>
                      </a:r>
                    </a:p>
                  </a:txBody>
                  <a:tcPr marL="91439" marR="91439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plt.axes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输出：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&lt;matplotlib.axes._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subplots.AxesSubplot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at 0x22f751cb3c8&gt;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显示子绘图区</a:t>
                      </a:r>
                    </a:p>
                  </a:txBody>
                  <a:tcPr marL="91439" marR="91439" marT="34290" marB="34290" anchor="ctr"/>
                </a:tc>
                <a:extLst>
                  <a:ext uri="{0D108BD9-81ED-4DB2-BD59-A6C34878D82A}">
                    <a16:rowId xmlns:a16="http://schemas.microsoft.com/office/drawing/2014/main" val="36442491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plt.xlim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xmin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=1,xmax=5)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轴刻度取值范围为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[1,5]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plt.ylim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ymin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=3,ymax=6)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轴刻度取值范围为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[3,6]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plt.text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x,y,s,fontdic,withdash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plt.text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(0.5,0.5,'Max')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在指定位置添加注释文本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在两个坐标轴的中间位置输出“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marL="91439" marR="91439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plt.grid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(True/False)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是否显示绘图网格</a:t>
                      </a:r>
                    </a:p>
                  </a:txBody>
                  <a:tcPr marL="91439" marR="91439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33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50825" y="339502"/>
            <a:ext cx="5401295" cy="554038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70C0"/>
                </a:solidFill>
              </a:rPr>
              <a:t>标签设置函数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06517"/>
              </p:ext>
            </p:extLst>
          </p:nvPr>
        </p:nvGraphicFramePr>
        <p:xfrm>
          <a:off x="250825" y="996042"/>
          <a:ext cx="8497639" cy="3572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5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函 数</a:t>
                      </a:r>
                    </a:p>
                  </a:txBody>
                  <a:tcPr marL="91439" marR="91439" marT="34300" marB="3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 述</a:t>
                      </a:r>
                    </a:p>
                  </a:txBody>
                  <a:tcPr marL="91439" marR="91439" marT="34300" marB="3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plt.title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("TITLE",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='right')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300" marB="3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设置图表的标题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loc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:{'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center','left','right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'}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plt.xlabel(“</a:t>
                      </a:r>
                      <a:r>
                        <a:rPr lang="zh-CN" altLang="en-US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水平轴标题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”)</a:t>
                      </a:r>
                    </a:p>
                  </a:txBody>
                  <a:tcPr marL="91439" marR="91439" marT="34300" marB="343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轴的标题</a:t>
                      </a:r>
                    </a:p>
                  </a:txBody>
                  <a:tcPr marL="91439" marR="91439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plt.ylabel(“</a:t>
                      </a:r>
                      <a:r>
                        <a:rPr lang="zh-CN" altLang="en-US" sz="16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垂直轴标题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300" marB="343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轴的标题</a:t>
                      </a:r>
                    </a:p>
                  </a:txBody>
                  <a:tcPr marL="91439" marR="91439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plt.xticks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plt.xticks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np.arange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(3), ('Tom', 'Dick', 'Harry'))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300" marB="3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轴的刻度范围及显示标签</a:t>
                      </a:r>
                    </a:p>
                  </a:txBody>
                  <a:tcPr marL="91439" marR="91439" marT="34300" marB="3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20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plt.yticks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如：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plt.yticks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np.arange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(3), ('1', '2','3'))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9" marR="91439" marT="34300" marB="3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轴的刻度范围及显示标签</a:t>
                      </a:r>
                    </a:p>
                  </a:txBody>
                  <a:tcPr marL="91439" marR="91439" marT="34300" marB="3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4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451" y="681729"/>
            <a:ext cx="5444008" cy="50685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解决汉字和负号显示问题</a:t>
            </a:r>
            <a:endParaRPr lang="zh-CN" altLang="zh-CN" sz="24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25451" y="1347614"/>
            <a:ext cx="8423013" cy="93447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72000" tIns="0" rIns="36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在代码中添加语句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plt.rcParams['font.sa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s-seri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']=['SimHei']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plt.rcParams['axes.unicode_minus']=False 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325451" y="2441118"/>
            <a:ext cx="8423013" cy="2434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72000" tIns="0" rIns="36000" bIns="7200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0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：修改系统配置文件</a:t>
            </a:r>
            <a:endParaRPr lang="en-US" altLang="zh-CN" sz="2000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FontTx/>
              <a:buNone/>
            </a:pPr>
            <a:r>
              <a:rPr lang="en-US" altLang="zh-CN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找到</a:t>
            </a:r>
            <a:r>
              <a:rPr lang="en-US" altLang="zh-CN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C:\Users\lxm\Anaconda3\Lib\site-packages\matplotlib\mpl-data</a:t>
            </a:r>
            <a:r>
              <a:rPr lang="zh-CN" altLang="en-US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目录下的文件</a:t>
            </a:r>
            <a:r>
              <a:rPr lang="en-US" altLang="zh-CN" sz="1600" kern="0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matplotlibrc</a:t>
            </a:r>
            <a:r>
              <a:rPr lang="zh-CN" altLang="en-US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，用记事本或</a:t>
            </a:r>
            <a:r>
              <a:rPr lang="en-US" altLang="zh-CN" sz="1600" kern="0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spyder</a:t>
            </a:r>
            <a:r>
              <a:rPr lang="zh-CN" altLang="en-US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打开</a:t>
            </a:r>
            <a:r>
              <a:rPr lang="en-US" altLang="zh-CN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1600" kern="0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修改下面参数并保存。</a:t>
            </a:r>
            <a:endParaRPr lang="en-US" altLang="zh-CN" sz="1600" kern="0" dirty="0">
              <a:solidFill>
                <a:srgbClr val="3333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font.family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        : sans-serif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font.serif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         : </a:t>
            </a:r>
            <a:r>
              <a:rPr lang="en-US" altLang="zh-CN" sz="1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SimHei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DejaVu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Serif, ……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font.sans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-serif     : </a:t>
            </a:r>
            <a:r>
              <a:rPr lang="en-US" altLang="zh-CN" sz="16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SimHei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,DejaVu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Sans, ……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axes.unicode_minus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False  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## use 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unicode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for the minus symbol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/>
              <a:t>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注意：去除前面的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号再保存</a:t>
            </a:r>
          </a:p>
        </p:txBody>
      </p:sp>
    </p:spTree>
    <p:extLst>
      <p:ext uri="{BB962C8B-B14F-4D97-AF65-F5344CB8AC3E}">
        <p14:creationId xmlns:p14="http://schemas.microsoft.com/office/powerpoint/2010/main" val="277112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 animBg="1"/>
      <p:bldP spid="5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395536" y="21109"/>
            <a:ext cx="3898900" cy="606425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一、绘制线条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412460" y="699542"/>
            <a:ext cx="8578850" cy="4033044"/>
          </a:xfrm>
          <a:solidFill>
            <a:schemeClr val="bg1"/>
          </a:solidFill>
          <a:ln>
            <a:solidFill>
              <a:srgbClr val="00B050"/>
            </a:solidFill>
          </a:ln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导入库</a:t>
            </a:r>
            <a:endParaRPr lang="en-US" altLang="zh-CN" sz="20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import matplotlib.pyplot as plt  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lang="en-US" altLang="zh-CN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plot()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sz="18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plot([x], y, [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fmt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], data=None, **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kwargs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plot([x], y, [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fmt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], [x2], y2, [fmt2], ..., **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kwargs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 功能：将坐标系列（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x,y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）用线或标记连接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补充：</a:t>
            </a:r>
            <a:endParaRPr lang="en-US" altLang="zh-CN" sz="1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in[ ]:</a:t>
            </a:r>
            <a:r>
              <a:rPr lang="en-US" altLang="zh-CN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plt.plot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??     #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Spyder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中获取当前函数的帮助信息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&gt;&gt;&gt; help(</a:t>
            </a:r>
            <a:r>
              <a:rPr lang="en-US" altLang="zh-CN" sz="1800" dirty="0" err="1">
                <a:latin typeface="黑体" panose="02010609060101010101" pitchFamily="49" charset="-122"/>
                <a:ea typeface="黑体" panose="02010609060101010101" pitchFamily="49" charset="-122"/>
              </a:rPr>
              <a:t>plt.plot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  #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IDLE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中获取当前函数的帮助信息</a:t>
            </a:r>
          </a:p>
        </p:txBody>
      </p:sp>
      <p:sp>
        <p:nvSpPr>
          <p:cNvPr id="16388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D46D2AB1-520E-1E84-9A1E-3E3B0DA25397}"/>
              </a:ext>
            </a:extLst>
          </p:cNvPr>
          <p:cNvSpPr/>
          <p:nvPr/>
        </p:nvSpPr>
        <p:spPr bwMode="auto">
          <a:xfrm>
            <a:off x="4803129" y="1456206"/>
            <a:ext cx="3570208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4846"/>
              <a:gd name="adj6" fmla="val -37740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需要标记的数据，一般为空</a:t>
            </a:r>
          </a:p>
        </p:txBody>
      </p:sp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3A364BDA-F4A2-FD87-F654-B274E477BB13}"/>
              </a:ext>
            </a:extLst>
          </p:cNvPr>
          <p:cNvSpPr/>
          <p:nvPr/>
        </p:nvSpPr>
        <p:spPr bwMode="auto">
          <a:xfrm>
            <a:off x="3313534" y="290389"/>
            <a:ext cx="4980851" cy="76944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54435"/>
              <a:gd name="adj6" fmla="val -14608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格式字符串，由颜色、风格、标记组成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例如“</a:t>
            </a:r>
            <a:r>
              <a:rPr kumimoji="0" lang="en-US" altLang="zh-CN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ro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”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代表红色圆圈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A6310C44-74B5-CD93-7F1B-2F94F6E29F52}"/>
              </a:ext>
            </a:extLst>
          </p:cNvPr>
          <p:cNvSpPr/>
          <p:nvPr/>
        </p:nvSpPr>
        <p:spPr bwMode="auto">
          <a:xfrm>
            <a:off x="5949356" y="3328415"/>
            <a:ext cx="3005951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25688"/>
              <a:gd name="adj6" fmla="val -33360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用关键字参数指定格式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2291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99542"/>
            <a:ext cx="8146361" cy="1584176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sz="16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plt.plot</a:t>
            </a:r>
            <a:r>
              <a:rPr lang="en-US" altLang="zh-CN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((5),‘</a:t>
            </a:r>
            <a:r>
              <a:rPr lang="en-US" altLang="zh-CN" sz="16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ro</a:t>
            </a:r>
            <a:r>
              <a:rPr lang="en-US" altLang="zh-CN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’) </a:t>
            </a:r>
            <a:r>
              <a:rPr lang="en-US" altLang="zh-CN" sz="1600" b="0" dirty="0">
                <a:solidFill>
                  <a:srgbClr val="0000B4"/>
                </a:solidFill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在坐标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(0,5)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处绘制一个红色的圆点</a:t>
            </a:r>
            <a:endParaRPr lang="en-US" altLang="zh-CN" sz="1600" b="0" dirty="0">
              <a:latin typeface="微软雅黑" pitchFamily="34" charset="-122"/>
              <a:ea typeface="微软雅黑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sz="16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plt.plot</a:t>
            </a:r>
            <a:r>
              <a:rPr lang="en-US" altLang="zh-CN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((5,10),‘g’)        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(0,5)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(1,10)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绘制一条绿色的直线</a:t>
            </a:r>
            <a:endParaRPr lang="en-US" altLang="zh-CN" sz="1600" b="0" dirty="0">
              <a:latin typeface="微软雅黑" pitchFamily="34" charset="-122"/>
              <a:ea typeface="微软雅黑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16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plt.plot</a:t>
            </a:r>
            <a:r>
              <a:rPr lang="en-US" altLang="zh-CN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((5,10,3),‘B’)     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(0,5)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(1,10)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再到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(2,3)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绘制一条蓝色的折线</a:t>
            </a:r>
            <a:endParaRPr lang="en-US" altLang="zh-CN" sz="1600" b="0" dirty="0">
              <a:latin typeface="微软雅黑" pitchFamily="34" charset="-122"/>
              <a:ea typeface="微软雅黑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注意：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省略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坐标的话，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坐标默认为列表</a:t>
            </a:r>
            <a:r>
              <a:rPr lang="en-US" altLang="zh-CN" sz="1600" b="0" dirty="0">
                <a:latin typeface="微软雅黑" pitchFamily="34" charset="-122"/>
                <a:ea typeface="微软雅黑" pitchFamily="34" charset="-122"/>
              </a:rPr>
              <a:t>[0,1,2,…,N-1]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23528" y="167432"/>
            <a:ext cx="8275638" cy="488156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绘制线条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251520" y="2571750"/>
            <a:ext cx="8146361" cy="973468"/>
          </a:xfrm>
          <a:prstGeom prst="rect">
            <a:avLst/>
          </a:prstGeom>
          <a:solidFill>
            <a:schemeClr val="lt1"/>
          </a:solidFill>
          <a:ln w="25400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sz="16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plt.plot</a:t>
            </a:r>
            <a:r>
              <a:rPr lang="en-US" altLang="zh-CN" sz="16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((1,3,5),(2,6,4),‘y^’)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sz="14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plt.plot</a:t>
            </a:r>
            <a:r>
              <a:rPr lang="en-US" altLang="zh-CN" sz="1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((3,6),(1,5), color='g', marker='D',</a:t>
            </a:r>
            <a:r>
              <a:rPr lang="en-US" altLang="zh-CN" sz="14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linestyle</a:t>
            </a:r>
            <a:r>
              <a:rPr lang="en-US" altLang="zh-CN" sz="1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=':',linewidth=2, </a:t>
            </a:r>
            <a:r>
              <a:rPr lang="en-US" altLang="zh-CN" sz="14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markersize</a:t>
            </a:r>
            <a:r>
              <a:rPr lang="en-US" altLang="zh-CN" sz="1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=12) </a:t>
            </a:r>
            <a:endParaRPr lang="es-ES" altLang="zh-CN" sz="1400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575841"/>
            <a:ext cx="2016224" cy="13477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575841"/>
            <a:ext cx="2016224" cy="1347743"/>
          </a:xfrm>
          <a:prstGeom prst="rect">
            <a:avLst/>
          </a:prstGeom>
        </p:spPr>
      </p:pic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5233AD49-7CB7-8C3D-DBE2-F21D42820D97}"/>
              </a:ext>
            </a:extLst>
          </p:cNvPr>
          <p:cNvSpPr/>
          <p:nvPr/>
        </p:nvSpPr>
        <p:spPr bwMode="auto">
          <a:xfrm>
            <a:off x="3810354" y="2392311"/>
            <a:ext cx="1595309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0348"/>
              <a:gd name="adj6" fmla="val -57452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格式字符串</a:t>
            </a: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821ADDDF-C8C0-36C2-9AC2-E28FF11A636E}"/>
              </a:ext>
            </a:extLst>
          </p:cNvPr>
          <p:cNvSpPr/>
          <p:nvPr/>
        </p:nvSpPr>
        <p:spPr bwMode="auto">
          <a:xfrm>
            <a:off x="5616064" y="2469513"/>
            <a:ext cx="2723823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9643"/>
              <a:gd name="adj6" fmla="val -58716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关键字参数指定格式</a:t>
            </a:r>
          </a:p>
        </p:txBody>
      </p:sp>
    </p:spTree>
    <p:extLst>
      <p:ext uri="{BB962C8B-B14F-4D97-AF65-F5344CB8AC3E}">
        <p14:creationId xmlns:p14="http://schemas.microsoft.com/office/powerpoint/2010/main" val="373497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18508"/>
            <a:ext cx="5328592" cy="496753"/>
          </a:xfrm>
        </p:spPr>
        <p:txBody>
          <a:bodyPr/>
          <a:lstStyle/>
          <a:p>
            <a:pPr marL="0" indent="0">
              <a:buNone/>
            </a:pPr>
            <a:r>
              <a:rPr lang="pt-BR" altLang="zh-CN" sz="1800" b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plt.plot((2,1), (3,5), 'g^', (5,1), (6,8), 'r:')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26737"/>
            <a:ext cx="2883828" cy="1980652"/>
          </a:xfrm>
          <a:prstGeom prst="rect">
            <a:avLst/>
          </a:prstGeom>
        </p:spPr>
      </p:pic>
      <p:sp>
        <p:nvSpPr>
          <p:cNvPr id="7" name="内容占位符 2"/>
          <p:cNvSpPr txBox="1">
            <a:spLocks/>
          </p:cNvSpPr>
          <p:nvPr/>
        </p:nvSpPr>
        <p:spPr bwMode="auto">
          <a:xfrm>
            <a:off x="251520" y="2535746"/>
            <a:ext cx="5220726" cy="2088232"/>
          </a:xfrm>
          <a:prstGeom prst="rect">
            <a:avLst/>
          </a:prstGeom>
          <a:solidFill>
            <a:schemeClr val="lt1"/>
          </a:solidFill>
          <a:ln w="25400" cap="flat" cmpd="sng" algn="ctr">
            <a:solidFill>
              <a:schemeClr val="accent1"/>
            </a:solidFill>
            <a:prstDash val="solid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import </a:t>
            </a: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matplotlib.pyplot</a:t>
            </a: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as </a:t>
            </a: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plt</a:t>
            </a:r>
            <a:endParaRPr lang="en-US" altLang="zh-CN" sz="1800" b="0" kern="0" dirty="0"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plt.plot</a:t>
            </a: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([5,2,1], [3,1,3], '</a:t>
            </a: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yD</a:t>
            </a: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-', </a:t>
            </a:r>
            <a:r>
              <a:rPr lang="en-US" altLang="zh-CN" sz="1800" b="0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label='line 1', </a:t>
            </a: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linewidth</a:t>
            </a: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=4)</a:t>
            </a: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plt.legend</a:t>
            </a: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(</a:t>
            </a:r>
            <a:r>
              <a:rPr lang="en-US" altLang="zh-CN" sz="1800" b="0" kern="0" dirty="0" err="1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loc</a:t>
            </a:r>
            <a:r>
              <a:rPr lang="en-US" altLang="zh-CN" sz="1800" b="0" kern="0" dirty="0"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=‘center right')</a:t>
            </a:r>
            <a:endParaRPr lang="pt-BR" altLang="zh-CN" sz="1800" b="0" kern="0" dirty="0"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547" y="2708460"/>
            <a:ext cx="3068417" cy="2023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23528" y="167432"/>
            <a:ext cx="8275638" cy="488156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绘制线条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4CED11E4-40D7-DEB5-D420-3BC3128F566E}"/>
              </a:ext>
            </a:extLst>
          </p:cNvPr>
          <p:cNvSpPr/>
          <p:nvPr/>
        </p:nvSpPr>
        <p:spPr bwMode="auto">
          <a:xfrm>
            <a:off x="4563483" y="1852250"/>
            <a:ext cx="1313181" cy="430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11694"/>
              <a:gd name="adj6" fmla="val -35255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用于图例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A8AF01A6-20F1-AE4B-0B76-AE17F776ED1A}"/>
              </a:ext>
            </a:extLst>
          </p:cNvPr>
          <p:cNvSpPr/>
          <p:nvPr/>
        </p:nvSpPr>
        <p:spPr bwMode="auto">
          <a:xfrm>
            <a:off x="8160187" y="2122245"/>
            <a:ext cx="1140043" cy="655915"/>
          </a:xfrm>
          <a:prstGeom prst="cloudCallout">
            <a:avLst>
              <a:gd name="adj1" fmla="val -40331"/>
              <a:gd name="adj2" fmla="val 157418"/>
            </a:avLst>
          </a:prstGeom>
          <a:solidFill>
            <a:srgbClr val="FFFF00"/>
          </a:solidFill>
          <a:ln w="9525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图例</a:t>
            </a:r>
          </a:p>
        </p:txBody>
      </p:sp>
    </p:spTree>
    <p:extLst>
      <p:ext uri="{BB962C8B-B14F-4D97-AF65-F5344CB8AC3E}">
        <p14:creationId xmlns:p14="http://schemas.microsoft.com/office/powerpoint/2010/main" val="41504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58055"/>
            <a:ext cx="5114027" cy="650875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线条的类型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950883"/>
              </p:ext>
            </p:extLst>
          </p:nvPr>
        </p:nvGraphicFramePr>
        <p:xfrm>
          <a:off x="395536" y="915566"/>
          <a:ext cx="5114027" cy="227457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43953">
                  <a:extLst>
                    <a:ext uri="{9D8B030D-6E8A-4147-A177-3AD203B41FA5}">
                      <a16:colId xmlns:a16="http://schemas.microsoft.com/office/drawing/2014/main" val="1280626767"/>
                    </a:ext>
                  </a:extLst>
                </a:gridCol>
                <a:gridCol w="1313061">
                  <a:extLst>
                    <a:ext uri="{9D8B030D-6E8A-4147-A177-3AD203B41FA5}">
                      <a16:colId xmlns:a16="http://schemas.microsoft.com/office/drawing/2014/main" val="2132242261"/>
                    </a:ext>
                  </a:extLst>
                </a:gridCol>
                <a:gridCol w="1174844">
                  <a:extLst>
                    <a:ext uri="{9D8B030D-6E8A-4147-A177-3AD203B41FA5}">
                      <a16:colId xmlns:a16="http://schemas.microsoft.com/office/drawing/2014/main" val="3154885686"/>
                    </a:ext>
                  </a:extLst>
                </a:gridCol>
                <a:gridCol w="1382169">
                  <a:extLst>
                    <a:ext uri="{9D8B030D-6E8A-4147-A177-3AD203B41FA5}">
                      <a16:colId xmlns:a16="http://schemas.microsoft.com/office/drawing/2014/main" val="1877446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Linestyle</a:t>
                      </a:r>
                      <a:endParaRPr lang="en-US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ls</a:t>
                      </a:r>
                      <a:endParaRPr lang="en-US" altLang="zh-CN" b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600" b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Linestyle</a:t>
                      </a:r>
                      <a:endParaRPr lang="en-US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ls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365704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-‘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减号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画实线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:’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冒号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画短虚线</a:t>
                      </a: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5498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--’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个减号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画长虚线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‘None’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不画线</a:t>
                      </a: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62945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-.’</a:t>
                      </a: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（减号加点）</a:t>
                      </a:r>
                      <a:endParaRPr lang="en-US" altLang="zh-CN" sz="1600" b="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</a:t>
                      </a:r>
                      <a:r>
                        <a:rPr lang="zh-CN" altLang="en-US" sz="1600" b="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点划线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406995"/>
                  </a:ext>
                </a:extLst>
              </a:tr>
            </a:tbl>
          </a:graphicData>
        </a:graphic>
      </p:graphicFrame>
      <p:sp>
        <p:nvSpPr>
          <p:cNvPr id="5" name="标题 1"/>
          <p:cNvSpPr txBox="1">
            <a:spLocks/>
          </p:cNvSpPr>
          <p:nvPr/>
        </p:nvSpPr>
        <p:spPr bwMode="auto">
          <a:xfrm>
            <a:off x="6012160" y="158056"/>
            <a:ext cx="2401392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r>
              <a:rPr lang="zh-CN" altLang="en-US" sz="2400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线条的标记</a:t>
            </a:r>
          </a:p>
        </p:txBody>
      </p:sp>
      <p:graphicFrame>
        <p:nvGraphicFramePr>
          <p:cNvPr id="6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495166"/>
              </p:ext>
            </p:extLst>
          </p:nvPr>
        </p:nvGraphicFramePr>
        <p:xfrm>
          <a:off x="5736692" y="916732"/>
          <a:ext cx="2952328" cy="360045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08408">
                  <a:extLst>
                    <a:ext uri="{9D8B030D-6E8A-4147-A177-3AD203B41FA5}">
                      <a16:colId xmlns:a16="http://schemas.microsoft.com/office/drawing/2014/main" val="3767584012"/>
                    </a:ext>
                  </a:extLst>
                </a:gridCol>
                <a:gridCol w="771487">
                  <a:extLst>
                    <a:ext uri="{9D8B030D-6E8A-4147-A177-3AD203B41FA5}">
                      <a16:colId xmlns:a16="http://schemas.microsoft.com/office/drawing/2014/main" val="2908123616"/>
                    </a:ext>
                  </a:extLst>
                </a:gridCol>
                <a:gridCol w="559966">
                  <a:extLst>
                    <a:ext uri="{9D8B030D-6E8A-4147-A177-3AD203B41FA5}">
                      <a16:colId xmlns:a16="http://schemas.microsoft.com/office/drawing/2014/main" val="3119225258"/>
                    </a:ext>
                  </a:extLst>
                </a:gridCol>
                <a:gridCol w="712467">
                  <a:extLst>
                    <a:ext uri="{9D8B030D-6E8A-4147-A177-3AD203B41FA5}">
                      <a16:colId xmlns:a16="http://schemas.microsoft.com/office/drawing/2014/main" val="3742677862"/>
                    </a:ext>
                  </a:extLst>
                </a:gridCol>
              </a:tblGrid>
              <a:tr h="266084">
                <a:tc>
                  <a:txBody>
                    <a:bodyPr/>
                    <a:lstStyle/>
                    <a:p>
                      <a:r>
                        <a:rPr 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maker</a:t>
                      </a:r>
                      <a:endParaRPr lang="en-US" sz="1300" b="1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300" b="1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300" b="1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300" b="1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1315181878"/>
                  </a:ext>
                </a:extLst>
              </a:tr>
              <a:tr h="266084">
                <a:tc>
                  <a:txBody>
                    <a:bodyPr/>
                    <a:lstStyle/>
                    <a:p>
                      <a:r>
                        <a:rPr 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‘o’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圆圈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1965221402"/>
                  </a:ext>
                </a:extLst>
              </a:tr>
              <a:tr h="266084">
                <a:tc>
                  <a:txBody>
                    <a:bodyPr/>
                    <a:lstStyle/>
                    <a:p>
                      <a:r>
                        <a:rPr 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‘D’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菱形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‘s’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正方形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2906051203"/>
                  </a:ext>
                </a:extLst>
              </a:tr>
              <a:tr h="266084"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‘h’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六边形</a:t>
                      </a:r>
                      <a:r>
                        <a:rPr lang="en-US" altLang="zh-CN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‘*’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星号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2410641203"/>
                  </a:ext>
                </a:extLst>
              </a:tr>
              <a:tr h="266084"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‘H’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六边形</a:t>
                      </a:r>
                      <a:r>
                        <a:rPr lang="en-US" altLang="zh-CN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‘d’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小菱形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2266021788"/>
                  </a:ext>
                </a:extLst>
              </a:tr>
              <a:tr h="440702"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水平线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‘v’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下三角形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2540703612"/>
                  </a:ext>
                </a:extLst>
              </a:tr>
              <a:tr h="440702"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八边形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左三角形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1744328377"/>
                  </a:ext>
                </a:extLst>
              </a:tr>
              <a:tr h="440702"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‘p’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五边形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右三角形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3454637574"/>
                  </a:ext>
                </a:extLst>
              </a:tr>
              <a:tr h="440702"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上三角形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1218528738"/>
                  </a:ext>
                </a:extLst>
              </a:tr>
              <a:tr h="241139"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加号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3934089903"/>
                  </a:ext>
                </a:extLst>
              </a:tr>
              <a:tr h="266084">
                <a:tc>
                  <a:txBody>
                    <a:bodyPr/>
                    <a:lstStyle/>
                    <a:p>
                      <a:r>
                        <a:rPr lang="it-IT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‘None’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‘x’</a:t>
                      </a:r>
                    </a:p>
                  </a:txBody>
                  <a:tcPr marL="20788" marR="20788" marT="20788" marB="20788" anchor="ctr"/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</a:p>
                  </a:txBody>
                  <a:tcPr marL="20788" marR="20788" marT="20788" marB="20788" anchor="ctr"/>
                </a:tc>
                <a:extLst>
                  <a:ext uri="{0D108BD9-81ED-4DB2-BD59-A6C34878D82A}">
                    <a16:rowId xmlns:a16="http://schemas.microsoft.com/office/drawing/2014/main" val="8685443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8D7D03E-307C-DF76-8BC5-3B106823FBD6}"/>
              </a:ext>
            </a:extLst>
          </p:cNvPr>
          <p:cNvSpPr txBox="1"/>
          <p:nvPr/>
        </p:nvSpPr>
        <p:spPr>
          <a:xfrm>
            <a:off x="396995" y="3204508"/>
            <a:ext cx="5112568" cy="193899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400" b="1" dirty="0"/>
              <a:t>常用的关键字：</a:t>
            </a:r>
            <a:endParaRPr lang="en-US" altLang="zh-CN" sz="1400" b="1" dirty="0"/>
          </a:p>
          <a:p>
            <a:r>
              <a:rPr lang="en-US" altLang="zh-CN" sz="1400" b="1" dirty="0"/>
              <a:t>color </a:t>
            </a:r>
            <a:r>
              <a:rPr lang="zh-CN" altLang="en-US" sz="1400" b="1" dirty="0"/>
              <a:t>颜色控制，</a:t>
            </a:r>
            <a:r>
              <a:rPr lang="en-US" altLang="zh-CN" sz="1400" b="1" dirty="0"/>
              <a:t>color=</a:t>
            </a:r>
            <a:r>
              <a:rPr lang="zh-CN" altLang="en-US" sz="1400" b="1" dirty="0"/>
              <a:t>‘</a:t>
            </a:r>
            <a:r>
              <a:rPr lang="en-US" altLang="zh-CN" sz="1400" b="1" dirty="0"/>
              <a:t>green’</a:t>
            </a:r>
          </a:p>
          <a:p>
            <a:r>
              <a:rPr lang="en-US" altLang="zh-CN" sz="1400" b="1" dirty="0" err="1"/>
              <a:t>linestyle</a:t>
            </a:r>
            <a:r>
              <a:rPr lang="en-US" altLang="zh-CN" sz="1400" b="1" dirty="0"/>
              <a:t>  </a:t>
            </a:r>
            <a:r>
              <a:rPr lang="zh-CN" altLang="en-US" sz="1400" b="1" dirty="0"/>
              <a:t>线形控制  </a:t>
            </a:r>
            <a:r>
              <a:rPr lang="en-US" altLang="zh-CN" sz="1400" b="1" dirty="0" err="1"/>
              <a:t>linestyle</a:t>
            </a:r>
            <a:r>
              <a:rPr lang="en-US" altLang="zh-CN" sz="1400" b="1" dirty="0"/>
              <a:t>=‘dashed’</a:t>
            </a:r>
          </a:p>
          <a:p>
            <a:r>
              <a:rPr lang="en-US" altLang="zh-CN" sz="1400" b="1" dirty="0"/>
              <a:t>linewidth  </a:t>
            </a:r>
            <a:r>
              <a:rPr lang="zh-CN" altLang="en-US" sz="1400" b="1" dirty="0"/>
              <a:t>线形控制  </a:t>
            </a:r>
            <a:r>
              <a:rPr lang="en-US" altLang="zh-CN" sz="1400" b="1" dirty="0"/>
              <a:t>linewidth=4</a:t>
            </a:r>
          </a:p>
          <a:p>
            <a:r>
              <a:rPr lang="zh-CN" altLang="en-US" sz="1400" b="1" dirty="0"/>
              <a:t>标记控制：</a:t>
            </a:r>
            <a:endParaRPr lang="en-US" altLang="zh-CN" sz="1400" b="1" dirty="0"/>
          </a:p>
          <a:p>
            <a:r>
              <a:rPr lang="en-US" altLang="zh-CN" sz="1400" b="1" dirty="0"/>
              <a:t>marker=‘o’  </a:t>
            </a:r>
            <a:r>
              <a:rPr lang="zh-CN" altLang="en-US" sz="1400" b="1" dirty="0"/>
              <a:t>标记符号</a:t>
            </a:r>
            <a:endParaRPr lang="en-US" altLang="zh-CN" sz="1400" b="1" dirty="0"/>
          </a:p>
          <a:p>
            <a:r>
              <a:rPr lang="en-US" altLang="zh-CN" sz="1400" b="1" dirty="0" err="1"/>
              <a:t>markfacecolor</a:t>
            </a:r>
            <a:r>
              <a:rPr lang="en-US" altLang="zh-CN" sz="1400" b="1" dirty="0"/>
              <a:t>=‘blue’   </a:t>
            </a:r>
            <a:r>
              <a:rPr lang="zh-CN" altLang="en-US" sz="1400" b="1" dirty="0"/>
              <a:t>标记颜色</a:t>
            </a:r>
            <a:endParaRPr lang="en-US" altLang="zh-CN" sz="1400" b="1" dirty="0"/>
          </a:p>
          <a:p>
            <a:r>
              <a:rPr lang="en-US" altLang="zh-CN" sz="1400" b="1" dirty="0" err="1"/>
              <a:t>markersize</a:t>
            </a:r>
            <a:r>
              <a:rPr lang="en-US" altLang="zh-CN" sz="1400" b="1" dirty="0"/>
              <a:t>=12    </a:t>
            </a:r>
            <a:r>
              <a:rPr lang="zh-CN" altLang="en-US" sz="1400" b="1" dirty="0"/>
              <a:t>标记大小</a:t>
            </a:r>
            <a:endParaRPr lang="en-US" altLang="zh-CN" sz="1400" b="1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8498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11188" y="465138"/>
            <a:ext cx="7273925" cy="528637"/>
          </a:xfrm>
        </p:spPr>
        <p:txBody>
          <a:bodyPr/>
          <a:lstStyle/>
          <a:p>
            <a:pPr algn="ctr" eaLnBrk="1" hangingPunct="1"/>
            <a:r>
              <a:rPr lang="zh-CN" altLang="en-US" sz="2400" b="1" dirty="0">
                <a:solidFill>
                  <a:srgbClr val="0070C0"/>
                </a:solidFill>
              </a:rPr>
              <a:t>颜色控制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849766"/>
              </p:ext>
            </p:extLst>
          </p:nvPr>
        </p:nvGraphicFramePr>
        <p:xfrm>
          <a:off x="1619672" y="1203598"/>
          <a:ext cx="5616624" cy="329564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缩写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  <a:endParaRPr lang="zh-CN" sz="2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</a:t>
                      </a: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red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'g'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green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‘b'</a:t>
                      </a:r>
                      <a:endParaRPr lang="zh-CN" sz="2000" kern="1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blue</a:t>
                      </a:r>
                      <a:endParaRPr lang="zh-CN" sz="2000" kern="1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'c'</a:t>
                      </a:r>
                      <a:endParaRPr lang="zh-CN" sz="2000" kern="100" dirty="0">
                        <a:solidFill>
                          <a:srgbClr val="00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cyan</a:t>
                      </a:r>
                      <a:endParaRPr lang="zh-CN" sz="2000" kern="100" dirty="0">
                        <a:solidFill>
                          <a:srgbClr val="00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'm'</a:t>
                      </a:r>
                      <a:endParaRPr lang="zh-CN" sz="2000" kern="100" dirty="0">
                        <a:solidFill>
                          <a:srgbClr val="FF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magenta</a:t>
                      </a:r>
                      <a:endParaRPr lang="zh-CN" sz="2000" kern="100" dirty="0">
                        <a:solidFill>
                          <a:srgbClr val="FF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B4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FF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'y'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FF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yellow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'w'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>
                    <a:solidFill>
                      <a:srgbClr val="0000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white</a:t>
                      </a:r>
                    </a:p>
                  </a:txBody>
                  <a:tcPr marL="68581" marR="68581" marT="0" marB="0">
                    <a:solidFill>
                      <a:srgbClr val="0000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'k'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black</a:t>
                      </a:r>
                      <a:endParaRPr lang="zh-CN" sz="2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 marL="68581" marR="68581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53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4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E08DD-989F-41E2-AF0C-6F5C7164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92" y="264691"/>
            <a:ext cx="8275638" cy="650875"/>
          </a:xfrm>
        </p:spPr>
        <p:txBody>
          <a:bodyPr/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8.2 </a:t>
            </a:r>
            <a:r>
              <a:rPr lang="zh-CN" altLang="zh-CN" sz="2400" b="1" dirty="0"/>
              <a:t>绘制三角函数</a:t>
            </a:r>
            <a:r>
              <a:rPr lang="en-US" altLang="zh-CN" sz="2400" b="1" dirty="0"/>
              <a:t>y=sin(x)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y=cos(x)</a:t>
            </a:r>
            <a:r>
              <a:rPr lang="zh-CN" altLang="zh-CN" sz="2400" b="1" dirty="0"/>
              <a:t>的曲线图</a:t>
            </a:r>
            <a:endParaRPr lang="zh-CN" altLang="en-US" sz="24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387DC-1030-43B7-9A2E-5030A7ECA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131590"/>
            <a:ext cx="8293100" cy="374441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b="0" dirty="0"/>
              <a:t>思路：</a:t>
            </a:r>
            <a:endParaRPr lang="en-US" altLang="zh-CN" b="0" dirty="0"/>
          </a:p>
          <a:p>
            <a:pPr marL="400050" lvl="1" indent="0">
              <a:buNone/>
            </a:pPr>
            <a:r>
              <a:rPr lang="en-US" altLang="zh-CN" dirty="0"/>
              <a:t>x </a:t>
            </a:r>
            <a:r>
              <a:rPr lang="zh-CN" altLang="en-US" dirty="0"/>
              <a:t>：</a:t>
            </a:r>
            <a:r>
              <a:rPr lang="en-US" altLang="zh-CN" dirty="0"/>
              <a:t>[-</a:t>
            </a:r>
            <a:r>
              <a:rPr lang="el-GR" altLang="zh-CN" dirty="0"/>
              <a:t>π</a:t>
            </a:r>
            <a:r>
              <a:rPr lang="en-US" altLang="zh-CN" dirty="0"/>
              <a:t>,</a:t>
            </a:r>
            <a:r>
              <a:rPr lang="el-GR" altLang="zh-CN" dirty="0"/>
              <a:t>π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endParaRPr lang="en-US" altLang="zh-CN" dirty="0"/>
          </a:p>
          <a:p>
            <a:pPr marL="400050" lvl="1" indent="0">
              <a:buNone/>
            </a:pPr>
            <a:r>
              <a:rPr lang="zh-CN" altLang="en-US" dirty="0"/>
              <a:t>对应的</a:t>
            </a:r>
            <a:r>
              <a:rPr lang="en-US" altLang="zh-CN" dirty="0"/>
              <a:t>y</a:t>
            </a:r>
            <a:r>
              <a:rPr lang="zh-CN" altLang="en-US" dirty="0"/>
              <a:t>值：</a:t>
            </a:r>
            <a:r>
              <a:rPr lang="en-US" altLang="zh-CN" dirty="0"/>
              <a:t>sin(x),cos(x)</a:t>
            </a:r>
          </a:p>
          <a:p>
            <a:pPr marL="400050" lvl="1" indent="0">
              <a:buNone/>
            </a:pPr>
            <a:endParaRPr lang="en-US" altLang="zh-CN" dirty="0"/>
          </a:p>
          <a:p>
            <a:pPr marL="400050" lvl="1" indent="0">
              <a:buNone/>
            </a:pPr>
            <a:endParaRPr lang="en-US" altLang="zh-CN" dirty="0"/>
          </a:p>
          <a:p>
            <a:pPr marL="400050" lvl="1" indent="0">
              <a:buNone/>
            </a:pPr>
            <a:r>
              <a:rPr lang="zh-CN" altLang="en-US" dirty="0"/>
              <a:t>绘制一个点：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800" b="0" dirty="0"/>
              <a:t> </a:t>
            </a:r>
            <a:r>
              <a:rPr lang="en-US" altLang="zh-CN" sz="1800" b="0" dirty="0" err="1"/>
              <a:t>plt.plot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x,sin,marker</a:t>
            </a:r>
            <a:r>
              <a:rPr lang="en-US" altLang="zh-CN" sz="1800" b="0" dirty="0"/>
              <a:t>='*')  #</a:t>
            </a:r>
            <a:r>
              <a:rPr lang="zh-CN" altLang="zh-CN" sz="1800" b="0" dirty="0"/>
              <a:t>在</a:t>
            </a:r>
            <a:r>
              <a:rPr lang="en-US" altLang="zh-CN" sz="1800" b="0" dirty="0"/>
              <a:t>sin</a:t>
            </a:r>
            <a:r>
              <a:rPr lang="zh-CN" altLang="zh-CN" sz="1800" b="0" dirty="0"/>
              <a:t>函数的每个坐标点输出一个星形标记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800" b="0" dirty="0"/>
              <a:t> </a:t>
            </a:r>
            <a:r>
              <a:rPr lang="en-US" altLang="zh-CN" sz="1800" b="0" dirty="0" err="1"/>
              <a:t>plt.plot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x,cos,marker</a:t>
            </a:r>
            <a:r>
              <a:rPr lang="en-US" altLang="zh-CN" sz="1800" b="0" dirty="0"/>
              <a:t>='D') #</a:t>
            </a:r>
            <a:r>
              <a:rPr lang="zh-CN" altLang="zh-CN" sz="1800" b="0" dirty="0"/>
              <a:t>在</a:t>
            </a:r>
            <a:r>
              <a:rPr lang="en-US" altLang="zh-CN" sz="1800" b="0" dirty="0"/>
              <a:t>cos</a:t>
            </a:r>
            <a:r>
              <a:rPr lang="zh-CN" altLang="zh-CN" sz="1800" b="0" dirty="0"/>
              <a:t>函数的每个坐标点输出一个菱形标记</a:t>
            </a:r>
            <a:endParaRPr lang="en-US" altLang="zh-CN" sz="1800" b="0" dirty="0"/>
          </a:p>
          <a:p>
            <a:pPr marL="0" indent="0">
              <a:buNone/>
            </a:pPr>
            <a:r>
              <a:rPr lang="en-US" altLang="zh-CN" sz="2000" b="0" dirty="0"/>
              <a:t>   x</a:t>
            </a:r>
            <a:r>
              <a:rPr lang="zh-CN" altLang="en-US" sz="2000" b="0" dirty="0"/>
              <a:t>以</a:t>
            </a:r>
            <a:r>
              <a:rPr lang="en-US" altLang="zh-CN" sz="2000" b="0" dirty="0"/>
              <a:t>0.1 </a:t>
            </a:r>
            <a:r>
              <a:rPr lang="zh-CN" altLang="en-US" sz="2000" b="0" dirty="0"/>
              <a:t>递增，逐点绘制</a:t>
            </a:r>
            <a:endParaRPr lang="en-US" altLang="zh-CN" sz="2000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E18B13-34C1-4895-AACD-A3835DD1BA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26166" y="1203598"/>
            <a:ext cx="2989968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954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360672" y="166437"/>
            <a:ext cx="8569448" cy="536575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例</a:t>
            </a:r>
            <a:r>
              <a:rPr lang="en-US" altLang="zh-CN" sz="2400" b="1" dirty="0"/>
              <a:t>8.2 </a:t>
            </a:r>
            <a:r>
              <a:rPr lang="zh-CN" altLang="zh-CN" sz="2400" b="1" dirty="0"/>
              <a:t>绘制三角函数</a:t>
            </a:r>
            <a:r>
              <a:rPr lang="en-US" altLang="zh-CN" sz="2400" b="1" dirty="0"/>
              <a:t>y=sin(x)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y=</a:t>
            </a:r>
            <a:r>
              <a:rPr lang="en-US" altLang="zh-CN" sz="2400" b="1" dirty="0" err="1"/>
              <a:t>cos</a:t>
            </a:r>
            <a:r>
              <a:rPr lang="en-US" altLang="zh-CN" sz="2400" b="1" dirty="0"/>
              <a:t>(x)</a:t>
            </a:r>
            <a:r>
              <a:rPr lang="zh-CN" altLang="zh-CN" sz="2400" b="1" dirty="0"/>
              <a:t>的曲线图</a:t>
            </a:r>
            <a:endParaRPr lang="zh-CN" altLang="en-US" sz="2400" b="1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23528" y="771550"/>
            <a:ext cx="8641208" cy="4104456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zh-CN" altLang="zh-CN" sz="2000" b="0" dirty="0"/>
              <a:t>调用</a:t>
            </a:r>
            <a:r>
              <a:rPr lang="en-US" altLang="zh-CN" sz="2000" b="0" dirty="0"/>
              <a:t>math</a:t>
            </a:r>
            <a:r>
              <a:rPr lang="zh-CN" altLang="zh-CN" sz="2000" b="0" dirty="0"/>
              <a:t>库中的三角函数，利用</a:t>
            </a:r>
            <a:r>
              <a:rPr lang="en-US" altLang="zh-CN" sz="2000" b="0" dirty="0"/>
              <a:t>plot</a:t>
            </a:r>
            <a:r>
              <a:rPr lang="zh-CN" altLang="zh-CN" sz="2000" b="0" dirty="0"/>
              <a:t>函数输出标记来绘制曲线</a:t>
            </a:r>
            <a:endParaRPr lang="en-US" altLang="zh-CN" sz="2000" b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import   math                                   #</a:t>
            </a:r>
            <a:r>
              <a:rPr lang="zh-CN" altLang="zh-CN" sz="1600" b="0" dirty="0"/>
              <a:t>导入数学函数库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import   </a:t>
            </a:r>
            <a:r>
              <a:rPr lang="en-US" altLang="zh-CN" sz="1600" b="0" dirty="0" err="1"/>
              <a:t>matplotlib.pyplot</a:t>
            </a:r>
            <a:r>
              <a:rPr lang="en-US" altLang="zh-CN" sz="1600" b="0" dirty="0"/>
              <a:t> as </a:t>
            </a:r>
            <a:r>
              <a:rPr lang="en-US" altLang="zh-CN" sz="1600" b="0" dirty="0" err="1"/>
              <a:t>plt</a:t>
            </a:r>
            <a:r>
              <a:rPr lang="en-US" altLang="zh-CN" sz="1600" b="0" dirty="0"/>
              <a:t>     #</a:t>
            </a:r>
            <a:r>
              <a:rPr lang="zh-CN" altLang="zh-CN" sz="1600" b="0" dirty="0"/>
              <a:t>导入绘图库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/>
              <a:t>plt.title</a:t>
            </a:r>
            <a:r>
              <a:rPr lang="en-US" altLang="zh-CN" sz="1600" b="0" dirty="0"/>
              <a:t>("</a:t>
            </a:r>
            <a:r>
              <a:rPr lang="zh-CN" altLang="zh-CN" sz="1600" b="0" dirty="0"/>
              <a:t>三角函数曲线</a:t>
            </a:r>
            <a:r>
              <a:rPr lang="en-US" altLang="zh-CN" sz="1600" b="0" dirty="0"/>
              <a:t>")                    #</a:t>
            </a:r>
            <a:r>
              <a:rPr lang="zh-CN" altLang="zh-CN" sz="1600" b="0" dirty="0"/>
              <a:t>显示图表标题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/>
              <a:t>plt.ylim</a:t>
            </a:r>
            <a:r>
              <a:rPr lang="en-US" altLang="zh-CN" sz="1600" b="0" dirty="0"/>
              <a:t>(-1,2)                                     #</a:t>
            </a:r>
            <a:r>
              <a:rPr lang="zh-CN" altLang="zh-CN" sz="1600" b="0" dirty="0"/>
              <a:t>设置</a:t>
            </a:r>
            <a:r>
              <a:rPr lang="en-US" altLang="zh-CN" sz="1600" b="0" dirty="0"/>
              <a:t>y</a:t>
            </a:r>
            <a:r>
              <a:rPr lang="zh-CN" altLang="zh-CN" sz="1600" b="0" dirty="0"/>
              <a:t>轴的取值范围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/>
              <a:t>plt.rcParams</a:t>
            </a:r>
            <a:r>
              <a:rPr lang="en-US" altLang="zh-CN" sz="1600" b="0" dirty="0"/>
              <a:t>['</a:t>
            </a:r>
            <a:r>
              <a:rPr lang="en-US" altLang="zh-CN" sz="1600" b="0" dirty="0" err="1"/>
              <a:t>font.sans</a:t>
            </a:r>
            <a:r>
              <a:rPr lang="en-US" altLang="zh-CN" sz="1600" b="0" dirty="0"/>
              <a:t>-serif']=['</a:t>
            </a:r>
            <a:r>
              <a:rPr lang="en-US" altLang="zh-CN" sz="1600" b="0" dirty="0" err="1"/>
              <a:t>SimHei</a:t>
            </a:r>
            <a:r>
              <a:rPr lang="en-US" altLang="zh-CN" sz="1600" b="0" dirty="0"/>
              <a:t>']     #</a:t>
            </a:r>
            <a:r>
              <a:rPr lang="zh-CN" altLang="zh-CN" sz="1600" b="0" dirty="0"/>
              <a:t>设置中文字体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/>
              <a:t>plt.rcParams</a:t>
            </a:r>
            <a:r>
              <a:rPr lang="en-US" altLang="zh-CN" sz="1600" b="0" dirty="0"/>
              <a:t>['</a:t>
            </a:r>
            <a:r>
              <a:rPr lang="en-US" altLang="zh-CN" sz="1600" b="0" dirty="0" err="1"/>
              <a:t>axes.unicode_minus</a:t>
            </a:r>
            <a:r>
              <a:rPr lang="en-US" altLang="zh-CN" sz="1600" b="0" dirty="0"/>
              <a:t>']=False   #</a:t>
            </a:r>
            <a:r>
              <a:rPr lang="zh-CN" altLang="zh-CN" sz="1600" b="0" dirty="0"/>
              <a:t>显示负号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x=-</a:t>
            </a:r>
            <a:r>
              <a:rPr lang="en-US" altLang="zh-CN" sz="1600" b="0" dirty="0" err="1"/>
              <a:t>math.pi</a:t>
            </a:r>
            <a:r>
              <a:rPr lang="en-US" altLang="zh-CN" sz="1600" b="0" dirty="0"/>
              <a:t>             </a:t>
            </a:r>
            <a:endParaRPr lang="zh-CN" altLang="zh-CN" sz="1600" b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00B050"/>
                </a:solidFill>
              </a:rPr>
              <a:t>while x&lt;=</a:t>
            </a:r>
            <a:r>
              <a:rPr lang="en-US" altLang="zh-CN" sz="1600" b="0" dirty="0" err="1">
                <a:solidFill>
                  <a:srgbClr val="00B050"/>
                </a:solidFill>
              </a:rPr>
              <a:t>math.pi</a:t>
            </a:r>
            <a:r>
              <a:rPr lang="en-US" altLang="zh-CN" sz="1600" b="0" dirty="0">
                <a:solidFill>
                  <a:srgbClr val="00B050"/>
                </a:solidFill>
              </a:rPr>
              <a:t>:</a:t>
            </a:r>
            <a:endParaRPr lang="zh-CN" altLang="zh-CN" sz="1600" b="0" dirty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    sin=</a:t>
            </a:r>
            <a:r>
              <a:rPr lang="en-US" altLang="zh-CN" sz="1600" b="0" dirty="0" err="1"/>
              <a:t>math.sin</a:t>
            </a:r>
            <a:r>
              <a:rPr lang="en-US" altLang="zh-CN" sz="1600" b="0" dirty="0"/>
              <a:t>(x)                   #</a:t>
            </a:r>
            <a:r>
              <a:rPr lang="zh-CN" altLang="zh-CN" sz="1600" b="0" dirty="0"/>
              <a:t>计算当前坐标</a:t>
            </a:r>
            <a:r>
              <a:rPr lang="en-US" altLang="zh-CN" sz="1600" b="0" dirty="0"/>
              <a:t>x</a:t>
            </a:r>
            <a:r>
              <a:rPr lang="zh-CN" altLang="zh-CN" sz="1600" b="0" dirty="0"/>
              <a:t>对应的</a:t>
            </a:r>
            <a:r>
              <a:rPr lang="en-US" altLang="zh-CN" sz="1600" b="0" dirty="0"/>
              <a:t>sin</a:t>
            </a:r>
            <a:r>
              <a:rPr lang="zh-CN" altLang="zh-CN" sz="1600" b="0" dirty="0"/>
              <a:t>函数值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    cos=</a:t>
            </a:r>
            <a:r>
              <a:rPr lang="en-US" altLang="zh-CN" sz="1600" b="0" dirty="0" err="1"/>
              <a:t>math.cos</a:t>
            </a:r>
            <a:r>
              <a:rPr lang="en-US" altLang="zh-CN" sz="1600" b="0" dirty="0"/>
              <a:t>(x)                 #</a:t>
            </a:r>
            <a:r>
              <a:rPr lang="zh-CN" altLang="zh-CN" sz="1600" b="0" dirty="0"/>
              <a:t>计算当前坐标</a:t>
            </a:r>
            <a:r>
              <a:rPr lang="en-US" altLang="zh-CN" sz="1600" b="0" dirty="0"/>
              <a:t>x</a:t>
            </a:r>
            <a:r>
              <a:rPr lang="zh-CN" altLang="zh-CN" sz="1600" b="0" dirty="0"/>
              <a:t>对应的</a:t>
            </a:r>
            <a:r>
              <a:rPr lang="en-US" altLang="zh-CN" sz="1600" b="0" dirty="0" err="1"/>
              <a:t>cos</a:t>
            </a:r>
            <a:r>
              <a:rPr lang="zh-CN" altLang="zh-CN" sz="1600" b="0" dirty="0"/>
              <a:t>函数值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C00000"/>
                </a:solidFill>
              </a:rPr>
              <a:t>    </a:t>
            </a:r>
            <a:r>
              <a:rPr lang="en-US" altLang="zh-CN" sz="1600" b="0" dirty="0" err="1">
                <a:solidFill>
                  <a:srgbClr val="C00000"/>
                </a:solidFill>
              </a:rPr>
              <a:t>plt.plot</a:t>
            </a:r>
            <a:r>
              <a:rPr lang="en-US" altLang="zh-CN" sz="1600" b="0" dirty="0">
                <a:solidFill>
                  <a:srgbClr val="C00000"/>
                </a:solidFill>
              </a:rPr>
              <a:t>(</a:t>
            </a:r>
            <a:r>
              <a:rPr lang="en-US" altLang="zh-CN" sz="1600" b="0" dirty="0" err="1">
                <a:solidFill>
                  <a:srgbClr val="C00000"/>
                </a:solidFill>
              </a:rPr>
              <a:t>x,sin,marker</a:t>
            </a:r>
            <a:r>
              <a:rPr lang="en-US" altLang="zh-CN" sz="1600" b="0" dirty="0">
                <a:solidFill>
                  <a:srgbClr val="C00000"/>
                </a:solidFill>
              </a:rPr>
              <a:t>='*')     </a:t>
            </a:r>
            <a:r>
              <a:rPr lang="en-US" altLang="zh-CN" sz="1600" b="0" dirty="0">
                <a:solidFill>
                  <a:schemeClr val="tx1"/>
                </a:solidFill>
              </a:rPr>
              <a:t>#</a:t>
            </a:r>
            <a:r>
              <a:rPr lang="zh-CN" altLang="zh-CN" sz="1600" b="0" dirty="0">
                <a:solidFill>
                  <a:schemeClr val="tx1"/>
                </a:solidFill>
              </a:rPr>
              <a:t>在</a:t>
            </a:r>
            <a:r>
              <a:rPr lang="en-US" altLang="zh-CN" sz="1600" b="0" dirty="0">
                <a:solidFill>
                  <a:schemeClr val="tx1"/>
                </a:solidFill>
              </a:rPr>
              <a:t>sin</a:t>
            </a:r>
            <a:r>
              <a:rPr lang="zh-CN" altLang="zh-CN" sz="1600" b="0" dirty="0">
                <a:solidFill>
                  <a:schemeClr val="tx1"/>
                </a:solidFill>
              </a:rPr>
              <a:t>函数的每个坐标点输出一个星形标记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C00000"/>
                </a:solidFill>
              </a:rPr>
              <a:t>    </a:t>
            </a:r>
            <a:r>
              <a:rPr lang="en-US" altLang="zh-CN" sz="1600" b="0" dirty="0" err="1">
                <a:solidFill>
                  <a:srgbClr val="C00000"/>
                </a:solidFill>
              </a:rPr>
              <a:t>plt.plot</a:t>
            </a:r>
            <a:r>
              <a:rPr lang="en-US" altLang="zh-CN" sz="1600" b="0" dirty="0">
                <a:solidFill>
                  <a:srgbClr val="C00000"/>
                </a:solidFill>
              </a:rPr>
              <a:t>(</a:t>
            </a:r>
            <a:r>
              <a:rPr lang="en-US" altLang="zh-CN" sz="1600" b="0" dirty="0" err="1">
                <a:solidFill>
                  <a:srgbClr val="C00000"/>
                </a:solidFill>
              </a:rPr>
              <a:t>x,cos,marker</a:t>
            </a:r>
            <a:r>
              <a:rPr lang="en-US" altLang="zh-CN" sz="1600" b="0" dirty="0">
                <a:solidFill>
                  <a:srgbClr val="C00000"/>
                </a:solidFill>
              </a:rPr>
              <a:t>='D')   </a:t>
            </a:r>
            <a:r>
              <a:rPr lang="en-US" altLang="zh-CN" sz="1600" b="0" dirty="0">
                <a:solidFill>
                  <a:schemeClr val="tx1"/>
                </a:solidFill>
              </a:rPr>
              <a:t>#</a:t>
            </a:r>
            <a:r>
              <a:rPr lang="zh-CN" altLang="zh-CN" sz="1600" b="0" dirty="0">
                <a:solidFill>
                  <a:schemeClr val="tx1"/>
                </a:solidFill>
              </a:rPr>
              <a:t>在</a:t>
            </a:r>
            <a:r>
              <a:rPr lang="en-US" altLang="zh-CN" sz="1600" b="0" dirty="0" err="1">
                <a:solidFill>
                  <a:schemeClr val="tx1"/>
                </a:solidFill>
              </a:rPr>
              <a:t>cos</a:t>
            </a:r>
            <a:r>
              <a:rPr lang="zh-CN" altLang="zh-CN" sz="1600" b="0" dirty="0">
                <a:solidFill>
                  <a:schemeClr val="tx1"/>
                </a:solidFill>
              </a:rPr>
              <a:t>函数的每个坐标点输出一个菱形标记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    x+=0.1</a:t>
            </a:r>
            <a:endParaRPr lang="zh-CN" altLang="zh-CN" sz="1600" b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/>
              <a:t>plt.show</a:t>
            </a:r>
            <a:r>
              <a:rPr lang="en-US" altLang="zh-CN" sz="1600" b="0" dirty="0"/>
              <a:t>()</a:t>
            </a:r>
            <a:endParaRPr lang="zh-CN" altLang="zh-CN" b="0" dirty="0"/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6766856" y="1203598"/>
            <a:ext cx="2197880" cy="1800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55776" y="4587974"/>
            <a:ext cx="6264944" cy="215444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/>
              <a:t>绘制函数放在循环内效率低，当循环次数多时绘制速度会很慢，如何改进？？？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12291" grpId="0" uiExpand="1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8511" y="1059582"/>
            <a:ext cx="8275638" cy="434851"/>
          </a:xfrm>
        </p:spPr>
        <p:txBody>
          <a:bodyPr/>
          <a:lstStyle/>
          <a:p>
            <a:r>
              <a:rPr lang="en-US" altLang="zh-CN" sz="2000" b="1" dirty="0"/>
              <a:t>#</a:t>
            </a:r>
            <a:r>
              <a:rPr lang="zh-CN" altLang="en-US" sz="2000" b="1" dirty="0"/>
              <a:t>改进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将绘制函数放到循环外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在循环内把计算得到的数据保存到列表中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3882" y="1635646"/>
            <a:ext cx="8064896" cy="324108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x=-</a:t>
            </a:r>
            <a:r>
              <a:rPr lang="en-US" altLang="zh-CN" sz="1800" b="0" dirty="0" err="1"/>
              <a:t>math.pi;xx</a:t>
            </a:r>
            <a:r>
              <a:rPr lang="en-US" altLang="zh-CN" sz="1800" b="0" dirty="0"/>
              <a:t>=[]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sinx</a:t>
            </a:r>
            <a:r>
              <a:rPr lang="en-US" altLang="zh-CN" sz="1800" b="0" dirty="0"/>
              <a:t>=[]; </a:t>
            </a:r>
            <a:r>
              <a:rPr lang="en-US" altLang="zh-CN" sz="1800" b="0" dirty="0" err="1"/>
              <a:t>cosx</a:t>
            </a:r>
            <a:r>
              <a:rPr lang="en-US" altLang="zh-CN" sz="1800" b="0" dirty="0"/>
              <a:t>=[]   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while x&lt;=</a:t>
            </a:r>
            <a:r>
              <a:rPr lang="en-US" altLang="zh-CN" sz="1800" b="0" dirty="0" err="1"/>
              <a:t>math.pi</a:t>
            </a:r>
            <a:r>
              <a:rPr lang="en-US" altLang="zh-CN" sz="1800" b="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    </a:t>
            </a:r>
            <a:r>
              <a:rPr lang="en-US" altLang="zh-CN" sz="1800" b="0" dirty="0" err="1"/>
              <a:t>sinx.append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math.sin</a:t>
            </a:r>
            <a:r>
              <a:rPr lang="en-US" altLang="zh-CN" sz="1800" b="0" dirty="0"/>
              <a:t>(x))     #</a:t>
            </a:r>
            <a:r>
              <a:rPr lang="zh-CN" altLang="en-US" sz="1800" b="0" dirty="0"/>
              <a:t>计算当前坐标</a:t>
            </a:r>
            <a:r>
              <a:rPr lang="en-US" altLang="zh-CN" sz="1800" b="0" dirty="0"/>
              <a:t>x</a:t>
            </a:r>
            <a:r>
              <a:rPr lang="zh-CN" altLang="en-US" sz="1800" b="0" dirty="0"/>
              <a:t>对应的</a:t>
            </a:r>
            <a:r>
              <a:rPr lang="en-US" altLang="zh-CN" sz="1800" b="0" dirty="0"/>
              <a:t>sin</a:t>
            </a:r>
            <a:r>
              <a:rPr lang="zh-CN" altLang="en-US" sz="1800" b="0" dirty="0"/>
              <a:t>函数值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b="0" dirty="0"/>
              <a:t>    </a:t>
            </a:r>
            <a:r>
              <a:rPr lang="en-US" altLang="zh-CN" sz="1800" b="0" dirty="0" err="1"/>
              <a:t>cosx.append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math.cos</a:t>
            </a:r>
            <a:r>
              <a:rPr lang="en-US" altLang="zh-CN" sz="1800" b="0" dirty="0"/>
              <a:t>(x))   #</a:t>
            </a:r>
            <a:r>
              <a:rPr lang="zh-CN" altLang="en-US" sz="1800" b="0" dirty="0"/>
              <a:t>计算当前坐标</a:t>
            </a:r>
            <a:r>
              <a:rPr lang="en-US" altLang="zh-CN" sz="1800" b="0" dirty="0"/>
              <a:t>x</a:t>
            </a:r>
            <a:r>
              <a:rPr lang="zh-CN" altLang="en-US" sz="1800" b="0" dirty="0"/>
              <a:t>对应的</a:t>
            </a:r>
            <a:r>
              <a:rPr lang="en-US" altLang="zh-CN" sz="1800" b="0" dirty="0"/>
              <a:t>cos</a:t>
            </a:r>
            <a:r>
              <a:rPr lang="zh-CN" altLang="en-US" sz="1800" b="0" dirty="0"/>
              <a:t>函数值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b="0" dirty="0"/>
              <a:t>    </a:t>
            </a:r>
            <a:r>
              <a:rPr lang="en-US" altLang="zh-CN" sz="1800" b="0" dirty="0" err="1"/>
              <a:t>xx.append</a:t>
            </a:r>
            <a:r>
              <a:rPr lang="en-US" altLang="zh-CN" sz="1800" b="0" dirty="0"/>
              <a:t>(x)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    x+=0.1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xx,sinx,marker</a:t>
            </a:r>
            <a:r>
              <a:rPr lang="en-US" altLang="zh-CN" sz="1800" b="0" dirty="0"/>
              <a:t>='*')     #</a:t>
            </a:r>
            <a:r>
              <a:rPr lang="zh-CN" altLang="en-US" sz="1800" b="0" dirty="0"/>
              <a:t>在</a:t>
            </a:r>
            <a:r>
              <a:rPr lang="en-US" altLang="zh-CN" sz="1800" b="0" dirty="0"/>
              <a:t>sin</a:t>
            </a:r>
            <a:r>
              <a:rPr lang="zh-CN" altLang="en-US" sz="1800" b="0" dirty="0"/>
              <a:t>函数的每个坐标点输出一个星形标记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xx,cosx,marker</a:t>
            </a:r>
            <a:r>
              <a:rPr lang="en-US" altLang="zh-CN" sz="1800" b="0" dirty="0"/>
              <a:t>='D')   #</a:t>
            </a:r>
            <a:r>
              <a:rPr lang="zh-CN" altLang="en-US" sz="1800" b="0" dirty="0"/>
              <a:t>在</a:t>
            </a:r>
            <a:r>
              <a:rPr lang="en-US" altLang="zh-CN" sz="1800" b="0" dirty="0"/>
              <a:t>cos</a:t>
            </a:r>
            <a:r>
              <a:rPr lang="zh-CN" altLang="en-US" sz="1800" b="0" dirty="0"/>
              <a:t>函数的每个坐标点输出一个菱形标记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plt.show</a:t>
            </a:r>
            <a:r>
              <a:rPr lang="en-US" altLang="zh-CN" sz="1800" b="0" dirty="0"/>
              <a:t>()</a:t>
            </a:r>
            <a:endParaRPr lang="zh-CN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683373181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23528" y="987574"/>
            <a:ext cx="7704856" cy="1889248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arange(</a:t>
            </a: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起始点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终止点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步长</a:t>
            </a:r>
            <a:r>
              <a:rPr lang="en-US" altLang="zh-CN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 marL="457200" lvl="1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快速生成某个范围内的数据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默认间隔值为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marL="457200" lvl="1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zh-CN" altLang="en-US" sz="20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0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np.arange</a:t>
            </a:r>
            <a:r>
              <a:rPr lang="en-US" altLang="zh-CN" sz="20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(0,1,0.2)</a:t>
            </a:r>
          </a:p>
          <a:p>
            <a:pPr marL="457200" lvl="1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结果为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array([0. , 0.2, 0.4, 0.6, 0.8])</a:t>
            </a:r>
            <a:endParaRPr lang="en-US" altLang="zh-CN" sz="2000" dirty="0">
              <a:solidFill>
                <a:srgbClr val="0000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323528" y="411323"/>
            <a:ext cx="5698976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中快速生成数据的函数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23528" y="3003798"/>
            <a:ext cx="7704856" cy="187220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lang="en-US" altLang="zh-CN" kern="0" dirty="0" err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linspace</a:t>
            </a:r>
            <a:r>
              <a:rPr lang="en-US" altLang="zh-CN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起始值，终值，元素个数）</a:t>
            </a:r>
            <a:endParaRPr lang="en-US" altLang="zh-CN" kern="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  <a:defRPr/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</a:rPr>
              <a:t>endpoint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</a:rPr>
              <a:t>用于</a:t>
            </a:r>
            <a:r>
              <a:rPr lang="zh-CN" altLang="zh-CN" sz="2000" kern="0" dirty="0">
                <a:latin typeface="宋体" panose="02010600030101010101" pitchFamily="2" charset="-122"/>
                <a:ea typeface="宋体" panose="02010600030101010101" pitchFamily="2" charset="-122"/>
              </a:rPr>
              <a:t>指定是否包括终值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</a:rPr>
              <a:t>，默认为</a:t>
            </a:r>
            <a:r>
              <a:rPr lang="en-US" altLang="zh-CN" sz="2000" kern="0" dirty="0">
                <a:latin typeface="宋体" panose="02010600030101010101" pitchFamily="2" charset="-122"/>
                <a:ea typeface="宋体" panose="02010600030101010101" pitchFamily="2" charset="-122"/>
              </a:rPr>
              <a:t>True</a:t>
            </a:r>
          </a:p>
          <a:p>
            <a:pPr marL="114300" lvl="1" indent="0" eaLnBrk="1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2000" dirty="0"/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000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np.linspace</a:t>
            </a:r>
            <a:r>
              <a:rPr lang="en-US" altLang="zh-CN" sz="20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(10,100,6,endpoint=True)</a:t>
            </a:r>
          </a:p>
          <a:p>
            <a:pPr marL="114300" lvl="1" indent="0" eaLnBrk="1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70000"/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array([ 10.,  28.,  46.,  64.,  82., 100.])</a:t>
            </a:r>
          </a:p>
        </p:txBody>
      </p:sp>
    </p:spTree>
    <p:extLst>
      <p:ext uri="{BB962C8B-B14F-4D97-AF65-F5344CB8AC3E}">
        <p14:creationId xmlns:p14="http://schemas.microsoft.com/office/powerpoint/2010/main" val="237430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animBg="1"/>
      <p:bldP spid="7" grpId="0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1A53D-EB05-9C76-E258-8793B1F2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CDCCF-0903-ED87-342F-0BA08086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11" y="1059582"/>
            <a:ext cx="8275638" cy="434851"/>
          </a:xfrm>
        </p:spPr>
        <p:txBody>
          <a:bodyPr/>
          <a:lstStyle/>
          <a:p>
            <a:r>
              <a:rPr lang="en-US" altLang="zh-CN" sz="2000" b="1" dirty="0"/>
              <a:t>#</a:t>
            </a:r>
            <a:r>
              <a:rPr lang="zh-CN" altLang="en-US" sz="2000" b="1" dirty="0"/>
              <a:t>改进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使用</a:t>
            </a:r>
            <a:r>
              <a:rPr lang="en-US" altLang="zh-CN" sz="2000" b="1" dirty="0" err="1"/>
              <a:t>numpy</a:t>
            </a:r>
            <a:r>
              <a:rPr lang="zh-CN" altLang="en-US" sz="2000" b="1" dirty="0"/>
              <a:t>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85EB38-AF6D-E4AF-E4B3-9D458BD2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82" y="1635646"/>
            <a:ext cx="8064896" cy="324108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import   math                                   #</a:t>
            </a:r>
            <a:r>
              <a:rPr lang="zh-CN" altLang="en-US" sz="1800" b="0" dirty="0"/>
              <a:t>导入数学函数库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import   </a:t>
            </a:r>
            <a:r>
              <a:rPr lang="en-US" altLang="zh-CN" sz="1800" b="0" dirty="0" err="1"/>
              <a:t>matplotlib.pyplot</a:t>
            </a:r>
            <a:r>
              <a:rPr lang="en-US" altLang="zh-CN" sz="1800" b="0" dirty="0"/>
              <a:t> as </a:t>
            </a:r>
            <a:r>
              <a:rPr lang="en-US" altLang="zh-CN" sz="1800" b="0" dirty="0" err="1"/>
              <a:t>plt</a:t>
            </a:r>
            <a:r>
              <a:rPr lang="en-US" altLang="zh-CN" sz="1800" b="0" dirty="0"/>
              <a:t>     #</a:t>
            </a:r>
            <a:r>
              <a:rPr lang="zh-CN" altLang="en-US" sz="1800" b="0" dirty="0"/>
              <a:t>导入绘图库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import </a:t>
            </a:r>
            <a:r>
              <a:rPr lang="en-US" altLang="zh-CN" sz="1800" b="0" dirty="0" err="1"/>
              <a:t>numpy</a:t>
            </a:r>
            <a:r>
              <a:rPr lang="en-US" altLang="zh-CN" sz="1800" b="0" dirty="0"/>
              <a:t> as np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xx=</a:t>
            </a:r>
            <a:r>
              <a:rPr lang="en-US" altLang="zh-CN" sz="1800" b="0" dirty="0" err="1"/>
              <a:t>np.arange</a:t>
            </a:r>
            <a:r>
              <a:rPr lang="en-US" altLang="zh-CN" sz="1800" b="0" dirty="0"/>
              <a:t>(-math.pi,math.pi,0.1)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sinx</a:t>
            </a:r>
            <a:r>
              <a:rPr lang="en-US" altLang="zh-CN" sz="1800" b="0" dirty="0"/>
              <a:t>=</a:t>
            </a:r>
            <a:r>
              <a:rPr lang="en-US" altLang="zh-CN" sz="1800" b="0" dirty="0" err="1"/>
              <a:t>np.sin</a:t>
            </a:r>
            <a:r>
              <a:rPr lang="en-US" altLang="zh-CN" sz="1800" b="0" dirty="0"/>
              <a:t>(xx)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cosx</a:t>
            </a:r>
            <a:r>
              <a:rPr lang="en-US" altLang="zh-CN" sz="1800" b="0" dirty="0"/>
              <a:t>=</a:t>
            </a:r>
            <a:r>
              <a:rPr lang="en-US" altLang="zh-CN" sz="1800" b="0" dirty="0" err="1"/>
              <a:t>np.cos</a:t>
            </a:r>
            <a:r>
              <a:rPr lang="en-US" altLang="zh-CN" sz="1800" b="0" dirty="0"/>
              <a:t>(xx)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xx,sinx,marker</a:t>
            </a:r>
            <a:r>
              <a:rPr lang="en-US" altLang="zh-CN" sz="1800" b="0" dirty="0"/>
              <a:t>='*')     #</a:t>
            </a:r>
            <a:r>
              <a:rPr lang="zh-CN" altLang="en-US" sz="1800" b="0" dirty="0"/>
              <a:t>在</a:t>
            </a:r>
            <a:r>
              <a:rPr lang="en-US" altLang="zh-CN" sz="1800" b="0" dirty="0"/>
              <a:t>sin</a:t>
            </a:r>
            <a:r>
              <a:rPr lang="zh-CN" altLang="en-US" sz="1800" b="0" dirty="0"/>
              <a:t>函数的每个坐标点输出一个星形标记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xx,cosx,marker</a:t>
            </a:r>
            <a:r>
              <a:rPr lang="en-US" altLang="zh-CN" sz="1800" b="0" dirty="0"/>
              <a:t>='D')   #</a:t>
            </a:r>
            <a:r>
              <a:rPr lang="zh-CN" altLang="en-US" sz="1800" b="0" dirty="0"/>
              <a:t>在</a:t>
            </a:r>
            <a:r>
              <a:rPr lang="en-US" altLang="zh-CN" sz="1800" b="0" dirty="0"/>
              <a:t>cos</a:t>
            </a:r>
            <a:r>
              <a:rPr lang="zh-CN" altLang="en-US" sz="1800" b="0" dirty="0"/>
              <a:t>函数的每个坐标点输出一个菱形标记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plt.show</a:t>
            </a:r>
            <a:r>
              <a:rPr lang="en-US" altLang="zh-CN" sz="1800" b="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02589732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251520" y="312924"/>
            <a:ext cx="8569448" cy="356393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例</a:t>
            </a:r>
            <a:r>
              <a:rPr lang="en-US" altLang="zh-CN" sz="2000" b="1" dirty="0"/>
              <a:t>8.3 </a:t>
            </a:r>
            <a:r>
              <a:rPr lang="zh-CN" altLang="zh-CN" sz="2000" b="1" dirty="0"/>
              <a:t>绘制中国</a:t>
            </a:r>
            <a:r>
              <a:rPr lang="en-US" altLang="zh-CN" sz="2000" b="1" dirty="0"/>
              <a:t>1979</a:t>
            </a:r>
            <a:r>
              <a:rPr lang="zh-CN" altLang="zh-CN" sz="2000" b="1" dirty="0"/>
              <a:t>年至</a:t>
            </a:r>
            <a:r>
              <a:rPr lang="en-US" altLang="zh-CN" sz="2000" b="1" dirty="0"/>
              <a:t>2018</a:t>
            </a:r>
            <a:r>
              <a:rPr lang="zh-CN" altLang="zh-CN" sz="2000" b="1" dirty="0"/>
              <a:t>年的</a:t>
            </a:r>
            <a:r>
              <a:rPr lang="en-US" altLang="zh-CN" sz="2000" b="1" dirty="0"/>
              <a:t>GDP</a:t>
            </a:r>
            <a:r>
              <a:rPr lang="zh-CN" altLang="zh-CN" sz="2000" b="1" dirty="0"/>
              <a:t>的变化趋势图</a:t>
            </a:r>
            <a:endParaRPr lang="zh-CN" altLang="en-US" sz="2000" b="1" dirty="0"/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55668"/>
              </p:ext>
            </p:extLst>
          </p:nvPr>
        </p:nvGraphicFramePr>
        <p:xfrm>
          <a:off x="467544" y="1092100"/>
          <a:ext cx="7297929" cy="201168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849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1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3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时间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全年</a:t>
                      </a:r>
                      <a:endParaRPr lang="zh-CN" sz="1400" kern="100">
                        <a:effectLst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（亿元）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时间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全年</a:t>
                      </a:r>
                      <a:endParaRPr lang="zh-CN" sz="1400" kern="100" dirty="0">
                        <a:effectLst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（亿元）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时间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全年</a:t>
                      </a:r>
                      <a:endParaRPr lang="zh-CN" sz="1400" kern="100">
                        <a:effectLst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（亿元）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时间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全年</a:t>
                      </a:r>
                      <a:endParaRPr lang="zh-CN" sz="1400" kern="100">
                        <a:effectLst/>
                      </a:endParaRPr>
                    </a:p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（亿元）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2018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900309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2008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319245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1998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85196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1988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15180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2017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820754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2007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270092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1997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79715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1987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12175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2016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740061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2006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219439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1996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71814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1986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10376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2015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685993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2005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187319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1995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61340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1985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9099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2014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641281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2004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161840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1994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48638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1984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7279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2013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592963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2003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137422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1993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35673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1983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6021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2012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538580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2002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121717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1992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27195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1982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5373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2011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487940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2001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110863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1991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22006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1981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4936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2010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412119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2000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100280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1990</a:t>
                      </a:r>
                      <a:r>
                        <a:rPr lang="zh-CN" sz="1100" kern="0">
                          <a:effectLst/>
                        </a:rPr>
                        <a:t>年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18873</a:t>
                      </a:r>
                      <a:endParaRPr lang="zh-CN" sz="1400" kern="10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1980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4588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2009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348518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1999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90564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1989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17180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1979</a:t>
                      </a:r>
                      <a:r>
                        <a:rPr lang="zh-CN" sz="1100" kern="0" dirty="0">
                          <a:effectLst/>
                        </a:rPr>
                        <a:t>年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4101</a:t>
                      </a:r>
                      <a:endParaRPr lang="zh-CN" sz="1400" kern="100" dirty="0">
                        <a:effectLst/>
                        <a:latin typeface="等线"/>
                        <a:ea typeface="等线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52484" y="795614"/>
            <a:ext cx="523091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70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127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itchFamily="2" charset="-122"/>
                <a:ea typeface="等线" pitchFamily="2" charset="-122"/>
                <a:cs typeface="宋体" pitchFamily="2" charset="-122"/>
              </a:rPr>
              <a:t> 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itchFamily="2" charset="-122"/>
                <a:ea typeface="等线" pitchFamily="2" charset="-122"/>
                <a:cs typeface="宋体" pitchFamily="2" charset="-122"/>
              </a:rPr>
              <a:t>1979~2018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itchFamily="2" charset="-122"/>
                <a:ea typeface="等线" pitchFamily="2" charset="-122"/>
                <a:cs typeface="宋体" pitchFamily="2" charset="-122"/>
              </a:rPr>
              <a:t>年中华人民共和国国内生产总值（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itchFamily="2" charset="-122"/>
                <a:ea typeface="等线" pitchFamily="2" charset="-122"/>
                <a:cs typeface="宋体" pitchFamily="2" charset="-122"/>
              </a:rPr>
              <a:t>GDP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等线" pitchFamily="2" charset="-122"/>
                <a:ea typeface="等线" pitchFamily="2" charset="-122"/>
                <a:cs typeface="宋体" pitchFamily="2" charset="-122"/>
              </a:rPr>
              <a:t>）统计数据</a:t>
            </a:r>
            <a:endParaRPr kumimoji="0" lang="zh-CN" alt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宋体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023846-882F-4DAF-B724-9490D331A3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01721" y="2427734"/>
            <a:ext cx="2998671" cy="2481638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1DF95E-E600-417E-AA68-BE183F1393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786" b="18660"/>
          <a:stretch/>
        </p:blipFill>
        <p:spPr>
          <a:xfrm>
            <a:off x="467544" y="2444328"/>
            <a:ext cx="3600400" cy="24982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749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12D8C7-CE6D-4DD4-848C-39D035161F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5536" y="411510"/>
            <a:ext cx="8293100" cy="45273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思路：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1</a:t>
            </a:r>
            <a:r>
              <a:rPr lang="zh-CN" altLang="en-US" sz="1800" dirty="0">
                <a:solidFill>
                  <a:srgbClr val="0070C0"/>
                </a:solidFill>
              </a:rPr>
              <a:t>、文件内容读入列表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zh-CN" sz="1800" dirty="0"/>
              <a:t>with open("</a:t>
            </a:r>
            <a:r>
              <a:rPr lang="en-US" altLang="zh-CN" sz="1800" dirty="0" err="1"/>
              <a:t>gdp.txt","r</a:t>
            </a:r>
            <a:r>
              <a:rPr lang="en-US" altLang="zh-CN" sz="1800" dirty="0"/>
              <a:t>") as ff:</a:t>
            </a:r>
            <a:endParaRPr lang="zh-CN" altLang="zh-CN" sz="1800" dirty="0"/>
          </a:p>
          <a:p>
            <a:pPr marL="457200" lvl="1" indent="0">
              <a:buNone/>
            </a:pPr>
            <a:r>
              <a:rPr lang="en-US" altLang="zh-CN" sz="1800" dirty="0"/>
              <a:t>    dt=</a:t>
            </a:r>
            <a:r>
              <a:rPr lang="en-US" altLang="zh-CN" sz="1800" dirty="0" err="1"/>
              <a:t>ff.readlines</a:t>
            </a:r>
            <a:r>
              <a:rPr lang="en-US" altLang="zh-CN" sz="1800" dirty="0"/>
              <a:t>()  #</a:t>
            </a:r>
            <a:r>
              <a:rPr lang="zh-CN" altLang="en-US" sz="1800" dirty="0"/>
              <a:t>读到字符串列表中</a:t>
            </a:r>
            <a:r>
              <a:rPr lang="en-US" altLang="zh-CN" sz="1800" dirty="0"/>
              <a:t>       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2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>
                <a:solidFill>
                  <a:srgbClr val="0070C0"/>
                </a:solidFill>
              </a:rPr>
              <a:t>获取文件中的数据行数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zh-CN" sz="1800" dirty="0"/>
              <a:t>    n=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(dt) 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3</a:t>
            </a:r>
            <a:r>
              <a:rPr lang="zh-CN" altLang="en-US" sz="1800" dirty="0">
                <a:solidFill>
                  <a:srgbClr val="0070C0"/>
                </a:solidFill>
              </a:rPr>
              <a:t>、将</a:t>
            </a:r>
            <a:r>
              <a:rPr lang="en-US" altLang="zh-CN" sz="1800" dirty="0">
                <a:solidFill>
                  <a:srgbClr val="0070C0"/>
                </a:solidFill>
              </a:rPr>
              <a:t>dt</a:t>
            </a:r>
            <a:r>
              <a:rPr lang="zh-CN" altLang="en-US" sz="1800" dirty="0">
                <a:solidFill>
                  <a:srgbClr val="0070C0"/>
                </a:solidFill>
              </a:rPr>
              <a:t>中的每一行做如下预处理：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/>
              <a:t>去除右边的换行符</a:t>
            </a:r>
            <a:endParaRPr lang="en-US" altLang="zh-CN" sz="1600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/>
              <a:t>以制表符为分隔符，分割为子列表</a:t>
            </a:r>
            <a:endParaRPr lang="en-US" altLang="zh-CN" sz="1600" dirty="0"/>
          </a:p>
          <a:p>
            <a:pPr marL="400050" lvl="1" indent="0">
              <a:buNone/>
            </a:pPr>
            <a:r>
              <a:rPr lang="en-US" altLang="zh-CN" sz="1400" dirty="0"/>
              <a:t>for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 in range(0,n):</a:t>
            </a:r>
          </a:p>
          <a:p>
            <a:pPr marL="400050" lvl="1" indent="0">
              <a:buNone/>
            </a:pPr>
            <a:r>
              <a:rPr lang="en-US" altLang="zh-CN" sz="1400" dirty="0"/>
              <a:t>	</a:t>
            </a:r>
            <a:r>
              <a:rPr lang="en-US" altLang="zh-CN" sz="1400" dirty="0" err="1"/>
              <a:t>dt</a:t>
            </a:r>
            <a:r>
              <a:rPr lang="en-US" altLang="zh-CN" sz="1400" dirty="0"/>
              <a:t>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]=dt[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].</a:t>
            </a:r>
            <a:r>
              <a:rPr lang="en-US" altLang="zh-CN" sz="1400" dirty="0" err="1"/>
              <a:t>rstrip</a:t>
            </a:r>
            <a:r>
              <a:rPr lang="en-US" altLang="zh-CN" sz="1400" dirty="0"/>
              <a:t>('\n')        #</a:t>
            </a:r>
            <a:r>
              <a:rPr lang="zh-CN" altLang="en-US" sz="1400" dirty="0"/>
              <a:t>去除每一行字符串末尾的换行符</a:t>
            </a:r>
          </a:p>
          <a:p>
            <a:pPr marL="400050" lvl="1" indent="0">
              <a:buNone/>
            </a:pPr>
            <a:r>
              <a:rPr lang="zh-CN" altLang="en-US" sz="1400" dirty="0"/>
              <a:t>         </a:t>
            </a:r>
            <a:r>
              <a:rPr lang="en-US" altLang="zh-CN" sz="1400" dirty="0" err="1"/>
              <a:t>dt</a:t>
            </a:r>
            <a:r>
              <a:rPr lang="en-US" altLang="zh-CN" sz="1400" dirty="0"/>
              <a:t>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]=dt[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].split('\t') </a:t>
            </a:r>
            <a:endParaRPr lang="en-US" altLang="zh-CN" sz="1200" dirty="0"/>
          </a:p>
          <a:p>
            <a:pPr marL="0" indent="0">
              <a:buNone/>
            </a:pPr>
            <a:r>
              <a:rPr lang="en-US" altLang="zh-CN" sz="1400" dirty="0"/>
              <a:t>    </a:t>
            </a:r>
            <a:r>
              <a:rPr lang="zh-CN" altLang="en-US" sz="1400" b="0" dirty="0"/>
              <a:t>数据预处理结果为</a:t>
            </a:r>
            <a:r>
              <a:rPr lang="zh-CN" altLang="en-US" sz="1400" dirty="0"/>
              <a:t>：</a:t>
            </a:r>
            <a:r>
              <a:rPr lang="en-US" altLang="zh-CN" sz="1400" b="0" dirty="0" err="1"/>
              <a:t>dt</a:t>
            </a:r>
            <a:r>
              <a:rPr lang="zh-CN" altLang="en-US" sz="1400" b="0" dirty="0"/>
              <a:t>列表中存放的数据为</a:t>
            </a:r>
            <a:endParaRPr lang="en-US" altLang="zh-CN" sz="1400" b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AEC6C7-9943-4965-BAF8-07759F0E38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786" b="18660"/>
          <a:stretch/>
        </p:blipFill>
        <p:spPr>
          <a:xfrm>
            <a:off x="5436096" y="699542"/>
            <a:ext cx="3036516" cy="21069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827" y="2474694"/>
            <a:ext cx="1595449" cy="243365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 bwMode="auto">
          <a:xfrm>
            <a:off x="4139952" y="4515966"/>
            <a:ext cx="3335875" cy="422937"/>
          </a:xfrm>
          <a:prstGeom prst="rightArrow">
            <a:avLst/>
          </a:prstGeom>
          <a:solidFill>
            <a:srgbClr val="00B05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4924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ECEDF4-A01F-47EC-A49E-EC349E63D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9502"/>
            <a:ext cx="8293100" cy="4320479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4</a:t>
            </a:r>
            <a:r>
              <a:rPr lang="zh-CN" altLang="en-US" sz="1800" dirty="0">
                <a:solidFill>
                  <a:srgbClr val="0070C0"/>
                </a:solidFill>
              </a:rPr>
              <a:t>、获取</a:t>
            </a:r>
            <a:r>
              <a:rPr lang="en-US" altLang="zh-CN" sz="1800" dirty="0">
                <a:solidFill>
                  <a:srgbClr val="0070C0"/>
                </a:solidFill>
              </a:rPr>
              <a:t>X</a:t>
            </a:r>
            <a:r>
              <a:rPr lang="zh-CN" altLang="en-US" sz="1800" dirty="0">
                <a:solidFill>
                  <a:srgbClr val="0070C0"/>
                </a:solidFill>
              </a:rPr>
              <a:t>、</a:t>
            </a:r>
            <a:r>
              <a:rPr lang="en-US" altLang="zh-CN" sz="1800" dirty="0">
                <a:solidFill>
                  <a:srgbClr val="0070C0"/>
                </a:solidFill>
              </a:rPr>
              <a:t>Y</a:t>
            </a:r>
            <a:r>
              <a:rPr lang="zh-CN" altLang="en-US" sz="1800" dirty="0">
                <a:solidFill>
                  <a:srgbClr val="0070C0"/>
                </a:solidFill>
              </a:rPr>
              <a:t>轴的数据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400050" lvl="1" indent="0">
              <a:buNone/>
            </a:pPr>
            <a:r>
              <a:rPr lang="pt-BR" altLang="zh-CN" sz="1600" dirty="0"/>
              <a:t>gdpYear=[' '] * n</a:t>
            </a:r>
            <a:endParaRPr lang="zh-CN" altLang="pt-BR" sz="1600" dirty="0"/>
          </a:p>
          <a:p>
            <a:pPr marL="400050" lvl="1" indent="0">
              <a:buNone/>
            </a:pPr>
            <a:r>
              <a:rPr lang="pt-BR" altLang="zh-CN" sz="1600" dirty="0"/>
              <a:t>gdpValue=[0] * n </a:t>
            </a:r>
          </a:p>
          <a:p>
            <a:pPr marL="400050" lvl="1" indent="0">
              <a:buNone/>
            </a:pPr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range(0,n):</a:t>
            </a:r>
          </a:p>
          <a:p>
            <a:pPr marL="400050" lvl="1" indent="0"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err="1"/>
              <a:t>gdpYear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=dt[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][0]           #</a:t>
            </a:r>
            <a:r>
              <a:rPr lang="zh-CN" altLang="en-US" sz="1600" dirty="0"/>
              <a:t>获取年份</a:t>
            </a:r>
          </a:p>
          <a:p>
            <a:pPr marL="400050" lvl="1" indent="0">
              <a:buNone/>
            </a:pPr>
            <a:r>
              <a:rPr lang="zh-CN" altLang="en-US" sz="1600" dirty="0"/>
              <a:t>        </a:t>
            </a:r>
            <a:r>
              <a:rPr lang="en-US" altLang="zh-CN" sz="1600" dirty="0" err="1"/>
              <a:t>gdpValue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]=int(dt[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][1])   #</a:t>
            </a:r>
            <a:r>
              <a:rPr lang="zh-CN" altLang="en-US" sz="1600" dirty="0"/>
              <a:t>获取</a:t>
            </a:r>
            <a:r>
              <a:rPr lang="en-US" altLang="zh-CN" sz="1600" dirty="0"/>
              <a:t>GDP</a:t>
            </a:r>
            <a:r>
              <a:rPr lang="zh-CN" altLang="en-US" sz="1600" dirty="0"/>
              <a:t>值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0070C0"/>
                </a:solidFill>
              </a:rPr>
              <a:t>5</a:t>
            </a:r>
            <a:r>
              <a:rPr lang="zh-CN" altLang="en-US" sz="1800" dirty="0">
                <a:solidFill>
                  <a:srgbClr val="0070C0"/>
                </a:solidFill>
              </a:rPr>
              <a:t>、画图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sz="1800" dirty="0"/>
              <a:t>     </a:t>
            </a:r>
            <a:r>
              <a:rPr lang="en-US" altLang="zh-CN" sz="1600" b="0" dirty="0" err="1"/>
              <a:t>plt.plot</a:t>
            </a:r>
            <a:r>
              <a:rPr lang="en-US" altLang="zh-CN" sz="1600" b="0" dirty="0"/>
              <a:t>(</a:t>
            </a:r>
            <a:r>
              <a:rPr lang="en-US" altLang="zh-CN" sz="1600" b="0" dirty="0" err="1">
                <a:solidFill>
                  <a:srgbClr val="FF0000"/>
                </a:solidFill>
              </a:rPr>
              <a:t>gdpYear</a:t>
            </a:r>
            <a:r>
              <a:rPr lang="en-US" altLang="zh-CN" sz="1600" b="0" dirty="0">
                <a:solidFill>
                  <a:srgbClr val="FF0000"/>
                </a:solidFill>
              </a:rPr>
              <a:t> , </a:t>
            </a:r>
            <a:r>
              <a:rPr lang="en-US" altLang="zh-CN" sz="1600" b="0" dirty="0" err="1">
                <a:solidFill>
                  <a:srgbClr val="FF0000"/>
                </a:solidFill>
              </a:rPr>
              <a:t>gdpValue</a:t>
            </a:r>
            <a:r>
              <a:rPr lang="en-US" altLang="zh-CN" sz="1600" b="0" dirty="0"/>
              <a:t>) </a:t>
            </a:r>
            <a:r>
              <a:rPr lang="zh-CN" altLang="en-US" sz="1600" b="0" dirty="0"/>
              <a:t>加一个</a:t>
            </a:r>
            <a:r>
              <a:rPr lang="en-US" altLang="zh-CN" sz="1600" b="0" dirty="0"/>
              <a:t>level=xxx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400050" lvl="1" indent="0">
              <a:buNone/>
            </a:pPr>
            <a:r>
              <a:rPr lang="zh-CN" altLang="en-US" sz="1600" dirty="0"/>
              <a:t>设置</a:t>
            </a:r>
            <a:r>
              <a:rPr lang="en-US" altLang="zh-CN" sz="1600" dirty="0"/>
              <a:t>x</a:t>
            </a:r>
            <a:r>
              <a:rPr lang="zh-CN" altLang="en-US" sz="1600" dirty="0"/>
              <a:t>刻度：间隔为</a:t>
            </a:r>
            <a:r>
              <a:rPr lang="en-US" altLang="zh-CN" sz="1600" dirty="0"/>
              <a:t>8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 err="1"/>
              <a:t>plt.xlim</a:t>
            </a:r>
            <a:r>
              <a:rPr lang="en-US" altLang="zh-CN" sz="1600" dirty="0"/>
              <a:t>(0,40)    #</a:t>
            </a:r>
            <a:r>
              <a:rPr lang="zh-CN" altLang="zh-CN" sz="1600" dirty="0"/>
              <a:t>设置</a:t>
            </a:r>
            <a:r>
              <a:rPr lang="en-US" altLang="zh-CN" sz="1600" dirty="0"/>
              <a:t>X</a:t>
            </a:r>
            <a:r>
              <a:rPr lang="zh-CN" altLang="zh-CN" sz="1600" dirty="0"/>
              <a:t>轴的取值范围</a:t>
            </a: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/>
              <a:t>label=[]          #</a:t>
            </a:r>
            <a:r>
              <a:rPr lang="zh-CN" altLang="en-US" sz="1600" dirty="0"/>
              <a:t>设置</a:t>
            </a:r>
            <a:r>
              <a:rPr lang="en-US" altLang="zh-CN" sz="1600" dirty="0"/>
              <a:t>x</a:t>
            </a:r>
            <a:r>
              <a:rPr lang="zh-CN" altLang="en-US" sz="1600" dirty="0"/>
              <a:t>轴标签</a:t>
            </a:r>
            <a:endParaRPr lang="en-US" altLang="zh-CN" sz="1600" dirty="0"/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range(1,40,8):         </a:t>
            </a:r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/>
              <a:t>   </a:t>
            </a:r>
            <a:r>
              <a:rPr lang="en-US" altLang="zh-CN" sz="1600" dirty="0" err="1"/>
              <a:t>label.append</a:t>
            </a:r>
            <a:r>
              <a:rPr lang="en-US" altLang="zh-CN" sz="1600" dirty="0"/>
              <a:t>(</a:t>
            </a:r>
            <a:r>
              <a:rPr lang="en-US" altLang="zh-CN" sz="1600" dirty="0" err="1"/>
              <a:t>gdpYear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</a:t>
            </a:r>
            <a:endParaRPr lang="zh-CN" altLang="en-US" sz="1600" dirty="0"/>
          </a:p>
          <a:p>
            <a:pPr marL="4000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 err="1"/>
              <a:t>plt.xticks</a:t>
            </a:r>
            <a:r>
              <a:rPr lang="en-US" altLang="zh-CN" sz="1600" dirty="0"/>
              <a:t>(range(1,40,8),label)          #</a:t>
            </a:r>
            <a:r>
              <a:rPr lang="zh-CN" altLang="zh-CN" sz="1600" dirty="0"/>
              <a:t>设置</a:t>
            </a:r>
            <a:r>
              <a:rPr lang="en-US" altLang="zh-CN" sz="1600" dirty="0"/>
              <a:t>X</a:t>
            </a:r>
            <a:r>
              <a:rPr lang="zh-CN" altLang="zh-CN" sz="1600" dirty="0"/>
              <a:t>轴的刻度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7540388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232E7-7173-4AD0-9AEE-6922512D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32" y="114236"/>
            <a:ext cx="8275638" cy="650875"/>
          </a:xfrm>
        </p:spPr>
        <p:txBody>
          <a:bodyPr/>
          <a:lstStyle/>
          <a:p>
            <a:r>
              <a:rPr lang="zh-CN" altLang="en-US" sz="2400" b="1" dirty="0"/>
              <a:t>调整图例位置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0F2E1B-8191-4F3C-8ABE-621C01E578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5970" y="843558"/>
            <a:ext cx="7652454" cy="251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1600" dirty="0" err="1"/>
              <a:t>plt.legend</a:t>
            </a:r>
            <a:r>
              <a:rPr lang="en-US" altLang="zh-CN" sz="1600" dirty="0"/>
              <a:t>(loc='String or Number', </a:t>
            </a:r>
            <a:r>
              <a:rPr lang="en-US" altLang="zh-CN" sz="1600" dirty="0" err="1"/>
              <a:t>bbox_to_anchor</a:t>
            </a:r>
            <a:r>
              <a:rPr lang="en-US" altLang="zh-CN" sz="1600" dirty="0"/>
              <a:t>=(num1, num2))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C75926-FA9B-43F2-8510-F9635E25A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60063"/>
              </p:ext>
            </p:extLst>
          </p:nvPr>
        </p:nvGraphicFramePr>
        <p:xfrm>
          <a:off x="827584" y="1402954"/>
          <a:ext cx="2880320" cy="3521232"/>
        </p:xfrm>
        <a:graphic>
          <a:graphicData uri="http://schemas.openxmlformats.org/drawingml/2006/table">
            <a:tbl>
              <a:tblPr/>
              <a:tblGrid>
                <a:gridCol w="1645970">
                  <a:extLst>
                    <a:ext uri="{9D8B030D-6E8A-4147-A177-3AD203B41FA5}">
                      <a16:colId xmlns:a16="http://schemas.microsoft.com/office/drawing/2014/main" val="961749938"/>
                    </a:ext>
                  </a:extLst>
                </a:gridCol>
                <a:gridCol w="1234350">
                  <a:extLst>
                    <a:ext uri="{9D8B030D-6E8A-4147-A177-3AD203B41FA5}">
                      <a16:colId xmlns:a16="http://schemas.microsoft.com/office/drawing/2014/main" val="523812911"/>
                    </a:ext>
                  </a:extLst>
                </a:gridCol>
              </a:tblGrid>
              <a:tr h="2945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String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Number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444049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upper right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</a:rPr>
                        <a:t>1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951393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upper left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2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441744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lower left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3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70382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lower right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4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148832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right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5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734475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center left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6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170417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center right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7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497910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lower center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8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753940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upper center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9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444971"/>
                  </a:ext>
                </a:extLst>
              </a:tr>
              <a:tr h="29454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center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</a:rPr>
                        <a:t>10</a:t>
                      </a:r>
                    </a:p>
                  </a:txBody>
                  <a:tcPr marL="93407" marR="93407" marT="53376" marB="5337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90912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6884633-A58B-4C0B-AC89-77E95269F5E4}"/>
              </a:ext>
            </a:extLst>
          </p:cNvPr>
          <p:cNvSpPr txBox="1"/>
          <p:nvPr/>
        </p:nvSpPr>
        <p:spPr>
          <a:xfrm>
            <a:off x="4067944" y="1402954"/>
            <a:ext cx="4176464" cy="1661993"/>
          </a:xfrm>
          <a:prstGeom prst="rect">
            <a:avLst/>
          </a:prstGeom>
          <a:solidFill>
            <a:srgbClr val="CCFFFF"/>
          </a:solidFill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bbox_to_anchor</a:t>
            </a:r>
            <a:r>
              <a:rPr lang="en-US" altLang="zh-CN" dirty="0"/>
              <a:t>=(num1, num2))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num1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：控制水平相对位置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num2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：控制垂直相对位置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 使用该参数，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loc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不起作用</a:t>
            </a:r>
          </a:p>
        </p:txBody>
      </p:sp>
    </p:spTree>
    <p:extLst>
      <p:ext uri="{BB962C8B-B14F-4D97-AF65-F5344CB8AC3E}">
        <p14:creationId xmlns:p14="http://schemas.microsoft.com/office/powerpoint/2010/main" val="1331160426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7574"/>
            <a:ext cx="8712968" cy="388843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zh-CN" sz="1800" b="0" dirty="0"/>
              <a:t>方法</a:t>
            </a:r>
            <a:r>
              <a:rPr lang="en-US" altLang="zh-CN" sz="1800" b="0" dirty="0"/>
              <a:t>2</a:t>
            </a:r>
            <a:r>
              <a:rPr lang="zh-CN" altLang="zh-CN" sz="1800" b="0" dirty="0"/>
              <a:t>，引入</a:t>
            </a:r>
            <a:r>
              <a:rPr lang="en-US" altLang="zh-CN" sz="1800" b="0" dirty="0"/>
              <a:t>pandas</a:t>
            </a:r>
            <a:r>
              <a:rPr lang="zh-CN" altLang="zh-CN" sz="1800" b="0" dirty="0"/>
              <a:t>库，读取电子表格文件“</a:t>
            </a:r>
            <a:r>
              <a:rPr lang="en-US" altLang="zh-CN" sz="1800" b="0" dirty="0"/>
              <a:t>gdp-1.xlsx</a:t>
            </a:r>
            <a:r>
              <a:rPr lang="zh-CN" altLang="zh-CN" sz="1800" b="0" dirty="0"/>
              <a:t>”中的数据（该文件增加了</a:t>
            </a:r>
            <a:r>
              <a:rPr lang="en-US" altLang="zh-CN" sz="1800" b="0" dirty="0"/>
              <a:t>GPD</a:t>
            </a:r>
            <a:r>
              <a:rPr lang="zh-CN" altLang="zh-CN" sz="1800" b="0" dirty="0"/>
              <a:t>的年增长率数据），然后通过</a:t>
            </a:r>
            <a:r>
              <a:rPr lang="en-US" altLang="zh-CN" sz="1800" b="0" dirty="0"/>
              <a:t>2</a:t>
            </a:r>
            <a:r>
              <a:rPr lang="zh-CN" altLang="zh-CN" sz="1800" b="0" dirty="0"/>
              <a:t>个子图分别绘制</a:t>
            </a:r>
            <a:r>
              <a:rPr lang="en-US" altLang="zh-CN" sz="1800" b="0" dirty="0"/>
              <a:t>GDP</a:t>
            </a:r>
            <a:r>
              <a:rPr lang="zh-CN" altLang="zh-CN" sz="1800" b="0" dirty="0"/>
              <a:t>产值的散点图以及年增长率的折线图</a:t>
            </a:r>
            <a:r>
              <a:rPr lang="zh-CN" altLang="en-US" sz="1800" b="0" dirty="0"/>
              <a:t>。</a:t>
            </a:r>
            <a:endParaRPr lang="en-US" altLang="zh-CN" sz="1800" b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import </a:t>
            </a:r>
            <a:r>
              <a:rPr lang="en-US" altLang="zh-CN" sz="1800" b="0" dirty="0" err="1"/>
              <a:t>matplotlib.pyplot</a:t>
            </a:r>
            <a:r>
              <a:rPr lang="en-US" altLang="zh-CN" sz="1800" b="0" dirty="0"/>
              <a:t> as </a:t>
            </a:r>
            <a:r>
              <a:rPr lang="en-US" altLang="zh-CN" sz="1800" b="0" dirty="0" err="1"/>
              <a:t>plt</a:t>
            </a:r>
            <a:endParaRPr lang="zh-CN" altLang="zh-CN" sz="1800" b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import pandas as </a:t>
            </a:r>
            <a:r>
              <a:rPr lang="en-US" altLang="zh-CN" sz="1800" b="0" dirty="0" err="1"/>
              <a:t>pd</a:t>
            </a:r>
            <a:r>
              <a:rPr lang="en-US" altLang="zh-CN" sz="1800" b="0" dirty="0"/>
              <a:t>     </a:t>
            </a:r>
            <a:r>
              <a:rPr lang="en-US" altLang="zh-CN" sz="1800" dirty="0">
                <a:solidFill>
                  <a:srgbClr val="0070C0"/>
                </a:solidFill>
              </a:rPr>
              <a:t>#</a:t>
            </a:r>
            <a:r>
              <a:rPr lang="zh-CN" altLang="zh-CN" sz="1800" dirty="0">
                <a:solidFill>
                  <a:srgbClr val="0070C0"/>
                </a:solidFill>
              </a:rPr>
              <a:t>导入</a:t>
            </a:r>
            <a:r>
              <a:rPr lang="en-US" altLang="zh-CN" sz="1800" dirty="0">
                <a:solidFill>
                  <a:srgbClr val="0070C0"/>
                </a:solidFill>
              </a:rPr>
              <a:t>pandas</a:t>
            </a:r>
            <a:r>
              <a:rPr lang="zh-CN" altLang="zh-CN" sz="1800" dirty="0">
                <a:solidFill>
                  <a:srgbClr val="0070C0"/>
                </a:solidFill>
              </a:rPr>
              <a:t>库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plt.rcParams</a:t>
            </a:r>
            <a:r>
              <a:rPr lang="en-US" altLang="zh-CN" sz="1800" b="0" dirty="0"/>
              <a:t>['</a:t>
            </a:r>
            <a:r>
              <a:rPr lang="en-US" altLang="zh-CN" sz="1800" b="0" dirty="0" err="1"/>
              <a:t>font.sans</a:t>
            </a:r>
            <a:r>
              <a:rPr lang="en-US" altLang="zh-CN" sz="1800" b="0" dirty="0"/>
              <a:t>-serif']=['</a:t>
            </a:r>
            <a:r>
              <a:rPr lang="en-US" altLang="zh-CN" sz="1800" b="0" dirty="0" err="1"/>
              <a:t>SimHei</a:t>
            </a:r>
            <a:r>
              <a:rPr lang="en-US" altLang="zh-CN" sz="1800" b="0" dirty="0"/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dt</a:t>
            </a:r>
            <a:r>
              <a:rPr lang="en-US" altLang="zh-CN" sz="1800" b="0" dirty="0"/>
              <a:t>=</a:t>
            </a:r>
            <a:r>
              <a:rPr lang="en-US" altLang="zh-CN" sz="1800" b="0" dirty="0" err="1"/>
              <a:t>pd.read_excel</a:t>
            </a:r>
            <a:r>
              <a:rPr lang="en-US" altLang="zh-CN" sz="1800" b="0" dirty="0"/>
              <a:t>("gdp-1.xlsx")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/>
              <a:t>                     #</a:t>
            </a:r>
            <a:r>
              <a:rPr lang="zh-CN" altLang="zh-CN" sz="1600" b="0" dirty="0"/>
              <a:t>从电子表格文件中读取</a:t>
            </a:r>
            <a:r>
              <a:rPr lang="en-US" altLang="zh-CN" sz="1600" b="0" dirty="0"/>
              <a:t>GDP</a:t>
            </a:r>
            <a:r>
              <a:rPr lang="zh-CN" altLang="zh-CN" sz="1600" b="0" dirty="0"/>
              <a:t>数据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36903" y="535266"/>
            <a:ext cx="8569448" cy="356393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例</a:t>
            </a:r>
            <a:r>
              <a:rPr lang="en-US" altLang="zh-CN" sz="2000" b="1" dirty="0"/>
              <a:t>8.3 </a:t>
            </a:r>
            <a:r>
              <a:rPr lang="zh-CN" altLang="zh-CN" sz="2000" b="1" dirty="0"/>
              <a:t>绘制中国</a:t>
            </a:r>
            <a:r>
              <a:rPr lang="en-US" altLang="zh-CN" sz="2000" b="1" dirty="0"/>
              <a:t>1979</a:t>
            </a:r>
            <a:r>
              <a:rPr lang="zh-CN" altLang="zh-CN" sz="2000" b="1" dirty="0"/>
              <a:t>年至</a:t>
            </a:r>
            <a:r>
              <a:rPr lang="en-US" altLang="zh-CN" sz="2000" b="1" dirty="0"/>
              <a:t>2018</a:t>
            </a:r>
            <a:r>
              <a:rPr lang="zh-CN" altLang="zh-CN" sz="2000" b="1" dirty="0"/>
              <a:t>年的</a:t>
            </a:r>
            <a:r>
              <a:rPr lang="en-US" altLang="zh-CN" sz="2000" b="1" dirty="0"/>
              <a:t>GDP</a:t>
            </a:r>
            <a:r>
              <a:rPr lang="zh-CN" altLang="zh-CN" sz="2000" b="1" dirty="0"/>
              <a:t>的变化趋势图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自学）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BDA6E8E-9D48-4532-91B8-820F118FC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307" y="1742143"/>
            <a:ext cx="3428181" cy="14710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E7BBD6-27D8-4A0E-B291-A1EA4D009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243" y="3404989"/>
            <a:ext cx="3401725" cy="14710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5D75A77-2EA5-4682-BFD6-42155A2F94CF}"/>
              </a:ext>
            </a:extLst>
          </p:cNvPr>
          <p:cNvSpPr txBox="1"/>
          <p:nvPr/>
        </p:nvSpPr>
        <p:spPr>
          <a:xfrm>
            <a:off x="396288" y="3659998"/>
            <a:ext cx="497132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说明：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dt</a:t>
            </a:r>
            <a:r>
              <a:rPr lang="zh-CN" altLang="en-US" dirty="0"/>
              <a:t>是一个</a:t>
            </a:r>
            <a:r>
              <a:rPr lang="en-US" altLang="zh-CN" dirty="0" err="1"/>
              <a:t>DataFrame</a:t>
            </a:r>
            <a:r>
              <a:rPr lang="zh-CN" altLang="en-US" dirty="0"/>
              <a:t>，由行标签、列标签和数值</a:t>
            </a:r>
            <a:r>
              <a:rPr lang="en-US" altLang="zh-CN" dirty="0"/>
              <a:t>3</a:t>
            </a:r>
            <a:r>
              <a:rPr lang="zh-CN" altLang="en-US" dirty="0"/>
              <a:t>部分组成</a:t>
            </a:r>
            <a:endParaRPr lang="en-US" altLang="zh-CN" dirty="0"/>
          </a:p>
          <a:p>
            <a:r>
              <a:rPr lang="zh-CN" altLang="en-US" dirty="0"/>
              <a:t>    读取某列的数据：</a:t>
            </a:r>
            <a:r>
              <a:rPr lang="en-US" altLang="zh-CN" dirty="0"/>
              <a:t>dt[‘</a:t>
            </a:r>
            <a:r>
              <a:rPr lang="zh-CN" altLang="en-US" dirty="0"/>
              <a:t>列标签</a:t>
            </a:r>
            <a:r>
              <a:rPr lang="en-US" altLang="zh-CN" dirty="0"/>
              <a:t>’]</a:t>
            </a:r>
          </a:p>
        </p:txBody>
      </p:sp>
    </p:spTree>
    <p:extLst>
      <p:ext uri="{BB962C8B-B14F-4D97-AF65-F5344CB8AC3E}">
        <p14:creationId xmlns:p14="http://schemas.microsoft.com/office/powerpoint/2010/main" val="231758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A59D8C-50E6-405C-80CB-2C6E11B67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059582"/>
            <a:ext cx="7848872" cy="367269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fig,axes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nrows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=2,ncols=1,figsize=(6,6))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plt.subplots_adjust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hspace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=0.6)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调节子绘图区之间的垂直间距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绘制第一个子图</a:t>
            </a:r>
            <a:endParaRPr lang="en-US" altLang="zh-CN" sz="16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(211)                         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指定子绘图区为第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plt.title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("GDP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的产值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                 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设置子图表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的标题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plt.xlabel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                         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设置子图表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轴标题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plt.ylabel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全年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值（亿元）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设置子图表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轴标题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plt.xlim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(0,40)                              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设置子图表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轴取值范围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label=[]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range(1,40,8):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label.append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dt.iloc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[i,0])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plt.xticks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(range(1,40,8),label)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plt.scatter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(dt['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年份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'],dt['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产值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'],color='b')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产值的散点图</a:t>
            </a:r>
          </a:p>
        </p:txBody>
      </p:sp>
    </p:spTree>
    <p:extLst>
      <p:ext uri="{BB962C8B-B14F-4D97-AF65-F5344CB8AC3E}">
        <p14:creationId xmlns:p14="http://schemas.microsoft.com/office/powerpoint/2010/main" val="4243631706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861A49-7A37-461D-BF2F-ADF8AB0E165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55576" y="843558"/>
            <a:ext cx="7848872" cy="249299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18800" tIns="0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#</a:t>
            </a:r>
            <a:r>
              <a:rPr lang="zh-CN" altLang="zh-CN" sz="1800" dirty="0">
                <a:solidFill>
                  <a:srgbClr val="C00000"/>
                </a:solidFill>
              </a:rPr>
              <a:t>指定子绘图区为第</a:t>
            </a:r>
            <a:r>
              <a:rPr lang="en-US" altLang="zh-CN" sz="1800" dirty="0">
                <a:solidFill>
                  <a:srgbClr val="C00000"/>
                </a:solidFill>
              </a:rPr>
              <a:t>2</a:t>
            </a:r>
            <a:r>
              <a:rPr lang="zh-CN" altLang="zh-CN" sz="1800" dirty="0">
                <a:solidFill>
                  <a:srgbClr val="C00000"/>
                </a:solidFill>
              </a:rPr>
              <a:t>个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 err="1"/>
              <a:t>plt.subplot</a:t>
            </a:r>
            <a:r>
              <a:rPr lang="en-US" altLang="zh-CN" sz="1800" b="0" dirty="0"/>
              <a:t>(212)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 err="1"/>
              <a:t>plt.title</a:t>
            </a:r>
            <a:r>
              <a:rPr lang="en-US" altLang="zh-CN" sz="1800" b="0" dirty="0"/>
              <a:t>("GDP</a:t>
            </a:r>
            <a:r>
              <a:rPr lang="zh-CN" altLang="zh-CN" sz="1800" b="0" dirty="0"/>
              <a:t>的年增长率</a:t>
            </a:r>
            <a:r>
              <a:rPr lang="en-US" altLang="zh-CN" sz="1800" b="0" dirty="0"/>
              <a:t>")                      #</a:t>
            </a:r>
            <a:r>
              <a:rPr lang="zh-CN" altLang="zh-CN" sz="1800" b="0" dirty="0"/>
              <a:t>设置子图表</a:t>
            </a:r>
            <a:r>
              <a:rPr lang="en-US" altLang="zh-CN" sz="1800" b="0" dirty="0"/>
              <a:t>2</a:t>
            </a:r>
            <a:r>
              <a:rPr lang="zh-CN" altLang="zh-CN" sz="1800" b="0" dirty="0"/>
              <a:t>的标题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 err="1"/>
              <a:t>plt.xticks</a:t>
            </a:r>
            <a:r>
              <a:rPr lang="en-US" altLang="zh-CN" sz="1800" b="0" dirty="0"/>
              <a:t>(range(1,40,8),label)                 #</a:t>
            </a:r>
            <a:r>
              <a:rPr lang="zh-CN" altLang="zh-CN" sz="1800" b="0" dirty="0"/>
              <a:t>设置子图表</a:t>
            </a:r>
            <a:r>
              <a:rPr lang="en-US" altLang="zh-CN" sz="1800" b="0" dirty="0"/>
              <a:t>2</a:t>
            </a:r>
            <a:r>
              <a:rPr lang="zh-CN" altLang="zh-CN" sz="1800" b="0" dirty="0"/>
              <a:t>的</a:t>
            </a:r>
            <a:r>
              <a:rPr lang="en-US" altLang="zh-CN" sz="1800" b="0" dirty="0"/>
              <a:t>X</a:t>
            </a:r>
            <a:r>
              <a:rPr lang="zh-CN" altLang="zh-CN" sz="1800" b="0" dirty="0"/>
              <a:t>轴的刻度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(dt['</a:t>
            </a:r>
            <a:r>
              <a:rPr lang="zh-CN" altLang="zh-CN" sz="1800" b="0" dirty="0"/>
              <a:t>年份</a:t>
            </a:r>
            <a:r>
              <a:rPr lang="en-US" altLang="zh-CN" sz="1800" b="0" dirty="0"/>
              <a:t>'],dt['</a:t>
            </a:r>
            <a:r>
              <a:rPr lang="zh-CN" altLang="zh-CN" sz="1800" b="0" dirty="0"/>
              <a:t>增长率</a:t>
            </a:r>
            <a:r>
              <a:rPr lang="en-US" altLang="zh-CN" sz="1800" b="0" dirty="0"/>
              <a:t>'],color='r')  #</a:t>
            </a:r>
            <a:r>
              <a:rPr lang="zh-CN" altLang="zh-CN" sz="1800" b="0" dirty="0"/>
              <a:t>绘制</a:t>
            </a:r>
            <a:r>
              <a:rPr lang="en-US" altLang="zh-CN" sz="1800" b="0" dirty="0"/>
              <a:t>GDP</a:t>
            </a:r>
            <a:r>
              <a:rPr lang="zh-CN" altLang="zh-CN" sz="1800" b="0" dirty="0"/>
              <a:t>增长率的折线图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 err="1"/>
              <a:t>plt.show</a:t>
            </a:r>
            <a:r>
              <a:rPr lang="en-US" altLang="zh-CN" sz="1800" b="0" dirty="0"/>
              <a:t>( )</a:t>
            </a:r>
            <a:endParaRPr lang="zh-CN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363785052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44051" y="1347614"/>
            <a:ext cx="8593342" cy="3549168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b="0" dirty="0"/>
              <a:t>import </a:t>
            </a:r>
            <a:r>
              <a:rPr lang="en-US" altLang="zh-CN" sz="1600" b="0" dirty="0" err="1"/>
              <a:t>matplotlib.pyplot</a:t>
            </a:r>
            <a:r>
              <a:rPr lang="en-US" altLang="zh-CN" sz="1600" b="0" dirty="0"/>
              <a:t> as </a:t>
            </a:r>
            <a:r>
              <a:rPr lang="en-US" altLang="zh-CN" sz="1600" b="0" dirty="0" err="1"/>
              <a:t>plt</a:t>
            </a:r>
            <a:r>
              <a:rPr lang="en-US" altLang="zh-CN" sz="1600" b="0" dirty="0"/>
              <a:t>  </a:t>
            </a:r>
            <a:endParaRPr lang="zh-CN" altLang="zh-CN" sz="1600" b="0" dirty="0"/>
          </a:p>
          <a:p>
            <a:pPr marL="0" indent="0">
              <a:buNone/>
            </a:pPr>
            <a:r>
              <a:rPr lang="en-US" altLang="zh-CN" sz="1600" b="0" dirty="0"/>
              <a:t>score = [0.16,0.28,0.32,0.14,0.1]   #</a:t>
            </a:r>
            <a:r>
              <a:rPr lang="zh-CN" altLang="zh-CN" sz="1600" b="0" dirty="0"/>
              <a:t>各等级的成绩数据</a:t>
            </a:r>
            <a:r>
              <a:rPr lang="zh-CN" altLang="en-US" sz="1600" b="0" dirty="0"/>
              <a:t>百分比</a:t>
            </a:r>
            <a:endParaRPr lang="zh-CN" altLang="zh-CN" sz="1600" b="0" dirty="0"/>
          </a:p>
          <a:p>
            <a:pPr marL="0" indent="0">
              <a:buNone/>
            </a:pPr>
            <a:r>
              <a:rPr lang="en-US" altLang="zh-CN" sz="1600" b="0" dirty="0" err="1"/>
              <a:t>plt.rcParams</a:t>
            </a:r>
            <a:r>
              <a:rPr lang="en-US" altLang="zh-CN" sz="1600" b="0" dirty="0"/>
              <a:t>['</a:t>
            </a:r>
            <a:r>
              <a:rPr lang="en-US" altLang="zh-CN" sz="1600" b="0" dirty="0" err="1"/>
              <a:t>font.sans</a:t>
            </a:r>
            <a:r>
              <a:rPr lang="en-US" altLang="zh-CN" sz="1600" b="0" dirty="0"/>
              <a:t>-serif']=['</a:t>
            </a:r>
            <a:r>
              <a:rPr lang="en-US" altLang="zh-CN" sz="1600" b="0" dirty="0" err="1"/>
              <a:t>SimHei</a:t>
            </a:r>
            <a:r>
              <a:rPr lang="en-US" altLang="zh-CN" sz="1600" b="0" dirty="0"/>
              <a:t>']</a:t>
            </a:r>
            <a:endParaRPr lang="zh-CN" altLang="zh-CN" sz="1600" b="0" dirty="0"/>
          </a:p>
          <a:p>
            <a:pPr marL="0" indent="0">
              <a:buNone/>
            </a:pPr>
            <a:r>
              <a:rPr lang="en-US" altLang="zh-CN" sz="1600" b="0" dirty="0" err="1"/>
              <a:t>plt.title</a:t>
            </a:r>
            <a:r>
              <a:rPr lang="en-US" altLang="zh-CN" sz="1600" b="0" dirty="0"/>
              <a:t>("</a:t>
            </a:r>
            <a:r>
              <a:rPr lang="zh-CN" altLang="zh-CN" sz="1600" b="0" dirty="0"/>
              <a:t>成绩分布图</a:t>
            </a:r>
            <a:r>
              <a:rPr lang="en-US" altLang="zh-CN" sz="1600" b="0" dirty="0"/>
              <a:t>")            #</a:t>
            </a:r>
            <a:r>
              <a:rPr lang="zh-CN" altLang="zh-CN" sz="1600" b="0" dirty="0"/>
              <a:t>图表标题</a:t>
            </a:r>
          </a:p>
          <a:p>
            <a:pPr marL="0" indent="0">
              <a:buNone/>
            </a:pPr>
            <a:r>
              <a:rPr lang="en-US" altLang="zh-CN" sz="1600" b="0" dirty="0"/>
              <a:t>labels = ['</a:t>
            </a:r>
            <a:r>
              <a:rPr lang="zh-CN" altLang="zh-CN" sz="1600" b="0" dirty="0"/>
              <a:t>优秀</a:t>
            </a:r>
            <a:r>
              <a:rPr lang="en-US" altLang="zh-CN" sz="1600" b="0" dirty="0"/>
              <a:t>', '</a:t>
            </a:r>
            <a:r>
              <a:rPr lang="zh-CN" altLang="zh-CN" sz="1600" b="0" dirty="0"/>
              <a:t>良好</a:t>
            </a:r>
            <a:r>
              <a:rPr lang="en-US" altLang="zh-CN" sz="1600" b="0" dirty="0"/>
              <a:t>', '</a:t>
            </a:r>
            <a:r>
              <a:rPr lang="zh-CN" altLang="zh-CN" sz="1600" b="0" dirty="0"/>
              <a:t>中</a:t>
            </a:r>
            <a:r>
              <a:rPr lang="en-US" altLang="zh-CN" sz="1600" b="0" dirty="0"/>
              <a:t>', '</a:t>
            </a:r>
            <a:r>
              <a:rPr lang="zh-CN" altLang="zh-CN" sz="1600" b="0" dirty="0"/>
              <a:t>及格</a:t>
            </a:r>
            <a:r>
              <a:rPr lang="en-US" altLang="zh-CN" sz="1600" b="0" dirty="0"/>
              <a:t>','</a:t>
            </a:r>
            <a:r>
              <a:rPr lang="zh-CN" altLang="zh-CN" sz="1600" b="0" dirty="0"/>
              <a:t>不及格</a:t>
            </a:r>
            <a:r>
              <a:rPr lang="en-US" altLang="zh-CN" sz="1600" b="0" dirty="0"/>
              <a:t>']   #</a:t>
            </a:r>
            <a:r>
              <a:rPr lang="zh-CN" altLang="zh-CN" sz="1600" b="0" dirty="0"/>
              <a:t>数据标记</a:t>
            </a:r>
          </a:p>
          <a:p>
            <a:pPr marL="0" indent="0">
              <a:buNone/>
            </a:pPr>
            <a:r>
              <a:rPr lang="en-US" altLang="zh-CN" sz="1600" b="0" dirty="0"/>
              <a:t>explode = (0.2, 0, 0, 0,0)        #</a:t>
            </a:r>
            <a:r>
              <a:rPr lang="zh-CN" altLang="zh-CN" sz="1600" b="0" dirty="0"/>
              <a:t>裂开第</a:t>
            </a:r>
            <a:r>
              <a:rPr lang="en-US" altLang="zh-CN" sz="1600" b="0" dirty="0"/>
              <a:t>1</a:t>
            </a:r>
            <a:r>
              <a:rPr lang="zh-CN" altLang="zh-CN" sz="1600" b="0" dirty="0"/>
              <a:t>块</a:t>
            </a:r>
          </a:p>
          <a:p>
            <a:pPr marL="0" indent="0">
              <a:buNone/>
            </a:pPr>
            <a:r>
              <a:rPr lang="en-US" altLang="zh-CN" sz="1600" b="0" dirty="0" err="1"/>
              <a:t>plt.axis</a:t>
            </a:r>
            <a:r>
              <a:rPr lang="en-US" altLang="zh-CN" sz="1600" b="0" dirty="0"/>
              <a:t>('equal')#  </a:t>
            </a:r>
            <a:r>
              <a:rPr lang="zh-CN" altLang="en-US" sz="1600" b="0" dirty="0"/>
              <a:t>设置横轴纵轴比例一样</a:t>
            </a:r>
            <a:endParaRPr lang="zh-CN" altLang="zh-CN" sz="1600" b="0" dirty="0"/>
          </a:p>
          <a:p>
            <a:pPr marL="0" indent="0">
              <a:buNone/>
            </a:pPr>
            <a:r>
              <a:rPr lang="en-US" altLang="zh-CN" sz="1600" b="0" dirty="0" err="1">
                <a:solidFill>
                  <a:srgbClr val="FF0000"/>
                </a:solidFill>
              </a:rPr>
              <a:t>plt.pie</a:t>
            </a:r>
            <a:r>
              <a:rPr lang="en-US" altLang="zh-CN" sz="1600" b="0" dirty="0">
                <a:solidFill>
                  <a:srgbClr val="FF0000"/>
                </a:solidFill>
              </a:rPr>
              <a:t>(score, explode=explode, labels=labels, </a:t>
            </a:r>
            <a:r>
              <a:rPr lang="en-US" altLang="zh-CN" sz="1600" b="0" dirty="0" err="1">
                <a:solidFill>
                  <a:srgbClr val="FF0000"/>
                </a:solidFill>
              </a:rPr>
              <a:t>autopct</a:t>
            </a:r>
            <a:r>
              <a:rPr lang="en-US" altLang="zh-CN" sz="1600" b="0" dirty="0">
                <a:solidFill>
                  <a:srgbClr val="FF0000"/>
                </a:solidFill>
              </a:rPr>
              <a:t>='%4.1f%%')</a:t>
            </a:r>
            <a:endParaRPr lang="zh-CN" altLang="zh-CN" sz="16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600" b="0" dirty="0"/>
              <a:t># </a:t>
            </a:r>
            <a:r>
              <a:rPr lang="en-US" altLang="zh-CN" sz="1600" b="0" dirty="0" err="1"/>
              <a:t>autopct</a:t>
            </a:r>
            <a:r>
              <a:rPr lang="en-US" altLang="zh-CN" sz="1600" b="0" dirty="0"/>
              <a:t>='%4.1f%%'</a:t>
            </a:r>
            <a:r>
              <a:rPr lang="zh-CN" altLang="zh-CN" sz="1600" b="0" dirty="0"/>
              <a:t>控制数据标记的格式化显示</a:t>
            </a:r>
            <a:r>
              <a:rPr lang="en-US" altLang="zh-CN" sz="1600" b="0" dirty="0"/>
              <a:t>,</a:t>
            </a:r>
            <a:r>
              <a:rPr lang="zh-CN" altLang="zh-CN" sz="1600" b="0" dirty="0"/>
              <a:t>显示</a:t>
            </a:r>
            <a:r>
              <a:rPr lang="en-US" altLang="zh-CN" sz="1600" b="0" dirty="0"/>
              <a:t>1</a:t>
            </a:r>
            <a:r>
              <a:rPr lang="zh-CN" altLang="zh-CN" sz="1600" b="0" dirty="0"/>
              <a:t>位小数</a:t>
            </a:r>
          </a:p>
          <a:p>
            <a:pPr marL="0" indent="0">
              <a:buNone/>
            </a:pPr>
            <a:r>
              <a:rPr lang="en-US" altLang="zh-CN" sz="1600" b="0" dirty="0" err="1"/>
              <a:t>plt.legend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bbox_to_anchor</a:t>
            </a:r>
            <a:r>
              <a:rPr lang="en-US" altLang="zh-CN" sz="1600" b="0" dirty="0"/>
              <a:t>=(1, 0.6))     #</a:t>
            </a:r>
            <a:r>
              <a:rPr lang="zh-CN" altLang="zh-CN" sz="1600" b="0" dirty="0"/>
              <a:t>设置图例显示</a:t>
            </a:r>
            <a:endParaRPr lang="en-US" altLang="zh-CN" sz="1600" b="0" dirty="0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275468" y="718069"/>
            <a:ext cx="5592676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 </a:t>
            </a:r>
            <a:r>
              <a:rPr lang="zh-CN" altLang="zh-CN" sz="1800" dirty="0">
                <a:solidFill>
                  <a:srgbClr val="0070C0"/>
                </a:solidFill>
              </a:rPr>
              <a:t>绘制一个饼图，显示各等级成绩的占比情况</a:t>
            </a:r>
            <a:endParaRPr lang="zh-CN" altLang="en-US" sz="18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3FE6EA-1E04-4636-8A78-96BC1DEF8E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84168" y="2067694"/>
            <a:ext cx="2601134" cy="1536869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F7F0078-B7A1-4F37-969C-231FF43CD6BD}"/>
              </a:ext>
            </a:extLst>
          </p:cNvPr>
          <p:cNvSpPr txBox="1"/>
          <p:nvPr/>
        </p:nvSpPr>
        <p:spPr>
          <a:xfrm>
            <a:off x="2699792" y="449648"/>
            <a:ext cx="51845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plt.pie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(score, explode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labels,……)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278576" y="310978"/>
            <a:ext cx="3096344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8.2.2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绘制饼图</a:t>
            </a:r>
            <a:endParaRPr lang="zh-CN" altLang="en-US" sz="24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五角星 1">
            <a:extLst>
              <a:ext uri="{FF2B5EF4-FFF2-40B4-BE49-F238E27FC236}">
                <a16:creationId xmlns:a16="http://schemas.microsoft.com/office/drawing/2014/main" id="{8F6E436A-E301-67E7-DD2A-5E0D7D668D5D}"/>
              </a:ext>
            </a:extLst>
          </p:cNvPr>
          <p:cNvSpPr/>
          <p:nvPr/>
        </p:nvSpPr>
        <p:spPr bwMode="auto">
          <a:xfrm>
            <a:off x="35496" y="51470"/>
            <a:ext cx="432048" cy="398178"/>
          </a:xfrm>
          <a:prstGeom prst="star5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431062" y="627534"/>
            <a:ext cx="5545311" cy="48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8.2.3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绘制散点图</a:t>
            </a:r>
            <a:endParaRPr lang="zh-CN" altLang="en-US" sz="24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1F505E-AFC6-4BA7-AAB5-C9663927F044}"/>
              </a:ext>
            </a:extLst>
          </p:cNvPr>
          <p:cNvSpPr/>
          <p:nvPr/>
        </p:nvSpPr>
        <p:spPr>
          <a:xfrm>
            <a:off x="431062" y="1275606"/>
            <a:ext cx="8568952" cy="35394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scatter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函数用于绘制散点图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散点图适合展现两个变量之间的关系，用两组数据构成多个坐标点，通过坐标点的分布来判断两个变量之间是否存在某种关联，或分析坐标点的分布情况。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scatter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函数的使用形式为：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plt.scatter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(x, y, s=None, c=None, marker=None, </a:t>
            </a:r>
            <a:r>
              <a:rPr lang="en-US" altLang="zh-CN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cmap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=None,**</a:t>
            </a:r>
            <a:r>
              <a:rPr lang="en-US" altLang="zh-CN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kwargs</a:t>
            </a:r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</a:p>
          <a:p>
            <a:pPr lvl="1"/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：存放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所有顶点的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坐标序列，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中存储所有顶点的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坐标序列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用于指定标记大小，默认为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36.0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。如果指定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s=10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，那么所有标记点的大小都是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。如果要显示不同大小的标记，可以给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赋值一个列表或元组序列，其长度必须与标记点的数量一致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zh-CN" sz="1600" dirty="0"/>
              <a:t>③</a:t>
            </a:r>
            <a:r>
              <a:rPr lang="en-US" altLang="zh-CN" sz="1600" dirty="0"/>
              <a:t> </a:t>
            </a:r>
            <a:r>
              <a:rPr lang="zh-CN" altLang="zh-CN" sz="1600" dirty="0"/>
              <a:t>参数</a:t>
            </a:r>
            <a:r>
              <a:rPr lang="en-US" altLang="zh-CN" sz="1600" dirty="0"/>
              <a:t>c</a:t>
            </a:r>
            <a:r>
              <a:rPr lang="zh-CN" altLang="zh-CN" sz="1600" dirty="0"/>
              <a:t>用于标记每个顶点的颜色</a:t>
            </a:r>
            <a:r>
              <a:rPr lang="zh-CN" altLang="en-US" sz="1600" dirty="0"/>
              <a:t>；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31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528" y="483518"/>
            <a:ext cx="6552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【例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】绘制一个散点图，显示鸢尾花的分类情况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915566"/>
            <a:ext cx="8424936" cy="418576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matplotlib import cm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plt.rcParams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font.sans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-serif"]=["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SimHei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 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iris=open("iris.csv").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readlines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(iris)):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iris[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]=iris[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rstrip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(“\n”).strip()    #</a:t>
            </a:r>
            <a:r>
              <a:rPr lang="zh-CN" alt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去末尾换行符和多余空格</a:t>
            </a:r>
            <a:endParaRPr lang="en-US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iris[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]: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iris[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]=iris[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].split(“,”)        #</a:t>
            </a:r>
            <a:r>
              <a:rPr lang="zh-CN" alt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分割字符串</a:t>
            </a:r>
            <a:endParaRPr lang="en-US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x=[float(item[2]) for item in iris if </a:t>
            </a:r>
            <a:r>
              <a:rPr lang="en-US" altLang="zh-CN" sz="1400" kern="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(item)&gt;0 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item[-1]==“Iris-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”]  #</a:t>
            </a:r>
            <a:r>
              <a:rPr lang="zh-CN" alt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去空行，取宽度</a:t>
            </a:r>
            <a:endParaRPr lang="en-US" altLang="zh-CN" sz="14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y=[float(item[3]) for item in iris if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(item)&gt;0 and item[-1]=="Iris-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x,y,c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r',marker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="*",label="</a:t>
            </a:r>
            <a:r>
              <a:rPr lang="zh-CN" alt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山鸢尾花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x=[float(item[2]) for item in iris if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(item)&gt;0 and item[-1]=="Iris-versicolor"]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y=[float(item[3]) for item in iris if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(item)&gt;0 and item[-1]=="Iris-versicolor"]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x,y,c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g',marker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o",label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zh-CN" alt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变色鸢尾花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x=[float(item[2]) for item in iris if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(item)&gt;0 and item[-1]=="Iris-virginica"]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y=[float(item[3]) for item in iris if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(item)&gt;0 and item[-1]=="Iris-virginica"]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x,y,c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b',marker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="^",label="</a:t>
            </a:r>
            <a:r>
              <a:rPr lang="zh-CN" altLang="en-US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维吉尼亚鸢尾花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plt.legend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FE71A7-B605-C610-8773-0C0A41C324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44282" y="1131590"/>
            <a:ext cx="2228118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63041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9B6C-135C-3FB7-370F-8AC45EC8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54FDE9-EE48-72B9-67C9-E677625401A3}"/>
              </a:ext>
            </a:extLst>
          </p:cNvPr>
          <p:cNvSpPr/>
          <p:nvPr/>
        </p:nvSpPr>
        <p:spPr>
          <a:xfrm>
            <a:off x="323528" y="483518"/>
            <a:ext cx="8064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【例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】绘制一个散点图，显示鸢尾花的分类情况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自学，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81E355-00F9-9802-C836-4B5A4A9D0885}"/>
              </a:ext>
            </a:extLst>
          </p:cNvPr>
          <p:cNvSpPr/>
          <p:nvPr/>
        </p:nvSpPr>
        <p:spPr>
          <a:xfrm>
            <a:off x="395536" y="915566"/>
            <a:ext cx="5184576" cy="39703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load_iris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cm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plt.rcParams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font.sans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-serif"]=["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SimHei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 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iris=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load_iris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	#</a:t>
            </a:r>
            <a:r>
              <a:rPr lang="zh-CN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加载鸢尾花数据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iris.data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</a:t>
            </a:r>
            <a:r>
              <a:rPr lang="zh-CN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获得数据集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iris.target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#</a:t>
            </a:r>
            <a:r>
              <a:rPr lang="zh-CN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获得样本的分类信息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==0,2]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==0,3]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x,y,c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r',marker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="*",label="</a:t>
            </a:r>
            <a:r>
              <a:rPr lang="zh-CN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山鸢尾花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==1,2]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==1,3]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x,y,c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g',marker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o",label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zh-CN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变色鸢尾花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==2,2]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==2,3]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x,y,c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b',marker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="^",label="</a:t>
            </a:r>
            <a:r>
              <a:rPr lang="zh-CN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维吉尼亚鸢尾花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plt.legend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altLang="zh-CN" sz="14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EC45B8-FFF4-4393-3D4B-189CFAA988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90599" y="1635646"/>
            <a:ext cx="3509645" cy="2327275"/>
          </a:xfrm>
          <a:prstGeom prst="rect">
            <a:avLst/>
          </a:prstGeom>
        </p:spPr>
      </p:pic>
      <p:sp>
        <p:nvSpPr>
          <p:cNvPr id="2" name="标注: 线形 1">
            <a:extLst>
              <a:ext uri="{FF2B5EF4-FFF2-40B4-BE49-F238E27FC236}">
                <a16:creationId xmlns:a16="http://schemas.microsoft.com/office/drawing/2014/main" id="{43EFC82C-F71D-6A2D-4C76-5B439B6A62C1}"/>
              </a:ext>
            </a:extLst>
          </p:cNvPr>
          <p:cNvSpPr/>
          <p:nvPr/>
        </p:nvSpPr>
        <p:spPr bwMode="auto">
          <a:xfrm>
            <a:off x="2589820" y="2527759"/>
            <a:ext cx="530915" cy="230832"/>
          </a:xfrm>
          <a:prstGeom prst="borderCallout1">
            <a:avLst>
              <a:gd name="adj1" fmla="val 18750"/>
              <a:gd name="adj2" fmla="val -8333"/>
              <a:gd name="adj3" fmla="val 22199"/>
              <a:gd name="adj4" fmla="val -149617"/>
            </a:avLst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过滤行</a:t>
            </a:r>
          </a:p>
        </p:txBody>
      </p:sp>
      <p:sp>
        <p:nvSpPr>
          <p:cNvPr id="9" name="标注: 线形 8">
            <a:extLst>
              <a:ext uri="{FF2B5EF4-FFF2-40B4-BE49-F238E27FC236}">
                <a16:creationId xmlns:a16="http://schemas.microsoft.com/office/drawing/2014/main" id="{90148BB1-C6A2-2644-00F2-BA8438335913}"/>
              </a:ext>
            </a:extLst>
          </p:cNvPr>
          <p:cNvSpPr/>
          <p:nvPr/>
        </p:nvSpPr>
        <p:spPr bwMode="auto">
          <a:xfrm>
            <a:off x="3347866" y="2527759"/>
            <a:ext cx="530916" cy="230832"/>
          </a:xfrm>
          <a:prstGeom prst="borderCallout1">
            <a:avLst>
              <a:gd name="adj1" fmla="val 18750"/>
              <a:gd name="adj2" fmla="val -8333"/>
              <a:gd name="adj3" fmla="val 120498"/>
              <a:gd name="adj4" fmla="val -270179"/>
            </a:avLst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</a:rPr>
              <a:t>指定列</a:t>
            </a:r>
          </a:p>
        </p:txBody>
      </p:sp>
    </p:spTree>
    <p:extLst>
      <p:ext uri="{BB962C8B-B14F-4D97-AF65-F5344CB8AC3E}">
        <p14:creationId xmlns:p14="http://schemas.microsoft.com/office/powerpoint/2010/main" val="498796086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>
            <a:spLocks/>
          </p:cNvSpPr>
          <p:nvPr/>
        </p:nvSpPr>
        <p:spPr bwMode="auto">
          <a:xfrm>
            <a:off x="445629" y="555527"/>
            <a:ext cx="5545311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综合应用案例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67744" y="586885"/>
            <a:ext cx="6062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【例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8.11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】分别用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plot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函数和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scatter</a:t>
            </a:r>
            <a:r>
              <a:rPr lang="zh-CN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函数绘制图案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42123" y="1266265"/>
            <a:ext cx="4368710" cy="26189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23528" y="1266265"/>
            <a:ext cx="33123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200000"/>
              </a:lnSpc>
              <a:spcAft>
                <a:spcPts val="0"/>
              </a:spcAft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图案的参数方程为：</a:t>
            </a:r>
          </a:p>
          <a:p>
            <a:pPr marL="266700" indent="266700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r=sin(a*θ)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x=r*cos(θ)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y=r*sin(θ)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其中：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[0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π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之间的弧度值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任意实数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>
              <a:spcAft>
                <a:spcPts val="0"/>
              </a:spcAft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a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的值决定了图案的形状</a:t>
            </a:r>
          </a:p>
        </p:txBody>
      </p:sp>
    </p:spTree>
    <p:extLst>
      <p:ext uri="{BB962C8B-B14F-4D97-AF65-F5344CB8AC3E}">
        <p14:creationId xmlns:p14="http://schemas.microsoft.com/office/powerpoint/2010/main" val="322082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FF8DC4-2905-475A-9E6E-7F29C197A551}"/>
              </a:ext>
            </a:extLst>
          </p:cNvPr>
          <p:cNvPicPr/>
          <p:nvPr/>
        </p:nvPicPr>
        <p:blipFill rotWithShape="1">
          <a:blip r:embed="rId2"/>
          <a:srcRect r="49020"/>
          <a:stretch/>
        </p:blipFill>
        <p:spPr>
          <a:xfrm>
            <a:off x="6300192" y="839622"/>
            <a:ext cx="1872208" cy="183242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796136" y="2787774"/>
            <a:ext cx="3096344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#改进</a:t>
            </a:r>
          </a:p>
          <a:p>
            <a:r>
              <a:rPr lang="zh-CN" altLang="en-US" sz="1600" dirty="0"/>
              <a:t>th=0; xx=[]; yy=[]</a:t>
            </a:r>
          </a:p>
          <a:p>
            <a:r>
              <a:rPr lang="zh-CN" altLang="en-US" sz="1600" dirty="0"/>
              <a:t>while th&lt;=2 * math.pi: </a:t>
            </a:r>
            <a:endParaRPr lang="en-US" altLang="zh-CN" sz="1600" dirty="0"/>
          </a:p>
          <a:p>
            <a:r>
              <a:rPr lang="en-US" altLang="zh-CN" sz="1600" dirty="0"/>
              <a:t>     </a:t>
            </a:r>
            <a:r>
              <a:rPr lang="zh-CN" altLang="en-US" sz="1600" dirty="0"/>
              <a:t>r=math.sin(4*th) 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zh-CN" altLang="en-US" sz="1600" dirty="0"/>
              <a:t>xx.append(r*math.cos(th))</a:t>
            </a:r>
          </a:p>
          <a:p>
            <a:r>
              <a:rPr lang="zh-CN" altLang="en-US" sz="1600" dirty="0"/>
              <a:t>    yy.append(r*math.sin(th))</a:t>
            </a:r>
          </a:p>
          <a:p>
            <a:r>
              <a:rPr lang="zh-CN" altLang="en-US" sz="1600" dirty="0"/>
              <a:t>    th+=0.02</a:t>
            </a:r>
          </a:p>
          <a:p>
            <a:r>
              <a:rPr lang="zh-CN" altLang="en-US" sz="1600" b="1" dirty="0">
                <a:solidFill>
                  <a:srgbClr val="FF0000"/>
                </a:solidFill>
              </a:rPr>
              <a:t>plt.plot(xx,yy,'b*',linewidth=4)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04445" y="643671"/>
            <a:ext cx="5321696" cy="405675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math  import  *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plt.rcParams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axes.unicode_minus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']=False</a:t>
            </a:r>
          </a:p>
          <a:p>
            <a:pPr marL="0" indent="0">
              <a:buNone/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plt.rcParams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font.sans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-serif']=['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SimHei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创建绘图区</a:t>
            </a:r>
            <a:endParaRPr lang="en-US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fig1=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plt.figure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figsize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=(8,4),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facecolor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='w')</a:t>
            </a:r>
          </a:p>
          <a:p>
            <a:pPr marL="0" indent="0"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fig1.add_subplot(121)          #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添加第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个子绘图区</a:t>
            </a:r>
            <a:endParaRPr lang="en-US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#plt.subplot(121)</a:t>
            </a:r>
            <a:endParaRPr lang="zh-CN" altLang="zh-CN" sz="1400" b="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plt.title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标记绘制的图案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a&lt;=2 * pi:             #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每次产生一个坐标点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r=sin(4*a)                   #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花瓣数为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，半径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=r*cos(a),r*sin(a) 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plt.plot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x,y,'b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*',linewidth=4)     #</a:t>
            </a:r>
            <a:r>
              <a:rPr lang="zh-CN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绘制星号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a+=0.02</a:t>
            </a: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zh-CN" sz="1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0424" y="308065"/>
            <a:ext cx="8228142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0070C0"/>
                </a:solidFill>
              </a:rPr>
              <a:t>方法</a:t>
            </a:r>
            <a:r>
              <a:rPr lang="en-US" altLang="zh-CN" b="1" dirty="0">
                <a:solidFill>
                  <a:srgbClr val="0070C0"/>
                </a:solidFill>
              </a:rPr>
              <a:t>1</a:t>
            </a:r>
            <a:r>
              <a:rPr lang="zh-CN" altLang="zh-CN" b="1" dirty="0">
                <a:solidFill>
                  <a:srgbClr val="0070C0"/>
                </a:solidFill>
              </a:rPr>
              <a:t>，用标准的数学库函数来实现，利用循环控制生成每一个坐标点的值。</a:t>
            </a:r>
          </a:p>
        </p:txBody>
      </p:sp>
    </p:spTree>
    <p:extLst>
      <p:ext uri="{BB962C8B-B14F-4D97-AF65-F5344CB8AC3E}">
        <p14:creationId xmlns:p14="http://schemas.microsoft.com/office/powerpoint/2010/main" val="260478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A233C2-A9B5-4F2E-8FED-2BC85F48C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555526"/>
            <a:ext cx="4680520" cy="295232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/>
              <a:t>fig1.add_subplot(122)</a:t>
            </a:r>
            <a:endParaRPr lang="zh-CN" altLang="zh-CN" sz="1800" b="0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800" b="0" dirty="0" err="1"/>
              <a:t>plt.title</a:t>
            </a:r>
            <a:r>
              <a:rPr lang="en-US" altLang="zh-CN" sz="1800" b="0" dirty="0"/>
              <a:t>('</a:t>
            </a:r>
            <a:r>
              <a:rPr lang="zh-CN" altLang="zh-CN" sz="1800" b="0" dirty="0"/>
              <a:t>散点绘制的图案</a:t>
            </a:r>
            <a:r>
              <a:rPr lang="en-US" altLang="zh-CN" sz="1800" b="0" dirty="0"/>
              <a:t>')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800" b="0" dirty="0"/>
              <a:t>a=0</a:t>
            </a:r>
            <a:endParaRPr lang="zh-CN" altLang="zh-CN" sz="1800" b="0" dirty="0"/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altLang="zh-CN" sz="1800" b="0" dirty="0"/>
              <a:t>while a&lt;=2* pi:       </a:t>
            </a:r>
            <a:endParaRPr lang="zh-CN" altLang="zh-CN" sz="1800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800" b="0" dirty="0"/>
              <a:t>    r=sin(5*a) #</a:t>
            </a:r>
            <a:r>
              <a:rPr lang="zh-CN" altLang="zh-CN" sz="1800" b="0" dirty="0"/>
              <a:t>花瓣数为</a:t>
            </a:r>
            <a:r>
              <a:rPr lang="en-US" altLang="zh-CN" sz="1800" b="0" dirty="0"/>
              <a:t>5</a:t>
            </a:r>
            <a:endParaRPr lang="zh-CN" altLang="zh-CN" sz="1800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800" b="0" dirty="0"/>
              <a:t>    </a:t>
            </a:r>
            <a:r>
              <a:rPr lang="en-US" altLang="zh-CN" sz="1800" b="0" dirty="0" err="1"/>
              <a:t>x,y</a:t>
            </a:r>
            <a:r>
              <a:rPr lang="en-US" altLang="zh-CN" sz="1800" b="0" dirty="0"/>
              <a:t>=r*cos(a),r*sin(a)</a:t>
            </a:r>
            <a:endParaRPr lang="zh-CN" altLang="zh-CN" sz="1800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800" b="0" dirty="0">
                <a:solidFill>
                  <a:srgbClr val="FF0000"/>
                </a:solidFill>
              </a:rPr>
              <a:t>    </a:t>
            </a:r>
            <a:r>
              <a:rPr lang="en-US" altLang="zh-CN" sz="1800" b="0" dirty="0" err="1">
                <a:solidFill>
                  <a:srgbClr val="FF0000"/>
                </a:solidFill>
              </a:rPr>
              <a:t>plt.scatter</a:t>
            </a:r>
            <a:r>
              <a:rPr lang="en-US" altLang="zh-CN" sz="1800" b="0" dirty="0">
                <a:solidFill>
                  <a:srgbClr val="FF0000"/>
                </a:solidFill>
              </a:rPr>
              <a:t>(</a:t>
            </a:r>
            <a:r>
              <a:rPr lang="en-US" altLang="zh-CN" sz="1800" b="0" dirty="0" err="1">
                <a:solidFill>
                  <a:srgbClr val="FF0000"/>
                </a:solidFill>
              </a:rPr>
              <a:t>x,y,c</a:t>
            </a:r>
            <a:r>
              <a:rPr lang="en-US" altLang="zh-CN" sz="1800" b="0" dirty="0">
                <a:solidFill>
                  <a:srgbClr val="FF0000"/>
                </a:solidFill>
              </a:rPr>
              <a:t>="</a:t>
            </a:r>
            <a:r>
              <a:rPr lang="en-US" altLang="zh-CN" sz="1800" b="0" dirty="0" err="1">
                <a:solidFill>
                  <a:srgbClr val="FF0000"/>
                </a:solidFill>
              </a:rPr>
              <a:t>g",marker</a:t>
            </a:r>
            <a:r>
              <a:rPr lang="en-US" altLang="zh-CN" sz="1800" b="0" dirty="0">
                <a:solidFill>
                  <a:srgbClr val="FF0000"/>
                </a:solidFill>
              </a:rPr>
              <a:t>="o") </a:t>
            </a:r>
            <a:r>
              <a:rPr lang="en-US" altLang="zh-CN" sz="1800" b="0" dirty="0"/>
              <a:t>a+=0.02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FF8DC4-2905-475A-9E6E-7F29C197A551}"/>
              </a:ext>
            </a:extLst>
          </p:cNvPr>
          <p:cNvPicPr/>
          <p:nvPr/>
        </p:nvPicPr>
        <p:blipFill rotWithShape="1">
          <a:blip r:embed="rId2"/>
          <a:srcRect l="49020"/>
          <a:stretch/>
        </p:blipFill>
        <p:spPr>
          <a:xfrm>
            <a:off x="5940152" y="3003798"/>
            <a:ext cx="2160240" cy="18324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20072" y="555526"/>
            <a:ext cx="372616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改进：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th=0; xx=[]; yy=[]</a:t>
            </a:r>
          </a:p>
          <a:p>
            <a:r>
              <a:rPr lang="zh-CN" altLang="en-US" dirty="0"/>
              <a:t>while th&lt;=2* math.pi:       </a:t>
            </a:r>
          </a:p>
          <a:p>
            <a:r>
              <a:rPr lang="zh-CN" altLang="en-US" dirty="0"/>
              <a:t>    r=math.sin(5*th)</a:t>
            </a:r>
          </a:p>
          <a:p>
            <a:r>
              <a:rPr lang="zh-CN" altLang="en-US" dirty="0"/>
              <a:t>    xx.append(r*math.cos(th))</a:t>
            </a:r>
          </a:p>
          <a:p>
            <a:r>
              <a:rPr lang="zh-CN" altLang="en-US" dirty="0"/>
              <a:t>    yy.append(r*math.sin(th))    </a:t>
            </a:r>
          </a:p>
          <a:p>
            <a:r>
              <a:rPr lang="zh-CN" altLang="en-US" dirty="0"/>
              <a:t>    th+=0.02</a:t>
            </a:r>
          </a:p>
          <a:p>
            <a:r>
              <a:rPr lang="zh-CN" altLang="en-US" dirty="0"/>
              <a:t>plt.scatter(xx,yy,c="g",marker="o")</a:t>
            </a:r>
          </a:p>
        </p:txBody>
      </p:sp>
    </p:spTree>
    <p:extLst>
      <p:ext uri="{BB962C8B-B14F-4D97-AF65-F5344CB8AC3E}">
        <p14:creationId xmlns:p14="http://schemas.microsoft.com/office/powerpoint/2010/main" val="5954525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83568" y="1086237"/>
            <a:ext cx="7992888" cy="37818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np         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plt.rcParams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axes.unicode_minus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']=False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plt.rcParams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font.sans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-serif']=['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SimHei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fig1=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plt.figure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figsize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=(8,4),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facecolor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='w')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</a:t>
            </a: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np.arange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(0,2*np.pi,0.02)</a:t>
            </a:r>
            <a:r>
              <a:rPr lang="en-US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快速生成表示角度值的序列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np.sin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(4*a)                               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计算相应的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=r*</a:t>
            </a: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np.cos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(a),r*</a:t>
            </a: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np.sin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en-US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计算坐标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的序列值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fig1.add_subplot(121) 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plt.title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标记点绘制图案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plt.plot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x,y,'b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*',linewidth=4)</a:t>
            </a:r>
            <a:endParaRPr lang="zh-CN" altLang="zh-CN" sz="1600" b="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fig1.add_subplot(122)    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plt.title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散点绘制图案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plt.scatter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x,y,c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</a:t>
            </a:r>
            <a:r>
              <a:rPr lang="en-US" altLang="zh-CN" sz="1600" b="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g”,marker</a:t>
            </a:r>
            <a:r>
              <a:rPr lang="en-US" altLang="zh-CN" sz="1600" b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=“o”)</a:t>
            </a:r>
            <a:r>
              <a:rPr lang="en-US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#</a:t>
            </a:r>
            <a:r>
              <a:rPr lang="en-US" altLang="zh-CN" sz="1600" b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zh-CN" altLang="en-US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是序列</a:t>
            </a:r>
            <a:endParaRPr lang="zh-CN" altLang="zh-CN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8994" y="627534"/>
            <a:ext cx="8387462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0070C0"/>
                </a:solidFill>
              </a:rPr>
              <a:t>方法</a:t>
            </a:r>
            <a:r>
              <a:rPr lang="en-US" altLang="zh-CN" b="1" dirty="0">
                <a:solidFill>
                  <a:srgbClr val="0070C0"/>
                </a:solidFill>
              </a:rPr>
              <a:t>2</a:t>
            </a:r>
            <a:r>
              <a:rPr lang="zh-CN" altLang="zh-CN" b="1" dirty="0">
                <a:solidFill>
                  <a:srgbClr val="0070C0"/>
                </a:solidFill>
              </a:rPr>
              <a:t>，引入</a:t>
            </a:r>
            <a:r>
              <a:rPr lang="en-US" altLang="zh-CN" b="1" dirty="0" err="1">
                <a:solidFill>
                  <a:srgbClr val="0070C0"/>
                </a:solidFill>
              </a:rPr>
              <a:t>numpy</a:t>
            </a:r>
            <a:r>
              <a:rPr lang="zh-CN" altLang="zh-CN" b="1" dirty="0">
                <a:solidFill>
                  <a:srgbClr val="0070C0"/>
                </a:solidFill>
              </a:rPr>
              <a:t>库，可以快速生成数据序列并制图，简单方便</a:t>
            </a:r>
            <a:endParaRPr lang="zh-CN" altLang="en-US" sz="1600" b="1" kern="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301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37C3A4-6F86-40DB-B271-F81A1305714B}"/>
              </a:ext>
            </a:extLst>
          </p:cNvPr>
          <p:cNvSpPr txBox="1"/>
          <p:nvPr/>
        </p:nvSpPr>
        <p:spPr>
          <a:xfrm>
            <a:off x="323528" y="843558"/>
            <a:ext cx="8064896" cy="39703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180000" tIns="0" rIns="0" bIns="0" rtlCol="0">
            <a:spAutoFit/>
          </a:bodyPr>
          <a:lstStyle/>
          <a:p>
            <a:r>
              <a:rPr lang="en-US" altLang="zh-CN" sz="2400" dirty="0" err="1"/>
              <a:t>plt.bar</a:t>
            </a:r>
            <a:r>
              <a:rPr lang="en-US" altLang="zh-CN" sz="2400" dirty="0"/>
              <a:t>(left, height, width, ……)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参数：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1. left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en-US" altLang="zh-CN" sz="2000" dirty="0"/>
              <a:t>x</a:t>
            </a:r>
            <a:r>
              <a:rPr lang="zh-CN" altLang="en-US" sz="2000" dirty="0"/>
              <a:t>轴的位置序列，一般采用</a:t>
            </a:r>
            <a:r>
              <a:rPr lang="en-US" altLang="zh-CN" sz="2000" dirty="0" err="1"/>
              <a:t>arange</a:t>
            </a:r>
            <a:r>
              <a:rPr lang="zh-CN" altLang="en-US" sz="2000" dirty="0"/>
              <a:t>函数产生一个序列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2. height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en-US" altLang="zh-CN" sz="2000" dirty="0"/>
              <a:t>y</a:t>
            </a:r>
            <a:r>
              <a:rPr lang="zh-CN" altLang="en-US" sz="2000" dirty="0"/>
              <a:t>轴的数值序列，即柱形图的高度（对应要展示的数据）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3. alpha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zh-CN" altLang="en-US" sz="2000" dirty="0"/>
              <a:t>透明度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4. width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zh-CN" altLang="en-US" sz="2000" dirty="0"/>
              <a:t>为柱形图的宽度，一般</a:t>
            </a:r>
            <a:r>
              <a:rPr lang="en-US" altLang="zh-CN" sz="2000" dirty="0"/>
              <a:t>0.8</a:t>
            </a:r>
            <a:r>
              <a:rPr lang="zh-CN" altLang="en-US" sz="2000" dirty="0"/>
              <a:t>即可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5. color</a:t>
            </a:r>
            <a:r>
              <a:rPr lang="zh-CN" altLang="en-US" sz="2000" dirty="0"/>
              <a:t>或</a:t>
            </a:r>
            <a:r>
              <a:rPr lang="en-US" altLang="zh-CN" sz="2000" dirty="0" err="1">
                <a:solidFill>
                  <a:srgbClr val="00B050"/>
                </a:solidFill>
              </a:rPr>
              <a:t>facecolor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zh-CN" altLang="en-US" sz="2000" dirty="0"/>
              <a:t>柱形图填充的颜色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6. </a:t>
            </a:r>
            <a:r>
              <a:rPr lang="en-US" altLang="zh-CN" sz="2000" dirty="0" err="1">
                <a:solidFill>
                  <a:srgbClr val="00B050"/>
                </a:solidFill>
              </a:rPr>
              <a:t>edgecolor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zh-CN" altLang="en-US" sz="2000" dirty="0"/>
              <a:t>图形边缘颜色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00B050"/>
                </a:solidFill>
              </a:rPr>
              <a:t> 7. label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zh-CN" altLang="en-US" sz="2000" dirty="0"/>
              <a:t>图例标签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8. linewidth or linewidths or </a:t>
            </a:r>
            <a:r>
              <a:rPr lang="en-US" altLang="zh-CN" sz="2000" dirty="0" err="1">
                <a:solidFill>
                  <a:srgbClr val="00B050"/>
                </a:solidFill>
              </a:rPr>
              <a:t>lw</a:t>
            </a:r>
            <a:r>
              <a:rPr lang="zh-CN" altLang="en-US" sz="2000" dirty="0">
                <a:solidFill>
                  <a:srgbClr val="00B050"/>
                </a:solidFill>
              </a:rPr>
              <a:t>：</a:t>
            </a:r>
            <a:r>
              <a:rPr lang="zh-CN" altLang="en-US" sz="2000" dirty="0"/>
              <a:t>线的宽度</a:t>
            </a:r>
            <a:r>
              <a:rPr lang="en-US" altLang="zh-CN" sz="1400" dirty="0"/>
              <a:t>						                      	              </a:t>
            </a:r>
          </a:p>
        </p:txBody>
      </p:sp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395536" y="171450"/>
            <a:ext cx="3744416" cy="606029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800" b="1" dirty="0"/>
              <a:t>条形图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1143000" y="-1321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114300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2427734"/>
            <a:ext cx="2678903" cy="18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5903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99CA8-9684-4FFA-868A-B2E4260C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627534"/>
            <a:ext cx="8275638" cy="504055"/>
          </a:xfrm>
        </p:spPr>
        <p:txBody>
          <a:bodyPr/>
          <a:lstStyle/>
          <a:p>
            <a:r>
              <a:rPr lang="zh-CN" altLang="en-US" sz="2400" b="1" dirty="0"/>
              <a:t>例：条形图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59571E-D4FA-465C-8A4D-BCFFC42E4086}"/>
              </a:ext>
            </a:extLst>
          </p:cNvPr>
          <p:cNvSpPr txBox="1">
            <a:spLocks/>
          </p:cNvSpPr>
          <p:nvPr/>
        </p:nvSpPr>
        <p:spPr bwMode="auto">
          <a:xfrm>
            <a:off x="539552" y="1236060"/>
            <a:ext cx="8352928" cy="36004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en-US" altLang="zh-CN" sz="18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mpl</a:t>
            </a:r>
            <a:endParaRPr lang="en-US" altLang="zh-CN" sz="18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mpl.rcParams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font.sans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-serif'] = ['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SimHei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rect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plt.bar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 =(0,1),height =(1,0.5),width=0.5, align='center')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#align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plt.xticks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函数中标签的位置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plt.ylabel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人数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  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plt.xlabel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plt.xticks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((0,1),("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男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女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plt.legend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</a:t>
            </a: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rect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,),("</a:t>
            </a:r>
            <a:r>
              <a:rPr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图例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",))</a:t>
            </a:r>
          </a:p>
          <a:p>
            <a:pPr marL="0" indent="0" eaLnBrk="1" hangingPunct="1">
              <a:spcBef>
                <a:spcPts val="0"/>
              </a:spcBef>
              <a:buClr>
                <a:schemeClr val="accent1"/>
              </a:buClr>
              <a:buSzPct val="70000"/>
              <a:buFontTx/>
              <a:buNone/>
            </a:pPr>
            <a:r>
              <a:rPr lang="en-US" altLang="zh-CN" sz="1800" b="0" kern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zh-CN" sz="18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3" y="3025572"/>
            <a:ext cx="2664296" cy="181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5298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250825" y="164654"/>
            <a:ext cx="4249168" cy="462409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8.6 </a:t>
            </a:r>
            <a:r>
              <a:rPr lang="zh-CN" altLang="en-US" sz="2400" b="1" dirty="0">
                <a:solidFill>
                  <a:srgbClr val="C00000"/>
                </a:solidFill>
              </a:rPr>
              <a:t>图像的条形图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50825" y="627063"/>
            <a:ext cx="8642350" cy="424894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800" dirty="0">
                <a:solidFill>
                  <a:srgbClr val="0070C0"/>
                </a:solidFill>
              </a:rPr>
              <a:t>方法</a:t>
            </a:r>
            <a:r>
              <a:rPr lang="en-US" altLang="zh-CN" sz="1800" dirty="0">
                <a:solidFill>
                  <a:srgbClr val="0070C0"/>
                </a:solidFill>
              </a:rPr>
              <a:t>1</a:t>
            </a:r>
            <a:r>
              <a:rPr lang="zh-CN" altLang="en-US" sz="1800" dirty="0">
                <a:solidFill>
                  <a:srgbClr val="0070C0"/>
                </a:solidFill>
              </a:rPr>
              <a:t>，采用</a:t>
            </a:r>
            <a:r>
              <a:rPr lang="en-US" altLang="zh-CN" sz="1800" dirty="0">
                <a:solidFill>
                  <a:srgbClr val="0070C0"/>
                </a:solidFill>
              </a:rPr>
              <a:t>bar</a:t>
            </a:r>
            <a:r>
              <a:rPr lang="zh-CN" altLang="en-US" sz="1800" dirty="0">
                <a:solidFill>
                  <a:srgbClr val="0070C0"/>
                </a:solidFill>
              </a:rPr>
              <a:t>函数绘制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import numpy as np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import </a:t>
            </a:r>
            <a:r>
              <a:rPr lang="en-US" altLang="zh-CN" sz="1600" b="0" dirty="0" err="1"/>
              <a:t>matplotlib.pyplot</a:t>
            </a:r>
            <a:r>
              <a:rPr lang="en-US" altLang="zh-CN" sz="1600" b="0" dirty="0"/>
              <a:t> as </a:t>
            </a:r>
            <a:r>
              <a:rPr lang="en-US" altLang="zh-CN" sz="1600" b="0" dirty="0" err="1"/>
              <a:t>plt</a:t>
            </a:r>
            <a:endParaRPr lang="en-US" altLang="zh-CN" sz="1600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>
                <a:solidFill>
                  <a:srgbClr val="FF0000"/>
                </a:solidFill>
              </a:rPr>
              <a:t>from PIL import Image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 err="1"/>
              <a:t>im</a:t>
            </a:r>
            <a:r>
              <a:rPr lang="en-US" altLang="zh-CN" sz="1600" b="0" dirty="0"/>
              <a:t>=</a:t>
            </a:r>
            <a:r>
              <a:rPr lang="en-US" altLang="zh-CN" sz="1600" b="0" dirty="0" err="1"/>
              <a:t>np.array</a:t>
            </a:r>
            <a:r>
              <a:rPr lang="en-US" altLang="zh-CN" sz="1600" b="0" dirty="0"/>
              <a:t>(</a:t>
            </a:r>
            <a:r>
              <a:rPr lang="en-US" altLang="zh-CN" sz="1600" b="0" dirty="0" err="1">
                <a:solidFill>
                  <a:srgbClr val="FF0000"/>
                </a:solidFill>
              </a:rPr>
              <a:t>Image.open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r"dog.jpg</a:t>
            </a:r>
            <a:r>
              <a:rPr lang="en-US" altLang="zh-CN" sz="1600" b="0" dirty="0"/>
              <a:t>"))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600" b="0" dirty="0" err="1"/>
              <a:t>hd</a:t>
            </a:r>
            <a:r>
              <a:rPr lang="en-US" altLang="zh-CN" sz="1600" b="0" dirty="0"/>
              <a:t>=256*[0]  #</a:t>
            </a:r>
            <a:r>
              <a:rPr lang="zh-CN" altLang="en-US" sz="1600" b="0" dirty="0"/>
              <a:t>给列表</a:t>
            </a:r>
            <a:r>
              <a:rPr lang="en-US" altLang="zh-CN" sz="1600" b="0" dirty="0" err="1"/>
              <a:t>hd</a:t>
            </a:r>
            <a:r>
              <a:rPr lang="zh-CN" altLang="en-US" sz="1600" b="0" dirty="0"/>
              <a:t>初始化</a:t>
            </a:r>
            <a:r>
              <a:rPr lang="en-US" altLang="zh-CN" sz="1600" b="0" dirty="0"/>
              <a:t>256</a:t>
            </a:r>
            <a:r>
              <a:rPr lang="zh-CN" altLang="en-US" sz="1600" b="0" dirty="0"/>
              <a:t>个</a:t>
            </a:r>
            <a:r>
              <a:rPr lang="en-US" altLang="zh-CN" sz="1600" b="0" dirty="0"/>
              <a:t>0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600" b="0" dirty="0"/>
              <a:t>for </a:t>
            </a:r>
            <a:r>
              <a:rPr lang="en-US" altLang="zh-CN" sz="1600" b="0" dirty="0" err="1"/>
              <a:t>i</a:t>
            </a:r>
            <a:r>
              <a:rPr lang="en-US" altLang="zh-CN" sz="1600" b="0" dirty="0"/>
              <a:t> in range(</a:t>
            </a:r>
            <a:r>
              <a:rPr lang="en-US" altLang="zh-CN" sz="1600" b="0" dirty="0" err="1"/>
              <a:t>im.shape</a:t>
            </a:r>
            <a:r>
              <a:rPr lang="en-US" altLang="zh-CN" sz="1600" b="0" dirty="0"/>
              <a:t>[0]):       # </a:t>
            </a:r>
            <a:r>
              <a:rPr lang="en-US" altLang="zh-CN" sz="1600" b="0" dirty="0" err="1"/>
              <a:t>i</a:t>
            </a:r>
            <a:r>
              <a:rPr lang="zh-CN" altLang="en-US" sz="1600" b="0" dirty="0"/>
              <a:t>控制行数</a:t>
            </a:r>
            <a:endParaRPr lang="en-US" altLang="zh-CN" sz="1600" b="0" dirty="0"/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600" b="0" dirty="0"/>
              <a:t>    for j in range(</a:t>
            </a:r>
            <a:r>
              <a:rPr lang="en-US" altLang="zh-CN" sz="1600" b="0" dirty="0" err="1"/>
              <a:t>im.shape</a:t>
            </a:r>
            <a:r>
              <a:rPr lang="en-US" altLang="zh-CN" sz="1600" b="0" dirty="0"/>
              <a:t>[1]):   # j</a:t>
            </a:r>
            <a:r>
              <a:rPr lang="zh-CN" altLang="en-US" sz="1600" b="0" dirty="0"/>
              <a:t>控制列数</a:t>
            </a:r>
            <a:endParaRPr lang="en-US" altLang="zh-CN" sz="1600" b="0" dirty="0"/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600" b="0" dirty="0"/>
              <a:t>        k=</a:t>
            </a:r>
            <a:r>
              <a:rPr lang="en-US" altLang="zh-CN" sz="1600" b="0" dirty="0" err="1"/>
              <a:t>im</a:t>
            </a:r>
            <a:r>
              <a:rPr lang="en-US" altLang="zh-CN" sz="1600" b="0" dirty="0"/>
              <a:t>[i,j,0]*0.3+im[i,j,1]*0.59+im[i,j,2]*0.11   #</a:t>
            </a:r>
            <a:r>
              <a:rPr lang="zh-CN" altLang="en-US" sz="1600" b="0" dirty="0"/>
              <a:t>计算当前像素点的灰度值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zh-CN" altLang="en-US" sz="1600" b="0" dirty="0"/>
              <a:t>        </a:t>
            </a:r>
            <a:r>
              <a:rPr lang="en-US" altLang="zh-CN" sz="1600" b="0" dirty="0" err="1"/>
              <a:t>hd</a:t>
            </a:r>
            <a:r>
              <a:rPr lang="en-US" altLang="zh-CN" sz="1600" b="0" dirty="0"/>
              <a:t>[</a:t>
            </a:r>
            <a:r>
              <a:rPr lang="en-US" altLang="zh-CN" sz="1600" b="0" dirty="0" err="1"/>
              <a:t>int</a:t>
            </a:r>
            <a:r>
              <a:rPr lang="en-US" altLang="zh-CN" sz="1600" b="0" dirty="0"/>
              <a:t>(k)] +=1    #</a:t>
            </a:r>
            <a:r>
              <a:rPr lang="zh-CN" altLang="en-US" sz="1600" b="0" dirty="0"/>
              <a:t>该灰度值的像素点数目累加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400" b="0" dirty="0"/>
              <a:t>index=range(256)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400" b="0" dirty="0" err="1"/>
              <a:t>bar_width</a:t>
            </a:r>
            <a:r>
              <a:rPr lang="en-US" altLang="zh-CN" sz="1400" b="0" dirty="0"/>
              <a:t>=1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800" b="0" dirty="0" err="1">
                <a:solidFill>
                  <a:srgbClr val="C00000"/>
                </a:solidFill>
              </a:rPr>
              <a:t>plt.bar</a:t>
            </a:r>
            <a:r>
              <a:rPr lang="en-US" altLang="zh-CN" sz="1800" b="0" dirty="0">
                <a:solidFill>
                  <a:srgbClr val="C00000"/>
                </a:solidFill>
              </a:rPr>
              <a:t>(</a:t>
            </a:r>
            <a:r>
              <a:rPr lang="en-US" altLang="zh-CN" sz="1800" b="0" dirty="0" err="1">
                <a:solidFill>
                  <a:srgbClr val="C00000"/>
                </a:solidFill>
              </a:rPr>
              <a:t>index,hd,bar_width,alpha</a:t>
            </a:r>
            <a:r>
              <a:rPr lang="en-US" altLang="zh-CN" sz="1800" b="0" dirty="0">
                <a:solidFill>
                  <a:srgbClr val="C00000"/>
                </a:solidFill>
              </a:rPr>
              <a:t>=1,color='k’)</a:t>
            </a: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800" b="0" dirty="0" err="1">
                <a:solidFill>
                  <a:srgbClr val="C00000"/>
                </a:solidFill>
              </a:rPr>
              <a:t>plt.show</a:t>
            </a:r>
            <a:r>
              <a:rPr lang="en-US" altLang="zh-CN" sz="1800" b="0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4915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7ED21D-9D32-4855-8CB0-51D6B3F9643E}"/>
              </a:ext>
            </a:extLst>
          </p:cNvPr>
          <p:cNvSpPr txBox="1"/>
          <p:nvPr/>
        </p:nvSpPr>
        <p:spPr>
          <a:xfrm>
            <a:off x="4644008" y="1563638"/>
            <a:ext cx="3904324" cy="430887"/>
          </a:xfrm>
          <a:prstGeom prst="rect">
            <a:avLst/>
          </a:prstGeom>
          <a:solidFill>
            <a:srgbClr val="CCFFFF"/>
          </a:solidFill>
        </p:spPr>
        <p:txBody>
          <a:bodyPr wrap="squar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400" dirty="0">
                <a:solidFill>
                  <a:srgbClr val="C00000"/>
                </a:solidFill>
                <a:latin typeface="宋体" panose="02010600030101010101" pitchFamily="2" charset="-122"/>
              </a:rPr>
              <a:t>#</a:t>
            </a:r>
            <a:r>
              <a:rPr lang="en-US" altLang="zh-CN" sz="1400" dirty="0" err="1">
                <a:latin typeface="宋体" panose="02010600030101010101" pitchFamily="2" charset="-122"/>
              </a:rPr>
              <a:t>im</a:t>
            </a:r>
            <a:r>
              <a:rPr lang="zh-CN" altLang="en-US" sz="1400" dirty="0">
                <a:latin typeface="宋体" panose="02010600030101010101" pitchFamily="2" charset="-122"/>
              </a:rPr>
              <a:t>是一个三维列表</a:t>
            </a:r>
            <a:endParaRPr lang="en-US" altLang="zh-CN" sz="1400" dirty="0">
              <a:latin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FontTx/>
              <a:buNone/>
              <a:defRPr/>
            </a:pPr>
            <a:r>
              <a:rPr lang="en-US" altLang="zh-CN" sz="1400" dirty="0">
                <a:latin typeface="宋体" panose="02010600030101010101" pitchFamily="2" charset="-122"/>
              </a:rPr>
              <a:t> </a:t>
            </a:r>
            <a:r>
              <a:rPr lang="en-US" altLang="zh-CN" sz="1400" dirty="0" err="1">
                <a:latin typeface="宋体" panose="02010600030101010101" pitchFamily="2" charset="-122"/>
              </a:rPr>
              <a:t>im.shape</a:t>
            </a:r>
            <a:r>
              <a:rPr lang="en-US" altLang="zh-CN" sz="1400" dirty="0">
                <a:latin typeface="宋体" panose="02010600030101010101" pitchFamily="2" charset="-122"/>
              </a:rPr>
              <a:t>     (355, 474, 3)   474*355*3</a:t>
            </a:r>
            <a:r>
              <a:rPr lang="zh-CN" altLang="en-US" sz="1400" dirty="0">
                <a:latin typeface="宋体" panose="02010600030101010101" pitchFamily="2" charset="-122"/>
              </a:rPr>
              <a:t>通道</a:t>
            </a:r>
            <a:endParaRPr lang="zh-CN" altLang="en-US" sz="1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2473C99-BCCA-4EBC-9606-A36FBC3B9766}"/>
              </a:ext>
            </a:extLst>
          </p:cNvPr>
          <p:cNvCxnSpPr/>
          <p:nvPr/>
        </p:nvCxnSpPr>
        <p:spPr bwMode="auto">
          <a:xfrm flipV="1">
            <a:off x="4155149" y="1779662"/>
            <a:ext cx="488859" cy="254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3276133"/>
            <a:ext cx="2520975" cy="164094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798" y="121149"/>
            <a:ext cx="1825377" cy="136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7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  <p:bldP spid="1229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555526"/>
            <a:ext cx="7344816" cy="650875"/>
          </a:xfrm>
        </p:spPr>
        <p:txBody>
          <a:bodyPr/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8.1 </a:t>
            </a:r>
            <a:r>
              <a:rPr lang="zh-CN" altLang="en-US" sz="2400" b="1" dirty="0"/>
              <a:t>补充</a:t>
            </a:r>
            <a:r>
              <a:rPr lang="en-US" altLang="zh-CN" sz="2400" b="1" dirty="0"/>
              <a:t>  </a:t>
            </a:r>
            <a:r>
              <a:rPr lang="zh-CN" altLang="zh-CN" sz="2400" b="1" dirty="0"/>
              <a:t>—销售量柱状图</a:t>
            </a:r>
            <a:r>
              <a:rPr lang="zh-CN" altLang="en-US" sz="2400" b="1" dirty="0"/>
              <a:t>（多个系列并列显示）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47664" y="1419622"/>
            <a:ext cx="5544616" cy="347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7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59582"/>
            <a:ext cx="8136904" cy="316835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库中的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pyplot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子库</a:t>
            </a:r>
          </a:p>
          <a:p>
            <a:pPr marL="0" indent="0"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fig, ax =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figsize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=(6,4))   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指定绘图区大小为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6*4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英寸</a:t>
            </a:r>
          </a:p>
          <a:p>
            <a:pPr marL="0" indent="0">
              <a:buNone/>
            </a:pPr>
            <a:r>
              <a:rPr lang="en-US" altLang="zh-CN" sz="1600" b="0" dirty="0" err="1"/>
              <a:t>seazons</a:t>
            </a:r>
            <a:r>
              <a:rPr lang="en-US" altLang="zh-CN" sz="1600" b="0" dirty="0"/>
              <a:t>=['</a:t>
            </a:r>
            <a:r>
              <a:rPr lang="zh-CN" altLang="zh-CN" sz="1600" b="0" dirty="0"/>
              <a:t>一季度</a:t>
            </a:r>
            <a:r>
              <a:rPr lang="en-US" altLang="zh-CN" sz="1600" b="0" dirty="0"/>
              <a:t>', '</a:t>
            </a:r>
            <a:r>
              <a:rPr lang="zh-CN" altLang="zh-CN" sz="1600" b="0" dirty="0"/>
              <a:t>二季度</a:t>
            </a:r>
            <a:r>
              <a:rPr lang="en-US" altLang="zh-CN" sz="1600" b="0" dirty="0"/>
              <a:t>', '</a:t>
            </a:r>
            <a:r>
              <a:rPr lang="zh-CN" altLang="zh-CN" sz="1600" b="0" dirty="0"/>
              <a:t>三季度</a:t>
            </a:r>
            <a:r>
              <a:rPr lang="en-US" altLang="zh-CN" sz="1600" b="0" dirty="0"/>
              <a:t>','</a:t>
            </a:r>
            <a:r>
              <a:rPr lang="zh-CN" altLang="zh-CN" sz="1600" b="0" dirty="0"/>
              <a:t>四季度</a:t>
            </a:r>
            <a:r>
              <a:rPr lang="en-US" altLang="zh-CN" sz="1600" b="0" dirty="0"/>
              <a:t>']    #</a:t>
            </a:r>
            <a:r>
              <a:rPr lang="zh-CN" altLang="zh-CN" sz="1600" b="0" dirty="0"/>
              <a:t>分类轴的显示标签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barW</a:t>
            </a:r>
            <a:r>
              <a:rPr lang="en-US" altLang="zh-CN" sz="1600" b="0" dirty="0"/>
              <a:t>=0.3                                           #</a:t>
            </a:r>
            <a:r>
              <a:rPr lang="en-US" altLang="zh-CN" sz="1600" b="0" dirty="0" err="1"/>
              <a:t>barW</a:t>
            </a:r>
            <a:r>
              <a:rPr lang="zh-CN" altLang="zh-CN" sz="1600" b="0" dirty="0"/>
              <a:t>控制条形宽度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saleA</a:t>
            </a:r>
            <a:r>
              <a:rPr lang="en-US" altLang="zh-CN" sz="1600" b="0" dirty="0"/>
              <a:t>= [780, 950, 680,550]                #</a:t>
            </a:r>
            <a:r>
              <a:rPr lang="zh-CN" altLang="zh-CN" sz="1600" b="0" dirty="0"/>
              <a:t>产品</a:t>
            </a:r>
            <a:r>
              <a:rPr lang="en-US" altLang="zh-CN" sz="1600" b="0" dirty="0"/>
              <a:t>A</a:t>
            </a:r>
            <a:r>
              <a:rPr lang="zh-CN" altLang="zh-CN" sz="1600" b="0" dirty="0"/>
              <a:t>的销售数据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saleB</a:t>
            </a:r>
            <a:r>
              <a:rPr lang="en-US" altLang="zh-CN" sz="1600" b="0" dirty="0"/>
              <a:t>= [680,650, 800,590]                  #</a:t>
            </a:r>
            <a:r>
              <a:rPr lang="zh-CN" altLang="zh-CN" sz="1600" b="0" dirty="0"/>
              <a:t>产品</a:t>
            </a:r>
            <a:r>
              <a:rPr lang="en-US" altLang="zh-CN" sz="1600" b="0" dirty="0"/>
              <a:t>B</a:t>
            </a:r>
            <a:r>
              <a:rPr lang="zh-CN" altLang="zh-CN" sz="1600" b="0" dirty="0"/>
              <a:t>的销售数据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/>
              <a:t>x1=[0,1,2,3]                                        #x1</a:t>
            </a:r>
            <a:r>
              <a:rPr lang="zh-CN" altLang="zh-CN" sz="1600" b="0" dirty="0"/>
              <a:t>控制产品</a:t>
            </a:r>
            <a:r>
              <a:rPr lang="en-US" altLang="zh-CN" sz="1600" b="0" dirty="0"/>
              <a:t>A</a:t>
            </a:r>
            <a:r>
              <a:rPr lang="zh-CN" altLang="zh-CN" sz="1600" b="0" dirty="0"/>
              <a:t>的分类轴刻度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/>
              <a:t>x2=[</a:t>
            </a:r>
            <a:r>
              <a:rPr lang="en-US" altLang="zh-CN" sz="1600" b="0" dirty="0" err="1"/>
              <a:t>x+barW</a:t>
            </a:r>
            <a:r>
              <a:rPr lang="en-US" altLang="zh-CN" sz="1600" b="0" dirty="0"/>
              <a:t> for x in x1]                    #x2</a:t>
            </a:r>
            <a:r>
              <a:rPr lang="zh-CN" altLang="zh-CN" sz="1600" b="0" dirty="0"/>
              <a:t>控制产品</a:t>
            </a:r>
            <a:r>
              <a:rPr lang="en-US" altLang="zh-CN" sz="1600" b="0" dirty="0"/>
              <a:t>B</a:t>
            </a:r>
            <a:r>
              <a:rPr lang="zh-CN" altLang="zh-CN" sz="1600" b="0" dirty="0"/>
              <a:t>的分类轴刻度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plt.rcParams</a:t>
            </a:r>
            <a:r>
              <a:rPr lang="en-US" altLang="zh-CN" sz="1600" b="0" dirty="0"/>
              <a:t>['</a:t>
            </a:r>
            <a:r>
              <a:rPr lang="en-US" altLang="zh-CN" sz="1600" b="0" dirty="0" err="1"/>
              <a:t>font.sans</a:t>
            </a:r>
            <a:r>
              <a:rPr lang="en-US" altLang="zh-CN" sz="1600" b="0" dirty="0"/>
              <a:t>-serif'] = ['</a:t>
            </a:r>
            <a:r>
              <a:rPr lang="en-US" altLang="zh-CN" sz="1600" b="0" dirty="0" err="1"/>
              <a:t>SimHei</a:t>
            </a:r>
            <a:r>
              <a:rPr lang="en-US" altLang="zh-CN" sz="1600" b="0" dirty="0"/>
              <a:t>']   #</a:t>
            </a:r>
            <a:r>
              <a:rPr lang="zh-CN" altLang="zh-CN" sz="1600" b="0" dirty="0"/>
              <a:t>设置显示中文字体</a:t>
            </a:r>
            <a:endParaRPr lang="en-US" altLang="zh-CN" sz="1600" b="0" dirty="0"/>
          </a:p>
        </p:txBody>
      </p:sp>
    </p:spTree>
    <p:extLst>
      <p:ext uri="{BB962C8B-B14F-4D97-AF65-F5344CB8AC3E}">
        <p14:creationId xmlns:p14="http://schemas.microsoft.com/office/powerpoint/2010/main" val="420309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699542"/>
            <a:ext cx="8208912" cy="415592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ax.set_title</a:t>
            </a:r>
            <a:r>
              <a:rPr lang="en-US" altLang="zh-CN" sz="1600" b="0" dirty="0"/>
              <a:t>('</a:t>
            </a:r>
            <a:r>
              <a:rPr lang="zh-CN" altLang="zh-CN" sz="1600" b="0" dirty="0"/>
              <a:t>销售示意图表</a:t>
            </a:r>
            <a:r>
              <a:rPr lang="en-US" altLang="zh-CN" sz="1600" b="0" dirty="0"/>
              <a:t>',</a:t>
            </a:r>
            <a:r>
              <a:rPr lang="en-US" altLang="zh-CN" sz="1600" b="0" dirty="0" err="1"/>
              <a:t>fontsize</a:t>
            </a:r>
            <a:r>
              <a:rPr lang="en-US" altLang="zh-CN" sz="1600" b="0" dirty="0"/>
              <a:t>=12)  </a:t>
            </a:r>
            <a:endParaRPr lang="zh-CN" altLang="zh-CN" sz="1600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ax.set_xlabel</a:t>
            </a:r>
            <a:r>
              <a:rPr lang="en-US" altLang="zh-CN" sz="1600" b="0" dirty="0"/>
              <a:t>('</a:t>
            </a:r>
            <a:r>
              <a:rPr lang="zh-CN" altLang="zh-CN" sz="1600" b="0" dirty="0"/>
              <a:t>时间</a:t>
            </a:r>
            <a:r>
              <a:rPr lang="en-US" altLang="zh-CN" sz="1600" b="0" dirty="0"/>
              <a:t>',</a:t>
            </a:r>
            <a:r>
              <a:rPr lang="en-US" altLang="zh-CN" sz="1600" b="0" dirty="0" err="1"/>
              <a:t>fontsize</a:t>
            </a:r>
            <a:r>
              <a:rPr lang="en-US" altLang="zh-CN" sz="1600" b="0" dirty="0"/>
              <a:t>=12)        </a:t>
            </a:r>
            <a:endParaRPr lang="zh-CN" altLang="zh-CN" sz="1600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ax.set_ylabel</a:t>
            </a:r>
            <a:r>
              <a:rPr lang="en-US" altLang="zh-CN" sz="1600" b="0" dirty="0"/>
              <a:t>('</a:t>
            </a:r>
            <a:r>
              <a:rPr lang="zh-CN" altLang="zh-CN" sz="1600" b="0" dirty="0"/>
              <a:t>销售量</a:t>
            </a:r>
            <a:r>
              <a:rPr lang="en-US" altLang="zh-CN" sz="1600" b="0" dirty="0"/>
              <a:t>',rotation=0,ha='right',</a:t>
            </a:r>
            <a:r>
              <a:rPr lang="en-US" altLang="zh-CN" sz="1600" b="0" dirty="0" err="1"/>
              <a:t>fontsize</a:t>
            </a:r>
            <a:r>
              <a:rPr lang="en-US" altLang="zh-CN" sz="1600" b="0" dirty="0"/>
              <a:t>=12)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ax.set_xticks</a:t>
            </a:r>
            <a:r>
              <a:rPr lang="en-US" altLang="zh-CN" sz="1600" b="0" dirty="0"/>
              <a:t>(x1,seazons)                    #</a:t>
            </a:r>
            <a:r>
              <a:rPr lang="zh-CN" altLang="zh-CN" sz="1600" b="0" dirty="0"/>
              <a:t>设置分类轴的刻度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ax.grid</a:t>
            </a:r>
            <a:r>
              <a:rPr lang="en-US" altLang="zh-CN" sz="1600" b="0" dirty="0"/>
              <a:t>(axis='y')                                  #</a:t>
            </a:r>
            <a:r>
              <a:rPr lang="zh-CN" altLang="zh-CN" sz="1600" b="0" dirty="0"/>
              <a:t>显示横向网格线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plt.bar</a:t>
            </a:r>
            <a:r>
              <a:rPr lang="en-US" altLang="zh-CN" sz="1600" b="0" dirty="0"/>
              <a:t>(x1,saleA,barW,color='</a:t>
            </a:r>
            <a:r>
              <a:rPr lang="en-US" altLang="zh-CN" sz="1600" b="0" dirty="0" err="1"/>
              <a:t>m',label</a:t>
            </a:r>
            <a:r>
              <a:rPr lang="en-US" altLang="zh-CN" sz="1600" b="0" dirty="0"/>
              <a:t>='</a:t>
            </a:r>
            <a:r>
              <a:rPr lang="zh-CN" altLang="zh-CN" sz="1600" b="0" dirty="0"/>
              <a:t>产品</a:t>
            </a:r>
            <a:r>
              <a:rPr lang="en-US" altLang="zh-CN" sz="1600" b="0" dirty="0"/>
              <a:t>A')   #</a:t>
            </a:r>
            <a:r>
              <a:rPr lang="zh-CN" altLang="zh-CN" sz="1600" b="0" dirty="0"/>
              <a:t>绘制产品</a:t>
            </a:r>
            <a:r>
              <a:rPr lang="en-US" altLang="zh-CN" sz="1600" b="0" dirty="0"/>
              <a:t>A</a:t>
            </a:r>
            <a:r>
              <a:rPr lang="zh-CN" altLang="zh-CN" sz="1600" b="0" dirty="0"/>
              <a:t>的柱形图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/>
              <a:t>for </a:t>
            </a:r>
            <a:r>
              <a:rPr lang="en-US" altLang="zh-CN" sz="1600" b="0" dirty="0" err="1"/>
              <a:t>a,b</a:t>
            </a:r>
            <a:r>
              <a:rPr lang="en-US" altLang="zh-CN" sz="1600" b="0" dirty="0"/>
              <a:t> in zip(x1,saleA):       #</a:t>
            </a:r>
            <a:r>
              <a:rPr lang="zh-CN" altLang="zh-CN" sz="1600" b="0" dirty="0"/>
              <a:t>在每个柱形的顶部标记出数据值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/>
              <a:t>    </a:t>
            </a:r>
            <a:r>
              <a:rPr lang="en-US" altLang="zh-CN" sz="1600" b="0" dirty="0" err="1"/>
              <a:t>plt.text</a:t>
            </a:r>
            <a:r>
              <a:rPr lang="en-US" altLang="zh-CN" sz="1600" b="0" dirty="0"/>
              <a:t>(a, b+10, '%.0f' % b, ha='center', </a:t>
            </a:r>
            <a:r>
              <a:rPr lang="en-US" altLang="zh-CN" sz="1600" b="0" dirty="0" err="1"/>
              <a:t>fontsize</a:t>
            </a:r>
            <a:r>
              <a:rPr lang="en-US" altLang="zh-CN" sz="1600" b="0" dirty="0"/>
              <a:t>=9) </a:t>
            </a:r>
            <a:endParaRPr lang="zh-CN" altLang="zh-CN" sz="1600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plt.bar</a:t>
            </a:r>
            <a:r>
              <a:rPr lang="en-US" altLang="zh-CN" sz="1600" b="0" dirty="0"/>
              <a:t>(x2,saleB,barW,color='</a:t>
            </a:r>
            <a:r>
              <a:rPr lang="en-US" altLang="zh-CN" sz="1600" b="0" dirty="0" err="1"/>
              <a:t>b',label</a:t>
            </a:r>
            <a:r>
              <a:rPr lang="en-US" altLang="zh-CN" sz="1600" b="0" dirty="0"/>
              <a:t>='</a:t>
            </a:r>
            <a:r>
              <a:rPr lang="zh-CN" altLang="zh-CN" sz="1600" b="0" dirty="0"/>
              <a:t>产品</a:t>
            </a:r>
            <a:r>
              <a:rPr lang="en-US" altLang="zh-CN" sz="1600" b="0" dirty="0"/>
              <a:t>B')   #</a:t>
            </a:r>
            <a:r>
              <a:rPr lang="zh-CN" altLang="zh-CN" sz="1600" b="0" dirty="0"/>
              <a:t>绘制产品</a:t>
            </a:r>
            <a:r>
              <a:rPr lang="en-US" altLang="zh-CN" sz="1600" b="0" dirty="0"/>
              <a:t>B</a:t>
            </a:r>
            <a:r>
              <a:rPr lang="zh-CN" altLang="zh-CN" sz="1600" b="0" dirty="0"/>
              <a:t>的柱形图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/>
              <a:t>for </a:t>
            </a:r>
            <a:r>
              <a:rPr lang="en-US" altLang="zh-CN" sz="1600" b="0" dirty="0" err="1"/>
              <a:t>a,b</a:t>
            </a:r>
            <a:r>
              <a:rPr lang="en-US" altLang="zh-CN" sz="1600" b="0" dirty="0"/>
              <a:t> in zip(x2,saleB):</a:t>
            </a:r>
            <a:endParaRPr lang="zh-CN" altLang="zh-CN" sz="1600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/>
              <a:t>    </a:t>
            </a:r>
            <a:r>
              <a:rPr lang="en-US" altLang="zh-CN" sz="1600" b="0" dirty="0" err="1"/>
              <a:t>plt.text</a:t>
            </a:r>
            <a:r>
              <a:rPr lang="en-US" altLang="zh-CN" sz="1600" b="0" dirty="0"/>
              <a:t>(a, b+10, '%.0f' % b, ha='center', </a:t>
            </a:r>
            <a:r>
              <a:rPr lang="en-US" altLang="zh-CN" sz="1600" b="0" dirty="0" err="1"/>
              <a:t>fontsize</a:t>
            </a:r>
            <a:r>
              <a:rPr lang="en-US" altLang="zh-CN" sz="1600" b="0" dirty="0"/>
              <a:t>=9) </a:t>
            </a:r>
            <a:endParaRPr lang="zh-CN" altLang="zh-CN" sz="1600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plt.legend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loc</a:t>
            </a:r>
            <a:r>
              <a:rPr lang="en-US" altLang="zh-CN" sz="1600" b="0" dirty="0"/>
              <a:t>='upper right' )         #</a:t>
            </a:r>
            <a:r>
              <a:rPr lang="zh-CN" altLang="zh-CN" sz="1600" b="0" dirty="0"/>
              <a:t>在右上角显示图例文字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/>
              <a:t>plt.show</a:t>
            </a:r>
            <a:r>
              <a:rPr lang="en-US" altLang="zh-CN" sz="1600" b="0" dirty="0"/>
              <a:t>( ) </a:t>
            </a:r>
            <a:endParaRPr lang="zh-CN" altLang="zh-CN" sz="1600" b="0" dirty="0"/>
          </a:p>
        </p:txBody>
      </p:sp>
    </p:spTree>
    <p:extLst>
      <p:ext uri="{BB962C8B-B14F-4D97-AF65-F5344CB8AC3E}">
        <p14:creationId xmlns:p14="http://schemas.microsoft.com/office/powerpoint/2010/main" val="244839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622" y="771550"/>
            <a:ext cx="8275638" cy="504056"/>
          </a:xfrm>
        </p:spPr>
        <p:txBody>
          <a:bodyPr/>
          <a:lstStyle/>
          <a:p>
            <a:r>
              <a:rPr lang="zh-CN" altLang="en-US" sz="2800" b="1" dirty="0"/>
              <a:t>绘制</a:t>
            </a:r>
            <a:r>
              <a:rPr lang="zh-CN" altLang="zh-CN" sz="2800" b="1" dirty="0"/>
              <a:t>直方图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7160" y="1419622"/>
            <a:ext cx="8293100" cy="295232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直方图是一种统计报告图，由一系列高度不等的纵向条纹或线段表示数据分布的情况， 一般用横轴表示数据类型，纵轴表示分布情况。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buFont typeface="Wingdings" panose="05000000000000000000" pitchFamily="2" charset="2"/>
              <a:buChar char="p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plt.hist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(x, bins, normed) 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绘制直方图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>
              <a:buFont typeface="Wingdings" panose="05000000000000000000" pitchFamily="2" charset="2"/>
              <a:buChar char="p"/>
            </a:pPr>
            <a:r>
              <a:rPr lang="zh-CN" altLang="zh-CN" sz="2000" dirty="0"/>
              <a:t>功能：根据原始数据</a:t>
            </a:r>
            <a:r>
              <a:rPr lang="en-US" altLang="zh-CN" sz="2000" dirty="0"/>
              <a:t>x</a:t>
            </a:r>
            <a:r>
              <a:rPr lang="zh-CN" altLang="zh-CN" sz="2000" dirty="0"/>
              <a:t>绘制其直方图，</a:t>
            </a:r>
            <a:r>
              <a:rPr lang="en-US" altLang="zh-CN" sz="2000" dirty="0"/>
              <a:t>x</a:t>
            </a:r>
            <a:r>
              <a:rPr lang="zh-CN" altLang="zh-CN" sz="2000" dirty="0"/>
              <a:t>用于指定要绘制直方图的数据，</a:t>
            </a:r>
            <a:r>
              <a:rPr lang="en-US" altLang="zh-CN" sz="2000" dirty="0"/>
              <a:t>bins</a:t>
            </a:r>
            <a:r>
              <a:rPr lang="zh-CN" altLang="zh-CN" sz="2000" dirty="0"/>
              <a:t>指定直方图条形的个数，默认为</a:t>
            </a:r>
            <a:r>
              <a:rPr lang="en-US" altLang="zh-CN" sz="2000" dirty="0"/>
              <a:t>10</a:t>
            </a:r>
            <a:r>
              <a:rPr lang="zh-CN" altLang="zh-CN" sz="2000" dirty="0"/>
              <a:t>个</a:t>
            </a:r>
            <a:r>
              <a:rPr lang="zh-CN" altLang="en-US" sz="2000" dirty="0"/>
              <a:t>。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21253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>
          <a:xfrm>
            <a:off x="484532" y="502122"/>
            <a:ext cx="5184775" cy="522288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图像的直方图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504536" y="2278091"/>
            <a:ext cx="7352313" cy="262515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 err="1"/>
              <a:t>im</a:t>
            </a:r>
            <a:r>
              <a:rPr lang="en-US" altLang="zh-CN" sz="1600" b="0" dirty="0"/>
              <a:t>=</a:t>
            </a:r>
            <a:r>
              <a:rPr lang="en-US" altLang="zh-CN" sz="1600" b="0" dirty="0" err="1"/>
              <a:t>np.array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Image.open</a:t>
            </a:r>
            <a:r>
              <a:rPr lang="en-US" altLang="zh-CN" sz="1600" b="0" dirty="0"/>
              <a:t>(</a:t>
            </a:r>
            <a:r>
              <a:rPr lang="en-US" altLang="zh-CN" sz="1600" b="0" dirty="0" err="1"/>
              <a:t>r"Tulips.jpg</a:t>
            </a:r>
            <a:r>
              <a:rPr lang="en-US" altLang="zh-CN" sz="1600" b="0" dirty="0"/>
              <a:t>"))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n=</a:t>
            </a:r>
            <a:r>
              <a:rPr lang="en-US" altLang="zh-CN" sz="1600" b="0" dirty="0" err="1"/>
              <a:t>int</a:t>
            </a:r>
            <a:r>
              <a:rPr lang="en-US" altLang="zh-CN" sz="1600" b="0" dirty="0"/>
              <a:t>(</a:t>
            </a:r>
            <a:r>
              <a:rPr lang="en-US" altLang="zh-CN" sz="1600" b="0" dirty="0" err="1">
                <a:solidFill>
                  <a:srgbClr val="00B050"/>
                </a:solidFill>
              </a:rPr>
              <a:t>im.size</a:t>
            </a:r>
            <a:r>
              <a:rPr lang="en-US" altLang="zh-CN" sz="1600" b="0" dirty="0">
                <a:solidFill>
                  <a:srgbClr val="00B050"/>
                </a:solidFill>
              </a:rPr>
              <a:t>/3</a:t>
            </a:r>
            <a:r>
              <a:rPr lang="en-US" altLang="zh-CN" sz="1600" b="0" dirty="0"/>
              <a:t> )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 err="1"/>
              <a:t>hd</a:t>
            </a:r>
            <a:r>
              <a:rPr lang="en-US" altLang="zh-CN" sz="1600" b="0" dirty="0"/>
              <a:t>=n*[0]             #</a:t>
            </a:r>
            <a:r>
              <a:rPr lang="zh-CN" altLang="en-US" sz="1600" b="0" dirty="0"/>
              <a:t>存放每个像素点的灰度值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row=</a:t>
            </a:r>
            <a:r>
              <a:rPr lang="en-US" altLang="zh-CN" sz="1600" b="0" dirty="0" err="1"/>
              <a:t>im.shape</a:t>
            </a:r>
            <a:r>
              <a:rPr lang="en-US" altLang="zh-CN" sz="1600" b="0" dirty="0"/>
              <a:t>[0]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col=</a:t>
            </a:r>
            <a:r>
              <a:rPr lang="en-US" altLang="zh-CN" sz="1600" b="0" dirty="0" err="1"/>
              <a:t>im.shape</a:t>
            </a:r>
            <a:r>
              <a:rPr lang="en-US" altLang="zh-CN" sz="1600" b="0" dirty="0"/>
              <a:t>[1]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for </a:t>
            </a:r>
            <a:r>
              <a:rPr lang="en-US" altLang="zh-CN" sz="1600" b="0" dirty="0" err="1"/>
              <a:t>i</a:t>
            </a:r>
            <a:r>
              <a:rPr lang="en-US" altLang="zh-CN" sz="1600" b="0" dirty="0"/>
              <a:t> in range(row):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    for j in range(col):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/>
              <a:t>        v=</a:t>
            </a:r>
            <a:r>
              <a:rPr lang="en-US" altLang="zh-CN" sz="1600" b="0" dirty="0" err="1"/>
              <a:t>im</a:t>
            </a:r>
            <a:r>
              <a:rPr lang="en-US" altLang="zh-CN" sz="1600" b="0" dirty="0"/>
              <a:t>[i,j,0]*0.3+im[i,j,1]*0.59+im[i,j,2]*0.11    #</a:t>
            </a:r>
            <a:r>
              <a:rPr lang="zh-CN" altLang="en-US" sz="1600" b="0" dirty="0"/>
              <a:t>计算像素点的灰度值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1600" b="0" dirty="0"/>
              <a:t>        </a:t>
            </a:r>
            <a:r>
              <a:rPr lang="en-US" altLang="zh-CN" sz="1600" b="0" dirty="0" err="1"/>
              <a:t>hd</a:t>
            </a:r>
            <a:r>
              <a:rPr lang="en-US" altLang="zh-CN" sz="1600" b="0" dirty="0"/>
              <a:t>[</a:t>
            </a:r>
            <a:r>
              <a:rPr lang="en-US" altLang="zh-CN" sz="1600" b="0" dirty="0" err="1">
                <a:solidFill>
                  <a:srgbClr val="00B050"/>
                </a:solidFill>
              </a:rPr>
              <a:t>i</a:t>
            </a:r>
            <a:r>
              <a:rPr lang="en-US" altLang="zh-CN" sz="1600" b="0" dirty="0">
                <a:solidFill>
                  <a:srgbClr val="00B050"/>
                </a:solidFill>
              </a:rPr>
              <a:t>*</a:t>
            </a:r>
            <a:r>
              <a:rPr lang="en-US" altLang="zh-CN" sz="1600" b="0" dirty="0" err="1">
                <a:solidFill>
                  <a:srgbClr val="00B050"/>
                </a:solidFill>
              </a:rPr>
              <a:t>col+j</a:t>
            </a:r>
            <a:r>
              <a:rPr lang="en-US" altLang="zh-CN" sz="1600" b="0" dirty="0"/>
              <a:t>] =v                 #</a:t>
            </a:r>
            <a:r>
              <a:rPr lang="zh-CN" altLang="en-US" sz="1600" b="0" dirty="0"/>
              <a:t>保存每一个灰度值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1600" b="0" dirty="0" err="1"/>
              <a:t>plt.hist</a:t>
            </a:r>
            <a:r>
              <a:rPr lang="en-US" altLang="zh-CN" sz="1600" b="0" dirty="0"/>
              <a:t>(hd,256,edgecolor='b')</a:t>
            </a:r>
            <a:endParaRPr lang="en-US" altLang="zh-CN" sz="2000" b="0" dirty="0">
              <a:solidFill>
                <a:srgbClr val="C00000"/>
              </a:solidFill>
            </a:endParaRPr>
          </a:p>
        </p:txBody>
      </p:sp>
      <p:sp>
        <p:nvSpPr>
          <p:cNvPr id="5018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04536" y="1139318"/>
            <a:ext cx="4544001" cy="113877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eaLnBrk="1" hangingPunct="1"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，采用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函数绘制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numpy as np</a:t>
            </a:r>
          </a:p>
          <a:p>
            <a:pPr eaLnBrk="1" hangingPunct="1"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PIL import Image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466627"/>
            <a:ext cx="3815384" cy="2438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12291" grpId="0" build="p" animBg="1"/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43C4E82D-031F-48D6-83AA-A696CCA794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14411" y="2764155"/>
            <a:ext cx="6624736" cy="208823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63808" y="720775"/>
            <a:ext cx="8366294" cy="19518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 algn="just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zh-CN" sz="1600" b="1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箱形图</a:t>
            </a:r>
            <a:r>
              <a:rPr lang="zh-CN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（又叫</a:t>
            </a:r>
            <a:r>
              <a:rPr lang="zh-CN" altLang="zh-CN" sz="1600" b="1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盒须图</a:t>
            </a:r>
            <a:r>
              <a:rPr lang="zh-CN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r>
              <a:rPr lang="en-US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:</a:t>
            </a:r>
            <a:r>
              <a:rPr lang="zh-CN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用于显示一组数据的分布情况，因形状像箱子而得名。</a:t>
            </a:r>
            <a:endParaRPr lang="en-US" altLang="zh-CN" sz="1600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绘制思路：</a:t>
            </a:r>
            <a:r>
              <a:rPr lang="zh-CN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把一组数据</a:t>
            </a:r>
            <a:r>
              <a:rPr lang="zh-CN" altLang="zh-CN" sz="1600" b="1" kern="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从小到大排序</a:t>
            </a:r>
            <a:r>
              <a:rPr lang="zh-CN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，找出这组数据</a:t>
            </a:r>
            <a:r>
              <a:rPr lang="en-US" altLang="zh-CN" sz="1600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:</a:t>
            </a:r>
          </a:p>
          <a:p>
            <a:pPr marL="742950" lvl="1" indent="-285750" algn="just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下边缘（最小值）</a:t>
            </a:r>
            <a:endParaRPr lang="en-US" altLang="zh-CN" sz="1400" b="1" kern="0" dirty="0">
              <a:solidFill>
                <a:srgbClr val="000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742950" lvl="1" indent="-285750" algn="just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下四分位数</a:t>
            </a:r>
            <a:r>
              <a:rPr lang="en-US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Q1</a:t>
            </a: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1/4</a:t>
            </a: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处）</a:t>
            </a:r>
            <a:endParaRPr lang="en-US" altLang="zh-CN" sz="1400" b="1" kern="0" dirty="0">
              <a:solidFill>
                <a:srgbClr val="000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742950" lvl="1" indent="-285750" algn="just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中位数（</a:t>
            </a:r>
            <a:r>
              <a:rPr lang="en-US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1/2</a:t>
            </a: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lang="en-US" altLang="zh-CN" sz="1400" b="1" kern="0" dirty="0">
              <a:solidFill>
                <a:srgbClr val="000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742950" lvl="1" indent="-285750" algn="just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上四分位数</a:t>
            </a:r>
            <a:r>
              <a:rPr lang="en-US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Q3</a:t>
            </a: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3/4</a:t>
            </a: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处）</a:t>
            </a:r>
            <a:endParaRPr lang="en-US" altLang="zh-CN" sz="1400" b="1" kern="0" dirty="0">
              <a:solidFill>
                <a:srgbClr val="000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742950" lvl="1" indent="-285750" algn="just"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zh-CN" sz="1400" b="1" kern="0" dirty="0">
                <a:solidFill>
                  <a:srgbClr val="000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上边缘（最大值）</a:t>
            </a:r>
            <a:endParaRPr lang="en-US" altLang="zh-CN" sz="1400" b="1" kern="0" dirty="0">
              <a:solidFill>
                <a:srgbClr val="0000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8960" y="209060"/>
            <a:ext cx="8275638" cy="420151"/>
          </a:xfrm>
        </p:spPr>
        <p:txBody>
          <a:bodyPr/>
          <a:lstStyle/>
          <a:p>
            <a:r>
              <a:rPr lang="zh-CN" altLang="en-US" sz="2400" b="1" dirty="0"/>
              <a:t>绘制箱形图</a:t>
            </a:r>
          </a:p>
        </p:txBody>
      </p:sp>
    </p:spTree>
    <p:extLst>
      <p:ext uri="{BB962C8B-B14F-4D97-AF65-F5344CB8AC3E}">
        <p14:creationId xmlns:p14="http://schemas.microsoft.com/office/powerpoint/2010/main" val="33932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326250" y="913210"/>
            <a:ext cx="7963024" cy="506412"/>
          </a:xfrm>
          <a:prstGeom prst="rect">
            <a:avLst/>
          </a:prstGeom>
          <a:solidFill>
            <a:schemeClr val="lt1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，直接将数据保存在列表中，适合数据量少的情况下使用。</a:t>
            </a:r>
            <a:endParaRPr lang="zh-CN" altLang="en-US" sz="20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4" name="内容占位符 3"/>
          <p:cNvSpPr>
            <a:spLocks noGrp="1"/>
          </p:cNvSpPr>
          <p:nvPr>
            <p:ph/>
          </p:nvPr>
        </p:nvSpPr>
        <p:spPr>
          <a:xfrm>
            <a:off x="395536" y="1419622"/>
            <a:ext cx="8496944" cy="3511036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plt.rcParams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['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font.sans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-serif']=['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SimHei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fig,ax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plt.subplots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(1,2,figsize=(10,4))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subject=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语文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数学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英语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"]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names=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宋丽英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王大伟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顾亦菲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鲁一平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","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潘晓雯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"]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score1=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[[36,90,99,68,78],[64,93,87,99,78],[85,95,99,75,98]]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score2=list(map(</a:t>
            </a:r>
            <a:r>
              <a:rPr lang="en-US" altLang="zh-CN" sz="1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list,zip</a:t>
            </a:r>
            <a:r>
              <a:rPr lang="en-US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(*score1)))     #</a:t>
            </a:r>
            <a:r>
              <a:rPr lang="zh-CN" altLang="zh-CN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将成绩列表转置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(121)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plt.boxplot</a:t>
            </a:r>
            <a:r>
              <a:rPr lang="en-US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(x=score1,labels=subject)  #</a:t>
            </a:r>
            <a:r>
              <a:rPr lang="zh-CN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按课程分类绘制</a:t>
            </a:r>
            <a:r>
              <a:rPr lang="en-US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,labels</a:t>
            </a:r>
            <a:r>
              <a:rPr lang="zh-CN" altLang="en-US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为分类轴标签</a:t>
            </a:r>
            <a:endParaRPr lang="zh-CN" altLang="zh-CN" sz="16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plt.subplot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(122)</a:t>
            </a:r>
            <a:endParaRPr lang="zh-CN" altLang="zh-CN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plt.boxplot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(x=score2,labels=names)  #</a:t>
            </a:r>
            <a:r>
              <a:rPr lang="zh-CN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按学生分类绘制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347567" y="406798"/>
            <a:ext cx="4913313" cy="50641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zh-CN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绘制学生成绩的箱形图</a:t>
            </a:r>
            <a:r>
              <a:rPr lang="zh-CN" altLang="en-US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（自学）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242" y="1563638"/>
            <a:ext cx="3483396" cy="145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1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314" grpId="0" build="allAtOnce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323528" y="555526"/>
            <a:ext cx="8352928" cy="1080120"/>
          </a:xfrm>
          <a:prstGeom prst="rect">
            <a:avLst/>
          </a:prstGeom>
          <a:solidFill>
            <a:schemeClr val="lt1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，直接调用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库中的</a:t>
            </a:r>
            <a:r>
              <a:rPr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boxplot</a:t>
            </a:r>
            <a:r>
              <a:rPr lang="zh-CN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函数可以快速绘制箱形图，同时数据存放在电子表格中，适合数据量大的情况下使用。</a:t>
            </a:r>
            <a:endParaRPr lang="zh-CN" altLang="en-US" sz="20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4" name="内容占位符 3"/>
          <p:cNvSpPr>
            <a:spLocks noGrp="1"/>
          </p:cNvSpPr>
          <p:nvPr>
            <p:ph/>
          </p:nvPr>
        </p:nvSpPr>
        <p:spPr>
          <a:xfrm>
            <a:off x="221034" y="1851670"/>
            <a:ext cx="8640960" cy="2376264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import 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matplotlib.pyplot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 as 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plt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            #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导入绘图库</a:t>
            </a:r>
          </a:p>
          <a:p>
            <a:pPr marL="0" indent="0"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import pandas as 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pd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#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导入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pandas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库</a:t>
            </a:r>
          </a:p>
          <a:p>
            <a:pPr marL="0" indent="0"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scores=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pd.read_excel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("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学生成绩数据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.xlsx")  #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读取文件中的成绩数据</a:t>
            </a:r>
          </a:p>
          <a:p>
            <a:pPr marL="0" indent="0">
              <a:buNone/>
            </a:pP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plt.rcParams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['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font.sans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-serif']=['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SimHei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'] #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设置中文字体</a:t>
            </a:r>
          </a:p>
          <a:p>
            <a:pPr marL="0" indent="0">
              <a:buNone/>
            </a:pP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scores.boxplot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()                           #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绘制箱形图</a:t>
            </a:r>
          </a:p>
        </p:txBody>
      </p:sp>
    </p:spTree>
    <p:extLst>
      <p:ext uri="{BB962C8B-B14F-4D97-AF65-F5344CB8AC3E}">
        <p14:creationId xmlns:p14="http://schemas.microsoft.com/office/powerpoint/2010/main" val="60640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314" grpId="0" build="allAtOnce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350017" y="264690"/>
            <a:ext cx="8275638" cy="65087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</a:rPr>
              <a:t>三维可视化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40742" y="987574"/>
            <a:ext cx="8568952" cy="1872207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首先调用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figure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（）函数创建一个绘图区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然后调用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Axes3D()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函数创建三维坐标系；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或者通过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</a:rPr>
              <a:t>gca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( )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函数获取当前坐标系，并通过参数</a:t>
            </a:r>
            <a:r>
              <a:rPr lang="en-US" altLang="zh-CN" sz="20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projection='3d'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指定绘制的是三维图表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40742" y="2931790"/>
            <a:ext cx="5760640" cy="19389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import matplotlib.pyplot as plt</a:t>
            </a:r>
            <a:endParaRPr lang="zh-CN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266700">
              <a:spcAft>
                <a:spcPts val="0"/>
              </a:spcAft>
            </a:pP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from mpl_toolkits.mplot3d import Axes3D</a:t>
            </a:r>
            <a:endParaRPr lang="zh-CN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266700">
              <a:spcAft>
                <a:spcPts val="0"/>
              </a:spcAft>
            </a:pP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fig = </a:t>
            </a:r>
            <a:r>
              <a:rPr lang="en-US" altLang="zh-CN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plt.figure</a:t>
            </a: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()       #</a:t>
            </a:r>
            <a:r>
              <a:rPr lang="zh-CN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创建全局绘图区</a:t>
            </a:r>
            <a:endParaRPr lang="zh-CN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266700"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ax = Axes3D(fig)</a:t>
            </a: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       #</a:t>
            </a:r>
            <a:r>
              <a:rPr lang="zh-CN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创建三维坐标系 </a:t>
            </a:r>
            <a:endParaRPr lang="zh-CN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indent="266700">
              <a:spcAft>
                <a:spcPts val="0"/>
              </a:spcAft>
            </a:pPr>
            <a:r>
              <a:rPr lang="en-US" altLang="zh-CN" dirty="0" err="1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plt.show</a:t>
            </a: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()</a:t>
            </a:r>
            <a:endParaRPr lang="zh-CN" altLang="zh-CN" sz="24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367" y="2931790"/>
            <a:ext cx="2690479" cy="191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6" grpId="0" animBg="1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323850" y="356518"/>
            <a:ext cx="4968875" cy="4746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8.7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绘制螺旋线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323850" y="987574"/>
            <a:ext cx="8682037" cy="3888432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mpl_toolkits.mplot3d import Axes3D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import 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numpy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as np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import 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matplotlib.pyplot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as 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plt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plt.rcParams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['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font.sans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-serif']=["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SimHei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"]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plt.rcParams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['</a:t>
            </a:r>
            <a:r>
              <a:rPr lang="en-US" altLang="zh-CN" sz="1600" dirty="0" err="1">
                <a:latin typeface="黑体" panose="02010609060101010101" pitchFamily="49" charset="-122"/>
                <a:ea typeface="黑体" panose="02010609060101010101" pitchFamily="49" charset="-122"/>
              </a:rPr>
              <a:t>axes.unicode_minus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']=False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fig=</a:t>
            </a:r>
            <a:r>
              <a:rPr lang="en-US" altLang="zh-CN" sz="1800" dirty="0" err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plt.figure</a:t>
            </a:r>
            <a:r>
              <a:rPr lang="en-US" altLang="zh-CN" sz="1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()  #</a:t>
            </a:r>
            <a:r>
              <a:rPr lang="zh-CN" altLang="en-US" sz="1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新建绘图区</a:t>
            </a:r>
            <a:endParaRPr lang="en-US" altLang="zh-CN" sz="18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ax=Axes3D(fig)    #</a:t>
            </a:r>
            <a:r>
              <a:rPr lang="zh-CN" altLang="en-US" sz="18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新建三维坐标</a:t>
            </a:r>
            <a:endParaRPr lang="en-US" altLang="zh-CN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z=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np.arange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(-5*np.pi,5*np.pi,0.1)      #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生成数据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y=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np.sin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(z),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np.cos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(z)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ax.set_xticks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(-1,1,4))     #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设置轴的数值范围与标记个数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ax.set_yticks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(-1,1,3))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ax.set_zticks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(-20,20,5))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2000" dirty="0" err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plt.plot</a:t>
            </a:r>
            <a:r>
              <a:rPr lang="en-US" altLang="zh-CN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x,y,z,c</a:t>
            </a:r>
            <a:r>
              <a:rPr lang="en-US" altLang="zh-CN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='r')</a:t>
            </a:r>
          </a:p>
        </p:txBody>
      </p:sp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49" y="987574"/>
            <a:ext cx="3271838" cy="2233613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xfrm>
            <a:off x="250825" y="977065"/>
            <a:ext cx="8713788" cy="3888432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matplotlib.pyplot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as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plt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import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numpy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as np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from mpl_toolkits.mplot3d import Axes3D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fig =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plt.figure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ax=Axes3D(fig)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#ax =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fig.add_subplot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(111, projection='3d') 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x = [0, 3,  3, 0, 1]  #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设置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个顶点的坐标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y = [0, 0,  4, 4, 4]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z = [0, 0,  0, 0, 2]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ax.set_xticks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(0,3,5))  #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设置三个轴向的标记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ax.set_yticks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(0,4,3))</a:t>
            </a:r>
          </a:p>
          <a:p>
            <a:pPr marL="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ax.set_zticks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np.linspace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(0,2,4))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ax.plot_trisurf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(x, y,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z,alpha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=0.7)  #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以三角面填充</a:t>
            </a:r>
            <a:endParaRPr lang="en-US" altLang="zh-CN" sz="20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299" y="1095586"/>
            <a:ext cx="2446165" cy="2052228"/>
          </a:xfrm>
          <a:prstGeom prst="rect">
            <a:avLst/>
          </a:prstGeom>
        </p:spPr>
      </p:pic>
      <p:sp>
        <p:nvSpPr>
          <p:cNvPr id="3789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7892" name="组合 3"/>
          <p:cNvGrpSpPr>
            <a:grpSpLocks/>
          </p:cNvGrpSpPr>
          <p:nvPr/>
        </p:nvGrpSpPr>
        <p:grpSpPr bwMode="auto">
          <a:xfrm>
            <a:off x="6156175" y="1301101"/>
            <a:ext cx="2327675" cy="1654248"/>
            <a:chOff x="5724424" y="144893"/>
            <a:chExt cx="2327696" cy="2205009"/>
          </a:xfrm>
        </p:grpSpPr>
        <p:sp>
          <p:nvSpPr>
            <p:cNvPr id="3" name="TextBox 2"/>
            <p:cNvSpPr txBox="1"/>
            <p:nvPr/>
          </p:nvSpPr>
          <p:spPr>
            <a:xfrm>
              <a:off x="5724424" y="1592616"/>
              <a:ext cx="647706" cy="245460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zh-CN" altLang="en-US" sz="1200" b="1" spc="-150" dirty="0">
                  <a:solidFill>
                    <a:srgbClr val="FF0000"/>
                  </a:solidFill>
                </a:rPr>
                <a:t>（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）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83982" y="2102326"/>
              <a:ext cx="649293" cy="2475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zh-CN" altLang="en-US" sz="1200" b="1" spc="-150" dirty="0">
                  <a:solidFill>
                    <a:srgbClr val="FF0000"/>
                  </a:solidFill>
                </a:rPr>
                <a:t>（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3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）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26562" y="144893"/>
              <a:ext cx="611192" cy="247577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zh-CN" altLang="en-US" sz="1200" b="1" spc="-150" dirty="0">
                  <a:solidFill>
                    <a:srgbClr val="FF0000"/>
                  </a:solidFill>
                </a:rPr>
                <a:t>（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1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4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2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）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37753" y="1304835"/>
              <a:ext cx="614367" cy="287781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zh-CN" altLang="en-US" sz="1200" b="1" spc="-150" dirty="0">
                  <a:solidFill>
                    <a:srgbClr val="FF0000"/>
                  </a:solidFill>
                </a:rPr>
                <a:t>（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3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4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400" b="1" dirty="0">
                  <a:solidFill>
                    <a:srgbClr val="FF0000"/>
                  </a:solidFill>
                </a:rPr>
                <a:t>）</a:t>
              </a:r>
            </a:p>
          </p:txBody>
        </p:sp>
        <p:sp>
          <p:nvSpPr>
            <p:cNvPr id="14" name="TextBox 11"/>
            <p:cNvSpPr txBox="1"/>
            <p:nvPr/>
          </p:nvSpPr>
          <p:spPr>
            <a:xfrm>
              <a:off x="6482451" y="999820"/>
              <a:ext cx="611192" cy="247577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zh-CN" altLang="en-US" sz="1200" b="1" spc="-150" dirty="0">
                  <a:solidFill>
                    <a:srgbClr val="FF0000"/>
                  </a:solidFill>
                </a:rPr>
                <a:t>（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4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，</a:t>
              </a:r>
              <a:r>
                <a:rPr lang="en-US" altLang="zh-CN" sz="1200" b="1" spc="-150" dirty="0">
                  <a:solidFill>
                    <a:srgbClr val="FF0000"/>
                  </a:solidFill>
                </a:rPr>
                <a:t>0</a:t>
              </a:r>
              <a:r>
                <a:rPr lang="zh-CN" altLang="en-US" sz="1200" b="1" spc="-150" dirty="0">
                  <a:solidFill>
                    <a:srgbClr val="FF0000"/>
                  </a:solidFill>
                </a:rPr>
                <a:t>）</a:t>
              </a:r>
            </a:p>
          </p:txBody>
        </p:sp>
      </p:grpSp>
      <p:sp>
        <p:nvSpPr>
          <p:cNvPr id="37893" name="标题 1"/>
          <p:cNvSpPr>
            <a:spLocks noGrp="1"/>
          </p:cNvSpPr>
          <p:nvPr>
            <p:ph type="title"/>
          </p:nvPr>
        </p:nvSpPr>
        <p:spPr>
          <a:xfrm>
            <a:off x="250825" y="502402"/>
            <a:ext cx="4968875" cy="4746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8.8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绘制四棱锥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450" y="1779662"/>
            <a:ext cx="8035974" cy="314270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zh-CN" sz="1800" dirty="0">
                <a:solidFill>
                  <a:srgbClr val="0070C0"/>
                </a:solidFill>
              </a:rPr>
              <a:t>①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zh-CN" altLang="zh-CN" sz="1800" dirty="0">
                <a:solidFill>
                  <a:srgbClr val="0070C0"/>
                </a:solidFill>
              </a:rPr>
              <a:t>导入必要的库，调用</a:t>
            </a:r>
            <a:r>
              <a:rPr lang="en-US" altLang="zh-CN" sz="1800" dirty="0" err="1">
                <a:solidFill>
                  <a:srgbClr val="0070C0"/>
                </a:solidFill>
              </a:rPr>
              <a:t>numpy</a:t>
            </a:r>
            <a:r>
              <a:rPr lang="zh-CN" altLang="zh-CN" sz="1800" dirty="0">
                <a:solidFill>
                  <a:srgbClr val="0070C0"/>
                </a:solidFill>
              </a:rPr>
              <a:t>中的函数生成</a:t>
            </a:r>
            <a:r>
              <a:rPr lang="en-US" altLang="zh-CN" sz="1800" dirty="0" err="1">
                <a:solidFill>
                  <a:srgbClr val="0070C0"/>
                </a:solidFill>
              </a:rPr>
              <a:t>xy</a:t>
            </a:r>
            <a:r>
              <a:rPr lang="zh-CN" altLang="zh-CN" sz="1800" dirty="0">
                <a:solidFill>
                  <a:srgbClr val="0070C0"/>
                </a:solidFill>
              </a:rPr>
              <a:t>平面上的</a:t>
            </a:r>
            <a:r>
              <a:rPr lang="en-US" altLang="zh-CN" sz="1800" dirty="0">
                <a:solidFill>
                  <a:srgbClr val="0070C0"/>
                </a:solidFill>
              </a:rPr>
              <a:t>25</a:t>
            </a:r>
            <a:r>
              <a:rPr lang="zh-CN" altLang="zh-CN" sz="1800" dirty="0">
                <a:solidFill>
                  <a:srgbClr val="0070C0"/>
                </a:solidFill>
              </a:rPr>
              <a:t>个网格坐标点。</a:t>
            </a:r>
          </a:p>
          <a:p>
            <a:pPr marL="0" indent="0">
              <a:buNone/>
            </a:pPr>
            <a:r>
              <a:rPr lang="en-US" altLang="zh-CN" sz="1800" b="0" dirty="0"/>
              <a:t>import </a:t>
            </a:r>
            <a:r>
              <a:rPr lang="en-US" altLang="zh-CN" sz="1800" b="0" dirty="0" err="1"/>
              <a:t>matplotlib.pyplot</a:t>
            </a:r>
            <a:r>
              <a:rPr lang="en-US" altLang="zh-CN" sz="1800" b="0" dirty="0"/>
              <a:t> as </a:t>
            </a:r>
            <a:r>
              <a:rPr lang="en-US" altLang="zh-CN" sz="1800" b="0" dirty="0" err="1"/>
              <a:t>plt</a:t>
            </a:r>
            <a:endParaRPr lang="zh-CN" altLang="zh-CN" sz="1800" b="0" dirty="0"/>
          </a:p>
          <a:p>
            <a:pPr marL="0" indent="0">
              <a:buNone/>
            </a:pPr>
            <a:r>
              <a:rPr lang="en-US" altLang="zh-CN" sz="1800" b="0" dirty="0"/>
              <a:t>import </a:t>
            </a:r>
            <a:r>
              <a:rPr lang="en-US" altLang="zh-CN" sz="1800" b="0" dirty="0" err="1"/>
              <a:t>numpy</a:t>
            </a:r>
            <a:r>
              <a:rPr lang="en-US" altLang="zh-CN" sz="1800" b="0" dirty="0"/>
              <a:t> as np</a:t>
            </a:r>
            <a:endParaRPr lang="zh-CN" altLang="zh-CN" sz="1800" b="0" dirty="0"/>
          </a:p>
          <a:p>
            <a:pPr marL="0" indent="0">
              <a:buNone/>
            </a:pPr>
            <a:r>
              <a:rPr lang="en-US" altLang="zh-CN" sz="1800" b="0" dirty="0"/>
              <a:t>x=</a:t>
            </a:r>
            <a:r>
              <a:rPr lang="en-US" altLang="zh-CN" sz="1800" b="0" dirty="0" err="1"/>
              <a:t>np.linspace</a:t>
            </a:r>
            <a:r>
              <a:rPr lang="en-US" altLang="zh-CN" sz="1800" b="0" dirty="0"/>
              <a:t>(1,5,5)    #</a:t>
            </a:r>
            <a:r>
              <a:rPr lang="zh-CN" altLang="zh-CN" sz="1800" b="0" dirty="0"/>
              <a:t>生成的</a:t>
            </a:r>
            <a:r>
              <a:rPr lang="en-US" altLang="zh-CN" sz="1800" b="0" dirty="0"/>
              <a:t>x</a:t>
            </a:r>
            <a:r>
              <a:rPr lang="zh-CN" altLang="zh-CN" sz="1800" b="0" dirty="0"/>
              <a:t>序列为：</a:t>
            </a:r>
            <a:r>
              <a:rPr lang="en-US" altLang="zh-CN" sz="1800" b="0" dirty="0"/>
              <a:t>array([1., 2., 3., 4., 5.])</a:t>
            </a:r>
            <a:endParaRPr lang="zh-CN" altLang="zh-CN" sz="1800" b="0" dirty="0"/>
          </a:p>
          <a:p>
            <a:pPr marL="0" indent="0">
              <a:buNone/>
            </a:pPr>
            <a:r>
              <a:rPr lang="en-US" altLang="zh-CN" sz="1800" b="0" dirty="0"/>
              <a:t>y=</a:t>
            </a:r>
            <a:r>
              <a:rPr lang="en-US" altLang="zh-CN" sz="1800" b="0" dirty="0" err="1"/>
              <a:t>np.linspace</a:t>
            </a:r>
            <a:r>
              <a:rPr lang="en-US" altLang="zh-CN" sz="1800" b="0" dirty="0"/>
              <a:t>(1,5,5)    #</a:t>
            </a:r>
            <a:r>
              <a:rPr lang="zh-CN" altLang="zh-CN" sz="1800" b="0" dirty="0"/>
              <a:t>生成的</a:t>
            </a:r>
            <a:r>
              <a:rPr lang="en-US" altLang="zh-CN" sz="1800" b="0" dirty="0"/>
              <a:t>y</a:t>
            </a:r>
            <a:r>
              <a:rPr lang="zh-CN" altLang="zh-CN" sz="1800" b="0" dirty="0"/>
              <a:t>序列为：</a:t>
            </a:r>
            <a:r>
              <a:rPr lang="en-US" altLang="zh-CN" sz="1800" b="0" dirty="0"/>
              <a:t>array([1., 2., 3., 4., 5.])</a:t>
            </a:r>
            <a:endParaRPr lang="zh-CN" altLang="zh-CN" sz="1800" b="0" dirty="0"/>
          </a:p>
          <a:p>
            <a:pPr marL="0" indent="0">
              <a:buNone/>
            </a:pPr>
            <a:r>
              <a:rPr lang="en-US" altLang="zh-CN" sz="1800" b="0" dirty="0" err="1"/>
              <a:t>xx,yy</a:t>
            </a:r>
            <a:r>
              <a:rPr lang="en-US" altLang="zh-CN" sz="1800" b="0" dirty="0"/>
              <a:t>=</a:t>
            </a:r>
            <a:r>
              <a:rPr lang="en-US" altLang="zh-CN" sz="1800" b="0" dirty="0" err="1"/>
              <a:t>np.meshgrid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x,y</a:t>
            </a:r>
            <a:r>
              <a:rPr lang="en-US" altLang="zh-CN" sz="1800" b="0" dirty="0"/>
              <a:t>)  #</a:t>
            </a:r>
            <a:r>
              <a:rPr lang="zh-CN" altLang="zh-CN" sz="1800" b="0" dirty="0"/>
              <a:t>调用</a:t>
            </a:r>
            <a:r>
              <a:rPr lang="en-US" altLang="zh-CN" sz="1800" b="0" dirty="0" err="1"/>
              <a:t>meshgrid</a:t>
            </a:r>
            <a:r>
              <a:rPr lang="zh-CN" altLang="zh-CN" sz="1800" b="0" dirty="0"/>
              <a:t>生成</a:t>
            </a:r>
            <a:r>
              <a:rPr lang="en-US" altLang="zh-CN" sz="1800" b="0" dirty="0" err="1"/>
              <a:t>xy</a:t>
            </a:r>
            <a:r>
              <a:rPr lang="zh-CN" altLang="zh-CN" sz="1800" b="0" dirty="0"/>
              <a:t>平面上的</a:t>
            </a:r>
            <a:r>
              <a:rPr lang="en-US" altLang="zh-CN" sz="1800" b="0" dirty="0"/>
              <a:t>25</a:t>
            </a:r>
            <a:r>
              <a:rPr lang="zh-CN" altLang="zh-CN" sz="1800" b="0" dirty="0"/>
              <a:t>个网格坐标点</a:t>
            </a:r>
          </a:p>
          <a:p>
            <a:pPr marL="0" indent="0"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(xx,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,"</a:t>
            </a:r>
            <a:r>
              <a:rPr lang="en-US" altLang="zh-CN" sz="1800" b="0" dirty="0" err="1"/>
              <a:t>bo</a:t>
            </a:r>
            <a:r>
              <a:rPr lang="en-US" altLang="zh-CN" sz="1800" b="0" dirty="0"/>
              <a:t>")    #</a:t>
            </a:r>
            <a:r>
              <a:rPr lang="zh-CN" altLang="zh-CN" sz="1800" b="0" dirty="0"/>
              <a:t>用蓝色圆点标注各个坐标点的位置</a:t>
            </a:r>
          </a:p>
          <a:p>
            <a:pPr marL="0" indent="0">
              <a:buNone/>
            </a:pPr>
            <a:r>
              <a:rPr lang="en-US" altLang="zh-CN" sz="1800" b="0" dirty="0" err="1"/>
              <a:t>plt.show</a:t>
            </a:r>
            <a:r>
              <a:rPr lang="en-US" altLang="zh-CN" sz="1800" b="0" dirty="0"/>
              <a:t>()</a:t>
            </a:r>
            <a:endParaRPr lang="zh-CN" altLang="zh-CN" sz="1800" b="0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352450" y="816330"/>
            <a:ext cx="501163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8.9 </a:t>
            </a:r>
            <a:r>
              <a:rPr lang="zh-CN" altLang="zh-CN" sz="2400" b="1" dirty="0">
                <a:solidFill>
                  <a:srgbClr val="C00000"/>
                </a:solidFill>
              </a:rPr>
              <a:t> 绘制一个空心的立方体</a:t>
            </a:r>
            <a:r>
              <a:rPr lang="zh-CN" altLang="en-US" sz="2400" b="1" dirty="0">
                <a:solidFill>
                  <a:srgbClr val="C00000"/>
                </a:solidFill>
              </a:rPr>
              <a:t>（自学）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5364088" y="123478"/>
            <a:ext cx="2411760" cy="152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382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347614"/>
            <a:ext cx="8317432" cy="338437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zh-CN" sz="2000" dirty="0">
                <a:solidFill>
                  <a:srgbClr val="0070C0"/>
                </a:solidFill>
              </a:rPr>
              <a:t>②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zh-CN" sz="2000" dirty="0">
                <a:solidFill>
                  <a:srgbClr val="0070C0"/>
                </a:solidFill>
              </a:rPr>
              <a:t>创建一个三维坐标系的绘图区，设置各个坐标的刻度显示范围</a:t>
            </a:r>
          </a:p>
          <a:p>
            <a:pPr marL="40005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/>
              <a:t>from mpl_toolkits.mplot3d import Axes3D</a:t>
            </a:r>
            <a:endParaRPr lang="zh-CN" altLang="zh-CN" sz="1800" dirty="0"/>
          </a:p>
          <a:p>
            <a:pPr marL="40005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/>
              <a:t>fig=</a:t>
            </a:r>
            <a:r>
              <a:rPr lang="en-US" altLang="zh-CN" sz="1800" dirty="0" err="1"/>
              <a:t>plt.figure</a:t>
            </a:r>
            <a:r>
              <a:rPr lang="en-US" altLang="zh-CN" sz="1800" dirty="0"/>
              <a:t>()</a:t>
            </a:r>
            <a:endParaRPr lang="zh-CN" altLang="zh-CN" sz="1800" dirty="0"/>
          </a:p>
          <a:p>
            <a:pPr marL="40005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/>
              <a:t>ax=Axes3D(fig)</a:t>
            </a:r>
            <a:endParaRPr lang="zh-CN" altLang="zh-CN" sz="1800" dirty="0"/>
          </a:p>
          <a:p>
            <a:pPr marL="40005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err="1"/>
              <a:t>ax.set_xlim</a:t>
            </a:r>
            <a:r>
              <a:rPr lang="en-US" altLang="zh-CN" sz="1800" dirty="0"/>
              <a:t>(1,5)   </a:t>
            </a:r>
            <a:endParaRPr lang="zh-CN" altLang="zh-CN" sz="1800" dirty="0"/>
          </a:p>
          <a:p>
            <a:pPr marL="40005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err="1"/>
              <a:t>ax.set_ylim</a:t>
            </a:r>
            <a:r>
              <a:rPr lang="en-US" altLang="zh-CN" sz="1800" dirty="0"/>
              <a:t>(1,5)</a:t>
            </a:r>
            <a:endParaRPr lang="zh-CN" altLang="zh-CN" sz="1800" dirty="0"/>
          </a:p>
          <a:p>
            <a:pPr marL="400050"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 err="1"/>
              <a:t>ax.set_zlim</a:t>
            </a:r>
            <a:r>
              <a:rPr lang="en-US" altLang="zh-CN" sz="1800" dirty="0"/>
              <a:t>(1,5)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zh-CN" sz="2000" dirty="0">
                <a:solidFill>
                  <a:srgbClr val="0070C0"/>
                </a:solidFill>
              </a:rPr>
              <a:t>③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zh-CN" sz="2000" dirty="0">
                <a:solidFill>
                  <a:srgbClr val="0070C0"/>
                </a:solidFill>
              </a:rPr>
              <a:t>生成</a:t>
            </a:r>
            <a:r>
              <a:rPr lang="en-US" altLang="zh-CN" sz="2000" dirty="0" err="1">
                <a:solidFill>
                  <a:srgbClr val="0070C0"/>
                </a:solidFill>
              </a:rPr>
              <a:t>xy</a:t>
            </a:r>
            <a:r>
              <a:rPr lang="zh-CN" altLang="zh-CN" sz="2000" dirty="0">
                <a:solidFill>
                  <a:srgbClr val="0070C0"/>
                </a:solidFill>
              </a:rPr>
              <a:t>平面上</a:t>
            </a:r>
            <a:r>
              <a:rPr lang="en-US" altLang="zh-CN" sz="2000" dirty="0">
                <a:solidFill>
                  <a:srgbClr val="0070C0"/>
                </a:solidFill>
              </a:rPr>
              <a:t>25</a:t>
            </a:r>
            <a:r>
              <a:rPr lang="zh-CN" altLang="zh-CN" sz="2000" dirty="0">
                <a:solidFill>
                  <a:srgbClr val="0070C0"/>
                </a:solidFill>
              </a:rPr>
              <a:t>个网格点坐标对应的</a:t>
            </a:r>
            <a:r>
              <a:rPr lang="en-US" altLang="zh-CN" sz="2000" dirty="0">
                <a:solidFill>
                  <a:srgbClr val="0070C0"/>
                </a:solidFill>
              </a:rPr>
              <a:t>z</a:t>
            </a:r>
            <a:r>
              <a:rPr lang="zh-CN" altLang="zh-CN" sz="2000" dirty="0">
                <a:solidFill>
                  <a:srgbClr val="0070C0"/>
                </a:solidFill>
              </a:rPr>
              <a:t>坐标的值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/>
              <a:t>   </a:t>
            </a:r>
            <a:r>
              <a:rPr lang="en-US" altLang="zh-CN" sz="2000" b="0" dirty="0"/>
              <a:t>z = </a:t>
            </a:r>
            <a:r>
              <a:rPr lang="en-US" altLang="zh-CN" sz="2000" b="0" dirty="0" err="1"/>
              <a:t>np.zeros</a:t>
            </a:r>
            <a:r>
              <a:rPr lang="en-US" altLang="zh-CN" sz="2000" b="0" dirty="0"/>
              <a:t>(25)+5     # z</a:t>
            </a:r>
            <a:r>
              <a:rPr lang="zh-CN" altLang="zh-CN" sz="2000" b="0" dirty="0"/>
              <a:t>的值为</a:t>
            </a:r>
            <a:r>
              <a:rPr lang="en-US" altLang="zh-CN" sz="2000" b="0" dirty="0"/>
              <a:t>25</a:t>
            </a:r>
            <a:r>
              <a:rPr lang="zh-CN" altLang="zh-CN" sz="2000" b="0" dirty="0"/>
              <a:t>个</a:t>
            </a:r>
            <a:r>
              <a:rPr lang="en-US" altLang="zh-CN" sz="2000" b="0" dirty="0"/>
              <a:t>5</a:t>
            </a:r>
            <a:r>
              <a:rPr lang="zh-CN" altLang="zh-CN" sz="2000" b="0" dirty="0"/>
              <a:t>：</a:t>
            </a:r>
            <a:r>
              <a:rPr lang="en-US" altLang="zh-CN" sz="2000" b="0" dirty="0"/>
              <a:t>array([5., 5.</a:t>
            </a:r>
            <a:r>
              <a:rPr lang="zh-CN" altLang="zh-CN" sz="2000" b="0" dirty="0"/>
              <a:t>……</a:t>
            </a:r>
            <a:r>
              <a:rPr lang="en-US" altLang="zh-CN" sz="2000" b="0" dirty="0"/>
              <a:t> 5.])</a:t>
            </a:r>
            <a:endParaRPr lang="zh-CN" altLang="zh-CN" sz="2000" b="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b="0" dirty="0"/>
              <a:t>   </a:t>
            </a:r>
            <a:r>
              <a:rPr lang="en-US" altLang="zh-CN" sz="2000" b="0" dirty="0" err="1"/>
              <a:t>zz</a:t>
            </a:r>
            <a:r>
              <a:rPr lang="en-US" altLang="zh-CN" sz="2000" b="0" dirty="0"/>
              <a:t>= </a:t>
            </a:r>
            <a:r>
              <a:rPr lang="en-US" altLang="zh-CN" sz="2000" b="0" dirty="0" err="1"/>
              <a:t>z.reshape</a:t>
            </a:r>
            <a:r>
              <a:rPr lang="en-US" altLang="zh-CN" sz="2000" b="0" dirty="0"/>
              <a:t>(5, 5)    # </a:t>
            </a:r>
            <a:r>
              <a:rPr lang="zh-CN" altLang="zh-CN" sz="2000" b="0" dirty="0"/>
              <a:t>将</a:t>
            </a:r>
            <a:r>
              <a:rPr lang="en-US" altLang="zh-CN" sz="2000" b="0" dirty="0"/>
              <a:t>z</a:t>
            </a:r>
            <a:r>
              <a:rPr lang="zh-CN" altLang="zh-CN" sz="2000" b="0" dirty="0"/>
              <a:t>修改为二维向量</a:t>
            </a:r>
          </a:p>
        </p:txBody>
      </p:sp>
    </p:spTree>
    <p:extLst>
      <p:ext uri="{BB962C8B-B14F-4D97-AF65-F5344CB8AC3E}">
        <p14:creationId xmlns:p14="http://schemas.microsoft.com/office/powerpoint/2010/main" val="43026874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11510"/>
            <a:ext cx="8099593" cy="2520279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lang="zh-CN" altLang="zh-CN" sz="2000" dirty="0">
                <a:solidFill>
                  <a:srgbClr val="0070C0"/>
                </a:solidFill>
              </a:rPr>
              <a:t>④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zh-CN" sz="2000" dirty="0">
                <a:solidFill>
                  <a:srgbClr val="0070C0"/>
                </a:solidFill>
              </a:rPr>
              <a:t>绘制</a:t>
            </a:r>
            <a:r>
              <a:rPr lang="en-US" altLang="zh-CN" sz="2000" dirty="0">
                <a:solidFill>
                  <a:srgbClr val="0070C0"/>
                </a:solidFill>
              </a:rPr>
              <a:t>6</a:t>
            </a:r>
            <a:r>
              <a:rPr lang="zh-CN" altLang="zh-CN" sz="2000" dirty="0">
                <a:solidFill>
                  <a:srgbClr val="0070C0"/>
                </a:solidFill>
              </a:rPr>
              <a:t>个网格面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 err="1"/>
              <a:t>ax.plot_surface</a:t>
            </a:r>
            <a:r>
              <a:rPr lang="en-US" altLang="zh-CN" sz="1800" b="0" dirty="0"/>
              <a:t>(xx,  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,  </a:t>
            </a:r>
            <a:r>
              <a:rPr lang="en-US" altLang="zh-CN" sz="1800" b="0" dirty="0" err="1"/>
              <a:t>zz</a:t>
            </a:r>
            <a:r>
              <a:rPr lang="en-US" altLang="zh-CN" sz="1800" b="0" dirty="0"/>
              <a:t>,  color='r', alpha=0.7)      #</a:t>
            </a:r>
            <a:r>
              <a:rPr lang="zh-CN" altLang="zh-CN" sz="1800" b="0" dirty="0"/>
              <a:t>顶面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 err="1"/>
              <a:t>ax.plot_surface</a:t>
            </a:r>
            <a:r>
              <a:rPr lang="en-US" altLang="zh-CN" sz="1800" b="0" dirty="0"/>
              <a:t>(xx,  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  ,zz-4,color='g', alpha=1  )      #</a:t>
            </a:r>
            <a:r>
              <a:rPr lang="zh-CN" altLang="zh-CN" sz="1800" b="0" dirty="0"/>
              <a:t>底面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 err="1"/>
              <a:t>ax.plot_surface</a:t>
            </a:r>
            <a:r>
              <a:rPr lang="en-US" altLang="zh-CN" sz="1800" b="0" dirty="0"/>
              <a:t>(zz-4,xx,  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,  color='b', alpha=1)        #</a:t>
            </a:r>
            <a:r>
              <a:rPr lang="zh-CN" altLang="zh-CN" sz="1800" b="0" dirty="0"/>
              <a:t>后面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 err="1"/>
              <a:t>ax.plot_surface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zz</a:t>
            </a:r>
            <a:r>
              <a:rPr lang="en-US" altLang="zh-CN" sz="1800" b="0" dirty="0"/>
              <a:t>,  xx,  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,  color='c', alpha=0.7)      #</a:t>
            </a:r>
            <a:r>
              <a:rPr lang="zh-CN" altLang="zh-CN" sz="1800" b="0" dirty="0"/>
              <a:t>前面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 err="1"/>
              <a:t>ax.plot_surface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,  </a:t>
            </a:r>
            <a:r>
              <a:rPr lang="en-US" altLang="zh-CN" sz="1800" b="0" dirty="0" err="1"/>
              <a:t>zz</a:t>
            </a:r>
            <a:r>
              <a:rPr lang="en-US" altLang="zh-CN" sz="1800" b="0" dirty="0"/>
              <a:t>,  xx,  color='m', alpha=1  )      #</a:t>
            </a:r>
            <a:r>
              <a:rPr lang="zh-CN" altLang="zh-CN" sz="1800" b="0" dirty="0"/>
              <a:t>右面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800" b="0" dirty="0" err="1"/>
              <a:t>ax.plot_surface</a:t>
            </a:r>
            <a:r>
              <a:rPr lang="en-US" altLang="zh-CN" sz="1800" b="0" dirty="0"/>
              <a:t>(</a:t>
            </a:r>
            <a:r>
              <a:rPr lang="en-US" altLang="zh-CN" sz="1800" b="0" dirty="0" err="1"/>
              <a:t>yy</a:t>
            </a:r>
            <a:r>
              <a:rPr lang="en-US" altLang="zh-CN" sz="1800" b="0" dirty="0"/>
              <a:t>,  zz-4,xx,  color='y', alpha=0.7)      #</a:t>
            </a:r>
            <a:r>
              <a:rPr lang="zh-CN" altLang="zh-CN" sz="1800" b="0" dirty="0"/>
              <a:t>左面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59832" y="3075806"/>
            <a:ext cx="2422832" cy="16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21958"/>
      </p:ext>
    </p:extLst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2"/>
          <p:cNvSpPr>
            <a:spLocks noGrp="1"/>
          </p:cNvSpPr>
          <p:nvPr>
            <p:ph idx="1"/>
          </p:nvPr>
        </p:nvSpPr>
        <p:spPr>
          <a:xfrm>
            <a:off x="683568" y="1059582"/>
            <a:ext cx="6336704" cy="3817243"/>
          </a:xfr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dirty="0"/>
              <a:t>import </a:t>
            </a:r>
            <a:r>
              <a:rPr lang="en-US" altLang="zh-CN" sz="1800" b="0" dirty="0" err="1"/>
              <a:t>numpy</a:t>
            </a:r>
            <a:r>
              <a:rPr lang="en-US" altLang="zh-CN" sz="1800" b="0" dirty="0"/>
              <a:t> as np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dirty="0"/>
              <a:t>import </a:t>
            </a:r>
            <a:r>
              <a:rPr lang="en-US" altLang="zh-CN" sz="1800" b="0" dirty="0" err="1"/>
              <a:t>matplotlib.pyplot</a:t>
            </a:r>
            <a:r>
              <a:rPr lang="en-US" altLang="zh-CN" sz="1800" b="0" dirty="0"/>
              <a:t> as </a:t>
            </a:r>
            <a:r>
              <a:rPr lang="en-US" altLang="zh-CN" sz="1800" b="0" dirty="0" err="1"/>
              <a:t>plt</a:t>
            </a:r>
            <a:endParaRPr lang="en-US" altLang="zh-CN" sz="1800" b="0" dirty="0"/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dirty="0"/>
              <a:t>from </a:t>
            </a:r>
            <a:r>
              <a:rPr lang="en-US" altLang="zh-CN" sz="1800" b="0" dirty="0" err="1"/>
              <a:t>matplotlib</a:t>
            </a:r>
            <a:r>
              <a:rPr lang="en-US" altLang="zh-CN" sz="1800" b="0" dirty="0"/>
              <a:t> import cm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dirty="0">
                <a:solidFill>
                  <a:srgbClr val="0070C0"/>
                </a:solidFill>
              </a:rPr>
              <a:t>from mpl_toolkits.mplot3d import Axes3D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dirty="0"/>
              <a:t>fig = </a:t>
            </a:r>
            <a:r>
              <a:rPr lang="en-US" altLang="zh-CN" sz="1800" b="0" dirty="0" err="1"/>
              <a:t>plt.figure</a:t>
            </a:r>
            <a:r>
              <a:rPr lang="en-US" altLang="zh-CN" sz="1800" b="0" dirty="0"/>
              <a:t>()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dirty="0"/>
              <a:t>ax = Axes3D(fig)</a:t>
            </a:r>
          </a:p>
          <a:p>
            <a:pPr marL="0" indent="0">
              <a:buFontTx/>
              <a:buNone/>
            </a:pPr>
            <a:r>
              <a:rPr lang="en-US" altLang="zh-CN" sz="1800" b="0" dirty="0"/>
              <a:t>X,Y = </a:t>
            </a:r>
            <a:r>
              <a:rPr lang="en-US" altLang="zh-CN" sz="1800" b="0" dirty="0" err="1"/>
              <a:t>np.arange</a:t>
            </a:r>
            <a:r>
              <a:rPr lang="en-US" altLang="zh-CN" sz="1800" b="0" dirty="0"/>
              <a:t>(-5, 5, 0.1),</a:t>
            </a:r>
            <a:r>
              <a:rPr lang="en-US" altLang="zh-CN" sz="1800" b="0" dirty="0" err="1"/>
              <a:t>np.arange</a:t>
            </a:r>
            <a:r>
              <a:rPr lang="en-US" altLang="zh-CN" sz="1800" b="0" dirty="0"/>
              <a:t>(-5, 5, 0.1)</a:t>
            </a:r>
          </a:p>
          <a:p>
            <a:pPr marL="0" indent="0">
              <a:buFontTx/>
              <a:buNone/>
            </a:pPr>
            <a:r>
              <a:rPr lang="en-US" altLang="zh-CN" sz="1800" b="0" dirty="0">
                <a:solidFill>
                  <a:srgbClr val="0070C0"/>
                </a:solidFill>
              </a:rPr>
              <a:t>X,Y = </a:t>
            </a:r>
            <a:r>
              <a:rPr lang="en-US" altLang="zh-CN" sz="1800" b="0" dirty="0" err="1">
                <a:solidFill>
                  <a:srgbClr val="0070C0"/>
                </a:solidFill>
              </a:rPr>
              <a:t>np.meshgrid</a:t>
            </a:r>
            <a:r>
              <a:rPr lang="en-US" altLang="zh-CN" sz="1800" b="0" dirty="0">
                <a:solidFill>
                  <a:srgbClr val="0070C0"/>
                </a:solidFill>
              </a:rPr>
              <a:t>(X, Y)       </a:t>
            </a:r>
            <a:r>
              <a:rPr lang="en-US" altLang="zh-CN" sz="1800" b="0" dirty="0"/>
              <a:t>#</a:t>
            </a:r>
            <a:r>
              <a:rPr lang="zh-CN" altLang="en-US" sz="1800" b="0" dirty="0"/>
              <a:t>形成网格矩阵</a:t>
            </a:r>
            <a:endParaRPr lang="en-US" altLang="zh-CN" sz="1800" b="0" dirty="0"/>
          </a:p>
          <a:p>
            <a:pPr marL="0" indent="0">
              <a:buFontTx/>
              <a:buNone/>
            </a:pPr>
            <a:r>
              <a:rPr lang="en-US" altLang="zh-CN" sz="1800" b="0" dirty="0"/>
              <a:t>R = </a:t>
            </a:r>
            <a:r>
              <a:rPr lang="en-US" altLang="zh-CN" sz="1800" b="0" dirty="0" err="1"/>
              <a:t>np.sqrt</a:t>
            </a:r>
            <a:r>
              <a:rPr lang="en-US" altLang="zh-CN" sz="1800" b="0" dirty="0"/>
              <a:t>(X**2 + Y**2)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zh-CN" sz="1800" b="0" dirty="0"/>
              <a:t>Z = </a:t>
            </a:r>
            <a:r>
              <a:rPr lang="en-US" altLang="zh-CN" sz="1800" b="0" dirty="0" err="1"/>
              <a:t>np.sin</a:t>
            </a:r>
            <a:r>
              <a:rPr lang="en-US" altLang="zh-CN" sz="1800" b="0" dirty="0"/>
              <a:t>(R)</a:t>
            </a:r>
          </a:p>
          <a:p>
            <a:pPr marL="0" indent="0">
              <a:buNone/>
            </a:pPr>
            <a:r>
              <a:rPr lang="en-US" altLang="zh-CN" sz="1800" b="0" dirty="0" err="1">
                <a:solidFill>
                  <a:srgbClr val="0070C0"/>
                </a:solidFill>
              </a:rPr>
              <a:t>ax.plot_surface</a:t>
            </a:r>
            <a:r>
              <a:rPr lang="en-US" altLang="zh-CN" sz="1800" b="0" dirty="0">
                <a:solidFill>
                  <a:srgbClr val="0070C0"/>
                </a:solidFill>
              </a:rPr>
              <a:t>(</a:t>
            </a:r>
            <a:r>
              <a:rPr lang="en-US" altLang="zh-CN" sz="1800" b="0" dirty="0" err="1">
                <a:solidFill>
                  <a:srgbClr val="0070C0"/>
                </a:solidFill>
              </a:rPr>
              <a:t>X,Y,Z,rstride</a:t>
            </a:r>
            <a:r>
              <a:rPr lang="en-US" altLang="zh-CN" sz="1800" b="0" dirty="0">
                <a:solidFill>
                  <a:srgbClr val="0070C0"/>
                </a:solidFill>
              </a:rPr>
              <a:t>=1,cstride=1,cmap=</a:t>
            </a:r>
            <a:r>
              <a:rPr lang="en-US" altLang="zh-CN" sz="1800" b="0" dirty="0" err="1">
                <a:solidFill>
                  <a:srgbClr val="0070C0"/>
                </a:solidFill>
              </a:rPr>
              <a:t>cm.rainbow</a:t>
            </a:r>
            <a:r>
              <a:rPr lang="en-US" altLang="zh-CN" sz="1800" b="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8915" name="Rectangle 2"/>
          <p:cNvSpPr>
            <a:spLocks noChangeArrowheads="1"/>
          </p:cNvSpPr>
          <p:nvPr/>
        </p:nvSpPr>
        <p:spPr bwMode="auto">
          <a:xfrm>
            <a:off x="0" y="-12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18" name="标题 1"/>
          <p:cNvSpPr>
            <a:spLocks noGrp="1"/>
          </p:cNvSpPr>
          <p:nvPr>
            <p:ph type="title"/>
          </p:nvPr>
        </p:nvSpPr>
        <p:spPr>
          <a:xfrm>
            <a:off x="282342" y="483518"/>
            <a:ext cx="4968875" cy="4746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8.10 </a:t>
            </a:r>
            <a:r>
              <a:rPr lang="zh-CN" altLang="en-US" sz="2400" b="1" dirty="0">
                <a:solidFill>
                  <a:srgbClr val="C00000"/>
                </a:solidFill>
              </a:rPr>
              <a:t>绘制曲面图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092280" y="51471"/>
            <a:ext cx="1996158" cy="2160240"/>
            <a:chOff x="6804025" y="51470"/>
            <a:chExt cx="2284413" cy="2169443"/>
          </a:xfrm>
        </p:grpSpPr>
        <p:pic>
          <p:nvPicPr>
            <p:cNvPr id="3891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025" y="51470"/>
              <a:ext cx="2284413" cy="155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0" name="矩形 3"/>
            <p:cNvSpPr>
              <a:spLocks noChangeArrowheads="1"/>
            </p:cNvSpPr>
            <p:nvPr/>
          </p:nvSpPr>
          <p:spPr bwMode="auto">
            <a:xfrm>
              <a:off x="7235825" y="1635125"/>
              <a:ext cx="1747838" cy="58578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Z = </a:t>
              </a:r>
              <a:r>
                <a:rPr lang="en-US" altLang="zh-CN" sz="1600" b="1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np.sin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(R)</a:t>
              </a:r>
            </a:p>
            <a:p>
              <a:pPr eaLnBrk="1" hangingPunct="1"/>
              <a:r>
                <a:rPr lang="en-US" altLang="zh-CN" sz="1600" b="1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cmap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=</a:t>
              </a:r>
              <a:r>
                <a:rPr lang="en-US" altLang="zh-CN" sz="1600" b="1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cm.rainbow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164288" y="2787774"/>
            <a:ext cx="1924150" cy="1879476"/>
            <a:chOff x="6872288" y="2499742"/>
            <a:chExt cx="2216150" cy="2167508"/>
          </a:xfrm>
        </p:grpSpPr>
        <p:pic>
          <p:nvPicPr>
            <p:cNvPr id="3891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288" y="2499742"/>
              <a:ext cx="2216150" cy="151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1" name="矩形 13"/>
            <p:cNvSpPr>
              <a:spLocks noChangeArrowheads="1"/>
            </p:cNvSpPr>
            <p:nvPr/>
          </p:nvSpPr>
          <p:spPr bwMode="auto">
            <a:xfrm>
              <a:off x="7215188" y="4081463"/>
              <a:ext cx="1838325" cy="585787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Z = </a:t>
              </a:r>
              <a:r>
                <a:rPr lang="en-US" altLang="zh-CN" sz="1600" b="1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np.cos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(R)</a:t>
              </a:r>
            </a:p>
            <a:p>
              <a:pPr eaLnBrk="1" hangingPunct="1"/>
              <a:r>
                <a:rPr lang="en-US" altLang="zh-CN" sz="1600" b="1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cmap</a:t>
              </a:r>
              <a:r>
                <a:rPr lang="en-US" altLang="zh-CN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=</a:t>
              </a:r>
              <a:r>
                <a:rPr lang="en-US" altLang="zh-CN" sz="1600" b="1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cm.spectral</a:t>
              </a:r>
              <a:endPara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/>
      <p:bldP spid="389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94438-8523-4664-9314-FF7702A68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36626"/>
            <a:ext cx="8568952" cy="39604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070C0"/>
                </a:solidFill>
              </a:rPr>
              <a:t>np.meshgrid</a:t>
            </a:r>
            <a:r>
              <a:rPr lang="zh-CN" altLang="en-US" sz="1800" dirty="0">
                <a:solidFill>
                  <a:srgbClr val="0070C0"/>
                </a:solidFill>
              </a:rPr>
              <a:t>（）：生成坐标点矩阵</a:t>
            </a:r>
            <a:endParaRPr lang="en-US" altLang="zh-CN" sz="1800" dirty="0">
              <a:solidFill>
                <a:srgbClr val="0070C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b="0" dirty="0"/>
              <a:t>例如：</a:t>
            </a:r>
            <a:endParaRPr lang="en-US" altLang="zh-CN" sz="1800" b="0" dirty="0"/>
          </a:p>
          <a:p>
            <a:pPr marL="0" indent="0">
              <a:spcBef>
                <a:spcPts val="0"/>
              </a:spcBef>
              <a:buNone/>
            </a:pPr>
            <a:r>
              <a:rPr lang="es-ES" altLang="zh-CN" sz="1800" b="0" dirty="0"/>
              <a:t>x = np.array([0, 1, 2])   </a:t>
            </a:r>
            <a:r>
              <a:rPr lang="en-US" altLang="zh-CN" sz="1800" b="0" dirty="0"/>
              <a:t>#</a:t>
            </a:r>
            <a:r>
              <a:rPr lang="zh-CN" altLang="en-US" sz="1800" b="0" dirty="0"/>
              <a:t>横坐标向量</a:t>
            </a:r>
            <a:endParaRPr lang="es-ES" altLang="zh-CN" sz="1800" b="0" dirty="0"/>
          </a:p>
          <a:p>
            <a:pPr marL="0" indent="0">
              <a:spcBef>
                <a:spcPts val="0"/>
              </a:spcBef>
              <a:buNone/>
            </a:pPr>
            <a:r>
              <a:rPr lang="es-ES" altLang="zh-CN" sz="1800" b="0" dirty="0"/>
              <a:t>y = np.array([0, 1])      </a:t>
            </a:r>
            <a:r>
              <a:rPr lang="en-US" altLang="zh-CN" sz="1800" b="0" dirty="0"/>
              <a:t>#</a:t>
            </a:r>
            <a:r>
              <a:rPr lang="zh-CN" altLang="en-US" sz="1800" b="0" dirty="0"/>
              <a:t>纵坐标向量</a:t>
            </a:r>
            <a:endParaRPr lang="es-ES" altLang="zh-CN" sz="1800" b="0" dirty="0"/>
          </a:p>
          <a:p>
            <a:pPr marL="0" indent="0">
              <a:spcBef>
                <a:spcPts val="0"/>
              </a:spcBef>
              <a:buNone/>
            </a:pPr>
            <a:r>
              <a:rPr lang="es-ES" altLang="zh-CN" sz="1800" b="0" dirty="0"/>
              <a:t>X, Y = np.meshgrid(x, y)  </a:t>
            </a:r>
            <a:r>
              <a:rPr lang="en-US" altLang="zh-CN" sz="1800" b="0" dirty="0"/>
              <a:t>#</a:t>
            </a:r>
            <a:r>
              <a:rPr lang="zh-CN" altLang="en-US" sz="1800" b="0" dirty="0"/>
              <a:t>得到坐标矩阵</a:t>
            </a:r>
            <a:endParaRPr lang="es-ES" altLang="zh-CN" sz="1800" b="0" dirty="0"/>
          </a:p>
          <a:p>
            <a:pPr marL="0" indent="0">
              <a:spcBef>
                <a:spcPts val="0"/>
              </a:spcBef>
              <a:buNone/>
            </a:pPr>
            <a:r>
              <a:rPr lang="es-ES" altLang="zh-CN" sz="1800" b="0" dirty="0"/>
              <a:t>print(X)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altLang="zh-CN" sz="1800" b="0" dirty="0"/>
              <a:t>print(Y)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plt.plot</a:t>
            </a:r>
            <a:r>
              <a:rPr lang="en-US" altLang="zh-CN" sz="1800" b="0" dirty="0"/>
              <a:t>(X, Y,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/>
              <a:t>         color='red',  # </a:t>
            </a:r>
            <a:r>
              <a:rPr lang="zh-CN" altLang="en-US" sz="1800" b="0" dirty="0"/>
              <a:t>全部点设置为红色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b="0" dirty="0"/>
              <a:t>         </a:t>
            </a:r>
            <a:r>
              <a:rPr lang="en-US" altLang="zh-CN" sz="1800" b="0" dirty="0"/>
              <a:t>marker='.',  # </a:t>
            </a:r>
            <a:r>
              <a:rPr lang="zh-CN" altLang="en-US" sz="1800" b="0" dirty="0"/>
              <a:t>点的形状为圆点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800" b="0" dirty="0"/>
              <a:t>         </a:t>
            </a:r>
            <a:r>
              <a:rPr lang="en-US" altLang="zh-CN" sz="1800" b="0" dirty="0" err="1"/>
              <a:t>linestyle</a:t>
            </a:r>
            <a:r>
              <a:rPr lang="en-US" altLang="zh-CN" sz="1800" b="0" dirty="0"/>
              <a:t>='')  # </a:t>
            </a:r>
            <a:r>
              <a:rPr lang="zh-CN" altLang="en-US" sz="1800" b="0" dirty="0"/>
              <a:t>线型为空，也即点与点之间不用线连接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plt.grid</a:t>
            </a:r>
            <a:r>
              <a:rPr lang="en-US" altLang="zh-CN" sz="1800" b="0" dirty="0"/>
              <a:t>(True)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0" dirty="0" err="1"/>
              <a:t>plt.show</a:t>
            </a:r>
            <a:r>
              <a:rPr lang="en-US" altLang="zh-CN" sz="1800" b="0" dirty="0"/>
              <a:t>()</a:t>
            </a:r>
          </a:p>
          <a:p>
            <a:pPr marL="0" indent="0">
              <a:buNone/>
            </a:pPr>
            <a:endParaRPr lang="zh-CN" altLang="en-US" b="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A80364-4EC4-4350-8907-BD9E61BB2DB8}"/>
              </a:ext>
            </a:extLst>
          </p:cNvPr>
          <p:cNvSpPr txBox="1"/>
          <p:nvPr/>
        </p:nvSpPr>
        <p:spPr>
          <a:xfrm>
            <a:off x="4499992" y="2385959"/>
            <a:ext cx="995932" cy="861774"/>
          </a:xfrm>
          <a:prstGeom prst="rect">
            <a:avLst/>
          </a:prstGeom>
          <a:solidFill>
            <a:srgbClr val="CCFFFF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dirty="0"/>
              <a:t>[[0 1 2]</a:t>
            </a:r>
          </a:p>
          <a:p>
            <a:r>
              <a:rPr lang="en-US" altLang="zh-CN" sz="1400" dirty="0"/>
              <a:t> [0 1 2]]</a:t>
            </a:r>
          </a:p>
          <a:p>
            <a:r>
              <a:rPr lang="en-US" altLang="zh-CN" sz="1400" dirty="0"/>
              <a:t>[[0 0 0]</a:t>
            </a:r>
          </a:p>
          <a:p>
            <a:r>
              <a:rPr lang="en-US" altLang="zh-CN" sz="1400" dirty="0"/>
              <a:t> [1 1 1]]</a:t>
            </a: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E17095-E90A-46DF-B7E7-16C5E87D8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141" y="924080"/>
            <a:ext cx="3208885" cy="230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43086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649C2-4BBD-42C4-83B9-75E526D79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058863"/>
            <a:ext cx="8293100" cy="2665016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2000" b="0" dirty="0"/>
              <a:t>为了绘制 </a:t>
            </a:r>
            <a:r>
              <a:rPr lang="en-US" altLang="zh-CN" sz="2000" b="0" dirty="0"/>
              <a:t>3D </a:t>
            </a:r>
            <a:r>
              <a:rPr lang="zh-CN" altLang="en-US" sz="2000" b="0" dirty="0"/>
              <a:t>图形，需要调用 </a:t>
            </a:r>
            <a:r>
              <a:rPr lang="en-US" altLang="zh-CN" sz="2000" b="0" dirty="0"/>
              <a:t>Axes3D </a:t>
            </a:r>
            <a:r>
              <a:rPr lang="zh-CN" altLang="en-US" sz="2000" b="0" dirty="0"/>
              <a:t>对象的 </a:t>
            </a:r>
            <a:r>
              <a:rPr lang="en-US" altLang="zh-CN" sz="2000" b="0" dirty="0" err="1"/>
              <a:t>plot_surface</a:t>
            </a:r>
            <a:r>
              <a:rPr lang="en-US" altLang="zh-CN" sz="2000" b="0" dirty="0"/>
              <a:t>() </a:t>
            </a:r>
            <a:r>
              <a:rPr lang="zh-CN" altLang="en-US" sz="2000" b="0" dirty="0"/>
              <a:t>方法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例如：</a:t>
            </a:r>
            <a:endParaRPr lang="en-US" altLang="zh-CN" sz="2000" b="0" dirty="0"/>
          </a:p>
          <a:p>
            <a:pPr marL="0" indent="0">
              <a:buNone/>
            </a:pPr>
            <a:r>
              <a:rPr lang="en-US" altLang="zh-CN" sz="2000" b="0" dirty="0" err="1"/>
              <a:t>ax.plot_surface</a:t>
            </a:r>
            <a:r>
              <a:rPr lang="en-US" altLang="zh-CN" sz="2000" b="0" dirty="0"/>
              <a:t>(X, Y, Z,</a:t>
            </a:r>
          </a:p>
          <a:p>
            <a:pPr marL="0" indent="0">
              <a:buNone/>
            </a:pPr>
            <a:r>
              <a:rPr lang="en-US" altLang="zh-CN" sz="2000" b="0" dirty="0" err="1"/>
              <a:t>rstride</a:t>
            </a:r>
            <a:r>
              <a:rPr lang="en-US" altLang="zh-CN" sz="2000" b="0" dirty="0"/>
              <a:t>=1,     # </a:t>
            </a:r>
            <a:r>
              <a:rPr lang="en-US" altLang="zh-CN" sz="2000" b="0" dirty="0" err="1"/>
              <a:t>rstride</a:t>
            </a:r>
            <a:r>
              <a:rPr lang="zh-CN" altLang="en-US" sz="2000" b="0" dirty="0"/>
              <a:t>（</a:t>
            </a:r>
            <a:r>
              <a:rPr lang="en-US" altLang="zh-CN" sz="2000" b="0" dirty="0"/>
              <a:t>row</a:t>
            </a:r>
            <a:r>
              <a:rPr lang="zh-CN" altLang="en-US" sz="2000" b="0" dirty="0"/>
              <a:t>）指定行的跨度</a:t>
            </a:r>
          </a:p>
          <a:p>
            <a:pPr marL="0" indent="0">
              <a:buNone/>
            </a:pPr>
            <a:r>
              <a:rPr lang="en-US" altLang="zh-CN" sz="2000" b="0" dirty="0" err="1"/>
              <a:t>cstride</a:t>
            </a:r>
            <a:r>
              <a:rPr lang="en-US" altLang="zh-CN" sz="2000" b="0" dirty="0"/>
              <a:t>=1,    # </a:t>
            </a:r>
            <a:r>
              <a:rPr lang="en-US" altLang="zh-CN" sz="2000" b="0" dirty="0" err="1"/>
              <a:t>cstride</a:t>
            </a:r>
            <a:r>
              <a:rPr lang="en-US" altLang="zh-CN" sz="2000" b="0" dirty="0"/>
              <a:t>(column)</a:t>
            </a:r>
            <a:r>
              <a:rPr lang="zh-CN" altLang="en-US" sz="2000" b="0" dirty="0"/>
              <a:t>指定列的跨度</a:t>
            </a:r>
          </a:p>
          <a:p>
            <a:pPr marL="0" indent="0">
              <a:buNone/>
            </a:pPr>
            <a:r>
              <a:rPr lang="en-US" altLang="zh-CN" sz="2000" b="0" dirty="0" err="1"/>
              <a:t>cmap</a:t>
            </a:r>
            <a:r>
              <a:rPr lang="en-US" altLang="zh-CN" sz="2000" b="0" dirty="0"/>
              <a:t>=</a:t>
            </a:r>
            <a:r>
              <a:rPr lang="en-US" altLang="zh-CN" sz="2000" b="0" dirty="0" err="1"/>
              <a:t>plt.get_cmap</a:t>
            </a:r>
            <a:r>
              <a:rPr lang="en-US" altLang="zh-CN" sz="2000" b="0" dirty="0"/>
              <a:t>('rainbow'))    # </a:t>
            </a:r>
            <a:r>
              <a:rPr lang="zh-CN" altLang="en-US" sz="2000" b="0" dirty="0"/>
              <a:t>设置颜色映射</a:t>
            </a: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36719002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850" y="104775"/>
            <a:ext cx="8275638" cy="450751"/>
          </a:xfrm>
        </p:spPr>
        <p:txBody>
          <a:bodyPr/>
          <a:lstStyle/>
          <a:p>
            <a:r>
              <a:rPr lang="zh-CN" altLang="en-US" sz="2400" b="1" dirty="0"/>
              <a:t>动态可视化（自学）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55526"/>
            <a:ext cx="8568952" cy="43204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00B050"/>
                </a:solidFill>
              </a:rPr>
              <a:t>例</a:t>
            </a:r>
            <a:r>
              <a:rPr lang="en-US" altLang="zh-CN" sz="2000" dirty="0">
                <a:solidFill>
                  <a:srgbClr val="00B050"/>
                </a:solidFill>
              </a:rPr>
              <a:t>1  </a:t>
            </a:r>
            <a:r>
              <a:rPr lang="zh-CN" altLang="en-US" sz="2000" dirty="0">
                <a:solidFill>
                  <a:srgbClr val="00B050"/>
                </a:solidFill>
              </a:rPr>
              <a:t>动态绘制</a:t>
            </a:r>
            <a:r>
              <a:rPr lang="en-US" altLang="zh-CN" sz="2000" dirty="0">
                <a:solidFill>
                  <a:srgbClr val="00B050"/>
                </a:solidFill>
              </a:rPr>
              <a:t>sin</a:t>
            </a:r>
            <a:r>
              <a:rPr lang="zh-CN" altLang="en-US" sz="2000" dirty="0">
                <a:solidFill>
                  <a:srgbClr val="00B050"/>
                </a:solidFill>
              </a:rPr>
              <a:t>曲线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import </a:t>
            </a:r>
            <a:r>
              <a:rPr lang="en-US" altLang="zh-CN" sz="1400" b="0" dirty="0" err="1">
                <a:solidFill>
                  <a:schemeClr val="tx1"/>
                </a:solidFill>
              </a:rPr>
              <a:t>numpy</a:t>
            </a:r>
            <a:r>
              <a:rPr lang="en-US" altLang="zh-CN" sz="1400" b="0" dirty="0">
                <a:solidFill>
                  <a:schemeClr val="tx1"/>
                </a:solidFill>
              </a:rPr>
              <a:t> as np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import </a:t>
            </a:r>
            <a:r>
              <a:rPr lang="en-US" altLang="zh-CN" sz="1400" b="0" dirty="0" err="1">
                <a:solidFill>
                  <a:schemeClr val="tx1"/>
                </a:solidFill>
              </a:rPr>
              <a:t>matplotlib.pyplot</a:t>
            </a:r>
            <a:r>
              <a:rPr lang="en-US" altLang="zh-CN" sz="1400" b="0" dirty="0">
                <a:solidFill>
                  <a:schemeClr val="tx1"/>
                </a:solidFill>
              </a:rPr>
              <a:t> as </a:t>
            </a:r>
            <a:r>
              <a:rPr lang="en-US" altLang="zh-CN" sz="1400" b="0" dirty="0" err="1">
                <a:solidFill>
                  <a:schemeClr val="tx1"/>
                </a:solidFill>
              </a:rPr>
              <a:t>plt</a:t>
            </a:r>
            <a:endParaRPr lang="en-US" altLang="zh-CN" sz="14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from </a:t>
            </a:r>
            <a:r>
              <a:rPr lang="en-US" altLang="zh-CN" sz="1400" b="0" dirty="0" err="1">
                <a:solidFill>
                  <a:schemeClr val="tx1"/>
                </a:solidFill>
              </a:rPr>
              <a:t>matplotlib.animation</a:t>
            </a:r>
            <a:r>
              <a:rPr lang="en-US" altLang="zh-CN" sz="1400" b="0" dirty="0">
                <a:solidFill>
                  <a:schemeClr val="tx1"/>
                </a:solidFill>
              </a:rPr>
              <a:t> import </a:t>
            </a:r>
            <a:r>
              <a:rPr lang="en-US" altLang="zh-CN" sz="1400" b="0" dirty="0" err="1">
                <a:solidFill>
                  <a:schemeClr val="tx1"/>
                </a:solidFill>
              </a:rPr>
              <a:t>FuncAnimation</a:t>
            </a:r>
            <a:endParaRPr lang="en-US" altLang="zh-CN" sz="14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fig, ax = </a:t>
            </a:r>
            <a:r>
              <a:rPr lang="en-US" altLang="zh-CN" sz="1400" b="0" dirty="0" err="1">
                <a:solidFill>
                  <a:schemeClr val="tx1"/>
                </a:solidFill>
              </a:rPr>
              <a:t>plt.subplots</a:t>
            </a:r>
            <a:r>
              <a:rPr lang="en-US" altLang="zh-CN" sz="1400" b="0" dirty="0">
                <a:solidFill>
                  <a:schemeClr val="tx1"/>
                </a:solidFill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XX, YY = [], []                             # x</a:t>
            </a:r>
            <a:r>
              <a:rPr lang="zh-CN" altLang="en-US" sz="1400" b="0" dirty="0">
                <a:solidFill>
                  <a:schemeClr val="tx1"/>
                </a:solidFill>
              </a:rPr>
              <a:t>和</a:t>
            </a:r>
            <a:r>
              <a:rPr lang="en-US" altLang="zh-CN" sz="1400" b="0" dirty="0">
                <a:solidFill>
                  <a:schemeClr val="tx1"/>
                </a:solidFill>
              </a:rPr>
              <a:t>y</a:t>
            </a:r>
            <a:r>
              <a:rPr lang="zh-CN" altLang="en-US" sz="1400" b="0" dirty="0">
                <a:solidFill>
                  <a:schemeClr val="tx1"/>
                </a:solidFill>
              </a:rPr>
              <a:t>坐标点数据序列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line, = </a:t>
            </a:r>
            <a:r>
              <a:rPr lang="en-US" altLang="zh-CN" sz="1400" b="0" dirty="0" err="1">
                <a:solidFill>
                  <a:schemeClr val="tx1"/>
                </a:solidFill>
              </a:rPr>
              <a:t>ax.plot</a:t>
            </a:r>
            <a:r>
              <a:rPr lang="en-US" altLang="zh-CN" sz="1400" b="0" dirty="0">
                <a:solidFill>
                  <a:schemeClr val="tx1"/>
                </a:solidFill>
              </a:rPr>
              <a:t>([], [], 'r*')             # </a:t>
            </a:r>
            <a:r>
              <a:rPr lang="zh-CN" altLang="en-US" sz="1400" b="0" dirty="0">
                <a:solidFill>
                  <a:schemeClr val="tx1"/>
                </a:solidFill>
              </a:rPr>
              <a:t>待绘制的折线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0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 err="1">
                <a:solidFill>
                  <a:schemeClr val="tx1"/>
                </a:solidFill>
              </a:rPr>
              <a:t>def</a:t>
            </a:r>
            <a:r>
              <a:rPr lang="en-US" altLang="zh-CN" sz="1400" b="0" dirty="0">
                <a:solidFill>
                  <a:schemeClr val="tx1"/>
                </a:solidFill>
              </a:rPr>
              <a:t> </a:t>
            </a:r>
            <a:r>
              <a:rPr lang="en-US" altLang="zh-CN" sz="1400" b="0" dirty="0" err="1">
                <a:solidFill>
                  <a:schemeClr val="tx1"/>
                </a:solidFill>
              </a:rPr>
              <a:t>init</a:t>
            </a:r>
            <a:r>
              <a:rPr lang="en-US" altLang="zh-CN" sz="1400" b="0" dirty="0">
                <a:solidFill>
                  <a:schemeClr val="tx1"/>
                </a:solidFill>
              </a:rPr>
              <a:t>():                                    # </a:t>
            </a:r>
            <a:r>
              <a:rPr lang="zh-CN" altLang="en-US" sz="1400" b="0" dirty="0">
                <a:solidFill>
                  <a:schemeClr val="tx1"/>
                </a:solidFill>
              </a:rPr>
              <a:t>初始化绘制环境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0" dirty="0">
                <a:solidFill>
                  <a:schemeClr val="tx1"/>
                </a:solidFill>
              </a:rPr>
              <a:t>    </a:t>
            </a:r>
            <a:r>
              <a:rPr lang="en-US" altLang="zh-CN" sz="1400" b="0" dirty="0" err="1">
                <a:solidFill>
                  <a:schemeClr val="tx1"/>
                </a:solidFill>
              </a:rPr>
              <a:t>ax.set_xlim</a:t>
            </a:r>
            <a:r>
              <a:rPr lang="en-US" altLang="zh-CN" sz="1400" b="0" dirty="0">
                <a:solidFill>
                  <a:schemeClr val="tx1"/>
                </a:solidFill>
              </a:rPr>
              <a:t>(0, 2*</a:t>
            </a:r>
            <a:r>
              <a:rPr lang="en-US" altLang="zh-CN" sz="1400" b="0" dirty="0" err="1">
                <a:solidFill>
                  <a:schemeClr val="tx1"/>
                </a:solidFill>
              </a:rPr>
              <a:t>np.pi</a:t>
            </a:r>
            <a:r>
              <a:rPr lang="en-US" altLang="zh-CN" sz="1400" b="0" dirty="0">
                <a:solidFill>
                  <a:schemeClr val="tx1"/>
                </a:solidFill>
              </a:rPr>
              <a:t>)           # X</a:t>
            </a:r>
            <a:r>
              <a:rPr lang="zh-CN" altLang="en-US" sz="1400" b="0" dirty="0">
                <a:solidFill>
                  <a:schemeClr val="tx1"/>
                </a:solidFill>
              </a:rPr>
              <a:t>轴显示的数据范围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0" dirty="0">
                <a:solidFill>
                  <a:schemeClr val="tx1"/>
                </a:solidFill>
              </a:rPr>
              <a:t>    </a:t>
            </a:r>
            <a:r>
              <a:rPr lang="en-US" altLang="zh-CN" sz="1400" b="0" dirty="0" err="1">
                <a:solidFill>
                  <a:schemeClr val="tx1"/>
                </a:solidFill>
              </a:rPr>
              <a:t>ax.set_ylim</a:t>
            </a:r>
            <a:r>
              <a:rPr lang="en-US" altLang="zh-CN" sz="1400" b="0" dirty="0">
                <a:solidFill>
                  <a:schemeClr val="tx1"/>
                </a:solidFill>
              </a:rPr>
              <a:t>(-1, 1)                   # y</a:t>
            </a:r>
            <a:r>
              <a:rPr lang="zh-CN" altLang="en-US" sz="1400" b="0" dirty="0">
                <a:solidFill>
                  <a:schemeClr val="tx1"/>
                </a:solidFill>
              </a:rPr>
              <a:t>轴显示的数据范围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9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 err="1">
                <a:solidFill>
                  <a:schemeClr val="tx1"/>
                </a:solidFill>
              </a:rPr>
              <a:t>def</a:t>
            </a:r>
            <a:r>
              <a:rPr lang="en-US" altLang="zh-CN" sz="1400" b="0" dirty="0">
                <a:solidFill>
                  <a:schemeClr val="tx1"/>
                </a:solidFill>
              </a:rPr>
              <a:t> update(x):                           # </a:t>
            </a:r>
            <a:r>
              <a:rPr lang="zh-CN" altLang="en-US" sz="1400" b="0" dirty="0">
                <a:solidFill>
                  <a:schemeClr val="tx1"/>
                </a:solidFill>
              </a:rPr>
              <a:t>不断刷新画布，</a:t>
            </a:r>
            <a:r>
              <a:rPr lang="en-US" altLang="zh-CN" sz="1400" b="0" dirty="0">
                <a:solidFill>
                  <a:schemeClr val="tx1"/>
                </a:solidFill>
              </a:rPr>
              <a:t>x</a:t>
            </a:r>
            <a:r>
              <a:rPr lang="zh-CN" altLang="en-US" sz="1400" b="0" dirty="0">
                <a:solidFill>
                  <a:schemeClr val="tx1"/>
                </a:solidFill>
              </a:rPr>
              <a:t>用于传入坐标值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0" dirty="0">
                <a:solidFill>
                  <a:schemeClr val="tx1"/>
                </a:solidFill>
              </a:rPr>
              <a:t>    </a:t>
            </a:r>
            <a:r>
              <a:rPr lang="en-US" altLang="zh-CN" sz="1400" b="0" dirty="0" err="1">
                <a:solidFill>
                  <a:schemeClr val="tx1"/>
                </a:solidFill>
              </a:rPr>
              <a:t>XX.append</a:t>
            </a:r>
            <a:r>
              <a:rPr lang="en-US" altLang="zh-CN" sz="1400" b="0" dirty="0">
                <a:solidFill>
                  <a:schemeClr val="tx1"/>
                </a:solidFill>
              </a:rPr>
              <a:t>(x)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    </a:t>
            </a:r>
            <a:r>
              <a:rPr lang="en-US" altLang="zh-CN" sz="1400" b="0" dirty="0" err="1">
                <a:solidFill>
                  <a:schemeClr val="tx1"/>
                </a:solidFill>
              </a:rPr>
              <a:t>YY.append</a:t>
            </a:r>
            <a:r>
              <a:rPr lang="en-US" altLang="zh-CN" sz="1400" b="0" dirty="0">
                <a:solidFill>
                  <a:schemeClr val="tx1"/>
                </a:solidFill>
              </a:rPr>
              <a:t>(</a:t>
            </a:r>
            <a:r>
              <a:rPr lang="en-US" altLang="zh-CN" sz="1400" b="0" dirty="0" err="1">
                <a:solidFill>
                  <a:schemeClr val="tx1"/>
                </a:solidFill>
              </a:rPr>
              <a:t>np.sin</a:t>
            </a:r>
            <a:r>
              <a:rPr lang="en-US" altLang="zh-CN" sz="1400" b="0" dirty="0">
                <a:solidFill>
                  <a:schemeClr val="tx1"/>
                </a:solidFill>
              </a:rPr>
              <a:t>(x))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    </a:t>
            </a:r>
            <a:r>
              <a:rPr lang="en-US" altLang="zh-CN" sz="1400" b="0" dirty="0" err="1">
                <a:solidFill>
                  <a:schemeClr val="tx1"/>
                </a:solidFill>
              </a:rPr>
              <a:t>line.set_data</a:t>
            </a:r>
            <a:r>
              <a:rPr lang="en-US" altLang="zh-CN" sz="1400" b="0" dirty="0">
                <a:solidFill>
                  <a:schemeClr val="tx1"/>
                </a:solidFill>
              </a:rPr>
              <a:t>(XX, YY)             # </a:t>
            </a:r>
            <a:r>
              <a:rPr lang="zh-CN" altLang="en-US" sz="1400" b="0" dirty="0">
                <a:solidFill>
                  <a:schemeClr val="tx1"/>
                </a:solidFill>
              </a:rPr>
              <a:t>传入绘制线条所需坐标值序列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400" b="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 err="1">
                <a:solidFill>
                  <a:schemeClr val="tx1"/>
                </a:solidFill>
              </a:rPr>
              <a:t>ani</a:t>
            </a:r>
            <a:r>
              <a:rPr lang="en-US" altLang="zh-CN" sz="1400" b="0" dirty="0">
                <a:solidFill>
                  <a:schemeClr val="tx1"/>
                </a:solidFill>
              </a:rPr>
              <a:t> = </a:t>
            </a:r>
            <a:r>
              <a:rPr lang="en-US" altLang="zh-CN" sz="1400" b="0" dirty="0" err="1">
                <a:solidFill>
                  <a:schemeClr val="tx1"/>
                </a:solidFill>
              </a:rPr>
              <a:t>FuncAnimation</a:t>
            </a:r>
            <a:r>
              <a:rPr lang="en-US" altLang="zh-CN" sz="1400" b="0" dirty="0">
                <a:solidFill>
                  <a:schemeClr val="tx1"/>
                </a:solidFill>
              </a:rPr>
              <a:t>(fig, update, frames=</a:t>
            </a:r>
            <a:r>
              <a:rPr lang="en-US" altLang="zh-CN" sz="1400" b="0" dirty="0" err="1">
                <a:solidFill>
                  <a:schemeClr val="tx1"/>
                </a:solidFill>
              </a:rPr>
              <a:t>np.linspace</a:t>
            </a:r>
            <a:r>
              <a:rPr lang="en-US" altLang="zh-CN" sz="1400" b="0" dirty="0">
                <a:solidFill>
                  <a:schemeClr val="tx1"/>
                </a:solidFill>
              </a:rPr>
              <a:t>(0, 2*</a:t>
            </a:r>
            <a:r>
              <a:rPr lang="en-US" altLang="zh-CN" sz="1400" b="0" dirty="0" err="1">
                <a:solidFill>
                  <a:schemeClr val="tx1"/>
                </a:solidFill>
              </a:rPr>
              <a:t>np.pi</a:t>
            </a:r>
            <a:r>
              <a:rPr lang="en-US" altLang="zh-CN" sz="1400" b="0" dirty="0">
                <a:solidFill>
                  <a:schemeClr val="tx1"/>
                </a:solidFill>
              </a:rPr>
              <a:t>, 50),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chemeClr val="tx1"/>
                </a:solidFill>
              </a:rPr>
              <a:t>                    </a:t>
            </a:r>
            <a:r>
              <a:rPr lang="en-US" altLang="zh-CN" sz="1400" b="0" dirty="0" err="1">
                <a:solidFill>
                  <a:schemeClr val="tx1"/>
                </a:solidFill>
              </a:rPr>
              <a:t>init_func</a:t>
            </a:r>
            <a:r>
              <a:rPr lang="en-US" altLang="zh-CN" sz="1400" b="0" dirty="0">
                <a:solidFill>
                  <a:schemeClr val="tx1"/>
                </a:solidFill>
              </a:rPr>
              <a:t>=</a:t>
            </a:r>
            <a:r>
              <a:rPr lang="en-US" altLang="zh-CN" sz="1400" b="0" dirty="0" err="1">
                <a:solidFill>
                  <a:schemeClr val="tx1"/>
                </a:solidFill>
              </a:rPr>
              <a:t>init,interval</a:t>
            </a:r>
            <a:r>
              <a:rPr lang="en-US" altLang="zh-CN" sz="1400" b="0" dirty="0">
                <a:solidFill>
                  <a:schemeClr val="tx1"/>
                </a:solidFill>
              </a:rPr>
              <a:t>=10)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0" dirty="0" err="1">
                <a:solidFill>
                  <a:schemeClr val="tx1"/>
                </a:solidFill>
              </a:rPr>
              <a:t>plt.show</a:t>
            </a:r>
            <a:r>
              <a:rPr lang="en-US" altLang="zh-CN" sz="1400" b="0" dirty="0">
                <a:solidFill>
                  <a:schemeClr val="tx1"/>
                </a:solidFill>
              </a:rPr>
              <a:t>()</a:t>
            </a:r>
            <a:endParaRPr lang="zh-CN" altLang="en-US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89264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>
        <a:solidFill>
          <a:srgbClr val="CCFFFF"/>
        </a:solidFill>
      </a:spPr>
      <a:bodyPr wrap="square" lIns="90000" tIns="0" rIns="0" bIns="0" rtlCol="0">
        <a:spAutoFit/>
      </a:bodyPr>
      <a:lstStyle>
        <a:defPPr>
          <a:lnSpc>
            <a:spcPct val="150000"/>
          </a:lnSpc>
          <a:defRPr dirty="0" err="1"/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15993</TotalTime>
  <Words>9452</Words>
  <Application>Microsoft Macintosh PowerPoint</Application>
  <PresentationFormat>全屏显示(16:9)</PresentationFormat>
  <Paragraphs>985</Paragraphs>
  <Slides>66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6" baseType="lpstr">
      <vt:lpstr>等线</vt:lpstr>
      <vt:lpstr>黑体</vt:lpstr>
      <vt:lpstr>宋体</vt:lpstr>
      <vt:lpstr>微软雅黑</vt:lpstr>
      <vt:lpstr>Arial</vt:lpstr>
      <vt:lpstr>Bodoni MT Black</vt:lpstr>
      <vt:lpstr>Calibri</vt:lpstr>
      <vt:lpstr>Times New Roman</vt:lpstr>
      <vt:lpstr>Wingdings</vt:lpstr>
      <vt:lpstr>主题1</vt:lpstr>
      <vt:lpstr>第8章 数据可视化</vt:lpstr>
      <vt:lpstr>可视化的优点</vt:lpstr>
      <vt:lpstr>Matplotlib</vt:lpstr>
      <vt:lpstr>图表样例</vt:lpstr>
      <vt:lpstr>例8.1—绘制销售柱状图（条形图)，显示某产品各季度的销售量</vt:lpstr>
      <vt:lpstr>引例—销售量柱状图（或条形图）</vt:lpstr>
      <vt:lpstr>PowerPoint 演示文稿</vt:lpstr>
      <vt:lpstr>PowerPoint 演示文稿</vt:lpstr>
      <vt:lpstr>2.图表的组成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常用图表绘制函数</vt:lpstr>
      <vt:lpstr>坐标轴设置函数</vt:lpstr>
      <vt:lpstr>标签设置函数</vt:lpstr>
      <vt:lpstr>解决汉字和负号显示问题</vt:lpstr>
      <vt:lpstr>一、绘制线条</vt:lpstr>
      <vt:lpstr>绘制线条例</vt:lpstr>
      <vt:lpstr>绘制线条例</vt:lpstr>
      <vt:lpstr>线条的类型</vt:lpstr>
      <vt:lpstr>颜色控制</vt:lpstr>
      <vt:lpstr>例8.2 绘制三角函数y=sin(x)和y=cos(x)的曲线图</vt:lpstr>
      <vt:lpstr>例8.2 绘制三角函数y=sin(x)和y=cos(x)的曲线图</vt:lpstr>
      <vt:lpstr>#改进:将绘制函数放到循环外,在循环内把计算得到的数据保存到列表中</vt:lpstr>
      <vt:lpstr>PowerPoint 演示文稿</vt:lpstr>
      <vt:lpstr>#改进:使用numpy库</vt:lpstr>
      <vt:lpstr>例8.3 绘制中国1979年至2018年的GDP的变化趋势图</vt:lpstr>
      <vt:lpstr>PowerPoint 演示文稿</vt:lpstr>
      <vt:lpstr>PowerPoint 演示文稿</vt:lpstr>
      <vt:lpstr>调整图例位置</vt:lpstr>
      <vt:lpstr>例8.3 绘制中国1979年至2018年的GDP的变化趋势图(自学）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条形图</vt:lpstr>
      <vt:lpstr>例：条形图</vt:lpstr>
      <vt:lpstr>例8.6 图像的条形图</vt:lpstr>
      <vt:lpstr>例8.1 补充  —销售量柱状图（多个系列并列显示）</vt:lpstr>
      <vt:lpstr>PowerPoint 演示文稿</vt:lpstr>
      <vt:lpstr>PowerPoint 演示文稿</vt:lpstr>
      <vt:lpstr>绘制直方图</vt:lpstr>
      <vt:lpstr>例8.6 图像的直方图</vt:lpstr>
      <vt:lpstr>绘制箱形图</vt:lpstr>
      <vt:lpstr>PowerPoint 演示文稿</vt:lpstr>
      <vt:lpstr>PowerPoint 演示文稿</vt:lpstr>
      <vt:lpstr>三维可视化</vt:lpstr>
      <vt:lpstr>例8.7 绘制螺旋线</vt:lpstr>
      <vt:lpstr>例8.8 绘制四棱锥</vt:lpstr>
      <vt:lpstr>PowerPoint 演示文稿</vt:lpstr>
      <vt:lpstr>PowerPoint 演示文稿</vt:lpstr>
      <vt:lpstr>PowerPoint 演示文稿</vt:lpstr>
      <vt:lpstr>例8.10 绘制曲面图</vt:lpstr>
      <vt:lpstr>PowerPoint 演示文稿</vt:lpstr>
      <vt:lpstr>PowerPoint 演示文稿</vt:lpstr>
      <vt:lpstr>动态可视化（自学）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1229</cp:revision>
  <dcterms:created xsi:type="dcterms:W3CDTF">2010-02-28T17:17:53Z</dcterms:created>
  <dcterms:modified xsi:type="dcterms:W3CDTF">2026-06-10T05:43:38Z</dcterms:modified>
</cp:coreProperties>
</file>