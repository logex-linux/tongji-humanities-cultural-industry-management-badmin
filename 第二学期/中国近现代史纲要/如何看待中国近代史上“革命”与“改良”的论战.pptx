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59" r:id="rId1"/>
    <p:sldMasterId id="2147483660" r:id="rId2"/>
  </p:sldMasterIdLst>
  <p:notesMasterIdLst>
    <p:notesMasterId r:id="rId26"/>
  </p:notesMasterIdLst>
  <p:sldIdLst>
    <p:sldId id="256" r:id="rId3"/>
    <p:sldId id="257" r:id="rId4"/>
    <p:sldId id="258" r:id="rId5"/>
    <p:sldId id="259" r:id="rId6"/>
    <p:sldId id="260" r:id="rId7"/>
    <p:sldId id="278" r:id="rId8"/>
    <p:sldId id="261" r:id="rId9"/>
    <p:sldId id="262" r:id="rId10"/>
    <p:sldId id="263" r:id="rId11"/>
    <p:sldId id="264" r:id="rId12"/>
    <p:sldId id="265" r:id="rId13"/>
    <p:sldId id="266" r:id="rId14"/>
    <p:sldId id="267" r:id="rId15"/>
    <p:sldId id="268" r:id="rId16"/>
    <p:sldId id="269" r:id="rId17"/>
    <p:sldId id="272" r:id="rId18"/>
    <p:sldId id="273" r:id="rId19"/>
    <p:sldId id="274" r:id="rId20"/>
    <p:sldId id="275" r:id="rId21"/>
    <p:sldId id="276" r:id="rId22"/>
    <p:sldId id="279" r:id="rId23"/>
    <p:sldId id="277" r:id="rId24"/>
    <p:sldId id="280" r:id="rId25"/>
  </p:sldIdLst>
  <p:sldSz cx="12192000" cy="6858000"/>
  <p:notesSz cx="6858000" cy="9144000"/>
  <p:embeddedFontLst>
    <p:embeddedFont>
      <p:font typeface="FangSong" panose="02010609060101010101" pitchFamily="49" charset="-122"/>
      <p:regular r:id="rId27"/>
    </p:embeddedFont>
    <p:embeddedFont>
      <p:font typeface="Source Han Serif CN" panose="02020400000000000000" pitchFamily="18" charset="-128"/>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67AE"/>
    <a:srgbClr val="9C8DAB"/>
    <a:srgbClr val="EBD5FF"/>
    <a:srgbClr val="FFDFC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219"/>
    <p:restoredTop sz="94686"/>
  </p:normalViewPr>
  <p:slideViewPr>
    <p:cSldViewPr snapToGrid="0">
      <p:cViewPr varScale="1">
        <p:scale>
          <a:sx n="109" d="100"/>
          <a:sy n="109" d="100"/>
        </p:scale>
        <p:origin x="408"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2.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1.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与改良派不同，以孙中山为代表的革命派认为，只有通过暴力革命推翻腐朽的清王朝，才能真正挽救中国。1905年中国同盟会的成立，标志着革命力量的团结和壮大。他们以《民报》为阵地，提出了著名的“三民主义”纲领，明确了建立共和国的目标，与改良派形成了鲜明的对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FFDFCE">
                <a:alpha val="0"/>
              </a:srgbClr>
            </a:gs>
            <a:gs pos="100000">
              <a:schemeClr val="accent4">
                <a:lumMod val="20000"/>
                <a:lumOff val="80000"/>
              </a:schemeClr>
            </a:gs>
          </a:gsLst>
          <a:lin ang="0" scaled="0"/>
          <a:tileRect/>
        </a:gra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gradFill flip="none" rotWithShape="1">
          <a:gsLst>
            <a:gs pos="0">
              <a:srgbClr val="FFDFCE">
                <a:alpha val="0"/>
              </a:srgbClr>
            </a:gs>
            <a:gs pos="100000">
              <a:schemeClr val="accent4">
                <a:lumMod val="20000"/>
                <a:lumOff val="80000"/>
              </a:schemeClr>
            </a:gs>
          </a:gsLst>
          <a:lin ang="0" scaled="0"/>
          <a:tileRect/>
        </a:gra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12045" y="2460283"/>
            <a:ext cx="10997809" cy="1429434"/>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如何看待中国近代史上“革命”与“改良”的论战</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4" name="AutoShape 4"/>
          <p:cNvSpPr/>
          <p:nvPr/>
        </p:nvSpPr>
        <p:spPr>
          <a:xfrm>
            <a:off x="1016000" y="2921000"/>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endParaRPr lang="en-US" sz="1100" dirty="0"/>
          </a:p>
        </p:txBody>
      </p:sp>
      <p:sp>
        <p:nvSpPr>
          <p:cNvPr id="8" name="矩形 7">
            <a:extLst>
              <a:ext uri="{FF2B5EF4-FFF2-40B4-BE49-F238E27FC236}">
                <a16:creationId xmlns:a16="http://schemas.microsoft.com/office/drawing/2014/main" id="{EC17E4F4-BD06-B8D7-E4BF-044AF19FBC9E}"/>
              </a:ext>
            </a:extLst>
          </p:cNvPr>
          <p:cNvSpPr/>
          <p:nvPr/>
        </p:nvSpPr>
        <p:spPr>
          <a:xfrm>
            <a:off x="7023287" y="3428526"/>
            <a:ext cx="1672253" cy="461665"/>
          </a:xfrm>
          <a:prstGeom prst="rect">
            <a:avLst/>
          </a:prstGeom>
          <a:noFill/>
        </p:spPr>
        <p:txBody>
          <a:bodyPr wrap="none" lIns="91440" tIns="45720" rIns="91440" bIns="45720">
            <a:spAutoFit/>
          </a:bodyPr>
          <a:lstStyle/>
          <a:p>
            <a:pPr algn="ctr"/>
            <a:r>
              <a:rPr lang="en-US" altLang="zh-CN" sz="2400" b="1" cap="none" spc="0" dirty="0">
                <a:ln w="22225">
                  <a:noFill/>
                  <a:prstDash val="solid"/>
                </a:ln>
                <a:solidFill>
                  <a:srgbClr val="8067AE"/>
                </a:solidFill>
                <a:effectLst/>
                <a:latin typeface="Times New Roman" panose="02020603050405020304" pitchFamily="18" charset="0"/>
                <a:cs typeface="Times New Roman" panose="02020603050405020304" pitchFamily="18" charset="0"/>
              </a:rPr>
              <a:t>1905</a:t>
            </a:r>
            <a:r>
              <a:rPr lang="zh-CN" altLang="en-US" sz="2400" b="1" cap="none" spc="0" dirty="0">
                <a:ln w="22225">
                  <a:noFill/>
                  <a:prstDash val="solid"/>
                </a:ln>
                <a:solidFill>
                  <a:srgbClr val="8067AE"/>
                </a:solidFill>
                <a:effectLst/>
                <a:latin typeface="Times New Roman" panose="02020603050405020304" pitchFamily="18" charset="0"/>
                <a:cs typeface="Times New Roman" panose="02020603050405020304" pitchFamily="18" charset="0"/>
              </a:rPr>
              <a:t> </a:t>
            </a:r>
            <a:r>
              <a:rPr lang="en-US" altLang="zh-CN" sz="2400" b="1" cap="none" spc="0" dirty="0">
                <a:ln w="22225">
                  <a:noFill/>
                  <a:prstDash val="solid"/>
                </a:ln>
                <a:solidFill>
                  <a:srgbClr val="8067AE"/>
                </a:solidFill>
                <a:effectLst/>
                <a:latin typeface="Times New Roman" panose="02020603050405020304" pitchFamily="18" charset="0"/>
                <a:cs typeface="Times New Roman" panose="02020603050405020304" pitchFamily="18" charset="0"/>
              </a:rPr>
              <a:t>-</a:t>
            </a:r>
            <a:r>
              <a:rPr lang="zh-CN" altLang="en-US" sz="2400" b="1" cap="none" spc="0" dirty="0">
                <a:ln w="22225">
                  <a:noFill/>
                  <a:prstDash val="solid"/>
                </a:ln>
                <a:solidFill>
                  <a:srgbClr val="8067AE"/>
                </a:solidFill>
                <a:effectLst/>
                <a:latin typeface="Times New Roman" panose="02020603050405020304" pitchFamily="18" charset="0"/>
                <a:cs typeface="Times New Roman" panose="02020603050405020304" pitchFamily="18" charset="0"/>
              </a:rPr>
              <a:t> </a:t>
            </a:r>
            <a:r>
              <a:rPr lang="en-US" altLang="zh-CN" sz="2400" b="1" cap="none" spc="0" dirty="0">
                <a:ln w="22225">
                  <a:noFill/>
                  <a:prstDash val="solid"/>
                </a:ln>
                <a:solidFill>
                  <a:srgbClr val="8067AE"/>
                </a:solidFill>
                <a:effectLst/>
                <a:latin typeface="Times New Roman" panose="02020603050405020304" pitchFamily="18" charset="0"/>
                <a:cs typeface="Times New Roman" panose="02020603050405020304" pitchFamily="18" charset="0"/>
              </a:rPr>
              <a:t>1907</a:t>
            </a:r>
            <a:endParaRPr lang="zh-CN" altLang="en-US" sz="2400" b="1" cap="none" spc="0" dirty="0">
              <a:ln w="22225">
                <a:noFill/>
                <a:prstDash val="solid"/>
              </a:ln>
              <a:solidFill>
                <a:srgbClr val="8067AE"/>
              </a:solidFill>
              <a:effectLst/>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AutoShape 12"/>
          <p:cNvSpPr/>
          <p:nvPr/>
        </p:nvSpPr>
        <p:spPr>
          <a:xfrm>
            <a:off x="6758213" y="1895928"/>
            <a:ext cx="4873543"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dirty="0">
              <a:solidFill>
                <a:srgbClr val="7030A0"/>
              </a:solidFill>
              <a:latin typeface="FangSong" panose="02010609060101010101" pitchFamily="49" charset="-122"/>
              <a:ea typeface="FangSong" panose="02010609060101010101" pitchFamily="49" charset="-122"/>
            </a:endParaRPr>
          </a:p>
        </p:txBody>
      </p:sp>
      <p:sp>
        <p:nvSpPr>
          <p:cNvPr id="20" name="AutoShape 20"/>
          <p:cNvSpPr/>
          <p:nvPr/>
        </p:nvSpPr>
        <p:spPr>
          <a:xfrm>
            <a:off x="6758213" y="3546928"/>
            <a:ext cx="4873543"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dirty="0">
              <a:solidFill>
                <a:srgbClr val="7030A0"/>
              </a:solidFill>
              <a:latin typeface="FangSong" panose="02010609060101010101" pitchFamily="49" charset="-122"/>
              <a:ea typeface="FangSong" panose="02010609060101010101" pitchFamily="49" charset="-122"/>
            </a:endParaRPr>
          </a:p>
        </p:txBody>
      </p:sp>
      <p:sp>
        <p:nvSpPr>
          <p:cNvPr id="22" name="AutoShape 22"/>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dirty="0"/>
          </a:p>
        </p:txBody>
      </p:sp>
      <p:sp>
        <p:nvSpPr>
          <p:cNvPr id="23" name="文本框 22">
            <a:extLst>
              <a:ext uri="{FF2B5EF4-FFF2-40B4-BE49-F238E27FC236}">
                <a16:creationId xmlns:a16="http://schemas.microsoft.com/office/drawing/2014/main" id="{2C7514AE-33B3-A94E-695E-28D80324519E}"/>
              </a:ext>
            </a:extLst>
          </p:cNvPr>
          <p:cNvSpPr txBox="1"/>
          <p:nvPr/>
        </p:nvSpPr>
        <p:spPr>
          <a:xfrm>
            <a:off x="1041401" y="3212416"/>
            <a:ext cx="3975100" cy="523220"/>
          </a:xfrm>
          <a:prstGeom prst="rect">
            <a:avLst/>
          </a:prstGeom>
          <a:noFill/>
        </p:spPr>
        <p:txBody>
          <a:bodyPr wrap="square" rtlCol="0">
            <a:spAutoFit/>
          </a:bodyPr>
          <a:lstStyle/>
          <a:p>
            <a:r>
              <a:rPr lang="zh-CN" altLang="en-US" sz="2800" b="1" dirty="0">
                <a:solidFill>
                  <a:srgbClr val="7030A0"/>
                </a:solidFill>
                <a:latin typeface="Source Han Serif CN" panose="02020400000000000000" pitchFamily="18" charset="-128"/>
                <a:ea typeface="Source Han Serif CN" panose="02020400000000000000" pitchFamily="18" charset="-128"/>
              </a:rPr>
              <a:t>二、两派论战核心观点</a:t>
            </a:r>
          </a:p>
        </p:txBody>
      </p:sp>
      <p:sp>
        <p:nvSpPr>
          <p:cNvPr id="25" name="文本框 24">
            <a:extLst>
              <a:ext uri="{FF2B5EF4-FFF2-40B4-BE49-F238E27FC236}">
                <a16:creationId xmlns:a16="http://schemas.microsoft.com/office/drawing/2014/main" id="{FFC0071A-7435-880B-90AA-A75622E3D409}"/>
              </a:ext>
            </a:extLst>
          </p:cNvPr>
          <p:cNvSpPr txBox="1"/>
          <p:nvPr/>
        </p:nvSpPr>
        <p:spPr>
          <a:xfrm>
            <a:off x="6235288" y="2834808"/>
            <a:ext cx="5101990" cy="1200329"/>
          </a:xfrm>
          <a:prstGeom prst="rect">
            <a:avLst/>
          </a:prstGeom>
          <a:noFill/>
        </p:spPr>
        <p:txBody>
          <a:bodyPr wrap="square" rtlCol="0">
            <a:spAutoFit/>
          </a:bodyPr>
          <a:lstStyle/>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要不要以革命手段推翻清政府？</a:t>
            </a:r>
            <a:endParaRPr lang="en-US" altLang="zh-CN" sz="2400" dirty="0">
              <a:solidFill>
                <a:srgbClr val="7030A0"/>
              </a:solidFill>
              <a:latin typeface="FangSong" panose="02010609060101010101" pitchFamily="49" charset="-122"/>
              <a:ea typeface="FangSong" panose="02010609060101010101" pitchFamily="49" charset="-122"/>
            </a:endParaRPr>
          </a:p>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要不要建立民主共和政体？</a:t>
            </a:r>
            <a:endParaRPr lang="en-US" altLang="zh-CN" sz="2400" dirty="0">
              <a:solidFill>
                <a:srgbClr val="7030A0"/>
              </a:solidFill>
              <a:latin typeface="FangSong" panose="02010609060101010101" pitchFamily="49" charset="-122"/>
              <a:ea typeface="FangSong" panose="02010609060101010101" pitchFamily="49" charset="-122"/>
            </a:endParaRPr>
          </a:p>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要不要实行平均地权的社会革命？</a:t>
            </a:r>
          </a:p>
        </p:txBody>
      </p:sp>
      <p:sp>
        <p:nvSpPr>
          <p:cNvPr id="26" name="文本框 25">
            <a:extLst>
              <a:ext uri="{FF2B5EF4-FFF2-40B4-BE49-F238E27FC236}">
                <a16:creationId xmlns:a16="http://schemas.microsoft.com/office/drawing/2014/main" id="{5FE1F8B6-AE3C-2C77-ACCF-F324CD741758}"/>
              </a:ext>
            </a:extLst>
          </p:cNvPr>
          <p:cNvSpPr txBox="1"/>
          <p:nvPr/>
        </p:nvSpPr>
        <p:spPr>
          <a:xfrm>
            <a:off x="1025704" y="1667480"/>
            <a:ext cx="4471954" cy="523220"/>
          </a:xfrm>
          <a:prstGeom prst="rect">
            <a:avLst/>
          </a:prstGeom>
          <a:noFill/>
        </p:spPr>
        <p:txBody>
          <a:bodyPr wrap="square" rtlCol="0">
            <a:spAutoFit/>
          </a:bodyPr>
          <a:lstStyle>
            <a:defPPr marR="0" lvl="0" algn="l" rtl="0">
              <a:lnSpc>
                <a:spcPct val="100000"/>
              </a:lnSpc>
              <a:spcBef>
                <a:spcPts val="0"/>
              </a:spcBef>
              <a:spcAft>
                <a:spcPts val="0"/>
              </a:spcAft>
            </a:defPPr>
            <a:lvl1pPr>
              <a:defRPr sz="2800">
                <a:solidFill>
                  <a:schemeClr val="tx2">
                    <a:lumMod val="10000"/>
                  </a:schemeClr>
                </a:solidFill>
              </a:defRPr>
            </a:lvl1pPr>
          </a:lstStyle>
          <a:p>
            <a:r>
              <a:rPr lang="zh-CN" altLang="en-US" b="1" dirty="0">
                <a:solidFill>
                  <a:srgbClr val="7030A0"/>
                </a:solidFill>
                <a:latin typeface="Source Han Serif CN" panose="02020400000000000000" pitchFamily="18" charset="-128"/>
                <a:ea typeface="Source Han Serif CN" panose="02020400000000000000" pitchFamily="18" charset="-128"/>
              </a:rPr>
              <a:t>一、论战发生的时代背景</a:t>
            </a:r>
          </a:p>
        </p:txBody>
      </p:sp>
      <p:sp>
        <p:nvSpPr>
          <p:cNvPr id="27" name="文本框 26">
            <a:extLst>
              <a:ext uri="{FF2B5EF4-FFF2-40B4-BE49-F238E27FC236}">
                <a16:creationId xmlns:a16="http://schemas.microsoft.com/office/drawing/2014/main" id="{FCED44F7-FC00-5EA8-1AE7-5725EDA458C6}"/>
              </a:ext>
            </a:extLst>
          </p:cNvPr>
          <p:cNvSpPr txBox="1"/>
          <p:nvPr/>
        </p:nvSpPr>
        <p:spPr>
          <a:xfrm>
            <a:off x="6235288" y="1295763"/>
            <a:ext cx="4873543" cy="1200329"/>
          </a:xfrm>
          <a:prstGeom prst="rect">
            <a:avLst/>
          </a:prstGeom>
          <a:noFill/>
        </p:spPr>
        <p:txBody>
          <a:bodyPr wrap="square" rtlCol="0">
            <a:spAutoFit/>
          </a:bodyPr>
          <a:lstStyle/>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百日维新的失败</a:t>
            </a:r>
            <a:endParaRPr lang="en-US" altLang="zh-CN" sz="2400" dirty="0">
              <a:solidFill>
                <a:srgbClr val="7030A0"/>
              </a:solidFill>
              <a:latin typeface="FangSong" panose="02010609060101010101" pitchFamily="49" charset="-122"/>
              <a:ea typeface="FangSong" panose="02010609060101010101" pitchFamily="49" charset="-122"/>
            </a:endParaRPr>
          </a:p>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日俄海战的影响</a:t>
            </a:r>
            <a:endParaRPr lang="en-US" altLang="zh-CN" sz="2400" dirty="0">
              <a:solidFill>
                <a:srgbClr val="7030A0"/>
              </a:solidFill>
              <a:latin typeface="FangSong" panose="02010609060101010101" pitchFamily="49" charset="-122"/>
              <a:ea typeface="FangSong" panose="02010609060101010101" pitchFamily="49" charset="-122"/>
            </a:endParaRPr>
          </a:p>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同盟会的成立</a:t>
            </a:r>
          </a:p>
        </p:txBody>
      </p:sp>
      <p:sp>
        <p:nvSpPr>
          <p:cNvPr id="28" name="文本框 27">
            <a:extLst>
              <a:ext uri="{FF2B5EF4-FFF2-40B4-BE49-F238E27FC236}">
                <a16:creationId xmlns:a16="http://schemas.microsoft.com/office/drawing/2014/main" id="{DB5F4342-F1F0-FD17-E562-9E856BDEB636}"/>
              </a:ext>
            </a:extLst>
          </p:cNvPr>
          <p:cNvSpPr txBox="1"/>
          <p:nvPr/>
        </p:nvSpPr>
        <p:spPr>
          <a:xfrm>
            <a:off x="1025704" y="4788529"/>
            <a:ext cx="5173671" cy="523220"/>
          </a:xfrm>
          <a:prstGeom prst="rect">
            <a:avLst/>
          </a:prstGeom>
          <a:noFill/>
        </p:spPr>
        <p:txBody>
          <a:bodyPr wrap="square" rtlCol="0">
            <a:spAutoFit/>
          </a:bodyPr>
          <a:lstStyle>
            <a:defPPr marR="0" lvl="0" algn="l" rtl="0">
              <a:lnSpc>
                <a:spcPct val="100000"/>
              </a:lnSpc>
              <a:spcBef>
                <a:spcPts val="0"/>
              </a:spcBef>
              <a:spcAft>
                <a:spcPts val="0"/>
              </a:spcAft>
            </a:defPPr>
            <a:lvl1pPr>
              <a:defRPr sz="2800">
                <a:solidFill>
                  <a:schemeClr val="tx2">
                    <a:lumMod val="10000"/>
                  </a:schemeClr>
                </a:solidFill>
              </a:defRPr>
            </a:lvl1pPr>
          </a:lstStyle>
          <a:p>
            <a:r>
              <a:rPr lang="zh-CN" altLang="en-US" b="1">
                <a:solidFill>
                  <a:srgbClr val="7030A0"/>
                </a:solidFill>
                <a:latin typeface="Source Han Serif CN" panose="02020400000000000000" pitchFamily="18" charset="-128"/>
                <a:ea typeface="Source Han Serif CN" panose="02020400000000000000" pitchFamily="18" charset="-128"/>
              </a:rPr>
              <a:t>三、对</a:t>
            </a:r>
            <a:r>
              <a:rPr lang="zh-CN" altLang="en-US" b="1" dirty="0">
                <a:solidFill>
                  <a:srgbClr val="7030A0"/>
                </a:solidFill>
                <a:latin typeface="Source Han Serif CN" panose="02020400000000000000" pitchFamily="18" charset="-128"/>
                <a:ea typeface="Source Han Serif CN" panose="02020400000000000000" pitchFamily="18" charset="-128"/>
              </a:rPr>
              <a:t>论战的复盘</a:t>
            </a:r>
          </a:p>
        </p:txBody>
      </p:sp>
      <p:sp>
        <p:nvSpPr>
          <p:cNvPr id="29" name="文本框 28">
            <a:extLst>
              <a:ext uri="{FF2B5EF4-FFF2-40B4-BE49-F238E27FC236}">
                <a16:creationId xmlns:a16="http://schemas.microsoft.com/office/drawing/2014/main" id="{B691ACEE-0DEF-968D-11C8-130A62E5E371}"/>
              </a:ext>
            </a:extLst>
          </p:cNvPr>
          <p:cNvSpPr txBox="1"/>
          <p:nvPr/>
        </p:nvSpPr>
        <p:spPr>
          <a:xfrm>
            <a:off x="6235288" y="4650070"/>
            <a:ext cx="4873543" cy="830997"/>
          </a:xfrm>
          <a:prstGeom prst="rect">
            <a:avLst/>
          </a:prstGeom>
          <a:noFill/>
        </p:spPr>
        <p:txBody>
          <a:bodyPr wrap="square" rtlCol="0">
            <a:spAutoFit/>
          </a:bodyPr>
          <a:lstStyle/>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局限性</a:t>
            </a:r>
            <a:endParaRPr lang="en-US" altLang="zh-CN" sz="2400" dirty="0">
              <a:solidFill>
                <a:srgbClr val="7030A0"/>
              </a:solidFill>
              <a:latin typeface="FangSong" panose="02010609060101010101" pitchFamily="49" charset="-122"/>
              <a:ea typeface="FangSong" panose="02010609060101010101" pitchFamily="49" charset="-122"/>
            </a:endParaRPr>
          </a:p>
          <a:p>
            <a:r>
              <a:rPr lang="en-US" altLang="zh-CN" sz="2400" dirty="0">
                <a:solidFill>
                  <a:srgbClr val="7030A0"/>
                </a:solidFill>
                <a:latin typeface="FangSong" panose="02010609060101010101" pitchFamily="49" charset="-122"/>
                <a:ea typeface="FangSong" panose="02010609060101010101" pitchFamily="49" charset="-122"/>
              </a:rPr>
              <a:t>·</a:t>
            </a:r>
            <a:r>
              <a:rPr lang="zh-CN" altLang="en-US" sz="2400" dirty="0">
                <a:solidFill>
                  <a:srgbClr val="7030A0"/>
                </a:solidFill>
                <a:latin typeface="FangSong" panose="02010609060101010101" pitchFamily="49" charset="-122"/>
                <a:ea typeface="FangSong" panose="02010609060101010101" pitchFamily="49" charset="-122"/>
              </a:rPr>
              <a:t> 启发与意义</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nvSpPr>
        <p:spPr>
          <a:xfrm>
            <a:off x="1016000" y="2604477"/>
            <a:ext cx="10160000" cy="1649046"/>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时代背景：论战的缘起</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7" name="AutoShape 7"/>
          <p:cNvSpPr/>
          <p:nvPr/>
        </p:nvSpPr>
        <p:spPr>
          <a:xfrm>
            <a:off x="1016000" y="3872523"/>
            <a:ext cx="1016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400" b="0" i="0" u="none" strike="noStrike" spc="200" dirty="0">
                <a:solidFill>
                  <a:srgbClr val="7030A0"/>
                </a:solidFill>
                <a:latin typeface="Times New Roman" panose="02020603050405020304" pitchFamily="18" charset="0"/>
                <a:ea typeface="Noto Sans SC"/>
                <a:cs typeface="Times New Roman" panose="02020603050405020304" pitchFamily="18" charset="0"/>
                <a:sym typeface="Noto Sans SC"/>
              </a:rPr>
              <a:t>HISTORICAL BACKGROUND: THE ORIGIN OF THE DEBATE</a:t>
            </a:r>
            <a:endParaRPr lang="en-US" sz="1100"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1"/>
          <p:cNvPicPr>
            <a:picLocks noChangeAspect="1"/>
          </p:cNvPicPr>
          <p:nvPr/>
        </p:nvPicPr>
        <p:blipFill>
          <a:blip r:embed="rId3">
            <a:alphaModFix amt="11000"/>
          </a:blip>
          <a:srcRect t="439" b="439"/>
          <a:stretch>
            <a:fillRect/>
          </a:stretch>
        </p:blipFill>
        <p:spPr>
          <a:xfrm>
            <a:off x="0" y="20089"/>
            <a:ext cx="9497522" cy="6939022"/>
          </a:xfrm>
          <a:prstGeom prst="rect">
            <a:avLst/>
          </a:prstGeom>
          <a:gradFill>
            <a:gsLst>
              <a:gs pos="0">
                <a:srgbClr val="FFDFCE">
                  <a:alpha val="0"/>
                </a:srgbClr>
              </a:gs>
              <a:gs pos="100000">
                <a:schemeClr val="accent4">
                  <a:lumMod val="20000"/>
                  <a:lumOff val="80000"/>
                </a:schemeClr>
              </a:gs>
            </a:gsLst>
            <a:lin ang="0" scaled="0"/>
          </a:gradFill>
          <a:ln w="25400" cap="flat" cmpd="sng">
            <a:noFill/>
            <a:prstDash val="solid"/>
            <a:round/>
          </a:ln>
          <a:effectLst>
            <a:softEdge rad="620674"/>
          </a:effectLst>
        </p:spPr>
      </p:pic>
      <p:sp>
        <p:nvSpPr>
          <p:cNvPr id="2" name="AutoShape 2"/>
          <p:cNvSpPr/>
          <p:nvPr/>
        </p:nvSpPr>
        <p:spPr>
          <a:xfrm>
            <a:off x="530506" y="355600"/>
            <a:ext cx="4521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背景：戊戌变法的失败</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4" name="AutoShape 4"/>
          <p:cNvSpPr/>
          <p:nvPr/>
        </p:nvSpPr>
        <p:spPr>
          <a:xfrm>
            <a:off x="762000" y="1333500"/>
            <a:ext cx="5334000" cy="1496264"/>
          </a:xfrm>
          <a:prstGeom prst="roundRect">
            <a:avLst>
              <a:gd name="adj" fmla="val 1250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endParaRPr>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1598642" y="2250759"/>
            <a:ext cx="4762499" cy="1077218"/>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百日维新：短暂的变革</a:t>
            </a:r>
            <a:r>
              <a:rPr lang="en-US" sz="28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(1898.6.11-1898.9.21)</a:t>
            </a:r>
            <a:endParaRPr lang="en-US" sz="1600" dirty="0">
              <a:solidFill>
                <a:srgbClr val="7030A0"/>
              </a:solidFill>
              <a:latin typeface="Source Han Serif CN" panose="02020400000000000000" pitchFamily="18" charset="-128"/>
              <a:ea typeface="Source Han Serif CN" panose="02020400000000000000" pitchFamily="18" charset="-128"/>
            </a:endParaRPr>
          </a:p>
        </p:txBody>
      </p:sp>
      <p:sp>
        <p:nvSpPr>
          <p:cNvPr id="7" name="AutoShape 7"/>
          <p:cNvSpPr/>
          <p:nvPr/>
        </p:nvSpPr>
        <p:spPr>
          <a:xfrm>
            <a:off x="1397000" y="2095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8" name="AutoShape 8"/>
          <p:cNvSpPr/>
          <p:nvPr/>
        </p:nvSpPr>
        <p:spPr>
          <a:xfrm>
            <a:off x="762000" y="2991387"/>
            <a:ext cx="5334000" cy="1715668"/>
          </a:xfrm>
          <a:prstGeom prst="roundRect">
            <a:avLst>
              <a:gd name="adj" fmla="val 1250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endParaRPr dirty="0">
              <a:solidFill>
                <a:srgbClr val="7030A0"/>
              </a:solidFill>
              <a:latin typeface="Source Han Serif CN" panose="02020400000000000000" pitchFamily="18" charset="-128"/>
              <a:ea typeface="Source Han Serif CN" panose="02020400000000000000" pitchFamily="18" charset="-128"/>
            </a:endParaRPr>
          </a:p>
        </p:txBody>
      </p:sp>
      <p:sp>
        <p:nvSpPr>
          <p:cNvPr id="11" name="AutoShape 11"/>
          <p:cNvSpPr/>
          <p:nvPr/>
        </p:nvSpPr>
        <p:spPr>
          <a:xfrm>
            <a:off x="1246330" y="3489600"/>
            <a:ext cx="4572000" cy="11937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12" name="AutoShape 12"/>
          <p:cNvSpPr/>
          <p:nvPr/>
        </p:nvSpPr>
        <p:spPr>
          <a:xfrm>
            <a:off x="736600" y="4918914"/>
            <a:ext cx="5334000" cy="1715668"/>
          </a:xfrm>
          <a:prstGeom prst="roundRect">
            <a:avLst>
              <a:gd name="adj" fmla="val 12500"/>
            </a:avLst>
          </a:prstGeom>
          <a:solidFill>
            <a:srgbClr val="FFFFFF">
              <a:alpha val="5000"/>
            </a:srgbClr>
          </a:solidFill>
          <a:ln cap="flat" cmpd="sng">
            <a:solidFill>
              <a:srgbClr val="E6CFCF">
                <a:alpha val="5000"/>
              </a:srgbClr>
            </a:solidFill>
            <a:prstDash val="solid"/>
            <a:round/>
          </a:ln>
        </p:spPr>
        <p:txBody>
          <a:bodyPr vert="horz" wrap="square" lIns="63500" tIns="63500" rIns="63500" bIns="63500" rtlCol="0" anchor="ctr"/>
          <a:lstStyle/>
          <a:p>
            <a:pPr algn="ctr">
              <a:defRPr/>
            </a:pPr>
            <a:endParaRPr dirty="0">
              <a:solidFill>
                <a:srgbClr val="8067AE"/>
              </a:solidFill>
              <a:latin typeface="Source Han Serif CN" panose="02020400000000000000" pitchFamily="18" charset="-128"/>
              <a:ea typeface="Source Han Serif CN" panose="02020400000000000000" pitchFamily="18" charset="-128"/>
            </a:endParaRPr>
          </a:p>
        </p:txBody>
      </p:sp>
      <p:sp>
        <p:nvSpPr>
          <p:cNvPr id="15" name="AutoShape 15"/>
          <p:cNvSpPr/>
          <p:nvPr/>
        </p:nvSpPr>
        <p:spPr>
          <a:xfrm>
            <a:off x="1244600" y="5426914"/>
            <a:ext cx="4572000" cy="1050086"/>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dirty="0">
                <a:solidFill>
                  <a:srgbClr val="8067AE"/>
                </a:solidFill>
                <a:latin typeface="Source Han Serif CN" panose="02020400000000000000" pitchFamily="18" charset="-128"/>
                <a:ea typeface="Source Han Serif CN" panose="02020400000000000000" pitchFamily="18" charset="-128"/>
                <a:cs typeface="Noto Sans SC"/>
                <a:sym typeface="Noto Sans SC"/>
              </a:rPr>
              <a:t>。</a:t>
            </a:r>
            <a:endParaRPr lang="en-US" sz="1100" dirty="0">
              <a:solidFill>
                <a:srgbClr val="8067AE"/>
              </a:solidFill>
              <a:latin typeface="Source Han Serif CN" panose="02020400000000000000" pitchFamily="18" charset="-128"/>
              <a:ea typeface="Source Han Serif CN" panose="02020400000000000000" pitchFamily="18" charset="-128"/>
            </a:endParaRPr>
          </a:p>
        </p:txBody>
      </p:sp>
      <p:sp>
        <p:nvSpPr>
          <p:cNvPr id="18" name="AutoShape 18"/>
          <p:cNvSpPr/>
          <p:nvPr/>
        </p:nvSpPr>
        <p:spPr>
          <a:xfrm>
            <a:off x="6731000" y="2586443"/>
            <a:ext cx="4572000" cy="48664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悲剧结局：改良道路的终结</a:t>
            </a:r>
            <a:endParaRPr lang="en-US" sz="1600" dirty="0">
              <a:solidFill>
                <a:srgbClr val="7030A0"/>
              </a:solidFill>
              <a:latin typeface="Source Han Serif CN" panose="02020400000000000000" pitchFamily="18" charset="-128"/>
              <a:ea typeface="Source Han Serif CN" panose="02020400000000000000" pitchFamily="18" charset="-128"/>
            </a:endParaRPr>
          </a:p>
        </p:txBody>
      </p:sp>
      <p:sp>
        <p:nvSpPr>
          <p:cNvPr id="19" name="AutoShape 19"/>
          <p:cNvSpPr/>
          <p:nvPr/>
        </p:nvSpPr>
        <p:spPr>
          <a:xfrm>
            <a:off x="6626283" y="3886068"/>
            <a:ext cx="4572000" cy="159458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触动守旧派利益遭残酷镇压</a:t>
            </a:r>
            <a:r>
              <a:rPr lang="en-US" sz="24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r>
              <a:rPr lang="en-US" sz="24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戊戌六君子”的牺牲证明皇权体制内改良行不通</a:t>
            </a:r>
            <a:r>
              <a:rPr lang="en-US" sz="24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2400" dirty="0">
              <a:solidFill>
                <a:srgbClr val="8067AE"/>
              </a:solidFill>
              <a:latin typeface="FangSong" panose="02010609060101010101" pitchFamily="49" charset="-122"/>
              <a:ea typeface="FangSong" panose="02010609060101010101" pitchFamily="49" charset="-122"/>
            </a:endParaRPr>
          </a:p>
        </p:txBody>
      </p:sp>
      <p:sp>
        <p:nvSpPr>
          <p:cNvPr id="23" name="文本框 22">
            <a:extLst>
              <a:ext uri="{FF2B5EF4-FFF2-40B4-BE49-F238E27FC236}">
                <a16:creationId xmlns:a16="http://schemas.microsoft.com/office/drawing/2014/main" id="{4C529F6E-38DC-8185-5490-8A7619FD694A}"/>
              </a:ext>
            </a:extLst>
          </p:cNvPr>
          <p:cNvSpPr txBox="1"/>
          <p:nvPr/>
        </p:nvSpPr>
        <p:spPr>
          <a:xfrm>
            <a:off x="1149350" y="3951490"/>
            <a:ext cx="4762500" cy="2308324"/>
          </a:xfrm>
          <a:prstGeom prst="rect">
            <a:avLst/>
          </a:prstGeom>
          <a:noFill/>
        </p:spPr>
        <p:txBody>
          <a:bodyPr wrap="square" rtlCol="0">
            <a:spAutoFit/>
          </a:bodyPr>
          <a:lstStyle/>
          <a:p>
            <a:r>
              <a:rPr lang="zh-CN" altLang="zh-CN" sz="24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在戊戌之年，维新派企图借鉴西方制度，对中国的封建政治进行局部改革。</a:t>
            </a:r>
            <a:endParaRPr lang="en-US" altLang="zh-CN" sz="24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endParaRPr>
          </a:p>
          <a:p>
            <a:r>
              <a:rPr lang="zh-CN" altLang="zh-CN" sz="24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然而，变法仅仅持续了</a:t>
            </a:r>
            <a:r>
              <a:rPr lang="en-US" altLang="zh-CN" sz="24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103</a:t>
            </a:r>
            <a:r>
              <a:rPr lang="zh-CN" altLang="zh-CN" sz="24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天。六君子用鲜血证明，涉及体制的改良不为清政府所容</a:t>
            </a:r>
            <a:r>
              <a:rPr lang="zh-CN" altLang="en-US" sz="24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a:t>
            </a:r>
            <a:endParaRPr lang="zh-CN" altLang="en-US" sz="2400" dirty="0">
              <a:solidFill>
                <a:srgbClr val="8067AE"/>
              </a:solidFill>
              <a:latin typeface="FangSong" panose="02010609060101010101" pitchFamily="49" charset="-122"/>
              <a:ea typeface="FangSong"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106680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背景：日俄战争的影响</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pic>
        <p:nvPicPr>
          <p:cNvPr id="3" name="Picture 3"/>
          <p:cNvPicPr>
            <a:picLocks noChangeAspect="1"/>
          </p:cNvPicPr>
          <p:nvPr/>
        </p:nvPicPr>
        <p:blipFill>
          <a:blip r:embed="rId3"/>
          <a:srcRect t="99" b="99"/>
          <a:stretch>
            <a:fillRect/>
          </a:stretch>
        </p:blipFill>
        <p:spPr>
          <a:xfrm>
            <a:off x="1052285" y="1531306"/>
            <a:ext cx="3810000" cy="2540000"/>
          </a:xfrm>
          <a:prstGeom prst="roundRect">
            <a:avLst>
              <a:gd name="adj" fmla="val 5000"/>
            </a:avLst>
          </a:prstGeom>
          <a:noFill/>
          <a:ln w="12700" cap="flat" cmpd="sng">
            <a:solidFill>
              <a:srgbClr val="DAA520">
                <a:alpha val="30000"/>
              </a:srgbClr>
            </a:solidFill>
            <a:prstDash val="solid"/>
            <a:round/>
          </a:ln>
          <a:effectLst>
            <a:outerShdw blurRad="127000" dist="63500" dir="2700000" algn="tl" rotWithShape="0">
              <a:srgbClr val="000000">
                <a:alpha val="50000"/>
              </a:srgbClr>
            </a:outerShdw>
          </a:effectLst>
        </p:spPr>
      </p:pic>
      <p:sp>
        <p:nvSpPr>
          <p:cNvPr id="4" name="AutoShape 4"/>
          <p:cNvSpPr/>
          <p:nvPr/>
        </p:nvSpPr>
        <p:spPr>
          <a:xfrm>
            <a:off x="2004786" y="4422642"/>
            <a:ext cx="647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战争背景与结果</a:t>
            </a:r>
            <a:endParaRPr lang="en-US" sz="1200" dirty="0">
              <a:solidFill>
                <a:srgbClr val="7030A0"/>
              </a:solidFill>
              <a:latin typeface="Source Han Serif CN" panose="02020400000000000000" pitchFamily="18" charset="-128"/>
              <a:ea typeface="Source Han Serif CN" panose="02020400000000000000" pitchFamily="18" charset="-128"/>
            </a:endParaRPr>
          </a:p>
        </p:txBody>
      </p:sp>
      <p:sp>
        <p:nvSpPr>
          <p:cNvPr id="5" name="AutoShape 5"/>
          <p:cNvSpPr/>
          <p:nvPr/>
        </p:nvSpPr>
        <p:spPr>
          <a:xfrm>
            <a:off x="532411" y="5020720"/>
            <a:ext cx="5563589" cy="76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1904年至1905年，日俄为争夺中国东北利益在中国领土上爆发战争，最终俄国战败。这场发生在中国土地上的帝国主义战争，极大地刺激了中国人民的民族情感。</a:t>
            </a:r>
            <a:endParaRPr lang="en-US" sz="1100" dirty="0">
              <a:solidFill>
                <a:srgbClr val="8067AE"/>
              </a:solidFill>
              <a:latin typeface="FangSong" panose="02010609060101010101" pitchFamily="49" charset="-122"/>
              <a:ea typeface="FangSong" panose="02010609060101010101" pitchFamily="49" charset="-122"/>
            </a:endParaRPr>
          </a:p>
        </p:txBody>
      </p:sp>
      <p:sp>
        <p:nvSpPr>
          <p:cNvPr id="6" name="AutoShape 6"/>
          <p:cNvSpPr/>
          <p:nvPr/>
        </p:nvSpPr>
        <p:spPr>
          <a:xfrm>
            <a:off x="7928429" y="4422642"/>
            <a:ext cx="6477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 </a:t>
            </a: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立宪思潮的兴起</a:t>
            </a:r>
            <a:endParaRPr lang="en-US" sz="1200" dirty="0">
              <a:solidFill>
                <a:srgbClr val="7030A0"/>
              </a:solidFill>
              <a:latin typeface="Source Han Serif CN" panose="02020400000000000000" pitchFamily="18" charset="-128"/>
              <a:ea typeface="Source Han Serif CN" panose="02020400000000000000" pitchFamily="18" charset="-128"/>
            </a:endParaRPr>
          </a:p>
        </p:txBody>
      </p:sp>
      <p:sp>
        <p:nvSpPr>
          <p:cNvPr id="8" name="AutoShape 8"/>
          <p:cNvSpPr/>
          <p:nvPr/>
        </p:nvSpPr>
        <p:spPr>
          <a:xfrm>
            <a:off x="5333999" y="1892842"/>
            <a:ext cx="6683829"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r>
              <a:rPr lang="en-US" sz="2800" b="1"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日俄之胜负，立宪、专制之胜负也</a:t>
            </a:r>
            <a:r>
              <a:rPr lang="en-US" sz="2800" b="1"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p>
          <a:p>
            <a:pPr indent="0" algn="l">
              <a:lnSpc>
                <a:spcPct val="125000"/>
              </a:lnSpc>
              <a:defRPr/>
            </a:pPr>
            <a:r>
              <a:rPr lang="zh-CN" altLang="en-US" sz="2000" b="1"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                                                                               </a:t>
            </a:r>
            <a:r>
              <a:rPr lang="en-US" altLang="zh-CN" sz="2000" b="1"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r>
              <a:rPr lang="en-US" sz="2000" b="1"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 </a:t>
            </a:r>
            <a:r>
              <a:rPr lang="en-US" sz="2000" b="1"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张謇</a:t>
            </a:r>
            <a:endParaRPr lang="en-US" b="1" dirty="0">
              <a:solidFill>
                <a:srgbClr val="7030A0"/>
              </a:solidFill>
              <a:latin typeface="Source Han Serif CN" panose="02020400000000000000" pitchFamily="18" charset="-128"/>
              <a:ea typeface="Source Han Serif CN" panose="02020400000000000000" pitchFamily="18" charset="-128"/>
            </a:endParaRPr>
          </a:p>
        </p:txBody>
      </p:sp>
      <p:sp>
        <p:nvSpPr>
          <p:cNvPr id="9" name="AutoShape 9"/>
          <p:cNvSpPr/>
          <p:nvPr/>
        </p:nvSpPr>
        <p:spPr>
          <a:xfrm>
            <a:off x="5433786" y="2921000"/>
            <a:ext cx="6096001" cy="101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0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张謇的观点迅速传播，使国人普遍认识到封建专制制度的落后，立宪思潮随之高涨。清政府为了维护统治，被迫宣布“预备立宪”，但这并未平息社会的不满。</a:t>
            </a:r>
            <a:endParaRPr lang="en-US" sz="1200" dirty="0">
              <a:solidFill>
                <a:srgbClr val="8067AE"/>
              </a:solidFill>
              <a:latin typeface="FangSong" panose="02010609060101010101" pitchFamily="49" charset="-122"/>
              <a:ea typeface="FangSong" panose="02010609060101010101" pitchFamily="49" charset="-122"/>
            </a:endParaRPr>
          </a:p>
        </p:txBody>
      </p:sp>
      <p:sp>
        <p:nvSpPr>
          <p:cNvPr id="12" name="文本框 11">
            <a:extLst>
              <a:ext uri="{FF2B5EF4-FFF2-40B4-BE49-F238E27FC236}">
                <a16:creationId xmlns:a16="http://schemas.microsoft.com/office/drawing/2014/main" id="{27D7A3D3-5665-B5F5-3A2B-AD10566BC7DD}"/>
              </a:ext>
            </a:extLst>
          </p:cNvPr>
          <p:cNvSpPr txBox="1"/>
          <p:nvPr/>
        </p:nvSpPr>
        <p:spPr>
          <a:xfrm>
            <a:off x="6247576" y="4895671"/>
            <a:ext cx="5563589" cy="1200329"/>
          </a:xfrm>
          <a:prstGeom prst="rect">
            <a:avLst/>
          </a:prstGeom>
          <a:noFill/>
        </p:spPr>
        <p:txBody>
          <a:bodyPr wrap="square" rtlCol="0">
            <a:spAutoFit/>
          </a:bodyPr>
          <a:lstStyle/>
          <a:p>
            <a:r>
              <a:rPr lang="zh-CN"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清政府于次年</a:t>
            </a:r>
            <a:r>
              <a:rPr lang="en-US"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 8 </a:t>
            </a:r>
            <a:r>
              <a:rPr lang="zh-CN"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月发布《宣示预备立宪先行厘定官制上谕》，推动立宪的加速进行。此刻，流亡海外的改良派再度崛起，形成了朝野呼应的立宪势力，变成了与革命派分立对峙的重要力量。</a:t>
            </a:r>
            <a:endParaRPr lang="zh-CN" altLang="en-US" dirty="0">
              <a:solidFill>
                <a:srgbClr val="8067AE"/>
              </a:solidFill>
              <a:latin typeface="FangSong" panose="02010609060101010101" pitchFamily="49" charset="-122"/>
              <a:ea typeface="FangSong"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54F71EB5-57B6-F6C1-A1DB-9A73E3BFAB90}"/>
              </a:ext>
            </a:extLst>
          </p:cNvPr>
          <p:cNvPicPr>
            <a:picLocks noChangeAspect="1"/>
          </p:cNvPicPr>
          <p:nvPr/>
        </p:nvPicPr>
        <p:blipFill>
          <a:blip r:embed="rId2">
            <a:alphaModFix amt="32000"/>
          </a:blip>
          <a:stretch>
            <a:fillRect/>
          </a:stretch>
        </p:blipFill>
        <p:spPr>
          <a:xfrm>
            <a:off x="5157355" y="-108720"/>
            <a:ext cx="7034645" cy="7175337"/>
          </a:xfrm>
          <a:prstGeom prst="rect">
            <a:avLst/>
          </a:prstGeom>
          <a:effectLst>
            <a:softEdge rad="707794"/>
          </a:effectLst>
        </p:spPr>
      </p:pic>
      <p:sp>
        <p:nvSpPr>
          <p:cNvPr id="4" name="文本框 3">
            <a:extLst>
              <a:ext uri="{FF2B5EF4-FFF2-40B4-BE49-F238E27FC236}">
                <a16:creationId xmlns:a16="http://schemas.microsoft.com/office/drawing/2014/main" id="{D087559B-C463-E5BA-EC21-038DB1885FF0}"/>
              </a:ext>
            </a:extLst>
          </p:cNvPr>
          <p:cNvSpPr txBox="1"/>
          <p:nvPr/>
        </p:nvSpPr>
        <p:spPr>
          <a:xfrm>
            <a:off x="585355" y="399053"/>
            <a:ext cx="5288973" cy="646331"/>
          </a:xfrm>
          <a:prstGeom prst="rect">
            <a:avLst/>
          </a:prstGeom>
          <a:noFill/>
        </p:spPr>
        <p:txBody>
          <a:bodyPr wrap="square" rtlCol="0">
            <a:spAutoFit/>
          </a:bodyPr>
          <a:lstStyle/>
          <a:p>
            <a:r>
              <a:rPr lang="zh-CN" altLang="en-US" sz="3600" b="1" dirty="0">
                <a:solidFill>
                  <a:srgbClr val="7030A0"/>
                </a:solidFill>
                <a:latin typeface="Source Han Serif CN" panose="02020400000000000000" pitchFamily="18" charset="-128"/>
                <a:ea typeface="Source Han Serif CN" panose="02020400000000000000" pitchFamily="18" charset="-128"/>
              </a:rPr>
              <a:t>背景：同盟会的建立</a:t>
            </a:r>
          </a:p>
        </p:txBody>
      </p:sp>
      <p:sp>
        <p:nvSpPr>
          <p:cNvPr id="5" name="文本框 4">
            <a:extLst>
              <a:ext uri="{FF2B5EF4-FFF2-40B4-BE49-F238E27FC236}">
                <a16:creationId xmlns:a16="http://schemas.microsoft.com/office/drawing/2014/main" id="{D05A04B1-5FA5-1DEA-8672-EAAE4E5E9B78}"/>
              </a:ext>
            </a:extLst>
          </p:cNvPr>
          <p:cNvSpPr txBox="1"/>
          <p:nvPr/>
        </p:nvSpPr>
        <p:spPr>
          <a:xfrm>
            <a:off x="585355" y="1910697"/>
            <a:ext cx="5510645" cy="1938992"/>
          </a:xfrm>
          <a:prstGeom prst="rect">
            <a:avLst/>
          </a:prstGeom>
          <a:noFill/>
        </p:spPr>
        <p:txBody>
          <a:bodyPr wrap="square" rtlCol="0">
            <a:spAutoFit/>
          </a:bodyPr>
          <a:lstStyle/>
          <a:p>
            <a:pPr algn="l"/>
            <a:r>
              <a:rPr lang="zh-CN" altLang="en-US" sz="2400" b="1" dirty="0">
                <a:solidFill>
                  <a:srgbClr val="8067AE"/>
                </a:solidFill>
                <a:effectLst/>
                <a:latin typeface="FangSong" panose="02010609060101010101" pitchFamily="49" charset="-122"/>
                <a:ea typeface="FangSong" panose="02010609060101010101" pitchFamily="49" charset="-122"/>
              </a:rPr>
              <a:t>时间</a:t>
            </a:r>
            <a:r>
              <a:rPr lang="zh-CN" altLang="en-US" sz="2400" dirty="0">
                <a:solidFill>
                  <a:srgbClr val="8067AE"/>
                </a:solidFill>
                <a:latin typeface="FangSong" panose="02010609060101010101" pitchFamily="49" charset="-122"/>
                <a:ea typeface="FangSong" panose="02010609060101010101" pitchFamily="49" charset="-122"/>
              </a:rPr>
              <a:t>：</a:t>
            </a:r>
            <a:r>
              <a:rPr lang="en-US" altLang="zh-CN" sz="2400" dirty="0">
                <a:solidFill>
                  <a:srgbClr val="8067AE"/>
                </a:solidFill>
                <a:latin typeface="FangSong" panose="02010609060101010101" pitchFamily="49" charset="-122"/>
                <a:ea typeface="FangSong" panose="02010609060101010101" pitchFamily="49" charset="-122"/>
              </a:rPr>
              <a:t>1905 </a:t>
            </a:r>
            <a:r>
              <a:rPr lang="zh-CN" altLang="en-US" sz="2400" dirty="0">
                <a:solidFill>
                  <a:srgbClr val="8067AE"/>
                </a:solidFill>
                <a:latin typeface="FangSong" panose="02010609060101010101" pitchFamily="49" charset="-122"/>
                <a:ea typeface="FangSong" panose="02010609060101010101" pitchFamily="49" charset="-122"/>
              </a:rPr>
              <a:t>年 </a:t>
            </a:r>
            <a:r>
              <a:rPr lang="en-US" altLang="zh-CN" sz="2400" dirty="0">
                <a:solidFill>
                  <a:srgbClr val="8067AE"/>
                </a:solidFill>
                <a:latin typeface="FangSong" panose="02010609060101010101" pitchFamily="49" charset="-122"/>
                <a:ea typeface="FangSong" panose="02010609060101010101" pitchFamily="49" charset="-122"/>
              </a:rPr>
              <a:t>8 </a:t>
            </a:r>
            <a:r>
              <a:rPr lang="zh-CN" altLang="en-US" sz="2400" dirty="0">
                <a:solidFill>
                  <a:srgbClr val="8067AE"/>
                </a:solidFill>
                <a:latin typeface="FangSong" panose="02010609060101010101" pitchFamily="49" charset="-122"/>
                <a:ea typeface="FangSong" panose="02010609060101010101" pitchFamily="49" charset="-122"/>
              </a:rPr>
              <a:t>月 </a:t>
            </a:r>
            <a:r>
              <a:rPr lang="en-US" altLang="zh-CN" sz="2400" dirty="0">
                <a:solidFill>
                  <a:srgbClr val="8067AE"/>
                </a:solidFill>
                <a:latin typeface="FangSong" panose="02010609060101010101" pitchFamily="49" charset="-122"/>
                <a:ea typeface="FangSong" panose="02010609060101010101" pitchFamily="49" charset="-122"/>
              </a:rPr>
              <a:t>20 </a:t>
            </a:r>
            <a:r>
              <a:rPr lang="zh-CN" altLang="en-US" sz="2400" dirty="0">
                <a:solidFill>
                  <a:srgbClr val="8067AE"/>
                </a:solidFill>
                <a:latin typeface="FangSong" panose="02010609060101010101" pitchFamily="49" charset="-122"/>
                <a:ea typeface="FangSong" panose="02010609060101010101" pitchFamily="49" charset="-122"/>
              </a:rPr>
              <a:t>日</a:t>
            </a:r>
            <a:endParaRPr lang="zh-CN" altLang="en-US" sz="2400" b="0" dirty="0">
              <a:solidFill>
                <a:srgbClr val="8067AE"/>
              </a:solidFill>
              <a:effectLst/>
              <a:latin typeface="FangSong" panose="02010609060101010101" pitchFamily="49" charset="-122"/>
              <a:ea typeface="FangSong" panose="02010609060101010101" pitchFamily="49" charset="-122"/>
            </a:endParaRPr>
          </a:p>
          <a:p>
            <a:pPr algn="l"/>
            <a:r>
              <a:rPr lang="zh-CN" altLang="en-US" sz="2400" b="1" dirty="0">
                <a:solidFill>
                  <a:srgbClr val="8067AE"/>
                </a:solidFill>
                <a:effectLst/>
                <a:latin typeface="FangSong" panose="02010609060101010101" pitchFamily="49" charset="-122"/>
                <a:ea typeface="FangSong" panose="02010609060101010101" pitchFamily="49" charset="-122"/>
              </a:rPr>
              <a:t>地点</a:t>
            </a:r>
            <a:r>
              <a:rPr lang="zh-CN" altLang="en-US" sz="2400" dirty="0">
                <a:solidFill>
                  <a:srgbClr val="8067AE"/>
                </a:solidFill>
                <a:latin typeface="FangSong" panose="02010609060101010101" pitchFamily="49" charset="-122"/>
                <a:ea typeface="FangSong" panose="02010609060101010101" pitchFamily="49" charset="-122"/>
              </a:rPr>
              <a:t>：日本东京</a:t>
            </a:r>
            <a:endParaRPr lang="zh-CN" altLang="en-US" sz="2400" b="0" dirty="0">
              <a:solidFill>
                <a:srgbClr val="8067AE"/>
              </a:solidFill>
              <a:effectLst/>
              <a:latin typeface="FangSong" panose="02010609060101010101" pitchFamily="49" charset="-122"/>
              <a:ea typeface="FangSong" panose="02010609060101010101" pitchFamily="49" charset="-122"/>
            </a:endParaRPr>
          </a:p>
          <a:p>
            <a:pPr algn="l"/>
            <a:r>
              <a:rPr lang="zh-CN" altLang="en-US" sz="2400" b="1" dirty="0">
                <a:solidFill>
                  <a:srgbClr val="8067AE"/>
                </a:solidFill>
                <a:effectLst/>
                <a:latin typeface="FangSong" panose="02010609060101010101" pitchFamily="49" charset="-122"/>
                <a:ea typeface="FangSong" panose="02010609060101010101" pitchFamily="49" charset="-122"/>
              </a:rPr>
              <a:t>核心人物</a:t>
            </a:r>
            <a:r>
              <a:rPr lang="zh-CN" altLang="en-US" sz="2400" dirty="0">
                <a:solidFill>
                  <a:srgbClr val="8067AE"/>
                </a:solidFill>
                <a:latin typeface="FangSong" panose="02010609060101010101" pitchFamily="49" charset="-122"/>
                <a:ea typeface="FangSong" panose="02010609060101010101" pitchFamily="49" charset="-122"/>
              </a:rPr>
              <a:t>：孙中山（总理）、黄兴等</a:t>
            </a:r>
            <a:endParaRPr lang="zh-CN" altLang="en-US" sz="2400" b="0" dirty="0">
              <a:solidFill>
                <a:srgbClr val="8067AE"/>
              </a:solidFill>
              <a:effectLst/>
              <a:latin typeface="FangSong" panose="02010609060101010101" pitchFamily="49" charset="-122"/>
              <a:ea typeface="FangSong" panose="02010609060101010101" pitchFamily="49" charset="-122"/>
            </a:endParaRPr>
          </a:p>
          <a:p>
            <a:r>
              <a:rPr lang="zh-CN" altLang="en-US" sz="2400" b="1" dirty="0">
                <a:solidFill>
                  <a:srgbClr val="8067AE"/>
                </a:solidFill>
                <a:effectLst/>
                <a:latin typeface="FangSong" panose="02010609060101010101" pitchFamily="49" charset="-122"/>
                <a:ea typeface="FangSong" panose="02010609060101010101" pitchFamily="49" charset="-122"/>
              </a:rPr>
              <a:t>基础</a:t>
            </a:r>
            <a:r>
              <a:rPr lang="zh-CN" altLang="en-US" sz="2400" dirty="0">
                <a:solidFill>
                  <a:srgbClr val="8067AE"/>
                </a:solidFill>
                <a:latin typeface="FangSong" panose="02010609060101010101" pitchFamily="49" charset="-122"/>
                <a:ea typeface="FangSong" panose="02010609060101010101" pitchFamily="49" charset="-122"/>
              </a:rPr>
              <a:t>：联合兴中会、华兴会、光复会等革命团体</a:t>
            </a:r>
          </a:p>
        </p:txBody>
      </p:sp>
      <p:sp>
        <p:nvSpPr>
          <p:cNvPr id="6" name="文本框 5">
            <a:extLst>
              <a:ext uri="{FF2B5EF4-FFF2-40B4-BE49-F238E27FC236}">
                <a16:creationId xmlns:a16="http://schemas.microsoft.com/office/drawing/2014/main" id="{CDE7B87A-C37E-0DDE-1F9B-860E8FE6DA70}"/>
              </a:ext>
            </a:extLst>
          </p:cNvPr>
          <p:cNvSpPr txBox="1"/>
          <p:nvPr/>
        </p:nvSpPr>
        <p:spPr>
          <a:xfrm>
            <a:off x="533121" y="4715003"/>
            <a:ext cx="10682413" cy="1015663"/>
          </a:xfrm>
          <a:prstGeom prst="rect">
            <a:avLst/>
          </a:prstGeom>
          <a:noFill/>
        </p:spPr>
        <p:txBody>
          <a:bodyPr wrap="square" rtlCol="0">
            <a:spAutoFit/>
          </a:bodyPr>
          <a:lstStyle/>
          <a:p>
            <a:r>
              <a:rPr lang="zh-CN" altLang="zh-CN" sz="2400" kern="100" dirty="0">
                <a:solidFill>
                  <a:srgbClr val="7030A0"/>
                </a:solidFill>
                <a:effectLst/>
                <a:latin typeface="Source Han Serif CN" panose="02020400000000000000" pitchFamily="18" charset="-128"/>
                <a:ea typeface="Source Han Serif CN" panose="02020400000000000000" pitchFamily="18" charset="-128"/>
                <a:cs typeface="Times New Roman" panose="02020603050405020304" pitchFamily="18" charset="0"/>
              </a:rPr>
              <a:t>同盟会以机关报 《民报》 为主要阵地，系统地提出了三民主义（民族、民权、民生）的纲领，这也是革命派最核心的政治主张。</a:t>
            </a:r>
          </a:p>
          <a:p>
            <a:endParaRPr lang="zh-CN" altLang="en-US" sz="1100" dirty="0">
              <a:solidFill>
                <a:srgbClr val="7030A0"/>
              </a:solidFill>
              <a:latin typeface="Source Han Serif CN" panose="02020400000000000000" pitchFamily="18" charset="-128"/>
              <a:ea typeface="Source Han Serif CN" panose="02020400000000000000" pitchFamily="18" charset="-128"/>
            </a:endParaRPr>
          </a:p>
        </p:txBody>
      </p:sp>
    </p:spTree>
    <p:extLst>
      <p:ext uri="{BB962C8B-B14F-4D97-AF65-F5344CB8AC3E}">
        <p14:creationId xmlns:p14="http://schemas.microsoft.com/office/powerpoint/2010/main" val="282289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nvSpPr>
        <p:spPr>
          <a:xfrm>
            <a:off x="635000" y="2667000"/>
            <a:ext cx="10922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论战双方</a:t>
            </a:r>
            <a:r>
              <a:rPr 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               </a:t>
            </a: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与</a:t>
            </a: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                </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7" name="AutoShape 7"/>
          <p:cNvSpPr/>
          <p:nvPr/>
        </p:nvSpPr>
        <p:spPr>
          <a:xfrm>
            <a:off x="1016000" y="3449035"/>
            <a:ext cx="101600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中国近代思想界的大分化与大论战</a:t>
            </a:r>
            <a:endParaRPr lang="en-US" sz="1100" dirty="0">
              <a:solidFill>
                <a:srgbClr val="8067AE"/>
              </a:solidFill>
              <a:latin typeface="FangSong" panose="02010609060101010101" pitchFamily="49" charset="-122"/>
              <a:ea typeface="FangSong" panose="02010609060101010101" pitchFamily="49" charset="-122"/>
            </a:endParaRPr>
          </a:p>
        </p:txBody>
      </p:sp>
      <p:sp>
        <p:nvSpPr>
          <p:cNvPr id="2" name="文本框 1">
            <a:extLst>
              <a:ext uri="{FF2B5EF4-FFF2-40B4-BE49-F238E27FC236}">
                <a16:creationId xmlns:a16="http://schemas.microsoft.com/office/drawing/2014/main" id="{5D322F7E-CCEF-3C4F-F91B-78A9238D1873}"/>
              </a:ext>
            </a:extLst>
          </p:cNvPr>
          <p:cNvSpPr txBox="1"/>
          <p:nvPr/>
        </p:nvSpPr>
        <p:spPr>
          <a:xfrm>
            <a:off x="5311170" y="2661635"/>
            <a:ext cx="1569660" cy="721929"/>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indent="0" algn="ctr">
              <a:lnSpc>
                <a:spcPct val="125000"/>
              </a:lnSpc>
              <a:defRPr sz="3600" b="1">
                <a:solidFill>
                  <a:srgbClr val="7030A0"/>
                </a:solidFill>
                <a:latin typeface="Source Han Serif CN" panose="02020400000000000000" pitchFamily="18" charset="-128"/>
                <a:ea typeface="Source Han Serif CN" panose="02020400000000000000" pitchFamily="18" charset="-128"/>
                <a:cs typeface="Noto Serif SC"/>
              </a:defRPr>
            </a:lvl1pPr>
          </a:lstStyle>
          <a:p>
            <a:r>
              <a:rPr lang="zh-CN" altLang="en-US" dirty="0"/>
              <a:t>改良派</a:t>
            </a:r>
          </a:p>
        </p:txBody>
      </p:sp>
      <p:sp>
        <p:nvSpPr>
          <p:cNvPr id="3" name="文本框 2">
            <a:extLst>
              <a:ext uri="{FF2B5EF4-FFF2-40B4-BE49-F238E27FC236}">
                <a16:creationId xmlns:a16="http://schemas.microsoft.com/office/drawing/2014/main" id="{A49B30BB-6702-A983-3ACC-BBC001FF500C}"/>
              </a:ext>
            </a:extLst>
          </p:cNvPr>
          <p:cNvSpPr txBox="1"/>
          <p:nvPr/>
        </p:nvSpPr>
        <p:spPr>
          <a:xfrm>
            <a:off x="7431154" y="2687035"/>
            <a:ext cx="1569660" cy="721929"/>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indent="0" algn="ctr">
              <a:lnSpc>
                <a:spcPct val="125000"/>
              </a:lnSpc>
              <a:defRPr sz="3600" b="1">
                <a:solidFill>
                  <a:srgbClr val="7030A0"/>
                </a:solidFill>
                <a:latin typeface="Source Han Serif CN" panose="02020400000000000000" pitchFamily="18" charset="-128"/>
                <a:ea typeface="Source Han Serif CN" panose="02020400000000000000" pitchFamily="18" charset="-128"/>
                <a:cs typeface="Noto Serif SC"/>
              </a:defRPr>
            </a:lvl1pPr>
          </a:lstStyle>
          <a:p>
            <a:r>
              <a:rPr lang="zh-CN" altLang="en-US" dirty="0"/>
              <a:t>革命派</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p:cNvPicPr>
          <p:nvPr/>
        </p:nvPicPr>
        <p:blipFill>
          <a:blip r:embed="rId3"/>
          <a:srcRect t="770" b="770"/>
          <a:stretch>
            <a:fillRect/>
          </a:stretch>
        </p:blipFill>
        <p:spPr>
          <a:xfrm>
            <a:off x="4699000" y="1360714"/>
            <a:ext cx="1524000" cy="2159000"/>
          </a:xfrm>
          <a:prstGeom prst="roundRect">
            <a:avLst>
              <a:gd name="adj" fmla="val 8333"/>
            </a:avLst>
          </a:prstGeom>
          <a:noFill/>
          <a:ln w="25400" cap="flat" cmpd="sng">
            <a:solidFill>
              <a:srgbClr val="DAA520">
                <a:alpha val="100000"/>
              </a:srgbClr>
            </a:solidFill>
            <a:prstDash val="solid"/>
            <a:round/>
          </a:ln>
          <a:effectLst>
            <a:outerShdw blurRad="127000" dist="63500" dir="2700000" algn="tl" rotWithShape="0">
              <a:srgbClr val="000000">
                <a:alpha val="50000"/>
              </a:srgbClr>
            </a:outerShdw>
          </a:effectLst>
        </p:spPr>
      </p:pic>
      <p:sp>
        <p:nvSpPr>
          <p:cNvPr id="4" name="AutoShape 4"/>
          <p:cNvSpPr/>
          <p:nvPr/>
        </p:nvSpPr>
        <p:spPr>
          <a:xfrm>
            <a:off x="6096000" y="1413328"/>
            <a:ext cx="1524000" cy="1574800"/>
          </a:xfrm>
          <a:prstGeom prst="rect">
            <a:avLst/>
          </a:prstGeom>
          <a:noFill/>
          <a:ln w="12700" cap="flat" cmpd="sng">
            <a:noFill/>
            <a:prstDash val="solid"/>
            <a:round/>
          </a:ln>
        </p:spPr>
        <p:txBody>
          <a:bodyPr vert="eaVert" wrap="square" lIns="0" tIns="0" rIns="0" bIns="0" rtlCol="0" anchor="ctr" anchorCtr="0"/>
          <a:lstStyle/>
          <a:p>
            <a:pPr indent="0" algn="ctr">
              <a:lnSpc>
                <a:spcPct val="125000"/>
              </a:lnSpc>
              <a:defRPr/>
            </a:pPr>
            <a:r>
              <a:rPr lang="en-US" sz="18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康有为</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pic>
        <p:nvPicPr>
          <p:cNvPr id="5" name="Picture 5"/>
          <p:cNvPicPr>
            <a:picLocks noChangeAspect="1"/>
          </p:cNvPicPr>
          <p:nvPr/>
        </p:nvPicPr>
        <p:blipFill>
          <a:blip r:embed="rId4"/>
          <a:srcRect l="23528" r="23528"/>
          <a:stretch>
            <a:fillRect/>
          </a:stretch>
        </p:blipFill>
        <p:spPr>
          <a:xfrm>
            <a:off x="5721350" y="2957286"/>
            <a:ext cx="1524000" cy="2159000"/>
          </a:xfrm>
          <a:prstGeom prst="roundRect">
            <a:avLst>
              <a:gd name="adj" fmla="val 8333"/>
            </a:avLst>
          </a:prstGeom>
          <a:noFill/>
          <a:ln w="25400" cap="flat" cmpd="sng">
            <a:solidFill>
              <a:srgbClr val="DAA520">
                <a:alpha val="100000"/>
              </a:srgbClr>
            </a:solidFill>
            <a:prstDash val="solid"/>
            <a:round/>
          </a:ln>
          <a:effectLst>
            <a:outerShdw blurRad="127000" dist="63500" dir="2700000" algn="tl" rotWithShape="0">
              <a:srgbClr val="000000">
                <a:alpha val="50000"/>
              </a:srgbClr>
            </a:outerShdw>
          </a:effectLst>
        </p:spPr>
      </p:pic>
      <p:sp>
        <p:nvSpPr>
          <p:cNvPr id="6" name="AutoShape 6"/>
          <p:cNvSpPr/>
          <p:nvPr/>
        </p:nvSpPr>
        <p:spPr>
          <a:xfrm>
            <a:off x="4448175" y="3664857"/>
            <a:ext cx="1524000" cy="1369786"/>
          </a:xfrm>
          <a:prstGeom prst="rect">
            <a:avLst/>
          </a:prstGeom>
          <a:noFill/>
          <a:ln w="12700" cap="flat" cmpd="sng">
            <a:noFill/>
            <a:prstDash val="solid"/>
            <a:round/>
          </a:ln>
        </p:spPr>
        <p:txBody>
          <a:bodyPr vert="eaVert" wrap="square" lIns="0" tIns="0" rIns="0" bIns="0" rtlCol="0" anchor="ctr" anchorCtr="0"/>
          <a:lstStyle/>
          <a:p>
            <a:pPr indent="0" algn="ctr">
              <a:lnSpc>
                <a:spcPct val="125000"/>
              </a:lnSpc>
              <a:defRPr/>
            </a:pPr>
            <a:r>
              <a:rPr lang="en-US" sz="18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梁启超</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14" name="AutoShape 14"/>
          <p:cNvSpPr/>
          <p:nvPr/>
        </p:nvSpPr>
        <p:spPr>
          <a:xfrm>
            <a:off x="1712686" y="5836557"/>
            <a:ext cx="9405257" cy="635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pPr>
            <a:r>
              <a:rPr lang="en-US" sz="2400" b="0"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目标：建立君主立宪制，发展资本主义，实现国家独立富强</a:t>
            </a:r>
            <a:r>
              <a:rPr lang="en-US" sz="2400" b="0"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p>
        </p:txBody>
      </p:sp>
      <p:sp>
        <p:nvSpPr>
          <p:cNvPr id="20" name="文本框 19">
            <a:extLst>
              <a:ext uri="{FF2B5EF4-FFF2-40B4-BE49-F238E27FC236}">
                <a16:creationId xmlns:a16="http://schemas.microsoft.com/office/drawing/2014/main" id="{E557F11A-50B5-A6F1-BCBD-6DE2B952D118}"/>
              </a:ext>
            </a:extLst>
          </p:cNvPr>
          <p:cNvSpPr txBox="1"/>
          <p:nvPr/>
        </p:nvSpPr>
        <p:spPr>
          <a:xfrm>
            <a:off x="5311170" y="244257"/>
            <a:ext cx="1569660" cy="721929"/>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indent="0" algn="ctr">
              <a:lnSpc>
                <a:spcPct val="125000"/>
              </a:lnSpc>
              <a:defRPr sz="3600" b="1">
                <a:solidFill>
                  <a:srgbClr val="7030A0"/>
                </a:solidFill>
                <a:latin typeface="Source Han Serif CN" panose="02020400000000000000" pitchFamily="18" charset="-128"/>
                <a:ea typeface="Source Han Serif CN" panose="02020400000000000000" pitchFamily="18" charset="-128"/>
                <a:cs typeface="Noto Serif SC"/>
              </a:defRPr>
            </a:lvl1pPr>
          </a:lstStyle>
          <a:p>
            <a:r>
              <a:rPr lang="zh-CN" altLang="en-US" dirty="0"/>
              <a:t>改良派</a:t>
            </a:r>
          </a:p>
        </p:txBody>
      </p:sp>
      <p:sp>
        <p:nvSpPr>
          <p:cNvPr id="21" name="文本框 20">
            <a:extLst>
              <a:ext uri="{FF2B5EF4-FFF2-40B4-BE49-F238E27FC236}">
                <a16:creationId xmlns:a16="http://schemas.microsoft.com/office/drawing/2014/main" id="{AC47AD97-D097-03F6-C1E0-50110DA834F8}"/>
              </a:ext>
            </a:extLst>
          </p:cNvPr>
          <p:cNvSpPr txBox="1"/>
          <p:nvPr/>
        </p:nvSpPr>
        <p:spPr>
          <a:xfrm>
            <a:off x="5317369" y="7027715"/>
            <a:ext cx="1569660" cy="721929"/>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indent="0" algn="ctr">
              <a:lnSpc>
                <a:spcPct val="125000"/>
              </a:lnSpc>
              <a:defRPr sz="3600" b="1">
                <a:solidFill>
                  <a:srgbClr val="7030A0"/>
                </a:solidFill>
                <a:latin typeface="Source Han Serif CN" panose="02020400000000000000" pitchFamily="18" charset="-128"/>
                <a:ea typeface="Source Han Serif CN" panose="02020400000000000000" pitchFamily="18" charset="-128"/>
                <a:cs typeface="Noto Serif SC"/>
              </a:defRPr>
            </a:lvl1pPr>
          </a:lstStyle>
          <a:p>
            <a:r>
              <a:rPr lang="zh-CN" altLang="en-US" dirty="0"/>
              <a:t>革命派</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p:cNvPicPr>
          <p:nvPr/>
        </p:nvPicPr>
        <p:blipFill>
          <a:blip r:embed="rId3"/>
          <a:srcRect t="74" b="74"/>
          <a:stretch>
            <a:fillRect/>
          </a:stretch>
        </p:blipFill>
        <p:spPr>
          <a:xfrm>
            <a:off x="4953000" y="2019300"/>
            <a:ext cx="2286000" cy="2819400"/>
          </a:xfrm>
          <a:prstGeom prst="roundRect">
            <a:avLst>
              <a:gd name="adj" fmla="val 5555"/>
            </a:avLst>
          </a:prstGeom>
          <a:noFill/>
          <a:ln w="25400" cap="flat" cmpd="sng">
            <a:solidFill>
              <a:srgbClr val="DAA520">
                <a:alpha val="100000"/>
              </a:srgbClr>
            </a:solidFill>
            <a:prstDash val="solid"/>
            <a:round/>
          </a:ln>
          <a:effectLst>
            <a:outerShdw blurRad="127000" dist="63500" dir="2700000" algn="tl" rotWithShape="0">
              <a:srgbClr val="000000">
                <a:alpha val="50000"/>
              </a:srgbClr>
            </a:outerShdw>
          </a:effectLst>
        </p:spPr>
      </p:pic>
      <p:sp>
        <p:nvSpPr>
          <p:cNvPr id="15" name="AutoShape 15"/>
          <p:cNvSpPr/>
          <p:nvPr/>
        </p:nvSpPr>
        <p:spPr>
          <a:xfrm>
            <a:off x="1190171" y="5089900"/>
            <a:ext cx="10014858" cy="1270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核心主张：三民主义</a:t>
            </a:r>
            <a:r>
              <a:rPr lang="zh-CN" altLang="en-US" sz="2000" dirty="0">
                <a:solidFill>
                  <a:srgbClr val="7030A0"/>
                </a:solidFill>
                <a:latin typeface="Source Han Serif CN" panose="02020400000000000000" pitchFamily="18" charset="-128"/>
                <a:ea typeface="Source Han Serif CN" panose="02020400000000000000" pitchFamily="18" charset="-128"/>
              </a:rPr>
              <a:t>。</a:t>
            </a:r>
            <a:r>
              <a:rPr lang="en-US" sz="2000" b="0"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以《民报》为机关报，提出“民族、民权、民生”三大主义，主张暴力推翻清王朝，建立资产阶级民主共和国</a:t>
            </a:r>
            <a:r>
              <a:rPr lang="en-US" sz="2000" b="0"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p>
        </p:txBody>
      </p:sp>
      <p:sp>
        <p:nvSpPr>
          <p:cNvPr id="16" name="文本框 15">
            <a:extLst>
              <a:ext uri="{FF2B5EF4-FFF2-40B4-BE49-F238E27FC236}">
                <a16:creationId xmlns:a16="http://schemas.microsoft.com/office/drawing/2014/main" id="{6C05E96F-9D5D-C8C0-5414-2765F7FD64CF}"/>
              </a:ext>
            </a:extLst>
          </p:cNvPr>
          <p:cNvSpPr txBox="1"/>
          <p:nvPr/>
        </p:nvSpPr>
        <p:spPr>
          <a:xfrm>
            <a:off x="5311170" y="147035"/>
            <a:ext cx="1569660" cy="721929"/>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indent="0" algn="ctr">
              <a:lnSpc>
                <a:spcPct val="125000"/>
              </a:lnSpc>
              <a:defRPr sz="3600" b="1">
                <a:solidFill>
                  <a:srgbClr val="7030A0"/>
                </a:solidFill>
                <a:latin typeface="Source Han Serif CN" panose="02020400000000000000" pitchFamily="18" charset="-128"/>
                <a:ea typeface="Source Han Serif CN" panose="02020400000000000000" pitchFamily="18" charset="-128"/>
                <a:cs typeface="Noto Serif SC"/>
              </a:defRPr>
            </a:lvl1pPr>
          </a:lstStyle>
          <a:p>
            <a:r>
              <a:rPr lang="zh-CN" altLang="en-US" dirty="0"/>
              <a:t>革命派</a:t>
            </a:r>
          </a:p>
        </p:txBody>
      </p:sp>
      <p:sp>
        <p:nvSpPr>
          <p:cNvPr id="17" name="文本框 16">
            <a:extLst>
              <a:ext uri="{FF2B5EF4-FFF2-40B4-BE49-F238E27FC236}">
                <a16:creationId xmlns:a16="http://schemas.microsoft.com/office/drawing/2014/main" id="{0EB022D9-B9E5-BFCF-275D-FFBB2B270471}"/>
              </a:ext>
            </a:extLst>
          </p:cNvPr>
          <p:cNvSpPr txBox="1"/>
          <p:nvPr/>
        </p:nvSpPr>
        <p:spPr>
          <a:xfrm>
            <a:off x="5311170" y="-1961914"/>
            <a:ext cx="1569660" cy="721929"/>
          </a:xfrm>
          <a:prstGeom prst="rect">
            <a:avLst/>
          </a:prstGeom>
          <a:noFill/>
          <a:ln w="12700" cap="flat" cmpd="sng">
            <a:noFill/>
            <a:prstDash val="solid"/>
            <a:round/>
          </a:ln>
        </p:spPr>
        <p:txBody>
          <a:bodyPr vert="horz" wrap="none" lIns="0" tIns="0" rIns="0" bIns="0" rtlCol="0" anchor="ctr" anchorCtr="0"/>
          <a:lstStyle>
            <a:defPPr marR="0" lvl="0" algn="l" rtl="0">
              <a:lnSpc>
                <a:spcPct val="100000"/>
              </a:lnSpc>
              <a:spcBef>
                <a:spcPts val="0"/>
              </a:spcBef>
              <a:spcAft>
                <a:spcPts val="0"/>
              </a:spcAft>
            </a:defPPr>
            <a:lvl1pPr indent="0" algn="ctr">
              <a:lnSpc>
                <a:spcPct val="125000"/>
              </a:lnSpc>
              <a:defRPr sz="3600" b="1">
                <a:solidFill>
                  <a:srgbClr val="7030A0"/>
                </a:solidFill>
                <a:latin typeface="Source Han Serif CN" panose="02020400000000000000" pitchFamily="18" charset="-128"/>
                <a:ea typeface="Source Han Serif CN" panose="02020400000000000000" pitchFamily="18" charset="-128"/>
                <a:cs typeface="Noto Serif SC"/>
              </a:defRPr>
            </a:lvl1pPr>
          </a:lstStyle>
          <a:p>
            <a:r>
              <a:rPr lang="zh-CN" altLang="en-US" dirty="0"/>
              <a:t>改良派</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p:nvPr/>
        </p:nvSpPr>
        <p:spPr>
          <a:xfrm>
            <a:off x="1016000" y="3048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核心论战：三个</a:t>
            </a: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                 </a:t>
            </a: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的交锋</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2" name="AutoShape 5">
            <a:extLst>
              <a:ext uri="{FF2B5EF4-FFF2-40B4-BE49-F238E27FC236}">
                <a16:creationId xmlns:a16="http://schemas.microsoft.com/office/drawing/2014/main" id="{F5E02151-0B41-62F3-0420-56C5C0371BDC}"/>
              </a:ext>
            </a:extLst>
          </p:cNvPr>
          <p:cNvSpPr/>
          <p:nvPr/>
        </p:nvSpPr>
        <p:spPr>
          <a:xfrm>
            <a:off x="1915886" y="3048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论战焦点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12800" y="1016000"/>
            <a:ext cx="105664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要不要以革命手段推翻清政</a:t>
            </a:r>
            <a:r>
              <a:rPr lang="en-US" sz="3600" b="1"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r>
              <a:rPr lang="zh-CN" altLang="en-US" sz="3600" b="1"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根本分歧</a:t>
            </a:r>
            <a:r>
              <a:rPr lang="en-US" sz="3600" b="1"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5" name="AutoShape 5"/>
          <p:cNvSpPr/>
          <p:nvPr/>
        </p:nvSpPr>
        <p:spPr>
          <a:xfrm>
            <a:off x="4165601" y="1955800"/>
            <a:ext cx="1422399"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改良派观点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1016000" y="2413000"/>
            <a:ext cx="4572000" cy="2413000"/>
          </a:xfrm>
          <a:prstGeom prst="rect">
            <a:avLst/>
          </a:prstGeom>
          <a:noFill/>
          <a:ln w="12700" cap="flat" cmpd="sng">
            <a:noFill/>
            <a:prstDash val="solid"/>
            <a:round/>
          </a:ln>
        </p:spPr>
        <p:txBody>
          <a:bodyPr vert="horz" wrap="square" lIns="0" tIns="0" rIns="0" bIns="0" rtlCol="0" anchor="ctr" anchorCtr="0"/>
          <a:lstStyle/>
          <a:p>
            <a:pPr>
              <a:lnSpc>
                <a:spcPct val="108333"/>
              </a:lnSpc>
              <a:defRPr/>
            </a:pPr>
            <a:r>
              <a:rPr lang="zh-CN"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站在维护清政权的立场上，极力为清政府的民族压迫和腐朽统治辩护，否认</a:t>
            </a:r>
            <a:r>
              <a:rPr lang="en-US"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a:t>
            </a:r>
            <a:r>
              <a:rPr lang="zh-CN"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革命排满</a:t>
            </a:r>
            <a:r>
              <a:rPr lang="en-US"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a:t>
            </a:r>
            <a:r>
              <a:rPr lang="zh-CN"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的必要性。</a:t>
            </a:r>
            <a:endParaRPr lang="en-US"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endParaRPr>
          </a:p>
          <a:p>
            <a:pPr>
              <a:lnSpc>
                <a:spcPct val="108333"/>
              </a:lnSpc>
              <a:defRPr/>
            </a:pPr>
            <a:endParaRPr lang="en-US" sz="1100" dirty="0">
              <a:solidFill>
                <a:srgbClr val="8067AE"/>
              </a:solidFill>
              <a:latin typeface="FangSong" panose="02010609060101010101" pitchFamily="49" charset="-122"/>
              <a:ea typeface="FangSong" panose="02010609060101010101" pitchFamily="49" charset="-122"/>
            </a:endParaRPr>
          </a:p>
          <a:p>
            <a:pPr indent="0" algn="l">
              <a:lnSpc>
                <a:spcPct val="108333"/>
              </a:lnSpc>
            </a:pP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他们歪曲“革命排满”为“</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排满复仇主义</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极力反对暴力革命，主张温和改良</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p:txBody>
      </p:sp>
      <p:sp>
        <p:nvSpPr>
          <p:cNvPr id="9" name="AutoShape 9"/>
          <p:cNvSpPr/>
          <p:nvPr/>
        </p:nvSpPr>
        <p:spPr>
          <a:xfrm>
            <a:off x="6604000" y="1955800"/>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革命派观点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10" name="AutoShape 10"/>
          <p:cNvSpPr/>
          <p:nvPr/>
        </p:nvSpPr>
        <p:spPr>
          <a:xfrm>
            <a:off x="6604000" y="2413000"/>
            <a:ext cx="4572000" cy="2413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zh-CN"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清王朝对内推行民族压迫和阶级压迫，造成不可调和之满汉民族矛盾和阶级对立；对外又奴颜婢媚</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是帝国主义的走狗</a:t>
            </a:r>
            <a:r>
              <a:rPr lang="zh-CN" alt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800" dirty="0">
              <a:solidFill>
                <a:srgbClr val="8067AE"/>
              </a:solidFill>
              <a:latin typeface="FangSong" panose="02010609060101010101" pitchFamily="49" charset="-122"/>
              <a:ea typeface="FangSong" panose="02010609060101010101" pitchFamily="49" charset="-122"/>
              <a:cs typeface="Noto Sans SC"/>
              <a:sym typeface="Noto Sans SC"/>
            </a:endParaRPr>
          </a:p>
          <a:p>
            <a:pPr indent="0" algn="l">
              <a:lnSpc>
                <a:spcPct val="108333"/>
              </a:lnSpc>
              <a:defRPr/>
            </a:pPr>
            <a:endParaRPr lang="en-US" sz="1100" dirty="0">
              <a:solidFill>
                <a:srgbClr val="8067AE"/>
              </a:solidFill>
              <a:latin typeface="FangSong" panose="02010609060101010101" pitchFamily="49" charset="-122"/>
              <a:ea typeface="FangSong" panose="02010609060101010101" pitchFamily="49" charset="-122"/>
            </a:endParaRPr>
          </a:p>
          <a:p>
            <a:pPr indent="0" algn="l">
              <a:lnSpc>
                <a:spcPct val="108333"/>
              </a:lnSpc>
            </a:pP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清政府已成为中国发展的最大障碍，救国必先推翻此专制政府，建立共和</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p:txBody>
      </p:sp>
      <p:sp>
        <p:nvSpPr>
          <p:cNvPr id="12" name="AutoShape 12"/>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核心分歧：</a:t>
            </a:r>
            <a:r>
              <a:rPr lang="en-US" sz="2400" b="0"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是保留清王朝进行改良，还是彻底推翻清王朝以革命救国</a:t>
            </a:r>
            <a:r>
              <a:rPr lang="en-US" sz="2400" b="0"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endParaRPr lang="en-US" dirty="0">
              <a:solidFill>
                <a:srgbClr val="7030A0"/>
              </a:solidFill>
              <a:latin typeface="Source Han Serif CN" panose="02020400000000000000" pitchFamily="18" charset="-128"/>
              <a:ea typeface="Source Han Serif CN" panose="02020400000000000000" pitchFamily="18" charset="-128"/>
            </a:endParaRPr>
          </a:p>
        </p:txBody>
      </p:sp>
      <p:sp>
        <p:nvSpPr>
          <p:cNvPr id="13" name="AutoShape 5">
            <a:extLst>
              <a:ext uri="{FF2B5EF4-FFF2-40B4-BE49-F238E27FC236}">
                <a16:creationId xmlns:a16="http://schemas.microsoft.com/office/drawing/2014/main" id="{8B04ECF9-8B3C-5A28-6773-85F90AA41A2D}"/>
              </a:ext>
            </a:extLst>
          </p:cNvPr>
          <p:cNvSpPr/>
          <p:nvPr/>
        </p:nvSpPr>
        <p:spPr>
          <a:xfrm>
            <a:off x="1016000" y="25400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论战焦点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193800" y="1035050"/>
            <a:ext cx="100584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要不要建立民主共和政体</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5" name="AutoShape 5"/>
          <p:cNvSpPr/>
          <p:nvPr/>
        </p:nvSpPr>
        <p:spPr>
          <a:xfrm>
            <a:off x="2931886" y="1894568"/>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改良派观点</a:t>
            </a:r>
            <a:r>
              <a:rPr lang="zh-CN" altLang="en-US" sz="2200" b="1"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r>
              <a:rPr lang="zh-CN" altLang="en-US" sz="2200" b="1" i="0"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君主立宪</a:t>
            </a:r>
            <a:r>
              <a:rPr lang="zh-CN" altLang="en-US" sz="2200" b="1"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1016000" y="2495550"/>
            <a:ext cx="4833256" cy="2286000"/>
          </a:xfrm>
          <a:prstGeom prst="rect">
            <a:avLst/>
          </a:prstGeom>
          <a:noFill/>
          <a:ln w="12700" cap="flat" cmpd="sng">
            <a:noFill/>
            <a:prstDash val="solid"/>
            <a:round/>
          </a:ln>
        </p:spPr>
        <p:txBody>
          <a:bodyPr vert="horz" wrap="square" lIns="0" tIns="0" rIns="0" bIns="0" rtlCol="0" anchor="ctr" anchorCtr="0"/>
          <a:lstStyle/>
          <a:p>
            <a:pPr indent="0" algn="r">
              <a:lnSpc>
                <a:spcPct val="108333"/>
              </a:lnSpc>
              <a:defRPr/>
            </a:pPr>
            <a:r>
              <a:rPr lang="en-US" sz="2000" b="1"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反对实行民主共和</a:t>
            </a:r>
            <a:endParaRPr lang="en-US" sz="1200" dirty="0">
              <a:solidFill>
                <a:srgbClr val="8067AE"/>
              </a:solidFill>
              <a:latin typeface="FangSong" panose="02010609060101010101" pitchFamily="49" charset="-122"/>
              <a:ea typeface="FangSong" panose="02010609060101010101" pitchFamily="49" charset="-122"/>
            </a:endParaRPr>
          </a:p>
          <a:p>
            <a:pPr indent="0" algn="l">
              <a:lnSpc>
                <a:spcPct val="108333"/>
              </a:lnSpc>
            </a:pPr>
            <a:endPar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endParaRPr>
          </a:p>
          <a:p>
            <a:pPr indent="0" algn="l">
              <a:lnSpc>
                <a:spcPct val="108333"/>
              </a:lnSpc>
            </a:pP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主张先搞“</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开明专制</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再过渡到君主立宪</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 “</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民智未开”的</a:t>
            </a:r>
            <a:r>
              <a:rPr lang="zh-CN" altLang="zh-CN"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国民未有“兴民权”的意识和民主自治的能力，国家亦未出现完备的政党</a:t>
            </a:r>
            <a:r>
              <a:rPr lang="zh-CN" altLang="en-US" sz="1800" kern="100" dirty="0">
                <a:solidFill>
                  <a:srgbClr val="8067AE"/>
                </a:solidFill>
                <a:effectLst/>
                <a:latin typeface="FangSong" panose="02010609060101010101" pitchFamily="49" charset="-122"/>
                <a:ea typeface="FangSong" panose="02010609060101010101" pitchFamily="49" charset="-122"/>
                <a:cs typeface="Times New Roman" panose="02020603050405020304" pitchFamily="18" charset="0"/>
              </a:rPr>
              <a:t>。</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缺乏实行共和的基础</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p:txBody>
      </p:sp>
      <p:sp>
        <p:nvSpPr>
          <p:cNvPr id="9" name="AutoShape 9"/>
          <p:cNvSpPr/>
          <p:nvPr/>
        </p:nvSpPr>
        <p:spPr>
          <a:xfrm>
            <a:off x="6604000" y="1896836"/>
            <a:ext cx="4064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革命派观点</a:t>
            </a:r>
            <a:r>
              <a:rPr lang="zh-CN" altLang="en-US" sz="2200" b="1" i="0"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（民主共和）</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10" name="AutoShape 10"/>
          <p:cNvSpPr/>
          <p:nvPr/>
        </p:nvSpPr>
        <p:spPr>
          <a:xfrm>
            <a:off x="6604000" y="2331357"/>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2000" b="1"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坚持建立民主共和国</a:t>
            </a:r>
            <a:endParaRPr lang="en-US" sz="1200" dirty="0">
              <a:solidFill>
                <a:srgbClr val="8067AE"/>
              </a:solidFill>
              <a:latin typeface="FangSong" panose="02010609060101010101" pitchFamily="49" charset="-122"/>
              <a:ea typeface="FangSong" panose="02010609060101010101" pitchFamily="49" charset="-122"/>
            </a:endParaRPr>
          </a:p>
          <a:p>
            <a:pPr indent="0" algn="l">
              <a:lnSpc>
                <a:spcPct val="108333"/>
              </a:lnSpc>
            </a:pPr>
            <a:endPar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endParaRPr>
          </a:p>
          <a:p>
            <a:pPr indent="0" algn="l">
              <a:lnSpc>
                <a:spcPct val="108333"/>
              </a:lnSpc>
            </a:pP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认为“民智未开”正是专制制度造成的，革命本身就是开启民智的过程</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a:p>
            <a:pPr indent="0" algn="l">
              <a:lnSpc>
                <a:spcPct val="108333"/>
              </a:lnSpc>
            </a:pP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坚信中华民族有能力实行民主共和</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p:txBody>
      </p:sp>
      <p:sp>
        <p:nvSpPr>
          <p:cNvPr id="13" name="AutoShape 13"/>
          <p:cNvSpPr/>
          <p:nvPr/>
        </p:nvSpPr>
        <p:spPr>
          <a:xfrm>
            <a:off x="1016000" y="5442857"/>
            <a:ext cx="10419443" cy="807357"/>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核心分歧：</a:t>
            </a:r>
            <a:r>
              <a:rPr lang="en-US" sz="2400" b="0"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改良派认为民智不足，需循序渐进</a:t>
            </a:r>
            <a:r>
              <a:rPr lang="en-US" sz="2400" b="0"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p>
          <a:p>
            <a:pPr indent="0" algn="ctr">
              <a:lnSpc>
                <a:spcPct val="125000"/>
              </a:lnSpc>
              <a:defRPr/>
            </a:pPr>
            <a:r>
              <a:rPr lang="zh-CN" altLang="en-US" sz="2400" dirty="0">
                <a:solidFill>
                  <a:srgbClr val="7030A0"/>
                </a:solidFill>
                <a:latin typeface="Source Han Serif CN" panose="02020400000000000000" pitchFamily="18" charset="-128"/>
                <a:ea typeface="Source Han Serif CN" panose="02020400000000000000" pitchFamily="18" charset="-128"/>
                <a:cs typeface="Noto Sans SC"/>
                <a:sym typeface="Noto Sans SC"/>
              </a:rPr>
              <a:t>                                          </a:t>
            </a:r>
            <a:r>
              <a:rPr lang="en-US" sz="2400" b="0"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革命派认为革命是开启民智的手段，应破旧立新</a:t>
            </a:r>
            <a:r>
              <a:rPr lang="en-US" sz="2400" b="0"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endParaRPr lang="en-US" sz="2400" dirty="0">
              <a:solidFill>
                <a:srgbClr val="7030A0"/>
              </a:solidFill>
              <a:latin typeface="Source Han Serif CN" panose="02020400000000000000" pitchFamily="18" charset="-128"/>
              <a:ea typeface="Source Han Serif CN" panose="02020400000000000000" pitchFamily="18" charset="-128"/>
            </a:endParaRPr>
          </a:p>
        </p:txBody>
      </p:sp>
      <p:sp>
        <p:nvSpPr>
          <p:cNvPr id="14" name="AutoShape 5">
            <a:extLst>
              <a:ext uri="{FF2B5EF4-FFF2-40B4-BE49-F238E27FC236}">
                <a16:creationId xmlns:a16="http://schemas.microsoft.com/office/drawing/2014/main" id="{30C107E3-755F-A6AE-533D-EDEEF2EC09E7}"/>
              </a:ext>
            </a:extLst>
          </p:cNvPr>
          <p:cNvSpPr/>
          <p:nvPr/>
        </p:nvSpPr>
        <p:spPr>
          <a:xfrm>
            <a:off x="1016000" y="27305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论战焦点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1077686"/>
            <a:ext cx="10668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是否要实行平均地权的社会革命</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5" name="AutoShape 5"/>
          <p:cNvSpPr/>
          <p:nvPr/>
        </p:nvSpPr>
        <p:spPr>
          <a:xfrm>
            <a:off x="4107543" y="2041072"/>
            <a:ext cx="1480457"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改良派观点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1016000" y="2413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zh-CN" altLang="en-US" sz="1800" dirty="0">
                <a:solidFill>
                  <a:srgbClr val="7030A0"/>
                </a:solidFill>
                <a:latin typeface="FangSong" panose="02010609060101010101" pitchFamily="49" charset="-122"/>
                <a:ea typeface="FangSong" panose="02010609060101010101" pitchFamily="49" charset="-122"/>
                <a:cs typeface="Noto Sans SC"/>
                <a:sym typeface="Noto Sans SC"/>
              </a:rPr>
              <a:t>从维护封建土地所有制出发，</a:t>
            </a:r>
            <a:r>
              <a:rPr lang="en-US" sz="1800" b="0" i="0" u="none" strike="noStrike" dirty="0">
                <a:solidFill>
                  <a:srgbClr val="7030A0"/>
                </a:solidFill>
                <a:latin typeface="FangSong" panose="02010609060101010101" pitchFamily="49" charset="-122"/>
                <a:ea typeface="FangSong" panose="02010609060101010101" pitchFamily="49" charset="-122"/>
                <a:cs typeface="Noto Sans SC"/>
                <a:sym typeface="Noto Sans SC"/>
              </a:rPr>
              <a:t>反对“平均地权”和“</a:t>
            </a:r>
            <a:r>
              <a:rPr lang="en-US" sz="1800" b="0" i="0" u="none" strike="noStrike" dirty="0" err="1">
                <a:solidFill>
                  <a:srgbClr val="7030A0"/>
                </a:solidFill>
                <a:latin typeface="FangSong" panose="02010609060101010101" pitchFamily="49" charset="-122"/>
                <a:ea typeface="FangSong" panose="02010609060101010101" pitchFamily="49" charset="-122"/>
                <a:cs typeface="Noto Sans SC"/>
                <a:sym typeface="Noto Sans SC"/>
              </a:rPr>
              <a:t>土地国有</a:t>
            </a:r>
            <a:r>
              <a:rPr lang="en-US" sz="1800" b="0" i="0" u="none" strike="noStrike" dirty="0">
                <a:solidFill>
                  <a:srgbClr val="7030A0"/>
                </a:solidFill>
                <a:latin typeface="FangSong" panose="02010609060101010101" pitchFamily="49" charset="-122"/>
                <a:ea typeface="FangSong" panose="02010609060101010101" pitchFamily="49" charset="-122"/>
                <a:cs typeface="Noto Sans SC"/>
                <a:sym typeface="Noto Sans SC"/>
              </a:rPr>
              <a:t>”，</a:t>
            </a:r>
            <a:r>
              <a:rPr lang="en-US" sz="1800" b="0" i="0" u="none" strike="noStrike" dirty="0" err="1">
                <a:solidFill>
                  <a:srgbClr val="7030A0"/>
                </a:solidFill>
                <a:latin typeface="FangSong" panose="02010609060101010101" pitchFamily="49" charset="-122"/>
                <a:ea typeface="FangSong" panose="02010609060101010101" pitchFamily="49" charset="-122"/>
                <a:cs typeface="Noto Sans SC"/>
                <a:sym typeface="Noto Sans SC"/>
              </a:rPr>
              <a:t>认为</a:t>
            </a:r>
            <a:r>
              <a:rPr lang="zh-CN" altLang="en-US" sz="1800" b="0" i="0" u="none" strike="noStrike" dirty="0">
                <a:solidFill>
                  <a:srgbClr val="7030A0"/>
                </a:solidFill>
                <a:latin typeface="FangSong" panose="02010609060101010101" pitchFamily="49" charset="-122"/>
                <a:ea typeface="FangSong" panose="02010609060101010101" pitchFamily="49" charset="-122"/>
                <a:cs typeface="Noto Sans SC"/>
                <a:sym typeface="Noto Sans SC"/>
              </a:rPr>
              <a:t>这是“欲夺富人所有以均诸贫民”，破坏“经济组织之基础”</a:t>
            </a:r>
            <a:r>
              <a:rPr lang="zh-CN" altLang="en-US" sz="1800" dirty="0">
                <a:solidFill>
                  <a:srgbClr val="7030A0"/>
                </a:solidFill>
                <a:latin typeface="FangSong" panose="02010609060101010101" pitchFamily="49" charset="-122"/>
                <a:ea typeface="FangSong" panose="02010609060101010101" pitchFamily="49" charset="-122"/>
                <a:cs typeface="Noto Sans SC"/>
                <a:sym typeface="Noto Sans SC"/>
              </a:rPr>
              <a:t>，</a:t>
            </a:r>
            <a:r>
              <a:rPr lang="en-US" sz="1800" b="0" i="0" u="none" strike="noStrike" dirty="0" err="1">
                <a:solidFill>
                  <a:srgbClr val="7030A0"/>
                </a:solidFill>
                <a:latin typeface="FangSong" panose="02010609060101010101" pitchFamily="49" charset="-122"/>
                <a:ea typeface="FangSong" panose="02010609060101010101" pitchFamily="49" charset="-122"/>
                <a:cs typeface="Noto Sans SC"/>
                <a:sym typeface="Noto Sans SC"/>
              </a:rPr>
              <a:t>引发社会动荡。他们美化地主阶级的土地占有</a:t>
            </a:r>
            <a:r>
              <a:rPr lang="en-US" sz="1800" b="0" i="0" u="none" strike="noStrike" dirty="0">
                <a:solidFill>
                  <a:srgbClr val="7030A0"/>
                </a:solidFill>
                <a:latin typeface="FangSong" panose="02010609060101010101" pitchFamily="49" charset="-122"/>
                <a:ea typeface="FangSong" panose="02010609060101010101" pitchFamily="49" charset="-122"/>
                <a:cs typeface="Noto Sans SC"/>
                <a:sym typeface="Noto Sans SC"/>
              </a:rPr>
              <a:t>。</a:t>
            </a:r>
            <a:endParaRPr lang="en-US" sz="1100" dirty="0">
              <a:solidFill>
                <a:srgbClr val="7030A0"/>
              </a:solidFill>
              <a:latin typeface="FangSong" panose="02010609060101010101" pitchFamily="49" charset="-122"/>
              <a:ea typeface="FangSong" panose="02010609060101010101" pitchFamily="49" charset="-122"/>
            </a:endParaRPr>
          </a:p>
        </p:txBody>
      </p:sp>
      <p:sp>
        <p:nvSpPr>
          <p:cNvPr id="9" name="AutoShape 9"/>
          <p:cNvSpPr/>
          <p:nvPr/>
        </p:nvSpPr>
        <p:spPr>
          <a:xfrm>
            <a:off x="6604000" y="2041072"/>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革命派观点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10" name="AutoShape 10"/>
          <p:cNvSpPr/>
          <p:nvPr/>
        </p:nvSpPr>
        <p:spPr>
          <a:xfrm>
            <a:off x="6604000" y="2413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16666"/>
              </a:lnSpc>
              <a:defRPr/>
            </a:pPr>
            <a:r>
              <a:rPr lang="en-US" sz="1800" b="0" i="0" u="none" strike="noStrike" dirty="0">
                <a:solidFill>
                  <a:srgbClr val="7030A0"/>
                </a:solidFill>
                <a:latin typeface="FangSong" panose="02010609060101010101" pitchFamily="49" charset="-122"/>
                <a:ea typeface="FangSong" panose="02010609060101010101" pitchFamily="49" charset="-122"/>
                <a:cs typeface="Noto Sans SC"/>
                <a:sym typeface="Noto Sans SC"/>
              </a:rPr>
              <a:t>指出中国土地兼并严重，贫富差距悬殊。主张“土地国有”和“</a:t>
            </a:r>
            <a:r>
              <a:rPr lang="en-US" sz="1800" b="0" i="0" u="none" strike="noStrike" dirty="0" err="1">
                <a:solidFill>
                  <a:srgbClr val="7030A0"/>
                </a:solidFill>
                <a:latin typeface="FangSong" panose="02010609060101010101" pitchFamily="49" charset="-122"/>
                <a:ea typeface="FangSong" panose="02010609060101010101" pitchFamily="49" charset="-122"/>
                <a:cs typeface="Noto Sans SC"/>
                <a:sym typeface="Noto Sans SC"/>
              </a:rPr>
              <a:t>平均地权</a:t>
            </a:r>
            <a:r>
              <a:rPr lang="en-US" sz="1800" b="0" i="0" u="none" strike="noStrike" dirty="0">
                <a:solidFill>
                  <a:srgbClr val="7030A0"/>
                </a:solidFill>
                <a:latin typeface="FangSong" panose="02010609060101010101" pitchFamily="49" charset="-122"/>
                <a:ea typeface="FangSong" panose="02010609060101010101" pitchFamily="49" charset="-122"/>
                <a:cs typeface="Noto Sans SC"/>
                <a:sym typeface="Noto Sans SC"/>
              </a:rPr>
              <a:t>”，</a:t>
            </a:r>
            <a:r>
              <a:rPr lang="en-US" sz="1800" b="0" i="0" u="none" strike="noStrike" dirty="0" err="1">
                <a:solidFill>
                  <a:srgbClr val="7030A0"/>
                </a:solidFill>
                <a:latin typeface="FangSong" panose="02010609060101010101" pitchFamily="49" charset="-122"/>
                <a:ea typeface="FangSong" panose="02010609060101010101" pitchFamily="49" charset="-122"/>
                <a:cs typeface="Noto Sans SC"/>
                <a:sym typeface="Noto Sans SC"/>
              </a:rPr>
              <a:t>认为这是进行社会革命、防止资本主义社会弊端的必要手段</a:t>
            </a:r>
            <a:r>
              <a:rPr lang="en-US" sz="1800" b="0" i="0" u="none" strike="noStrike" dirty="0">
                <a:solidFill>
                  <a:srgbClr val="7030A0"/>
                </a:solidFill>
                <a:latin typeface="FangSong" panose="02010609060101010101" pitchFamily="49" charset="-122"/>
                <a:ea typeface="FangSong" panose="02010609060101010101" pitchFamily="49" charset="-122"/>
                <a:cs typeface="Noto Sans SC"/>
                <a:sym typeface="Noto Sans SC"/>
              </a:rPr>
              <a:t>。</a:t>
            </a:r>
            <a:endParaRPr lang="en-US" sz="1100" dirty="0">
              <a:solidFill>
                <a:srgbClr val="7030A0"/>
              </a:solidFill>
              <a:latin typeface="FangSong" panose="02010609060101010101" pitchFamily="49" charset="-122"/>
              <a:ea typeface="FangSong" panose="02010609060101010101" pitchFamily="49" charset="-122"/>
            </a:endParaRPr>
          </a:p>
        </p:txBody>
      </p:sp>
      <p:cxnSp>
        <p:nvCxnSpPr>
          <p:cNvPr id="11" name="Connector 11"/>
          <p:cNvCxnSpPr/>
          <p:nvPr/>
        </p:nvCxnSpPr>
        <p:spPr>
          <a:xfrm rot="-4092">
            <a:off x="762004" y="5581650"/>
            <a:ext cx="10668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2" name="AutoShape 12"/>
          <p:cNvSpPr/>
          <p:nvPr/>
        </p:nvSpPr>
        <p:spPr>
          <a:xfrm>
            <a:off x="762000" y="5575300"/>
            <a:ext cx="10668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论战核心：</a:t>
            </a:r>
            <a:r>
              <a:rPr lang="en-US" sz="2400" b="0"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维护封建土地私有制</a:t>
            </a:r>
            <a:r>
              <a:rPr lang="en-US" sz="2400" b="0" i="0"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 vs </a:t>
            </a:r>
            <a:r>
              <a:rPr lang="en-US" sz="2400" b="0"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彻底的土地制度变革</a:t>
            </a:r>
            <a:endParaRPr lang="en-US" sz="2400" dirty="0">
              <a:solidFill>
                <a:srgbClr val="7030A0"/>
              </a:solidFill>
              <a:latin typeface="Source Han Serif CN" panose="02020400000000000000" pitchFamily="18" charset="-128"/>
              <a:ea typeface="Source Han Serif CN" panose="02020400000000000000" pitchFamily="18" charset="-128"/>
            </a:endParaRPr>
          </a:p>
        </p:txBody>
      </p:sp>
      <p:sp>
        <p:nvSpPr>
          <p:cNvPr id="13" name="AutoShape 5">
            <a:extLst>
              <a:ext uri="{FF2B5EF4-FFF2-40B4-BE49-F238E27FC236}">
                <a16:creationId xmlns:a16="http://schemas.microsoft.com/office/drawing/2014/main" id="{F9AF2EA3-DD58-56B0-D130-54C53A433207}"/>
              </a:ext>
            </a:extLst>
          </p:cNvPr>
          <p:cNvSpPr/>
          <p:nvPr/>
        </p:nvSpPr>
        <p:spPr>
          <a:xfrm>
            <a:off x="1016000" y="273050"/>
            <a:ext cx="10160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论战焦点</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p:cNvPicPr>
          <p:nvPr/>
        </p:nvPicPr>
        <p:blipFill>
          <a:blip r:embed="rId3">
            <a:alphaModFix amt="30000"/>
          </a:blip>
          <a:srcRect/>
          <a:stretch>
            <a:fillRect/>
          </a:stretch>
        </p:blipFill>
        <p:spPr>
          <a:xfrm>
            <a:off x="6716485" y="-447521"/>
            <a:ext cx="6470650" cy="8627532"/>
          </a:xfrm>
          <a:prstGeom prst="rect">
            <a:avLst/>
          </a:prstGeom>
          <a:noFill/>
          <a:ln w="12700" cap="flat" cmpd="sng">
            <a:solidFill>
              <a:srgbClr val="DAA520">
                <a:alpha val="50000"/>
              </a:srgbClr>
            </a:solidFill>
            <a:prstDash val="solid"/>
            <a:round/>
          </a:ln>
          <a:effectLst>
            <a:outerShdw blurRad="127000" dist="63500" dir="2700000" algn="tl" rotWithShape="0">
              <a:srgbClr val="000000">
                <a:alpha val="50000"/>
              </a:srgbClr>
            </a:outerShdw>
            <a:softEdge rad="1075189"/>
          </a:effectLst>
        </p:spPr>
      </p:pic>
      <p:sp>
        <p:nvSpPr>
          <p:cNvPr id="2" name="AutoShape 2"/>
          <p:cNvSpPr/>
          <p:nvPr/>
        </p:nvSpPr>
        <p:spPr>
          <a:xfrm>
            <a:off x="723900" y="596295"/>
            <a:ext cx="2514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论战的结局</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7" name="AutoShape 7"/>
          <p:cNvSpPr/>
          <p:nvPr/>
        </p:nvSpPr>
        <p:spPr>
          <a:xfrm>
            <a:off x="769257" y="2770413"/>
            <a:ext cx="749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论战结果</a:t>
            </a:r>
            <a:r>
              <a:rPr lang="en-US" sz="24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p>
          <a:p>
            <a:pPr indent="0" algn="l">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革命派完胜</a:t>
            </a:r>
            <a:endParaRPr lang="en-US" sz="1200" dirty="0">
              <a:solidFill>
                <a:srgbClr val="7030A0"/>
              </a:solidFill>
              <a:latin typeface="Source Han Serif CN" panose="02020400000000000000" pitchFamily="18" charset="-128"/>
              <a:ea typeface="Source Han Serif CN" panose="02020400000000000000" pitchFamily="18" charset="-128"/>
            </a:endParaRPr>
          </a:p>
        </p:txBody>
      </p:sp>
      <p:sp>
        <p:nvSpPr>
          <p:cNvPr id="8" name="AutoShape 8"/>
          <p:cNvSpPr/>
          <p:nvPr/>
        </p:nvSpPr>
        <p:spPr>
          <a:xfrm>
            <a:off x="3051628" y="2484663"/>
            <a:ext cx="3851729"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在革命派的有力辩驳下，改良派逐渐理屈词穷。1907年，改良派的主要阵地《新民丛报》宣布停刊，标志着这场论战以革命派的胜利而告终。</a:t>
            </a:r>
            <a:endParaRPr lang="en-US" sz="1100" dirty="0">
              <a:solidFill>
                <a:srgbClr val="8067AE"/>
              </a:solidFill>
              <a:latin typeface="FangSong" panose="02010609060101010101" pitchFamily="49" charset="-122"/>
              <a:ea typeface="FangSong" panose="02010609060101010101" pitchFamily="49" charset="-122"/>
            </a:endParaRPr>
          </a:p>
        </p:txBody>
      </p:sp>
      <p:sp>
        <p:nvSpPr>
          <p:cNvPr id="11" name="AutoShape 11"/>
          <p:cNvSpPr/>
          <p:nvPr/>
        </p:nvSpPr>
        <p:spPr>
          <a:xfrm>
            <a:off x="769257" y="4461327"/>
            <a:ext cx="749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深远影响</a:t>
            </a:r>
            <a:r>
              <a:rPr lang="en-US" sz="24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a:t>
            </a:r>
          </a:p>
          <a:p>
            <a:pPr indent="0" algn="l">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奠定思想基础</a:t>
            </a:r>
            <a:endParaRPr lang="en-US" sz="1200" dirty="0">
              <a:solidFill>
                <a:srgbClr val="7030A0"/>
              </a:solidFill>
              <a:latin typeface="Source Han Serif CN" panose="02020400000000000000" pitchFamily="18" charset="-128"/>
              <a:ea typeface="Source Han Serif CN" panose="02020400000000000000" pitchFamily="18" charset="-128"/>
            </a:endParaRPr>
          </a:p>
        </p:txBody>
      </p:sp>
      <p:sp>
        <p:nvSpPr>
          <p:cNvPr id="12" name="AutoShape 12"/>
          <p:cNvSpPr/>
          <p:nvPr/>
        </p:nvSpPr>
        <p:spPr>
          <a:xfrm>
            <a:off x="3051628" y="4341281"/>
            <a:ext cx="3933372" cy="9525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革命思想得到了广泛传播，不仅划清了革命与改良的界限，还极大地鼓舞了革命士气，为辛亥革命的爆发奠定了坚实的思想基础</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100" dirty="0">
              <a:solidFill>
                <a:srgbClr val="8067AE"/>
              </a:solidFill>
              <a:latin typeface="FangSong" panose="02010609060101010101" pitchFamily="49" charset="-122"/>
              <a:ea typeface="FangSong"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6"/>
          <p:cNvSpPr/>
          <p:nvPr/>
        </p:nvSpPr>
        <p:spPr>
          <a:xfrm>
            <a:off x="508000" y="2667000"/>
            <a:ext cx="111760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论战的</a:t>
            </a:r>
            <a:r>
              <a:rPr lang="zh-CN" altLang="en-US" sz="36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局限性</a:t>
            </a: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与意义</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2" name="AutoShape 10">
            <a:extLst>
              <a:ext uri="{FF2B5EF4-FFF2-40B4-BE49-F238E27FC236}">
                <a16:creationId xmlns:a16="http://schemas.microsoft.com/office/drawing/2014/main" id="{89FF78DE-0CB2-CB72-0F67-D81EE023E1F3}"/>
              </a:ext>
            </a:extLst>
          </p:cNvPr>
          <p:cNvSpPr/>
          <p:nvPr/>
        </p:nvSpPr>
        <p:spPr>
          <a:xfrm>
            <a:off x="762000" y="3429000"/>
            <a:ext cx="10668000" cy="235282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rPr>
              <a:t>“</a:t>
            </a:r>
            <a:r>
              <a:rPr lang="zh-CN" altLang="en-US"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rPr>
              <a:t>夫以铜为镜，可以正衣冠；</a:t>
            </a:r>
            <a:endParaRPr lang="en-US" altLang="zh-CN"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endParaRPr>
          </a:p>
          <a:p>
            <a:pPr indent="0" algn="ctr">
              <a:lnSpc>
                <a:spcPct val="125000"/>
              </a:lnSpc>
              <a:defRPr/>
            </a:pPr>
            <a:r>
              <a:rPr lang="zh-CN" altLang="en-US"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rPr>
              <a:t>以史为镜，可以知兴替；</a:t>
            </a:r>
            <a:endParaRPr lang="en-US" altLang="zh-CN"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endParaRPr>
          </a:p>
          <a:p>
            <a:pPr indent="0" algn="ctr">
              <a:lnSpc>
                <a:spcPct val="125000"/>
              </a:lnSpc>
              <a:defRPr/>
            </a:pPr>
            <a:r>
              <a:rPr lang="zh-CN" altLang="en-US"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rPr>
              <a:t>以人为镜，可以明得失。”</a:t>
            </a:r>
            <a:endParaRPr lang="en-US" altLang="zh-CN"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endParaRPr>
          </a:p>
          <a:p>
            <a:pPr indent="0" algn="r">
              <a:lnSpc>
                <a:spcPct val="125000"/>
              </a:lnSpc>
              <a:defRPr/>
            </a:pPr>
            <a:r>
              <a:rPr lang="en-US" altLang="zh-CN" sz="2000" dirty="0">
                <a:solidFill>
                  <a:srgbClr val="8067AE"/>
                </a:solidFill>
                <a:latin typeface="FangSong" panose="02010609060101010101" pitchFamily="49" charset="-122"/>
                <a:ea typeface="FangSong" panose="02010609060101010101" pitchFamily="49" charset="-122"/>
                <a:sym typeface="Noto Serif SC"/>
              </a:rPr>
              <a:t>——《</a:t>
            </a:r>
            <a:r>
              <a:rPr lang="zh-CN" altLang="en-US" sz="2000" dirty="0">
                <a:solidFill>
                  <a:srgbClr val="8067AE"/>
                </a:solidFill>
                <a:latin typeface="FangSong" panose="02010609060101010101" pitchFamily="49" charset="-122"/>
                <a:ea typeface="FangSong" panose="02010609060101010101" pitchFamily="49" charset="-122"/>
                <a:sym typeface="Noto Serif SC"/>
              </a:rPr>
              <a:t>旧唐书</a:t>
            </a:r>
            <a:r>
              <a:rPr lang="en-US" altLang="zh-CN" sz="2000" dirty="0">
                <a:solidFill>
                  <a:srgbClr val="8067AE"/>
                </a:solidFill>
                <a:latin typeface="FangSong" panose="02010609060101010101" pitchFamily="49" charset="-122"/>
                <a:ea typeface="FangSong" panose="02010609060101010101" pitchFamily="49" charset="-122"/>
                <a:sym typeface="Noto Serif SC"/>
              </a:rPr>
              <a:t>》</a:t>
            </a:r>
            <a:endParaRPr lang="en-US" sz="1100" dirty="0">
              <a:solidFill>
                <a:srgbClr val="8067AE"/>
              </a:solidFill>
              <a:latin typeface="FangSong" panose="02010609060101010101" pitchFamily="49" charset="-122"/>
              <a:ea typeface="FangSong"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1999" y="591458"/>
            <a:ext cx="6291943"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论战的局限性</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1487321" y="2133394"/>
            <a:ext cx="1588729"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脱离实际</a:t>
            </a:r>
            <a:endParaRPr lang="en-US" sz="1200" dirty="0">
              <a:solidFill>
                <a:srgbClr val="7030A0"/>
              </a:solidFill>
              <a:latin typeface="Source Han Serif CN" panose="02020400000000000000" pitchFamily="18" charset="-128"/>
              <a:ea typeface="Source Han Serif CN" panose="02020400000000000000" pitchFamily="18" charset="-128"/>
            </a:endParaRPr>
          </a:p>
        </p:txBody>
      </p:sp>
      <p:sp>
        <p:nvSpPr>
          <p:cNvPr id="7" name="AutoShape 7"/>
          <p:cNvSpPr/>
          <p:nvPr/>
        </p:nvSpPr>
        <p:spPr>
          <a:xfrm>
            <a:off x="3682993" y="1763046"/>
            <a:ext cx="7590983" cy="1121695"/>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6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两派争论集中于政治制度选择</a:t>
            </a:r>
            <a:r>
              <a:rPr lang="en-US" sz="16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r>
              <a:rPr lang="zh-CN" altLang="en-US" sz="16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而君主立宪制与民主共和制是资本主义世界的两种基本政治模式，二者除具体的实践方式略有不同外，不存在任何优劣之分。双方实际上</a:t>
            </a:r>
            <a:r>
              <a:rPr lang="en-US" sz="16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忽视了当时中国的具体国情、经济基础和阶级力量对比</a:t>
            </a:r>
            <a:r>
              <a:rPr lang="zh-CN" altLang="en-US" sz="1600" dirty="0">
                <a:solidFill>
                  <a:srgbClr val="8067AE"/>
                </a:solidFill>
                <a:latin typeface="FangSong" panose="02010609060101010101" pitchFamily="49" charset="-122"/>
                <a:ea typeface="FangSong" panose="02010609060101010101" pitchFamily="49" charset="-122"/>
                <a:cs typeface="Noto Sans SC"/>
                <a:sym typeface="Noto Sans SC"/>
              </a:rPr>
              <a:t>，盲目推崇自身观点</a:t>
            </a:r>
            <a:endParaRPr lang="en-US" sz="1100" dirty="0">
              <a:solidFill>
                <a:srgbClr val="8067AE"/>
              </a:solidFill>
              <a:latin typeface="FangSong" panose="02010609060101010101" pitchFamily="49" charset="-122"/>
              <a:ea typeface="FangSong" panose="02010609060101010101" pitchFamily="49" charset="-122"/>
            </a:endParaRPr>
          </a:p>
        </p:txBody>
      </p:sp>
      <p:sp>
        <p:nvSpPr>
          <p:cNvPr id="10" name="AutoShape 10"/>
          <p:cNvSpPr/>
          <p:nvPr/>
        </p:nvSpPr>
        <p:spPr>
          <a:xfrm>
            <a:off x="1519685" y="3553746"/>
            <a:ext cx="1524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高估民众</a:t>
            </a:r>
            <a:endParaRPr lang="en-US" sz="1200" dirty="0">
              <a:solidFill>
                <a:srgbClr val="7030A0"/>
              </a:solidFill>
              <a:latin typeface="Source Han Serif CN" panose="02020400000000000000" pitchFamily="18" charset="-128"/>
              <a:ea typeface="Source Han Serif CN" panose="02020400000000000000" pitchFamily="18" charset="-128"/>
            </a:endParaRPr>
          </a:p>
        </p:txBody>
      </p:sp>
      <p:sp>
        <p:nvSpPr>
          <p:cNvPr id="11" name="AutoShape 11"/>
          <p:cNvSpPr/>
          <p:nvPr/>
        </p:nvSpPr>
        <p:spPr>
          <a:xfrm>
            <a:off x="3682990" y="3246795"/>
            <a:ext cx="7590983" cy="994902"/>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6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双方都高估了当时中国民众的知识水平和参政能力</a:t>
            </a:r>
            <a:r>
              <a:rPr lang="zh-CN" altLang="en-US" sz="1600" dirty="0">
                <a:solidFill>
                  <a:srgbClr val="8067AE"/>
                </a:solidFill>
                <a:latin typeface="FangSong" panose="02010609060101010101" pitchFamily="49" charset="-122"/>
                <a:ea typeface="FangSong" panose="02010609060101010101" pitchFamily="49" charset="-122"/>
                <a:cs typeface="Noto Sans SC"/>
                <a:sym typeface="Noto Sans SC"/>
              </a:rPr>
              <a:t>，有认识到在一个文盲率高、缺乏参政意识与参政热情的落后农业国家不存在实行资产阶级共和制的社会基础</a:t>
            </a:r>
            <a:r>
              <a:rPr lang="en-US" sz="16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缺乏广泛的社会基础支持</a:t>
            </a:r>
            <a:r>
              <a:rPr lang="en-US" sz="16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100" dirty="0">
              <a:solidFill>
                <a:srgbClr val="8067AE"/>
              </a:solidFill>
              <a:latin typeface="FangSong" panose="02010609060101010101" pitchFamily="49" charset="-122"/>
              <a:ea typeface="FangSong" panose="02010609060101010101" pitchFamily="49" charset="-122"/>
            </a:endParaRPr>
          </a:p>
        </p:txBody>
      </p:sp>
      <p:sp>
        <p:nvSpPr>
          <p:cNvPr id="14" name="AutoShape 14"/>
          <p:cNvSpPr/>
          <p:nvPr/>
        </p:nvSpPr>
        <p:spPr>
          <a:xfrm>
            <a:off x="1636485" y="4974098"/>
            <a:ext cx="128229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阶级局限</a:t>
            </a:r>
            <a:endParaRPr lang="en-US" sz="1200" dirty="0">
              <a:solidFill>
                <a:srgbClr val="7030A0"/>
              </a:solidFill>
              <a:latin typeface="Source Han Serif CN" panose="02020400000000000000" pitchFamily="18" charset="-128"/>
              <a:ea typeface="Source Han Serif CN" panose="02020400000000000000" pitchFamily="18" charset="-128"/>
            </a:endParaRPr>
          </a:p>
        </p:txBody>
      </p:sp>
      <p:sp>
        <p:nvSpPr>
          <p:cNvPr id="15" name="AutoShape 15"/>
          <p:cNvSpPr/>
          <p:nvPr/>
        </p:nvSpPr>
        <p:spPr>
          <a:xfrm>
            <a:off x="3682991" y="4169695"/>
            <a:ext cx="7590983" cy="2053305"/>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zh-CN" altLang="en-US" sz="16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改良派为了资产阶级上层改良，而革命派为资产阶级中下层革命</a:t>
            </a:r>
            <a:r>
              <a:rPr lang="en-US" sz="16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r>
              <a:rPr lang="en-US" sz="16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未能真正发动和依靠广大人民群众</a:t>
            </a:r>
            <a:r>
              <a:rPr lang="en-US" sz="16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100" dirty="0">
              <a:solidFill>
                <a:srgbClr val="8067AE"/>
              </a:solidFill>
              <a:latin typeface="FangSong" panose="02010609060101010101" pitchFamily="49" charset="-122"/>
              <a:ea typeface="FangSong"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591458"/>
            <a:ext cx="4521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论战的局限性</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5" name="AutoShape 5"/>
          <p:cNvSpPr/>
          <p:nvPr/>
        </p:nvSpPr>
        <p:spPr>
          <a:xfrm>
            <a:off x="1016000" y="1861458"/>
            <a:ext cx="1016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7030A0"/>
                </a:solidFill>
                <a:latin typeface="Source Han Serif CN" panose="02020400000000000000" pitchFamily="18" charset="-128"/>
                <a:ea typeface="Source Han Serif CN" panose="02020400000000000000" pitchFamily="18" charset="-128"/>
                <a:cs typeface="Noto Sans SC"/>
                <a:sym typeface="Noto Sans SC"/>
              </a:rPr>
              <a:t>反帝反封建不彻底</a:t>
            </a:r>
            <a:endParaRPr lang="en-US">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1016000" y="2456543"/>
            <a:ext cx="10160000" cy="215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革命派虽然主张推翻清朝，但在反对帝国主义和彻底废除封建土地制度等根本问题上，存在模糊和错误的认识，未能有力回应改良派的质疑</a:t>
            </a:r>
            <a:r>
              <a:rPr lang="en-US" sz="20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a:p>
            <a:pPr indent="0" algn="l">
              <a:lnSpc>
                <a:spcPct val="125000"/>
              </a:lnSpc>
              <a:defRPr/>
            </a:pPr>
            <a:endParaRPr lang="en-US" sz="1200" dirty="0">
              <a:solidFill>
                <a:srgbClr val="8067AE"/>
              </a:solidFill>
              <a:latin typeface="FangSong" panose="02010609060101010101" pitchFamily="49" charset="-122"/>
              <a:ea typeface="FangSong" panose="02010609060101010101" pitchFamily="49" charset="-122"/>
            </a:endParaRPr>
          </a:p>
          <a:p>
            <a:pPr indent="0" algn="l">
              <a:lnSpc>
                <a:spcPct val="125000"/>
              </a:lnSpc>
            </a:pPr>
            <a:r>
              <a:rPr lang="en-US" sz="20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这一理论弱点深刻反映了中国民族资产阶级的</a:t>
            </a:r>
            <a:r>
              <a:rPr lang="en-US" sz="2000" b="1"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软弱性</a:t>
            </a:r>
            <a:r>
              <a:rPr lang="en-US" sz="20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，不仅在论战中暴露出来，也为后来辛亥革命的失败埋下了伏笔</a:t>
            </a:r>
            <a:r>
              <a:rPr lang="en-US" sz="20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p:txBody>
      </p:sp>
      <p:sp>
        <p:nvSpPr>
          <p:cNvPr id="3" name="AutoShape 18">
            <a:extLst>
              <a:ext uri="{FF2B5EF4-FFF2-40B4-BE49-F238E27FC236}">
                <a16:creationId xmlns:a16="http://schemas.microsoft.com/office/drawing/2014/main" id="{78AAAE9A-E779-5AB3-FE5C-7BF833E77060}"/>
              </a:ext>
            </a:extLst>
          </p:cNvPr>
          <p:cNvSpPr/>
          <p:nvPr/>
        </p:nvSpPr>
        <p:spPr>
          <a:xfrm>
            <a:off x="1110343" y="5109028"/>
            <a:ext cx="9971314" cy="838201"/>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总结：</a:t>
            </a:r>
            <a:r>
              <a:rPr lang="en-US" sz="2000" b="0" i="0" u="none" strike="noStrike" dirty="0">
                <a:solidFill>
                  <a:srgbClr val="7030A0"/>
                </a:solidFill>
                <a:latin typeface="Source Han Serif CN" panose="02020400000000000000" pitchFamily="18" charset="-128"/>
                <a:ea typeface="Source Han Serif CN" panose="02020400000000000000" pitchFamily="18" charset="-128"/>
                <a:cs typeface="Noto Sans SC"/>
                <a:sym typeface="Noto Sans SC"/>
              </a:rPr>
              <a:t>这场论战虽然促进了思想解放，但由于历史和阶级的局限性，未能找到解决中国问题的根本出路，这也预示了资产阶级领导的旧民主主义革命难以取得彻底胜利。</a:t>
            </a:r>
            <a:endParaRPr lang="en-US" dirty="0">
              <a:solidFill>
                <a:srgbClr val="7030A0"/>
              </a:solidFill>
              <a:latin typeface="Source Han Serif CN" panose="02020400000000000000" pitchFamily="18" charset="-128"/>
              <a:ea typeface="Source Han Serif CN" panose="02020400000000000000" pitchFamily="18" charset="-128"/>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5029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论战的历史意义</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4572000" y="3225801"/>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思想启蒙</a:t>
            </a:r>
            <a:endParaRPr lang="en-US" dirty="0">
              <a:solidFill>
                <a:srgbClr val="7030A0"/>
              </a:solidFill>
              <a:latin typeface="Source Han Serif CN" panose="02020400000000000000" pitchFamily="18" charset="-128"/>
              <a:ea typeface="Source Han Serif CN" panose="02020400000000000000" pitchFamily="18" charset="-128"/>
            </a:endParaRPr>
          </a:p>
        </p:txBody>
      </p:sp>
      <p:sp>
        <p:nvSpPr>
          <p:cNvPr id="7" name="AutoShape 7"/>
          <p:cNvSpPr/>
          <p:nvPr/>
        </p:nvSpPr>
        <p:spPr>
          <a:xfrm>
            <a:off x="1155699" y="2590801"/>
            <a:ext cx="3683000" cy="1651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zh-CN" alt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这场</a:t>
            </a: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论战使民主共和思想得到了空前的传播和普及，极大地解放了人们的思想，打破了封建专制思想的禁锢</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200" dirty="0">
              <a:solidFill>
                <a:srgbClr val="8067AE"/>
              </a:solidFill>
              <a:latin typeface="FangSong" panose="02010609060101010101" pitchFamily="49" charset="-122"/>
              <a:ea typeface="FangSong" panose="02010609060101010101" pitchFamily="49" charset="-122"/>
            </a:endParaRPr>
          </a:p>
        </p:txBody>
      </p:sp>
      <p:sp>
        <p:nvSpPr>
          <p:cNvPr id="11" name="AutoShape 11"/>
          <p:cNvSpPr/>
          <p:nvPr/>
        </p:nvSpPr>
        <p:spPr>
          <a:xfrm>
            <a:off x="7353302" y="2635250"/>
            <a:ext cx="3786414" cy="1651000"/>
          </a:xfrm>
          <a:prstGeom prst="rect">
            <a:avLst/>
          </a:prstGeom>
          <a:noFill/>
          <a:ln w="12700" cap="flat" cmpd="sng">
            <a:noFill/>
            <a:prstDash val="solid"/>
            <a:round/>
          </a:ln>
        </p:spPr>
        <p:txBody>
          <a:bodyPr vert="horz" wrap="square" lIns="0" tIns="0" rIns="0" bIns="0" rtlCol="0" anchor="ctr" anchorCtr="0"/>
          <a:lstStyle/>
          <a:p>
            <a:pPr indent="0" algn="just">
              <a:lnSpc>
                <a:spcPct val="108333"/>
              </a:lnSpc>
              <a:defRPr/>
            </a:pPr>
            <a:r>
              <a:rPr lang="en-US" sz="18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通过论战，革命派有力地论证了革命的必要性，为辛亥革命的爆发做了充分的思想动员和舆论准备</a:t>
            </a:r>
            <a:r>
              <a:rPr lang="en-US" sz="18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200" dirty="0">
              <a:solidFill>
                <a:srgbClr val="8067AE"/>
              </a:solidFill>
              <a:latin typeface="FangSong" panose="02010609060101010101" pitchFamily="49" charset="-122"/>
              <a:ea typeface="FangSong" panose="02010609060101010101" pitchFamily="49" charset="-122"/>
            </a:endParaRPr>
          </a:p>
        </p:txBody>
      </p:sp>
      <p:sp>
        <p:nvSpPr>
          <p:cNvPr id="16" name="AutoShape 16"/>
          <p:cNvSpPr/>
          <p:nvPr/>
        </p:nvSpPr>
        <p:spPr>
          <a:xfrm>
            <a:off x="762000" y="5323116"/>
            <a:ext cx="10668000" cy="508000"/>
          </a:xfrm>
          <a:prstGeom prst="rect">
            <a:avLst/>
          </a:prstGeom>
          <a:noFill/>
          <a:ln w="12700" cap="flat" cmpd="sng">
            <a:noFill/>
            <a:prstDash val="solid"/>
            <a:round/>
          </a:ln>
        </p:spPr>
        <p:txBody>
          <a:bodyPr vert="horz" wrap="square" lIns="0" tIns="0" rIns="0" bIns="0" rtlCol="0" anchor="ctr" anchorCtr="0"/>
          <a:lstStyle/>
          <a:p>
            <a:pPr algn="ctr">
              <a:lnSpc>
                <a:spcPct val="125000"/>
              </a:lnSpc>
              <a:defRPr/>
            </a:pPr>
            <a:r>
              <a:rPr lang="en-US" sz="2400" b="1"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这场论战不仅是思想的交锋，更是民族觉醒的号角</a:t>
            </a:r>
            <a:r>
              <a:rPr lang="zh-CN" altLang="en-US" sz="2400" b="1" u="none" strike="noStrike" dirty="0">
                <a:solidFill>
                  <a:srgbClr val="7030A0"/>
                </a:solidFill>
                <a:latin typeface="Source Han Serif CN" panose="02020400000000000000" pitchFamily="18" charset="-128"/>
                <a:ea typeface="Source Han Serif CN" panose="02020400000000000000" pitchFamily="18" charset="-128"/>
                <a:cs typeface="Noto Serif SC"/>
                <a:sym typeface="Noto Serif SC"/>
              </a:rPr>
              <a:t>，</a:t>
            </a:r>
            <a:r>
              <a:rPr lang="zh-CN" altLang="zh-CN" sz="2400" b="1" kern="100" dirty="0">
                <a:solidFill>
                  <a:srgbClr val="7030A0"/>
                </a:solidFill>
                <a:effectLst/>
                <a:latin typeface="Source Han Serif CN" panose="02020400000000000000" pitchFamily="18" charset="-128"/>
                <a:ea typeface="Source Han Serif CN" panose="02020400000000000000" pitchFamily="18" charset="-128"/>
                <a:cs typeface="Times New Roman" panose="02020603050405020304" pitchFamily="18" charset="0"/>
              </a:rPr>
              <a:t>推动了革命形势的进一步高涨，为辛亥革命的爆发提供了思想舆论准备。</a:t>
            </a:r>
          </a:p>
          <a:p>
            <a:pPr indent="0" algn="ctr">
              <a:lnSpc>
                <a:spcPct val="125000"/>
              </a:lnSpc>
              <a:defRPr/>
            </a:pPr>
            <a:endParaRPr lang="en-US" b="1" dirty="0">
              <a:solidFill>
                <a:srgbClr val="7030A0"/>
              </a:solidFill>
              <a:latin typeface="Source Han Serif CN" panose="02020400000000000000" pitchFamily="18" charset="-128"/>
              <a:ea typeface="Source Han Serif CN" panose="02020400000000000000" pitchFamily="18" charset="-128"/>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45212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dirty="0" err="1">
                <a:solidFill>
                  <a:srgbClr val="7030A0"/>
                </a:solidFill>
                <a:latin typeface="Source Han Serif CN" panose="02020400000000000000" pitchFamily="18" charset="-128"/>
                <a:ea typeface="Source Han Serif CN" panose="02020400000000000000" pitchFamily="18" charset="-128"/>
                <a:cs typeface="Noto Serif SC"/>
                <a:sym typeface="Noto Serif SC"/>
              </a:rPr>
              <a:t>论战的历史意义</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8" name="AutoShape 8"/>
          <p:cNvSpPr/>
          <p:nvPr/>
        </p:nvSpPr>
        <p:spPr>
          <a:xfrm>
            <a:off x="2413000" y="2452914"/>
            <a:ext cx="7366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历史选择：革命成为唯一出路</a:t>
            </a:r>
            <a:endParaRPr lang="en-US" dirty="0">
              <a:solidFill>
                <a:srgbClr val="7030A0"/>
              </a:solidFill>
              <a:latin typeface="Source Han Serif CN" panose="02020400000000000000" pitchFamily="18" charset="-128"/>
              <a:ea typeface="Source Han Serif CN" panose="02020400000000000000" pitchFamily="18" charset="-128"/>
            </a:endParaRPr>
          </a:p>
        </p:txBody>
      </p:sp>
      <p:sp>
        <p:nvSpPr>
          <p:cNvPr id="9" name="AutoShape 9"/>
          <p:cNvSpPr/>
          <p:nvPr/>
        </p:nvSpPr>
        <p:spPr>
          <a:xfrm>
            <a:off x="2413000" y="3064328"/>
            <a:ext cx="7366000" cy="1905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24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在旧势力极其顽固、社会矛盾无法调和的历史条件下，改良道路被证明走不通</a:t>
            </a:r>
            <a:r>
              <a:rPr lang="en-US" sz="24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dirty="0">
              <a:solidFill>
                <a:srgbClr val="8067AE"/>
              </a:solidFill>
              <a:latin typeface="FangSong" panose="02010609060101010101" pitchFamily="49" charset="-122"/>
              <a:ea typeface="FangSong" panose="02010609060101010101" pitchFamily="49" charset="-122"/>
            </a:endParaRPr>
          </a:p>
          <a:p>
            <a:pPr indent="0" algn="l">
              <a:lnSpc>
                <a:spcPct val="125000"/>
              </a:lnSpc>
            </a:pPr>
            <a:r>
              <a:rPr lang="en-US" sz="24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革命成为打破旧秩序、实现社会进步的唯一选择。这场论战的结果，也印证了这一历史必然性</a:t>
            </a:r>
            <a:r>
              <a:rPr lang="en-US" sz="24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p>
        </p:txBody>
      </p:sp>
      <p:sp>
        <p:nvSpPr>
          <p:cNvPr id="10" name="AutoShape 10"/>
          <p:cNvSpPr/>
          <p:nvPr/>
        </p:nvSpPr>
        <p:spPr>
          <a:xfrm>
            <a:off x="762000" y="5334000"/>
            <a:ext cx="10668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rPr>
              <a:t>“</a:t>
            </a:r>
            <a:r>
              <a:rPr lang="zh-CN" altLang="en-US"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rPr>
              <a:t>革命是由于被压迫者意识到，由于统治阶级的顽固，改良的道路已经被堵死。”</a:t>
            </a:r>
            <a:endParaRPr lang="en-US" altLang="zh-CN" sz="2000" b="0" u="none" strike="noStrike" dirty="0">
              <a:solidFill>
                <a:srgbClr val="8067AE"/>
              </a:solidFill>
              <a:latin typeface="FangSong" panose="02010609060101010101" pitchFamily="49" charset="-122"/>
              <a:ea typeface="FangSong" panose="02010609060101010101" pitchFamily="49" charset="-122"/>
              <a:cs typeface="Noto Serif SC"/>
              <a:sym typeface="Noto Serif SC"/>
            </a:endParaRPr>
          </a:p>
          <a:p>
            <a:pPr indent="0" algn="r">
              <a:lnSpc>
                <a:spcPct val="125000"/>
              </a:lnSpc>
              <a:defRPr/>
            </a:pPr>
            <a:r>
              <a:rPr lang="en-US" altLang="zh-CN" sz="2000" dirty="0">
                <a:solidFill>
                  <a:srgbClr val="8067AE"/>
                </a:solidFill>
                <a:latin typeface="FangSong" panose="02010609060101010101" pitchFamily="49" charset="-122"/>
                <a:ea typeface="FangSong" panose="02010609060101010101" pitchFamily="49" charset="-122"/>
                <a:sym typeface="Noto Serif SC"/>
              </a:rPr>
              <a:t>——</a:t>
            </a:r>
            <a:r>
              <a:rPr lang="zh-CN" altLang="en-US" sz="2000" dirty="0">
                <a:solidFill>
                  <a:srgbClr val="8067AE"/>
                </a:solidFill>
                <a:latin typeface="FangSong" panose="02010609060101010101" pitchFamily="49" charset="-122"/>
                <a:ea typeface="FangSong" panose="02010609060101010101" pitchFamily="49" charset="-122"/>
                <a:sym typeface="Noto Serif SC"/>
              </a:rPr>
              <a:t>列宁</a:t>
            </a:r>
            <a:r>
              <a:rPr lang="en-US" altLang="zh-CN" sz="2000" dirty="0">
                <a:solidFill>
                  <a:srgbClr val="8067AE"/>
                </a:solidFill>
                <a:latin typeface="FangSong" panose="02010609060101010101" pitchFamily="49" charset="-122"/>
                <a:ea typeface="FangSong" panose="02010609060101010101" pitchFamily="49" charset="-122"/>
                <a:sym typeface="Noto Serif SC"/>
              </a:rPr>
              <a:t>《</a:t>
            </a:r>
            <a:r>
              <a:rPr lang="zh-CN" altLang="en-US" sz="2000" dirty="0">
                <a:solidFill>
                  <a:srgbClr val="8067AE"/>
                </a:solidFill>
                <a:latin typeface="FangSong" panose="02010609060101010101" pitchFamily="49" charset="-122"/>
                <a:ea typeface="FangSong" panose="02010609060101010101" pitchFamily="49" charset="-122"/>
                <a:sym typeface="Noto Serif SC"/>
              </a:rPr>
              <a:t>国家与革命</a:t>
            </a:r>
            <a:r>
              <a:rPr lang="en-US" altLang="zh-CN" sz="2000" dirty="0">
                <a:solidFill>
                  <a:srgbClr val="8067AE"/>
                </a:solidFill>
                <a:latin typeface="FangSong" panose="02010609060101010101" pitchFamily="49" charset="-122"/>
                <a:ea typeface="FangSong" panose="02010609060101010101" pitchFamily="49" charset="-122"/>
                <a:sym typeface="Noto Serif SC"/>
              </a:rPr>
              <a:t>》</a:t>
            </a:r>
            <a:endParaRPr lang="en-US" sz="1100" dirty="0">
              <a:solidFill>
                <a:srgbClr val="8067AE"/>
              </a:solidFill>
              <a:latin typeface="FangSong" panose="02010609060101010101" pitchFamily="49" charset="-122"/>
              <a:ea typeface="FangSong" panose="02010609060101010101" pitchFamily="49"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62000" y="635000"/>
            <a:ext cx="2514600" cy="635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600" b="1" i="0" u="none" strike="noStrike">
                <a:solidFill>
                  <a:srgbClr val="7030A0"/>
                </a:solidFill>
                <a:latin typeface="Source Han Serif CN" panose="02020400000000000000" pitchFamily="18" charset="-128"/>
                <a:ea typeface="Source Han Serif CN" panose="02020400000000000000" pitchFamily="18" charset="-128"/>
                <a:cs typeface="Noto Serif SC"/>
                <a:sym typeface="Noto Serif SC"/>
              </a:rPr>
              <a:t>总结与启示</a:t>
            </a:r>
            <a:endParaRPr lang="en-US" sz="1100">
              <a:solidFill>
                <a:srgbClr val="7030A0"/>
              </a:solidFill>
              <a:latin typeface="Source Han Serif CN" panose="02020400000000000000" pitchFamily="18" charset="-128"/>
              <a:ea typeface="Source Han Serif CN" panose="02020400000000000000" pitchFamily="18" charset="-128"/>
            </a:endParaRPr>
          </a:p>
        </p:txBody>
      </p:sp>
      <p:sp>
        <p:nvSpPr>
          <p:cNvPr id="6" name="AutoShape 6"/>
          <p:cNvSpPr/>
          <p:nvPr/>
        </p:nvSpPr>
        <p:spPr>
          <a:xfrm>
            <a:off x="8450942" y="2402115"/>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a:solidFill>
                  <a:srgbClr val="7030A0"/>
                </a:solidFill>
                <a:latin typeface="Source Han Serif CN" panose="02020400000000000000" pitchFamily="18" charset="-128"/>
                <a:ea typeface="Source Han Serif CN" panose="02020400000000000000" pitchFamily="18" charset="-128"/>
                <a:cs typeface="Noto Sans SC"/>
                <a:sym typeface="Noto Sans SC"/>
              </a:rPr>
              <a:t>历史经验</a:t>
            </a:r>
            <a:endParaRPr lang="en-US">
              <a:solidFill>
                <a:srgbClr val="7030A0"/>
              </a:solidFill>
              <a:latin typeface="Source Han Serif CN" panose="02020400000000000000" pitchFamily="18" charset="-128"/>
              <a:ea typeface="Source Han Serif CN" panose="02020400000000000000" pitchFamily="18" charset="-128"/>
            </a:endParaRPr>
          </a:p>
        </p:txBody>
      </p:sp>
      <p:sp>
        <p:nvSpPr>
          <p:cNvPr id="7" name="AutoShape 7"/>
          <p:cNvSpPr/>
          <p:nvPr/>
        </p:nvSpPr>
        <p:spPr>
          <a:xfrm>
            <a:off x="1284513" y="2366283"/>
            <a:ext cx="7166426" cy="833664"/>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20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革命与改良的论战表明，救国道路的选择必须立足于具体的历史国情，脱离实际的方案注定失败</a:t>
            </a:r>
            <a:r>
              <a:rPr lang="en-US" sz="20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200" dirty="0">
              <a:solidFill>
                <a:srgbClr val="8067AE"/>
              </a:solidFill>
              <a:latin typeface="FangSong" panose="02010609060101010101" pitchFamily="49" charset="-122"/>
              <a:ea typeface="FangSong" panose="02010609060101010101" pitchFamily="49" charset="-122"/>
            </a:endParaRPr>
          </a:p>
        </p:txBody>
      </p:sp>
      <p:sp>
        <p:nvSpPr>
          <p:cNvPr id="10" name="AutoShape 10"/>
          <p:cNvSpPr/>
          <p:nvPr/>
        </p:nvSpPr>
        <p:spPr>
          <a:xfrm>
            <a:off x="8450941" y="3449865"/>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根本依靠</a:t>
            </a:r>
            <a:endParaRPr lang="en-US" dirty="0">
              <a:solidFill>
                <a:srgbClr val="7030A0"/>
              </a:solidFill>
              <a:latin typeface="Source Han Serif CN" panose="02020400000000000000" pitchFamily="18" charset="-128"/>
              <a:ea typeface="Source Han Serif CN" panose="02020400000000000000" pitchFamily="18" charset="-128"/>
            </a:endParaRPr>
          </a:p>
        </p:txBody>
      </p:sp>
      <p:sp>
        <p:nvSpPr>
          <p:cNvPr id="11" name="AutoShape 11"/>
          <p:cNvSpPr/>
          <p:nvPr/>
        </p:nvSpPr>
        <p:spPr>
          <a:xfrm>
            <a:off x="1284513" y="3318783"/>
            <a:ext cx="7166426" cy="1024164"/>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20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无论是革命还是建设，都必须依靠最广大的人民群众，才能取得最终的胜利</a:t>
            </a:r>
            <a:r>
              <a:rPr lang="en-US" sz="20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200" dirty="0">
              <a:solidFill>
                <a:srgbClr val="8067AE"/>
              </a:solidFill>
              <a:latin typeface="FangSong" panose="02010609060101010101" pitchFamily="49" charset="-122"/>
              <a:ea typeface="FangSong" panose="02010609060101010101" pitchFamily="49" charset="-122"/>
            </a:endParaRPr>
          </a:p>
        </p:txBody>
      </p:sp>
      <p:sp>
        <p:nvSpPr>
          <p:cNvPr id="14" name="AutoShape 14"/>
          <p:cNvSpPr/>
          <p:nvPr/>
        </p:nvSpPr>
        <p:spPr>
          <a:xfrm>
            <a:off x="8450942" y="4497615"/>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8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现实启示</a:t>
            </a:r>
            <a:endParaRPr lang="en-US" dirty="0">
              <a:solidFill>
                <a:srgbClr val="7030A0"/>
              </a:solidFill>
              <a:latin typeface="Source Han Serif CN" panose="02020400000000000000" pitchFamily="18" charset="-128"/>
              <a:ea typeface="Source Han Serif CN" panose="02020400000000000000" pitchFamily="18" charset="-128"/>
            </a:endParaRPr>
          </a:p>
        </p:txBody>
      </p:sp>
      <p:sp>
        <p:nvSpPr>
          <p:cNvPr id="15" name="AutoShape 15"/>
          <p:cNvSpPr/>
          <p:nvPr/>
        </p:nvSpPr>
        <p:spPr>
          <a:xfrm>
            <a:off x="1284511" y="4053115"/>
            <a:ext cx="7166427" cy="1651000"/>
          </a:xfrm>
          <a:prstGeom prst="rect">
            <a:avLst/>
          </a:prstGeom>
          <a:noFill/>
          <a:ln w="12700" cap="flat" cmpd="sng">
            <a:noFill/>
            <a:prstDash val="solid"/>
            <a:round/>
          </a:ln>
        </p:spPr>
        <p:txBody>
          <a:bodyPr vert="horz" wrap="square" lIns="0" tIns="0" rIns="0" bIns="0" rtlCol="0" anchor="ctr" anchorCtr="0"/>
          <a:lstStyle/>
          <a:p>
            <a:pPr indent="0" algn="just">
              <a:lnSpc>
                <a:spcPct val="116666"/>
              </a:lnSpc>
              <a:defRPr/>
            </a:pPr>
            <a:r>
              <a:rPr lang="en-US" sz="2000" b="0" i="0" u="none" strike="noStrike" dirty="0" err="1">
                <a:solidFill>
                  <a:srgbClr val="8067AE"/>
                </a:solidFill>
                <a:latin typeface="FangSong" panose="02010609060101010101" pitchFamily="49" charset="-122"/>
                <a:ea typeface="FangSong" panose="02010609060101010101" pitchFamily="49" charset="-122"/>
                <a:cs typeface="Noto Sans SC"/>
                <a:sym typeface="Noto Sans SC"/>
              </a:rPr>
              <a:t>在今天，我们更应从历史中汲取智慧，坚持实事求是，走符合中国国情的发展道路</a:t>
            </a:r>
            <a:r>
              <a:rPr lang="en-US" sz="2000" b="0" i="0" u="none" strike="noStrike" dirty="0">
                <a:solidFill>
                  <a:srgbClr val="8067AE"/>
                </a:solidFill>
                <a:latin typeface="FangSong" panose="02010609060101010101" pitchFamily="49" charset="-122"/>
                <a:ea typeface="FangSong" panose="02010609060101010101" pitchFamily="49" charset="-122"/>
                <a:cs typeface="Noto Sans SC"/>
                <a:sym typeface="Noto Sans SC"/>
              </a:rPr>
              <a:t>。</a:t>
            </a:r>
            <a:endParaRPr lang="en-US" sz="1200" dirty="0">
              <a:solidFill>
                <a:srgbClr val="8067AE"/>
              </a:solidFill>
              <a:latin typeface="FangSong" panose="02010609060101010101" pitchFamily="49" charset="-122"/>
              <a:ea typeface="FangSong" panose="02010609060101010101" pitchFamily="49" charset="-122"/>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BB911378-3326-CB9D-7FDB-53960F611387}"/>
              </a:ext>
            </a:extLst>
          </p:cNvPr>
          <p:cNvSpPr txBox="1"/>
          <p:nvPr/>
        </p:nvSpPr>
        <p:spPr>
          <a:xfrm>
            <a:off x="2855685" y="1443841"/>
            <a:ext cx="6480629" cy="3970318"/>
          </a:xfrm>
          <a:prstGeom prst="rect">
            <a:avLst/>
          </a:prstGeom>
          <a:noFill/>
        </p:spPr>
        <p:txBody>
          <a:bodyPr wrap="square" rtlCol="0">
            <a:spAutoFit/>
          </a:bodyPr>
          <a:lstStyle/>
          <a:p>
            <a:r>
              <a:rPr kumimoji="1" lang="zh-CN" altLang="en-US" sz="2800" b="1" dirty="0">
                <a:solidFill>
                  <a:srgbClr val="7030A0"/>
                </a:solidFill>
                <a:latin typeface="FangSong" panose="02010609060101010101" pitchFamily="49" charset="-122"/>
                <a:ea typeface="FangSong" panose="02010609060101010101" pitchFamily="49" charset="-122"/>
              </a:rPr>
              <a:t>理解的越多就越痛苦，</a:t>
            </a:r>
            <a:endParaRPr kumimoji="1" lang="en-US" altLang="zh-CN" sz="2800" b="1" dirty="0">
              <a:solidFill>
                <a:srgbClr val="7030A0"/>
              </a:solidFill>
              <a:latin typeface="FangSong" panose="02010609060101010101" pitchFamily="49" charset="-122"/>
              <a:ea typeface="FangSong" panose="02010609060101010101" pitchFamily="49" charset="-122"/>
            </a:endParaRPr>
          </a:p>
          <a:p>
            <a:endParaRPr kumimoji="1" lang="en-US" altLang="zh-CN" sz="2800" b="1" dirty="0">
              <a:solidFill>
                <a:srgbClr val="7030A0"/>
              </a:solidFill>
              <a:latin typeface="FangSong" panose="02010609060101010101" pitchFamily="49" charset="-122"/>
              <a:ea typeface="FangSong" panose="02010609060101010101" pitchFamily="49" charset="-122"/>
            </a:endParaRPr>
          </a:p>
          <a:p>
            <a:r>
              <a:rPr kumimoji="1" lang="zh-CN" altLang="en-US" sz="2800" b="1" dirty="0">
                <a:solidFill>
                  <a:srgbClr val="7030A0"/>
                </a:solidFill>
                <a:latin typeface="FangSong" panose="02010609060101010101" pitchFamily="49" charset="-122"/>
                <a:ea typeface="FangSong" panose="02010609060101010101" pitchFamily="49" charset="-122"/>
              </a:rPr>
              <a:t>知道的越多就越撕裂。</a:t>
            </a:r>
            <a:endParaRPr kumimoji="1" lang="en-US" altLang="zh-CN" sz="2800" b="1" dirty="0">
              <a:solidFill>
                <a:srgbClr val="7030A0"/>
              </a:solidFill>
              <a:latin typeface="FangSong" panose="02010609060101010101" pitchFamily="49" charset="-122"/>
              <a:ea typeface="FangSong" panose="02010609060101010101" pitchFamily="49" charset="-122"/>
            </a:endParaRPr>
          </a:p>
          <a:p>
            <a:endParaRPr kumimoji="1" lang="en-US" altLang="zh-CN" sz="2800" b="1" dirty="0">
              <a:solidFill>
                <a:srgbClr val="7030A0"/>
              </a:solidFill>
              <a:latin typeface="FangSong" panose="02010609060101010101" pitchFamily="49" charset="-122"/>
              <a:ea typeface="FangSong" panose="02010609060101010101" pitchFamily="49" charset="-122"/>
            </a:endParaRPr>
          </a:p>
          <a:p>
            <a:r>
              <a:rPr kumimoji="1" lang="zh-CN" altLang="en-US" sz="2800" b="1" dirty="0">
                <a:solidFill>
                  <a:srgbClr val="7030A0"/>
                </a:solidFill>
                <a:latin typeface="FangSong" panose="02010609060101010101" pitchFamily="49" charset="-122"/>
                <a:ea typeface="FangSong" panose="02010609060101010101" pitchFamily="49" charset="-122"/>
              </a:rPr>
              <a:t>但他有着同痛苦相对称的清澈，</a:t>
            </a:r>
            <a:endParaRPr kumimoji="1" lang="en-US" altLang="zh-CN" sz="2800" b="1" dirty="0">
              <a:solidFill>
                <a:srgbClr val="7030A0"/>
              </a:solidFill>
              <a:latin typeface="FangSong" panose="02010609060101010101" pitchFamily="49" charset="-122"/>
              <a:ea typeface="FangSong" panose="02010609060101010101" pitchFamily="49" charset="-122"/>
            </a:endParaRPr>
          </a:p>
          <a:p>
            <a:endParaRPr kumimoji="1" lang="en-US" altLang="zh-CN" sz="2800" b="1" dirty="0">
              <a:solidFill>
                <a:srgbClr val="7030A0"/>
              </a:solidFill>
              <a:latin typeface="FangSong" panose="02010609060101010101" pitchFamily="49" charset="-122"/>
              <a:ea typeface="FangSong" panose="02010609060101010101" pitchFamily="49" charset="-122"/>
            </a:endParaRPr>
          </a:p>
          <a:p>
            <a:r>
              <a:rPr kumimoji="1" lang="zh-CN" altLang="en-US" sz="2800" b="1" dirty="0">
                <a:solidFill>
                  <a:srgbClr val="7030A0"/>
                </a:solidFill>
                <a:latin typeface="FangSong" panose="02010609060101010101" pitchFamily="49" charset="-122"/>
                <a:ea typeface="FangSong" panose="02010609060101010101" pitchFamily="49" charset="-122"/>
              </a:rPr>
              <a:t>与绝望相均衡的坚韧。</a:t>
            </a:r>
            <a:endParaRPr kumimoji="1" lang="en-US" altLang="zh-CN" sz="2800" b="1" dirty="0">
              <a:solidFill>
                <a:srgbClr val="7030A0"/>
              </a:solidFill>
              <a:latin typeface="FangSong" panose="02010609060101010101" pitchFamily="49" charset="-122"/>
              <a:ea typeface="FangSong" panose="02010609060101010101" pitchFamily="49" charset="-122"/>
            </a:endParaRPr>
          </a:p>
          <a:p>
            <a:endParaRPr kumimoji="1" lang="en-US" altLang="zh-CN" sz="2800" dirty="0"/>
          </a:p>
          <a:p>
            <a:pPr algn="r"/>
            <a:r>
              <a:rPr kumimoji="1" lang="en-US" altLang="zh-CN" sz="2400" dirty="0">
                <a:solidFill>
                  <a:srgbClr val="8067AE"/>
                </a:solidFill>
                <a:latin typeface="FangSong" panose="02010609060101010101" pitchFamily="49" charset="-122"/>
                <a:ea typeface="FangSong" panose="02010609060101010101" pitchFamily="49" charset="-122"/>
              </a:rPr>
              <a:t>——[</a:t>
            </a:r>
            <a:r>
              <a:rPr kumimoji="1" lang="zh-CN" altLang="en-US" sz="2400" dirty="0">
                <a:solidFill>
                  <a:srgbClr val="8067AE"/>
                </a:solidFill>
                <a:latin typeface="FangSong" panose="02010609060101010101" pitchFamily="49" charset="-122"/>
                <a:ea typeface="FangSong" panose="02010609060101010101" pitchFamily="49" charset="-122"/>
              </a:rPr>
              <a:t>法</a:t>
            </a:r>
            <a:r>
              <a:rPr kumimoji="1" lang="en-US" altLang="zh-CN" sz="2400" dirty="0">
                <a:solidFill>
                  <a:srgbClr val="8067AE"/>
                </a:solidFill>
                <a:latin typeface="FangSong" panose="02010609060101010101" pitchFamily="49" charset="-122"/>
                <a:ea typeface="FangSong" panose="02010609060101010101" pitchFamily="49" charset="-122"/>
              </a:rPr>
              <a:t>]</a:t>
            </a:r>
            <a:r>
              <a:rPr kumimoji="1" lang="zh-CN" altLang="en-US" sz="2400" dirty="0">
                <a:solidFill>
                  <a:srgbClr val="8067AE"/>
                </a:solidFill>
                <a:latin typeface="FangSong" panose="02010609060101010101" pitchFamily="49" charset="-122"/>
                <a:ea typeface="FangSong" panose="02010609060101010101" pitchFamily="49" charset="-122"/>
              </a:rPr>
              <a:t>勒内</a:t>
            </a:r>
            <a:r>
              <a:rPr kumimoji="1" lang="en-US" altLang="zh-CN" sz="2400">
                <a:solidFill>
                  <a:srgbClr val="8067AE"/>
                </a:solidFill>
                <a:latin typeface="FangSong" panose="02010609060101010101" pitchFamily="49" charset="-122"/>
                <a:ea typeface="FangSong" panose="02010609060101010101" pitchFamily="49" charset="-122"/>
              </a:rPr>
              <a:t>·</a:t>
            </a:r>
            <a:r>
              <a:rPr kumimoji="1" lang="zh-CN" altLang="en-US" sz="2400">
                <a:solidFill>
                  <a:srgbClr val="8067AE"/>
                </a:solidFill>
                <a:latin typeface="FangSong" panose="02010609060101010101" pitchFamily="49" charset="-122"/>
                <a:ea typeface="FangSong" panose="02010609060101010101" pitchFamily="49" charset="-122"/>
              </a:rPr>
              <a:t>夏</a:t>
            </a:r>
            <a:r>
              <a:rPr kumimoji="1" lang="zh-CN" altLang="en-US" sz="2400" dirty="0">
                <a:solidFill>
                  <a:srgbClr val="8067AE"/>
                </a:solidFill>
                <a:latin typeface="FangSong" panose="02010609060101010101" pitchFamily="49" charset="-122"/>
                <a:ea typeface="FangSong" panose="02010609060101010101" pitchFamily="49" charset="-122"/>
              </a:rPr>
              <a:t>尔</a:t>
            </a:r>
            <a:r>
              <a:rPr kumimoji="1" lang="en-US" altLang="zh-CN" sz="2400" dirty="0">
                <a:solidFill>
                  <a:srgbClr val="8067AE"/>
                </a:solidFill>
                <a:latin typeface="FangSong" panose="02010609060101010101" pitchFamily="49" charset="-122"/>
                <a:ea typeface="FangSong" panose="02010609060101010101" pitchFamily="49" charset="-122"/>
              </a:rPr>
              <a:t>《</a:t>
            </a:r>
            <a:r>
              <a:rPr kumimoji="1" lang="zh-CN" altLang="en-US" sz="2400" dirty="0">
                <a:solidFill>
                  <a:srgbClr val="8067AE"/>
                </a:solidFill>
                <a:latin typeface="FangSong" panose="02010609060101010101" pitchFamily="49" charset="-122"/>
                <a:ea typeface="FangSong" panose="02010609060101010101" pitchFamily="49" charset="-122"/>
              </a:rPr>
              <a:t>筛分机</a:t>
            </a:r>
            <a:r>
              <a:rPr kumimoji="1" lang="en-US" altLang="zh-CN" sz="2400" dirty="0">
                <a:solidFill>
                  <a:srgbClr val="8067AE"/>
                </a:solidFill>
                <a:latin typeface="FangSong" panose="02010609060101010101" pitchFamily="49" charset="-122"/>
                <a:ea typeface="FangSong" panose="02010609060101010101" pitchFamily="49" charset="-122"/>
              </a:rPr>
              <a:t>》</a:t>
            </a:r>
          </a:p>
        </p:txBody>
      </p:sp>
    </p:spTree>
    <p:extLst>
      <p:ext uri="{BB962C8B-B14F-4D97-AF65-F5344CB8AC3E}">
        <p14:creationId xmlns:p14="http://schemas.microsoft.com/office/powerpoint/2010/main" val="1093806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4749800" y="2667000"/>
            <a:ext cx="26924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dirty="0" err="1">
                <a:solidFill>
                  <a:srgbClr val="7030A0"/>
                </a:solidFill>
                <a:latin typeface="Source Han Serif CN" panose="02020400000000000000" pitchFamily="18" charset="-128"/>
                <a:ea typeface="Source Han Serif CN" panose="02020400000000000000" pitchFamily="18" charset="-128"/>
                <a:cs typeface="Noto Sans SC"/>
                <a:sym typeface="Noto Sans SC"/>
              </a:rPr>
              <a:t>感谢垂听</a:t>
            </a:r>
            <a:endParaRPr lang="en-US" sz="1100" dirty="0">
              <a:solidFill>
                <a:srgbClr val="7030A0"/>
              </a:solidFill>
              <a:latin typeface="Source Han Serif CN" panose="02020400000000000000" pitchFamily="18" charset="-128"/>
              <a:ea typeface="Source Han Serif CN" panose="02020400000000000000" pitchFamily="18" charset="-128"/>
            </a:endParaRPr>
          </a:p>
        </p:txBody>
      </p:sp>
      <p:sp>
        <p:nvSpPr>
          <p:cNvPr id="5" name="AutoShape 5"/>
          <p:cNvSpPr/>
          <p:nvPr/>
        </p:nvSpPr>
        <p:spPr>
          <a:xfrm>
            <a:off x="3556000" y="3429000"/>
            <a:ext cx="5080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600" b="1" i="0" u="none" strike="noStrike" dirty="0">
                <a:solidFill>
                  <a:srgbClr val="7030A0"/>
                </a:solidFill>
                <a:latin typeface="Times New Roman" panose="02020603050405020304" pitchFamily="18" charset="0"/>
                <a:ea typeface="Noto Sans SC"/>
                <a:cs typeface="Times New Roman" panose="02020603050405020304" pitchFamily="18" charset="0"/>
                <a:sym typeface="Noto Sans SC"/>
              </a:rPr>
              <a:t>THANKS FOR LISTENING</a:t>
            </a:r>
            <a:endParaRPr lang="en-US" sz="1100" b="1" dirty="0">
              <a:solidFill>
                <a:srgbClr val="7030A0"/>
              </a:solidFill>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2793596-50F5-AF71-45B6-24860999380D}"/>
              </a:ext>
            </a:extLst>
          </p:cNvPr>
          <p:cNvSpPr txBox="1"/>
          <p:nvPr/>
        </p:nvSpPr>
        <p:spPr>
          <a:xfrm>
            <a:off x="841828" y="2028616"/>
            <a:ext cx="10508343" cy="2800767"/>
          </a:xfrm>
          <a:prstGeom prst="rect">
            <a:avLst/>
          </a:prstGeom>
          <a:noFill/>
        </p:spPr>
        <p:txBody>
          <a:bodyPr wrap="square" rtlCol="0">
            <a:spAutoFit/>
          </a:bodyPr>
          <a:lstStyle/>
          <a:p>
            <a:r>
              <a:rPr kumimoji="1" lang="zh-CN" altLang="en-US" sz="2800" b="1" dirty="0">
                <a:solidFill>
                  <a:srgbClr val="7030A0"/>
                </a:solidFill>
                <a:latin typeface="Source Han Serif CN" panose="02020400000000000000" pitchFamily="18" charset="-128"/>
                <a:ea typeface="Source Han Serif CN" panose="02020400000000000000" pitchFamily="18" charset="-128"/>
              </a:rPr>
              <a:t>小组成员名单：某同学  何飞儒  某同学  某同学  某同学</a:t>
            </a:r>
            <a:endParaRPr kumimoji="1" lang="en-US" altLang="zh-CN" sz="2800" b="1" dirty="0">
              <a:solidFill>
                <a:srgbClr val="7030A0"/>
              </a:solidFill>
              <a:latin typeface="Source Han Serif CN" panose="02020400000000000000" pitchFamily="18" charset="-128"/>
              <a:ea typeface="Source Han Serif CN" panose="02020400000000000000" pitchFamily="18" charset="-128"/>
            </a:endParaRPr>
          </a:p>
          <a:p>
            <a:endParaRPr kumimoji="1" lang="en-US" altLang="zh-CN" sz="2000" b="1" dirty="0">
              <a:solidFill>
                <a:srgbClr val="7030A0"/>
              </a:solidFill>
              <a:latin typeface="Source Han Serif CN" panose="02020400000000000000" pitchFamily="18" charset="-128"/>
              <a:ea typeface="Source Han Serif CN" panose="02020400000000000000" pitchFamily="18" charset="-128"/>
            </a:endParaRPr>
          </a:p>
          <a:p>
            <a:r>
              <a:rPr kumimoji="1" lang="zh-CN" altLang="en-US" sz="2800" b="1" dirty="0">
                <a:solidFill>
                  <a:srgbClr val="7030A0"/>
                </a:solidFill>
                <a:latin typeface="Source Han Serif CN" panose="02020400000000000000" pitchFamily="18" charset="-128"/>
                <a:ea typeface="Source Han Serif CN" panose="02020400000000000000" pitchFamily="18" charset="-128"/>
              </a:rPr>
              <a:t>主要参考文献：</a:t>
            </a:r>
            <a:endParaRPr kumimoji="1" lang="en-US" altLang="zh-CN" sz="2800" b="1" dirty="0">
              <a:solidFill>
                <a:srgbClr val="7030A0"/>
              </a:solidFill>
              <a:latin typeface="Source Han Serif CN" panose="02020400000000000000" pitchFamily="18" charset="-128"/>
              <a:ea typeface="Source Han Serif CN" panose="02020400000000000000" pitchFamily="18" charset="-128"/>
            </a:endParaRPr>
          </a:p>
          <a:p>
            <a:r>
              <a:rPr kumimoji="1" lang="en-US" altLang="zh-CN" sz="2000" dirty="0">
                <a:solidFill>
                  <a:srgbClr val="7030A0"/>
                </a:solidFill>
                <a:latin typeface="FangSong" panose="02010609060101010101" pitchFamily="49" charset="-122"/>
                <a:ea typeface="FangSong" panose="02010609060101010101" pitchFamily="49" charset="-122"/>
              </a:rPr>
              <a:t>[1]</a:t>
            </a:r>
            <a:r>
              <a:rPr kumimoji="1" lang="zh-CN" altLang="en-US" sz="2000" dirty="0">
                <a:solidFill>
                  <a:srgbClr val="7030A0"/>
                </a:solidFill>
                <a:latin typeface="FangSong" panose="02010609060101010101" pitchFamily="49" charset="-122"/>
                <a:ea typeface="FangSong" panose="02010609060101010101" pitchFamily="49" charset="-122"/>
              </a:rPr>
              <a:t>王建朗</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再议近代中国的革命与改良</a:t>
            </a:r>
            <a:r>
              <a:rPr kumimoji="1" lang="en-US" altLang="zh-CN" sz="2000" dirty="0">
                <a:solidFill>
                  <a:srgbClr val="7030A0"/>
                </a:solidFill>
                <a:latin typeface="FangSong" panose="02010609060101010101" pitchFamily="49" charset="-122"/>
                <a:ea typeface="FangSong" panose="02010609060101010101" pitchFamily="49" charset="-122"/>
              </a:rPr>
              <a:t>[J].</a:t>
            </a:r>
            <a:r>
              <a:rPr kumimoji="1" lang="zh-CN" altLang="en-US" sz="2000" dirty="0">
                <a:solidFill>
                  <a:srgbClr val="7030A0"/>
                </a:solidFill>
                <a:latin typeface="FangSong" panose="02010609060101010101" pitchFamily="49" charset="-122"/>
                <a:ea typeface="FangSong" panose="02010609060101010101" pitchFamily="49" charset="-122"/>
              </a:rPr>
              <a:t>苏区研究</a:t>
            </a:r>
            <a:r>
              <a:rPr kumimoji="1" lang="en-US" altLang="zh-CN" sz="2000" dirty="0">
                <a:solidFill>
                  <a:srgbClr val="7030A0"/>
                </a:solidFill>
                <a:latin typeface="FangSong" panose="02010609060101010101" pitchFamily="49" charset="-122"/>
                <a:ea typeface="FangSong" panose="02010609060101010101" pitchFamily="49" charset="-122"/>
              </a:rPr>
              <a:t>,2017,(04):5-13.</a:t>
            </a:r>
          </a:p>
          <a:p>
            <a:r>
              <a:rPr kumimoji="1" lang="en-US" altLang="zh-CN" sz="2000" dirty="0">
                <a:solidFill>
                  <a:srgbClr val="7030A0"/>
                </a:solidFill>
                <a:latin typeface="FangSong" panose="02010609060101010101" pitchFamily="49" charset="-122"/>
                <a:ea typeface="FangSong" panose="02010609060101010101" pitchFamily="49" charset="-122"/>
              </a:rPr>
              <a:t>[2]</a:t>
            </a:r>
            <a:r>
              <a:rPr kumimoji="1" lang="zh-CN" altLang="en-US" sz="2000" dirty="0">
                <a:solidFill>
                  <a:srgbClr val="7030A0"/>
                </a:solidFill>
                <a:latin typeface="FangSong" panose="02010609060101010101" pitchFamily="49" charset="-122"/>
                <a:ea typeface="FangSong" panose="02010609060101010101" pitchFamily="49" charset="-122"/>
              </a:rPr>
              <a:t>赵云田</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清末十年改革与革命述论</a:t>
            </a:r>
            <a:r>
              <a:rPr kumimoji="1" lang="en-US" altLang="zh-CN" sz="2000" dirty="0">
                <a:solidFill>
                  <a:srgbClr val="7030A0"/>
                </a:solidFill>
                <a:latin typeface="FangSong" panose="02010609060101010101" pitchFamily="49" charset="-122"/>
                <a:ea typeface="FangSong" panose="02010609060101010101" pitchFamily="49" charset="-122"/>
              </a:rPr>
              <a:t>[J].</a:t>
            </a:r>
            <a:r>
              <a:rPr kumimoji="1" lang="zh-CN" altLang="en-US" sz="2000" dirty="0">
                <a:solidFill>
                  <a:srgbClr val="7030A0"/>
                </a:solidFill>
                <a:latin typeface="FangSong" panose="02010609060101010101" pitchFamily="49" charset="-122"/>
                <a:ea typeface="FangSong" panose="02010609060101010101" pitchFamily="49" charset="-122"/>
              </a:rPr>
              <a:t>明清论丛</a:t>
            </a:r>
            <a:r>
              <a:rPr kumimoji="1" lang="en-US" altLang="zh-CN" sz="2000" dirty="0">
                <a:solidFill>
                  <a:srgbClr val="7030A0"/>
                </a:solidFill>
                <a:latin typeface="FangSong" panose="02010609060101010101" pitchFamily="49" charset="-122"/>
                <a:ea typeface="FangSong" panose="02010609060101010101" pitchFamily="49" charset="-122"/>
              </a:rPr>
              <a:t>,2011,(00):12-20.</a:t>
            </a:r>
          </a:p>
          <a:p>
            <a:r>
              <a:rPr kumimoji="1" lang="en-US" altLang="zh-CN" sz="2000" dirty="0">
                <a:solidFill>
                  <a:srgbClr val="7030A0"/>
                </a:solidFill>
                <a:latin typeface="FangSong" panose="02010609060101010101" pitchFamily="49" charset="-122"/>
                <a:ea typeface="FangSong" panose="02010609060101010101" pitchFamily="49" charset="-122"/>
              </a:rPr>
              <a:t>[3]</a:t>
            </a:r>
            <a:r>
              <a:rPr kumimoji="1" lang="zh-CN" altLang="en-US" sz="2000" dirty="0">
                <a:solidFill>
                  <a:srgbClr val="7030A0"/>
                </a:solidFill>
                <a:latin typeface="FangSong" panose="02010609060101010101" pitchFamily="49" charset="-122"/>
                <a:ea typeface="FangSong" panose="02010609060101010101" pitchFamily="49" charset="-122"/>
              </a:rPr>
              <a:t>李元鹏</a:t>
            </a:r>
            <a:r>
              <a:rPr kumimoji="1" lang="en-US" altLang="zh-CN" sz="2000" dirty="0">
                <a:solidFill>
                  <a:srgbClr val="7030A0"/>
                </a:solidFill>
                <a:latin typeface="FangSong" panose="02010609060101010101" pitchFamily="49" charset="-122"/>
                <a:ea typeface="FangSong" panose="02010609060101010101" pitchFamily="49" charset="-122"/>
              </a:rPr>
              <a:t>.1905—1907</a:t>
            </a:r>
            <a:r>
              <a:rPr kumimoji="1" lang="zh-CN" altLang="en-US" sz="2000" dirty="0">
                <a:solidFill>
                  <a:srgbClr val="7030A0"/>
                </a:solidFill>
                <a:latin typeface="FangSong" panose="02010609060101010101" pitchFamily="49" charset="-122"/>
                <a:ea typeface="FangSong" panose="02010609060101010101" pitchFamily="49" charset="-122"/>
              </a:rPr>
              <a:t>年革命派与改良派的论战</a:t>
            </a:r>
            <a:r>
              <a:rPr kumimoji="1" lang="en-US" altLang="zh-CN" sz="2000" dirty="0">
                <a:solidFill>
                  <a:srgbClr val="7030A0"/>
                </a:solidFill>
                <a:latin typeface="FangSong" panose="02010609060101010101" pitchFamily="49" charset="-122"/>
                <a:ea typeface="FangSong" panose="02010609060101010101" pitchFamily="49" charset="-122"/>
              </a:rPr>
              <a:t>[J].</a:t>
            </a:r>
            <a:r>
              <a:rPr kumimoji="1" lang="zh-CN" altLang="en-US" sz="2000" dirty="0">
                <a:solidFill>
                  <a:srgbClr val="7030A0"/>
                </a:solidFill>
                <a:latin typeface="FangSong" panose="02010609060101010101" pitchFamily="49" charset="-122"/>
                <a:ea typeface="FangSong" panose="02010609060101010101" pitchFamily="49" charset="-122"/>
              </a:rPr>
              <a:t>思想理论教育导刊</a:t>
            </a:r>
            <a:r>
              <a:rPr kumimoji="1" lang="en-US" altLang="zh-CN" sz="2000" dirty="0">
                <a:solidFill>
                  <a:srgbClr val="7030A0"/>
                </a:solidFill>
                <a:latin typeface="FangSong" panose="02010609060101010101" pitchFamily="49" charset="-122"/>
                <a:ea typeface="FangSong" panose="02010609060101010101" pitchFamily="49" charset="-122"/>
              </a:rPr>
              <a:t>,2014,(01):37-41.</a:t>
            </a:r>
          </a:p>
          <a:p>
            <a:r>
              <a:rPr kumimoji="1" lang="en-US" altLang="zh-CN" sz="2000" dirty="0">
                <a:solidFill>
                  <a:srgbClr val="7030A0"/>
                </a:solidFill>
                <a:latin typeface="FangSong" panose="02010609060101010101" pitchFamily="49" charset="-122"/>
                <a:ea typeface="FangSong" panose="02010609060101010101" pitchFamily="49" charset="-122"/>
              </a:rPr>
              <a:t>[4]</a:t>
            </a:r>
            <a:r>
              <a:rPr kumimoji="1" lang="zh-CN" altLang="en-US" sz="2000" dirty="0">
                <a:solidFill>
                  <a:srgbClr val="7030A0"/>
                </a:solidFill>
                <a:latin typeface="FangSong" panose="02010609060101010101" pitchFamily="49" charset="-122"/>
                <a:ea typeface="FangSong" panose="02010609060101010101" pitchFamily="49" charset="-122"/>
              </a:rPr>
              <a:t>张枬</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王忍之</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辛亥革命前资产阶级革命派和改良派的斗争</a:t>
            </a:r>
            <a:r>
              <a:rPr kumimoji="1" lang="en-US" altLang="zh-CN" sz="2000" dirty="0">
                <a:solidFill>
                  <a:srgbClr val="7030A0"/>
                </a:solidFill>
                <a:latin typeface="FangSong" panose="02010609060101010101" pitchFamily="49" charset="-122"/>
                <a:ea typeface="FangSong" panose="02010609060101010101" pitchFamily="49" charset="-122"/>
              </a:rPr>
              <a:t>[J].</a:t>
            </a:r>
            <a:r>
              <a:rPr kumimoji="1" lang="zh-CN" altLang="en-US" sz="2000" dirty="0">
                <a:solidFill>
                  <a:srgbClr val="7030A0"/>
                </a:solidFill>
                <a:latin typeface="FangSong" panose="02010609060101010101" pitchFamily="49" charset="-122"/>
                <a:ea typeface="FangSong" panose="02010609060101010101" pitchFamily="49" charset="-122"/>
              </a:rPr>
              <a:t>历史研究</a:t>
            </a:r>
            <a:r>
              <a:rPr kumimoji="1" lang="en-US" altLang="zh-CN" sz="2000" dirty="0">
                <a:solidFill>
                  <a:srgbClr val="7030A0"/>
                </a:solidFill>
                <a:latin typeface="FangSong" panose="02010609060101010101" pitchFamily="49" charset="-122"/>
                <a:ea typeface="FangSong" panose="02010609060101010101" pitchFamily="49" charset="-122"/>
              </a:rPr>
              <a:t>,1962,(06):32-46.</a:t>
            </a:r>
          </a:p>
          <a:p>
            <a:r>
              <a:rPr kumimoji="1" lang="en-US" altLang="zh-CN" sz="2000" dirty="0">
                <a:solidFill>
                  <a:srgbClr val="7030A0"/>
                </a:solidFill>
                <a:latin typeface="FangSong" panose="02010609060101010101" pitchFamily="49" charset="-122"/>
                <a:ea typeface="FangSong" panose="02010609060101010101" pitchFamily="49" charset="-122"/>
              </a:rPr>
              <a:t>[5]</a:t>
            </a:r>
            <a:r>
              <a:rPr kumimoji="1" lang="zh-CN" altLang="en-US" sz="2000" dirty="0">
                <a:solidFill>
                  <a:srgbClr val="7030A0"/>
                </a:solidFill>
                <a:latin typeface="FangSong" panose="02010609060101010101" pitchFamily="49" charset="-122"/>
                <a:ea typeface="FangSong" panose="02010609060101010101" pitchFamily="49" charset="-122"/>
              </a:rPr>
              <a:t>曾永玲</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民报</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与</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新民丛报</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之争</a:t>
            </a:r>
            <a:r>
              <a:rPr kumimoji="1" lang="en-US" altLang="zh-CN" sz="2000" dirty="0">
                <a:solidFill>
                  <a:srgbClr val="7030A0"/>
                </a:solidFill>
                <a:latin typeface="FangSong" panose="02010609060101010101" pitchFamily="49" charset="-122"/>
                <a:ea typeface="FangSong" panose="02010609060101010101" pitchFamily="49" charset="-122"/>
              </a:rPr>
              <a:t>[J].</a:t>
            </a:r>
            <a:r>
              <a:rPr kumimoji="1" lang="zh-CN" altLang="en-US" sz="2000" dirty="0">
                <a:solidFill>
                  <a:srgbClr val="7030A0"/>
                </a:solidFill>
                <a:latin typeface="FangSong" panose="02010609060101010101" pitchFamily="49" charset="-122"/>
                <a:ea typeface="FangSong" panose="02010609060101010101" pitchFamily="49" charset="-122"/>
              </a:rPr>
              <a:t>松辽学刊</a:t>
            </a:r>
            <a:r>
              <a:rPr kumimoji="1" lang="en-US" altLang="zh-CN" sz="2000" dirty="0">
                <a:solidFill>
                  <a:srgbClr val="7030A0"/>
                </a:solidFill>
                <a:latin typeface="FangSong" panose="02010609060101010101" pitchFamily="49" charset="-122"/>
                <a:ea typeface="FangSong" panose="02010609060101010101" pitchFamily="49" charset="-122"/>
              </a:rPr>
              <a:t>(</a:t>
            </a:r>
            <a:r>
              <a:rPr kumimoji="1" lang="zh-CN" altLang="en-US" sz="2000" dirty="0">
                <a:solidFill>
                  <a:srgbClr val="7030A0"/>
                </a:solidFill>
                <a:latin typeface="FangSong" panose="02010609060101010101" pitchFamily="49" charset="-122"/>
                <a:ea typeface="FangSong" panose="02010609060101010101" pitchFamily="49" charset="-122"/>
              </a:rPr>
              <a:t>社会科学版</a:t>
            </a:r>
            <a:r>
              <a:rPr kumimoji="1" lang="en-US" altLang="zh-CN" sz="2000" dirty="0">
                <a:solidFill>
                  <a:srgbClr val="7030A0"/>
                </a:solidFill>
                <a:latin typeface="FangSong" panose="02010609060101010101" pitchFamily="49" charset="-122"/>
                <a:ea typeface="FangSong" panose="02010609060101010101" pitchFamily="49" charset="-122"/>
              </a:rPr>
              <a:t>),1985,(03):75-79.</a:t>
            </a:r>
            <a:endParaRPr kumimoji="1" lang="zh-CN" altLang="en-US" sz="2000" dirty="0">
              <a:solidFill>
                <a:srgbClr val="7030A0"/>
              </a:solidFill>
              <a:latin typeface="FangSong" panose="02010609060101010101" pitchFamily="49" charset="-122"/>
              <a:ea typeface="FangSong" panose="02010609060101010101" pitchFamily="49" charset="-122"/>
            </a:endParaRPr>
          </a:p>
        </p:txBody>
      </p:sp>
    </p:spTree>
    <p:extLst>
      <p:ext uri="{BB962C8B-B14F-4D97-AF65-F5344CB8AC3E}">
        <p14:creationId xmlns:p14="http://schemas.microsoft.com/office/powerpoint/2010/main" val="1184930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771</TotalTime>
  <Words>1203</Words>
  <Application>Microsoft Macintosh PowerPoint</Application>
  <PresentationFormat>宽屏</PresentationFormat>
  <Paragraphs>190</Paragraphs>
  <Slides>23</Slides>
  <Notes>20</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23</vt:i4>
      </vt:variant>
    </vt:vector>
  </HeadingPairs>
  <TitlesOfParts>
    <vt:vector size="29" baseType="lpstr">
      <vt:lpstr>Times New Roman</vt:lpstr>
      <vt:lpstr>FangSong</vt:lpstr>
      <vt:lpstr>Arial</vt:lpstr>
      <vt:lpstr>Source Han Serif CN</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22</cp:revision>
  <dcterms:modified xsi:type="dcterms:W3CDTF">2026-04-12T02:54:54Z</dcterms:modified>
</cp:coreProperties>
</file>