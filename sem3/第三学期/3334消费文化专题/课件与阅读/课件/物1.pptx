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62" r:id="rId2"/>
    <p:sldId id="363" r:id="rId3"/>
    <p:sldId id="370" r:id="rId4"/>
    <p:sldId id="538" r:id="rId5"/>
    <p:sldId id="688" r:id="rId6"/>
    <p:sldId id="418" r:id="rId7"/>
    <p:sldId id="676" r:id="rId8"/>
    <p:sldId id="616" r:id="rId9"/>
    <p:sldId id="617" r:id="rId10"/>
    <p:sldId id="369" r:id="rId11"/>
    <p:sldId id="365" r:id="rId12"/>
    <p:sldId id="386" r:id="rId13"/>
    <p:sldId id="404" r:id="rId14"/>
    <p:sldId id="405" r:id="rId15"/>
    <p:sldId id="411" r:id="rId16"/>
    <p:sldId id="534" r:id="rId17"/>
    <p:sldId id="331" r:id="rId18"/>
    <p:sldId id="629" r:id="rId19"/>
    <p:sldId id="371" r:id="rId20"/>
    <p:sldId id="636" r:id="rId21"/>
    <p:sldId id="333" r:id="rId22"/>
    <p:sldId id="332" r:id="rId23"/>
    <p:sldId id="366" r:id="rId24"/>
    <p:sldId id="654" r:id="rId25"/>
    <p:sldId id="373" r:id="rId26"/>
    <p:sldId id="377" r:id="rId27"/>
    <p:sldId id="627" r:id="rId28"/>
    <p:sldId id="376" r:id="rId29"/>
    <p:sldId id="382" r:id="rId30"/>
    <p:sldId id="637" r:id="rId31"/>
    <p:sldId id="384" r:id="rId32"/>
    <p:sldId id="380" r:id="rId33"/>
    <p:sldId id="374" r:id="rId34"/>
    <p:sldId id="334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6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70191-7EDC-4160-9AFC-459AD8F30EC8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0EC29-5552-4E6A-A7B3-D96AF41427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550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5BDA7D0-E785-47A2-A813-AA26187A73D0}" type="slidenum">
              <a:rPr lang="en-US" altLang="zh-CN" smtClean="0">
                <a:solidFill>
                  <a:srgbClr val="000000"/>
                </a:solidFill>
              </a:rPr>
              <a:pPr/>
              <a:t>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579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A0FEF-9F95-41EB-9086-AA9ED53CB8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256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7586DD-6F7D-401C-BD6D-B8CFC4901E58}" type="slidenum">
              <a:rPr lang="en-US" altLang="zh-CN" smtClean="0">
                <a:solidFill>
                  <a:srgbClr val="000000"/>
                </a:solidFill>
              </a:rPr>
              <a:pPr/>
              <a:t>10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66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15BD859-BAA0-4B46-92BA-B2471841F287}" type="slidenum">
              <a:rPr lang="en-US" altLang="zh-CN" smtClean="0">
                <a:solidFill>
                  <a:srgbClr val="000000"/>
                </a:solidFill>
              </a:rPr>
              <a:pPr/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889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A0EB4-A529-4335-9B3E-020BB0F9FF75}" type="slidenum">
              <a:rPr lang="zh-CN" altLang="en-US" smtClean="0">
                <a:solidFill>
                  <a:prstClr val="black"/>
                </a:solidFill>
              </a:rPr>
              <a:pPr/>
              <a:t>23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023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FF8C0-E241-126A-A919-383CDBE2F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87E9A-2CF7-DC28-5E97-E3821A36A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C7BB64-DF3C-6E78-398E-78C64435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38185E-528B-ADD9-0D34-59CB7054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25F34D-E4EA-93F6-7180-E80BCC90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05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06BED-D09A-3562-FBD8-76DEE1FC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96F5E8-2FDA-DEEC-FC65-573235D7F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5E564-FE07-C06A-1589-6D388BB59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3DAB4-7824-56A2-4801-B3A2EB59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ACEFF5-857F-523D-AB72-38B4E38D0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68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B9E5A-1140-CCE7-49D5-B916ED8A8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6AD1FF-0D46-F6FE-D211-18C72A61C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99D8DE-C3F8-8441-40F6-073C093FE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D3412-95E4-89E5-9F57-DFD23805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6E8B2D-D4EE-D2F8-0016-E79118D8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80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E93EF-47F7-0047-7E58-78B4DAA9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980E21-EA8D-C661-555A-1FE51E8BA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056044-C422-4911-9BAB-5AC837FE4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11735E-ADC3-107A-94AA-CD8746D2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30B335-0F5A-3648-C7A2-6B83CA02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2EBFA6-9FAC-2D3E-903A-9E74AA5C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4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BEA13-AF2D-5380-0F03-EFF46DAA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CAFDB1-B7DB-02FB-7D47-F87C20ACA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C25B0B-E7F3-F989-1AB5-208B4EE0A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965085-4EE2-D342-3FDC-1C0E5A4C4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7ABEC2-6C32-BC2A-76E5-EA3FAB739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79009B-3088-18E6-8EF5-44AC2AB3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195B04-0C2D-C16C-FF9C-08DF5ECF8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E37825-182A-007A-495F-B526B82F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79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EF802-A754-3478-5549-5DF5376E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0D3192-8791-4B26-FD22-23926079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25F050-72B0-85B9-E4C6-7F17EACAA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FA1AB9-4CBA-923B-A6AB-91E1F3EE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27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1BFDC6-0A2E-3DDE-74B7-193EC7603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6EE0E9-2476-E143-BE01-7EA61B05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35D2AF-A72B-B566-846E-15CE938C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86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05551-F771-18D4-E639-89A2221D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3A557D-F475-6F52-A108-B0F4BCB7B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1C6419-E16B-7657-58E1-8CA543437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693122-8D2C-5B67-6329-7B5B1E70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F035F3-8C73-0D38-7BEF-A00425F4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33504F-102E-9985-14B4-5BB531D4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59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C1530-B096-2E23-34CB-DE9186A7C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9D5ECE-B951-8A5A-B532-8617814CA6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57E747-8374-08F8-1EF2-59F7FF39B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B0FBE0-F8B7-BD67-09CA-C9A27785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2F42FF-CA10-98B6-1C90-6BE4C3E0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38EE63-9F81-0330-2AE0-7DF09D87F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10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78F94-76F0-9871-4D5A-8E4B8F85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FEEA5C-A637-078E-F270-94FD14DC4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06B370-DF9A-0C68-C14B-3868B247D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0EE11-D7D0-66AB-BD5C-FAD920DE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354D73-CD34-9F34-1631-FEC2AE03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2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3517C2-C289-B0DE-CF79-08B5BF581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0FDDDE-34CA-F922-BA34-82E171C5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961DE-2E25-3274-27D5-FC8FDA72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6B7347-8EEF-8649-D553-390CC3C7B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AD5DF5-50E7-DB20-72CE-1505E00B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859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964268" y="0"/>
            <a:ext cx="10227733" cy="6858000"/>
          </a:xfrm>
          <a:custGeom>
            <a:avLst/>
            <a:gdLst>
              <a:gd name="connsiteX0" fmla="*/ 0 w 10083800"/>
              <a:gd name="connsiteY0" fmla="*/ 0 h 6858000"/>
              <a:gd name="connsiteX1" fmla="*/ 10083800 w 10083800"/>
              <a:gd name="connsiteY1" fmla="*/ 0 h 6858000"/>
              <a:gd name="connsiteX2" fmla="*/ 10083800 w 10083800"/>
              <a:gd name="connsiteY2" fmla="*/ 6858000 h 6858000"/>
              <a:gd name="connsiteX3" fmla="*/ 0 w 10083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83800" h="6858000">
                <a:moveTo>
                  <a:pt x="0" y="0"/>
                </a:moveTo>
                <a:lnTo>
                  <a:pt x="10083800" y="0"/>
                </a:lnTo>
                <a:lnTo>
                  <a:pt x="10083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rtlCol="0"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0001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2159205" y="1432899"/>
            <a:ext cx="3992203" cy="3992202"/>
          </a:xfrm>
          <a:custGeom>
            <a:avLst/>
            <a:gdLst>
              <a:gd name="connsiteX0" fmla="*/ 0 w 3992202"/>
              <a:gd name="connsiteY0" fmla="*/ 0 h 3992202"/>
              <a:gd name="connsiteX1" fmla="*/ 3992202 w 3992202"/>
              <a:gd name="connsiteY1" fmla="*/ 0 h 3992202"/>
              <a:gd name="connsiteX2" fmla="*/ 3992202 w 3992202"/>
              <a:gd name="connsiteY2" fmla="*/ 3992202 h 3992202"/>
              <a:gd name="connsiteX3" fmla="*/ 0 w 3992202"/>
              <a:gd name="connsiteY3" fmla="*/ 3992202 h 3992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2202" h="3992202">
                <a:moveTo>
                  <a:pt x="0" y="0"/>
                </a:moveTo>
                <a:lnTo>
                  <a:pt x="3992202" y="0"/>
                </a:lnTo>
                <a:lnTo>
                  <a:pt x="3992202" y="3992202"/>
                </a:lnTo>
                <a:lnTo>
                  <a:pt x="0" y="3992202"/>
                </a:lnTo>
                <a:close/>
              </a:path>
            </a:pathLst>
          </a:custGeom>
        </p:spPr>
        <p:txBody>
          <a:bodyPr rtlCol="0"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6453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1964267" y="2"/>
            <a:ext cx="7696200" cy="6017079"/>
          </a:xfrm>
          <a:custGeom>
            <a:avLst/>
            <a:gdLst>
              <a:gd name="connsiteX0" fmla="*/ 0 w 7915761"/>
              <a:gd name="connsiteY0" fmla="*/ 0 h 6017079"/>
              <a:gd name="connsiteX1" fmla="*/ 7915761 w 7915761"/>
              <a:gd name="connsiteY1" fmla="*/ 0 h 6017079"/>
              <a:gd name="connsiteX2" fmla="*/ 7915761 w 7915761"/>
              <a:gd name="connsiteY2" fmla="*/ 6017079 h 6017079"/>
              <a:gd name="connsiteX3" fmla="*/ 0 w 7915761"/>
              <a:gd name="connsiteY3" fmla="*/ 6017079 h 6017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5761" h="6017079">
                <a:moveTo>
                  <a:pt x="0" y="0"/>
                </a:moveTo>
                <a:lnTo>
                  <a:pt x="7915761" y="0"/>
                </a:lnTo>
                <a:lnTo>
                  <a:pt x="7915761" y="6017079"/>
                </a:lnTo>
                <a:lnTo>
                  <a:pt x="0" y="6017079"/>
                </a:lnTo>
                <a:close/>
              </a:path>
            </a:pathLst>
          </a:custGeom>
        </p:spPr>
        <p:txBody>
          <a:bodyPr rtlCol="0"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5605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29A6CA-EF09-7B5E-8305-38B7E4C1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35A2B6-05A5-BEEA-17C1-909B72290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94CC57-5B8E-268D-76C0-287F99F07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9EE1A-D94C-4226-B51D-6CA08EA01E3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F91E26-467F-AC99-865E-3A5B8F2BD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10BD14-85C3-E444-4F53-A81B748A6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5B216-B73A-4B90-8D42-F5CFB2C3A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118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9" r="969"/>
          <a:stretch>
            <a:fillRect/>
          </a:stretch>
        </p:blipFill>
        <p:spPr/>
      </p:pic>
      <p:sp>
        <p:nvSpPr>
          <p:cNvPr id="22" name="TextBox 21"/>
          <p:cNvSpPr txBox="1"/>
          <p:nvPr/>
        </p:nvSpPr>
        <p:spPr>
          <a:xfrm rot="16200000">
            <a:off x="1903413" y="4681538"/>
            <a:ext cx="733425" cy="184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600" b="1" spc="225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 Semi" charset="0"/>
                <a:ea typeface="Montserrat Light" charset="0"/>
                <a:cs typeface="Montserrat Light" charset="0"/>
              </a:rPr>
              <a:t>FASHION</a:t>
            </a:r>
            <a:endParaRPr lang="en-US" sz="600" spc="225" dirty="0">
              <a:solidFill>
                <a:prstClr val="black">
                  <a:lumMod val="85000"/>
                  <a:lumOff val="15000"/>
                </a:prstClr>
              </a:solidFill>
              <a:latin typeface="Montserrat Light" charset="0"/>
              <a:ea typeface="Montserrat Light" charset="0"/>
              <a:cs typeface="Montserrat Light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97200" y="857250"/>
            <a:ext cx="7670800" cy="5143500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75025" y="2978151"/>
            <a:ext cx="6915150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5400" spc="450" dirty="0">
                <a:solidFill>
                  <a:prstClr val="white"/>
                </a:solidFill>
                <a:latin typeface="造字工房黄金时代（非商用）粗体" pitchFamily="50" charset="-122"/>
                <a:ea typeface="造字工房黄金时代（非商用）粗体" pitchFamily="50" charset="-122"/>
                <a:cs typeface="Space Age" charset="0"/>
              </a:rPr>
              <a:t>“物”与消费社会</a:t>
            </a:r>
            <a:endParaRPr lang="en-US" sz="5400" spc="450" dirty="0">
              <a:solidFill>
                <a:prstClr val="white"/>
              </a:solidFill>
              <a:latin typeface="造字工房黄金时代（非商用）粗体" pitchFamily="50" charset="-122"/>
              <a:ea typeface="造字工房黄金时代（非商用）粗体" pitchFamily="50" charset="-122"/>
              <a:cs typeface="Space Ag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2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>
          <a:xfrm>
            <a:off x="489020" y="1590972"/>
            <a:ext cx="10972800" cy="114300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3200" dirty="0">
                <a:solidFill>
                  <a:srgbClr val="0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问题意识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625" y="1600201"/>
            <a:ext cx="11589744" cy="452596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>
              <a:buNone/>
              <a:defRPr/>
            </a:pPr>
            <a:endParaRPr lang="en-US" altLang="zh-CN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  <a:defRPr/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物品的物质与技术结构与文化引申意义的关系</a:t>
            </a:r>
            <a:endParaRPr lang="en-US" altLang="zh-CN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  <a:defRPr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制造物如何被纳入商业文化体系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9871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并非物体的客观体系</a:t>
            </a:r>
            <a:r>
              <a:rPr lang="zh-CN" altLang="en-US" sz="16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（物质性和社会性）</a:t>
            </a:r>
            <a:endParaRPr lang="en-US" altLang="zh-CN" sz="16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>
              <a:defRPr/>
            </a:pPr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物品成为工业品：非本质的部分不再留给偶然或个人的执行来进行处理</a:t>
            </a:r>
            <a:endParaRPr lang="en-US" altLang="zh-CN" sz="16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>
              <a:defRPr/>
            </a:pPr>
            <a:r>
              <a:rPr lang="zh-CN" altLang="en-US"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工业品非本质部分，由生产体制进行系统化处理</a:t>
            </a:r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，以维持其自身的目的性</a:t>
            </a:r>
            <a:endParaRPr lang="en-US" altLang="zh-CN" sz="24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>
              <a:defRPr/>
            </a:pPr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引申的意义将物品进行心理能量投注、商业化和个性化进入了文化体系</a:t>
            </a:r>
            <a:endParaRPr lang="en-US" altLang="zh-CN" sz="24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>
              <a:defRPr/>
            </a:pPr>
            <a:endParaRPr lang="en-US" altLang="zh-CN" sz="24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1249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3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0D9C661-13DD-2EEB-4CA8-DB68B9E8C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819" y="1569515"/>
            <a:ext cx="5454181" cy="32725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3C8BDB2-0660-E5A2-5512-D71C577AA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846" y="479286"/>
            <a:ext cx="4514850" cy="2524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1E20FD-A9B8-6194-B64F-62D2E27A1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243" y="3375301"/>
            <a:ext cx="3218811" cy="321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21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分钟嫩肤与刮胡功能必须配合意义引申</a:t>
            </a:r>
            <a:endParaRPr lang="en-US" altLang="zh-CN" sz="2400" dirty="0"/>
          </a:p>
          <a:p>
            <a:r>
              <a:rPr lang="zh-CN" altLang="en-US" sz="2400" dirty="0"/>
              <a:t>技术目的性才能进入文化层面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关系转向客体化</a:t>
            </a:r>
            <a:r>
              <a:rPr lang="en-US" altLang="zh-CN" sz="2400" dirty="0">
                <a:solidFill>
                  <a:srgbClr val="FF0000"/>
                </a:solidFill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人成为被处理的对象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人不是通过使用去“创造”，而是在使用中“丧失”</a:t>
            </a:r>
          </a:p>
        </p:txBody>
      </p:sp>
    </p:spTree>
    <p:extLst>
      <p:ext uri="{BB962C8B-B14F-4D97-AF65-F5344CB8AC3E}">
        <p14:creationId xmlns:p14="http://schemas.microsoft.com/office/powerpoint/2010/main" val="295735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8C992-B57A-967D-303D-621845B82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</a:t>
            </a:r>
            <a:r>
              <a:rPr lang="zh-CN" altLang="en-US" sz="2800" dirty="0">
                <a:latin typeface="+mn-ea"/>
                <a:ea typeface="+mn-ea"/>
              </a:rPr>
              <a:t>体系的理论基础</a:t>
            </a:r>
            <a:r>
              <a:rPr lang="en-US" altLang="zh-CN" sz="2800" dirty="0">
                <a:latin typeface="+mn-ea"/>
                <a:ea typeface="+mn-ea"/>
              </a:rPr>
              <a:t>—— </a:t>
            </a:r>
            <a:r>
              <a:rPr lang="zh-CN" altLang="en-US" sz="2800" dirty="0">
                <a:latin typeface="+mn-ea"/>
                <a:ea typeface="+mn-ea"/>
              </a:rPr>
              <a:t>马克思</a:t>
            </a:r>
            <a:r>
              <a:rPr lang="en-US" altLang="zh-CN" sz="2800" dirty="0">
                <a:latin typeface="+mn-ea"/>
                <a:ea typeface="+mn-ea"/>
              </a:rPr>
              <a:t>《1844</a:t>
            </a:r>
            <a:r>
              <a:rPr lang="zh-CN" altLang="en-US" sz="2800" dirty="0">
                <a:latin typeface="+mn-ea"/>
                <a:ea typeface="+mn-ea"/>
              </a:rPr>
              <a:t>年经济学手稿</a:t>
            </a:r>
            <a:r>
              <a:rPr lang="en-US" altLang="zh-CN" sz="2800" dirty="0">
                <a:latin typeface="+mn-ea"/>
                <a:ea typeface="+mn-ea"/>
              </a:rPr>
              <a:t>》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195FE9-4AFC-6653-E64A-7580394D2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61" y="1856310"/>
            <a:ext cx="12126539" cy="4351338"/>
          </a:xfrm>
        </p:spPr>
        <p:txBody>
          <a:bodyPr>
            <a:normAutofit/>
          </a:bodyPr>
          <a:lstStyle/>
          <a:p>
            <a:endParaRPr lang="en-US" altLang="zh-CN" sz="2400" dirty="0"/>
          </a:p>
          <a:p>
            <a:r>
              <a:rPr lang="zh-CN" altLang="en-US" sz="2400" dirty="0"/>
              <a:t>物品是人和世界之间关系的实践物</a:t>
            </a:r>
            <a:endParaRPr lang="en-US" altLang="zh-CN" sz="2400" dirty="0"/>
          </a:p>
          <a:p>
            <a:r>
              <a:rPr lang="zh-CN" altLang="en-US" sz="2400" dirty="0"/>
              <a:t>人不是在意识中唯心地自我复现，而是通过物创造性的复现自身</a:t>
            </a:r>
            <a:endParaRPr lang="en-US" altLang="zh-CN" sz="2400" dirty="0"/>
          </a:p>
          <a:p>
            <a:r>
              <a:rPr lang="zh-CN" altLang="en-US" sz="2400" dirty="0"/>
              <a:t>主体是客体之源，客体乃是主体的镜子</a:t>
            </a:r>
            <a:r>
              <a:rPr lang="zh-CN" altLang="en-US" sz="1600" dirty="0"/>
              <a:t>锄头、毛笔</a:t>
            </a:r>
            <a:r>
              <a:rPr lang="en-US" altLang="zh-CN" sz="1600" dirty="0"/>
              <a:t>……</a:t>
            </a:r>
          </a:p>
          <a:p>
            <a:r>
              <a:rPr lang="zh-CN" altLang="en-US" sz="2400" dirty="0"/>
              <a:t>物品存有的样态转变也是人的存有的异化状态</a:t>
            </a:r>
            <a:endParaRPr lang="en-US" altLang="zh-CN" sz="2400" dirty="0"/>
          </a:p>
          <a:p>
            <a:r>
              <a:rPr lang="zh-CN" altLang="en-US" sz="2400" dirty="0"/>
              <a:t>功能物“自由”和异化间的关联，映照人与人之间被物品生产联结又相互冷漠的关系</a:t>
            </a:r>
            <a:endParaRPr lang="en-US" altLang="zh-CN" sz="2400" dirty="0"/>
          </a:p>
          <a:p>
            <a:r>
              <a:rPr lang="zh-CN" altLang="en-US" sz="2400" dirty="0"/>
              <a:t>以此角度理解</a:t>
            </a:r>
            <a:r>
              <a:rPr lang="en-US" altLang="zh-CN" sz="2400" dirty="0"/>
              <a:t>《</a:t>
            </a:r>
            <a:r>
              <a:rPr lang="zh-CN" altLang="en-US" sz="2400" dirty="0"/>
              <a:t>物体系</a:t>
            </a:r>
            <a:r>
              <a:rPr lang="en-US" altLang="zh-CN" sz="2400" dirty="0"/>
              <a:t>》</a:t>
            </a:r>
            <a:r>
              <a:rPr lang="zh-CN" altLang="en-US" sz="2400" dirty="0"/>
              <a:t>中物品和象征符号之间的对立</a:t>
            </a:r>
          </a:p>
        </p:txBody>
      </p:sp>
    </p:spTree>
    <p:extLst>
      <p:ext uri="{BB962C8B-B14F-4D97-AF65-F5344CB8AC3E}">
        <p14:creationId xmlns:p14="http://schemas.microsoft.com/office/powerpoint/2010/main" val="111333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</a:t>
            </a:r>
            <a:r>
              <a:rPr lang="zh-CN" altLang="en-US" sz="2800" dirty="0"/>
              <a:t>体系的理论基础</a:t>
            </a:r>
            <a:r>
              <a:rPr lang="en-US" altLang="zh-CN" sz="2800" dirty="0"/>
              <a:t>——</a:t>
            </a:r>
            <a:r>
              <a:rPr lang="zh-CN" altLang="en-US" sz="2800" dirty="0"/>
              <a:t>列斐伏尔</a:t>
            </a:r>
            <a:r>
              <a:rPr lang="en-US" altLang="zh-CN" sz="2800" dirty="0"/>
              <a:t>《</a:t>
            </a:r>
            <a:r>
              <a:rPr lang="zh-CN" altLang="en-US" sz="2800" dirty="0"/>
              <a:t>现代社会的日常生活</a:t>
            </a:r>
            <a:r>
              <a:rPr lang="en-US" altLang="zh-CN" sz="2800" dirty="0"/>
              <a:t>》</a:t>
            </a:r>
            <a:endParaRPr lang="zh-CN" altLang="en-US" sz="28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1886" y="1825625"/>
            <a:ext cx="11658600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工作丧失了价值，日常生活中的肤浅性占了上风</a:t>
            </a:r>
            <a:endParaRPr lang="en-US" altLang="zh-CN" sz="2400" dirty="0"/>
          </a:p>
          <a:p>
            <a:r>
              <a:rPr lang="zh-CN" altLang="en-US" sz="2400" dirty="0"/>
              <a:t>透过对日常生活的渗透，消费活动被赋予了新的位置（意识形态、文化、建制）</a:t>
            </a:r>
            <a:endParaRPr lang="en-US" altLang="zh-CN" sz="2400" dirty="0"/>
          </a:p>
          <a:p>
            <a:r>
              <a:rPr lang="zh-CN" altLang="en-US" sz="2400" dirty="0"/>
              <a:t>社会通过消费为载体，以“母性”和“兄弟爱”的方式成为新的“压制”形式</a:t>
            </a:r>
            <a:endParaRPr lang="en-US" altLang="zh-CN" sz="2400" dirty="0"/>
          </a:p>
          <a:p>
            <a:r>
              <a:rPr lang="zh-CN" altLang="en-US" sz="2400" dirty="0"/>
              <a:t>现代的日常生活扮演了过去“经济”的角色，“引导性消费的官僚社会”</a:t>
            </a:r>
            <a:endParaRPr lang="en-US" altLang="zh-CN" sz="2400" dirty="0"/>
          </a:p>
          <a:p>
            <a:r>
              <a:rPr lang="zh-CN" altLang="en-US" sz="2400" dirty="0"/>
              <a:t>日常生活</a:t>
            </a:r>
            <a:r>
              <a:rPr lang="en-US" altLang="zh-CN" sz="2400" dirty="0"/>
              <a:t>(</a:t>
            </a:r>
            <a:r>
              <a:rPr lang="zh-CN" altLang="en-US" sz="2400" dirty="0"/>
              <a:t>物品</a:t>
            </a:r>
            <a:r>
              <a:rPr lang="en-US" altLang="zh-CN" sz="2400" dirty="0"/>
              <a:t>)</a:t>
            </a:r>
            <a:r>
              <a:rPr lang="zh-CN" altLang="en-US" sz="2400" dirty="0"/>
              <a:t>的建构是全面性的策略（经济、政治、文化）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36611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black"/>
                </a:solidFill>
              </a:rPr>
              <a:t>物</a:t>
            </a:r>
            <a:r>
              <a:rPr lang="zh-CN" altLang="en-US" sz="2800" dirty="0">
                <a:solidFill>
                  <a:prstClr val="black"/>
                </a:solidFill>
              </a:rPr>
              <a:t>体系的理论基础</a:t>
            </a:r>
            <a:r>
              <a:rPr lang="en-US" altLang="zh-CN" sz="2800" dirty="0">
                <a:solidFill>
                  <a:prstClr val="black"/>
                </a:solidFill>
              </a:rPr>
              <a:t>——</a:t>
            </a:r>
            <a:r>
              <a:rPr lang="zh-CN" altLang="en-US" sz="2800" dirty="0">
                <a:solidFill>
                  <a:prstClr val="black"/>
                </a:solidFill>
              </a:rPr>
              <a:t>罗兰</a:t>
            </a:r>
            <a:r>
              <a:rPr lang="en-US" altLang="zh-CN" sz="2800" dirty="0">
                <a:solidFill>
                  <a:prstClr val="black"/>
                </a:solidFill>
              </a:rPr>
              <a:t>.</a:t>
            </a:r>
            <a:r>
              <a:rPr lang="zh-CN" altLang="en-US" sz="2800" dirty="0">
                <a:solidFill>
                  <a:prstClr val="black"/>
                </a:solidFill>
              </a:rPr>
              <a:t>巴特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871" y="1836510"/>
            <a:ext cx="12072257" cy="4351338"/>
          </a:xfrm>
        </p:spPr>
        <p:txBody>
          <a:bodyPr>
            <a:normAutofit/>
          </a:bodyPr>
          <a:lstStyle/>
          <a:p>
            <a:endParaRPr lang="en-US" altLang="zh-CN" sz="2400" dirty="0"/>
          </a:p>
          <a:p>
            <a:r>
              <a:rPr lang="zh-CN" altLang="en-US" sz="2400" dirty="0"/>
              <a:t>物品并不是以它的全体来表达意义，被指涉的只是其中的部分品质</a:t>
            </a:r>
            <a:endParaRPr lang="en-US" altLang="zh-CN" sz="2400" dirty="0"/>
          </a:p>
          <a:p>
            <a:r>
              <a:rPr lang="zh-CN" altLang="en-US" sz="2400" dirty="0"/>
              <a:t>物品化为表意符号的过程中，总有位移的作用</a:t>
            </a:r>
            <a:endParaRPr lang="en-US" altLang="zh-CN" sz="2400" dirty="0"/>
          </a:p>
          <a:p>
            <a:r>
              <a:rPr lang="zh-CN" altLang="en-US" sz="2400" dirty="0"/>
              <a:t>物品的功能和意义间是一种冲突关系：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/>
              <a:t>            1</a:t>
            </a:r>
            <a:r>
              <a:rPr lang="zh-CN" altLang="en-US" sz="2000" dirty="0"/>
              <a:t>功能是行动和人之间的中介项，是及物的，身处系列的操作中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      2</a:t>
            </a:r>
            <a:r>
              <a:rPr lang="zh-CN" altLang="en-US" sz="2000" dirty="0"/>
              <a:t>符号表意关系非行动，意义使物品脱离行动（不及物），物品凝滞于我们人为想象的世界中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      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85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2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3032289" y="1887876"/>
            <a:ext cx="2994152" cy="2994152"/>
          </a:xfrm>
        </p:spPr>
      </p:pic>
      <p:sp>
        <p:nvSpPr>
          <p:cNvPr id="11" name="Rectangle 10"/>
          <p:cNvSpPr/>
          <p:nvPr/>
        </p:nvSpPr>
        <p:spPr>
          <a:xfrm>
            <a:off x="4906963" y="4187825"/>
            <a:ext cx="1230312" cy="738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100638" y="4383089"/>
            <a:ext cx="1624012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rmorant Garamond Light" charset="0"/>
              </a:rPr>
              <a:t>物的体系</a:t>
            </a:r>
            <a:endParaRPr lang="en-US" sz="28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rmorant Garamond Light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644776" y="5681663"/>
            <a:ext cx="18732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863726" y="5681663"/>
            <a:ext cx="18732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58988" y="5595938"/>
            <a:ext cx="539750" cy="195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75" dirty="0">
                <a:solidFill>
                  <a:prstClr val="black">
                    <a:lumMod val="85000"/>
                    <a:lumOff val="15000"/>
                  </a:prstClr>
                </a:solidFill>
                <a:latin typeface="Cormorant Garamond Light" charset="0"/>
                <a:ea typeface="Cormorant Garamond Light" charset="0"/>
                <a:cs typeface="Cormorant Garamond Light" charset="0"/>
              </a:rPr>
              <a:t>slide : </a:t>
            </a:r>
            <a:fld id="{61B2989D-6218-4023-852C-AF39673BCDF7}" type="slidenum">
              <a:rPr lang="en-US" sz="675" b="1">
                <a:solidFill>
                  <a:prstClr val="black"/>
                </a:solidFill>
                <a:latin typeface="Cormorant Garamond" charset="0"/>
                <a:ea typeface="Cormorant Garamond" charset="0"/>
                <a:cs typeface="Cormorant Garamond" charset="0"/>
              </a:rPr>
              <a:pPr>
                <a:defRPr/>
              </a:pPr>
              <a:t>10</a:t>
            </a:fld>
            <a:endParaRPr lang="en-US" sz="675" b="1" dirty="0">
              <a:solidFill>
                <a:prstClr val="black"/>
              </a:solidFill>
              <a:latin typeface="Cormorant Garamond" charset="0"/>
              <a:ea typeface="Cormorant Garamond" charset="0"/>
              <a:cs typeface="Cormorant Garamond" charset="0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616701" y="2573338"/>
            <a:ext cx="3357524" cy="46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ts val="3375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01 </a:t>
            </a:r>
            <a:r>
              <a:rPr lang="zh-CN" altLang="en-US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功能性系统 </a:t>
            </a:r>
            <a:r>
              <a:rPr lang="en-US" altLang="zh-CN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–</a:t>
            </a:r>
            <a:r>
              <a:rPr lang="zh-CN" altLang="en-US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物品去主观性</a:t>
            </a:r>
            <a:endParaRPr lang="en-US" altLang="zh-CN" sz="15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ontserrat"/>
            </a:endParaRPr>
          </a:p>
        </p:txBody>
      </p:sp>
      <p:sp>
        <p:nvSpPr>
          <p:cNvPr id="21" name="TextBox 16"/>
          <p:cNvSpPr txBox="1">
            <a:spLocks noChangeArrowheads="1"/>
          </p:cNvSpPr>
          <p:nvPr/>
        </p:nvSpPr>
        <p:spPr bwMode="auto">
          <a:xfrm>
            <a:off x="6616700" y="2995613"/>
            <a:ext cx="4681356" cy="46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ts val="3375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02 </a:t>
            </a:r>
            <a:r>
              <a:rPr lang="zh-CN" altLang="en-US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非功能性系统</a:t>
            </a:r>
            <a:r>
              <a:rPr lang="en-US" altLang="zh-CN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-</a:t>
            </a:r>
            <a:r>
              <a:rPr lang="zh-CN" altLang="en-US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非功能物的心理机制</a:t>
            </a:r>
            <a:endParaRPr lang="en-US" altLang="zh-CN" sz="15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ontserrat"/>
            </a:endParaRPr>
          </a:p>
        </p:txBody>
      </p:sp>
      <p:sp>
        <p:nvSpPr>
          <p:cNvPr id="24" name="TextBox 16"/>
          <p:cNvSpPr txBox="1">
            <a:spLocks noChangeArrowheads="1"/>
          </p:cNvSpPr>
          <p:nvPr/>
        </p:nvSpPr>
        <p:spPr bwMode="auto">
          <a:xfrm>
            <a:off x="6641644" y="3820330"/>
            <a:ext cx="2773363" cy="46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ts val="3375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04 </a:t>
            </a:r>
            <a:r>
              <a:rPr lang="zh-CN" altLang="en-US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/>
              </a:rPr>
              <a:t>物品及消费的社会</a:t>
            </a:r>
            <a:endParaRPr lang="en-US" altLang="zh-CN" sz="15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ontserra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756" y="3398055"/>
            <a:ext cx="2792210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53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/>
      <p:bldP spid="17" grpId="0"/>
      <p:bldP spid="21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769350" y="857251"/>
            <a:ext cx="1898650" cy="45132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9189005" y="3994152"/>
            <a:ext cx="1348446" cy="1424427"/>
            <a:chOff x="10220722" y="4182167"/>
            <a:chExt cx="1797820" cy="1900055"/>
          </a:xfrm>
        </p:grpSpPr>
        <p:sp>
          <p:nvSpPr>
            <p:cNvPr id="12" name="TextBox 11"/>
            <p:cNvSpPr txBox="1"/>
            <p:nvPr/>
          </p:nvSpPr>
          <p:spPr>
            <a:xfrm>
              <a:off x="10281362" y="4182167"/>
              <a:ext cx="1102716" cy="2922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825" b="1">
                  <a:solidFill>
                    <a:prstClr val="white"/>
                  </a:solidFill>
                  <a:latin typeface="Montserrat Semi" charset="0"/>
                  <a:ea typeface="Montserrat Semi" charset="0"/>
                  <a:cs typeface="Montserrat Semi" charset="0"/>
                </a:rPr>
                <a:t>S E C T I O N</a:t>
              </a:r>
              <a:endParaRPr lang="en-US" sz="825" b="1" dirty="0">
                <a:solidFill>
                  <a:prstClr val="white"/>
                </a:solidFill>
                <a:latin typeface="Montserrat Semi" charset="0"/>
                <a:ea typeface="Montserrat Semi" charset="0"/>
                <a:cs typeface="Montserrat Semi" charset="0"/>
              </a:endParaRPr>
            </a:p>
          </p:txBody>
        </p:sp>
        <p:sp>
          <p:nvSpPr>
            <p:cNvPr id="53258" name="TextBox 12"/>
            <p:cNvSpPr txBox="1">
              <a:spLocks noChangeArrowheads="1"/>
            </p:cNvSpPr>
            <p:nvPr/>
          </p:nvSpPr>
          <p:spPr bwMode="auto">
            <a:xfrm>
              <a:off x="10220722" y="4727420"/>
              <a:ext cx="1797820" cy="13548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6000" b="1">
                  <a:solidFill>
                    <a:srgbClr val="FFFFFF"/>
                  </a:solidFill>
                  <a:latin typeface="Montserrat Semi"/>
                  <a:ea typeface="Montserrat Semi"/>
                  <a:cs typeface="Montserrat Semi"/>
                </a:rPr>
                <a:t>01.</a:t>
              </a:r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2644776" y="5681663"/>
            <a:ext cx="18732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863726" y="5681663"/>
            <a:ext cx="18732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58988" y="5595938"/>
            <a:ext cx="539750" cy="195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75" dirty="0">
                <a:solidFill>
                  <a:prstClr val="black">
                    <a:lumMod val="85000"/>
                    <a:lumOff val="15000"/>
                  </a:prstClr>
                </a:solidFill>
                <a:latin typeface="Cormorant Garamond Light" charset="0"/>
                <a:ea typeface="Cormorant Garamond Light" charset="0"/>
                <a:cs typeface="Cormorant Garamond Light" charset="0"/>
              </a:rPr>
              <a:t>slide : </a:t>
            </a:r>
            <a:fld id="{31AC465E-B970-438F-905A-8A0894BFF6F7}" type="slidenum">
              <a:rPr lang="en-US" sz="675" b="1">
                <a:solidFill>
                  <a:prstClr val="black"/>
                </a:solidFill>
                <a:latin typeface="Cormorant Garamond" charset="0"/>
                <a:ea typeface="Cormorant Garamond" charset="0"/>
                <a:cs typeface="Cormorant Garamond" charset="0"/>
              </a:rPr>
              <a:pPr>
                <a:defRPr/>
              </a:pPr>
              <a:t>11</a:t>
            </a:fld>
            <a:endParaRPr lang="en-US" sz="675" b="1" dirty="0">
              <a:solidFill>
                <a:prstClr val="black"/>
              </a:solidFill>
              <a:latin typeface="Cormorant Garamond" charset="0"/>
              <a:ea typeface="Cormorant Garamond" charset="0"/>
              <a:cs typeface="Cormorant Garamond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 rot="16200000">
            <a:off x="8496228" y="2386763"/>
            <a:ext cx="2444900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300" spc="225" dirty="0">
                <a:solidFill>
                  <a:prstClr val="white"/>
                </a:solidFill>
                <a:latin typeface="Montserrat Light" charset="0"/>
                <a:ea typeface="Montserrat Light" charset="0"/>
                <a:cs typeface="Montserrat Light" charset="0"/>
              </a:rPr>
              <a:t>功能性系统</a:t>
            </a:r>
            <a:endParaRPr lang="en-US" sz="3300" spc="225" dirty="0">
              <a:solidFill>
                <a:prstClr val="white"/>
              </a:solidFill>
              <a:latin typeface="Montserrat Light" charset="0"/>
              <a:ea typeface="Montserrat Light" charset="0"/>
              <a:cs typeface="Montserrat Light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51051" y="2200275"/>
            <a:ext cx="5795963" cy="15635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endParaRPr lang="en-US" altLang="zh-CN" sz="2100" dirty="0">
              <a:solidFill>
                <a:prstClr val="black"/>
              </a:solidFill>
              <a:ea typeface="宋体" panose="02010600030101010101" pitchFamily="2" charset="-122"/>
            </a:endParaRPr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100" dirty="0">
                <a:solidFill>
                  <a:prstClr val="black"/>
                </a:solidFill>
                <a:ea typeface="宋体" panose="02010600030101010101" pitchFamily="2" charset="-122"/>
              </a:rPr>
              <a:t>摆设的结构</a:t>
            </a:r>
            <a:endParaRPr lang="en-US" altLang="zh-CN" sz="2100" dirty="0">
              <a:solidFill>
                <a:prstClr val="black"/>
              </a:solidFill>
              <a:ea typeface="宋体" panose="02010600030101010101" pitchFamily="2" charset="-122"/>
            </a:endParaRPr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100" dirty="0">
                <a:solidFill>
                  <a:prstClr val="black"/>
                </a:solidFill>
                <a:ea typeface="宋体" panose="02010600030101010101" pitchFamily="2" charset="-122"/>
              </a:rPr>
              <a:t>气氛的结构</a:t>
            </a:r>
            <a:endParaRPr lang="en-US" altLang="zh-CN" sz="2100" dirty="0">
              <a:solidFill>
                <a:prstClr val="black"/>
              </a:solidFill>
              <a:ea typeface="宋体" panose="02010600030101010101" pitchFamily="2" charset="-122"/>
            </a:endParaRPr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100" dirty="0">
                <a:solidFill>
                  <a:prstClr val="black"/>
                </a:solidFill>
                <a:ea typeface="宋体" panose="02010600030101010101" pitchFamily="2" charset="-122"/>
              </a:rPr>
              <a:t>自然性和功能性</a:t>
            </a:r>
            <a:endParaRPr lang="en-US" altLang="zh-CN" sz="21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462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社会中的“物”</a:t>
            </a:r>
            <a:r>
              <a:rPr lang="zh-CN" altLang="en-US" sz="1600" dirty="0">
                <a:solidFill>
                  <a:schemeClr val="tx1"/>
                </a:solidFill>
              </a:rPr>
              <a:t>莫斯</a:t>
            </a:r>
            <a:r>
              <a:rPr lang="en-US" altLang="zh-CN" sz="1600" dirty="0">
                <a:solidFill>
                  <a:schemeClr val="tx1"/>
                </a:solidFill>
              </a:rPr>
              <a:t>《</a:t>
            </a:r>
            <a:r>
              <a:rPr lang="zh-CN" altLang="en-US" sz="1600" dirty="0">
                <a:solidFill>
                  <a:schemeClr val="tx1"/>
                </a:solidFill>
              </a:rPr>
              <a:t>礼物</a:t>
            </a:r>
            <a:r>
              <a:rPr lang="en-US" altLang="zh-CN" sz="1600" dirty="0">
                <a:solidFill>
                  <a:schemeClr val="tx1"/>
                </a:solidFill>
              </a:rPr>
              <a:t>》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400" dirty="0"/>
          </a:p>
          <a:p>
            <a:r>
              <a:rPr lang="zh-CN" altLang="en-US" sz="2400" dirty="0"/>
              <a:t>社会中的物都是由其功能、形象、心理各实质间超越性关联组成</a:t>
            </a:r>
            <a:r>
              <a:rPr lang="zh-CN" altLang="en-US" sz="1200" dirty="0">
                <a:solidFill>
                  <a:srgbClr val="FF0000"/>
                </a:solidFill>
              </a:rPr>
              <a:t>玉和筷子神</a:t>
            </a:r>
            <a:endParaRPr lang="en-US" altLang="zh-CN" sz="12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社会中的物体以一种拟人的方式存在</a:t>
            </a:r>
            <a:r>
              <a:rPr lang="zh-CN" altLang="en-US" sz="1600" dirty="0"/>
              <a:t>（皇冠和宫廷物品）</a:t>
            </a:r>
            <a:endParaRPr lang="en-US" altLang="zh-CN" sz="1600" dirty="0"/>
          </a:p>
          <a:p>
            <a:r>
              <a:rPr lang="zh-CN" altLang="en-US" sz="2400" dirty="0"/>
              <a:t>没有决然客观的“物”</a:t>
            </a:r>
            <a:r>
              <a:rPr lang="zh-CN" altLang="en-US" sz="1600" dirty="0"/>
              <a:t>（商业社会之前；商业模仿了其中的关系）</a:t>
            </a:r>
            <a:endParaRPr lang="en-US" altLang="zh-CN" sz="1600" dirty="0"/>
          </a:p>
          <a:p>
            <a:r>
              <a:rPr lang="zh-CN" altLang="en-US" sz="2400" dirty="0"/>
              <a:t>“物”如何从社会关系中脱离成为功能“物”</a:t>
            </a:r>
          </a:p>
        </p:txBody>
      </p:sp>
    </p:spTree>
    <p:extLst>
      <p:ext uri="{BB962C8B-B14F-4D97-AF65-F5344CB8AC3E}">
        <p14:creationId xmlns:p14="http://schemas.microsoft.com/office/powerpoint/2010/main" val="51645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5166" y="792293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600" kern="0" dirty="0">
                <a:solidFill>
                  <a:srgbClr val="6600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物和人的关系解放</a:t>
            </a:r>
            <a:endParaRPr lang="zh-CN" alt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29648" y="1971678"/>
            <a:ext cx="9441456" cy="16958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工业革命：能源和能量的解放，物与人都解放出来，开始它的流动</a:t>
            </a:r>
            <a:endParaRPr lang="zh-CN" altLang="zh-CN" sz="2200" kern="100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人和物的互为目的、互相限制的关系，不存在了</a:t>
            </a:r>
            <a:r>
              <a:rPr lang="en-US" altLang="zh-CN" sz="16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(</a:t>
            </a:r>
            <a:r>
              <a:rPr lang="zh-CN" altLang="en-US" sz="16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编织草篮</a:t>
            </a:r>
            <a:r>
              <a:rPr lang="en-US" altLang="zh-CN" sz="16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)</a:t>
            </a:r>
            <a:endParaRPr lang="zh-CN" altLang="zh-CN" sz="1600" kern="100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物朝向它的</a:t>
            </a:r>
            <a:r>
              <a:rPr lang="zh-CN" altLang="en-US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“</a:t>
            </a: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真理</a:t>
            </a:r>
            <a:r>
              <a:rPr lang="zh-CN" altLang="en-US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”</a:t>
            </a: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迈进</a:t>
            </a:r>
            <a:r>
              <a:rPr lang="en-US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——</a:t>
            </a: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透过</a:t>
            </a:r>
            <a:r>
              <a:rPr lang="zh-CN" altLang="en-US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“</a:t>
            </a: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能量</a:t>
            </a:r>
            <a:r>
              <a:rPr lang="zh-CN" altLang="en-US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”</a:t>
            </a: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的解放所得到的多样性功能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透过这一程序，人朝向一个</a:t>
            </a:r>
            <a:r>
              <a:rPr lang="zh-CN" altLang="en-US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“</a:t>
            </a: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客观</a:t>
            </a:r>
            <a:r>
              <a:rPr lang="zh-CN" altLang="en-US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”</a:t>
            </a:r>
            <a:r>
              <a:rPr lang="zh-CN" altLang="zh-CN" sz="22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的社会流变演进</a:t>
            </a:r>
            <a:r>
              <a:rPr lang="zh-CN" altLang="en-US" sz="16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（不再通过自身去掌握物）</a:t>
            </a:r>
            <a:endParaRPr lang="en-US" altLang="zh-CN" sz="1600" kern="100" dirty="0">
              <a:solidFill>
                <a:srgbClr val="660033"/>
              </a:solidFill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648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2367" y="1639280"/>
            <a:ext cx="9860096" cy="1789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功能物便是真正的</a:t>
            </a:r>
            <a:r>
              <a:rPr lang="zh-CN" altLang="en-US" sz="28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“</a:t>
            </a:r>
            <a:r>
              <a:rPr lang="zh-CN" altLang="zh-CN" sz="28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物</a:t>
            </a:r>
            <a:r>
              <a:rPr lang="en-US" altLang="zh-CN" sz="28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”</a:t>
            </a:r>
            <a:endParaRPr lang="en-US" altLang="zh-CN" sz="1600" kern="100" dirty="0">
              <a:solidFill>
                <a:srgbClr val="660033"/>
              </a:solidFill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——</a:t>
            </a:r>
            <a:r>
              <a:rPr lang="zh-CN" altLang="zh-CN" sz="24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透过</a:t>
            </a:r>
            <a:r>
              <a:rPr lang="zh-CN" altLang="en-US" sz="24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“</a:t>
            </a:r>
            <a:r>
              <a:rPr lang="zh-CN" altLang="zh-CN" sz="24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能量</a:t>
            </a:r>
            <a:r>
              <a:rPr lang="zh-CN" altLang="en-US" sz="24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”</a:t>
            </a:r>
            <a:r>
              <a:rPr lang="zh-CN" altLang="zh-CN" sz="24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革命，技术逻辑合理性，以及生产形态的合理性，取代了过去能量层面的渗透关系和象征层面的关联状态</a:t>
            </a:r>
            <a:endParaRPr lang="zh-CN" altLang="zh-CN" sz="2400" kern="100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solidFill>
                  <a:srgbClr val="660033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人和物的关系，被交付在生产力组构的社会关系里</a:t>
            </a:r>
            <a:endParaRPr lang="zh-CN" altLang="zh-CN" sz="2000" kern="100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6096" y="980501"/>
            <a:ext cx="160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结果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685" y="2815185"/>
            <a:ext cx="2877555" cy="383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78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/>
          <p:cNvSpPr>
            <a:spLocks noChangeArrowheads="1"/>
          </p:cNvSpPr>
          <p:nvPr/>
        </p:nvSpPr>
        <p:spPr bwMode="auto">
          <a:xfrm>
            <a:off x="1883" y="977601"/>
            <a:ext cx="5878286" cy="5878286"/>
          </a:xfrm>
          <a:custGeom>
            <a:avLst/>
            <a:gdLst>
              <a:gd name="T0" fmla="*/ 2147483646 w 1386"/>
              <a:gd name="T1" fmla="*/ 2147483646 h 1386"/>
              <a:gd name="T2" fmla="*/ 2147483646 w 1386"/>
              <a:gd name="T3" fmla="*/ 2147483646 h 1386"/>
              <a:gd name="T4" fmla="*/ 2147483646 w 1386"/>
              <a:gd name="T5" fmla="*/ 0 h 1386"/>
              <a:gd name="T6" fmla="*/ 0 w 1386"/>
              <a:gd name="T7" fmla="*/ 2147483646 h 1386"/>
              <a:gd name="T8" fmla="*/ 0 w 1386"/>
              <a:gd name="T9" fmla="*/ 2147483646 h 1386"/>
              <a:gd name="T10" fmla="*/ 0 w 1386"/>
              <a:gd name="T11" fmla="*/ 2147483646 h 1386"/>
              <a:gd name="T12" fmla="*/ 2147483646 w 1386"/>
              <a:gd name="T13" fmla="*/ 2147483646 h 1386"/>
              <a:gd name="T14" fmla="*/ 2147483646 w 1386"/>
              <a:gd name="T15" fmla="*/ 2147483646 h 138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386" h="1386">
                <a:moveTo>
                  <a:pt x="1106" y="1386"/>
                </a:moveTo>
                <a:cubicBezTo>
                  <a:pt x="1277" y="1242"/>
                  <a:pt x="1386" y="1026"/>
                  <a:pt x="1386" y="785"/>
                </a:cubicBezTo>
                <a:cubicBezTo>
                  <a:pt x="1386" y="351"/>
                  <a:pt x="1034" y="0"/>
                  <a:pt x="601" y="0"/>
                </a:cubicBezTo>
                <a:cubicBezTo>
                  <a:pt x="360" y="0"/>
                  <a:pt x="144" y="109"/>
                  <a:pt x="0" y="280"/>
                </a:cubicBezTo>
                <a:cubicBezTo>
                  <a:pt x="0" y="1290"/>
                  <a:pt x="0" y="1290"/>
                  <a:pt x="0" y="1290"/>
                </a:cubicBezTo>
                <a:cubicBezTo>
                  <a:pt x="0" y="1386"/>
                  <a:pt x="0" y="1386"/>
                  <a:pt x="0" y="1386"/>
                </a:cubicBezTo>
                <a:cubicBezTo>
                  <a:pt x="96" y="1386"/>
                  <a:pt x="96" y="1386"/>
                  <a:pt x="96" y="1386"/>
                </a:cubicBezTo>
                <a:lnTo>
                  <a:pt x="1106" y="1386"/>
                </a:lnTo>
                <a:close/>
              </a:path>
            </a:pathLst>
          </a:custGeom>
          <a:solidFill>
            <a:srgbClr val="5D5D5D">
              <a:alpha val="7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399">
              <a:solidFill>
                <a:srgbClr val="000000"/>
              </a:solidFill>
            </a:endParaRPr>
          </a:p>
        </p:txBody>
      </p:sp>
      <p:sp>
        <p:nvSpPr>
          <p:cNvPr id="4099" name="Freeform 3"/>
          <p:cNvSpPr>
            <a:spLocks noChangeArrowheads="1"/>
          </p:cNvSpPr>
          <p:nvPr/>
        </p:nvSpPr>
        <p:spPr bwMode="auto">
          <a:xfrm>
            <a:off x="1881" y="1758408"/>
            <a:ext cx="5097477" cy="5097477"/>
          </a:xfrm>
          <a:custGeom>
            <a:avLst/>
            <a:gdLst>
              <a:gd name="T0" fmla="*/ 2147483646 w 1202"/>
              <a:gd name="T1" fmla="*/ 0 h 1202"/>
              <a:gd name="T2" fmla="*/ 0 w 1202"/>
              <a:gd name="T3" fmla="*/ 2147483646 h 1202"/>
              <a:gd name="T4" fmla="*/ 0 w 1202"/>
              <a:gd name="T5" fmla="*/ 2147483646 h 1202"/>
              <a:gd name="T6" fmla="*/ 2147483646 w 1202"/>
              <a:gd name="T7" fmla="*/ 2147483646 h 1202"/>
              <a:gd name="T8" fmla="*/ 2147483646 w 1202"/>
              <a:gd name="T9" fmla="*/ 2147483646 h 1202"/>
              <a:gd name="T10" fmla="*/ 2147483646 w 1202"/>
              <a:gd name="T11" fmla="*/ 0 h 120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02" h="1202">
                <a:moveTo>
                  <a:pt x="601" y="0"/>
                </a:moveTo>
                <a:cubicBezTo>
                  <a:pt x="269" y="0"/>
                  <a:pt x="0" y="269"/>
                  <a:pt x="0" y="601"/>
                </a:cubicBezTo>
                <a:cubicBezTo>
                  <a:pt x="0" y="1202"/>
                  <a:pt x="0" y="1202"/>
                  <a:pt x="0" y="1202"/>
                </a:cubicBezTo>
                <a:cubicBezTo>
                  <a:pt x="601" y="1202"/>
                  <a:pt x="601" y="1202"/>
                  <a:pt x="601" y="1202"/>
                </a:cubicBezTo>
                <a:cubicBezTo>
                  <a:pt x="933" y="1202"/>
                  <a:pt x="1202" y="933"/>
                  <a:pt x="1202" y="601"/>
                </a:cubicBezTo>
                <a:cubicBezTo>
                  <a:pt x="1202" y="269"/>
                  <a:pt x="933" y="0"/>
                  <a:pt x="601" y="0"/>
                </a:cubicBezTo>
                <a:close/>
              </a:path>
            </a:pathLst>
          </a:custGeom>
          <a:solidFill>
            <a:srgbClr val="000000">
              <a:alpha val="7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399">
              <a:solidFill>
                <a:srgbClr val="000000"/>
              </a:solidFill>
            </a:endParaRPr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3948249" y="2126596"/>
            <a:ext cx="774461" cy="774461"/>
            <a:chOff x="0" y="0"/>
            <a:chExt cx="366" cy="366"/>
          </a:xfrm>
        </p:grpSpPr>
        <p:sp>
          <p:nvSpPr>
            <p:cNvPr id="4104" name="Oval 5"/>
            <p:cNvSpPr>
              <a:spLocks noChangeArrowheads="1"/>
            </p:cNvSpPr>
            <p:nvPr/>
          </p:nvSpPr>
          <p:spPr bwMode="auto">
            <a:xfrm>
              <a:off x="0" y="0"/>
              <a:ext cx="366" cy="366"/>
            </a:xfrm>
            <a:prstGeom prst="ellipse">
              <a:avLst/>
            </a:prstGeom>
            <a:solidFill>
              <a:srgbClr val="887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2399">
                <a:solidFill>
                  <a:srgbClr val="000000"/>
                </a:solidFill>
              </a:endParaRPr>
            </a:p>
          </p:txBody>
        </p:sp>
        <p:sp>
          <p:nvSpPr>
            <p:cNvPr id="4105" name="Freeform 6"/>
            <p:cNvSpPr>
              <a:spLocks noEditPoints="1" noChangeArrowheads="1"/>
            </p:cNvSpPr>
            <p:nvPr/>
          </p:nvSpPr>
          <p:spPr bwMode="auto">
            <a:xfrm>
              <a:off x="108" y="100"/>
              <a:ext cx="148" cy="164"/>
            </a:xfrm>
            <a:custGeom>
              <a:avLst/>
              <a:gdLst>
                <a:gd name="T0" fmla="*/ 1269 w 71"/>
                <a:gd name="T1" fmla="*/ 189 h 79"/>
                <a:gd name="T2" fmla="*/ 1303 w 71"/>
                <a:gd name="T3" fmla="*/ 52 h 79"/>
                <a:gd name="T4" fmla="*/ 1342 w 71"/>
                <a:gd name="T5" fmla="*/ 152 h 79"/>
                <a:gd name="T6" fmla="*/ 135 w 71"/>
                <a:gd name="T7" fmla="*/ 52 h 79"/>
                <a:gd name="T8" fmla="*/ 544 w 71"/>
                <a:gd name="T9" fmla="*/ 0 h 79"/>
                <a:gd name="T10" fmla="*/ 817 w 71"/>
                <a:gd name="T11" fmla="*/ 52 h 79"/>
                <a:gd name="T12" fmla="*/ 1222 w 71"/>
                <a:gd name="T13" fmla="*/ 189 h 79"/>
                <a:gd name="T14" fmla="*/ 135 w 71"/>
                <a:gd name="T15" fmla="*/ 52 h 79"/>
                <a:gd name="T16" fmla="*/ 0 w 71"/>
                <a:gd name="T17" fmla="*/ 91 h 79"/>
                <a:gd name="T18" fmla="*/ 92 w 71"/>
                <a:gd name="T19" fmla="*/ 52 h 79"/>
                <a:gd name="T20" fmla="*/ 56 w 71"/>
                <a:gd name="T21" fmla="*/ 189 h 79"/>
                <a:gd name="T22" fmla="*/ 1203 w 71"/>
                <a:gd name="T23" fmla="*/ 241 h 79"/>
                <a:gd name="T24" fmla="*/ 152 w 71"/>
                <a:gd name="T25" fmla="*/ 1057 h 79"/>
                <a:gd name="T26" fmla="*/ 1203 w 71"/>
                <a:gd name="T27" fmla="*/ 241 h 79"/>
                <a:gd name="T28" fmla="*/ 978 w 71"/>
                <a:gd name="T29" fmla="*/ 913 h 79"/>
                <a:gd name="T30" fmla="*/ 769 w 71"/>
                <a:gd name="T31" fmla="*/ 849 h 79"/>
                <a:gd name="T32" fmla="*/ 769 w 71"/>
                <a:gd name="T33" fmla="*/ 797 h 79"/>
                <a:gd name="T34" fmla="*/ 1113 w 71"/>
                <a:gd name="T35" fmla="*/ 741 h 79"/>
                <a:gd name="T36" fmla="*/ 769 w 71"/>
                <a:gd name="T37" fmla="*/ 797 h 79"/>
                <a:gd name="T38" fmla="*/ 1113 w 71"/>
                <a:gd name="T39" fmla="*/ 656 h 79"/>
                <a:gd name="T40" fmla="*/ 769 w 71"/>
                <a:gd name="T41" fmla="*/ 590 h 79"/>
                <a:gd name="T42" fmla="*/ 469 w 71"/>
                <a:gd name="T43" fmla="*/ 965 h 79"/>
                <a:gd name="T44" fmla="*/ 434 w 71"/>
                <a:gd name="T45" fmla="*/ 797 h 79"/>
                <a:gd name="T46" fmla="*/ 261 w 71"/>
                <a:gd name="T47" fmla="*/ 758 h 79"/>
                <a:gd name="T48" fmla="*/ 717 w 71"/>
                <a:gd name="T49" fmla="*/ 741 h 79"/>
                <a:gd name="T50" fmla="*/ 492 w 71"/>
                <a:gd name="T51" fmla="*/ 741 h 79"/>
                <a:gd name="T52" fmla="*/ 244 w 71"/>
                <a:gd name="T53" fmla="*/ 409 h 79"/>
                <a:gd name="T54" fmla="*/ 717 w 71"/>
                <a:gd name="T55" fmla="*/ 316 h 79"/>
                <a:gd name="T56" fmla="*/ 244 w 71"/>
                <a:gd name="T57" fmla="*/ 409 h 79"/>
                <a:gd name="T58" fmla="*/ 92 w 71"/>
                <a:gd name="T59" fmla="*/ 1206 h 79"/>
                <a:gd name="T60" fmla="*/ 1286 w 71"/>
                <a:gd name="T61" fmla="*/ 1117 h 79"/>
                <a:gd name="T62" fmla="*/ 586 w 71"/>
                <a:gd name="T63" fmla="*/ 1246 h 79"/>
                <a:gd name="T64" fmla="*/ 300 w 71"/>
                <a:gd name="T65" fmla="*/ 1466 h 79"/>
                <a:gd name="T66" fmla="*/ 586 w 71"/>
                <a:gd name="T67" fmla="*/ 1246 h 79"/>
                <a:gd name="T68" fmla="*/ 905 w 71"/>
                <a:gd name="T69" fmla="*/ 1466 h 79"/>
                <a:gd name="T70" fmla="*/ 905 w 71"/>
                <a:gd name="T71" fmla="*/ 1246 h 7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1" h="79">
                  <a:moveTo>
                    <a:pt x="69" y="10"/>
                  </a:moveTo>
                  <a:cubicBezTo>
                    <a:pt x="67" y="10"/>
                    <a:pt x="67" y="10"/>
                    <a:pt x="67" y="10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71" y="5"/>
                    <a:pt x="71" y="5"/>
                    <a:pt x="71" y="5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69" y="10"/>
                  </a:lnTo>
                  <a:close/>
                  <a:moveTo>
                    <a:pt x="7" y="3"/>
                  </a:moveTo>
                  <a:cubicBezTo>
                    <a:pt x="29" y="3"/>
                    <a:pt x="29" y="3"/>
                    <a:pt x="29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7" y="10"/>
                    <a:pt x="7" y="10"/>
                    <a:pt x="7" y="10"/>
                  </a:cubicBezTo>
                  <a:lnTo>
                    <a:pt x="7" y="3"/>
                  </a:lnTo>
                  <a:close/>
                  <a:moveTo>
                    <a:pt x="0" y="8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3" y="10"/>
                    <a:pt x="3" y="10"/>
                    <a:pt x="3" y="10"/>
                  </a:cubicBezTo>
                  <a:lnTo>
                    <a:pt x="0" y="8"/>
                  </a:lnTo>
                  <a:close/>
                  <a:moveTo>
                    <a:pt x="64" y="13"/>
                  </a:moveTo>
                  <a:cubicBezTo>
                    <a:pt x="64" y="57"/>
                    <a:pt x="64" y="57"/>
                    <a:pt x="64" y="57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8" y="13"/>
                    <a:pt x="8" y="13"/>
                    <a:pt x="8" y="13"/>
                  </a:cubicBezTo>
                  <a:lnTo>
                    <a:pt x="64" y="13"/>
                  </a:lnTo>
                  <a:close/>
                  <a:moveTo>
                    <a:pt x="41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41" y="46"/>
                    <a:pt x="41" y="46"/>
                    <a:pt x="41" y="46"/>
                  </a:cubicBezTo>
                  <a:lnTo>
                    <a:pt x="41" y="49"/>
                  </a:lnTo>
                  <a:close/>
                  <a:moveTo>
                    <a:pt x="41" y="43"/>
                  </a:moveTo>
                  <a:cubicBezTo>
                    <a:pt x="59" y="43"/>
                    <a:pt x="59" y="43"/>
                    <a:pt x="59" y="43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41" y="40"/>
                    <a:pt x="41" y="40"/>
                    <a:pt x="41" y="40"/>
                  </a:cubicBezTo>
                  <a:lnTo>
                    <a:pt x="41" y="43"/>
                  </a:lnTo>
                  <a:close/>
                  <a:moveTo>
                    <a:pt x="41" y="35"/>
                  </a:moveTo>
                  <a:cubicBezTo>
                    <a:pt x="59" y="35"/>
                    <a:pt x="59" y="35"/>
                    <a:pt x="59" y="35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41" y="32"/>
                    <a:pt x="41" y="32"/>
                    <a:pt x="41" y="32"/>
                  </a:cubicBezTo>
                  <a:lnTo>
                    <a:pt x="41" y="35"/>
                  </a:lnTo>
                  <a:close/>
                  <a:moveTo>
                    <a:pt x="25" y="52"/>
                  </a:moveTo>
                  <a:cubicBezTo>
                    <a:pt x="30" y="52"/>
                    <a:pt x="35" y="48"/>
                    <a:pt x="36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17" y="30"/>
                    <a:pt x="14" y="35"/>
                    <a:pt x="14" y="41"/>
                  </a:cubicBezTo>
                  <a:cubicBezTo>
                    <a:pt x="14" y="47"/>
                    <a:pt x="18" y="52"/>
                    <a:pt x="25" y="52"/>
                  </a:cubicBezTo>
                  <a:close/>
                  <a:moveTo>
                    <a:pt x="38" y="40"/>
                  </a:moveTo>
                  <a:cubicBezTo>
                    <a:pt x="38" y="40"/>
                    <a:pt x="38" y="27"/>
                    <a:pt x="26" y="27"/>
                  </a:cubicBezTo>
                  <a:cubicBezTo>
                    <a:pt x="26" y="40"/>
                    <a:pt x="26" y="40"/>
                    <a:pt x="26" y="40"/>
                  </a:cubicBezTo>
                  <a:lnTo>
                    <a:pt x="38" y="40"/>
                  </a:lnTo>
                  <a:close/>
                  <a:moveTo>
                    <a:pt x="13" y="22"/>
                  </a:moveTo>
                  <a:cubicBezTo>
                    <a:pt x="38" y="22"/>
                    <a:pt x="38" y="22"/>
                    <a:pt x="38" y="22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13" y="17"/>
                    <a:pt x="13" y="17"/>
                    <a:pt x="13" y="17"/>
                  </a:cubicBezTo>
                  <a:lnTo>
                    <a:pt x="13" y="22"/>
                  </a:lnTo>
                  <a:close/>
                  <a:moveTo>
                    <a:pt x="68" y="65"/>
                  </a:moveTo>
                  <a:cubicBezTo>
                    <a:pt x="5" y="65"/>
                    <a:pt x="5" y="65"/>
                    <a:pt x="5" y="65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68" y="60"/>
                    <a:pt x="68" y="60"/>
                    <a:pt x="68" y="60"/>
                  </a:cubicBezTo>
                  <a:lnTo>
                    <a:pt x="68" y="65"/>
                  </a:lnTo>
                  <a:close/>
                  <a:moveTo>
                    <a:pt x="31" y="67"/>
                  </a:moveTo>
                  <a:cubicBezTo>
                    <a:pt x="23" y="79"/>
                    <a:pt x="23" y="79"/>
                    <a:pt x="23" y="79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23" y="67"/>
                    <a:pt x="23" y="67"/>
                    <a:pt x="23" y="67"/>
                  </a:cubicBezTo>
                  <a:lnTo>
                    <a:pt x="31" y="67"/>
                  </a:lnTo>
                  <a:close/>
                  <a:moveTo>
                    <a:pt x="55" y="79"/>
                  </a:moveTo>
                  <a:cubicBezTo>
                    <a:pt x="48" y="79"/>
                    <a:pt x="48" y="79"/>
                    <a:pt x="48" y="79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8" y="67"/>
                    <a:pt x="48" y="67"/>
                    <a:pt x="48" y="67"/>
                  </a:cubicBezTo>
                  <a:lnTo>
                    <a:pt x="55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399">
                <a:solidFill>
                  <a:srgbClr val="000000"/>
                </a:solidFill>
              </a:endParaRPr>
            </a:p>
          </p:txBody>
        </p:sp>
      </p:grpSp>
      <p:sp>
        <p:nvSpPr>
          <p:cNvPr id="4101" name="Rectangle 7"/>
          <p:cNvSpPr>
            <a:spLocks noChangeArrowheads="1"/>
          </p:cNvSpPr>
          <p:nvPr/>
        </p:nvSpPr>
        <p:spPr bwMode="auto">
          <a:xfrm>
            <a:off x="915999" y="4648883"/>
            <a:ext cx="31486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 dirty="0">
                <a:solidFill>
                  <a:srgbClr val="88714E"/>
                </a:solidFill>
              </a:rPr>
              <a:t>摆设的结构</a:t>
            </a:r>
            <a:endParaRPr lang="zh-CN" altLang="en-US" sz="2000" dirty="0">
              <a:solidFill>
                <a:srgbClr val="808080"/>
              </a:solidFill>
            </a:endParaRPr>
          </a:p>
        </p:txBody>
      </p:sp>
      <p:sp>
        <p:nvSpPr>
          <p:cNvPr id="4102" name="Text Box 8"/>
          <p:cNvSpPr txBox="1">
            <a:spLocks noChangeArrowheads="1"/>
          </p:cNvSpPr>
          <p:nvPr/>
        </p:nvSpPr>
        <p:spPr bwMode="auto">
          <a:xfrm>
            <a:off x="1859741" y="3326374"/>
            <a:ext cx="1210588" cy="1200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zh-CN" sz="7198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103" name="Line 9"/>
          <p:cNvSpPr>
            <a:spLocks noChangeShapeType="1"/>
          </p:cNvSpPr>
          <p:nvPr/>
        </p:nvSpPr>
        <p:spPr bwMode="auto">
          <a:xfrm>
            <a:off x="1356130" y="4479601"/>
            <a:ext cx="2234510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399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435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这些“家”的区别是什么？</a:t>
            </a:r>
            <a:r>
              <a:rPr lang="zh-CN" altLang="en-US" sz="1600" dirty="0"/>
              <a:t>居住人感受、空间、采光和物品</a:t>
            </a:r>
          </a:p>
        </p:txBody>
      </p:sp>
    </p:spTree>
    <p:extLst>
      <p:ext uri="{BB962C8B-B14F-4D97-AF65-F5344CB8AC3E}">
        <p14:creationId xmlns:p14="http://schemas.microsoft.com/office/powerpoint/2010/main" val="3217318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24" y="170259"/>
            <a:ext cx="3663827" cy="6513470"/>
          </a:xfrm>
          <a:prstGeom prst="rect">
            <a:avLst/>
          </a:prstGeom>
        </p:spPr>
      </p:pic>
      <p:pic>
        <p:nvPicPr>
          <p:cNvPr id="1026" name="Picture 2" descr="为庆祝 BILLY 毕利 书柜四十周岁生日，我们为它换上了亮黄色新装。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146" y="429785"/>
            <a:ext cx="3575504" cy="256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www.ikea.cn/ms/zh_CN/img/2019_img/home_con/banner/irw_ins_zh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146" y="3530710"/>
            <a:ext cx="4860417" cy="2804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57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0"/>
            <a:ext cx="3989024" cy="70818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569" y="2055813"/>
            <a:ext cx="6529897" cy="307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63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en-US" altLang="zh-CN" sz="1400" dirty="0"/>
              <a:t>15</a:t>
            </a:r>
            <a:endParaRPr lang="zh-CN" altLang="en-US" sz="1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zh-CN" altLang="zh-CN" sz="22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古老的饭厅充满了沉重的道德感，现代的室内给人更多的是功能性的考虑</a:t>
            </a:r>
            <a:endParaRPr lang="zh-CN" altLang="zh-CN" sz="1600" kern="1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en-US" sz="22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家具摆脱了仪式和标签，明白的透露了其有何作用</a:t>
            </a:r>
            <a:endParaRPr lang="en-US" altLang="zh-CN" sz="2200" kern="100" dirty="0">
              <a:solidFill>
                <a:prstClr val="black"/>
              </a:solidFill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  <a:p>
            <a:pPr lvl="0" algn="just"/>
            <a:r>
              <a:rPr lang="zh-CN" altLang="zh-CN" sz="22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个人不再经由这些事物的中介紧密地联系于家庭</a:t>
            </a:r>
            <a:endParaRPr lang="en-US" altLang="zh-CN" sz="2200" kern="100" dirty="0">
              <a:solidFill>
                <a:prstClr val="black"/>
              </a:solidFill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  <a:p>
            <a:pPr lvl="0" algn="just"/>
            <a:r>
              <a:rPr lang="zh-CN" altLang="en-US" sz="22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人的</a:t>
            </a:r>
            <a:r>
              <a:rPr lang="zh-CN" altLang="zh-CN" sz="22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能动性和多功能用途中找到了组织上更大的自由</a:t>
            </a:r>
            <a:endParaRPr lang="en-US" altLang="zh-CN" sz="2200" kern="100" dirty="0">
              <a:solidFill>
                <a:prstClr val="black"/>
              </a:solidFill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  <a:p>
            <a:pPr lvl="0" algn="just"/>
            <a:r>
              <a:rPr lang="zh-CN" altLang="zh-CN" sz="22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反映出</a:t>
            </a:r>
            <a:r>
              <a:rPr lang="zh-CN" altLang="en-US" sz="22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人在</a:t>
            </a:r>
            <a:r>
              <a:rPr lang="zh-CN" altLang="zh-CN" sz="22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社会关系中拥有更多不受拘束的空间</a:t>
            </a:r>
            <a:endParaRPr lang="zh-CN" altLang="zh-CN" sz="1600" kern="1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endParaRPr lang="zh-CN" altLang="en-US" sz="2200" dirty="0">
              <a:solidFill>
                <a:prstClr val="black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2816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417" y="438437"/>
            <a:ext cx="5968710" cy="42807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168" y="4112822"/>
            <a:ext cx="4116964" cy="23809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731" y="1645880"/>
            <a:ext cx="4474852" cy="210939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75132" y="5303306"/>
            <a:ext cx="6096000" cy="4801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</a:rPr>
              <a:t>为什么宜家的宣传画里要有人？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25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lvl="0" indent="-228600">
              <a:spcBef>
                <a:spcPts val="1000"/>
              </a:spcBef>
            </a:pPr>
            <a:r>
              <a:rPr lang="zh-CN" altLang="en-US" dirty="0"/>
              <a:t>宜家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endParaRPr lang="zh-CN" altLang="zh-CN" sz="1600" kern="1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20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隔板、组合方便而可以随时改造的家具取代了原来的古老家具项目</a:t>
            </a:r>
            <a:endParaRPr lang="zh-CN" altLang="zh-CN" sz="2000" kern="1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20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可以自如的隐身，曲折、收缩</a:t>
            </a:r>
            <a:r>
              <a:rPr lang="zh-CN" altLang="en-US" sz="20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；</a:t>
            </a:r>
            <a:endParaRPr lang="en-US" altLang="zh-CN" sz="2000" kern="100" dirty="0">
              <a:solidFill>
                <a:prstClr val="black"/>
              </a:solidFill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  <a:p>
            <a:pPr lvl="0" algn="just"/>
            <a:r>
              <a:rPr lang="zh-CN" altLang="en-US" sz="20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更大变动性、互换性及适时性只是由于空间的缺乏</a:t>
            </a:r>
            <a:r>
              <a:rPr lang="zh-CN" altLang="en-US" sz="14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（</a:t>
            </a:r>
            <a:r>
              <a:rPr lang="zh-CN" altLang="zh-CN" sz="14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常常强调可以</a:t>
            </a:r>
            <a:r>
              <a:rPr lang="en-US" altLang="zh-CN" sz="1400" kern="100" dirty="0">
                <a:solidFill>
                  <a:prstClr val="black"/>
                </a:solidFill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sz="14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平米房子隔出三个独立的空间</a:t>
            </a:r>
            <a:r>
              <a:rPr lang="zh-CN" altLang="en-US" sz="1400" kern="100" dirty="0">
                <a:solidFill>
                  <a:prstClr val="black"/>
                </a:solidFill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）；</a:t>
            </a:r>
            <a:endParaRPr lang="zh-CN" altLang="zh-CN" sz="1400" kern="1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功能性考虑只是危难时的救急法</a:t>
            </a:r>
          </a:p>
        </p:txBody>
      </p:sp>
    </p:spTree>
    <p:extLst>
      <p:ext uri="{BB962C8B-B14F-4D97-AF65-F5344CB8AC3E}">
        <p14:creationId xmlns:p14="http://schemas.microsoft.com/office/powerpoint/2010/main" val="71384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家庭“物”：对比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16089" y="1825625"/>
            <a:ext cx="6671733" cy="4351338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endParaRPr lang="en-US" altLang="zh-CN" sz="2400" kern="100" dirty="0"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人与物紧紧联系，使得物因此得到一种密度、一种情感价值</a:t>
            </a:r>
            <a:endParaRPr lang="en-US" altLang="zh-CN" sz="2400" kern="100" dirty="0"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物的</a:t>
            </a:r>
            <a:r>
              <a:rPr lang="en-US" altLang="zh-CN" sz="2400" kern="100" dirty="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存在</a:t>
            </a:r>
            <a:r>
              <a:rPr lang="en-US" altLang="zh-CN" sz="2400" kern="100" dirty="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，使得房子产生深度感</a:t>
            </a:r>
            <a:endParaRPr lang="en-US" altLang="zh-CN" sz="2400" kern="100" dirty="0"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复杂的内在性结构</a:t>
            </a:r>
            <a:r>
              <a:rPr lang="zh-CN" altLang="en-US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，</a:t>
            </a:r>
            <a:r>
              <a:rPr lang="zh-CN" altLang="zh-CN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物品组合起来，为我们描绘出象征形式的轮廓</a:t>
            </a:r>
            <a:r>
              <a:rPr lang="en-US" altLang="zh-CN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——</a:t>
            </a:r>
            <a:r>
              <a:rPr lang="zh-CN" altLang="zh-CN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华文宋体" panose="02010600040101010101" pitchFamily="2" charset="-122"/>
              </a:rPr>
              <a:t>家宅</a:t>
            </a:r>
            <a:endParaRPr lang="en-US" altLang="zh-CN" sz="2400" kern="100" dirty="0">
              <a:latin typeface="华文宋体" panose="02010600040101010101" pitchFamily="2" charset="-122"/>
              <a:ea typeface="宋体" panose="02010600030101010101" pitchFamily="2" charset="-122"/>
              <a:cs typeface="华文宋体" panose="0201060004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en-US" sz="2400" kern="100" dirty="0">
                <a:effectLst/>
                <a:latin typeface="华文宋体" panose="0201060004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以家具整体为主宰与房子不动产结构</a:t>
            </a:r>
            <a:r>
              <a:rPr lang="zh-CN" altLang="en-US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（宅）</a:t>
            </a:r>
            <a:r>
              <a:rPr lang="zh-CN" altLang="en-US" sz="2400" kern="100" dirty="0">
                <a:effectLst/>
                <a:latin typeface="华文宋体" panose="0201060004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相连接的动产</a:t>
            </a:r>
            <a:r>
              <a:rPr lang="zh-CN" altLang="en-US" sz="2400" kern="100" dirty="0">
                <a:latin typeface="华文宋体" panose="0201060004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结构仍然</a:t>
            </a:r>
            <a:r>
              <a:rPr lang="zh-CN" altLang="en-US" sz="2400" kern="100" dirty="0">
                <a:effectLst/>
                <a:latin typeface="华文宋体" panose="0201060004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是广告的散播模范</a:t>
            </a:r>
            <a:endParaRPr lang="en-US" altLang="zh-CN" sz="2400" kern="100" dirty="0">
              <a:effectLst/>
              <a:latin typeface="华文宋体" panose="0201060004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600" kern="100" dirty="0">
                <a:latin typeface="华文宋体" panose="0201060004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600" kern="100" dirty="0">
                <a:latin typeface="华文宋体" panose="0201060004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                   </a:t>
            </a:r>
            <a:r>
              <a:rPr lang="zh-CN" altLang="en-US" sz="1600" kern="100" dirty="0">
                <a:latin typeface="华文宋体" panose="0201060004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“传世名邸，仅三十席”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 descr="查看源图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931" y="0"/>
            <a:ext cx="4514850" cy="695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691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6108" y="2103557"/>
            <a:ext cx="33837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1400" dirty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  <a:sym typeface="Arial"/>
              </a:rPr>
              <a:t>关系成为客观的性质</a:t>
            </a:r>
            <a:endParaRPr lang="en-US" altLang="zh-CN" sz="1400" dirty="0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25651" y="1823761"/>
            <a:ext cx="200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  <a:sym typeface="Arial"/>
              </a:rPr>
              <a:t>元件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sym typeface="Arial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5573" y="4526082"/>
            <a:ext cx="33837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1400" dirty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  <a:sym typeface="Arial"/>
              </a:rPr>
              <a:t>构造“价值的普遍函数”</a:t>
            </a:r>
            <a:endParaRPr lang="en-US" altLang="zh-CN" sz="1400" dirty="0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2314" y="4156750"/>
            <a:ext cx="200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44546A"/>
                </a:solidFill>
                <a:cs typeface="Arial" panose="020B0604020202020204" pitchFamily="34" charset="0"/>
                <a:sym typeface="Arial"/>
              </a:rPr>
              <a:t>墙壁与光线</a:t>
            </a:r>
            <a:endParaRPr lang="zh-CN" altLang="en-US" sz="1600" b="1" dirty="0">
              <a:solidFill>
                <a:srgbClr val="44546A"/>
              </a:solidFill>
              <a:sym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72478" y="4848072"/>
            <a:ext cx="33837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  <a:sym typeface="Arial"/>
              </a:rPr>
              <a:t>取消了室内成为密度高的焦点</a:t>
            </a:r>
            <a:endParaRPr lang="en-US" altLang="zh-CN" sz="1400" dirty="0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  <a:sym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23122" y="4561129"/>
            <a:ext cx="20091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44546A">
                    <a:lumMod val="60000"/>
                    <a:lumOff val="40000"/>
                  </a:srgbClr>
                </a:solidFill>
                <a:sym typeface="Arial"/>
              </a:rPr>
              <a:t>镜子与画像</a:t>
            </a:r>
          </a:p>
        </p:txBody>
      </p:sp>
      <p:sp>
        <p:nvSpPr>
          <p:cNvPr id="8" name="矩形 7"/>
          <p:cNvSpPr/>
          <p:nvPr/>
        </p:nvSpPr>
        <p:spPr>
          <a:xfrm>
            <a:off x="6617893" y="1732569"/>
            <a:ext cx="33837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  <a:sym typeface="Arial"/>
              </a:rPr>
              <a:t>使事物能由内发光或拥有象征的最后标记</a:t>
            </a:r>
            <a:endParaRPr lang="en-US" altLang="zh-CN" sz="1400" dirty="0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38737" y="1397241"/>
            <a:ext cx="200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44546A"/>
                </a:solidFill>
                <a:cs typeface="Arial" panose="020B0604020202020204" pitchFamily="34" charset="0"/>
                <a:sym typeface="Arial"/>
              </a:rPr>
              <a:t>照明</a:t>
            </a:r>
            <a:endParaRPr lang="zh-CN" altLang="en-US" sz="1600" b="1" dirty="0">
              <a:solidFill>
                <a:srgbClr val="44546A"/>
              </a:solidFill>
              <a:sym typeface="Arial"/>
            </a:endParaRPr>
          </a:p>
        </p:txBody>
      </p:sp>
      <p:sp>
        <p:nvSpPr>
          <p:cNvPr id="10" name="泪滴形 9"/>
          <p:cNvSpPr/>
          <p:nvPr/>
        </p:nvSpPr>
        <p:spPr>
          <a:xfrm rot="9784955">
            <a:off x="7326569" y="2904017"/>
            <a:ext cx="1244191" cy="1225670"/>
          </a:xfrm>
          <a:prstGeom prst="teardrop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5A9BD5"/>
              </a:solidFill>
              <a:sym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21487" y="3330656"/>
            <a:ext cx="13682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prstClr val="white"/>
                </a:solidFill>
                <a:cs typeface="Arial" panose="020B0604020202020204" pitchFamily="34" charset="0"/>
                <a:sym typeface="Arial"/>
              </a:rPr>
              <a:t>镜子与画像</a:t>
            </a:r>
            <a:endParaRPr lang="zh-CN" altLang="en-US" sz="1600" b="1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12" name="泪滴形 11"/>
          <p:cNvSpPr/>
          <p:nvPr/>
        </p:nvSpPr>
        <p:spPr>
          <a:xfrm rot="9224943">
            <a:off x="6217556" y="3856604"/>
            <a:ext cx="993292" cy="978506"/>
          </a:xfrm>
          <a:prstGeom prst="teardrop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black"/>
              </a:solidFill>
              <a:sym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14782" y="4193811"/>
            <a:ext cx="13640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prstClr val="white"/>
                </a:solidFill>
                <a:cs typeface="Arial" panose="020B0604020202020204" pitchFamily="34" charset="0"/>
                <a:sym typeface="Arial"/>
              </a:rPr>
              <a:t>时钟与时间</a:t>
            </a:r>
            <a:endParaRPr lang="zh-CN" altLang="en-US" sz="1400" b="1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14" name="泪滴形 13"/>
          <p:cNvSpPr/>
          <p:nvPr/>
        </p:nvSpPr>
        <p:spPr>
          <a:xfrm rot="7942971">
            <a:off x="5444376" y="2219968"/>
            <a:ext cx="1410943" cy="1389940"/>
          </a:xfrm>
          <a:prstGeom prst="teardrop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black"/>
              </a:solidFill>
              <a:sym typeface="Arial"/>
            </a:endParaRPr>
          </a:p>
        </p:txBody>
      </p:sp>
      <p:sp>
        <p:nvSpPr>
          <p:cNvPr id="15" name="泪滴形 14"/>
          <p:cNvSpPr/>
          <p:nvPr/>
        </p:nvSpPr>
        <p:spPr>
          <a:xfrm rot="7285796">
            <a:off x="5086152" y="3328172"/>
            <a:ext cx="918837" cy="905160"/>
          </a:xfrm>
          <a:prstGeom prst="teardrop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black"/>
              </a:solidFill>
              <a:sym typeface="Arial"/>
            </a:endParaRPr>
          </a:p>
        </p:txBody>
      </p:sp>
      <p:sp>
        <p:nvSpPr>
          <p:cNvPr id="16" name="泪滴形 15"/>
          <p:cNvSpPr/>
          <p:nvPr/>
        </p:nvSpPr>
        <p:spPr>
          <a:xfrm rot="6923497">
            <a:off x="3923889" y="2865276"/>
            <a:ext cx="1205810" cy="1208514"/>
          </a:xfrm>
          <a:prstGeom prst="teardrop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black"/>
              </a:solidFill>
              <a:sym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79717" y="3318954"/>
            <a:ext cx="11200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white"/>
                </a:solidFill>
                <a:cs typeface="Arial" panose="020B0604020202020204" pitchFamily="34" charset="0"/>
                <a:sym typeface="Arial"/>
              </a:rPr>
              <a:t>元件</a:t>
            </a:r>
            <a:endParaRPr lang="zh-CN" altLang="en-US" sz="1600" b="1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088991" y="3611646"/>
            <a:ext cx="9355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prstClr val="white"/>
                </a:solidFill>
                <a:cs typeface="Arial" panose="020B0604020202020204" pitchFamily="34" charset="0"/>
                <a:sym typeface="Arial"/>
              </a:rPr>
              <a:t>照明</a:t>
            </a:r>
            <a:endParaRPr lang="zh-CN" altLang="en-US" sz="1200" b="1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506258" y="2919682"/>
            <a:ext cx="14740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prstClr val="white"/>
                </a:solidFill>
                <a:cs typeface="Arial" panose="020B0604020202020204" pitchFamily="34" charset="0"/>
                <a:sym typeface="Arial"/>
              </a:rPr>
              <a:t>墙壁与光线</a:t>
            </a:r>
            <a:endParaRPr lang="zh-CN" altLang="en-US" sz="1600" b="1" dirty="0">
              <a:solidFill>
                <a:prstClr val="white"/>
              </a:solidFill>
              <a:sym typeface="Arial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722197" y="5596603"/>
            <a:ext cx="996157" cy="907433"/>
            <a:chOff x="4677169" y="5922786"/>
            <a:chExt cx="996157" cy="90743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4" name="任意多边形 23"/>
            <p:cNvSpPr/>
            <p:nvPr/>
          </p:nvSpPr>
          <p:spPr>
            <a:xfrm>
              <a:off x="4677169" y="6215063"/>
              <a:ext cx="996157" cy="615156"/>
            </a:xfrm>
            <a:custGeom>
              <a:avLst/>
              <a:gdLst>
                <a:gd name="connsiteX0" fmla="*/ 27998 w 996157"/>
                <a:gd name="connsiteY0" fmla="*/ 0 h 615156"/>
                <a:gd name="connsiteX1" fmla="*/ 146692 w 996157"/>
                <a:gd name="connsiteY1" fmla="*/ 0 h 615156"/>
                <a:gd name="connsiteX2" fmla="*/ 392754 w 996157"/>
                <a:gd name="connsiteY2" fmla="*/ 0 h 615156"/>
                <a:gd name="connsiteX3" fmla="*/ 392112 w 996157"/>
                <a:gd name="connsiteY3" fmla="*/ 1550 h 615156"/>
                <a:gd name="connsiteX4" fmla="*/ 392112 w 996157"/>
                <a:gd name="connsiteY4" fmla="*/ 492961 h 615156"/>
                <a:gd name="connsiteX5" fmla="*/ 434140 w 996157"/>
                <a:gd name="connsiteY5" fmla="*/ 534989 h 615156"/>
                <a:gd name="connsiteX6" fmla="*/ 562015 w 996157"/>
                <a:gd name="connsiteY6" fmla="*/ 534989 h 615156"/>
                <a:gd name="connsiteX7" fmla="*/ 604043 w 996157"/>
                <a:gd name="connsiteY7" fmla="*/ 492961 h 615156"/>
                <a:gd name="connsiteX8" fmla="*/ 604043 w 996157"/>
                <a:gd name="connsiteY8" fmla="*/ 1550 h 615156"/>
                <a:gd name="connsiteX9" fmla="*/ 603401 w 996157"/>
                <a:gd name="connsiteY9" fmla="*/ 0 h 615156"/>
                <a:gd name="connsiteX10" fmla="*/ 849467 w 996157"/>
                <a:gd name="connsiteY10" fmla="*/ 0 h 615156"/>
                <a:gd name="connsiteX11" fmla="*/ 968159 w 996157"/>
                <a:gd name="connsiteY11" fmla="*/ 0 h 615156"/>
                <a:gd name="connsiteX12" fmla="*/ 996157 w 996157"/>
                <a:gd name="connsiteY12" fmla="*/ 27998 h 615156"/>
                <a:gd name="connsiteX13" fmla="*/ 996157 w 996157"/>
                <a:gd name="connsiteY13" fmla="*/ 260133 h 615156"/>
                <a:gd name="connsiteX14" fmla="*/ 968159 w 996157"/>
                <a:gd name="connsiteY14" fmla="*/ 288131 h 615156"/>
                <a:gd name="connsiteX15" fmla="*/ 909242 w 996157"/>
                <a:gd name="connsiteY15" fmla="*/ 288131 h 615156"/>
                <a:gd name="connsiteX16" fmla="*/ 909242 w 996157"/>
                <a:gd name="connsiteY16" fmla="*/ 555381 h 615156"/>
                <a:gd name="connsiteX17" fmla="*/ 849467 w 996157"/>
                <a:gd name="connsiteY17" fmla="*/ 615156 h 615156"/>
                <a:gd name="connsiteX18" fmla="*/ 146692 w 996157"/>
                <a:gd name="connsiteY18" fmla="*/ 615156 h 615156"/>
                <a:gd name="connsiteX19" fmla="*/ 86917 w 996157"/>
                <a:gd name="connsiteY19" fmla="*/ 555381 h 615156"/>
                <a:gd name="connsiteX20" fmla="*/ 86917 w 996157"/>
                <a:gd name="connsiteY20" fmla="*/ 288131 h 615156"/>
                <a:gd name="connsiteX21" fmla="*/ 27998 w 996157"/>
                <a:gd name="connsiteY21" fmla="*/ 288131 h 615156"/>
                <a:gd name="connsiteX22" fmla="*/ 0 w 996157"/>
                <a:gd name="connsiteY22" fmla="*/ 260133 h 615156"/>
                <a:gd name="connsiteX23" fmla="*/ 0 w 996157"/>
                <a:gd name="connsiteY23" fmla="*/ 27998 h 615156"/>
                <a:gd name="connsiteX24" fmla="*/ 27998 w 996157"/>
                <a:gd name="connsiteY24" fmla="*/ 0 h 61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6157" h="615156">
                  <a:moveTo>
                    <a:pt x="27998" y="0"/>
                  </a:moveTo>
                  <a:lnTo>
                    <a:pt x="146692" y="0"/>
                  </a:lnTo>
                  <a:lnTo>
                    <a:pt x="392754" y="0"/>
                  </a:lnTo>
                  <a:lnTo>
                    <a:pt x="392112" y="1550"/>
                  </a:lnTo>
                  <a:lnTo>
                    <a:pt x="392112" y="492961"/>
                  </a:lnTo>
                  <a:cubicBezTo>
                    <a:pt x="392112" y="516172"/>
                    <a:pt x="410929" y="534989"/>
                    <a:pt x="434140" y="534989"/>
                  </a:cubicBezTo>
                  <a:lnTo>
                    <a:pt x="562015" y="534989"/>
                  </a:lnTo>
                  <a:cubicBezTo>
                    <a:pt x="585226" y="534989"/>
                    <a:pt x="604043" y="516172"/>
                    <a:pt x="604043" y="492961"/>
                  </a:cubicBezTo>
                  <a:lnTo>
                    <a:pt x="604043" y="1550"/>
                  </a:lnTo>
                  <a:lnTo>
                    <a:pt x="603401" y="0"/>
                  </a:lnTo>
                  <a:lnTo>
                    <a:pt x="849467" y="0"/>
                  </a:lnTo>
                  <a:lnTo>
                    <a:pt x="968159" y="0"/>
                  </a:lnTo>
                  <a:cubicBezTo>
                    <a:pt x="983622" y="0"/>
                    <a:pt x="996157" y="12535"/>
                    <a:pt x="996157" y="27998"/>
                  </a:cubicBezTo>
                  <a:lnTo>
                    <a:pt x="996157" y="260133"/>
                  </a:lnTo>
                  <a:cubicBezTo>
                    <a:pt x="996157" y="275596"/>
                    <a:pt x="983622" y="288131"/>
                    <a:pt x="968159" y="288131"/>
                  </a:cubicBezTo>
                  <a:lnTo>
                    <a:pt x="909242" y="288131"/>
                  </a:lnTo>
                  <a:lnTo>
                    <a:pt x="909242" y="555381"/>
                  </a:lnTo>
                  <a:cubicBezTo>
                    <a:pt x="909242" y="588394"/>
                    <a:pt x="882480" y="615156"/>
                    <a:pt x="849467" y="615156"/>
                  </a:cubicBezTo>
                  <a:lnTo>
                    <a:pt x="146692" y="615156"/>
                  </a:lnTo>
                  <a:cubicBezTo>
                    <a:pt x="113679" y="615156"/>
                    <a:pt x="86917" y="588394"/>
                    <a:pt x="86917" y="555381"/>
                  </a:cubicBezTo>
                  <a:lnTo>
                    <a:pt x="86917" y="288131"/>
                  </a:lnTo>
                  <a:lnTo>
                    <a:pt x="27998" y="288131"/>
                  </a:lnTo>
                  <a:cubicBezTo>
                    <a:pt x="12535" y="288131"/>
                    <a:pt x="0" y="275596"/>
                    <a:pt x="0" y="260133"/>
                  </a:cubicBezTo>
                  <a:lnTo>
                    <a:pt x="0" y="27998"/>
                  </a:lnTo>
                  <a:cubicBezTo>
                    <a:pt x="0" y="12535"/>
                    <a:pt x="12535" y="0"/>
                    <a:pt x="2799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prstClr val="black"/>
                </a:solidFill>
                <a:sym typeface="Arial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 rot="10168383" flipH="1">
              <a:off x="4843629" y="5922788"/>
              <a:ext cx="306974" cy="324112"/>
            </a:xfrm>
            <a:custGeom>
              <a:avLst/>
              <a:gdLst>
                <a:gd name="connsiteX0" fmla="*/ 183422 w 306974"/>
                <a:gd name="connsiteY0" fmla="*/ 225886 h 324112"/>
                <a:gd name="connsiteX1" fmla="*/ 153487 w 306974"/>
                <a:gd name="connsiteY1" fmla="*/ 231330 h 324112"/>
                <a:gd name="connsiteX2" fmla="*/ 76581 w 306974"/>
                <a:gd name="connsiteY2" fmla="*/ 162059 h 324112"/>
                <a:gd name="connsiteX3" fmla="*/ 76582 w 306974"/>
                <a:gd name="connsiteY3" fmla="*/ 162059 h 324112"/>
                <a:gd name="connsiteX4" fmla="*/ 153487 w 306974"/>
                <a:gd name="connsiteY4" fmla="*/ 92788 h 324112"/>
                <a:gd name="connsiteX5" fmla="*/ 231475 w 306974"/>
                <a:gd name="connsiteY5" fmla="*/ 91813 h 324112"/>
                <a:gd name="connsiteX6" fmla="*/ 230393 w 306974"/>
                <a:gd name="connsiteY6" fmla="*/ 162059 h 324112"/>
                <a:gd name="connsiteX7" fmla="*/ 183422 w 306974"/>
                <a:gd name="connsiteY7" fmla="*/ 225886 h 324112"/>
                <a:gd name="connsiteX8" fmla="*/ 153487 w 306974"/>
                <a:gd name="connsiteY8" fmla="*/ 324112 h 324112"/>
                <a:gd name="connsiteX9" fmla="*/ 306974 w 306974"/>
                <a:gd name="connsiteY9" fmla="*/ 162056 h 324112"/>
                <a:gd name="connsiteX10" fmla="*/ 306974 w 306974"/>
                <a:gd name="connsiteY10" fmla="*/ 0 h 324112"/>
                <a:gd name="connsiteX11" fmla="*/ 153487 w 306974"/>
                <a:gd name="connsiteY11" fmla="*/ 0 h 324112"/>
                <a:gd name="connsiteX12" fmla="*/ 0 w 306974"/>
                <a:gd name="connsiteY12" fmla="*/ 162056 h 324112"/>
                <a:gd name="connsiteX13" fmla="*/ 153487 w 306974"/>
                <a:gd name="connsiteY13" fmla="*/ 324112 h 32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6974" h="324112">
                  <a:moveTo>
                    <a:pt x="183422" y="225886"/>
                  </a:moveTo>
                  <a:cubicBezTo>
                    <a:pt x="174221" y="229392"/>
                    <a:pt x="164106" y="231330"/>
                    <a:pt x="153487" y="231330"/>
                  </a:cubicBezTo>
                  <a:cubicBezTo>
                    <a:pt x="111012" y="231330"/>
                    <a:pt x="76581" y="200316"/>
                    <a:pt x="76581" y="162059"/>
                  </a:cubicBezTo>
                  <a:lnTo>
                    <a:pt x="76582" y="162059"/>
                  </a:lnTo>
                  <a:cubicBezTo>
                    <a:pt x="76582" y="123802"/>
                    <a:pt x="111014" y="92788"/>
                    <a:pt x="153487" y="92788"/>
                  </a:cubicBezTo>
                  <a:cubicBezTo>
                    <a:pt x="179484" y="92788"/>
                    <a:pt x="205480" y="92463"/>
                    <a:pt x="231475" y="91813"/>
                  </a:cubicBezTo>
                  <a:cubicBezTo>
                    <a:pt x="230754" y="115228"/>
                    <a:pt x="230393" y="138644"/>
                    <a:pt x="230393" y="162059"/>
                  </a:cubicBezTo>
                  <a:cubicBezTo>
                    <a:pt x="230393" y="190751"/>
                    <a:pt x="211024" y="215370"/>
                    <a:pt x="183422" y="225886"/>
                  </a:cubicBezTo>
                  <a:close/>
                  <a:moveTo>
                    <a:pt x="153487" y="324112"/>
                  </a:moveTo>
                  <a:cubicBezTo>
                    <a:pt x="238256" y="324112"/>
                    <a:pt x="306974" y="251557"/>
                    <a:pt x="306974" y="162056"/>
                  </a:cubicBezTo>
                  <a:lnTo>
                    <a:pt x="306974" y="0"/>
                  </a:lnTo>
                  <a:lnTo>
                    <a:pt x="153487" y="0"/>
                  </a:lnTo>
                  <a:cubicBezTo>
                    <a:pt x="68718" y="0"/>
                    <a:pt x="0" y="72555"/>
                    <a:pt x="0" y="162056"/>
                  </a:cubicBezTo>
                  <a:cubicBezTo>
                    <a:pt x="0" y="251557"/>
                    <a:pt x="68718" y="324112"/>
                    <a:pt x="153487" y="32411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prstClr val="black"/>
                </a:solidFill>
                <a:sym typeface="Arial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 rot="11431617">
              <a:off x="5176883" y="5922786"/>
              <a:ext cx="306974" cy="324112"/>
            </a:xfrm>
            <a:custGeom>
              <a:avLst/>
              <a:gdLst>
                <a:gd name="connsiteX0" fmla="*/ 183422 w 306974"/>
                <a:gd name="connsiteY0" fmla="*/ 225886 h 324112"/>
                <a:gd name="connsiteX1" fmla="*/ 153487 w 306974"/>
                <a:gd name="connsiteY1" fmla="*/ 231330 h 324112"/>
                <a:gd name="connsiteX2" fmla="*/ 76581 w 306974"/>
                <a:gd name="connsiteY2" fmla="*/ 162059 h 324112"/>
                <a:gd name="connsiteX3" fmla="*/ 76582 w 306974"/>
                <a:gd name="connsiteY3" fmla="*/ 162059 h 324112"/>
                <a:gd name="connsiteX4" fmla="*/ 153487 w 306974"/>
                <a:gd name="connsiteY4" fmla="*/ 92788 h 324112"/>
                <a:gd name="connsiteX5" fmla="*/ 231475 w 306974"/>
                <a:gd name="connsiteY5" fmla="*/ 91813 h 324112"/>
                <a:gd name="connsiteX6" fmla="*/ 230393 w 306974"/>
                <a:gd name="connsiteY6" fmla="*/ 162059 h 324112"/>
                <a:gd name="connsiteX7" fmla="*/ 183422 w 306974"/>
                <a:gd name="connsiteY7" fmla="*/ 225886 h 324112"/>
                <a:gd name="connsiteX8" fmla="*/ 153487 w 306974"/>
                <a:gd name="connsiteY8" fmla="*/ 324112 h 324112"/>
                <a:gd name="connsiteX9" fmla="*/ 306974 w 306974"/>
                <a:gd name="connsiteY9" fmla="*/ 162056 h 324112"/>
                <a:gd name="connsiteX10" fmla="*/ 306974 w 306974"/>
                <a:gd name="connsiteY10" fmla="*/ 0 h 324112"/>
                <a:gd name="connsiteX11" fmla="*/ 153487 w 306974"/>
                <a:gd name="connsiteY11" fmla="*/ 0 h 324112"/>
                <a:gd name="connsiteX12" fmla="*/ 0 w 306974"/>
                <a:gd name="connsiteY12" fmla="*/ 162056 h 324112"/>
                <a:gd name="connsiteX13" fmla="*/ 153487 w 306974"/>
                <a:gd name="connsiteY13" fmla="*/ 324112 h 32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6974" h="324112">
                  <a:moveTo>
                    <a:pt x="183422" y="225886"/>
                  </a:moveTo>
                  <a:cubicBezTo>
                    <a:pt x="174221" y="229392"/>
                    <a:pt x="164106" y="231330"/>
                    <a:pt x="153487" y="231330"/>
                  </a:cubicBezTo>
                  <a:cubicBezTo>
                    <a:pt x="111012" y="231330"/>
                    <a:pt x="76581" y="200316"/>
                    <a:pt x="76581" y="162059"/>
                  </a:cubicBezTo>
                  <a:lnTo>
                    <a:pt x="76582" y="162059"/>
                  </a:lnTo>
                  <a:cubicBezTo>
                    <a:pt x="76582" y="123802"/>
                    <a:pt x="111014" y="92788"/>
                    <a:pt x="153487" y="92788"/>
                  </a:cubicBezTo>
                  <a:cubicBezTo>
                    <a:pt x="179484" y="92788"/>
                    <a:pt x="205480" y="92463"/>
                    <a:pt x="231475" y="91813"/>
                  </a:cubicBezTo>
                  <a:cubicBezTo>
                    <a:pt x="230754" y="115228"/>
                    <a:pt x="230393" y="138644"/>
                    <a:pt x="230393" y="162059"/>
                  </a:cubicBezTo>
                  <a:cubicBezTo>
                    <a:pt x="230393" y="190751"/>
                    <a:pt x="211024" y="215370"/>
                    <a:pt x="183422" y="225886"/>
                  </a:cubicBezTo>
                  <a:close/>
                  <a:moveTo>
                    <a:pt x="153487" y="324112"/>
                  </a:moveTo>
                  <a:cubicBezTo>
                    <a:pt x="238256" y="324112"/>
                    <a:pt x="306974" y="251557"/>
                    <a:pt x="306974" y="162056"/>
                  </a:cubicBezTo>
                  <a:lnTo>
                    <a:pt x="306974" y="0"/>
                  </a:lnTo>
                  <a:lnTo>
                    <a:pt x="153487" y="0"/>
                  </a:lnTo>
                  <a:cubicBezTo>
                    <a:pt x="68718" y="0"/>
                    <a:pt x="0" y="72555"/>
                    <a:pt x="0" y="162056"/>
                  </a:cubicBezTo>
                  <a:cubicBezTo>
                    <a:pt x="0" y="251557"/>
                    <a:pt x="68718" y="324112"/>
                    <a:pt x="153487" y="32411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prstClr val="black"/>
                </a:solidFill>
                <a:sym typeface="Arial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4943043" y="6172201"/>
              <a:ext cx="403011" cy="6429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prstClr val="black"/>
                </a:solidFill>
                <a:sym typeface="Arial"/>
              </a:endParaRPr>
            </a:p>
          </p:txBody>
        </p:sp>
      </p:grpSp>
      <p:cxnSp>
        <p:nvCxnSpPr>
          <p:cNvPr id="28" name="直接连接符 27"/>
          <p:cNvCxnSpPr>
            <a:stCxn id="16" idx="7"/>
            <a:endCxn id="25" idx="9"/>
          </p:cNvCxnSpPr>
          <p:nvPr/>
        </p:nvCxnSpPr>
        <p:spPr>
          <a:xfrm>
            <a:off x="4814151" y="4273303"/>
            <a:ext cx="1378897" cy="14573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15" idx="7"/>
            <a:endCxn id="25" idx="9"/>
          </p:cNvCxnSpPr>
          <p:nvPr/>
        </p:nvCxnSpPr>
        <p:spPr>
          <a:xfrm>
            <a:off x="5692181" y="4408764"/>
            <a:ext cx="500867" cy="13218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265226" y="3904506"/>
            <a:ext cx="5401" cy="182611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endCxn id="25" idx="9"/>
          </p:cNvCxnSpPr>
          <p:nvPr/>
        </p:nvCxnSpPr>
        <p:spPr>
          <a:xfrm flipH="1">
            <a:off x="6193048" y="4279429"/>
            <a:ext cx="1343537" cy="14511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12" idx="7"/>
            <a:endCxn id="25" idx="9"/>
          </p:cNvCxnSpPr>
          <p:nvPr/>
        </p:nvCxnSpPr>
        <p:spPr>
          <a:xfrm flipH="1">
            <a:off x="6193048" y="5004319"/>
            <a:ext cx="292128" cy="7263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211125" y="855129"/>
            <a:ext cx="644759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300" dirty="0">
                <a:solidFill>
                  <a:prstClr val="black"/>
                </a:solidFill>
                <a:cs typeface="方正苏新诗柳楷简体-yolan" panose="02000000000000000000" pitchFamily="2" charset="-122"/>
                <a:sym typeface="Arial"/>
              </a:rPr>
              <a:t>模仿性室内</a:t>
            </a:r>
            <a:r>
              <a:rPr lang="zh-CN" altLang="en-US" sz="1600" dirty="0">
                <a:solidFill>
                  <a:srgbClr val="FF0000"/>
                </a:solidFill>
                <a:cs typeface="方正苏新诗柳楷简体-yolan" panose="02000000000000000000" pitchFamily="2" charset="-122"/>
                <a:sym typeface="Arial"/>
              </a:rPr>
              <a:t>（不具备条件：流动、不将不变视为可贵</a:t>
            </a:r>
            <a:r>
              <a:rPr lang="en-US" altLang="zh-CN" sz="1600" dirty="0">
                <a:solidFill>
                  <a:srgbClr val="FF0000"/>
                </a:solidFill>
                <a:cs typeface="方正苏新诗柳楷简体-yolan" panose="02000000000000000000" pitchFamily="2" charset="-122"/>
                <a:sym typeface="Arial"/>
              </a:rPr>
              <a:t>-</a:t>
            </a:r>
            <a:r>
              <a:rPr lang="zh-CN" altLang="en-US" sz="1600" dirty="0">
                <a:solidFill>
                  <a:srgbClr val="FF0000"/>
                </a:solidFill>
                <a:cs typeface="方正苏新诗柳楷简体-yolan" panose="02000000000000000000" pitchFamily="2" charset="-122"/>
                <a:sym typeface="Arial"/>
              </a:rPr>
              <a:t>高档住宅）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3543759" y="266849"/>
            <a:ext cx="636853" cy="393183"/>
            <a:chOff x="3610120" y="261689"/>
            <a:chExt cx="636853" cy="393183"/>
          </a:xfrm>
        </p:grpSpPr>
        <p:pic>
          <p:nvPicPr>
            <p:cNvPr id="39" name="图片 38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9115">
              <a:off x="3830226" y="261689"/>
              <a:ext cx="416747" cy="246260"/>
            </a:xfrm>
            <a:prstGeom prst="rect">
              <a:avLst/>
            </a:prstGeom>
          </p:spPr>
        </p:pic>
        <p:sp>
          <p:nvSpPr>
            <p:cNvPr id="40" name="Freeform 249"/>
            <p:cNvSpPr>
              <a:spLocks noEditPoints="1"/>
            </p:cNvSpPr>
            <p:nvPr userDrawn="1"/>
          </p:nvSpPr>
          <p:spPr bwMode="auto">
            <a:xfrm rot="2431720" flipH="1">
              <a:off x="3610120" y="366070"/>
              <a:ext cx="211706" cy="288802"/>
            </a:xfrm>
            <a:custGeom>
              <a:avLst/>
              <a:gdLst>
                <a:gd name="T0" fmla="*/ 82 w 239"/>
                <a:gd name="T1" fmla="*/ 301 h 301"/>
                <a:gd name="T2" fmla="*/ 64 w 239"/>
                <a:gd name="T3" fmla="*/ 298 h 301"/>
                <a:gd name="T4" fmla="*/ 8 w 239"/>
                <a:gd name="T5" fmla="*/ 212 h 301"/>
                <a:gd name="T6" fmla="*/ 100 w 239"/>
                <a:gd name="T7" fmla="*/ 162 h 301"/>
                <a:gd name="T8" fmla="*/ 153 w 239"/>
                <a:gd name="T9" fmla="*/ 182 h 301"/>
                <a:gd name="T10" fmla="*/ 44 w 239"/>
                <a:gd name="T11" fmla="*/ 17 h 301"/>
                <a:gd name="T12" fmla="*/ 53 w 239"/>
                <a:gd name="T13" fmla="*/ 47 h 301"/>
                <a:gd name="T14" fmla="*/ 51 w 239"/>
                <a:gd name="T15" fmla="*/ 52 h 301"/>
                <a:gd name="T16" fmla="*/ 46 w 239"/>
                <a:gd name="T17" fmla="*/ 50 h 301"/>
                <a:gd name="T18" fmla="*/ 34 w 239"/>
                <a:gd name="T19" fmla="*/ 11 h 301"/>
                <a:gd name="T20" fmla="*/ 33 w 239"/>
                <a:gd name="T21" fmla="*/ 8 h 301"/>
                <a:gd name="T22" fmla="*/ 34 w 239"/>
                <a:gd name="T23" fmla="*/ 3 h 301"/>
                <a:gd name="T24" fmla="*/ 36 w 239"/>
                <a:gd name="T25" fmla="*/ 3 h 301"/>
                <a:gd name="T26" fmla="*/ 44 w 239"/>
                <a:gd name="T27" fmla="*/ 0 h 301"/>
                <a:gd name="T28" fmla="*/ 81 w 239"/>
                <a:gd name="T29" fmla="*/ 6 h 301"/>
                <a:gd name="T30" fmla="*/ 80 w 239"/>
                <a:gd name="T31" fmla="*/ 14 h 301"/>
                <a:gd name="T32" fmla="*/ 47 w 239"/>
                <a:gd name="T33" fmla="*/ 9 h 301"/>
                <a:gd name="T34" fmla="*/ 161 w 239"/>
                <a:gd name="T35" fmla="*/ 187 h 301"/>
                <a:gd name="T36" fmla="*/ 239 w 239"/>
                <a:gd name="T37" fmla="*/ 288 h 301"/>
                <a:gd name="T38" fmla="*/ 236 w 239"/>
                <a:gd name="T39" fmla="*/ 293 h 301"/>
                <a:gd name="T40" fmla="*/ 231 w 239"/>
                <a:gd name="T41" fmla="*/ 291 h 301"/>
                <a:gd name="T42" fmla="*/ 161 w 239"/>
                <a:gd name="T43" fmla="*/ 197 h 301"/>
                <a:gd name="T44" fmla="*/ 149 w 239"/>
                <a:gd name="T45" fmla="*/ 252 h 301"/>
                <a:gd name="T46" fmla="*/ 82 w 239"/>
                <a:gd name="T47" fmla="*/ 301 h 301"/>
                <a:gd name="T48" fmla="*/ 79 w 239"/>
                <a:gd name="T49" fmla="*/ 168 h 301"/>
                <a:gd name="T50" fmla="*/ 16 w 239"/>
                <a:gd name="T51" fmla="*/ 214 h 301"/>
                <a:gd name="T52" fmla="*/ 66 w 239"/>
                <a:gd name="T53" fmla="*/ 291 h 301"/>
                <a:gd name="T54" fmla="*/ 141 w 239"/>
                <a:gd name="T55" fmla="*/ 249 h 301"/>
                <a:gd name="T56" fmla="*/ 153 w 239"/>
                <a:gd name="T57" fmla="*/ 191 h 301"/>
                <a:gd name="T58" fmla="*/ 99 w 239"/>
                <a:gd name="T59" fmla="*/ 170 h 301"/>
                <a:gd name="T60" fmla="*/ 79 w 239"/>
                <a:gd name="T61" fmla="*/ 16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9" h="301">
                  <a:moveTo>
                    <a:pt x="82" y="301"/>
                  </a:moveTo>
                  <a:cubicBezTo>
                    <a:pt x="76" y="301"/>
                    <a:pt x="70" y="300"/>
                    <a:pt x="64" y="298"/>
                  </a:cubicBezTo>
                  <a:cubicBezTo>
                    <a:pt x="17" y="285"/>
                    <a:pt x="0" y="245"/>
                    <a:pt x="8" y="212"/>
                  </a:cubicBezTo>
                  <a:cubicBezTo>
                    <a:pt x="15" y="180"/>
                    <a:pt x="47" y="152"/>
                    <a:pt x="100" y="162"/>
                  </a:cubicBezTo>
                  <a:cubicBezTo>
                    <a:pt x="120" y="165"/>
                    <a:pt x="137" y="173"/>
                    <a:pt x="153" y="182"/>
                  </a:cubicBezTo>
                  <a:cubicBezTo>
                    <a:pt x="148" y="130"/>
                    <a:pt x="116" y="69"/>
                    <a:pt x="44" y="1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4" y="49"/>
                    <a:pt x="53" y="51"/>
                    <a:pt x="51" y="52"/>
                  </a:cubicBezTo>
                  <a:cubicBezTo>
                    <a:pt x="49" y="53"/>
                    <a:pt x="46" y="52"/>
                    <a:pt x="46" y="50"/>
                  </a:cubicBezTo>
                  <a:cubicBezTo>
                    <a:pt x="41" y="41"/>
                    <a:pt x="33" y="22"/>
                    <a:pt x="34" y="1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6"/>
                    <a:pt x="33" y="4"/>
                    <a:pt x="34" y="3"/>
                  </a:cubicBezTo>
                  <a:cubicBezTo>
                    <a:pt x="35" y="3"/>
                    <a:pt x="35" y="3"/>
                    <a:pt x="36" y="3"/>
                  </a:cubicBezTo>
                  <a:cubicBezTo>
                    <a:pt x="37" y="1"/>
                    <a:pt x="40" y="0"/>
                    <a:pt x="44" y="0"/>
                  </a:cubicBezTo>
                  <a:cubicBezTo>
                    <a:pt x="59" y="3"/>
                    <a:pt x="81" y="6"/>
                    <a:pt x="81" y="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62" y="11"/>
                    <a:pt x="47" y="9"/>
                  </a:cubicBezTo>
                  <a:cubicBezTo>
                    <a:pt x="125" y="66"/>
                    <a:pt x="158" y="131"/>
                    <a:pt x="161" y="187"/>
                  </a:cubicBezTo>
                  <a:cubicBezTo>
                    <a:pt x="217" y="225"/>
                    <a:pt x="238" y="287"/>
                    <a:pt x="239" y="288"/>
                  </a:cubicBezTo>
                  <a:cubicBezTo>
                    <a:pt x="239" y="290"/>
                    <a:pt x="238" y="293"/>
                    <a:pt x="236" y="293"/>
                  </a:cubicBezTo>
                  <a:cubicBezTo>
                    <a:pt x="234" y="294"/>
                    <a:pt x="232" y="293"/>
                    <a:pt x="231" y="291"/>
                  </a:cubicBezTo>
                  <a:cubicBezTo>
                    <a:pt x="231" y="290"/>
                    <a:pt x="211" y="233"/>
                    <a:pt x="161" y="197"/>
                  </a:cubicBezTo>
                  <a:cubicBezTo>
                    <a:pt x="161" y="217"/>
                    <a:pt x="156" y="236"/>
                    <a:pt x="149" y="252"/>
                  </a:cubicBezTo>
                  <a:cubicBezTo>
                    <a:pt x="134" y="283"/>
                    <a:pt x="109" y="301"/>
                    <a:pt x="82" y="301"/>
                  </a:cubicBezTo>
                  <a:close/>
                  <a:moveTo>
                    <a:pt x="79" y="168"/>
                  </a:moveTo>
                  <a:cubicBezTo>
                    <a:pt x="43" y="168"/>
                    <a:pt x="21" y="189"/>
                    <a:pt x="16" y="214"/>
                  </a:cubicBezTo>
                  <a:cubicBezTo>
                    <a:pt x="9" y="243"/>
                    <a:pt x="24" y="279"/>
                    <a:pt x="66" y="291"/>
                  </a:cubicBezTo>
                  <a:cubicBezTo>
                    <a:pt x="96" y="299"/>
                    <a:pt x="125" y="283"/>
                    <a:pt x="141" y="249"/>
                  </a:cubicBezTo>
                  <a:cubicBezTo>
                    <a:pt x="149" y="232"/>
                    <a:pt x="154" y="212"/>
                    <a:pt x="153" y="191"/>
                  </a:cubicBezTo>
                  <a:cubicBezTo>
                    <a:pt x="138" y="181"/>
                    <a:pt x="120" y="174"/>
                    <a:pt x="99" y="170"/>
                  </a:cubicBezTo>
                  <a:cubicBezTo>
                    <a:pt x="92" y="168"/>
                    <a:pt x="85" y="168"/>
                    <a:pt x="79" y="1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solidFill>
                  <a:prstClr val="black"/>
                </a:solidFill>
                <a:sym typeface="Arial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122" y="3071315"/>
            <a:ext cx="2042337" cy="432854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8440436" y="3424613"/>
            <a:ext cx="3033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dirty="0">
                <a:solidFill>
                  <a:prstClr val="black"/>
                </a:solidFill>
              </a:rPr>
              <a:t>由现代室内空间结束的</a:t>
            </a:r>
            <a:r>
              <a:rPr lang="zh-CN" altLang="en-US" sz="1400" dirty="0"/>
              <a:t>时间幻像</a:t>
            </a:r>
          </a:p>
        </p:txBody>
      </p:sp>
    </p:spTree>
    <p:extLst>
      <p:ext uri="{BB962C8B-B14F-4D97-AF65-F5344CB8AC3E}">
        <p14:creationId xmlns:p14="http://schemas.microsoft.com/office/powerpoint/2010/main" val="60435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1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1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1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1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1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1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5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1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1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25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534" y="59208"/>
            <a:ext cx="3886538" cy="68998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569" y="2055813"/>
            <a:ext cx="6529897" cy="307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45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36991" y="2195480"/>
            <a:ext cx="7990901" cy="180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以崇高为主题宅邸典范支持着现代室内装潢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现代家具则变成了对典范模仿的元件</a:t>
            </a:r>
            <a:r>
              <a:rPr lang="zh-CN" altLang="en-US" sz="1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（在家中创造出所梦想的精致气氛）</a:t>
            </a:r>
            <a:endParaRPr lang="en-US" altLang="zh-CN" sz="1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事实上却是迈向全新的实用组织体制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封闭性格已被揭去和社会及人际结构明显的变动相平行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9484" y="925417"/>
            <a:ext cx="3877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元件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1330"/>
            <a:ext cx="3872345" cy="24266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963" y="4053273"/>
            <a:ext cx="5600702" cy="280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4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48000" y="2525676"/>
            <a:ext cx="6096000" cy="180664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照明赋予事物独特价值，创造明与暗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遮除光源的倾向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隐蔽式光源塑造均匀的照明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光源被分散减弱以消除其拥有的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象征封套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88125" y="1233889"/>
            <a:ext cx="1916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照明</a:t>
            </a:r>
          </a:p>
        </p:txBody>
      </p:sp>
    </p:spTree>
    <p:extLst>
      <p:ext uri="{BB962C8B-B14F-4D97-AF65-F5344CB8AC3E}">
        <p14:creationId xmlns:p14="http://schemas.microsoft.com/office/powerpoint/2010/main" val="2131589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查看源图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0"/>
            <a:ext cx="12096750" cy="654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29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99811" y="1369730"/>
            <a:ext cx="8486660" cy="226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房间成为相互开放、连通的关系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房间内部也分割为各种角落、流变不定的区域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窗户被取消，解除其成为光和空气出现时的必经“孔穴”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人在物和自我形象间所做的联系被改变为“函数”关系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3391" y="631586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82E3F"/>
                </a:solidFill>
                <a:effectLst/>
                <a:uLnTx/>
                <a:uFillTx/>
                <a:latin typeface="等线 Light" panose="020F0302020204030204"/>
                <a:cs typeface="+mj-cs"/>
              </a:rPr>
              <a:t>墙壁与光线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482E3F"/>
              </a:solidFill>
              <a:effectLst/>
              <a:uLnTx/>
              <a:uFillTx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125"/>
            <a:ext cx="3095625" cy="2428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6" y="4429126"/>
            <a:ext cx="3887066" cy="24294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692" y="3431598"/>
            <a:ext cx="5148965" cy="342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9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6935" y="1796759"/>
            <a:ext cx="8978747" cy="226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镜子在古典家具中的作用是展开反射与自我指涉的功能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镜子是空间的封闭：中心和对中心的回归</a:t>
            </a:r>
            <a:r>
              <a:rPr lang="zh-CN" altLang="en-US" sz="16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（迂回）</a:t>
            </a:r>
            <a:endParaRPr lang="en-US" altLang="zh-CN" sz="16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画像即是家庭一面时间的镜子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现代家居中镜子退入衣帽间和洗手间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现代家居中任何事物都不该再成为密度过高的聚焦</a:t>
            </a:r>
            <a:r>
              <a:rPr lang="zh-CN" altLang="en-US" sz="16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（被赋予意义）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23720" y="760164"/>
            <a:ext cx="2588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82E3F"/>
                </a:solidFill>
              </a:rPr>
              <a:t>镜子与画像</a:t>
            </a:r>
          </a:p>
        </p:txBody>
      </p:sp>
    </p:spTree>
    <p:extLst>
      <p:ext uri="{BB962C8B-B14F-4D97-AF65-F5344CB8AC3E}">
        <p14:creationId xmlns:p14="http://schemas.microsoft.com/office/powerpoint/2010/main" val="46552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77B31-CDA8-7003-969E-60FA3AEE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1696BF-A44E-BD44-739F-C11764566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010" y="4553212"/>
            <a:ext cx="10515600" cy="1500187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没有人、也没有凌乱感的空间会怎样？</a:t>
            </a:r>
            <a:r>
              <a:rPr lang="zh-CN" altLang="en-US" sz="1200" dirty="0"/>
              <a:t>个体的散射变为函数的变量组合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438150"/>
            <a:ext cx="5969000" cy="42814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168" y="4112822"/>
            <a:ext cx="4116964" cy="23809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731" y="1645880"/>
            <a:ext cx="4474852" cy="21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88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1871" y="2005132"/>
            <a:ext cx="11092543" cy="2727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家不再设立“物”的剧场或创造氛围，而只是解决住的问题</a:t>
            </a:r>
            <a:r>
              <a:rPr lang="en-US" altLang="zh-CN" sz="1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没有围绕人，“物”的剧场</a:t>
            </a:r>
            <a:r>
              <a:rPr lang="en-US" altLang="zh-CN" sz="1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人停止对物品的作用，不继续在它们身上投射自己的形象</a:t>
            </a:r>
            <a:r>
              <a:rPr lang="zh-CN" altLang="en-US" sz="16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（更准确：人成为物的说明）</a:t>
            </a:r>
            <a:endParaRPr lang="en-US" altLang="zh-CN" sz="16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物品才能成为元件被摆布与组合，成为向他人和自己发出的信息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事物不再相互回应，而是互相联系通达</a:t>
            </a:r>
            <a:endParaRPr lang="en-US" altLang="zh-CN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通过转化为符码元素的简化过程，事物仅表现出一种整体的协调性</a:t>
            </a:r>
            <a:r>
              <a:rPr lang="zh-CN" altLang="en-US" sz="1600" dirty="0">
                <a:solidFill>
                  <a:srgbClr val="482E3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（最好的情况）</a:t>
            </a:r>
            <a:endParaRPr lang="en-US" altLang="zh-CN" sz="16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rgbClr val="482E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1168" y="772532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迈向摆设的社会学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85235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摆设人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25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3487" y="1825625"/>
            <a:ext cx="11379200" cy="4351338"/>
          </a:xfrm>
        </p:spPr>
        <p:txBody>
          <a:bodyPr/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既非物主亦非单纯的使用者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透过对空间的操控，掌控了所有可能的相互关系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现代人不需要他的物品，要像聪明的传播技师不断调配各种可能，外显的实践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               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（上海的咖啡厅和餐饮）</a:t>
            </a:r>
            <a:endParaRPr lang="en-US" altLang="zh-CN" sz="1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客观化的游戏夹杂着暧昧的词语：“个性化”、“属于自己的居家气氛”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（无罪证明）</a:t>
            </a:r>
            <a:endParaRPr lang="en-US" altLang="zh-CN" sz="1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摆设人意味着构成了变动而客观组合的关系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变动与组合关系背后的策略是信息的绝对流通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6657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prstClr val="black"/>
                </a:solidFill>
              </a:rPr>
              <a:t>                                                               P27 </a:t>
            </a:r>
            <a:r>
              <a:rPr lang="zh-CN" altLang="en-US" sz="1600" dirty="0">
                <a:solidFill>
                  <a:prstClr val="black"/>
                </a:solidFill>
              </a:rPr>
              <a:t>翻转空间概念</a:t>
            </a:r>
            <a:endParaRPr lang="zh-CN" altLang="en-US" sz="16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24"/>
            <a:ext cx="3263503" cy="4351338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503" y="3803898"/>
            <a:ext cx="4072136" cy="305410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259" y="-724"/>
            <a:ext cx="2842002" cy="378933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448" y="3789336"/>
            <a:ext cx="4091552" cy="306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537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意义空间向功能空间的转变</a:t>
            </a:r>
            <a:endParaRPr lang="zh-CN" altLang="en-US" sz="1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31415" y="1814608"/>
            <a:ext cx="10134600" cy="4351338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sz="2400" dirty="0"/>
              <a:t>“家宅”的道德感向功能强迫的转化</a:t>
            </a:r>
            <a:endParaRPr lang="en-US" altLang="zh-CN" sz="2400" dirty="0"/>
          </a:p>
          <a:p>
            <a:r>
              <a:rPr lang="zh-CN" altLang="en-US" sz="2400" b="1" dirty="0"/>
              <a:t>物的功能性得到了解放：人的解放也只停留在作为物的使用者的阶段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1600" dirty="0"/>
              <a:t>    </a:t>
            </a:r>
            <a:r>
              <a:rPr lang="zh-CN" altLang="en-US" sz="1600" dirty="0"/>
              <a:t>（人的被迫性</a:t>
            </a:r>
            <a:r>
              <a:rPr lang="en-US" altLang="zh-CN" sz="1600" dirty="0"/>
              <a:t>-</a:t>
            </a:r>
            <a:r>
              <a:rPr lang="zh-CN" altLang="en-US" sz="1600" dirty="0"/>
              <a:t>以丰富选择的方式呈现的“自由”</a:t>
            </a:r>
            <a:r>
              <a:rPr lang="en-US" altLang="zh-CN" sz="1600" dirty="0"/>
              <a:t>-</a:t>
            </a:r>
            <a:r>
              <a:rPr lang="zh-CN" altLang="en-US" sz="1600" dirty="0"/>
              <a:t>使用自由）</a:t>
            </a:r>
            <a:endParaRPr lang="en-US" altLang="zh-CN" sz="1600" dirty="0"/>
          </a:p>
          <a:p>
            <a:r>
              <a:rPr lang="zh-CN" altLang="en-US" sz="2400" dirty="0"/>
              <a:t>空间才是物的真正的自由，而功能只是形式上的自由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413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</TotalTime>
  <Words>1554</Words>
  <Application>Microsoft Office PowerPoint</Application>
  <PresentationFormat>宽屏</PresentationFormat>
  <Paragraphs>156</Paragraphs>
  <Slides>34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1" baseType="lpstr">
      <vt:lpstr>等线</vt:lpstr>
      <vt:lpstr>等线 Light</vt:lpstr>
      <vt:lpstr>方正苏新诗柳楷简体-yolan</vt:lpstr>
      <vt:lpstr>仿宋</vt:lpstr>
      <vt:lpstr>华文宋体</vt:lpstr>
      <vt:lpstr>华文行楷</vt:lpstr>
      <vt:lpstr>宋体</vt:lpstr>
      <vt:lpstr>微软雅黑</vt:lpstr>
      <vt:lpstr>Arial</vt:lpstr>
      <vt:lpstr>Cormorant Garamond</vt:lpstr>
      <vt:lpstr>Cormorant Garamond Light</vt:lpstr>
      <vt:lpstr>Montserrat Light</vt:lpstr>
      <vt:lpstr>Montserrat Semi</vt:lpstr>
      <vt:lpstr>Times</vt:lpstr>
      <vt:lpstr>Times New Roman</vt:lpstr>
      <vt:lpstr>造字工房黄金时代（非商用）粗体</vt:lpstr>
      <vt:lpstr>Office 主题​​</vt:lpstr>
      <vt:lpstr>PowerPoint 演示文稿</vt:lpstr>
      <vt:lpstr>问题意识</vt:lpstr>
      <vt:lpstr>PowerPoint 演示文稿</vt:lpstr>
      <vt:lpstr>PowerPoint 演示文稿</vt:lpstr>
      <vt:lpstr>PowerPoint 演示文稿</vt:lpstr>
      <vt:lpstr>PowerPoint 演示文稿</vt:lpstr>
      <vt:lpstr>物体系的理论基础—— 马克思《1844年经济学手稿》</vt:lpstr>
      <vt:lpstr>物体系的理论基础——列斐伏尔《现代社会的日常生活》</vt:lpstr>
      <vt:lpstr>物体系的理论基础——罗兰.巴特</vt:lpstr>
      <vt:lpstr>PowerPoint 演示文稿</vt:lpstr>
      <vt:lpstr>PowerPoint 演示文稿</vt:lpstr>
      <vt:lpstr>社会中的“物”莫斯《礼物》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P15</vt:lpstr>
      <vt:lpstr>PowerPoint 演示文稿</vt:lpstr>
      <vt:lpstr>宜家</vt:lpstr>
      <vt:lpstr>家庭“物”：对比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摆设人25</vt:lpstr>
      <vt:lpstr>                                                               P27 翻转空间概念</vt:lpstr>
      <vt:lpstr>意义空间向功能空间的转变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</cp:revision>
  <dcterms:created xsi:type="dcterms:W3CDTF">2025-10-12T14:45:30Z</dcterms:created>
  <dcterms:modified xsi:type="dcterms:W3CDTF">2026-10-09T14:22:27Z</dcterms:modified>
</cp:coreProperties>
</file>