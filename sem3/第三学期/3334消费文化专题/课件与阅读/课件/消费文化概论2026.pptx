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42.jpg" ContentType="image/png"/>
  <Override PartName="/ppt/notesSlides/notesSlide8.xml" ContentType="application/vnd.openxmlformats-officedocument.presentationml.notesSlide+xml"/>
  <Override PartName="/ppt/media/image54.jpg" ContentType="image/png"/>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79" r:id="rId2"/>
  </p:sldMasterIdLst>
  <p:notesMasterIdLst>
    <p:notesMasterId r:id="rId81"/>
  </p:notesMasterIdLst>
  <p:sldIdLst>
    <p:sldId id="257" r:id="rId3"/>
    <p:sldId id="381" r:id="rId4"/>
    <p:sldId id="382" r:id="rId5"/>
    <p:sldId id="327" r:id="rId6"/>
    <p:sldId id="328" r:id="rId7"/>
    <p:sldId id="329" r:id="rId8"/>
    <p:sldId id="330" r:id="rId9"/>
    <p:sldId id="331" r:id="rId10"/>
    <p:sldId id="332" r:id="rId11"/>
    <p:sldId id="389" r:id="rId12"/>
    <p:sldId id="334" r:id="rId13"/>
    <p:sldId id="335" r:id="rId14"/>
    <p:sldId id="333" r:id="rId15"/>
    <p:sldId id="336" r:id="rId16"/>
    <p:sldId id="338" r:id="rId17"/>
    <p:sldId id="400" r:id="rId18"/>
    <p:sldId id="339" r:id="rId19"/>
    <p:sldId id="340" r:id="rId20"/>
    <p:sldId id="377" r:id="rId21"/>
    <p:sldId id="379" r:id="rId22"/>
    <p:sldId id="341" r:id="rId23"/>
    <p:sldId id="402" r:id="rId24"/>
    <p:sldId id="404" r:id="rId25"/>
    <p:sldId id="401" r:id="rId26"/>
    <p:sldId id="380" r:id="rId27"/>
    <p:sldId id="385" r:id="rId28"/>
    <p:sldId id="386" r:id="rId29"/>
    <p:sldId id="387" r:id="rId30"/>
    <p:sldId id="344" r:id="rId31"/>
    <p:sldId id="345" r:id="rId32"/>
    <p:sldId id="393" r:id="rId33"/>
    <p:sldId id="391" r:id="rId34"/>
    <p:sldId id="399" r:id="rId35"/>
    <p:sldId id="346" r:id="rId36"/>
    <p:sldId id="407" r:id="rId37"/>
    <p:sldId id="348" r:id="rId38"/>
    <p:sldId id="384" r:id="rId39"/>
    <p:sldId id="408" r:id="rId40"/>
    <p:sldId id="351" r:id="rId41"/>
    <p:sldId id="352" r:id="rId42"/>
    <p:sldId id="353" r:id="rId43"/>
    <p:sldId id="396" r:id="rId44"/>
    <p:sldId id="409" r:id="rId45"/>
    <p:sldId id="410" r:id="rId46"/>
    <p:sldId id="411" r:id="rId47"/>
    <p:sldId id="355" r:id="rId48"/>
    <p:sldId id="354" r:id="rId49"/>
    <p:sldId id="356" r:id="rId50"/>
    <p:sldId id="405" r:id="rId51"/>
    <p:sldId id="388" r:id="rId52"/>
    <p:sldId id="361" r:id="rId53"/>
    <p:sldId id="416" r:id="rId54"/>
    <p:sldId id="417" r:id="rId55"/>
    <p:sldId id="358" r:id="rId56"/>
    <p:sldId id="412" r:id="rId57"/>
    <p:sldId id="357" r:id="rId58"/>
    <p:sldId id="415" r:id="rId59"/>
    <p:sldId id="413" r:id="rId60"/>
    <p:sldId id="359" r:id="rId61"/>
    <p:sldId id="360" r:id="rId62"/>
    <p:sldId id="418" r:id="rId63"/>
    <p:sldId id="419" r:id="rId64"/>
    <p:sldId id="421" r:id="rId65"/>
    <p:sldId id="420" r:id="rId66"/>
    <p:sldId id="426" r:id="rId67"/>
    <p:sldId id="422" r:id="rId68"/>
    <p:sldId id="423" r:id="rId69"/>
    <p:sldId id="424" r:id="rId70"/>
    <p:sldId id="425" r:id="rId71"/>
    <p:sldId id="374" r:id="rId72"/>
    <p:sldId id="375" r:id="rId73"/>
    <p:sldId id="267" r:id="rId74"/>
    <p:sldId id="322" r:id="rId75"/>
    <p:sldId id="394" r:id="rId76"/>
    <p:sldId id="397" r:id="rId77"/>
    <p:sldId id="428" r:id="rId78"/>
    <p:sldId id="376" r:id="rId79"/>
    <p:sldId id="324" r:id="rId80"/>
  </p:sldIdLst>
  <p:sldSz cx="12192000" cy="6858000"/>
  <p:notesSz cx="6858000" cy="9144000"/>
  <p:embeddedFontLst>
    <p:embeddedFont>
      <p:font typeface="Montserrat" panose="00000500000000000000" pitchFamily="2" charset="0"/>
      <p:regular r:id="rId82"/>
      <p:bold r:id="rId83"/>
      <p:italic r:id="rId84"/>
      <p:boldItalic r:id="rId85"/>
    </p:embeddedFont>
    <p:embeddedFont>
      <p:font typeface="Montserrat Light" panose="00000400000000000000" pitchFamily="2" charset="0"/>
      <p:regular r:id="rId86"/>
      <p:italic r:id="rId87"/>
    </p:embeddedFont>
    <p:embeddedFont>
      <p:font typeface="等线" panose="02010600030101010101" pitchFamily="2" charset="-122"/>
      <p:regular r:id="rId88"/>
      <p:bold r:id="rId89"/>
    </p:embeddedFont>
    <p:embeddedFont>
      <p:font typeface="黑体" panose="02010609060101010101" pitchFamily="49" charset="-122"/>
      <p:regular r:id="rId90"/>
    </p:embeddedFont>
    <p:embeddedFont>
      <p:font typeface="微软雅黑" panose="020B0503020204020204" pitchFamily="34" charset="-122"/>
      <p:regular r:id="rId91"/>
      <p:bold r:id="rId92"/>
    </p:embeddedFont>
  </p:embeddedFontLst>
  <p:custDataLst>
    <p:tags r:id="rId9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32"/>
    <p:restoredTop sz="93886"/>
  </p:normalViewPr>
  <p:slideViewPr>
    <p:cSldViewPr snapToGrid="0" snapToObjects="1">
      <p:cViewPr varScale="1">
        <p:scale>
          <a:sx n="83" d="100"/>
          <a:sy n="83" d="100"/>
        </p:scale>
        <p:origin x="42" y="393"/>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3049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font" Target="fonts/font9.fntdata"/><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6.fntdata"/><Relationship Id="rId61" Type="http://schemas.openxmlformats.org/officeDocument/2006/relationships/slide" Target="slides/slide59.xml"/><Relationship Id="rId82"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183FBC-B860-A74C-B725-AC2B7D1D9DA9}"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5ADDB-E251-D04A-8D00-39C4857359EB}" type="slidenum">
              <a:rPr lang="en-US" smtClean="0"/>
              <a:t>‹#›</a:t>
            </a:fld>
            <a:endParaRPr lang="en-US"/>
          </a:p>
        </p:txBody>
      </p:sp>
    </p:spTree>
    <p:extLst>
      <p:ext uri="{BB962C8B-B14F-4D97-AF65-F5344CB8AC3E}">
        <p14:creationId xmlns:p14="http://schemas.microsoft.com/office/powerpoint/2010/main" val="454159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t>1</a:t>
            </a:fld>
            <a:endParaRPr lang="en-US"/>
          </a:p>
        </p:txBody>
      </p:sp>
    </p:spTree>
    <p:extLst>
      <p:ext uri="{BB962C8B-B14F-4D97-AF65-F5344CB8AC3E}">
        <p14:creationId xmlns:p14="http://schemas.microsoft.com/office/powerpoint/2010/main" val="2623388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924624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3609591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4012067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2880553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270305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3023404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t>72</a:t>
            </a:fld>
            <a:endParaRPr lang="en-US"/>
          </a:p>
        </p:txBody>
      </p:sp>
    </p:spTree>
    <p:extLst>
      <p:ext uri="{BB962C8B-B14F-4D97-AF65-F5344CB8AC3E}">
        <p14:creationId xmlns:p14="http://schemas.microsoft.com/office/powerpoint/2010/main" val="2837375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t>73</a:t>
            </a:fld>
            <a:endParaRPr lang="en-US"/>
          </a:p>
        </p:txBody>
      </p:sp>
    </p:spTree>
    <p:extLst>
      <p:ext uri="{BB962C8B-B14F-4D97-AF65-F5344CB8AC3E}">
        <p14:creationId xmlns:p14="http://schemas.microsoft.com/office/powerpoint/2010/main" val="3697019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975ADDB-E251-D04A-8D00-39C4857359EB}" type="slidenum">
              <a:rPr lang="en-US" smtClean="0"/>
              <a:t>78</a:t>
            </a:fld>
            <a:endParaRPr lang="en-US"/>
          </a:p>
        </p:txBody>
      </p:sp>
    </p:spTree>
    <p:extLst>
      <p:ext uri="{BB962C8B-B14F-4D97-AF65-F5344CB8AC3E}">
        <p14:creationId xmlns:p14="http://schemas.microsoft.com/office/powerpoint/2010/main" val="3524206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9453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582693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964267" y="0"/>
            <a:ext cx="10227733" cy="6858000"/>
          </a:xfrm>
          <a:custGeom>
            <a:avLst/>
            <a:gdLst>
              <a:gd name="connsiteX0" fmla="*/ 0 w 10083800"/>
              <a:gd name="connsiteY0" fmla="*/ 0 h 6858000"/>
              <a:gd name="connsiteX1" fmla="*/ 10083800 w 10083800"/>
              <a:gd name="connsiteY1" fmla="*/ 0 h 6858000"/>
              <a:gd name="connsiteX2" fmla="*/ 10083800 w 10083800"/>
              <a:gd name="connsiteY2" fmla="*/ 6858000 h 6858000"/>
              <a:gd name="connsiteX3" fmla="*/ 0 w 10083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83800" h="6858000">
                <a:moveTo>
                  <a:pt x="0" y="0"/>
                </a:moveTo>
                <a:lnTo>
                  <a:pt x="10083800" y="0"/>
                </a:lnTo>
                <a:lnTo>
                  <a:pt x="10083800"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73882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7927784" y="2403022"/>
            <a:ext cx="3814636" cy="3614057"/>
          </a:xfrm>
          <a:custGeom>
            <a:avLst/>
            <a:gdLst>
              <a:gd name="connsiteX0" fmla="*/ 0 w 3814636"/>
              <a:gd name="connsiteY0" fmla="*/ 0 h 3614057"/>
              <a:gd name="connsiteX1" fmla="*/ 3814636 w 3814636"/>
              <a:gd name="connsiteY1" fmla="*/ 0 h 3614057"/>
              <a:gd name="connsiteX2" fmla="*/ 3814636 w 3814636"/>
              <a:gd name="connsiteY2" fmla="*/ 3614057 h 3614057"/>
              <a:gd name="connsiteX3" fmla="*/ 0 w 3814636"/>
              <a:gd name="connsiteY3" fmla="*/ 3614057 h 3614057"/>
            </a:gdLst>
            <a:ahLst/>
            <a:cxnLst>
              <a:cxn ang="0">
                <a:pos x="connsiteX0" y="connsiteY0"/>
              </a:cxn>
              <a:cxn ang="0">
                <a:pos x="connsiteX1" y="connsiteY1"/>
              </a:cxn>
              <a:cxn ang="0">
                <a:pos x="connsiteX2" y="connsiteY2"/>
              </a:cxn>
              <a:cxn ang="0">
                <a:pos x="connsiteX3" y="connsiteY3"/>
              </a:cxn>
            </a:cxnLst>
            <a:rect l="l" t="t" r="r" b="b"/>
            <a:pathLst>
              <a:path w="3814636" h="3614057">
                <a:moveTo>
                  <a:pt x="0" y="0"/>
                </a:moveTo>
                <a:lnTo>
                  <a:pt x="3814636" y="0"/>
                </a:lnTo>
                <a:lnTo>
                  <a:pt x="3814636" y="3614057"/>
                </a:lnTo>
                <a:lnTo>
                  <a:pt x="0" y="3614057"/>
                </a:lnTo>
                <a:close/>
              </a:path>
            </a:pathLst>
          </a:custGeom>
        </p:spPr>
        <p:txBody>
          <a:bodyPr wrap="square">
            <a:noAutofit/>
          </a:bodyPr>
          <a:lstStyle/>
          <a:p>
            <a:endParaRPr lang="en-US"/>
          </a:p>
        </p:txBody>
      </p:sp>
    </p:spTree>
    <p:extLst>
      <p:ext uri="{BB962C8B-B14F-4D97-AF65-F5344CB8AC3E}">
        <p14:creationId xmlns:p14="http://schemas.microsoft.com/office/powerpoint/2010/main" val="54142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2159206" y="1432899"/>
            <a:ext cx="3992202" cy="3992202"/>
          </a:xfrm>
          <a:custGeom>
            <a:avLst/>
            <a:gdLst>
              <a:gd name="connsiteX0" fmla="*/ 0 w 3992202"/>
              <a:gd name="connsiteY0" fmla="*/ 0 h 3992202"/>
              <a:gd name="connsiteX1" fmla="*/ 3992202 w 3992202"/>
              <a:gd name="connsiteY1" fmla="*/ 0 h 3992202"/>
              <a:gd name="connsiteX2" fmla="*/ 3992202 w 3992202"/>
              <a:gd name="connsiteY2" fmla="*/ 3992202 h 3992202"/>
              <a:gd name="connsiteX3" fmla="*/ 0 w 3992202"/>
              <a:gd name="connsiteY3" fmla="*/ 3992202 h 3992202"/>
            </a:gdLst>
            <a:ahLst/>
            <a:cxnLst>
              <a:cxn ang="0">
                <a:pos x="connsiteX0" y="connsiteY0"/>
              </a:cxn>
              <a:cxn ang="0">
                <a:pos x="connsiteX1" y="connsiteY1"/>
              </a:cxn>
              <a:cxn ang="0">
                <a:pos x="connsiteX2" y="connsiteY2"/>
              </a:cxn>
              <a:cxn ang="0">
                <a:pos x="connsiteX3" y="connsiteY3"/>
              </a:cxn>
            </a:cxnLst>
            <a:rect l="l" t="t" r="r" b="b"/>
            <a:pathLst>
              <a:path w="3992202" h="3992202">
                <a:moveTo>
                  <a:pt x="0" y="0"/>
                </a:moveTo>
                <a:lnTo>
                  <a:pt x="3992202" y="0"/>
                </a:lnTo>
                <a:lnTo>
                  <a:pt x="3992202" y="3992202"/>
                </a:lnTo>
                <a:lnTo>
                  <a:pt x="0" y="3992202"/>
                </a:lnTo>
                <a:close/>
              </a:path>
            </a:pathLst>
          </a:custGeom>
        </p:spPr>
        <p:txBody>
          <a:bodyPr wrap="square">
            <a:noAutofit/>
          </a:bodyPr>
          <a:lstStyle/>
          <a:p>
            <a:endParaRPr lang="en-US"/>
          </a:p>
        </p:txBody>
      </p:sp>
    </p:spTree>
    <p:extLst>
      <p:ext uri="{BB962C8B-B14F-4D97-AF65-F5344CB8AC3E}">
        <p14:creationId xmlns:p14="http://schemas.microsoft.com/office/powerpoint/2010/main" val="17503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910667" y="840921"/>
            <a:ext cx="7281334" cy="6017079"/>
          </a:xfrm>
          <a:custGeom>
            <a:avLst/>
            <a:gdLst>
              <a:gd name="connsiteX0" fmla="*/ 0 w 7281334"/>
              <a:gd name="connsiteY0" fmla="*/ 0 h 6017079"/>
              <a:gd name="connsiteX1" fmla="*/ 7281334 w 7281334"/>
              <a:gd name="connsiteY1" fmla="*/ 0 h 6017079"/>
              <a:gd name="connsiteX2" fmla="*/ 7281334 w 7281334"/>
              <a:gd name="connsiteY2" fmla="*/ 6017079 h 6017079"/>
              <a:gd name="connsiteX3" fmla="*/ 0 w 7281334"/>
              <a:gd name="connsiteY3" fmla="*/ 6017079 h 6017079"/>
            </a:gdLst>
            <a:ahLst/>
            <a:cxnLst>
              <a:cxn ang="0">
                <a:pos x="connsiteX0" y="connsiteY0"/>
              </a:cxn>
              <a:cxn ang="0">
                <a:pos x="connsiteX1" y="connsiteY1"/>
              </a:cxn>
              <a:cxn ang="0">
                <a:pos x="connsiteX2" y="connsiteY2"/>
              </a:cxn>
              <a:cxn ang="0">
                <a:pos x="connsiteX3" y="connsiteY3"/>
              </a:cxn>
            </a:cxnLst>
            <a:rect l="l" t="t" r="r" b="b"/>
            <a:pathLst>
              <a:path w="7281334" h="6017079">
                <a:moveTo>
                  <a:pt x="0" y="0"/>
                </a:moveTo>
                <a:lnTo>
                  <a:pt x="7281334" y="0"/>
                </a:lnTo>
                <a:lnTo>
                  <a:pt x="7281334" y="6017079"/>
                </a:lnTo>
                <a:lnTo>
                  <a:pt x="0" y="6017079"/>
                </a:lnTo>
                <a:close/>
              </a:path>
            </a:pathLst>
          </a:custGeom>
        </p:spPr>
        <p:txBody>
          <a:bodyPr wrap="square">
            <a:noAutofit/>
          </a:bodyPr>
          <a:lstStyle/>
          <a:p>
            <a:endParaRPr lang="en-US"/>
          </a:p>
        </p:txBody>
      </p:sp>
    </p:spTree>
    <p:extLst>
      <p:ext uri="{BB962C8B-B14F-4D97-AF65-F5344CB8AC3E}">
        <p14:creationId xmlns:p14="http://schemas.microsoft.com/office/powerpoint/2010/main" val="1998556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49580" y="840921"/>
            <a:ext cx="11292840" cy="5176158"/>
          </a:xfrm>
          <a:custGeom>
            <a:avLst/>
            <a:gdLst>
              <a:gd name="connsiteX0" fmla="*/ 0 w 11292840"/>
              <a:gd name="connsiteY0" fmla="*/ 0 h 5176158"/>
              <a:gd name="connsiteX1" fmla="*/ 11292840 w 11292840"/>
              <a:gd name="connsiteY1" fmla="*/ 0 h 5176158"/>
              <a:gd name="connsiteX2" fmla="*/ 11292840 w 11292840"/>
              <a:gd name="connsiteY2" fmla="*/ 5176158 h 5176158"/>
              <a:gd name="connsiteX3" fmla="*/ 0 w 11292840"/>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11292840" h="5176158">
                <a:moveTo>
                  <a:pt x="0" y="0"/>
                </a:moveTo>
                <a:lnTo>
                  <a:pt x="11292840" y="0"/>
                </a:lnTo>
                <a:lnTo>
                  <a:pt x="11292840"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729542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449580" y="840921"/>
            <a:ext cx="5646420" cy="5176158"/>
          </a:xfrm>
          <a:custGeom>
            <a:avLst/>
            <a:gdLst>
              <a:gd name="connsiteX0" fmla="*/ 0 w 5646420"/>
              <a:gd name="connsiteY0" fmla="*/ 0 h 5176158"/>
              <a:gd name="connsiteX1" fmla="*/ 5646420 w 5646420"/>
              <a:gd name="connsiteY1" fmla="*/ 0 h 5176158"/>
              <a:gd name="connsiteX2" fmla="*/ 5646420 w 5646420"/>
              <a:gd name="connsiteY2" fmla="*/ 5176158 h 5176158"/>
              <a:gd name="connsiteX3" fmla="*/ 0 w 5646420"/>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5646420" h="5176158">
                <a:moveTo>
                  <a:pt x="0" y="0"/>
                </a:moveTo>
                <a:lnTo>
                  <a:pt x="5646420" y="0"/>
                </a:lnTo>
                <a:lnTo>
                  <a:pt x="5646420"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1112360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096000" y="840921"/>
            <a:ext cx="5646420" cy="5176158"/>
          </a:xfrm>
          <a:custGeom>
            <a:avLst/>
            <a:gdLst>
              <a:gd name="connsiteX0" fmla="*/ 0 w 5646420"/>
              <a:gd name="connsiteY0" fmla="*/ 0 h 5176158"/>
              <a:gd name="connsiteX1" fmla="*/ 5646420 w 5646420"/>
              <a:gd name="connsiteY1" fmla="*/ 0 h 5176158"/>
              <a:gd name="connsiteX2" fmla="*/ 5646420 w 5646420"/>
              <a:gd name="connsiteY2" fmla="*/ 5176158 h 5176158"/>
              <a:gd name="connsiteX3" fmla="*/ 0 w 5646420"/>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5646420" h="5176158">
                <a:moveTo>
                  <a:pt x="0" y="0"/>
                </a:moveTo>
                <a:lnTo>
                  <a:pt x="5646420" y="0"/>
                </a:lnTo>
                <a:lnTo>
                  <a:pt x="5646420"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11395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0" name="Picture Placeholder 9"/>
          <p:cNvSpPr>
            <a:spLocks noGrp="1"/>
          </p:cNvSpPr>
          <p:nvPr>
            <p:ph type="pic" sz="quarter" idx="11"/>
          </p:nvPr>
        </p:nvSpPr>
        <p:spPr>
          <a:xfrm>
            <a:off x="1964267" y="0"/>
            <a:ext cx="7696200" cy="6017079"/>
          </a:xfrm>
          <a:custGeom>
            <a:avLst/>
            <a:gdLst>
              <a:gd name="connsiteX0" fmla="*/ 0 w 7915761"/>
              <a:gd name="connsiteY0" fmla="*/ 0 h 6017079"/>
              <a:gd name="connsiteX1" fmla="*/ 7915761 w 7915761"/>
              <a:gd name="connsiteY1" fmla="*/ 0 h 6017079"/>
              <a:gd name="connsiteX2" fmla="*/ 7915761 w 7915761"/>
              <a:gd name="connsiteY2" fmla="*/ 6017079 h 6017079"/>
              <a:gd name="connsiteX3" fmla="*/ 0 w 7915761"/>
              <a:gd name="connsiteY3" fmla="*/ 6017079 h 6017079"/>
            </a:gdLst>
            <a:ahLst/>
            <a:cxnLst>
              <a:cxn ang="0">
                <a:pos x="connsiteX0" y="connsiteY0"/>
              </a:cxn>
              <a:cxn ang="0">
                <a:pos x="connsiteX1" y="connsiteY1"/>
              </a:cxn>
              <a:cxn ang="0">
                <a:pos x="connsiteX2" y="connsiteY2"/>
              </a:cxn>
              <a:cxn ang="0">
                <a:pos x="connsiteX3" y="connsiteY3"/>
              </a:cxn>
            </a:cxnLst>
            <a:rect l="l" t="t" r="r" b="b"/>
            <a:pathLst>
              <a:path w="7915761" h="6017079">
                <a:moveTo>
                  <a:pt x="0" y="0"/>
                </a:moveTo>
                <a:lnTo>
                  <a:pt x="7915761" y="0"/>
                </a:lnTo>
                <a:lnTo>
                  <a:pt x="7915761" y="6017079"/>
                </a:lnTo>
                <a:lnTo>
                  <a:pt x="0" y="6017079"/>
                </a:lnTo>
                <a:close/>
              </a:path>
            </a:pathLst>
          </a:custGeom>
        </p:spPr>
        <p:txBody>
          <a:bodyPr wrap="square">
            <a:noAutofit/>
          </a:bodyPr>
          <a:lstStyle/>
          <a:p>
            <a:endParaRPr lang="en-US"/>
          </a:p>
        </p:txBody>
      </p:sp>
    </p:spTree>
    <p:extLst>
      <p:ext uri="{BB962C8B-B14F-4D97-AF65-F5344CB8AC3E}">
        <p14:creationId xmlns:p14="http://schemas.microsoft.com/office/powerpoint/2010/main" val="185564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49580" y="840921"/>
            <a:ext cx="11292840" cy="2588079"/>
          </a:xfrm>
          <a:custGeom>
            <a:avLst/>
            <a:gdLst>
              <a:gd name="connsiteX0" fmla="*/ 0 w 11292840"/>
              <a:gd name="connsiteY0" fmla="*/ 0 h 2588079"/>
              <a:gd name="connsiteX1" fmla="*/ 11292840 w 11292840"/>
              <a:gd name="connsiteY1" fmla="*/ 0 h 2588079"/>
              <a:gd name="connsiteX2" fmla="*/ 11292840 w 11292840"/>
              <a:gd name="connsiteY2" fmla="*/ 2588079 h 2588079"/>
              <a:gd name="connsiteX3" fmla="*/ 0 w 1129284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11292840" h="2588079">
                <a:moveTo>
                  <a:pt x="0" y="0"/>
                </a:moveTo>
                <a:lnTo>
                  <a:pt x="11292840" y="0"/>
                </a:lnTo>
                <a:lnTo>
                  <a:pt x="11292840" y="2588079"/>
                </a:lnTo>
                <a:lnTo>
                  <a:pt x="0" y="2588079"/>
                </a:lnTo>
                <a:close/>
              </a:path>
            </a:pathLst>
          </a:custGeom>
        </p:spPr>
        <p:txBody>
          <a:bodyPr wrap="square">
            <a:noAutofit/>
          </a:bodyPr>
          <a:lstStyle/>
          <a:p>
            <a:endParaRPr lang="en-US"/>
          </a:p>
        </p:txBody>
      </p:sp>
    </p:spTree>
    <p:extLst>
      <p:ext uri="{BB962C8B-B14F-4D97-AF65-F5344CB8AC3E}">
        <p14:creationId xmlns:p14="http://schemas.microsoft.com/office/powerpoint/2010/main" val="179418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6096000" cy="6017079"/>
          </a:xfrm>
          <a:custGeom>
            <a:avLst/>
            <a:gdLst>
              <a:gd name="connsiteX0" fmla="*/ 0 w 6096000"/>
              <a:gd name="connsiteY0" fmla="*/ 0 h 6017079"/>
              <a:gd name="connsiteX1" fmla="*/ 6096000 w 6096000"/>
              <a:gd name="connsiteY1" fmla="*/ 0 h 6017079"/>
              <a:gd name="connsiteX2" fmla="*/ 6096000 w 6096000"/>
              <a:gd name="connsiteY2" fmla="*/ 6017079 h 6017079"/>
              <a:gd name="connsiteX3" fmla="*/ 0 w 6096000"/>
              <a:gd name="connsiteY3" fmla="*/ 6017079 h 6017079"/>
            </a:gdLst>
            <a:ahLst/>
            <a:cxnLst>
              <a:cxn ang="0">
                <a:pos x="connsiteX0" y="connsiteY0"/>
              </a:cxn>
              <a:cxn ang="0">
                <a:pos x="connsiteX1" y="connsiteY1"/>
              </a:cxn>
              <a:cxn ang="0">
                <a:pos x="connsiteX2" y="connsiteY2"/>
              </a:cxn>
              <a:cxn ang="0">
                <a:pos x="connsiteX3" y="connsiteY3"/>
              </a:cxn>
            </a:cxnLst>
            <a:rect l="l" t="t" r="r" b="b"/>
            <a:pathLst>
              <a:path w="6096000" h="6017079">
                <a:moveTo>
                  <a:pt x="0" y="0"/>
                </a:moveTo>
                <a:lnTo>
                  <a:pt x="6096000" y="0"/>
                </a:lnTo>
                <a:lnTo>
                  <a:pt x="6096000" y="6017079"/>
                </a:lnTo>
                <a:lnTo>
                  <a:pt x="0" y="6017079"/>
                </a:lnTo>
                <a:close/>
              </a:path>
            </a:pathLst>
          </a:custGeom>
        </p:spPr>
        <p:txBody>
          <a:bodyPr wrap="square">
            <a:noAutofit/>
          </a:bodyPr>
          <a:lstStyle/>
          <a:p>
            <a:endParaRPr lang="en-US"/>
          </a:p>
        </p:txBody>
      </p:sp>
    </p:spTree>
    <p:extLst>
      <p:ext uri="{BB962C8B-B14F-4D97-AF65-F5344CB8AC3E}">
        <p14:creationId xmlns:p14="http://schemas.microsoft.com/office/powerpoint/2010/main" val="1834093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309532" y="840921"/>
            <a:ext cx="7432887" cy="5176158"/>
          </a:xfrm>
          <a:custGeom>
            <a:avLst/>
            <a:gdLst>
              <a:gd name="connsiteX0" fmla="*/ 0 w 7432887"/>
              <a:gd name="connsiteY0" fmla="*/ 0 h 5176158"/>
              <a:gd name="connsiteX1" fmla="*/ 7432887 w 7432887"/>
              <a:gd name="connsiteY1" fmla="*/ 0 h 5176158"/>
              <a:gd name="connsiteX2" fmla="*/ 7432887 w 7432887"/>
              <a:gd name="connsiteY2" fmla="*/ 5176158 h 5176158"/>
              <a:gd name="connsiteX3" fmla="*/ 0 w 7432887"/>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7432887" h="5176158">
                <a:moveTo>
                  <a:pt x="0" y="0"/>
                </a:moveTo>
                <a:lnTo>
                  <a:pt x="7432887" y="0"/>
                </a:lnTo>
                <a:lnTo>
                  <a:pt x="7432887"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494995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7" name="Picture Placeholder 8"/>
          <p:cNvSpPr>
            <a:spLocks noGrp="1"/>
          </p:cNvSpPr>
          <p:nvPr>
            <p:ph type="pic" sz="quarter" idx="11"/>
          </p:nvPr>
        </p:nvSpPr>
        <p:spPr>
          <a:xfrm>
            <a:off x="449580" y="3429000"/>
            <a:ext cx="11292840" cy="2588079"/>
          </a:xfrm>
          <a:custGeom>
            <a:avLst/>
            <a:gdLst>
              <a:gd name="connsiteX0" fmla="*/ 0 w 11292840"/>
              <a:gd name="connsiteY0" fmla="*/ 0 h 2588079"/>
              <a:gd name="connsiteX1" fmla="*/ 11292840 w 11292840"/>
              <a:gd name="connsiteY1" fmla="*/ 0 h 2588079"/>
              <a:gd name="connsiteX2" fmla="*/ 11292840 w 11292840"/>
              <a:gd name="connsiteY2" fmla="*/ 2588079 h 2588079"/>
              <a:gd name="connsiteX3" fmla="*/ 0 w 1129284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11292840" h="2588079">
                <a:moveTo>
                  <a:pt x="0" y="0"/>
                </a:moveTo>
                <a:lnTo>
                  <a:pt x="11292840" y="0"/>
                </a:lnTo>
                <a:lnTo>
                  <a:pt x="11292840" y="2588079"/>
                </a:lnTo>
                <a:lnTo>
                  <a:pt x="0" y="2588079"/>
                </a:lnTo>
                <a:close/>
              </a:path>
            </a:pathLst>
          </a:custGeom>
        </p:spPr>
        <p:txBody>
          <a:bodyPr wrap="square">
            <a:noAutofit/>
          </a:bodyPr>
          <a:lstStyle/>
          <a:p>
            <a:endParaRPr lang="en-US"/>
          </a:p>
        </p:txBody>
      </p:sp>
    </p:spTree>
    <p:extLst>
      <p:ext uri="{BB962C8B-B14F-4D97-AF65-F5344CB8AC3E}">
        <p14:creationId xmlns:p14="http://schemas.microsoft.com/office/powerpoint/2010/main" val="1980467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49580" y="840921"/>
            <a:ext cx="11742418" cy="5176158"/>
          </a:xfrm>
          <a:custGeom>
            <a:avLst/>
            <a:gdLst>
              <a:gd name="connsiteX0" fmla="*/ 6857151 w 11742418"/>
              <a:gd name="connsiteY0" fmla="*/ 0 h 5176158"/>
              <a:gd name="connsiteX1" fmla="*/ 11742418 w 11742418"/>
              <a:gd name="connsiteY1" fmla="*/ 0 h 5176158"/>
              <a:gd name="connsiteX2" fmla="*/ 11742418 w 11742418"/>
              <a:gd name="connsiteY2" fmla="*/ 5176158 h 5176158"/>
              <a:gd name="connsiteX3" fmla="*/ 6857151 w 11742418"/>
              <a:gd name="connsiteY3" fmla="*/ 5176158 h 5176158"/>
              <a:gd name="connsiteX4" fmla="*/ 0 w 11742418"/>
              <a:gd name="connsiteY4" fmla="*/ 0 h 5176158"/>
              <a:gd name="connsiteX5" fmla="*/ 1878752 w 11742418"/>
              <a:gd name="connsiteY5" fmla="*/ 0 h 5176158"/>
              <a:gd name="connsiteX6" fmla="*/ 1878752 w 11742418"/>
              <a:gd name="connsiteY6" fmla="*/ 5176158 h 5176158"/>
              <a:gd name="connsiteX7" fmla="*/ 0 w 11742418"/>
              <a:gd name="connsiteY7" fmla="*/ 5176158 h 517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42418" h="5176158">
                <a:moveTo>
                  <a:pt x="6857151" y="0"/>
                </a:moveTo>
                <a:lnTo>
                  <a:pt x="11742418" y="0"/>
                </a:lnTo>
                <a:lnTo>
                  <a:pt x="11742418" y="5176158"/>
                </a:lnTo>
                <a:lnTo>
                  <a:pt x="6857151" y="5176158"/>
                </a:lnTo>
                <a:close/>
                <a:moveTo>
                  <a:pt x="0" y="0"/>
                </a:moveTo>
                <a:lnTo>
                  <a:pt x="1878752" y="0"/>
                </a:lnTo>
                <a:lnTo>
                  <a:pt x="1878752"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1007312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149599" y="1502833"/>
            <a:ext cx="2954867" cy="3852334"/>
          </a:xfrm>
          <a:custGeom>
            <a:avLst/>
            <a:gdLst>
              <a:gd name="connsiteX0" fmla="*/ 0 w 2954867"/>
              <a:gd name="connsiteY0" fmla="*/ 0 h 3852334"/>
              <a:gd name="connsiteX1" fmla="*/ 2954867 w 2954867"/>
              <a:gd name="connsiteY1" fmla="*/ 0 h 3852334"/>
              <a:gd name="connsiteX2" fmla="*/ 2954867 w 2954867"/>
              <a:gd name="connsiteY2" fmla="*/ 3852334 h 3852334"/>
              <a:gd name="connsiteX3" fmla="*/ 0 w 2954867"/>
              <a:gd name="connsiteY3" fmla="*/ 3852334 h 3852334"/>
            </a:gdLst>
            <a:ahLst/>
            <a:cxnLst>
              <a:cxn ang="0">
                <a:pos x="connsiteX0" y="connsiteY0"/>
              </a:cxn>
              <a:cxn ang="0">
                <a:pos x="connsiteX1" y="connsiteY1"/>
              </a:cxn>
              <a:cxn ang="0">
                <a:pos x="connsiteX2" y="connsiteY2"/>
              </a:cxn>
              <a:cxn ang="0">
                <a:pos x="connsiteX3" y="connsiteY3"/>
              </a:cxn>
            </a:cxnLst>
            <a:rect l="l" t="t" r="r" b="b"/>
            <a:pathLst>
              <a:path w="2954867" h="3852334">
                <a:moveTo>
                  <a:pt x="0" y="0"/>
                </a:moveTo>
                <a:lnTo>
                  <a:pt x="2954867" y="0"/>
                </a:lnTo>
                <a:lnTo>
                  <a:pt x="2954867" y="3852334"/>
                </a:lnTo>
                <a:lnTo>
                  <a:pt x="0" y="3852334"/>
                </a:lnTo>
                <a:close/>
              </a:path>
            </a:pathLst>
          </a:custGeom>
        </p:spPr>
        <p:txBody>
          <a:bodyPr wrap="square">
            <a:noAutofit/>
          </a:bodyPr>
          <a:lstStyle/>
          <a:p>
            <a:endParaRPr lang="en-US"/>
          </a:p>
        </p:txBody>
      </p:sp>
    </p:spTree>
    <p:extLst>
      <p:ext uri="{BB962C8B-B14F-4D97-AF65-F5344CB8AC3E}">
        <p14:creationId xmlns:p14="http://schemas.microsoft.com/office/powerpoint/2010/main" val="1903056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17" name="Picture Placeholder 16"/>
          <p:cNvSpPr>
            <a:spLocks noGrp="1"/>
          </p:cNvSpPr>
          <p:nvPr>
            <p:ph type="pic" sz="quarter" idx="10"/>
          </p:nvPr>
        </p:nvSpPr>
        <p:spPr>
          <a:xfrm>
            <a:off x="449580" y="840921"/>
            <a:ext cx="5646420" cy="5176158"/>
          </a:xfrm>
          <a:custGeom>
            <a:avLst/>
            <a:gdLst>
              <a:gd name="connsiteX0" fmla="*/ 0 w 5646420"/>
              <a:gd name="connsiteY0" fmla="*/ 0 h 5176158"/>
              <a:gd name="connsiteX1" fmla="*/ 5646420 w 5646420"/>
              <a:gd name="connsiteY1" fmla="*/ 0 h 5176158"/>
              <a:gd name="connsiteX2" fmla="*/ 5646420 w 5646420"/>
              <a:gd name="connsiteY2" fmla="*/ 5176158 h 5176158"/>
              <a:gd name="connsiteX3" fmla="*/ 0 w 5646420"/>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5646420" h="5176158">
                <a:moveTo>
                  <a:pt x="0" y="0"/>
                </a:moveTo>
                <a:lnTo>
                  <a:pt x="5646420" y="0"/>
                </a:lnTo>
                <a:lnTo>
                  <a:pt x="5646420" y="5176158"/>
                </a:lnTo>
                <a:lnTo>
                  <a:pt x="0" y="5176158"/>
                </a:lnTo>
                <a:close/>
              </a:path>
            </a:pathLst>
          </a:custGeom>
        </p:spPr>
        <p:txBody>
          <a:bodyPr wrap="square">
            <a:noAutofit/>
          </a:bodyPr>
          <a:lstStyle/>
          <a:p>
            <a:endParaRPr lang="en-US" dirty="0"/>
          </a:p>
        </p:txBody>
      </p:sp>
      <p:sp>
        <p:nvSpPr>
          <p:cNvPr id="18" name="Picture Placeholder 17"/>
          <p:cNvSpPr>
            <a:spLocks noGrp="1"/>
          </p:cNvSpPr>
          <p:nvPr>
            <p:ph type="pic" sz="quarter" idx="11"/>
          </p:nvPr>
        </p:nvSpPr>
        <p:spPr>
          <a:xfrm>
            <a:off x="6096000" y="840920"/>
            <a:ext cx="2074334" cy="3096079"/>
          </a:xfrm>
          <a:custGeom>
            <a:avLst/>
            <a:gdLst>
              <a:gd name="connsiteX0" fmla="*/ 0 w 2074334"/>
              <a:gd name="connsiteY0" fmla="*/ 0 h 3096079"/>
              <a:gd name="connsiteX1" fmla="*/ 2074334 w 2074334"/>
              <a:gd name="connsiteY1" fmla="*/ 0 h 3096079"/>
              <a:gd name="connsiteX2" fmla="*/ 2074334 w 2074334"/>
              <a:gd name="connsiteY2" fmla="*/ 3096079 h 3096079"/>
              <a:gd name="connsiteX3" fmla="*/ 0 w 2074334"/>
              <a:gd name="connsiteY3" fmla="*/ 3096079 h 3096079"/>
            </a:gdLst>
            <a:ahLst/>
            <a:cxnLst>
              <a:cxn ang="0">
                <a:pos x="connsiteX0" y="connsiteY0"/>
              </a:cxn>
              <a:cxn ang="0">
                <a:pos x="connsiteX1" y="connsiteY1"/>
              </a:cxn>
              <a:cxn ang="0">
                <a:pos x="connsiteX2" y="connsiteY2"/>
              </a:cxn>
              <a:cxn ang="0">
                <a:pos x="connsiteX3" y="connsiteY3"/>
              </a:cxn>
            </a:cxnLst>
            <a:rect l="l" t="t" r="r" b="b"/>
            <a:pathLst>
              <a:path w="2074334" h="3096079">
                <a:moveTo>
                  <a:pt x="0" y="0"/>
                </a:moveTo>
                <a:lnTo>
                  <a:pt x="2074334" y="0"/>
                </a:lnTo>
                <a:lnTo>
                  <a:pt x="2074334" y="3096079"/>
                </a:lnTo>
                <a:lnTo>
                  <a:pt x="0" y="3096079"/>
                </a:lnTo>
                <a:close/>
              </a:path>
            </a:pathLst>
          </a:custGeom>
        </p:spPr>
        <p:txBody>
          <a:bodyPr wrap="square">
            <a:noAutofit/>
          </a:bodyPr>
          <a:lstStyle/>
          <a:p>
            <a:endParaRPr lang="en-US"/>
          </a:p>
        </p:txBody>
      </p:sp>
      <p:sp>
        <p:nvSpPr>
          <p:cNvPr id="19" name="Picture Placeholder 18"/>
          <p:cNvSpPr>
            <a:spLocks noGrp="1"/>
          </p:cNvSpPr>
          <p:nvPr>
            <p:ph type="pic" sz="quarter" idx="12"/>
          </p:nvPr>
        </p:nvSpPr>
        <p:spPr>
          <a:xfrm>
            <a:off x="6096000" y="3936999"/>
            <a:ext cx="2074334" cy="2080080"/>
          </a:xfrm>
          <a:custGeom>
            <a:avLst/>
            <a:gdLst>
              <a:gd name="connsiteX0" fmla="*/ 0 w 2074334"/>
              <a:gd name="connsiteY0" fmla="*/ 0 h 2080080"/>
              <a:gd name="connsiteX1" fmla="*/ 2074334 w 2074334"/>
              <a:gd name="connsiteY1" fmla="*/ 0 h 2080080"/>
              <a:gd name="connsiteX2" fmla="*/ 2074334 w 2074334"/>
              <a:gd name="connsiteY2" fmla="*/ 2080080 h 2080080"/>
              <a:gd name="connsiteX3" fmla="*/ 0 w 2074334"/>
              <a:gd name="connsiteY3" fmla="*/ 2080080 h 2080080"/>
            </a:gdLst>
            <a:ahLst/>
            <a:cxnLst>
              <a:cxn ang="0">
                <a:pos x="connsiteX0" y="connsiteY0"/>
              </a:cxn>
              <a:cxn ang="0">
                <a:pos x="connsiteX1" y="connsiteY1"/>
              </a:cxn>
              <a:cxn ang="0">
                <a:pos x="connsiteX2" y="connsiteY2"/>
              </a:cxn>
              <a:cxn ang="0">
                <a:pos x="connsiteX3" y="connsiteY3"/>
              </a:cxn>
            </a:cxnLst>
            <a:rect l="l" t="t" r="r" b="b"/>
            <a:pathLst>
              <a:path w="2074334" h="2080080">
                <a:moveTo>
                  <a:pt x="0" y="0"/>
                </a:moveTo>
                <a:lnTo>
                  <a:pt x="2074334" y="0"/>
                </a:lnTo>
                <a:lnTo>
                  <a:pt x="2074334" y="2080080"/>
                </a:lnTo>
                <a:lnTo>
                  <a:pt x="0" y="2080080"/>
                </a:lnTo>
                <a:close/>
              </a:path>
            </a:pathLst>
          </a:custGeom>
        </p:spPr>
        <p:txBody>
          <a:bodyPr wrap="square">
            <a:noAutofit/>
          </a:bodyPr>
          <a:lstStyle/>
          <a:p>
            <a:endParaRPr lang="en-US" dirty="0"/>
          </a:p>
        </p:txBody>
      </p:sp>
      <p:sp>
        <p:nvSpPr>
          <p:cNvPr id="20" name="Picture Placeholder 19"/>
          <p:cNvSpPr>
            <a:spLocks noGrp="1"/>
          </p:cNvSpPr>
          <p:nvPr>
            <p:ph type="pic" sz="quarter" idx="13"/>
          </p:nvPr>
        </p:nvSpPr>
        <p:spPr>
          <a:xfrm>
            <a:off x="8170334" y="840919"/>
            <a:ext cx="3572086" cy="2080080"/>
          </a:xfrm>
          <a:custGeom>
            <a:avLst/>
            <a:gdLst>
              <a:gd name="connsiteX0" fmla="*/ 0 w 3572086"/>
              <a:gd name="connsiteY0" fmla="*/ 0 h 2080080"/>
              <a:gd name="connsiteX1" fmla="*/ 3572086 w 3572086"/>
              <a:gd name="connsiteY1" fmla="*/ 0 h 2080080"/>
              <a:gd name="connsiteX2" fmla="*/ 3572086 w 3572086"/>
              <a:gd name="connsiteY2" fmla="*/ 2080080 h 2080080"/>
              <a:gd name="connsiteX3" fmla="*/ 0 w 3572086"/>
              <a:gd name="connsiteY3" fmla="*/ 2080080 h 2080080"/>
            </a:gdLst>
            <a:ahLst/>
            <a:cxnLst>
              <a:cxn ang="0">
                <a:pos x="connsiteX0" y="connsiteY0"/>
              </a:cxn>
              <a:cxn ang="0">
                <a:pos x="connsiteX1" y="connsiteY1"/>
              </a:cxn>
              <a:cxn ang="0">
                <a:pos x="connsiteX2" y="connsiteY2"/>
              </a:cxn>
              <a:cxn ang="0">
                <a:pos x="connsiteX3" y="connsiteY3"/>
              </a:cxn>
            </a:cxnLst>
            <a:rect l="l" t="t" r="r" b="b"/>
            <a:pathLst>
              <a:path w="3572086" h="2080080">
                <a:moveTo>
                  <a:pt x="0" y="0"/>
                </a:moveTo>
                <a:lnTo>
                  <a:pt x="3572086" y="0"/>
                </a:lnTo>
                <a:lnTo>
                  <a:pt x="3572086" y="2080080"/>
                </a:lnTo>
                <a:lnTo>
                  <a:pt x="0" y="2080080"/>
                </a:lnTo>
                <a:close/>
              </a:path>
            </a:pathLst>
          </a:custGeom>
        </p:spPr>
        <p:txBody>
          <a:bodyPr wrap="square">
            <a:noAutofit/>
          </a:bodyPr>
          <a:lstStyle/>
          <a:p>
            <a:endParaRPr lang="en-US" dirty="0"/>
          </a:p>
        </p:txBody>
      </p:sp>
      <p:sp>
        <p:nvSpPr>
          <p:cNvPr id="21" name="Picture Placeholder 20"/>
          <p:cNvSpPr>
            <a:spLocks noGrp="1"/>
          </p:cNvSpPr>
          <p:nvPr>
            <p:ph type="pic" sz="quarter" idx="14"/>
          </p:nvPr>
        </p:nvSpPr>
        <p:spPr>
          <a:xfrm>
            <a:off x="8170334" y="2920999"/>
            <a:ext cx="3572086" cy="3096079"/>
          </a:xfrm>
          <a:custGeom>
            <a:avLst/>
            <a:gdLst>
              <a:gd name="connsiteX0" fmla="*/ 0 w 3572086"/>
              <a:gd name="connsiteY0" fmla="*/ 0 h 3096079"/>
              <a:gd name="connsiteX1" fmla="*/ 3572086 w 3572086"/>
              <a:gd name="connsiteY1" fmla="*/ 0 h 3096079"/>
              <a:gd name="connsiteX2" fmla="*/ 3572086 w 3572086"/>
              <a:gd name="connsiteY2" fmla="*/ 3096079 h 3096079"/>
              <a:gd name="connsiteX3" fmla="*/ 0 w 3572086"/>
              <a:gd name="connsiteY3" fmla="*/ 3096079 h 3096079"/>
            </a:gdLst>
            <a:ahLst/>
            <a:cxnLst>
              <a:cxn ang="0">
                <a:pos x="connsiteX0" y="connsiteY0"/>
              </a:cxn>
              <a:cxn ang="0">
                <a:pos x="connsiteX1" y="connsiteY1"/>
              </a:cxn>
              <a:cxn ang="0">
                <a:pos x="connsiteX2" y="connsiteY2"/>
              </a:cxn>
              <a:cxn ang="0">
                <a:pos x="connsiteX3" y="connsiteY3"/>
              </a:cxn>
            </a:cxnLst>
            <a:rect l="l" t="t" r="r" b="b"/>
            <a:pathLst>
              <a:path w="3572086" h="3096079">
                <a:moveTo>
                  <a:pt x="0" y="0"/>
                </a:moveTo>
                <a:lnTo>
                  <a:pt x="3572086" y="0"/>
                </a:lnTo>
                <a:lnTo>
                  <a:pt x="3572086" y="3096079"/>
                </a:lnTo>
                <a:lnTo>
                  <a:pt x="0" y="3096079"/>
                </a:lnTo>
                <a:close/>
              </a:path>
            </a:pathLst>
          </a:custGeom>
        </p:spPr>
        <p:txBody>
          <a:bodyPr wrap="square">
            <a:noAutofit/>
          </a:bodyPr>
          <a:lstStyle/>
          <a:p>
            <a:endParaRPr lang="en-US"/>
          </a:p>
        </p:txBody>
      </p:sp>
    </p:spTree>
    <p:extLst>
      <p:ext uri="{BB962C8B-B14F-4D97-AF65-F5344CB8AC3E}">
        <p14:creationId xmlns:p14="http://schemas.microsoft.com/office/powerpoint/2010/main" val="42750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5176158" cy="5176158"/>
          </a:xfrm>
          <a:custGeom>
            <a:avLst/>
            <a:gdLst>
              <a:gd name="connsiteX0" fmla="*/ 0 w 5176158"/>
              <a:gd name="connsiteY0" fmla="*/ 0 h 5176158"/>
              <a:gd name="connsiteX1" fmla="*/ 5176158 w 5176158"/>
              <a:gd name="connsiteY1" fmla="*/ 0 h 5176158"/>
              <a:gd name="connsiteX2" fmla="*/ 5176158 w 5176158"/>
              <a:gd name="connsiteY2" fmla="*/ 3354927 h 5176158"/>
              <a:gd name="connsiteX3" fmla="*/ 3354927 w 5176158"/>
              <a:gd name="connsiteY3" fmla="*/ 5176158 h 5176158"/>
              <a:gd name="connsiteX4" fmla="*/ 0 w 5176158"/>
              <a:gd name="connsiteY4" fmla="*/ 5176158 h 5176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6158" h="5176158">
                <a:moveTo>
                  <a:pt x="0" y="0"/>
                </a:moveTo>
                <a:lnTo>
                  <a:pt x="5176158" y="0"/>
                </a:lnTo>
                <a:lnTo>
                  <a:pt x="5176158" y="3354927"/>
                </a:lnTo>
                <a:lnTo>
                  <a:pt x="3354927"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817316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449580" y="840921"/>
            <a:ext cx="3859953" cy="5176158"/>
          </a:xfrm>
          <a:custGeom>
            <a:avLst/>
            <a:gdLst>
              <a:gd name="connsiteX0" fmla="*/ 0 w 3859953"/>
              <a:gd name="connsiteY0" fmla="*/ 0 h 5176158"/>
              <a:gd name="connsiteX1" fmla="*/ 3859953 w 3859953"/>
              <a:gd name="connsiteY1" fmla="*/ 0 h 5176158"/>
              <a:gd name="connsiteX2" fmla="*/ 3859953 w 3859953"/>
              <a:gd name="connsiteY2" fmla="*/ 5176158 h 5176158"/>
              <a:gd name="connsiteX3" fmla="*/ 0 w 3859953"/>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3859953" h="5176158">
                <a:moveTo>
                  <a:pt x="0" y="0"/>
                </a:moveTo>
                <a:lnTo>
                  <a:pt x="3859953" y="0"/>
                </a:lnTo>
                <a:lnTo>
                  <a:pt x="3859953" y="5176158"/>
                </a:lnTo>
                <a:lnTo>
                  <a:pt x="0" y="5176158"/>
                </a:lnTo>
                <a:close/>
              </a:path>
            </a:pathLst>
          </a:custGeom>
        </p:spPr>
        <p:txBody>
          <a:bodyPr wrap="square">
            <a:noAutofit/>
          </a:bodyPr>
          <a:lstStyle/>
          <a:p>
            <a:endParaRPr lang="en-US" dirty="0"/>
          </a:p>
        </p:txBody>
      </p:sp>
      <p:sp>
        <p:nvSpPr>
          <p:cNvPr id="12" name="Picture Placeholder 11"/>
          <p:cNvSpPr>
            <a:spLocks noGrp="1"/>
          </p:cNvSpPr>
          <p:nvPr>
            <p:ph type="pic" sz="quarter" idx="11"/>
          </p:nvPr>
        </p:nvSpPr>
        <p:spPr>
          <a:xfrm>
            <a:off x="8729133" y="840921"/>
            <a:ext cx="3013287" cy="4040787"/>
          </a:xfrm>
          <a:custGeom>
            <a:avLst/>
            <a:gdLst>
              <a:gd name="connsiteX0" fmla="*/ 0 w 3013287"/>
              <a:gd name="connsiteY0" fmla="*/ 0 h 4040787"/>
              <a:gd name="connsiteX1" fmla="*/ 3013287 w 3013287"/>
              <a:gd name="connsiteY1" fmla="*/ 0 h 4040787"/>
              <a:gd name="connsiteX2" fmla="*/ 3013287 w 3013287"/>
              <a:gd name="connsiteY2" fmla="*/ 4040787 h 4040787"/>
              <a:gd name="connsiteX3" fmla="*/ 0 w 3013287"/>
              <a:gd name="connsiteY3" fmla="*/ 4040787 h 4040787"/>
            </a:gdLst>
            <a:ahLst/>
            <a:cxnLst>
              <a:cxn ang="0">
                <a:pos x="connsiteX0" y="connsiteY0"/>
              </a:cxn>
              <a:cxn ang="0">
                <a:pos x="connsiteX1" y="connsiteY1"/>
              </a:cxn>
              <a:cxn ang="0">
                <a:pos x="connsiteX2" y="connsiteY2"/>
              </a:cxn>
              <a:cxn ang="0">
                <a:pos x="connsiteX3" y="connsiteY3"/>
              </a:cxn>
            </a:cxnLst>
            <a:rect l="l" t="t" r="r" b="b"/>
            <a:pathLst>
              <a:path w="3013287" h="4040787">
                <a:moveTo>
                  <a:pt x="0" y="0"/>
                </a:moveTo>
                <a:lnTo>
                  <a:pt x="3013287" y="0"/>
                </a:lnTo>
                <a:lnTo>
                  <a:pt x="3013287" y="4040787"/>
                </a:lnTo>
                <a:lnTo>
                  <a:pt x="0" y="4040787"/>
                </a:lnTo>
                <a:close/>
              </a:path>
            </a:pathLst>
          </a:custGeom>
        </p:spPr>
        <p:txBody>
          <a:bodyPr wrap="square">
            <a:noAutofit/>
          </a:bodyPr>
          <a:lstStyle/>
          <a:p>
            <a:endParaRPr lang="en-US" dirty="0"/>
          </a:p>
        </p:txBody>
      </p:sp>
    </p:spTree>
    <p:extLst>
      <p:ext uri="{BB962C8B-B14F-4D97-AF65-F5344CB8AC3E}">
        <p14:creationId xmlns:p14="http://schemas.microsoft.com/office/powerpoint/2010/main" val="8331157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2340865" y="1553632"/>
            <a:ext cx="2448051" cy="2909813"/>
          </a:xfrm>
          <a:custGeom>
            <a:avLst/>
            <a:gdLst>
              <a:gd name="connsiteX0" fmla="*/ 0 w 2448051"/>
              <a:gd name="connsiteY0" fmla="*/ 0 h 2909813"/>
              <a:gd name="connsiteX1" fmla="*/ 2448051 w 2448051"/>
              <a:gd name="connsiteY1" fmla="*/ 0 h 2909813"/>
              <a:gd name="connsiteX2" fmla="*/ 2448051 w 2448051"/>
              <a:gd name="connsiteY2" fmla="*/ 2909813 h 2909813"/>
              <a:gd name="connsiteX3" fmla="*/ 0 w 2448051"/>
              <a:gd name="connsiteY3" fmla="*/ 2909813 h 2909813"/>
            </a:gdLst>
            <a:ahLst/>
            <a:cxnLst>
              <a:cxn ang="0">
                <a:pos x="connsiteX0" y="connsiteY0"/>
              </a:cxn>
              <a:cxn ang="0">
                <a:pos x="connsiteX1" y="connsiteY1"/>
              </a:cxn>
              <a:cxn ang="0">
                <a:pos x="connsiteX2" y="connsiteY2"/>
              </a:cxn>
              <a:cxn ang="0">
                <a:pos x="connsiteX3" y="connsiteY3"/>
              </a:cxn>
            </a:cxnLst>
            <a:rect l="l" t="t" r="r" b="b"/>
            <a:pathLst>
              <a:path w="2448051" h="2909813">
                <a:moveTo>
                  <a:pt x="0" y="0"/>
                </a:moveTo>
                <a:lnTo>
                  <a:pt x="2448051" y="0"/>
                </a:lnTo>
                <a:lnTo>
                  <a:pt x="2448051" y="2909813"/>
                </a:lnTo>
                <a:lnTo>
                  <a:pt x="0" y="2909813"/>
                </a:lnTo>
                <a:close/>
              </a:path>
            </a:pathLst>
          </a:custGeom>
        </p:spPr>
        <p:txBody>
          <a:bodyPr wrap="square">
            <a:noAutofit/>
          </a:bodyPr>
          <a:lstStyle/>
          <a:p>
            <a:endParaRPr lang="en-US" dirty="0"/>
          </a:p>
        </p:txBody>
      </p:sp>
      <p:sp>
        <p:nvSpPr>
          <p:cNvPr id="12" name="Picture Placeholder 11"/>
          <p:cNvSpPr>
            <a:spLocks noGrp="1"/>
          </p:cNvSpPr>
          <p:nvPr>
            <p:ph type="pic" sz="quarter" idx="11"/>
          </p:nvPr>
        </p:nvSpPr>
        <p:spPr>
          <a:xfrm>
            <a:off x="6680200" y="0"/>
            <a:ext cx="5062220" cy="6017079"/>
          </a:xfrm>
          <a:custGeom>
            <a:avLst/>
            <a:gdLst>
              <a:gd name="connsiteX0" fmla="*/ 0 w 5062220"/>
              <a:gd name="connsiteY0" fmla="*/ 0 h 6017079"/>
              <a:gd name="connsiteX1" fmla="*/ 5062220 w 5062220"/>
              <a:gd name="connsiteY1" fmla="*/ 0 h 6017079"/>
              <a:gd name="connsiteX2" fmla="*/ 5062220 w 5062220"/>
              <a:gd name="connsiteY2" fmla="*/ 6017079 h 6017079"/>
              <a:gd name="connsiteX3" fmla="*/ 0 w 5062220"/>
              <a:gd name="connsiteY3" fmla="*/ 6017079 h 6017079"/>
            </a:gdLst>
            <a:ahLst/>
            <a:cxnLst>
              <a:cxn ang="0">
                <a:pos x="connsiteX0" y="connsiteY0"/>
              </a:cxn>
              <a:cxn ang="0">
                <a:pos x="connsiteX1" y="connsiteY1"/>
              </a:cxn>
              <a:cxn ang="0">
                <a:pos x="connsiteX2" y="connsiteY2"/>
              </a:cxn>
              <a:cxn ang="0">
                <a:pos x="connsiteX3" y="connsiteY3"/>
              </a:cxn>
            </a:cxnLst>
            <a:rect l="l" t="t" r="r" b="b"/>
            <a:pathLst>
              <a:path w="5062220" h="6017079">
                <a:moveTo>
                  <a:pt x="0" y="0"/>
                </a:moveTo>
                <a:lnTo>
                  <a:pt x="5062220" y="0"/>
                </a:lnTo>
                <a:lnTo>
                  <a:pt x="5062220" y="6017079"/>
                </a:lnTo>
                <a:lnTo>
                  <a:pt x="0" y="6017079"/>
                </a:lnTo>
                <a:close/>
              </a:path>
            </a:pathLst>
          </a:custGeom>
        </p:spPr>
        <p:txBody>
          <a:bodyPr wrap="square">
            <a:noAutofit/>
          </a:bodyPr>
          <a:lstStyle/>
          <a:p>
            <a:endParaRPr lang="en-US" dirty="0"/>
          </a:p>
        </p:txBody>
      </p:sp>
    </p:spTree>
    <p:extLst>
      <p:ext uri="{BB962C8B-B14F-4D97-AF65-F5344CB8AC3E}">
        <p14:creationId xmlns:p14="http://schemas.microsoft.com/office/powerpoint/2010/main" val="452486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a:xfrm>
            <a:off x="449580" y="840921"/>
            <a:ext cx="5646420" cy="2588079"/>
          </a:xfrm>
          <a:custGeom>
            <a:avLst/>
            <a:gdLst>
              <a:gd name="connsiteX0" fmla="*/ 0 w 5646420"/>
              <a:gd name="connsiteY0" fmla="*/ 0 h 2588079"/>
              <a:gd name="connsiteX1" fmla="*/ 5646420 w 5646420"/>
              <a:gd name="connsiteY1" fmla="*/ 0 h 2588079"/>
              <a:gd name="connsiteX2" fmla="*/ 5646420 w 5646420"/>
              <a:gd name="connsiteY2" fmla="*/ 2588079 h 2588079"/>
              <a:gd name="connsiteX3" fmla="*/ 0 w 564642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5646420" h="2588079">
                <a:moveTo>
                  <a:pt x="0" y="0"/>
                </a:moveTo>
                <a:lnTo>
                  <a:pt x="5646420" y="0"/>
                </a:lnTo>
                <a:lnTo>
                  <a:pt x="5646420" y="2588079"/>
                </a:lnTo>
                <a:lnTo>
                  <a:pt x="0" y="2588079"/>
                </a:lnTo>
                <a:close/>
              </a:path>
            </a:pathLst>
          </a:custGeom>
        </p:spPr>
        <p:txBody>
          <a:bodyPr wrap="square">
            <a:noAutofit/>
          </a:bodyPr>
          <a:lstStyle/>
          <a:p>
            <a:endParaRPr lang="en-US"/>
          </a:p>
        </p:txBody>
      </p:sp>
      <p:sp>
        <p:nvSpPr>
          <p:cNvPr id="17" name="Picture Placeholder 16"/>
          <p:cNvSpPr>
            <a:spLocks noGrp="1"/>
          </p:cNvSpPr>
          <p:nvPr>
            <p:ph type="pic" sz="quarter" idx="11"/>
          </p:nvPr>
        </p:nvSpPr>
        <p:spPr>
          <a:xfrm>
            <a:off x="449580" y="3429000"/>
            <a:ext cx="5646420" cy="2588079"/>
          </a:xfrm>
          <a:custGeom>
            <a:avLst/>
            <a:gdLst>
              <a:gd name="connsiteX0" fmla="*/ 0 w 5646420"/>
              <a:gd name="connsiteY0" fmla="*/ 0 h 2588079"/>
              <a:gd name="connsiteX1" fmla="*/ 5646420 w 5646420"/>
              <a:gd name="connsiteY1" fmla="*/ 0 h 2588079"/>
              <a:gd name="connsiteX2" fmla="*/ 5646420 w 5646420"/>
              <a:gd name="connsiteY2" fmla="*/ 2588079 h 2588079"/>
              <a:gd name="connsiteX3" fmla="*/ 0 w 564642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5646420" h="2588079">
                <a:moveTo>
                  <a:pt x="0" y="0"/>
                </a:moveTo>
                <a:lnTo>
                  <a:pt x="5646420" y="0"/>
                </a:lnTo>
                <a:lnTo>
                  <a:pt x="5646420" y="2588079"/>
                </a:lnTo>
                <a:lnTo>
                  <a:pt x="0" y="2588079"/>
                </a:lnTo>
                <a:close/>
              </a:path>
            </a:pathLst>
          </a:custGeom>
        </p:spPr>
        <p:txBody>
          <a:bodyPr wrap="square">
            <a:noAutofit/>
          </a:bodyPr>
          <a:lstStyle/>
          <a:p>
            <a:endParaRPr lang="en-US" dirty="0"/>
          </a:p>
        </p:txBody>
      </p:sp>
      <p:sp>
        <p:nvSpPr>
          <p:cNvPr id="18" name="Picture Placeholder 17"/>
          <p:cNvSpPr>
            <a:spLocks noGrp="1"/>
          </p:cNvSpPr>
          <p:nvPr>
            <p:ph type="pic" sz="quarter" idx="12"/>
          </p:nvPr>
        </p:nvSpPr>
        <p:spPr>
          <a:xfrm>
            <a:off x="6096000" y="840921"/>
            <a:ext cx="5646420" cy="2588079"/>
          </a:xfrm>
          <a:custGeom>
            <a:avLst/>
            <a:gdLst>
              <a:gd name="connsiteX0" fmla="*/ 0 w 5646420"/>
              <a:gd name="connsiteY0" fmla="*/ 0 h 2588079"/>
              <a:gd name="connsiteX1" fmla="*/ 5646420 w 5646420"/>
              <a:gd name="connsiteY1" fmla="*/ 0 h 2588079"/>
              <a:gd name="connsiteX2" fmla="*/ 5646420 w 5646420"/>
              <a:gd name="connsiteY2" fmla="*/ 2588079 h 2588079"/>
              <a:gd name="connsiteX3" fmla="*/ 0 w 564642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5646420" h="2588079">
                <a:moveTo>
                  <a:pt x="0" y="0"/>
                </a:moveTo>
                <a:lnTo>
                  <a:pt x="5646420" y="0"/>
                </a:lnTo>
                <a:lnTo>
                  <a:pt x="5646420" y="2588079"/>
                </a:lnTo>
                <a:lnTo>
                  <a:pt x="0" y="2588079"/>
                </a:lnTo>
                <a:close/>
              </a:path>
            </a:pathLst>
          </a:custGeom>
        </p:spPr>
        <p:txBody>
          <a:bodyPr wrap="square">
            <a:noAutofit/>
          </a:bodyPr>
          <a:lstStyle/>
          <a:p>
            <a:endParaRPr lang="en-US" dirty="0"/>
          </a:p>
        </p:txBody>
      </p:sp>
      <p:sp>
        <p:nvSpPr>
          <p:cNvPr id="19" name="Picture Placeholder 18"/>
          <p:cNvSpPr>
            <a:spLocks noGrp="1"/>
          </p:cNvSpPr>
          <p:nvPr>
            <p:ph type="pic" sz="quarter" idx="13"/>
          </p:nvPr>
        </p:nvSpPr>
        <p:spPr>
          <a:xfrm>
            <a:off x="6096000" y="3429000"/>
            <a:ext cx="5646420" cy="2588079"/>
          </a:xfrm>
          <a:custGeom>
            <a:avLst/>
            <a:gdLst>
              <a:gd name="connsiteX0" fmla="*/ 0 w 5646420"/>
              <a:gd name="connsiteY0" fmla="*/ 0 h 2588079"/>
              <a:gd name="connsiteX1" fmla="*/ 5646420 w 5646420"/>
              <a:gd name="connsiteY1" fmla="*/ 0 h 2588079"/>
              <a:gd name="connsiteX2" fmla="*/ 5646420 w 5646420"/>
              <a:gd name="connsiteY2" fmla="*/ 2588079 h 2588079"/>
              <a:gd name="connsiteX3" fmla="*/ 0 w 564642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5646420" h="2588079">
                <a:moveTo>
                  <a:pt x="0" y="0"/>
                </a:moveTo>
                <a:lnTo>
                  <a:pt x="5646420" y="0"/>
                </a:lnTo>
                <a:lnTo>
                  <a:pt x="5646420" y="2588079"/>
                </a:lnTo>
                <a:lnTo>
                  <a:pt x="0" y="2588079"/>
                </a:lnTo>
                <a:close/>
              </a:path>
            </a:pathLst>
          </a:custGeom>
        </p:spPr>
        <p:txBody>
          <a:bodyPr wrap="square">
            <a:noAutofit/>
          </a:bodyPr>
          <a:lstStyle/>
          <a:p>
            <a:endParaRPr lang="en-US" dirty="0"/>
          </a:p>
        </p:txBody>
      </p:sp>
    </p:spTree>
    <p:extLst>
      <p:ext uri="{BB962C8B-B14F-4D97-AF65-F5344CB8AC3E}">
        <p14:creationId xmlns:p14="http://schemas.microsoft.com/office/powerpoint/2010/main" val="18167129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6385930" y="1210491"/>
            <a:ext cx="4944640" cy="4437018"/>
          </a:xfrm>
          <a:custGeom>
            <a:avLst/>
            <a:gdLst>
              <a:gd name="connsiteX0" fmla="*/ 0 w 4944640"/>
              <a:gd name="connsiteY0" fmla="*/ 0 h 4437018"/>
              <a:gd name="connsiteX1" fmla="*/ 4944640 w 4944640"/>
              <a:gd name="connsiteY1" fmla="*/ 0 h 4437018"/>
              <a:gd name="connsiteX2" fmla="*/ 4944640 w 4944640"/>
              <a:gd name="connsiteY2" fmla="*/ 4437018 h 4437018"/>
              <a:gd name="connsiteX3" fmla="*/ 0 w 4944640"/>
              <a:gd name="connsiteY3" fmla="*/ 4437018 h 4437018"/>
            </a:gdLst>
            <a:ahLst/>
            <a:cxnLst>
              <a:cxn ang="0">
                <a:pos x="connsiteX0" y="connsiteY0"/>
              </a:cxn>
              <a:cxn ang="0">
                <a:pos x="connsiteX1" y="connsiteY1"/>
              </a:cxn>
              <a:cxn ang="0">
                <a:pos x="connsiteX2" y="connsiteY2"/>
              </a:cxn>
              <a:cxn ang="0">
                <a:pos x="connsiteX3" y="connsiteY3"/>
              </a:cxn>
            </a:cxnLst>
            <a:rect l="l" t="t" r="r" b="b"/>
            <a:pathLst>
              <a:path w="4944640" h="4437018">
                <a:moveTo>
                  <a:pt x="0" y="0"/>
                </a:moveTo>
                <a:lnTo>
                  <a:pt x="4944640" y="0"/>
                </a:lnTo>
                <a:lnTo>
                  <a:pt x="4944640" y="4437018"/>
                </a:lnTo>
                <a:lnTo>
                  <a:pt x="0" y="4437018"/>
                </a:lnTo>
                <a:close/>
              </a:path>
            </a:pathLst>
          </a:custGeom>
        </p:spPr>
        <p:txBody>
          <a:bodyPr wrap="square">
            <a:noAutofit/>
          </a:bodyPr>
          <a:lstStyle/>
          <a:p>
            <a:endParaRPr lang="en-US" dirty="0"/>
          </a:p>
        </p:txBody>
      </p:sp>
      <p:sp>
        <p:nvSpPr>
          <p:cNvPr id="12" name="Picture Placeholder 11"/>
          <p:cNvSpPr>
            <a:spLocks noGrp="1"/>
          </p:cNvSpPr>
          <p:nvPr>
            <p:ph type="pic" sz="quarter" idx="11"/>
          </p:nvPr>
        </p:nvSpPr>
        <p:spPr>
          <a:xfrm>
            <a:off x="4685211" y="2638697"/>
            <a:ext cx="2551612" cy="3378381"/>
          </a:xfrm>
          <a:custGeom>
            <a:avLst/>
            <a:gdLst>
              <a:gd name="connsiteX0" fmla="*/ 0 w 2551612"/>
              <a:gd name="connsiteY0" fmla="*/ 0 h 3378381"/>
              <a:gd name="connsiteX1" fmla="*/ 2551612 w 2551612"/>
              <a:gd name="connsiteY1" fmla="*/ 0 h 3378381"/>
              <a:gd name="connsiteX2" fmla="*/ 2551612 w 2551612"/>
              <a:gd name="connsiteY2" fmla="*/ 3378381 h 3378381"/>
              <a:gd name="connsiteX3" fmla="*/ 0 w 2551612"/>
              <a:gd name="connsiteY3" fmla="*/ 3378381 h 3378381"/>
            </a:gdLst>
            <a:ahLst/>
            <a:cxnLst>
              <a:cxn ang="0">
                <a:pos x="connsiteX0" y="connsiteY0"/>
              </a:cxn>
              <a:cxn ang="0">
                <a:pos x="connsiteX1" y="connsiteY1"/>
              </a:cxn>
              <a:cxn ang="0">
                <a:pos x="connsiteX2" y="connsiteY2"/>
              </a:cxn>
              <a:cxn ang="0">
                <a:pos x="connsiteX3" y="connsiteY3"/>
              </a:cxn>
            </a:cxnLst>
            <a:rect l="l" t="t" r="r" b="b"/>
            <a:pathLst>
              <a:path w="2551612" h="3378381">
                <a:moveTo>
                  <a:pt x="0" y="0"/>
                </a:moveTo>
                <a:lnTo>
                  <a:pt x="2551612" y="0"/>
                </a:lnTo>
                <a:lnTo>
                  <a:pt x="2551612" y="3378381"/>
                </a:lnTo>
                <a:lnTo>
                  <a:pt x="0" y="3378381"/>
                </a:lnTo>
                <a:close/>
              </a:path>
            </a:pathLst>
          </a:custGeom>
        </p:spPr>
        <p:txBody>
          <a:bodyPr wrap="square">
            <a:noAutofit/>
          </a:bodyPr>
          <a:lstStyle/>
          <a:p>
            <a:endParaRPr lang="en-US" dirty="0"/>
          </a:p>
        </p:txBody>
      </p:sp>
    </p:spTree>
    <p:extLst>
      <p:ext uri="{BB962C8B-B14F-4D97-AF65-F5344CB8AC3E}">
        <p14:creationId xmlns:p14="http://schemas.microsoft.com/office/powerpoint/2010/main" val="6850925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449580" y="840921"/>
            <a:ext cx="2711631" cy="5176158"/>
          </a:xfrm>
          <a:custGeom>
            <a:avLst/>
            <a:gdLst>
              <a:gd name="connsiteX0" fmla="*/ 0 w 2501873"/>
              <a:gd name="connsiteY0" fmla="*/ 0 h 5176158"/>
              <a:gd name="connsiteX1" fmla="*/ 2501873 w 2501873"/>
              <a:gd name="connsiteY1" fmla="*/ 0 h 5176158"/>
              <a:gd name="connsiteX2" fmla="*/ 2501873 w 2501873"/>
              <a:gd name="connsiteY2" fmla="*/ 5176158 h 5176158"/>
              <a:gd name="connsiteX3" fmla="*/ 0 w 2501873"/>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2501873" h="5176158">
                <a:moveTo>
                  <a:pt x="0" y="0"/>
                </a:moveTo>
                <a:lnTo>
                  <a:pt x="2501873" y="0"/>
                </a:lnTo>
                <a:lnTo>
                  <a:pt x="2501873" y="5176158"/>
                </a:lnTo>
                <a:lnTo>
                  <a:pt x="0" y="5176158"/>
                </a:lnTo>
                <a:close/>
              </a:path>
            </a:pathLst>
          </a:custGeom>
        </p:spPr>
        <p:txBody>
          <a:bodyPr wrap="square">
            <a:noAutofit/>
          </a:bodyPr>
          <a:lstStyle/>
          <a:p>
            <a:endParaRPr lang="en-US" dirty="0"/>
          </a:p>
        </p:txBody>
      </p:sp>
      <p:sp>
        <p:nvSpPr>
          <p:cNvPr id="14" name="Picture Placeholder 13"/>
          <p:cNvSpPr>
            <a:spLocks noGrp="1"/>
          </p:cNvSpPr>
          <p:nvPr>
            <p:ph type="pic" sz="quarter" idx="11"/>
          </p:nvPr>
        </p:nvSpPr>
        <p:spPr>
          <a:xfrm>
            <a:off x="3622766" y="840921"/>
            <a:ext cx="4946468" cy="5176158"/>
          </a:xfrm>
          <a:custGeom>
            <a:avLst/>
            <a:gdLst>
              <a:gd name="connsiteX0" fmla="*/ 0 w 4946468"/>
              <a:gd name="connsiteY0" fmla="*/ 0 h 5176158"/>
              <a:gd name="connsiteX1" fmla="*/ 4946468 w 4946468"/>
              <a:gd name="connsiteY1" fmla="*/ 0 h 5176158"/>
              <a:gd name="connsiteX2" fmla="*/ 4946468 w 4946468"/>
              <a:gd name="connsiteY2" fmla="*/ 5176158 h 5176158"/>
              <a:gd name="connsiteX3" fmla="*/ 0 w 4946468"/>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4946468" h="5176158">
                <a:moveTo>
                  <a:pt x="0" y="0"/>
                </a:moveTo>
                <a:lnTo>
                  <a:pt x="4946468" y="0"/>
                </a:lnTo>
                <a:lnTo>
                  <a:pt x="4946468" y="5176158"/>
                </a:lnTo>
                <a:lnTo>
                  <a:pt x="0" y="5176158"/>
                </a:lnTo>
                <a:close/>
              </a:path>
            </a:pathLst>
          </a:custGeom>
        </p:spPr>
        <p:txBody>
          <a:bodyPr wrap="square">
            <a:noAutofit/>
          </a:bodyPr>
          <a:lstStyle/>
          <a:p>
            <a:endParaRPr lang="en-US" dirty="0"/>
          </a:p>
        </p:txBody>
      </p:sp>
      <p:sp>
        <p:nvSpPr>
          <p:cNvPr id="15" name="Picture Placeholder 14"/>
          <p:cNvSpPr>
            <a:spLocks noGrp="1"/>
          </p:cNvSpPr>
          <p:nvPr>
            <p:ph type="pic" sz="quarter" idx="12"/>
          </p:nvPr>
        </p:nvSpPr>
        <p:spPr>
          <a:xfrm>
            <a:off x="9030789" y="840921"/>
            <a:ext cx="2711631" cy="5176158"/>
          </a:xfrm>
          <a:custGeom>
            <a:avLst/>
            <a:gdLst>
              <a:gd name="connsiteX0" fmla="*/ 0 w 2501873"/>
              <a:gd name="connsiteY0" fmla="*/ 0 h 5176158"/>
              <a:gd name="connsiteX1" fmla="*/ 2501873 w 2501873"/>
              <a:gd name="connsiteY1" fmla="*/ 0 h 5176158"/>
              <a:gd name="connsiteX2" fmla="*/ 2501873 w 2501873"/>
              <a:gd name="connsiteY2" fmla="*/ 5176158 h 5176158"/>
              <a:gd name="connsiteX3" fmla="*/ 0 w 2501873"/>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2501873" h="5176158">
                <a:moveTo>
                  <a:pt x="0" y="0"/>
                </a:moveTo>
                <a:lnTo>
                  <a:pt x="2501873" y="0"/>
                </a:lnTo>
                <a:lnTo>
                  <a:pt x="2501873" y="5176158"/>
                </a:lnTo>
                <a:lnTo>
                  <a:pt x="0" y="5176158"/>
                </a:lnTo>
                <a:close/>
              </a:path>
            </a:pathLst>
          </a:custGeom>
        </p:spPr>
        <p:txBody>
          <a:bodyPr wrap="square">
            <a:noAutofit/>
          </a:bodyPr>
          <a:lstStyle/>
          <a:p>
            <a:endParaRPr lang="en-US" dirty="0"/>
          </a:p>
        </p:txBody>
      </p:sp>
    </p:spTree>
    <p:extLst>
      <p:ext uri="{BB962C8B-B14F-4D97-AF65-F5344CB8AC3E}">
        <p14:creationId xmlns:p14="http://schemas.microsoft.com/office/powerpoint/2010/main" val="1595745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370217" y="840921"/>
            <a:ext cx="5451566" cy="5176158"/>
          </a:xfrm>
          <a:custGeom>
            <a:avLst/>
            <a:gdLst>
              <a:gd name="connsiteX0" fmla="*/ 0 w 5451566"/>
              <a:gd name="connsiteY0" fmla="*/ 0 h 5176158"/>
              <a:gd name="connsiteX1" fmla="*/ 5451566 w 5451566"/>
              <a:gd name="connsiteY1" fmla="*/ 0 h 5176158"/>
              <a:gd name="connsiteX2" fmla="*/ 5451566 w 5451566"/>
              <a:gd name="connsiteY2" fmla="*/ 5176158 h 5176158"/>
              <a:gd name="connsiteX3" fmla="*/ 0 w 5451566"/>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5451566" h="5176158">
                <a:moveTo>
                  <a:pt x="0" y="0"/>
                </a:moveTo>
                <a:lnTo>
                  <a:pt x="5451566" y="0"/>
                </a:lnTo>
                <a:lnTo>
                  <a:pt x="5451566"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18816196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1367876" y="1755321"/>
            <a:ext cx="4728122" cy="3347358"/>
          </a:xfrm>
          <a:custGeom>
            <a:avLst/>
            <a:gdLst>
              <a:gd name="connsiteX0" fmla="*/ 0 w 4728122"/>
              <a:gd name="connsiteY0" fmla="*/ 0 h 3347358"/>
              <a:gd name="connsiteX1" fmla="*/ 4728122 w 4728122"/>
              <a:gd name="connsiteY1" fmla="*/ 0 h 3347358"/>
              <a:gd name="connsiteX2" fmla="*/ 4728122 w 4728122"/>
              <a:gd name="connsiteY2" fmla="*/ 3347358 h 3347358"/>
              <a:gd name="connsiteX3" fmla="*/ 0 w 4728122"/>
              <a:gd name="connsiteY3" fmla="*/ 3347358 h 3347358"/>
            </a:gdLst>
            <a:ahLst/>
            <a:cxnLst>
              <a:cxn ang="0">
                <a:pos x="connsiteX0" y="connsiteY0"/>
              </a:cxn>
              <a:cxn ang="0">
                <a:pos x="connsiteX1" y="connsiteY1"/>
              </a:cxn>
              <a:cxn ang="0">
                <a:pos x="connsiteX2" y="connsiteY2"/>
              </a:cxn>
              <a:cxn ang="0">
                <a:pos x="connsiteX3" y="connsiteY3"/>
              </a:cxn>
            </a:cxnLst>
            <a:rect l="l" t="t" r="r" b="b"/>
            <a:pathLst>
              <a:path w="4728122" h="3347358">
                <a:moveTo>
                  <a:pt x="0" y="0"/>
                </a:moveTo>
                <a:lnTo>
                  <a:pt x="4728122" y="0"/>
                </a:lnTo>
                <a:lnTo>
                  <a:pt x="4728122" y="3347358"/>
                </a:lnTo>
                <a:lnTo>
                  <a:pt x="0" y="3347358"/>
                </a:lnTo>
                <a:close/>
              </a:path>
            </a:pathLst>
          </a:custGeom>
        </p:spPr>
        <p:txBody>
          <a:bodyPr wrap="square">
            <a:noAutofit/>
          </a:bodyPr>
          <a:lstStyle/>
          <a:p>
            <a:endParaRPr lang="en-US" dirty="0"/>
          </a:p>
        </p:txBody>
      </p:sp>
      <p:sp>
        <p:nvSpPr>
          <p:cNvPr id="13" name="Picture Placeholder 12"/>
          <p:cNvSpPr>
            <a:spLocks noGrp="1"/>
          </p:cNvSpPr>
          <p:nvPr>
            <p:ph type="pic" sz="quarter" idx="11"/>
          </p:nvPr>
        </p:nvSpPr>
        <p:spPr>
          <a:xfrm>
            <a:off x="6096000" y="0"/>
            <a:ext cx="6096000" cy="6857999"/>
          </a:xfrm>
          <a:custGeom>
            <a:avLst/>
            <a:gdLst>
              <a:gd name="connsiteX0" fmla="*/ 0 w 6096000"/>
              <a:gd name="connsiteY0" fmla="*/ 0 h 6857999"/>
              <a:gd name="connsiteX1" fmla="*/ 6096000 w 6096000"/>
              <a:gd name="connsiteY1" fmla="*/ 0 h 6857999"/>
              <a:gd name="connsiteX2" fmla="*/ 6096000 w 6096000"/>
              <a:gd name="connsiteY2" fmla="*/ 6857999 h 6857999"/>
              <a:gd name="connsiteX3" fmla="*/ 0 w 6096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096000" h="6857999">
                <a:moveTo>
                  <a:pt x="0" y="0"/>
                </a:moveTo>
                <a:lnTo>
                  <a:pt x="6096000" y="0"/>
                </a:lnTo>
                <a:lnTo>
                  <a:pt x="6096000" y="6857999"/>
                </a:lnTo>
                <a:lnTo>
                  <a:pt x="0" y="6857999"/>
                </a:lnTo>
                <a:close/>
              </a:path>
            </a:pathLst>
          </a:custGeom>
        </p:spPr>
        <p:txBody>
          <a:bodyPr wrap="square">
            <a:noAutofit/>
          </a:bodyPr>
          <a:lstStyle/>
          <a:p>
            <a:endParaRPr lang="en-US"/>
          </a:p>
        </p:txBody>
      </p:sp>
    </p:spTree>
    <p:extLst>
      <p:ext uri="{BB962C8B-B14F-4D97-AF65-F5344CB8AC3E}">
        <p14:creationId xmlns:p14="http://schemas.microsoft.com/office/powerpoint/2010/main" val="14151121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449580" y="840921"/>
            <a:ext cx="2102031" cy="5176158"/>
          </a:xfrm>
          <a:custGeom>
            <a:avLst/>
            <a:gdLst>
              <a:gd name="connsiteX0" fmla="*/ 0 w 2102031"/>
              <a:gd name="connsiteY0" fmla="*/ 0 h 5176158"/>
              <a:gd name="connsiteX1" fmla="*/ 2102031 w 2102031"/>
              <a:gd name="connsiteY1" fmla="*/ 0 h 5176158"/>
              <a:gd name="connsiteX2" fmla="*/ 2102031 w 2102031"/>
              <a:gd name="connsiteY2" fmla="*/ 5176158 h 5176158"/>
              <a:gd name="connsiteX3" fmla="*/ 0 w 2102031"/>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2102031" h="5176158">
                <a:moveTo>
                  <a:pt x="0" y="0"/>
                </a:moveTo>
                <a:lnTo>
                  <a:pt x="2102031" y="0"/>
                </a:lnTo>
                <a:lnTo>
                  <a:pt x="2102031" y="5176158"/>
                </a:lnTo>
                <a:lnTo>
                  <a:pt x="0" y="5176158"/>
                </a:lnTo>
                <a:close/>
              </a:path>
            </a:pathLst>
          </a:custGeom>
        </p:spPr>
        <p:txBody>
          <a:bodyPr wrap="square">
            <a:noAutofit/>
          </a:bodyPr>
          <a:lstStyle/>
          <a:p>
            <a:endParaRPr lang="en-US" dirty="0"/>
          </a:p>
        </p:txBody>
      </p:sp>
      <p:sp>
        <p:nvSpPr>
          <p:cNvPr id="14" name="Picture Placeholder 13"/>
          <p:cNvSpPr>
            <a:spLocks noGrp="1"/>
          </p:cNvSpPr>
          <p:nvPr>
            <p:ph type="pic" sz="quarter" idx="11"/>
          </p:nvPr>
        </p:nvSpPr>
        <p:spPr>
          <a:xfrm>
            <a:off x="2551611" y="840921"/>
            <a:ext cx="2102031" cy="5176158"/>
          </a:xfrm>
          <a:custGeom>
            <a:avLst/>
            <a:gdLst>
              <a:gd name="connsiteX0" fmla="*/ 0 w 2102031"/>
              <a:gd name="connsiteY0" fmla="*/ 0 h 5176158"/>
              <a:gd name="connsiteX1" fmla="*/ 2102031 w 2102031"/>
              <a:gd name="connsiteY1" fmla="*/ 0 h 5176158"/>
              <a:gd name="connsiteX2" fmla="*/ 2102031 w 2102031"/>
              <a:gd name="connsiteY2" fmla="*/ 5176158 h 5176158"/>
              <a:gd name="connsiteX3" fmla="*/ 0 w 2102031"/>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2102031" h="5176158">
                <a:moveTo>
                  <a:pt x="0" y="0"/>
                </a:moveTo>
                <a:lnTo>
                  <a:pt x="2102031" y="0"/>
                </a:lnTo>
                <a:lnTo>
                  <a:pt x="2102031" y="5176158"/>
                </a:lnTo>
                <a:lnTo>
                  <a:pt x="0" y="5176158"/>
                </a:lnTo>
                <a:close/>
              </a:path>
            </a:pathLst>
          </a:custGeom>
        </p:spPr>
        <p:txBody>
          <a:bodyPr wrap="square">
            <a:noAutofit/>
          </a:bodyPr>
          <a:lstStyle/>
          <a:p>
            <a:endParaRPr lang="en-US" dirty="0"/>
          </a:p>
        </p:txBody>
      </p:sp>
      <p:sp>
        <p:nvSpPr>
          <p:cNvPr id="15" name="Picture Placeholder 14"/>
          <p:cNvSpPr>
            <a:spLocks noGrp="1"/>
          </p:cNvSpPr>
          <p:nvPr>
            <p:ph type="pic" sz="quarter" idx="12"/>
          </p:nvPr>
        </p:nvSpPr>
        <p:spPr>
          <a:xfrm>
            <a:off x="4653642" y="840921"/>
            <a:ext cx="2102031" cy="5176158"/>
          </a:xfrm>
          <a:custGeom>
            <a:avLst/>
            <a:gdLst>
              <a:gd name="connsiteX0" fmla="*/ 0 w 2102031"/>
              <a:gd name="connsiteY0" fmla="*/ 0 h 5176158"/>
              <a:gd name="connsiteX1" fmla="*/ 2102031 w 2102031"/>
              <a:gd name="connsiteY1" fmla="*/ 0 h 5176158"/>
              <a:gd name="connsiteX2" fmla="*/ 2102031 w 2102031"/>
              <a:gd name="connsiteY2" fmla="*/ 5176158 h 5176158"/>
              <a:gd name="connsiteX3" fmla="*/ 0 w 2102031"/>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2102031" h="5176158">
                <a:moveTo>
                  <a:pt x="0" y="0"/>
                </a:moveTo>
                <a:lnTo>
                  <a:pt x="2102031" y="0"/>
                </a:lnTo>
                <a:lnTo>
                  <a:pt x="2102031" y="5176158"/>
                </a:lnTo>
                <a:lnTo>
                  <a:pt x="0" y="5176158"/>
                </a:lnTo>
                <a:close/>
              </a:path>
            </a:pathLst>
          </a:custGeom>
        </p:spPr>
        <p:txBody>
          <a:bodyPr wrap="square">
            <a:noAutofit/>
          </a:bodyPr>
          <a:lstStyle/>
          <a:p>
            <a:endParaRPr lang="en-US" dirty="0"/>
          </a:p>
        </p:txBody>
      </p:sp>
    </p:spTree>
    <p:extLst>
      <p:ext uri="{BB962C8B-B14F-4D97-AF65-F5344CB8AC3E}">
        <p14:creationId xmlns:p14="http://schemas.microsoft.com/office/powerpoint/2010/main" val="8082744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454399" y="840921"/>
            <a:ext cx="2548467" cy="5176158"/>
          </a:xfrm>
          <a:custGeom>
            <a:avLst/>
            <a:gdLst>
              <a:gd name="connsiteX0" fmla="*/ 0 w 2548467"/>
              <a:gd name="connsiteY0" fmla="*/ 0 h 5176158"/>
              <a:gd name="connsiteX1" fmla="*/ 2548467 w 2548467"/>
              <a:gd name="connsiteY1" fmla="*/ 0 h 5176158"/>
              <a:gd name="connsiteX2" fmla="*/ 2548467 w 2548467"/>
              <a:gd name="connsiteY2" fmla="*/ 5176158 h 5176158"/>
              <a:gd name="connsiteX3" fmla="*/ 0 w 2548467"/>
              <a:gd name="connsiteY3" fmla="*/ 5176158 h 5176158"/>
            </a:gdLst>
            <a:ahLst/>
            <a:cxnLst>
              <a:cxn ang="0">
                <a:pos x="connsiteX0" y="connsiteY0"/>
              </a:cxn>
              <a:cxn ang="0">
                <a:pos x="connsiteX1" y="connsiteY1"/>
              </a:cxn>
              <a:cxn ang="0">
                <a:pos x="connsiteX2" y="connsiteY2"/>
              </a:cxn>
              <a:cxn ang="0">
                <a:pos x="connsiteX3" y="connsiteY3"/>
              </a:cxn>
            </a:cxnLst>
            <a:rect l="l" t="t" r="r" b="b"/>
            <a:pathLst>
              <a:path w="2548467" h="5176158">
                <a:moveTo>
                  <a:pt x="0" y="0"/>
                </a:moveTo>
                <a:lnTo>
                  <a:pt x="2548467" y="0"/>
                </a:lnTo>
                <a:lnTo>
                  <a:pt x="2548467" y="5176158"/>
                </a:lnTo>
                <a:lnTo>
                  <a:pt x="0" y="5176158"/>
                </a:lnTo>
                <a:close/>
              </a:path>
            </a:pathLst>
          </a:custGeom>
        </p:spPr>
        <p:txBody>
          <a:bodyPr wrap="square">
            <a:noAutofit/>
          </a:bodyPr>
          <a:lstStyle/>
          <a:p>
            <a:endParaRPr lang="en-US"/>
          </a:p>
        </p:txBody>
      </p:sp>
    </p:spTree>
    <p:extLst>
      <p:ext uri="{BB962C8B-B14F-4D97-AF65-F5344CB8AC3E}">
        <p14:creationId xmlns:p14="http://schemas.microsoft.com/office/powerpoint/2010/main" val="2192801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3866382" y="2893422"/>
            <a:ext cx="1506399" cy="1971672"/>
          </a:xfrm>
          <a:custGeom>
            <a:avLst/>
            <a:gdLst>
              <a:gd name="connsiteX0" fmla="*/ 0 w 1506399"/>
              <a:gd name="connsiteY0" fmla="*/ 0 h 1971672"/>
              <a:gd name="connsiteX1" fmla="*/ 1506399 w 1506399"/>
              <a:gd name="connsiteY1" fmla="*/ 0 h 1971672"/>
              <a:gd name="connsiteX2" fmla="*/ 1506399 w 1506399"/>
              <a:gd name="connsiteY2" fmla="*/ 1971672 h 1971672"/>
              <a:gd name="connsiteX3" fmla="*/ 0 w 1506399"/>
              <a:gd name="connsiteY3" fmla="*/ 1971672 h 1971672"/>
            </a:gdLst>
            <a:ahLst/>
            <a:cxnLst>
              <a:cxn ang="0">
                <a:pos x="connsiteX0" y="connsiteY0"/>
              </a:cxn>
              <a:cxn ang="0">
                <a:pos x="connsiteX1" y="connsiteY1"/>
              </a:cxn>
              <a:cxn ang="0">
                <a:pos x="connsiteX2" y="connsiteY2"/>
              </a:cxn>
              <a:cxn ang="0">
                <a:pos x="connsiteX3" y="connsiteY3"/>
              </a:cxn>
            </a:cxnLst>
            <a:rect l="l" t="t" r="r" b="b"/>
            <a:pathLst>
              <a:path w="1506399" h="1971672">
                <a:moveTo>
                  <a:pt x="0" y="0"/>
                </a:moveTo>
                <a:lnTo>
                  <a:pt x="1506399" y="0"/>
                </a:lnTo>
                <a:lnTo>
                  <a:pt x="1506399" y="1971672"/>
                </a:lnTo>
                <a:lnTo>
                  <a:pt x="0" y="1971672"/>
                </a:lnTo>
                <a:close/>
              </a:path>
            </a:pathLst>
          </a:custGeom>
        </p:spPr>
        <p:txBody>
          <a:bodyPr wrap="square">
            <a:noAutofit/>
          </a:bodyPr>
          <a:lstStyle/>
          <a:p>
            <a:endParaRPr lang="en-US" dirty="0"/>
          </a:p>
        </p:txBody>
      </p:sp>
      <p:sp>
        <p:nvSpPr>
          <p:cNvPr id="14" name="Picture Placeholder 13"/>
          <p:cNvSpPr>
            <a:spLocks noGrp="1"/>
          </p:cNvSpPr>
          <p:nvPr>
            <p:ph type="pic" sz="quarter" idx="11"/>
          </p:nvPr>
        </p:nvSpPr>
        <p:spPr>
          <a:xfrm>
            <a:off x="5887124" y="2893422"/>
            <a:ext cx="1506399" cy="1971672"/>
          </a:xfrm>
          <a:custGeom>
            <a:avLst/>
            <a:gdLst>
              <a:gd name="connsiteX0" fmla="*/ 0 w 1506399"/>
              <a:gd name="connsiteY0" fmla="*/ 0 h 1971672"/>
              <a:gd name="connsiteX1" fmla="*/ 1506399 w 1506399"/>
              <a:gd name="connsiteY1" fmla="*/ 0 h 1971672"/>
              <a:gd name="connsiteX2" fmla="*/ 1506399 w 1506399"/>
              <a:gd name="connsiteY2" fmla="*/ 1971672 h 1971672"/>
              <a:gd name="connsiteX3" fmla="*/ 0 w 1506399"/>
              <a:gd name="connsiteY3" fmla="*/ 1971672 h 1971672"/>
            </a:gdLst>
            <a:ahLst/>
            <a:cxnLst>
              <a:cxn ang="0">
                <a:pos x="connsiteX0" y="connsiteY0"/>
              </a:cxn>
              <a:cxn ang="0">
                <a:pos x="connsiteX1" y="connsiteY1"/>
              </a:cxn>
              <a:cxn ang="0">
                <a:pos x="connsiteX2" y="connsiteY2"/>
              </a:cxn>
              <a:cxn ang="0">
                <a:pos x="connsiteX3" y="connsiteY3"/>
              </a:cxn>
            </a:cxnLst>
            <a:rect l="l" t="t" r="r" b="b"/>
            <a:pathLst>
              <a:path w="1506399" h="1971672">
                <a:moveTo>
                  <a:pt x="0" y="0"/>
                </a:moveTo>
                <a:lnTo>
                  <a:pt x="1506399" y="0"/>
                </a:lnTo>
                <a:lnTo>
                  <a:pt x="1506399" y="1971672"/>
                </a:lnTo>
                <a:lnTo>
                  <a:pt x="0" y="1971672"/>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7907866" y="1363270"/>
            <a:ext cx="2675467" cy="3501823"/>
          </a:xfrm>
          <a:custGeom>
            <a:avLst/>
            <a:gdLst>
              <a:gd name="connsiteX0" fmla="*/ 0 w 2675467"/>
              <a:gd name="connsiteY0" fmla="*/ 0 h 3501823"/>
              <a:gd name="connsiteX1" fmla="*/ 2675467 w 2675467"/>
              <a:gd name="connsiteY1" fmla="*/ 0 h 3501823"/>
              <a:gd name="connsiteX2" fmla="*/ 2675467 w 2675467"/>
              <a:gd name="connsiteY2" fmla="*/ 3501823 h 3501823"/>
              <a:gd name="connsiteX3" fmla="*/ 0 w 2675467"/>
              <a:gd name="connsiteY3" fmla="*/ 3501823 h 3501823"/>
            </a:gdLst>
            <a:ahLst/>
            <a:cxnLst>
              <a:cxn ang="0">
                <a:pos x="connsiteX0" y="connsiteY0"/>
              </a:cxn>
              <a:cxn ang="0">
                <a:pos x="connsiteX1" y="connsiteY1"/>
              </a:cxn>
              <a:cxn ang="0">
                <a:pos x="connsiteX2" y="connsiteY2"/>
              </a:cxn>
              <a:cxn ang="0">
                <a:pos x="connsiteX3" y="connsiteY3"/>
              </a:cxn>
            </a:cxnLst>
            <a:rect l="l" t="t" r="r" b="b"/>
            <a:pathLst>
              <a:path w="2675467" h="3501823">
                <a:moveTo>
                  <a:pt x="0" y="0"/>
                </a:moveTo>
                <a:lnTo>
                  <a:pt x="2675467" y="0"/>
                </a:lnTo>
                <a:lnTo>
                  <a:pt x="2675467" y="3501823"/>
                </a:lnTo>
                <a:lnTo>
                  <a:pt x="0" y="3501823"/>
                </a:lnTo>
                <a:close/>
              </a:path>
            </a:pathLst>
          </a:custGeom>
        </p:spPr>
        <p:txBody>
          <a:bodyPr wrap="square">
            <a:noAutofit/>
          </a:bodyPr>
          <a:lstStyle/>
          <a:p>
            <a:endParaRPr lang="en-US" dirty="0"/>
          </a:p>
        </p:txBody>
      </p:sp>
    </p:spTree>
    <p:extLst>
      <p:ext uri="{BB962C8B-B14F-4D97-AF65-F5344CB8AC3E}">
        <p14:creationId xmlns:p14="http://schemas.microsoft.com/office/powerpoint/2010/main" val="415335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449580" y="840921"/>
            <a:ext cx="3764280" cy="2588079"/>
          </a:xfrm>
          <a:custGeom>
            <a:avLst/>
            <a:gdLst>
              <a:gd name="connsiteX0" fmla="*/ 0 w 3764280"/>
              <a:gd name="connsiteY0" fmla="*/ 0 h 2588079"/>
              <a:gd name="connsiteX1" fmla="*/ 3764280 w 3764280"/>
              <a:gd name="connsiteY1" fmla="*/ 0 h 2588079"/>
              <a:gd name="connsiteX2" fmla="*/ 3764280 w 3764280"/>
              <a:gd name="connsiteY2" fmla="*/ 2588079 h 2588079"/>
              <a:gd name="connsiteX3" fmla="*/ 0 w 376428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3764280" h="2588079">
                <a:moveTo>
                  <a:pt x="0" y="0"/>
                </a:moveTo>
                <a:lnTo>
                  <a:pt x="3764280" y="0"/>
                </a:lnTo>
                <a:lnTo>
                  <a:pt x="3764280" y="2588079"/>
                </a:lnTo>
                <a:lnTo>
                  <a:pt x="0" y="2588079"/>
                </a:lnTo>
                <a:close/>
              </a:path>
            </a:pathLst>
          </a:custGeom>
        </p:spPr>
        <p:txBody>
          <a:bodyPr wrap="square">
            <a:noAutofit/>
          </a:bodyPr>
          <a:lstStyle/>
          <a:p>
            <a:endParaRPr lang="en-US" dirty="0"/>
          </a:p>
        </p:txBody>
      </p:sp>
      <p:sp>
        <p:nvSpPr>
          <p:cNvPr id="20" name="Picture Placeholder 19"/>
          <p:cNvSpPr>
            <a:spLocks noGrp="1"/>
          </p:cNvSpPr>
          <p:nvPr>
            <p:ph type="pic" sz="quarter" idx="11"/>
          </p:nvPr>
        </p:nvSpPr>
        <p:spPr>
          <a:xfrm>
            <a:off x="4213860" y="840921"/>
            <a:ext cx="3764280" cy="2588079"/>
          </a:xfrm>
          <a:custGeom>
            <a:avLst/>
            <a:gdLst>
              <a:gd name="connsiteX0" fmla="*/ 0 w 3764280"/>
              <a:gd name="connsiteY0" fmla="*/ 0 h 2588079"/>
              <a:gd name="connsiteX1" fmla="*/ 3764280 w 3764280"/>
              <a:gd name="connsiteY1" fmla="*/ 0 h 2588079"/>
              <a:gd name="connsiteX2" fmla="*/ 3764280 w 3764280"/>
              <a:gd name="connsiteY2" fmla="*/ 2588079 h 2588079"/>
              <a:gd name="connsiteX3" fmla="*/ 0 w 376428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3764280" h="2588079">
                <a:moveTo>
                  <a:pt x="0" y="0"/>
                </a:moveTo>
                <a:lnTo>
                  <a:pt x="3764280" y="0"/>
                </a:lnTo>
                <a:lnTo>
                  <a:pt x="3764280" y="2588079"/>
                </a:lnTo>
                <a:lnTo>
                  <a:pt x="0" y="2588079"/>
                </a:lnTo>
                <a:close/>
              </a:path>
            </a:pathLst>
          </a:custGeom>
        </p:spPr>
        <p:txBody>
          <a:bodyPr wrap="square">
            <a:noAutofit/>
          </a:bodyPr>
          <a:lstStyle/>
          <a:p>
            <a:endParaRPr lang="en-US" dirty="0"/>
          </a:p>
        </p:txBody>
      </p:sp>
      <p:sp>
        <p:nvSpPr>
          <p:cNvPr id="21" name="Picture Placeholder 20"/>
          <p:cNvSpPr>
            <a:spLocks noGrp="1"/>
          </p:cNvSpPr>
          <p:nvPr>
            <p:ph type="pic" sz="quarter" idx="12"/>
          </p:nvPr>
        </p:nvSpPr>
        <p:spPr>
          <a:xfrm>
            <a:off x="7978140" y="840921"/>
            <a:ext cx="3764280" cy="2588079"/>
          </a:xfrm>
          <a:custGeom>
            <a:avLst/>
            <a:gdLst>
              <a:gd name="connsiteX0" fmla="*/ 0 w 3764280"/>
              <a:gd name="connsiteY0" fmla="*/ 0 h 2588079"/>
              <a:gd name="connsiteX1" fmla="*/ 3764280 w 3764280"/>
              <a:gd name="connsiteY1" fmla="*/ 0 h 2588079"/>
              <a:gd name="connsiteX2" fmla="*/ 3764280 w 3764280"/>
              <a:gd name="connsiteY2" fmla="*/ 2588079 h 2588079"/>
              <a:gd name="connsiteX3" fmla="*/ 0 w 376428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3764280" h="2588079">
                <a:moveTo>
                  <a:pt x="0" y="0"/>
                </a:moveTo>
                <a:lnTo>
                  <a:pt x="3764280" y="0"/>
                </a:lnTo>
                <a:lnTo>
                  <a:pt x="3764280" y="2588079"/>
                </a:lnTo>
                <a:lnTo>
                  <a:pt x="0" y="2588079"/>
                </a:lnTo>
                <a:close/>
              </a:path>
            </a:pathLst>
          </a:custGeom>
        </p:spPr>
        <p:txBody>
          <a:bodyPr wrap="square">
            <a:noAutofit/>
          </a:bodyPr>
          <a:lstStyle/>
          <a:p>
            <a:endParaRPr lang="en-US" dirty="0"/>
          </a:p>
        </p:txBody>
      </p:sp>
      <p:sp>
        <p:nvSpPr>
          <p:cNvPr id="22" name="Picture Placeholder 21"/>
          <p:cNvSpPr>
            <a:spLocks noGrp="1"/>
          </p:cNvSpPr>
          <p:nvPr>
            <p:ph type="pic" sz="quarter" idx="13"/>
          </p:nvPr>
        </p:nvSpPr>
        <p:spPr>
          <a:xfrm>
            <a:off x="449580" y="3429000"/>
            <a:ext cx="3764280" cy="2588079"/>
          </a:xfrm>
          <a:custGeom>
            <a:avLst/>
            <a:gdLst>
              <a:gd name="connsiteX0" fmla="*/ 0 w 3764280"/>
              <a:gd name="connsiteY0" fmla="*/ 0 h 2588079"/>
              <a:gd name="connsiteX1" fmla="*/ 3764280 w 3764280"/>
              <a:gd name="connsiteY1" fmla="*/ 0 h 2588079"/>
              <a:gd name="connsiteX2" fmla="*/ 3764280 w 3764280"/>
              <a:gd name="connsiteY2" fmla="*/ 2588079 h 2588079"/>
              <a:gd name="connsiteX3" fmla="*/ 0 w 376428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3764280" h="2588079">
                <a:moveTo>
                  <a:pt x="0" y="0"/>
                </a:moveTo>
                <a:lnTo>
                  <a:pt x="3764280" y="0"/>
                </a:lnTo>
                <a:lnTo>
                  <a:pt x="3764280" y="2588079"/>
                </a:lnTo>
                <a:lnTo>
                  <a:pt x="0" y="2588079"/>
                </a:lnTo>
                <a:close/>
              </a:path>
            </a:pathLst>
          </a:custGeom>
        </p:spPr>
        <p:txBody>
          <a:bodyPr wrap="square">
            <a:noAutofit/>
          </a:bodyPr>
          <a:lstStyle/>
          <a:p>
            <a:endParaRPr lang="en-US" dirty="0"/>
          </a:p>
        </p:txBody>
      </p:sp>
      <p:sp>
        <p:nvSpPr>
          <p:cNvPr id="23" name="Picture Placeholder 22"/>
          <p:cNvSpPr>
            <a:spLocks noGrp="1"/>
          </p:cNvSpPr>
          <p:nvPr>
            <p:ph type="pic" sz="quarter" idx="14"/>
          </p:nvPr>
        </p:nvSpPr>
        <p:spPr>
          <a:xfrm>
            <a:off x="4213860" y="3429000"/>
            <a:ext cx="3764280" cy="2588079"/>
          </a:xfrm>
          <a:custGeom>
            <a:avLst/>
            <a:gdLst>
              <a:gd name="connsiteX0" fmla="*/ 0 w 3764280"/>
              <a:gd name="connsiteY0" fmla="*/ 0 h 2588079"/>
              <a:gd name="connsiteX1" fmla="*/ 3764280 w 3764280"/>
              <a:gd name="connsiteY1" fmla="*/ 0 h 2588079"/>
              <a:gd name="connsiteX2" fmla="*/ 3764280 w 3764280"/>
              <a:gd name="connsiteY2" fmla="*/ 2588079 h 2588079"/>
              <a:gd name="connsiteX3" fmla="*/ 0 w 376428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3764280" h="2588079">
                <a:moveTo>
                  <a:pt x="0" y="0"/>
                </a:moveTo>
                <a:lnTo>
                  <a:pt x="3764280" y="0"/>
                </a:lnTo>
                <a:lnTo>
                  <a:pt x="3764280" y="2588079"/>
                </a:lnTo>
                <a:lnTo>
                  <a:pt x="0" y="2588079"/>
                </a:lnTo>
                <a:close/>
              </a:path>
            </a:pathLst>
          </a:custGeom>
        </p:spPr>
        <p:txBody>
          <a:bodyPr wrap="square">
            <a:noAutofit/>
          </a:bodyPr>
          <a:lstStyle/>
          <a:p>
            <a:endParaRPr lang="en-US"/>
          </a:p>
        </p:txBody>
      </p:sp>
      <p:sp>
        <p:nvSpPr>
          <p:cNvPr id="24" name="Picture Placeholder 23"/>
          <p:cNvSpPr>
            <a:spLocks noGrp="1"/>
          </p:cNvSpPr>
          <p:nvPr>
            <p:ph type="pic" sz="quarter" idx="15"/>
          </p:nvPr>
        </p:nvSpPr>
        <p:spPr>
          <a:xfrm>
            <a:off x="7978140" y="3429000"/>
            <a:ext cx="3764280" cy="2588079"/>
          </a:xfrm>
          <a:custGeom>
            <a:avLst/>
            <a:gdLst>
              <a:gd name="connsiteX0" fmla="*/ 0 w 3764280"/>
              <a:gd name="connsiteY0" fmla="*/ 0 h 2588079"/>
              <a:gd name="connsiteX1" fmla="*/ 3764280 w 3764280"/>
              <a:gd name="connsiteY1" fmla="*/ 0 h 2588079"/>
              <a:gd name="connsiteX2" fmla="*/ 3764280 w 3764280"/>
              <a:gd name="connsiteY2" fmla="*/ 2588079 h 2588079"/>
              <a:gd name="connsiteX3" fmla="*/ 0 w 376428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3764280" h="2588079">
                <a:moveTo>
                  <a:pt x="0" y="0"/>
                </a:moveTo>
                <a:lnTo>
                  <a:pt x="3764280" y="0"/>
                </a:lnTo>
                <a:lnTo>
                  <a:pt x="3764280" y="2588079"/>
                </a:lnTo>
                <a:lnTo>
                  <a:pt x="0" y="2588079"/>
                </a:lnTo>
                <a:close/>
              </a:path>
            </a:pathLst>
          </a:custGeom>
        </p:spPr>
        <p:txBody>
          <a:bodyPr wrap="square">
            <a:noAutofit/>
          </a:bodyPr>
          <a:lstStyle/>
          <a:p>
            <a:endParaRPr lang="en-US" dirty="0"/>
          </a:p>
        </p:txBody>
      </p:sp>
    </p:spTree>
    <p:extLst>
      <p:ext uri="{BB962C8B-B14F-4D97-AF65-F5344CB8AC3E}">
        <p14:creationId xmlns:p14="http://schemas.microsoft.com/office/powerpoint/2010/main" val="686958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26" name="Picture Placeholder 25"/>
          <p:cNvSpPr>
            <a:spLocks noGrp="1"/>
          </p:cNvSpPr>
          <p:nvPr>
            <p:ph type="pic" sz="quarter" idx="10"/>
          </p:nvPr>
        </p:nvSpPr>
        <p:spPr>
          <a:xfrm>
            <a:off x="449580" y="840921"/>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27" name="Picture Placeholder 26"/>
          <p:cNvSpPr>
            <a:spLocks noGrp="1"/>
          </p:cNvSpPr>
          <p:nvPr>
            <p:ph type="pic" sz="quarter" idx="11"/>
          </p:nvPr>
        </p:nvSpPr>
        <p:spPr>
          <a:xfrm>
            <a:off x="3272790" y="840921"/>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28" name="Picture Placeholder 27"/>
          <p:cNvSpPr>
            <a:spLocks noGrp="1"/>
          </p:cNvSpPr>
          <p:nvPr>
            <p:ph type="pic" sz="quarter" idx="12"/>
          </p:nvPr>
        </p:nvSpPr>
        <p:spPr>
          <a:xfrm>
            <a:off x="6096000" y="840921"/>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29" name="Picture Placeholder 28"/>
          <p:cNvSpPr>
            <a:spLocks noGrp="1"/>
          </p:cNvSpPr>
          <p:nvPr>
            <p:ph type="pic" sz="quarter" idx="13"/>
          </p:nvPr>
        </p:nvSpPr>
        <p:spPr>
          <a:xfrm>
            <a:off x="8919210" y="840921"/>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30" name="Picture Placeholder 29"/>
          <p:cNvSpPr>
            <a:spLocks noGrp="1"/>
          </p:cNvSpPr>
          <p:nvPr>
            <p:ph type="pic" sz="quarter" idx="14"/>
          </p:nvPr>
        </p:nvSpPr>
        <p:spPr>
          <a:xfrm>
            <a:off x="449580" y="3429000"/>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31" name="Picture Placeholder 30"/>
          <p:cNvSpPr>
            <a:spLocks noGrp="1"/>
          </p:cNvSpPr>
          <p:nvPr>
            <p:ph type="pic" sz="quarter" idx="15"/>
          </p:nvPr>
        </p:nvSpPr>
        <p:spPr>
          <a:xfrm>
            <a:off x="3272790" y="3429000"/>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32" name="Picture Placeholder 31"/>
          <p:cNvSpPr>
            <a:spLocks noGrp="1"/>
          </p:cNvSpPr>
          <p:nvPr>
            <p:ph type="pic" sz="quarter" idx="16"/>
          </p:nvPr>
        </p:nvSpPr>
        <p:spPr>
          <a:xfrm>
            <a:off x="6096000" y="3429000"/>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
        <p:nvSpPr>
          <p:cNvPr id="33" name="Picture Placeholder 32"/>
          <p:cNvSpPr>
            <a:spLocks noGrp="1"/>
          </p:cNvSpPr>
          <p:nvPr>
            <p:ph type="pic" sz="quarter" idx="17"/>
          </p:nvPr>
        </p:nvSpPr>
        <p:spPr>
          <a:xfrm>
            <a:off x="8919210" y="3429000"/>
            <a:ext cx="2823210" cy="2588079"/>
          </a:xfrm>
          <a:custGeom>
            <a:avLst/>
            <a:gdLst>
              <a:gd name="connsiteX0" fmla="*/ 0 w 2823210"/>
              <a:gd name="connsiteY0" fmla="*/ 0 h 2588079"/>
              <a:gd name="connsiteX1" fmla="*/ 2823210 w 2823210"/>
              <a:gd name="connsiteY1" fmla="*/ 0 h 2588079"/>
              <a:gd name="connsiteX2" fmla="*/ 2823210 w 2823210"/>
              <a:gd name="connsiteY2" fmla="*/ 2588079 h 2588079"/>
              <a:gd name="connsiteX3" fmla="*/ 0 w 2823210"/>
              <a:gd name="connsiteY3" fmla="*/ 2588079 h 2588079"/>
            </a:gdLst>
            <a:ahLst/>
            <a:cxnLst>
              <a:cxn ang="0">
                <a:pos x="connsiteX0" y="connsiteY0"/>
              </a:cxn>
              <a:cxn ang="0">
                <a:pos x="connsiteX1" y="connsiteY1"/>
              </a:cxn>
              <a:cxn ang="0">
                <a:pos x="connsiteX2" y="connsiteY2"/>
              </a:cxn>
              <a:cxn ang="0">
                <a:pos x="connsiteX3" y="connsiteY3"/>
              </a:cxn>
            </a:cxnLst>
            <a:rect l="l" t="t" r="r" b="b"/>
            <a:pathLst>
              <a:path w="2823210" h="2588079">
                <a:moveTo>
                  <a:pt x="0" y="0"/>
                </a:moveTo>
                <a:lnTo>
                  <a:pt x="2823210" y="0"/>
                </a:lnTo>
                <a:lnTo>
                  <a:pt x="2823210" y="2588079"/>
                </a:lnTo>
                <a:lnTo>
                  <a:pt x="0" y="2588079"/>
                </a:lnTo>
                <a:close/>
              </a:path>
            </a:pathLst>
          </a:custGeom>
        </p:spPr>
        <p:txBody>
          <a:bodyPr wrap="square">
            <a:noAutofit/>
          </a:bodyPr>
          <a:lstStyle/>
          <a:p>
            <a:endParaRPr lang="en-US" dirty="0"/>
          </a:p>
        </p:txBody>
      </p:sp>
    </p:spTree>
    <p:extLst>
      <p:ext uri="{BB962C8B-B14F-4D97-AF65-F5344CB8AC3E}">
        <p14:creationId xmlns:p14="http://schemas.microsoft.com/office/powerpoint/2010/main" val="7714915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53161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486360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416613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43485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589511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041536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753893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238474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597305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373643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4891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lumMod val="85000"/>
                    <a:lumOff val="15000"/>
                  </a:schemeClr>
                </a:solidFill>
                <a:latin typeface="Montserrat" charset="0"/>
                <a:ea typeface="Montserrat" charset="0"/>
                <a:cs typeface="Montserrat" charset="0"/>
              </a:defRPr>
            </a:lvl1pPr>
          </a:lstStyle>
          <a:p>
            <a:fld id="{2128DE0A-13E1-E249-BA34-57F750BA34F6}" type="datetimeFigureOut">
              <a:rPr lang="en-US" smtClean="0"/>
              <a:pPr/>
              <a:t>9/22/2026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lumMod val="85000"/>
                    <a:lumOff val="15000"/>
                  </a:schemeClr>
                </a:solidFill>
                <a:latin typeface="Montserrat" charset="0"/>
                <a:ea typeface="Montserrat" charset="0"/>
                <a:cs typeface="Montserrat"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a:solidFill>
                  <a:schemeClr val="tx1">
                    <a:lumMod val="85000"/>
                    <a:lumOff val="15000"/>
                  </a:schemeClr>
                </a:solidFill>
                <a:latin typeface="Cormorant Garamond" charset="0"/>
                <a:ea typeface="Cormorant Garamond" charset="0"/>
                <a:cs typeface="Cormorant Garamond" charset="0"/>
              </a:defRPr>
            </a:lvl1pPr>
          </a:lstStyle>
          <a:p>
            <a:fld id="{62AEC829-9D8B-B04A-97F2-7EA009EEF72F}" type="slidenum">
              <a:rPr lang="en-US" smtClean="0"/>
              <a:pPr/>
              <a:t>‹#›</a:t>
            </a:fld>
            <a:endParaRPr lang="en-US" dirty="0"/>
          </a:p>
        </p:txBody>
      </p:sp>
    </p:spTree>
    <p:extLst>
      <p:ext uri="{BB962C8B-B14F-4D97-AF65-F5344CB8AC3E}">
        <p14:creationId xmlns:p14="http://schemas.microsoft.com/office/powerpoint/2010/main" val="1446181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ontserrat" charset="0"/>
          <a:ea typeface="Montserrat" charset="0"/>
          <a:cs typeface="Montserrat" charset="0"/>
        </a:defRPr>
      </a:lvl1pPr>
    </p:titleStyle>
    <p:bodyStyle>
      <a:lvl1pPr marL="0" indent="0" algn="l" defTabSz="914400" rtl="0" eaLnBrk="1" latinLnBrk="0" hangingPunct="1">
        <a:lnSpc>
          <a:spcPct val="90000"/>
        </a:lnSpc>
        <a:spcBef>
          <a:spcPts val="1000"/>
        </a:spcBef>
        <a:buFont typeface="Arial"/>
        <a:buNone/>
        <a:defRPr sz="2800" kern="1200">
          <a:solidFill>
            <a:schemeClr val="tx1">
              <a:lumMod val="85000"/>
              <a:lumOff val="15000"/>
            </a:schemeClr>
          </a:solidFill>
          <a:latin typeface="Montserrat" charset="0"/>
          <a:ea typeface="Montserrat" charset="0"/>
          <a:cs typeface="Montserrat"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E2ED3C-40DA-41BA-BD3B-2066F58A12E6}" type="datetimeFigureOut">
              <a:rPr lang="zh-CN" altLang="en-US" smtClean="0">
                <a:solidFill>
                  <a:prstClr val="black">
                    <a:tint val="75000"/>
                  </a:prstClr>
                </a:solidFill>
              </a:rPr>
              <a:pPr/>
              <a:t>2026/9/22</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F5BC4-E16A-4959-B89A-62BBD6B0F7A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1285095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2.xml"/><Relationship Id="rId5" Type="http://schemas.openxmlformats.org/officeDocument/2006/relationships/image" Target="../media/image8.jpg"/><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2.xml"/><Relationship Id="rId5" Type="http://schemas.openxmlformats.org/officeDocument/2006/relationships/image" Target="../media/image16.jpeg"/><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25.jp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32.xml"/><Relationship Id="rId6" Type="http://schemas.openxmlformats.org/officeDocument/2006/relationships/image" Target="../media/image39.jpeg"/><Relationship Id="rId5" Type="http://schemas.openxmlformats.org/officeDocument/2006/relationships/image" Target="../media/image38.jpg"/><Relationship Id="rId4" Type="http://schemas.openxmlformats.org/officeDocument/2006/relationships/image" Target="../media/image37.jp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33.xml"/><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3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2.xml"/></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4.jpg"/></Relationships>
</file>

<file path=ppt/slides/_rels/slide73.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969" r="969"/>
          <a:stretch>
            <a:fillRect/>
          </a:stretch>
        </p:blipFill>
        <p:spPr/>
      </p:pic>
      <p:sp>
        <p:nvSpPr>
          <p:cNvPr id="22" name="TextBox 21"/>
          <p:cNvSpPr txBox="1"/>
          <p:nvPr/>
        </p:nvSpPr>
        <p:spPr>
          <a:xfrm rot="16200000">
            <a:off x="536502" y="5114242"/>
            <a:ext cx="915636" cy="215444"/>
          </a:xfrm>
          <a:prstGeom prst="rect">
            <a:avLst/>
          </a:prstGeom>
          <a:noFill/>
        </p:spPr>
        <p:txBody>
          <a:bodyPr wrap="none" rtlCol="0">
            <a:spAutoFit/>
          </a:bodyPr>
          <a:lstStyle/>
          <a:p>
            <a:pPr algn="ctr"/>
            <a:r>
              <a:rPr lang="en-US" sz="800" b="1" spc="300" dirty="0">
                <a:solidFill>
                  <a:schemeClr val="tx1">
                    <a:lumMod val="85000"/>
                    <a:lumOff val="15000"/>
                  </a:schemeClr>
                </a:solidFill>
                <a:latin typeface="Montserrat Semi" charset="0"/>
                <a:ea typeface="Montserrat Light" charset="0"/>
                <a:cs typeface="Montserrat Light" charset="0"/>
              </a:rPr>
              <a:t>FASHION</a:t>
            </a:r>
            <a:endParaRPr lang="en-US" sz="800" spc="300" dirty="0">
              <a:solidFill>
                <a:schemeClr val="tx1">
                  <a:lumMod val="85000"/>
                  <a:lumOff val="15000"/>
                </a:schemeClr>
              </a:solidFill>
              <a:latin typeface="Montserrat Light" charset="0"/>
              <a:ea typeface="Montserrat Light" charset="0"/>
              <a:cs typeface="Montserrat Light" charset="0"/>
            </a:endParaRPr>
          </a:p>
        </p:txBody>
      </p:sp>
      <p:sp>
        <p:nvSpPr>
          <p:cNvPr id="6" name="矩形 5"/>
          <p:cNvSpPr/>
          <p:nvPr/>
        </p:nvSpPr>
        <p:spPr>
          <a:xfrm>
            <a:off x="1964267" y="0"/>
            <a:ext cx="10227733" cy="6858000"/>
          </a:xfrm>
          <a:prstGeom prst="rect">
            <a:avLst/>
          </a:prstGeom>
          <a:solidFill>
            <a:schemeClr val="tx1">
              <a:alpha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15"/>
          <p:cNvSpPr txBox="1"/>
          <p:nvPr/>
        </p:nvSpPr>
        <p:spPr>
          <a:xfrm>
            <a:off x="2469086" y="2828835"/>
            <a:ext cx="9218094" cy="1200329"/>
          </a:xfrm>
          <a:prstGeom prst="rect">
            <a:avLst/>
          </a:prstGeom>
          <a:noFill/>
        </p:spPr>
        <p:txBody>
          <a:bodyPr wrap="square" rtlCol="0">
            <a:spAutoFit/>
          </a:bodyPr>
          <a:lstStyle/>
          <a:p>
            <a:pPr algn="ctr"/>
            <a:r>
              <a:rPr lang="zh-CN" altLang="en-US" sz="7200" spc="600" dirty="0">
                <a:solidFill>
                  <a:schemeClr val="bg1"/>
                </a:solidFill>
                <a:latin typeface="造字工房黄金时代（非商用）粗体" pitchFamily="50" charset="-122"/>
                <a:ea typeface="造字工房黄金时代（非商用）粗体" pitchFamily="50" charset="-122"/>
                <a:cs typeface="Space Age" charset="0"/>
              </a:rPr>
              <a:t>消费文化概论</a:t>
            </a:r>
            <a:endParaRPr lang="en-US" sz="7200" spc="600" dirty="0">
              <a:solidFill>
                <a:schemeClr val="bg1"/>
              </a:solidFill>
              <a:latin typeface="造字工房黄金时代（非商用）粗体" pitchFamily="50" charset="-122"/>
              <a:ea typeface="造字工房黄金时代（非商用）粗体" pitchFamily="50" charset="-122"/>
              <a:cs typeface="Space Age" charset="0"/>
            </a:endParaRPr>
          </a:p>
        </p:txBody>
      </p:sp>
    </p:spTree>
    <p:extLst>
      <p:ext uri="{BB962C8B-B14F-4D97-AF65-F5344CB8AC3E}">
        <p14:creationId xmlns:p14="http://schemas.microsoft.com/office/powerpoint/2010/main" val="205512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type="pic" sz="quarter" idx="10"/>
          </p:nvPr>
        </p:nvPicPr>
        <p:blipFill>
          <a:blip r:embed="rId3"/>
          <a:srcRect t="20" b="20"/>
          <a:stretch>
            <a:fillRect/>
          </a:stretch>
        </p:blipFill>
        <p:spPr>
          <a:xfrm>
            <a:off x="2011052" y="1374168"/>
            <a:ext cx="3992202" cy="3992202"/>
          </a:xfrm>
        </p:spPr>
      </p:pic>
      <p:sp>
        <p:nvSpPr>
          <p:cNvPr id="11" name="Rectangle 10"/>
          <p:cNvSpPr/>
          <p:nvPr/>
        </p:nvSpPr>
        <p:spPr>
          <a:xfrm>
            <a:off x="4510907" y="4441371"/>
            <a:ext cx="1640501" cy="983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4769348" y="4700099"/>
            <a:ext cx="2164852" cy="523220"/>
          </a:xfrm>
          <a:prstGeom prst="rect">
            <a:avLst/>
          </a:prstGeom>
        </p:spPr>
        <p:txBody>
          <a:bodyPr wrap="square">
            <a:spAutoFit/>
          </a:bodyPr>
          <a:lstStyle/>
          <a:p>
            <a:r>
              <a:rPr lang="zh-CN" altLang="en-US" sz="2800" b="1" dirty="0">
                <a:solidFill>
                  <a:prstClr val="black">
                    <a:lumMod val="85000"/>
                    <a:lumOff val="15000"/>
                  </a:prstClr>
                </a:solidFill>
                <a:latin typeface="微软雅黑" panose="020B0503020204020204" pitchFamily="34" charset="-122"/>
                <a:ea typeface="微软雅黑" panose="020B0503020204020204" pitchFamily="34" charset="-122"/>
                <a:cs typeface="Cormorant Garamond Light" charset="0"/>
              </a:rPr>
              <a:t>目录</a:t>
            </a:r>
            <a:r>
              <a:rPr lang="en-US" altLang="zh-CN" sz="1400" b="1" dirty="0">
                <a:solidFill>
                  <a:prstClr val="black">
                    <a:lumMod val="85000"/>
                    <a:lumOff val="15000"/>
                  </a:prstClr>
                </a:solidFill>
                <a:latin typeface="微软雅黑" panose="020B0503020204020204" pitchFamily="34" charset="-122"/>
                <a:ea typeface="微软雅黑" panose="020B0503020204020204" pitchFamily="34" charset="-122"/>
                <a:cs typeface="Cormorant Garamond Light" charset="0"/>
              </a:rPr>
              <a:t>/CONTENTS</a:t>
            </a:r>
            <a:endParaRPr lang="en-US" sz="1400" dirty="0">
              <a:solidFill>
                <a:prstClr val="black">
                  <a:lumMod val="85000"/>
                  <a:lumOff val="15000"/>
                </a:prstClr>
              </a:solidFill>
              <a:latin typeface="微软雅黑" panose="020B0503020204020204" pitchFamily="34" charset="-122"/>
              <a:ea typeface="微软雅黑" panose="020B0503020204020204" pitchFamily="34" charset="-122"/>
              <a:cs typeface="Cormorant Garamond Light" charset="0"/>
            </a:endParaRPr>
          </a:p>
        </p:txBody>
      </p:sp>
      <p:cxnSp>
        <p:nvCxnSpPr>
          <p:cNvPr id="13" name="Straight Connector 12"/>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2278" y="6317571"/>
            <a:ext cx="524503" cy="230832"/>
          </a:xfrm>
          <a:prstGeom prst="rect">
            <a:avLst/>
          </a:prstGeom>
          <a:noFill/>
        </p:spPr>
        <p:txBody>
          <a:bodyPr wrap="none" rtlCol="0">
            <a:spAutoFit/>
          </a:bodyPr>
          <a:lstStyle/>
          <a:p>
            <a:r>
              <a:rPr lang="en-US" sz="900" dirty="0">
                <a:solidFill>
                  <a:prstClr val="black">
                    <a:lumMod val="85000"/>
                    <a:lumOff val="15000"/>
                  </a:prstClr>
                </a:solidFill>
                <a:latin typeface="Cormorant Garamond Light" charset="0"/>
                <a:ea typeface="Cormorant Garamond Light" charset="0"/>
                <a:cs typeface="Cormorant Garamond Light" charset="0"/>
              </a:rPr>
              <a:t>slide : </a:t>
            </a:r>
            <a:fld id="{62AEC829-9D8B-B04A-97F2-7EA009EEF72F}" type="slidenum">
              <a:rPr lang="en-US" sz="900" b="1">
                <a:solidFill>
                  <a:prstClr val="black"/>
                </a:solidFill>
                <a:latin typeface="Cormorant Garamond" charset="0"/>
                <a:ea typeface="Cormorant Garamond" charset="0"/>
                <a:cs typeface="Cormorant Garamond" charset="0"/>
              </a:rPr>
              <a:pPr/>
              <a:t>2</a:t>
            </a:fld>
            <a:endParaRPr lang="en-US" sz="900" b="1" dirty="0">
              <a:solidFill>
                <a:prstClr val="black"/>
              </a:solidFill>
              <a:latin typeface="Cormorant Garamond" charset="0"/>
              <a:ea typeface="Cormorant Garamond" charset="0"/>
              <a:cs typeface="Cormorant Garamond" charset="0"/>
            </a:endParaRPr>
          </a:p>
        </p:txBody>
      </p:sp>
      <p:sp>
        <p:nvSpPr>
          <p:cNvPr id="17" name="TextBox 16"/>
          <p:cNvSpPr txBox="1"/>
          <p:nvPr/>
        </p:nvSpPr>
        <p:spPr>
          <a:xfrm>
            <a:off x="6789358" y="2287545"/>
            <a:ext cx="3391589" cy="586186"/>
          </a:xfrm>
          <a:prstGeom prst="rect">
            <a:avLst/>
          </a:prstGeom>
          <a:noFill/>
        </p:spPr>
        <p:txBody>
          <a:bodyPr wrap="square" rtlCol="0">
            <a:spAutoFit/>
          </a:bodyPr>
          <a:lstStyle/>
          <a:p>
            <a:pPr>
              <a:lnSpc>
                <a:spcPts val="4500"/>
              </a:lnSpc>
            </a:pPr>
            <a:r>
              <a:rPr 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01  </a:t>
            </a:r>
            <a:r>
              <a:rPr lang="zh-CN" alt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课程情况</a:t>
            </a:r>
            <a:endParaRPr 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endParaRPr>
          </a:p>
        </p:txBody>
      </p:sp>
      <p:sp>
        <p:nvSpPr>
          <p:cNvPr id="21" name="TextBox 16"/>
          <p:cNvSpPr txBox="1"/>
          <p:nvPr/>
        </p:nvSpPr>
        <p:spPr>
          <a:xfrm>
            <a:off x="6789357" y="2851565"/>
            <a:ext cx="4117453" cy="586186"/>
          </a:xfrm>
          <a:prstGeom prst="rect">
            <a:avLst/>
          </a:prstGeom>
          <a:noFill/>
        </p:spPr>
        <p:txBody>
          <a:bodyPr wrap="square" rtlCol="0">
            <a:spAutoFit/>
          </a:bodyPr>
          <a:lstStyle/>
          <a:p>
            <a:pPr>
              <a:lnSpc>
                <a:spcPts val="4500"/>
              </a:lnSpc>
            </a:pPr>
            <a:r>
              <a:rPr 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0</a:t>
            </a:r>
            <a:r>
              <a:rPr lang="en-US" altLang="zh-CN"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2   </a:t>
            </a:r>
            <a:r>
              <a:rPr lang="zh-CN" alt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消费</a:t>
            </a:r>
            <a:endParaRPr 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endParaRPr>
          </a:p>
        </p:txBody>
      </p:sp>
      <p:sp>
        <p:nvSpPr>
          <p:cNvPr id="24" name="TextBox 16"/>
          <p:cNvSpPr txBox="1"/>
          <p:nvPr/>
        </p:nvSpPr>
        <p:spPr>
          <a:xfrm>
            <a:off x="6847944" y="3984549"/>
            <a:ext cx="2194183" cy="586186"/>
          </a:xfrm>
          <a:prstGeom prst="rect">
            <a:avLst/>
          </a:prstGeom>
          <a:noFill/>
        </p:spPr>
        <p:txBody>
          <a:bodyPr wrap="square" rtlCol="0">
            <a:spAutoFit/>
          </a:bodyPr>
          <a:lstStyle/>
          <a:p>
            <a:pPr>
              <a:lnSpc>
                <a:spcPts val="4500"/>
              </a:lnSpc>
            </a:pPr>
            <a:r>
              <a:rPr 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04  </a:t>
            </a:r>
            <a:r>
              <a:rPr lang="zh-CN" alt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rPr>
              <a:t>结论</a:t>
            </a:r>
            <a:endParaRPr lang="en-US" sz="2000" dirty="0">
              <a:solidFill>
                <a:prstClr val="black">
                  <a:lumMod val="85000"/>
                  <a:lumOff val="15000"/>
                </a:prstClr>
              </a:solidFill>
              <a:latin typeface="微软雅黑" panose="020B0503020204020204" pitchFamily="34" charset="-122"/>
              <a:ea typeface="微软雅黑" panose="020B0503020204020204" pitchFamily="34" charset="-122"/>
              <a:cs typeface="Montserrat" charset="0"/>
            </a:endParaRPr>
          </a:p>
        </p:txBody>
      </p:sp>
      <p:pic>
        <p:nvPicPr>
          <p:cNvPr id="4" name="图片 3"/>
          <p:cNvPicPr>
            <a:picLocks noChangeAspect="1"/>
          </p:cNvPicPr>
          <p:nvPr/>
        </p:nvPicPr>
        <p:blipFill>
          <a:blip r:embed="rId4"/>
          <a:stretch>
            <a:fillRect/>
          </a:stretch>
        </p:blipFill>
        <p:spPr>
          <a:xfrm>
            <a:off x="6780315" y="3403969"/>
            <a:ext cx="2261812" cy="688908"/>
          </a:xfrm>
          <a:prstGeom prst="rect">
            <a:avLst/>
          </a:prstGeom>
        </p:spPr>
      </p:pic>
    </p:spTree>
    <p:extLst>
      <p:ext uri="{BB962C8B-B14F-4D97-AF65-F5344CB8AC3E}">
        <p14:creationId xmlns:p14="http://schemas.microsoft.com/office/powerpoint/2010/main" val="74205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500"/>
                                        <p:tgtEl>
                                          <p:spTgt spid="11"/>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p:bldP spid="17" grpId="0"/>
      <p:bldP spid="21"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660467" y="0"/>
            <a:ext cx="2531533" cy="601707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 name="组合 1"/>
          <p:cNvGrpSpPr/>
          <p:nvPr/>
        </p:nvGrpSpPr>
        <p:grpSpPr>
          <a:xfrm>
            <a:off x="10281362" y="4182167"/>
            <a:ext cx="1643939" cy="1868691"/>
            <a:chOff x="10281362" y="4182167"/>
            <a:chExt cx="1643939" cy="1868691"/>
          </a:xfrm>
        </p:grpSpPr>
        <p:sp>
          <p:nvSpPr>
            <p:cNvPr id="12" name="TextBox 11"/>
            <p:cNvSpPr txBox="1"/>
            <p:nvPr/>
          </p:nvSpPr>
          <p:spPr>
            <a:xfrm>
              <a:off x="10281362" y="4182167"/>
              <a:ext cx="1023037" cy="261610"/>
            </a:xfrm>
            <a:prstGeom prst="rect">
              <a:avLst/>
            </a:prstGeom>
            <a:noFill/>
          </p:spPr>
          <p:txBody>
            <a:bodyPr wrap="none" rtlCol="0">
              <a:spAutoFit/>
            </a:bodyPr>
            <a:lstStyle/>
            <a:p>
              <a:r>
                <a:rPr lang="en-US" sz="1100" b="1">
                  <a:solidFill>
                    <a:prstClr val="white"/>
                  </a:solidFill>
                  <a:latin typeface="Montserrat Semi" charset="0"/>
                  <a:ea typeface="Montserrat Semi" charset="0"/>
                  <a:cs typeface="Montserrat Semi" charset="0"/>
                </a:rPr>
                <a:t>S E C T I O N</a:t>
              </a:r>
              <a:endParaRPr lang="en-US" sz="1100" b="1" dirty="0">
                <a:solidFill>
                  <a:prstClr val="white"/>
                </a:solidFill>
                <a:latin typeface="Montserrat Semi" charset="0"/>
                <a:ea typeface="Montserrat Semi" charset="0"/>
                <a:cs typeface="Montserrat Semi" charset="0"/>
              </a:endParaRPr>
            </a:p>
          </p:txBody>
        </p:sp>
        <p:sp>
          <p:nvSpPr>
            <p:cNvPr id="13" name="TextBox 12"/>
            <p:cNvSpPr txBox="1"/>
            <p:nvPr/>
          </p:nvSpPr>
          <p:spPr>
            <a:xfrm>
              <a:off x="10313961" y="4727419"/>
              <a:ext cx="1611340" cy="1323439"/>
            </a:xfrm>
            <a:prstGeom prst="rect">
              <a:avLst/>
            </a:prstGeom>
            <a:noFill/>
          </p:spPr>
          <p:txBody>
            <a:bodyPr wrap="none" rtlCol="0">
              <a:spAutoFit/>
            </a:bodyPr>
            <a:lstStyle/>
            <a:p>
              <a:pPr algn="ctr"/>
              <a:r>
                <a:rPr lang="en-US" altLang="zh-CN" sz="8000" b="1" dirty="0">
                  <a:solidFill>
                    <a:prstClr val="white"/>
                  </a:solidFill>
                  <a:latin typeface="Montserrat Semi" charset="0"/>
                  <a:ea typeface="Montserrat Semi" charset="0"/>
                  <a:cs typeface="Montserrat Semi" charset="0"/>
                </a:rPr>
                <a:t>01</a:t>
              </a:r>
              <a:r>
                <a:rPr lang="en-US" sz="8000" b="1" dirty="0">
                  <a:solidFill>
                    <a:prstClr val="white"/>
                  </a:solidFill>
                  <a:latin typeface="Montserrat Semi" charset="0"/>
                  <a:ea typeface="Montserrat Semi" charset="0"/>
                  <a:cs typeface="Montserrat Semi" charset="0"/>
                </a:rPr>
                <a:t>.</a:t>
              </a:r>
            </a:p>
          </p:txBody>
        </p:sp>
      </p:grpSp>
      <p:cxnSp>
        <p:nvCxnSpPr>
          <p:cNvPr id="16" name="Straight Connector 15"/>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12278" y="6317571"/>
            <a:ext cx="524503" cy="230832"/>
          </a:xfrm>
          <a:prstGeom prst="rect">
            <a:avLst/>
          </a:prstGeom>
          <a:noFill/>
        </p:spPr>
        <p:txBody>
          <a:bodyPr wrap="none" rtlCol="0">
            <a:spAutoFit/>
          </a:bodyPr>
          <a:lstStyle/>
          <a:p>
            <a:r>
              <a:rPr lang="en-US" sz="900" dirty="0">
                <a:solidFill>
                  <a:prstClr val="black">
                    <a:lumMod val="85000"/>
                    <a:lumOff val="15000"/>
                  </a:prstClr>
                </a:solidFill>
                <a:latin typeface="Cormorant Garamond Light" charset="0"/>
                <a:ea typeface="Cormorant Garamond Light" charset="0"/>
                <a:cs typeface="Cormorant Garamond Light" charset="0"/>
              </a:rPr>
              <a:t>slide : </a:t>
            </a:r>
            <a:fld id="{62AEC829-9D8B-B04A-97F2-7EA009EEF72F}" type="slidenum">
              <a:rPr lang="en-US" sz="900" b="1">
                <a:solidFill>
                  <a:prstClr val="black"/>
                </a:solidFill>
                <a:latin typeface="Cormorant Garamond" charset="0"/>
                <a:ea typeface="Cormorant Garamond" charset="0"/>
                <a:cs typeface="Cormorant Garamond" charset="0"/>
              </a:rPr>
              <a:pPr/>
              <a:t>3</a:t>
            </a:fld>
            <a:endParaRPr lang="en-US" sz="900" b="1" dirty="0">
              <a:solidFill>
                <a:prstClr val="black"/>
              </a:solidFill>
              <a:latin typeface="Cormorant Garamond" charset="0"/>
              <a:ea typeface="Cormorant Garamond" charset="0"/>
              <a:cs typeface="Cormorant Garamond" charset="0"/>
            </a:endParaRPr>
          </a:p>
        </p:txBody>
      </p:sp>
      <p:sp>
        <p:nvSpPr>
          <p:cNvPr id="26" name="TextBox 25"/>
          <p:cNvSpPr txBox="1"/>
          <p:nvPr/>
        </p:nvSpPr>
        <p:spPr>
          <a:xfrm rot="16200000">
            <a:off x="9628449" y="2055356"/>
            <a:ext cx="2595582" cy="769441"/>
          </a:xfrm>
          <a:prstGeom prst="rect">
            <a:avLst/>
          </a:prstGeom>
          <a:noFill/>
        </p:spPr>
        <p:txBody>
          <a:bodyPr wrap="none" rtlCol="0">
            <a:spAutoFit/>
          </a:bodyPr>
          <a:lstStyle/>
          <a:p>
            <a:pPr algn="ctr"/>
            <a:r>
              <a:rPr lang="zh-CN" altLang="en-US" sz="4400" spc="300" dirty="0">
                <a:solidFill>
                  <a:prstClr val="white"/>
                </a:solidFill>
                <a:latin typeface="Montserrat Light" charset="0"/>
                <a:ea typeface="Montserrat Light" charset="0"/>
                <a:cs typeface="Montserrat Light" charset="0"/>
              </a:rPr>
              <a:t>课程情况</a:t>
            </a:r>
            <a:endParaRPr lang="en-US" sz="4400" spc="300" dirty="0">
              <a:solidFill>
                <a:prstClr val="white"/>
              </a:solidFill>
              <a:latin typeface="Montserrat Light" charset="0"/>
              <a:ea typeface="Montserrat Light" charset="0"/>
              <a:cs typeface="Montserrat Light" charset="0"/>
            </a:endParaRPr>
          </a:p>
        </p:txBody>
      </p:sp>
      <p:sp>
        <p:nvSpPr>
          <p:cNvPr id="8" name="文本框 7">
            <a:extLst>
              <a:ext uri="{FF2B5EF4-FFF2-40B4-BE49-F238E27FC236}">
                <a16:creationId xmlns:a16="http://schemas.microsoft.com/office/drawing/2014/main" id="{3062648B-B788-4467-8D7C-FE7F3E56D4E6}"/>
              </a:ext>
            </a:extLst>
          </p:cNvPr>
          <p:cNvSpPr txBox="1"/>
          <p:nvPr/>
        </p:nvSpPr>
        <p:spPr>
          <a:xfrm>
            <a:off x="703295" y="1791092"/>
            <a:ext cx="8452207" cy="2544286"/>
          </a:xfrm>
          <a:prstGeom prst="rect">
            <a:avLst/>
          </a:prstGeom>
          <a:noFill/>
        </p:spPr>
        <p:txBody>
          <a:bodyPr wrap="square" rtlCol="0">
            <a:spAutoFit/>
          </a:bodyPr>
          <a:lstStyle/>
          <a:p>
            <a:pPr marL="228600" lvl="0" indent="-228600">
              <a:lnSpc>
                <a:spcPct val="90000"/>
              </a:lnSpc>
              <a:spcBef>
                <a:spcPts val="1000"/>
              </a:spcBef>
              <a:buFont typeface="Arial" panose="020B0604020202020204" pitchFamily="34" charset="0"/>
              <a:buChar char="•"/>
            </a:pPr>
            <a:r>
              <a:rPr lang="zh-CN" altLang="en-US" sz="2800" dirty="0">
                <a:solidFill>
                  <a:prstClr val="black"/>
                </a:solidFill>
                <a:ea typeface="宋体" panose="02010600030101010101" pitchFamily="2" charset="-122"/>
              </a:rPr>
              <a:t>消费与工作：资本主义伦理价值及其批判</a:t>
            </a:r>
            <a:endParaRPr lang="en-US" altLang="zh-CN" sz="2800" dirty="0">
              <a:solidFill>
                <a:prstClr val="black"/>
              </a:solidFill>
              <a:ea typeface="宋体" panose="02010600030101010101" pitchFamily="2" charset="-122"/>
            </a:endParaRPr>
          </a:p>
          <a:p>
            <a:pPr lvl="0">
              <a:lnSpc>
                <a:spcPct val="90000"/>
              </a:lnSpc>
              <a:spcBef>
                <a:spcPts val="1000"/>
              </a:spcBef>
            </a:pPr>
            <a:endParaRPr lang="en-US" altLang="zh-CN" sz="2800" dirty="0">
              <a:solidFill>
                <a:prstClr val="black"/>
              </a:solidFill>
              <a:ea typeface="宋体" panose="02010600030101010101" pitchFamily="2" charset="-122"/>
            </a:endParaRPr>
          </a:p>
          <a:p>
            <a:pPr marL="228600" lvl="0" indent="-228600">
              <a:lnSpc>
                <a:spcPct val="90000"/>
              </a:lnSpc>
              <a:spcBef>
                <a:spcPts val="1000"/>
              </a:spcBef>
              <a:buFont typeface="Arial" panose="020B0604020202020204" pitchFamily="34" charset="0"/>
              <a:buChar char="•"/>
            </a:pPr>
            <a:r>
              <a:rPr lang="zh-CN" altLang="en-US" sz="2800" dirty="0">
                <a:solidFill>
                  <a:prstClr val="black"/>
                </a:solidFill>
                <a:ea typeface="宋体" panose="02010600030101010101" pitchFamily="2" charset="-122"/>
              </a:rPr>
              <a:t>消费与物：物的生产及符号系统</a:t>
            </a:r>
            <a:endParaRPr lang="en-US" altLang="zh-CN" sz="2800" dirty="0">
              <a:solidFill>
                <a:prstClr val="black"/>
              </a:solidFill>
              <a:ea typeface="宋体" panose="02010600030101010101" pitchFamily="2" charset="-122"/>
            </a:endParaRPr>
          </a:p>
          <a:p>
            <a:pPr marL="228600" lvl="0" indent="-228600">
              <a:lnSpc>
                <a:spcPct val="90000"/>
              </a:lnSpc>
              <a:spcBef>
                <a:spcPts val="1000"/>
              </a:spcBef>
              <a:buFont typeface="Arial" panose="020B0604020202020204" pitchFamily="34" charset="0"/>
              <a:buChar char="•"/>
            </a:pPr>
            <a:endParaRPr lang="en-US" altLang="zh-CN" sz="2800" dirty="0">
              <a:solidFill>
                <a:prstClr val="black"/>
              </a:solidFill>
              <a:ea typeface="宋体" panose="02010600030101010101" pitchFamily="2" charset="-122"/>
            </a:endParaRPr>
          </a:p>
          <a:p>
            <a:pPr marL="228600" lvl="0" indent="-228600">
              <a:lnSpc>
                <a:spcPct val="90000"/>
              </a:lnSpc>
              <a:spcBef>
                <a:spcPts val="1000"/>
              </a:spcBef>
              <a:buFont typeface="Arial" panose="020B0604020202020204" pitchFamily="34" charset="0"/>
              <a:buChar char="•"/>
            </a:pPr>
            <a:r>
              <a:rPr lang="zh-CN" altLang="en-US" sz="2800" dirty="0">
                <a:solidFill>
                  <a:prstClr val="black"/>
                </a:solidFill>
                <a:ea typeface="宋体" panose="02010600030101010101" pitchFamily="2" charset="-122"/>
              </a:rPr>
              <a:t>消费与文化：文化工业批判和大众文化的反抗</a:t>
            </a:r>
            <a:endParaRPr lang="en-US" altLang="zh-CN" sz="2800" dirty="0">
              <a:solidFill>
                <a:prstClr val="black"/>
              </a:solidFill>
              <a:ea typeface="宋体" panose="02010600030101010101" pitchFamily="2" charset="-122"/>
            </a:endParaRPr>
          </a:p>
        </p:txBody>
      </p:sp>
    </p:spTree>
    <p:extLst>
      <p:ext uri="{BB962C8B-B14F-4D97-AF65-F5344CB8AC3E}">
        <p14:creationId xmlns:p14="http://schemas.microsoft.com/office/powerpoint/2010/main" val="331312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消费与工作</a:t>
            </a:r>
          </a:p>
        </p:txBody>
      </p:sp>
      <p:sp>
        <p:nvSpPr>
          <p:cNvPr id="3" name="内容占位符 2"/>
          <p:cNvSpPr>
            <a:spLocks noGrp="1"/>
          </p:cNvSpPr>
          <p:nvPr>
            <p:ph idx="1"/>
          </p:nvPr>
        </p:nvSpPr>
        <p:spPr/>
        <p:txBody>
          <a:bodyPr/>
          <a:lstStyle/>
          <a:p>
            <a:endParaRPr lang="en-US" altLang="zh-CN" dirty="0"/>
          </a:p>
          <a:p>
            <a:r>
              <a:rPr lang="zh-CN" altLang="en-US" dirty="0"/>
              <a:t>马克思</a:t>
            </a:r>
            <a:r>
              <a:rPr lang="en-US" altLang="zh-CN" dirty="0"/>
              <a:t>.</a:t>
            </a:r>
            <a:r>
              <a:rPr lang="zh-CN" altLang="en-US" dirty="0"/>
              <a:t>韦伯</a:t>
            </a:r>
            <a:r>
              <a:rPr lang="en-US" altLang="zh-CN" dirty="0"/>
              <a:t>《</a:t>
            </a:r>
            <a:r>
              <a:rPr lang="zh-CN" altLang="en-US" dirty="0"/>
              <a:t>新教伦理与资本主义精神</a:t>
            </a:r>
            <a:r>
              <a:rPr lang="en-US" altLang="zh-CN" dirty="0"/>
              <a:t>》</a:t>
            </a:r>
          </a:p>
          <a:p>
            <a:r>
              <a:rPr lang="zh-CN" altLang="en-US" dirty="0"/>
              <a:t>马克思“异化”</a:t>
            </a:r>
            <a:endParaRPr lang="en-US" altLang="zh-CN" dirty="0"/>
          </a:p>
          <a:p>
            <a:r>
              <a:rPr lang="zh-CN" altLang="en-US" dirty="0"/>
              <a:t>西方资本主义的“工作伦理”</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3119902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消费与“物”</a:t>
            </a:r>
          </a:p>
        </p:txBody>
      </p:sp>
      <p:sp>
        <p:nvSpPr>
          <p:cNvPr id="3" name="内容占位符 2"/>
          <p:cNvSpPr>
            <a:spLocks noGrp="1"/>
          </p:cNvSpPr>
          <p:nvPr>
            <p:ph idx="1"/>
          </p:nvPr>
        </p:nvSpPr>
        <p:spPr/>
        <p:txBody>
          <a:bodyPr/>
          <a:lstStyle/>
          <a:p>
            <a:endParaRPr lang="en-US" altLang="zh-CN" dirty="0"/>
          </a:p>
          <a:p>
            <a:r>
              <a:rPr lang="zh-CN" altLang="en-US" dirty="0"/>
              <a:t>物的商品化、文化象征过程</a:t>
            </a:r>
            <a:endParaRPr lang="en-US" altLang="zh-CN" dirty="0"/>
          </a:p>
          <a:p>
            <a:r>
              <a:rPr lang="zh-CN" altLang="en-US" dirty="0"/>
              <a:t>购物与消费</a:t>
            </a:r>
            <a:endParaRPr lang="en-US" altLang="zh-CN" dirty="0"/>
          </a:p>
          <a:p>
            <a:r>
              <a:rPr lang="zh-CN" altLang="en-US" dirty="0"/>
              <a:t>时尚与消费</a:t>
            </a:r>
            <a:endParaRPr lang="en-US" altLang="zh-CN" dirty="0"/>
          </a:p>
        </p:txBody>
      </p:sp>
    </p:spTree>
    <p:extLst>
      <p:ext uri="{BB962C8B-B14F-4D97-AF65-F5344CB8AC3E}">
        <p14:creationId xmlns:p14="http://schemas.microsoft.com/office/powerpoint/2010/main" val="1346630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消费与文化</a:t>
            </a:r>
          </a:p>
        </p:txBody>
      </p:sp>
      <p:sp>
        <p:nvSpPr>
          <p:cNvPr id="3" name="内容占位符 2"/>
          <p:cNvSpPr>
            <a:spLocks noGrp="1"/>
          </p:cNvSpPr>
          <p:nvPr>
            <p:ph idx="1"/>
          </p:nvPr>
        </p:nvSpPr>
        <p:spPr/>
        <p:txBody>
          <a:bodyPr/>
          <a:lstStyle/>
          <a:p>
            <a:endParaRPr lang="en-US" altLang="zh-CN" dirty="0"/>
          </a:p>
          <a:p>
            <a:r>
              <a:rPr lang="zh-CN" altLang="en-US" dirty="0"/>
              <a:t>消费与文化工业</a:t>
            </a:r>
            <a:endParaRPr lang="en-US" altLang="zh-CN" dirty="0"/>
          </a:p>
          <a:p>
            <a:r>
              <a:rPr lang="zh-CN" altLang="en-US" dirty="0"/>
              <a:t>大众文化的反抗</a:t>
            </a:r>
            <a:endParaRPr lang="en-US" altLang="zh-CN" dirty="0"/>
          </a:p>
          <a:p>
            <a:r>
              <a:rPr lang="zh-CN" altLang="en-US" dirty="0"/>
              <a:t>反抗与收编</a:t>
            </a:r>
            <a:endParaRPr lang="en-US" altLang="zh-CN" dirty="0"/>
          </a:p>
          <a:p>
            <a:endParaRPr lang="zh-CN" altLang="en-US" dirty="0"/>
          </a:p>
        </p:txBody>
      </p:sp>
    </p:spTree>
    <p:extLst>
      <p:ext uri="{BB962C8B-B14F-4D97-AF65-F5344CB8AC3E}">
        <p14:creationId xmlns:p14="http://schemas.microsoft.com/office/powerpoint/2010/main" val="1769108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相关的理论背景</a:t>
            </a:r>
          </a:p>
        </p:txBody>
      </p:sp>
      <p:sp>
        <p:nvSpPr>
          <p:cNvPr id="3" name="内容占位符 2"/>
          <p:cNvSpPr>
            <a:spLocks noGrp="1"/>
          </p:cNvSpPr>
          <p:nvPr>
            <p:ph idx="1"/>
          </p:nvPr>
        </p:nvSpPr>
        <p:spPr/>
        <p:txBody>
          <a:bodyPr>
            <a:normAutofit/>
          </a:bodyPr>
          <a:lstStyle/>
          <a:p>
            <a:r>
              <a:rPr lang="zh-CN" altLang="en-US" dirty="0"/>
              <a:t>商品与马克思“异化”学说</a:t>
            </a:r>
            <a:endParaRPr lang="en-US" altLang="zh-CN" dirty="0"/>
          </a:p>
          <a:p>
            <a:r>
              <a:rPr lang="zh-CN" altLang="en-US" dirty="0"/>
              <a:t>马克思</a:t>
            </a:r>
            <a:r>
              <a:rPr lang="en-US" altLang="zh-CN" dirty="0"/>
              <a:t>.</a:t>
            </a:r>
            <a:r>
              <a:rPr lang="zh-CN" altLang="en-US" dirty="0"/>
              <a:t>韦伯“工作伦理”</a:t>
            </a:r>
            <a:endParaRPr lang="en-US" altLang="zh-CN" dirty="0"/>
          </a:p>
          <a:p>
            <a:r>
              <a:rPr lang="zh-CN" altLang="en-US" dirty="0"/>
              <a:t>结构主义的符号化阐释</a:t>
            </a:r>
            <a:endParaRPr lang="en-US" altLang="zh-CN" dirty="0"/>
          </a:p>
          <a:p>
            <a:r>
              <a:rPr lang="zh-CN" altLang="en-US" dirty="0"/>
              <a:t>符号空间和社会空间的结构性关系</a:t>
            </a:r>
            <a:endParaRPr lang="en-US" altLang="zh-CN" dirty="0"/>
          </a:p>
          <a:p>
            <a:r>
              <a:rPr lang="zh-CN" altLang="en-US" dirty="0"/>
              <a:t>文化批判：法兰克福学派和伯明翰学派</a:t>
            </a: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575333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参考书目：</a:t>
            </a:r>
          </a:p>
        </p:txBody>
      </p:sp>
      <p:sp>
        <p:nvSpPr>
          <p:cNvPr id="3" name="内容占位符 2"/>
          <p:cNvSpPr>
            <a:spLocks noGrp="1"/>
          </p:cNvSpPr>
          <p:nvPr>
            <p:ph idx="1"/>
          </p:nvPr>
        </p:nvSpPr>
        <p:spPr/>
        <p:txBody>
          <a:bodyPr/>
          <a:lstStyle/>
          <a:p>
            <a:r>
              <a:rPr lang="en-US" altLang="zh-CN" dirty="0"/>
              <a:t>《</a:t>
            </a:r>
            <a:r>
              <a:rPr lang="zh-CN" altLang="en-US" dirty="0"/>
              <a:t>物的体系</a:t>
            </a:r>
            <a:r>
              <a:rPr lang="en-US" altLang="zh-CN" dirty="0"/>
              <a:t>》</a:t>
            </a:r>
          </a:p>
          <a:p>
            <a:r>
              <a:rPr lang="en-US" altLang="zh-CN" dirty="0"/>
              <a:t>《</a:t>
            </a:r>
            <a:r>
              <a:rPr lang="zh-CN" altLang="en-US" dirty="0"/>
              <a:t>消费文化读本</a:t>
            </a:r>
            <a:r>
              <a:rPr lang="en-US" altLang="zh-CN" dirty="0"/>
              <a:t>》</a:t>
            </a:r>
          </a:p>
          <a:p>
            <a:r>
              <a:rPr lang="en-US" altLang="zh-CN" dirty="0"/>
              <a:t>《</a:t>
            </a:r>
            <a:r>
              <a:rPr lang="zh-CN" altLang="en-US" dirty="0"/>
              <a:t>文化工业：作为大众欺骗的启蒙</a:t>
            </a:r>
            <a:r>
              <a:rPr lang="en-US" altLang="zh-CN" dirty="0"/>
              <a:t>》</a:t>
            </a:r>
            <a:r>
              <a:rPr lang="zh-CN" altLang="en-US" dirty="0"/>
              <a:t>（</a:t>
            </a:r>
            <a:r>
              <a:rPr lang="en-US" altLang="zh-CN" dirty="0"/>
              <a:t>《</a:t>
            </a:r>
            <a:r>
              <a:rPr lang="zh-CN" altLang="en-US" dirty="0"/>
              <a:t>启蒙辩证法</a:t>
            </a:r>
            <a:r>
              <a:rPr lang="en-US" altLang="zh-CN" dirty="0"/>
              <a:t>》</a:t>
            </a:r>
            <a:r>
              <a:rPr lang="zh-CN" altLang="en-US" dirty="0"/>
              <a:t>）</a:t>
            </a:r>
            <a:endParaRPr lang="en-US" altLang="zh-CN" dirty="0"/>
          </a:p>
          <a:p>
            <a:r>
              <a:rPr lang="en-US" altLang="zh-CN" dirty="0"/>
              <a:t>《</a:t>
            </a:r>
            <a:r>
              <a:rPr lang="zh-CN" altLang="en-US" dirty="0"/>
              <a:t>日常生活的审美呈现</a:t>
            </a:r>
            <a:r>
              <a:rPr lang="en-US" altLang="zh-CN" dirty="0"/>
              <a:t>》</a:t>
            </a:r>
            <a:r>
              <a:rPr lang="zh-CN" altLang="en-US" dirty="0"/>
              <a:t>（</a:t>
            </a:r>
            <a:r>
              <a:rPr lang="en-US" altLang="zh-CN" dirty="0"/>
              <a:t>《</a:t>
            </a:r>
            <a:r>
              <a:rPr lang="zh-CN" altLang="en-US" dirty="0"/>
              <a:t>消费文化与后现代主义</a:t>
            </a:r>
            <a:r>
              <a:rPr lang="en-US" altLang="zh-CN" dirty="0"/>
              <a:t>》</a:t>
            </a:r>
            <a:r>
              <a:rPr lang="zh-CN" altLang="en-US" dirty="0"/>
              <a:t>）</a:t>
            </a:r>
            <a:endParaRPr lang="en-US" altLang="zh-CN" dirty="0"/>
          </a:p>
          <a:p>
            <a:r>
              <a:rPr lang="en-US" altLang="zh-CN" dirty="0"/>
              <a:t>《</a:t>
            </a:r>
            <a:r>
              <a:rPr lang="zh-CN" altLang="en-US" dirty="0"/>
              <a:t>城市文化与后现代生活方式</a:t>
            </a:r>
            <a:r>
              <a:rPr lang="en-US" altLang="zh-CN" dirty="0"/>
              <a:t>》</a:t>
            </a:r>
          </a:p>
          <a:p>
            <a:r>
              <a:rPr lang="en-US" altLang="zh-CN" dirty="0"/>
              <a:t>《</a:t>
            </a:r>
            <a:r>
              <a:rPr lang="zh-CN" altLang="en-US" dirty="0"/>
              <a:t>时尚或代码的仙境</a:t>
            </a:r>
            <a:r>
              <a:rPr lang="en-US" altLang="zh-CN" dirty="0"/>
              <a:t>》</a:t>
            </a:r>
            <a:r>
              <a:rPr lang="zh-CN" altLang="en-US" dirty="0"/>
              <a:t>（</a:t>
            </a:r>
            <a:r>
              <a:rPr lang="en-US" altLang="zh-CN" dirty="0"/>
              <a:t>《</a:t>
            </a:r>
            <a:r>
              <a:rPr lang="zh-CN" altLang="en-US" dirty="0"/>
              <a:t>象征交换与死亡</a:t>
            </a:r>
            <a:r>
              <a:rPr lang="en-US" altLang="zh-CN" dirty="0"/>
              <a:t>》</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4041591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资料包</a:t>
            </a:r>
          </a:p>
        </p:txBody>
      </p:sp>
      <p:sp>
        <p:nvSpPr>
          <p:cNvPr id="4" name="副标题 3"/>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665193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944" y="229489"/>
            <a:ext cx="10094976" cy="662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6125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视频</a:t>
            </a:r>
          </a:p>
        </p:txBody>
      </p:sp>
      <p:sp>
        <p:nvSpPr>
          <p:cNvPr id="3" name="内容占位符 2"/>
          <p:cNvSpPr>
            <a:spLocks noGrp="1"/>
          </p:cNvSpPr>
          <p:nvPr>
            <p:ph idx="1"/>
          </p:nvPr>
        </p:nvSpPr>
        <p:spPr/>
        <p:txBody>
          <a:bodyPr/>
          <a:lstStyle/>
          <a:p>
            <a:endParaRPr lang="en-US" altLang="zh-CN" dirty="0"/>
          </a:p>
          <a:p>
            <a:r>
              <a:rPr lang="en-US" altLang="zh-CN" dirty="0"/>
              <a:t>《</a:t>
            </a:r>
            <a:r>
              <a:rPr lang="zh-CN" altLang="en-US" dirty="0"/>
              <a:t>寄生虫</a:t>
            </a:r>
            <a:r>
              <a:rPr lang="en-US" altLang="zh-CN" dirty="0"/>
              <a:t>》</a:t>
            </a:r>
            <a:endParaRPr lang="zh-CN" altLang="en-US" dirty="0"/>
          </a:p>
          <a:p>
            <a:r>
              <a:rPr lang="en-US" altLang="zh-CN" dirty="0"/>
              <a:t>《</a:t>
            </a:r>
            <a:r>
              <a:rPr lang="zh-CN" altLang="en-US" dirty="0"/>
              <a:t>归途列车</a:t>
            </a:r>
            <a:r>
              <a:rPr lang="en-US" altLang="zh-CN" dirty="0"/>
              <a:t>》</a:t>
            </a:r>
          </a:p>
          <a:p>
            <a:r>
              <a:rPr lang="en-US" altLang="zh-CN" dirty="0"/>
              <a:t>《</a:t>
            </a:r>
            <a:r>
              <a:rPr lang="zh-CN" altLang="en-US" dirty="0"/>
              <a:t>穿</a:t>
            </a:r>
            <a:r>
              <a:rPr lang="en-US" altLang="zh-CN" dirty="0"/>
              <a:t>PRADA</a:t>
            </a:r>
            <a:r>
              <a:rPr lang="zh-CN" altLang="en-US" dirty="0"/>
              <a:t>的女魔头</a:t>
            </a:r>
            <a:r>
              <a:rPr lang="en-US" altLang="zh-CN" dirty="0"/>
              <a:t>》</a:t>
            </a:r>
          </a:p>
          <a:p>
            <a:r>
              <a:rPr lang="en-US" altLang="zh-CN" dirty="0"/>
              <a:t>《</a:t>
            </a:r>
            <a:r>
              <a:rPr lang="zh-CN" altLang="en-US" dirty="0"/>
              <a:t>我和拾穗者</a:t>
            </a:r>
            <a:r>
              <a:rPr lang="en-US" altLang="zh-CN" dirty="0"/>
              <a:t>》</a:t>
            </a:r>
          </a:p>
        </p:txBody>
      </p:sp>
    </p:spTree>
    <p:extLst>
      <p:ext uri="{BB962C8B-B14F-4D97-AF65-F5344CB8AC3E}">
        <p14:creationId xmlns:p14="http://schemas.microsoft.com/office/powerpoint/2010/main" val="972983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授课方式</a:t>
            </a:r>
          </a:p>
        </p:txBody>
      </p:sp>
      <p:sp>
        <p:nvSpPr>
          <p:cNvPr id="3" name="内容占位符 2"/>
          <p:cNvSpPr>
            <a:spLocks noGrp="1"/>
          </p:cNvSpPr>
          <p:nvPr>
            <p:ph idx="1"/>
          </p:nvPr>
        </p:nvSpPr>
        <p:spPr/>
        <p:txBody>
          <a:bodyPr/>
          <a:lstStyle/>
          <a:p>
            <a:endParaRPr lang="en-US" altLang="zh-CN" dirty="0"/>
          </a:p>
          <a:p>
            <a:r>
              <a:rPr lang="zh-CN" altLang="en-US" dirty="0"/>
              <a:t>指定阅读篇目，阅读讨论（小组作业</a:t>
            </a:r>
            <a:r>
              <a:rPr lang="en-US" altLang="zh-CN" dirty="0"/>
              <a:t>50%</a:t>
            </a:r>
            <a:r>
              <a:rPr lang="zh-CN" altLang="en-US" dirty="0"/>
              <a:t>）</a:t>
            </a:r>
            <a:endParaRPr lang="en-US" altLang="zh-CN" dirty="0"/>
          </a:p>
          <a:p>
            <a:r>
              <a:rPr lang="zh-CN" altLang="en-US" dirty="0"/>
              <a:t>依据上课内容分析作品论文（个人作业</a:t>
            </a:r>
            <a:r>
              <a:rPr lang="en-US" altLang="zh-CN" dirty="0"/>
              <a:t>40%</a:t>
            </a:r>
            <a:r>
              <a:rPr lang="zh-CN" altLang="en-US" dirty="0"/>
              <a:t>）</a:t>
            </a:r>
            <a:endParaRPr lang="en-US" altLang="zh-CN" dirty="0"/>
          </a:p>
          <a:p>
            <a:r>
              <a:rPr lang="zh-CN" altLang="en-US" dirty="0"/>
              <a:t>考勤（</a:t>
            </a:r>
            <a:r>
              <a:rPr lang="en-US" altLang="zh-CN" dirty="0"/>
              <a:t>10%</a:t>
            </a:r>
            <a:r>
              <a:rPr lang="zh-CN" altLang="en-US" dirty="0"/>
              <a:t>）</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3221741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86342"/>
          </a:xfrm>
        </p:spPr>
        <p:txBody>
          <a:bodyPr/>
          <a:lstStyle/>
          <a:p>
            <a:r>
              <a:rPr lang="zh-CN" altLang="en-US" dirty="0"/>
              <a:t>消费专题</a:t>
            </a:r>
          </a:p>
        </p:txBody>
      </p:sp>
      <p:sp>
        <p:nvSpPr>
          <p:cNvPr id="3" name="内容占位符 2"/>
          <p:cNvSpPr>
            <a:spLocks noGrp="1"/>
          </p:cNvSpPr>
          <p:nvPr>
            <p:ph idx="1"/>
          </p:nvPr>
        </p:nvSpPr>
        <p:spPr>
          <a:xfrm>
            <a:off x="1132608" y="1475509"/>
            <a:ext cx="10221191" cy="4701454"/>
          </a:xfrm>
        </p:spPr>
        <p:txBody>
          <a:bodyPr>
            <a:normAutofit fontScale="92500" lnSpcReduction="20000"/>
          </a:bodyPr>
          <a:lstStyle/>
          <a:p>
            <a:pPr marL="0" indent="0">
              <a:buNone/>
            </a:pPr>
            <a:r>
              <a:rPr lang="en-US" altLang="zh-CN" sz="2000" dirty="0"/>
              <a:t>《</a:t>
            </a:r>
            <a:r>
              <a:rPr lang="zh-CN" altLang="en-US" sz="2000" dirty="0"/>
              <a:t>消费文化读本</a:t>
            </a:r>
            <a:r>
              <a:rPr lang="en-US" altLang="zh-CN" sz="2000" dirty="0"/>
              <a:t>》</a:t>
            </a:r>
            <a:r>
              <a:rPr lang="zh-CN" altLang="en-US" sz="2000" dirty="0"/>
              <a:t>：</a:t>
            </a:r>
            <a:endParaRPr lang="en-US" altLang="zh-CN" sz="2000" dirty="0"/>
          </a:p>
          <a:p>
            <a:pPr marL="0" indent="0">
              <a:buNone/>
            </a:pPr>
            <a:r>
              <a:rPr lang="en-US" altLang="zh-CN" sz="2000" b="1" dirty="0"/>
              <a:t>1</a:t>
            </a:r>
            <a:r>
              <a:rPr lang="zh-CN" altLang="en-US" sz="2000" dirty="0"/>
              <a:t>消费与购物</a:t>
            </a:r>
            <a:r>
              <a:rPr lang="en-US" altLang="zh-CN" sz="2000" dirty="0"/>
              <a:t>——</a:t>
            </a:r>
            <a:r>
              <a:rPr lang="zh-CN" altLang="en-US" sz="2000" dirty="0"/>
              <a:t>蒂姆爱德华兹 </a:t>
            </a:r>
            <a:r>
              <a:rPr lang="en-US" altLang="zh-CN" sz="2000" dirty="0"/>
              <a:t>《</a:t>
            </a:r>
            <a:r>
              <a:rPr lang="zh-CN" altLang="en-US" sz="2000" dirty="0"/>
              <a:t>狂喜还是折磨</a:t>
            </a:r>
            <a:r>
              <a:rPr lang="en-US" altLang="zh-CN" sz="2000" dirty="0"/>
              <a:t>——</a:t>
            </a:r>
            <a:r>
              <a:rPr lang="zh-CN" altLang="en-US" sz="2000" dirty="0"/>
              <a:t>购物的当代性质</a:t>
            </a:r>
            <a:r>
              <a:rPr lang="en-US" altLang="zh-CN" sz="2000" dirty="0"/>
              <a:t>》</a:t>
            </a:r>
          </a:p>
          <a:p>
            <a:pPr marL="0" indent="0">
              <a:buNone/>
            </a:pPr>
            <a:r>
              <a:rPr lang="en-US" altLang="zh-CN" sz="2000" dirty="0"/>
              <a:t>2</a:t>
            </a:r>
            <a:r>
              <a:rPr lang="zh-CN" altLang="en-US" sz="2000" dirty="0"/>
              <a:t>消费与时尚：</a:t>
            </a:r>
            <a:r>
              <a:rPr lang="zh-CN" altLang="en-US" sz="2000" dirty="0">
                <a:solidFill>
                  <a:prstClr val="black"/>
                </a:solidFill>
              </a:rPr>
              <a:t>齐美尔</a:t>
            </a:r>
            <a:r>
              <a:rPr lang="en-US" altLang="zh-CN" sz="2000" dirty="0">
                <a:solidFill>
                  <a:prstClr val="black"/>
                </a:solidFill>
              </a:rPr>
              <a:t>《</a:t>
            </a:r>
            <a:r>
              <a:rPr lang="zh-CN" altLang="en-US" sz="2000" dirty="0">
                <a:solidFill>
                  <a:prstClr val="black"/>
                </a:solidFill>
              </a:rPr>
              <a:t>时尚的哲学</a:t>
            </a:r>
            <a:r>
              <a:rPr lang="en-US" altLang="zh-CN" sz="2000" dirty="0">
                <a:solidFill>
                  <a:prstClr val="black"/>
                </a:solidFill>
              </a:rPr>
              <a:t>》P63</a:t>
            </a:r>
          </a:p>
          <a:p>
            <a:pPr marL="0" indent="0">
              <a:buNone/>
            </a:pPr>
            <a:endParaRPr lang="en-US" altLang="zh-CN" sz="2000" dirty="0">
              <a:solidFill>
                <a:prstClr val="black"/>
              </a:solidFill>
            </a:endParaRPr>
          </a:p>
          <a:p>
            <a:r>
              <a:rPr lang="zh-CN" altLang="en-US" sz="2000" dirty="0"/>
              <a:t>消费与物  </a:t>
            </a:r>
            <a:r>
              <a:rPr lang="zh-CN" altLang="en-US" sz="2000" dirty="0">
                <a:solidFill>
                  <a:prstClr val="black"/>
                </a:solidFill>
              </a:rPr>
              <a:t>鲍德里亚</a:t>
            </a:r>
            <a:r>
              <a:rPr lang="en-US" altLang="zh-CN" sz="2000" dirty="0">
                <a:solidFill>
                  <a:prstClr val="black"/>
                </a:solidFill>
              </a:rPr>
              <a:t>《</a:t>
            </a:r>
            <a:r>
              <a:rPr lang="zh-CN" altLang="en-US" sz="2000" dirty="0">
                <a:solidFill>
                  <a:prstClr val="black"/>
                </a:solidFill>
              </a:rPr>
              <a:t>物的体系：</a:t>
            </a:r>
            <a:r>
              <a:rPr lang="en-US" altLang="zh-CN" sz="2000" dirty="0">
                <a:solidFill>
                  <a:prstClr val="black"/>
                </a:solidFill>
              </a:rPr>
              <a:t>D》</a:t>
            </a:r>
            <a:r>
              <a:rPr lang="zh-CN" altLang="en-US" sz="2000" dirty="0">
                <a:solidFill>
                  <a:prstClr val="black"/>
                </a:solidFill>
              </a:rPr>
              <a:t>中的一小节</a:t>
            </a:r>
            <a:endParaRPr lang="en-US" altLang="zh-CN" sz="2000" dirty="0">
              <a:solidFill>
                <a:prstClr val="black"/>
              </a:solidFill>
            </a:endParaRPr>
          </a:p>
          <a:p>
            <a:pPr marL="0" indent="0">
              <a:buNone/>
            </a:pPr>
            <a:r>
              <a:rPr lang="en-US" altLang="zh-CN" sz="2000" dirty="0">
                <a:solidFill>
                  <a:prstClr val="black"/>
                </a:solidFill>
              </a:rPr>
              <a:t>I </a:t>
            </a:r>
            <a:r>
              <a:rPr lang="zh-CN" altLang="en-US" sz="2000" dirty="0">
                <a:solidFill>
                  <a:prstClr val="black"/>
                </a:solidFill>
              </a:rPr>
              <a:t>模范与系列  </a:t>
            </a:r>
            <a:endParaRPr lang="en-US" altLang="zh-CN" sz="2000" dirty="0">
              <a:solidFill>
                <a:prstClr val="black"/>
              </a:solidFill>
            </a:endParaRPr>
          </a:p>
          <a:p>
            <a:pPr marL="0" indent="0">
              <a:buNone/>
            </a:pPr>
            <a:r>
              <a:rPr lang="en-US" altLang="zh-CN" sz="2000" dirty="0">
                <a:solidFill>
                  <a:prstClr val="black"/>
                </a:solidFill>
              </a:rPr>
              <a:t>ii</a:t>
            </a:r>
            <a:r>
              <a:rPr lang="zh-CN" altLang="en-US" sz="2000" dirty="0">
                <a:solidFill>
                  <a:prstClr val="black"/>
                </a:solidFill>
              </a:rPr>
              <a:t>信用贷款</a:t>
            </a:r>
            <a:endParaRPr lang="en-US" altLang="zh-CN" sz="2000" dirty="0">
              <a:solidFill>
                <a:prstClr val="black"/>
              </a:solidFill>
            </a:endParaRPr>
          </a:p>
          <a:p>
            <a:pPr marL="0" indent="0">
              <a:buNone/>
            </a:pPr>
            <a:r>
              <a:rPr lang="en-US" altLang="zh-CN" sz="2000" dirty="0">
                <a:solidFill>
                  <a:prstClr val="black"/>
                </a:solidFill>
              </a:rPr>
              <a:t>iii</a:t>
            </a:r>
            <a:r>
              <a:rPr lang="zh-CN" altLang="en-US" sz="2000" dirty="0">
                <a:solidFill>
                  <a:prstClr val="black"/>
                </a:solidFill>
              </a:rPr>
              <a:t>广告</a:t>
            </a:r>
            <a:endParaRPr lang="en-US" altLang="zh-CN" sz="2000" dirty="0">
              <a:solidFill>
                <a:prstClr val="black"/>
              </a:solidFill>
            </a:endParaRPr>
          </a:p>
          <a:p>
            <a:r>
              <a:rPr lang="zh-CN" altLang="en-US" sz="2000" dirty="0">
                <a:solidFill>
                  <a:prstClr val="black"/>
                </a:solidFill>
              </a:rPr>
              <a:t>鲍德里亚：</a:t>
            </a:r>
            <a:r>
              <a:rPr lang="en-US" altLang="zh-CN" sz="2000" dirty="0">
                <a:solidFill>
                  <a:prstClr val="black"/>
                </a:solidFill>
              </a:rPr>
              <a:t>《</a:t>
            </a:r>
            <a:r>
              <a:rPr lang="zh-CN" altLang="en-US" sz="2000" dirty="0">
                <a:solidFill>
                  <a:prstClr val="black"/>
                </a:solidFill>
              </a:rPr>
              <a:t>象征交换与死亡</a:t>
            </a:r>
            <a:r>
              <a:rPr lang="en-US" altLang="zh-CN" sz="2000" dirty="0">
                <a:solidFill>
                  <a:prstClr val="black"/>
                </a:solidFill>
              </a:rPr>
              <a:t>》</a:t>
            </a:r>
            <a:r>
              <a:rPr lang="zh-CN" altLang="en-US" sz="2000" dirty="0">
                <a:solidFill>
                  <a:prstClr val="black"/>
                </a:solidFill>
              </a:rPr>
              <a:t>中</a:t>
            </a:r>
            <a:r>
              <a:rPr lang="en-US" altLang="zh-CN" sz="2000" dirty="0">
                <a:solidFill>
                  <a:prstClr val="black"/>
                </a:solidFill>
              </a:rPr>
              <a:t>《</a:t>
            </a:r>
            <a:r>
              <a:rPr lang="zh-CN" altLang="en-US" sz="2000" dirty="0">
                <a:solidFill>
                  <a:prstClr val="black"/>
                </a:solidFill>
              </a:rPr>
              <a:t>时尚与代码的仙境</a:t>
            </a:r>
            <a:r>
              <a:rPr lang="en-US" altLang="zh-CN" sz="2000" dirty="0">
                <a:solidFill>
                  <a:prstClr val="black"/>
                </a:solidFill>
              </a:rPr>
              <a:t>》</a:t>
            </a:r>
          </a:p>
          <a:p>
            <a:pPr marL="0" indent="0">
              <a:buNone/>
            </a:pPr>
            <a:endParaRPr lang="en-US" altLang="zh-CN" sz="2000" dirty="0">
              <a:solidFill>
                <a:prstClr val="black"/>
              </a:solidFill>
            </a:endParaRPr>
          </a:p>
          <a:p>
            <a:r>
              <a:rPr lang="zh-CN" altLang="en-US" sz="2000" dirty="0">
                <a:solidFill>
                  <a:prstClr val="black"/>
                </a:solidFill>
              </a:rPr>
              <a:t>菲斯克</a:t>
            </a:r>
            <a:r>
              <a:rPr lang="en-US" altLang="zh-CN" sz="2000" dirty="0">
                <a:solidFill>
                  <a:prstClr val="black"/>
                </a:solidFill>
              </a:rPr>
              <a:t>《</a:t>
            </a:r>
            <a:r>
              <a:rPr lang="zh-CN" altLang="en-US" sz="2000" dirty="0">
                <a:solidFill>
                  <a:prstClr val="black"/>
                </a:solidFill>
              </a:rPr>
              <a:t>消费文化与后现代主义</a:t>
            </a:r>
            <a:r>
              <a:rPr lang="en-US" altLang="zh-CN" sz="2000" dirty="0">
                <a:solidFill>
                  <a:prstClr val="black"/>
                </a:solidFill>
              </a:rPr>
              <a:t>》</a:t>
            </a:r>
          </a:p>
          <a:p>
            <a:pPr marL="0" indent="0">
              <a:buNone/>
            </a:pPr>
            <a:r>
              <a:rPr lang="en-US" altLang="zh-CN" sz="2000" dirty="0">
                <a:solidFill>
                  <a:prstClr val="black"/>
                </a:solidFill>
              </a:rPr>
              <a:t>1 </a:t>
            </a:r>
            <a:r>
              <a:rPr lang="zh-CN" altLang="en-US" sz="2000" dirty="0">
                <a:solidFill>
                  <a:prstClr val="black"/>
                </a:solidFill>
              </a:rPr>
              <a:t>日常生活的审美呈现</a:t>
            </a:r>
            <a:endParaRPr lang="en-US" altLang="zh-CN" sz="2000" dirty="0">
              <a:solidFill>
                <a:prstClr val="black"/>
              </a:solidFill>
            </a:endParaRPr>
          </a:p>
          <a:p>
            <a:pPr marL="0" indent="0">
              <a:buNone/>
            </a:pPr>
            <a:r>
              <a:rPr lang="en-US" altLang="zh-CN" sz="2000" dirty="0">
                <a:solidFill>
                  <a:prstClr val="black"/>
                </a:solidFill>
              </a:rPr>
              <a:t>2</a:t>
            </a:r>
            <a:r>
              <a:rPr lang="zh-CN" altLang="en-US" sz="2000" dirty="0">
                <a:solidFill>
                  <a:prstClr val="black"/>
                </a:solidFill>
              </a:rPr>
              <a:t>生活方式与消费文化</a:t>
            </a:r>
            <a:endParaRPr lang="en-US" altLang="zh-CN" sz="2000" dirty="0">
              <a:solidFill>
                <a:prstClr val="black"/>
              </a:solidFill>
            </a:endParaRPr>
          </a:p>
          <a:p>
            <a:pPr marL="0" indent="0">
              <a:buNone/>
            </a:pPr>
            <a:r>
              <a:rPr lang="en-US" altLang="zh-CN" sz="2000" dirty="0">
                <a:solidFill>
                  <a:prstClr val="black"/>
                </a:solidFill>
              </a:rPr>
              <a:t>3</a:t>
            </a:r>
            <a:r>
              <a:rPr lang="zh-CN" altLang="en-US" sz="2000" dirty="0">
                <a:solidFill>
                  <a:prstClr val="black"/>
                </a:solidFill>
              </a:rPr>
              <a:t>城市文化与后现代生活方式</a:t>
            </a:r>
            <a:endParaRPr lang="en-US" altLang="zh-CN" sz="2000" dirty="0">
              <a:solidFill>
                <a:prstClr val="black"/>
              </a:solidFill>
            </a:endParaRPr>
          </a:p>
          <a:p>
            <a:endParaRPr lang="en-US" altLang="zh-CN" sz="2000" dirty="0">
              <a:solidFill>
                <a:prstClr val="black"/>
              </a:solidFill>
            </a:endParaRPr>
          </a:p>
          <a:p>
            <a:pPr lvl="0"/>
            <a:endParaRPr lang="en-US" altLang="zh-CN" sz="2000" dirty="0">
              <a:solidFill>
                <a:prstClr val="black"/>
              </a:solidFill>
            </a:endParaRPr>
          </a:p>
          <a:p>
            <a:endParaRPr lang="en-US" altLang="zh-CN" sz="2000" dirty="0"/>
          </a:p>
          <a:p>
            <a:endParaRPr lang="en-US" altLang="zh-CN" dirty="0"/>
          </a:p>
          <a:p>
            <a:pPr marL="0" indent="0">
              <a:buNone/>
            </a:pPr>
            <a:endParaRPr lang="en-US" altLang="zh-CN" dirty="0"/>
          </a:p>
          <a:p>
            <a:endParaRPr lang="en-US" altLang="zh-CN" dirty="0"/>
          </a:p>
          <a:p>
            <a:endParaRPr lang="zh-CN" altLang="en-US" dirty="0"/>
          </a:p>
        </p:txBody>
      </p:sp>
    </p:spTree>
    <p:extLst>
      <p:ext uri="{BB962C8B-B14F-4D97-AF65-F5344CB8AC3E}">
        <p14:creationId xmlns:p14="http://schemas.microsoft.com/office/powerpoint/2010/main" val="76192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lstStyle/>
          <a:p>
            <a:pPr marL="0" indent="0">
              <a:buNone/>
            </a:pPr>
            <a:r>
              <a:rPr lang="zh-CN" altLang="en-US" sz="3600" dirty="0"/>
              <a:t>阅读方式</a:t>
            </a:r>
          </a:p>
          <a:p>
            <a:endParaRPr lang="en-US" altLang="zh-CN" dirty="0"/>
          </a:p>
          <a:p>
            <a:r>
              <a:rPr lang="zh-CN" altLang="en-US" dirty="0"/>
              <a:t>基于文本</a:t>
            </a:r>
            <a:endParaRPr lang="en-US" altLang="zh-CN" dirty="0"/>
          </a:p>
          <a:p>
            <a:r>
              <a:rPr lang="zh-CN" altLang="en-US" dirty="0"/>
              <a:t>基于问题</a:t>
            </a:r>
          </a:p>
        </p:txBody>
      </p:sp>
      <p:sp>
        <p:nvSpPr>
          <p:cNvPr id="4" name="内容占位符 3"/>
          <p:cNvSpPr>
            <a:spLocks noGrp="1"/>
          </p:cNvSpPr>
          <p:nvPr>
            <p:ph sz="half" idx="2"/>
          </p:nvPr>
        </p:nvSpPr>
        <p:spPr/>
        <p:txBody>
          <a:bodyPr/>
          <a:lstStyle/>
          <a:p>
            <a:pPr marL="0" indent="0">
              <a:buNone/>
            </a:pPr>
            <a:r>
              <a:rPr lang="zh-CN" altLang="en-US" sz="3600" dirty="0"/>
              <a:t>运用</a:t>
            </a:r>
            <a:endParaRPr lang="en-US" altLang="zh-CN" sz="3600" dirty="0"/>
          </a:p>
          <a:p>
            <a:endParaRPr lang="en-US" altLang="zh-CN" dirty="0"/>
          </a:p>
          <a:p>
            <a:r>
              <a:rPr lang="zh-CN" altLang="en-US" dirty="0"/>
              <a:t>提问</a:t>
            </a:r>
          </a:p>
          <a:p>
            <a:r>
              <a:rPr lang="zh-CN" altLang="en-US" dirty="0"/>
              <a:t>案例说明</a:t>
            </a:r>
            <a:endParaRPr lang="en-US" altLang="zh-CN" dirty="0"/>
          </a:p>
        </p:txBody>
      </p:sp>
    </p:spTree>
    <p:extLst>
      <p:ext uri="{BB962C8B-B14F-4D97-AF65-F5344CB8AC3E}">
        <p14:creationId xmlns:p14="http://schemas.microsoft.com/office/powerpoint/2010/main" val="650434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31331" y="3062688"/>
            <a:ext cx="4822647" cy="3616985"/>
          </a:xfr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228" y="0"/>
            <a:ext cx="5238750" cy="2943225"/>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022" y="-7728"/>
            <a:ext cx="3440920" cy="5167313"/>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2434" y="2055813"/>
            <a:ext cx="3197782" cy="4802187"/>
          </a:xfrm>
          <a:prstGeom prst="rect">
            <a:avLst/>
          </a:prstGeom>
        </p:spPr>
      </p:pic>
    </p:spTree>
    <p:extLst>
      <p:ext uri="{BB962C8B-B14F-4D97-AF65-F5344CB8AC3E}">
        <p14:creationId xmlns:p14="http://schemas.microsoft.com/office/powerpoint/2010/main" val="2054493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B8A90FA5-5CE8-D0F7-975B-AB2D1DEBE047}"/>
              </a:ext>
            </a:extLst>
          </p:cNvPr>
          <p:cNvPicPr>
            <a:picLocks noGrp="1" noChangeAspect="1"/>
          </p:cNvPicPr>
          <p:nvPr>
            <p:ph type="pic" sz="quarter" idx="10"/>
          </p:nvPr>
        </p:nvPicPr>
        <p:blipFill>
          <a:blip r:embed="rId2"/>
          <a:srcRect t="12180" b="12180"/>
          <a:stretch/>
        </p:blipFill>
        <p:spPr>
          <a:xfrm>
            <a:off x="4826558" y="248708"/>
            <a:ext cx="2954867" cy="3852334"/>
          </a:xfrm>
          <a:prstGeom prst="rect">
            <a:avLst/>
          </a:prstGeom>
        </p:spPr>
      </p:pic>
      <p:pic>
        <p:nvPicPr>
          <p:cNvPr id="6" name="图片 5">
            <a:extLst>
              <a:ext uri="{FF2B5EF4-FFF2-40B4-BE49-F238E27FC236}">
                <a16:creationId xmlns:a16="http://schemas.microsoft.com/office/drawing/2014/main" id="{B13D8AA4-2492-4195-56F7-A2F9D1923E3F}"/>
              </a:ext>
            </a:extLst>
          </p:cNvPr>
          <p:cNvPicPr>
            <a:picLocks noChangeAspect="1"/>
          </p:cNvPicPr>
          <p:nvPr/>
        </p:nvPicPr>
        <p:blipFill>
          <a:blip r:embed="rId3"/>
          <a:stretch>
            <a:fillRect/>
          </a:stretch>
        </p:blipFill>
        <p:spPr>
          <a:xfrm>
            <a:off x="2113230" y="4101042"/>
            <a:ext cx="4724400" cy="2667000"/>
          </a:xfrm>
          <a:prstGeom prst="rect">
            <a:avLst/>
          </a:prstGeom>
        </p:spPr>
      </p:pic>
      <p:pic>
        <p:nvPicPr>
          <p:cNvPr id="7" name="图片 6">
            <a:extLst>
              <a:ext uri="{FF2B5EF4-FFF2-40B4-BE49-F238E27FC236}">
                <a16:creationId xmlns:a16="http://schemas.microsoft.com/office/drawing/2014/main" id="{DBFE82AB-8A9D-D97F-257A-1EA412CF25C2}"/>
              </a:ext>
            </a:extLst>
          </p:cNvPr>
          <p:cNvPicPr>
            <a:picLocks noChangeAspect="1"/>
          </p:cNvPicPr>
          <p:nvPr/>
        </p:nvPicPr>
        <p:blipFill>
          <a:blip r:embed="rId4"/>
          <a:stretch>
            <a:fillRect/>
          </a:stretch>
        </p:blipFill>
        <p:spPr>
          <a:xfrm>
            <a:off x="7636570" y="1412875"/>
            <a:ext cx="4300060" cy="5355167"/>
          </a:xfrm>
          <a:prstGeom prst="rect">
            <a:avLst/>
          </a:prstGeom>
        </p:spPr>
      </p:pic>
      <p:pic>
        <p:nvPicPr>
          <p:cNvPr id="8" name="图片 7">
            <a:extLst>
              <a:ext uri="{FF2B5EF4-FFF2-40B4-BE49-F238E27FC236}">
                <a16:creationId xmlns:a16="http://schemas.microsoft.com/office/drawing/2014/main" id="{8718D91C-D90D-4FEA-596F-8A820C24020C}"/>
              </a:ext>
            </a:extLst>
          </p:cNvPr>
          <p:cNvPicPr>
            <a:picLocks noChangeAspect="1"/>
          </p:cNvPicPr>
          <p:nvPr/>
        </p:nvPicPr>
        <p:blipFill>
          <a:blip r:embed="rId5"/>
          <a:stretch>
            <a:fillRect/>
          </a:stretch>
        </p:blipFill>
        <p:spPr>
          <a:xfrm>
            <a:off x="110515" y="1333500"/>
            <a:ext cx="4724400" cy="2667000"/>
          </a:xfrm>
          <a:prstGeom prst="rect">
            <a:avLst/>
          </a:prstGeom>
        </p:spPr>
      </p:pic>
    </p:spTree>
    <p:extLst>
      <p:ext uri="{BB962C8B-B14F-4D97-AF65-F5344CB8AC3E}">
        <p14:creationId xmlns:p14="http://schemas.microsoft.com/office/powerpoint/2010/main" val="995500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118055" y="2164759"/>
            <a:ext cx="5955890" cy="4693241"/>
          </a:xfrm>
          <a:prstGeom prst="rect">
            <a:avLst/>
          </a:prstGeom>
        </p:spPr>
      </p:pic>
      <p:sp>
        <p:nvSpPr>
          <p:cNvPr id="2" name="标题 1"/>
          <p:cNvSpPr>
            <a:spLocks noGrp="1"/>
          </p:cNvSpPr>
          <p:nvPr>
            <p:ph type="title"/>
          </p:nvPr>
        </p:nvSpPr>
        <p:spPr/>
        <p:txBody>
          <a:bodyPr/>
          <a:lstStyle/>
          <a:p>
            <a:r>
              <a:rPr lang="en-US" altLang="zh-CN" dirty="0"/>
              <a:t>                             </a:t>
            </a:r>
            <a:endParaRPr lang="zh-CN" altLang="en-US" dirty="0"/>
          </a:p>
        </p:txBody>
      </p:sp>
      <p:pic>
        <p:nvPicPr>
          <p:cNvPr id="5" name="内容占位符 4"/>
          <p:cNvPicPr>
            <a:picLocks noGrp="1" noChangeAspect="1"/>
          </p:cNvPicPr>
          <p:nvPr>
            <p:ph idx="1"/>
          </p:nvPr>
        </p:nvPicPr>
        <p:blipFill>
          <a:blip r:embed="rId3"/>
          <a:stretch>
            <a:fillRect/>
          </a:stretch>
        </p:blipFill>
        <p:spPr>
          <a:xfrm>
            <a:off x="8963245" y="3212107"/>
            <a:ext cx="3228755" cy="3645893"/>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3736656" cy="4802187"/>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43096" y="0"/>
            <a:ext cx="2238965" cy="3212107"/>
          </a:xfrm>
          <a:prstGeom prst="rect">
            <a:avLst/>
          </a:prstGeom>
        </p:spPr>
      </p:pic>
    </p:spTree>
    <p:extLst>
      <p:ext uri="{BB962C8B-B14F-4D97-AF65-F5344CB8AC3E}">
        <p14:creationId xmlns:p14="http://schemas.microsoft.com/office/powerpoint/2010/main" val="3038890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                                             </a:t>
            </a:r>
            <a:r>
              <a:rPr lang="zh-CN" altLang="en-US" dirty="0"/>
              <a:t>小红书和</a:t>
            </a:r>
            <a:r>
              <a:rPr lang="en-US" altLang="zh-CN" dirty="0"/>
              <a:t>B</a:t>
            </a:r>
            <a:r>
              <a:rPr lang="zh-CN" altLang="en-US" dirty="0"/>
              <a:t>站</a:t>
            </a:r>
          </a:p>
        </p:txBody>
      </p:sp>
      <p:pic>
        <p:nvPicPr>
          <p:cNvPr id="7" name="内容占位符 6"/>
          <p:cNvPicPr>
            <a:picLocks noGrp="1" noChangeAspect="1"/>
          </p:cNvPicPr>
          <p:nvPr>
            <p:ph sz="half" idx="1"/>
          </p:nvPr>
        </p:nvPicPr>
        <p:blipFill>
          <a:blip r:embed="rId2"/>
          <a:stretch>
            <a:fillRect/>
          </a:stretch>
        </p:blipFill>
        <p:spPr>
          <a:xfrm>
            <a:off x="0" y="99152"/>
            <a:ext cx="6276741" cy="3530667"/>
          </a:xfrm>
          <a:prstGeom prst="rect">
            <a:avLst/>
          </a:prstGeom>
        </p:spPr>
      </p:pic>
      <p:pic>
        <p:nvPicPr>
          <p:cNvPr id="8" name="内容占位符 7"/>
          <p:cNvPicPr>
            <a:picLocks noGrp="1" noChangeAspect="1"/>
          </p:cNvPicPr>
          <p:nvPr>
            <p:ph sz="half" idx="2"/>
          </p:nvPr>
        </p:nvPicPr>
        <p:blipFill>
          <a:blip r:embed="rId3"/>
          <a:stretch>
            <a:fillRect/>
          </a:stretch>
        </p:blipFill>
        <p:spPr>
          <a:xfrm>
            <a:off x="6833212" y="2929559"/>
            <a:ext cx="5181600" cy="2914650"/>
          </a:xfrm>
          <a:prstGeom prst="rect">
            <a:avLst/>
          </a:prstGeom>
        </p:spPr>
      </p:pic>
    </p:spTree>
    <p:extLst>
      <p:ext uri="{BB962C8B-B14F-4D97-AF65-F5344CB8AC3E}">
        <p14:creationId xmlns:p14="http://schemas.microsoft.com/office/powerpoint/2010/main" val="3169802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占位符 22">
            <a:extLst>
              <a:ext uri="{FF2B5EF4-FFF2-40B4-BE49-F238E27FC236}">
                <a16:creationId xmlns:a16="http://schemas.microsoft.com/office/drawing/2014/main" id="{6B15C33D-14B6-4B93-B659-2BCB50C620FF}"/>
              </a:ext>
            </a:extLst>
          </p:cNvPr>
          <p:cNvPicPr>
            <a:picLocks noGrp="1" noChangeAspect="1"/>
          </p:cNvPicPr>
          <p:nvPr>
            <p:ph type="pic" sz="quarter" idx="11"/>
          </p:nvPr>
        </p:nvPicPr>
        <p:blipFill>
          <a:blip r:embed="rId3"/>
          <a:srcRect t="10912" b="10912"/>
          <a:stretch>
            <a:fillRect/>
          </a:stretch>
        </p:blipFill>
        <p:spPr>
          <a:xfrm>
            <a:off x="-418288" y="134366"/>
            <a:ext cx="6095933" cy="4765951"/>
          </a:xfrm>
        </p:spPr>
      </p:pic>
      <p:cxnSp>
        <p:nvCxnSpPr>
          <p:cNvPr id="16" name="Straight Connector 15"/>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12278" y="6317571"/>
            <a:ext cx="524503" cy="230832"/>
          </a:xfrm>
          <a:prstGeom prst="rect">
            <a:avLst/>
          </a:prstGeom>
          <a:noFill/>
        </p:spPr>
        <p:txBody>
          <a:bodyPr wrap="none" rtlCol="0">
            <a:spAutoFit/>
          </a:bodyPr>
          <a:lstStyle/>
          <a:p>
            <a:r>
              <a:rPr lang="en-US" sz="900" dirty="0">
                <a:solidFill>
                  <a:prstClr val="black">
                    <a:lumMod val="85000"/>
                    <a:lumOff val="15000"/>
                  </a:prstClr>
                </a:solidFill>
                <a:latin typeface="Cormorant Garamond Light" charset="0"/>
                <a:ea typeface="Cormorant Garamond Light" charset="0"/>
                <a:cs typeface="Cormorant Garamond Light" charset="0"/>
              </a:rPr>
              <a:t>slide : </a:t>
            </a:r>
            <a:fld id="{62AEC829-9D8B-B04A-97F2-7EA009EEF72F}" type="slidenum">
              <a:rPr lang="en-US" sz="900" b="1">
                <a:solidFill>
                  <a:prstClr val="black"/>
                </a:solidFill>
                <a:latin typeface="Cormorant Garamond" charset="0"/>
                <a:ea typeface="Cormorant Garamond" charset="0"/>
                <a:cs typeface="Cormorant Garamond" charset="0"/>
              </a:rPr>
              <a:pPr/>
              <a:t>19</a:t>
            </a:fld>
            <a:endParaRPr lang="en-US" sz="900" b="1" dirty="0">
              <a:solidFill>
                <a:prstClr val="black"/>
              </a:solidFill>
              <a:latin typeface="Cormorant Garamond" charset="0"/>
              <a:ea typeface="Cormorant Garamond" charset="0"/>
              <a:cs typeface="Cormorant Garamond" charset="0"/>
            </a:endParaRPr>
          </a:p>
        </p:txBody>
      </p:sp>
      <p:sp>
        <p:nvSpPr>
          <p:cNvPr id="18" name="Rectangle 17"/>
          <p:cNvSpPr/>
          <p:nvPr/>
        </p:nvSpPr>
        <p:spPr>
          <a:xfrm>
            <a:off x="5637250" y="816517"/>
            <a:ext cx="2599267" cy="5584372"/>
          </a:xfrm>
          <a:prstGeom prst="rect">
            <a:avLst/>
          </a:prstGeom>
          <a:noFill/>
          <a:ln w="381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Cross 19"/>
          <p:cNvSpPr/>
          <p:nvPr/>
        </p:nvSpPr>
        <p:spPr>
          <a:xfrm>
            <a:off x="4626583" y="766290"/>
            <a:ext cx="279400" cy="279400"/>
          </a:xfrm>
          <a:prstGeom prst="plus">
            <a:avLst>
              <a:gd name="adj" fmla="val 42088"/>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28" name="图片 27">
            <a:extLst>
              <a:ext uri="{FF2B5EF4-FFF2-40B4-BE49-F238E27FC236}">
                <a16:creationId xmlns:a16="http://schemas.microsoft.com/office/drawing/2014/main" id="{7A69A13F-42C1-4A86-B3F5-21526FEBB779}"/>
              </a:ext>
            </a:extLst>
          </p:cNvPr>
          <p:cNvPicPr>
            <a:picLocks noChangeAspect="1"/>
          </p:cNvPicPr>
          <p:nvPr/>
        </p:nvPicPr>
        <p:blipFill>
          <a:blip r:embed="rId4"/>
          <a:stretch>
            <a:fillRect/>
          </a:stretch>
        </p:blipFill>
        <p:spPr>
          <a:xfrm>
            <a:off x="645084" y="4900317"/>
            <a:ext cx="3969191" cy="825627"/>
          </a:xfrm>
          <a:prstGeom prst="rect">
            <a:avLst/>
          </a:prstGeom>
        </p:spPr>
      </p:pic>
      <p:pic>
        <p:nvPicPr>
          <p:cNvPr id="3" name="图片 2"/>
          <p:cNvPicPr>
            <a:picLocks noChangeAspect="1"/>
          </p:cNvPicPr>
          <p:nvPr/>
        </p:nvPicPr>
        <p:blipFill>
          <a:blip r:embed="rId5"/>
          <a:stretch>
            <a:fillRect/>
          </a:stretch>
        </p:blipFill>
        <p:spPr>
          <a:xfrm>
            <a:off x="6215926" y="134366"/>
            <a:ext cx="5261304" cy="5175953"/>
          </a:xfrm>
          <a:prstGeom prst="rect">
            <a:avLst/>
          </a:prstGeom>
        </p:spPr>
      </p:pic>
      <p:pic>
        <p:nvPicPr>
          <p:cNvPr id="4" name="图片 3"/>
          <p:cNvPicPr>
            <a:picLocks noChangeAspect="1"/>
          </p:cNvPicPr>
          <p:nvPr/>
        </p:nvPicPr>
        <p:blipFill>
          <a:blip r:embed="rId6"/>
          <a:stretch>
            <a:fillRect/>
          </a:stretch>
        </p:blipFill>
        <p:spPr>
          <a:xfrm>
            <a:off x="7070916" y="4397353"/>
            <a:ext cx="5121084" cy="1005927"/>
          </a:xfrm>
          <a:prstGeom prst="rect">
            <a:avLst/>
          </a:prstGeom>
        </p:spPr>
      </p:pic>
    </p:spTree>
    <p:extLst>
      <p:ext uri="{BB962C8B-B14F-4D97-AF65-F5344CB8AC3E}">
        <p14:creationId xmlns:p14="http://schemas.microsoft.com/office/powerpoint/2010/main" val="301099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5063635" y="1740193"/>
            <a:ext cx="2064728" cy="789533"/>
            <a:chOff x="731520" y="1792800"/>
            <a:chExt cx="8390160" cy="3208320"/>
          </a:xfrm>
          <a:solidFill>
            <a:schemeClr val="bg1"/>
          </a:solidFill>
        </p:grpSpPr>
        <p:sp>
          <p:nvSpPr>
            <p:cNvPr id="22" name="Freeform 21"/>
            <p:cNvSpPr/>
            <p:nvPr/>
          </p:nvSpPr>
          <p:spPr>
            <a:xfrm>
              <a:off x="731520" y="2097360"/>
              <a:ext cx="8390160" cy="2903760"/>
            </a:xfrm>
            <a:custGeom>
              <a:avLst/>
              <a:gdLst/>
              <a:ahLst/>
              <a:cxnLst/>
              <a:rect l="0" t="0" r="r" b="b"/>
              <a:pathLst>
                <a:path w="23306" h="8066">
                  <a:moveTo>
                    <a:pt x="15070" y="1477"/>
                  </a:moveTo>
                  <a:lnTo>
                    <a:pt x="15070" y="1477"/>
                  </a:lnTo>
                  <a:cubicBezTo>
                    <a:pt x="14746" y="1797"/>
                    <a:pt x="14455" y="2085"/>
                    <a:pt x="14139" y="2399"/>
                  </a:cubicBezTo>
                  <a:cubicBezTo>
                    <a:pt x="13794" y="2176"/>
                    <a:pt x="13456" y="1979"/>
                    <a:pt x="13146" y="1750"/>
                  </a:cubicBezTo>
                  <a:cubicBezTo>
                    <a:pt x="12517" y="1282"/>
                    <a:pt x="11899" y="799"/>
                    <a:pt x="11285" y="316"/>
                  </a:cubicBezTo>
                  <a:cubicBezTo>
                    <a:pt x="10922" y="28"/>
                    <a:pt x="10738" y="0"/>
                    <a:pt x="10323" y="218"/>
                  </a:cubicBezTo>
                  <a:cubicBezTo>
                    <a:pt x="10023" y="377"/>
                    <a:pt x="9715" y="521"/>
                    <a:pt x="9464" y="763"/>
                  </a:cubicBezTo>
                  <a:cubicBezTo>
                    <a:pt x="9294" y="926"/>
                    <a:pt x="9069" y="1036"/>
                    <a:pt x="8867" y="1168"/>
                  </a:cubicBezTo>
                  <a:cubicBezTo>
                    <a:pt x="8557" y="1367"/>
                    <a:pt x="8247" y="1562"/>
                    <a:pt x="7939" y="1763"/>
                  </a:cubicBezTo>
                  <a:cubicBezTo>
                    <a:pt x="7782" y="1865"/>
                    <a:pt x="7646" y="1876"/>
                    <a:pt x="7488" y="1751"/>
                  </a:cubicBezTo>
                  <a:cubicBezTo>
                    <a:pt x="7300" y="1604"/>
                    <a:pt x="7095" y="1477"/>
                    <a:pt x="6891" y="1348"/>
                  </a:cubicBezTo>
                  <a:cubicBezTo>
                    <a:pt x="6617" y="1176"/>
                    <a:pt x="6348" y="1219"/>
                    <a:pt x="6109" y="1409"/>
                  </a:cubicBezTo>
                  <a:cubicBezTo>
                    <a:pt x="5536" y="1863"/>
                    <a:pt x="4973" y="2331"/>
                    <a:pt x="4404" y="2791"/>
                  </a:cubicBezTo>
                  <a:cubicBezTo>
                    <a:pt x="4238" y="2923"/>
                    <a:pt x="4062" y="3046"/>
                    <a:pt x="3896" y="3179"/>
                  </a:cubicBezTo>
                  <a:cubicBezTo>
                    <a:pt x="3841" y="3223"/>
                    <a:pt x="3782" y="3272"/>
                    <a:pt x="3754" y="3330"/>
                  </a:cubicBezTo>
                  <a:cubicBezTo>
                    <a:pt x="3495" y="3869"/>
                    <a:pt x="3126" y="4335"/>
                    <a:pt x="2734" y="4793"/>
                  </a:cubicBezTo>
                  <a:cubicBezTo>
                    <a:pt x="2195" y="5427"/>
                    <a:pt x="1588" y="5986"/>
                    <a:pt x="935" y="6505"/>
                  </a:cubicBezTo>
                  <a:cubicBezTo>
                    <a:pt x="749" y="6652"/>
                    <a:pt x="537" y="6772"/>
                    <a:pt x="340" y="6906"/>
                  </a:cubicBezTo>
                  <a:cubicBezTo>
                    <a:pt x="239" y="6976"/>
                    <a:pt x="142" y="7054"/>
                    <a:pt x="0" y="7164"/>
                  </a:cubicBezTo>
                  <a:cubicBezTo>
                    <a:pt x="117" y="7226"/>
                    <a:pt x="182" y="7281"/>
                    <a:pt x="257" y="7294"/>
                  </a:cubicBezTo>
                  <a:cubicBezTo>
                    <a:pt x="342" y="7311"/>
                    <a:pt x="439" y="7306"/>
                    <a:pt x="524" y="7281"/>
                  </a:cubicBezTo>
                  <a:cubicBezTo>
                    <a:pt x="1126" y="7118"/>
                    <a:pt x="1756" y="7006"/>
                    <a:pt x="2242" y="6592"/>
                  </a:cubicBezTo>
                  <a:cubicBezTo>
                    <a:pt x="2399" y="6457"/>
                    <a:pt x="2507" y="6266"/>
                    <a:pt x="2608" y="6086"/>
                  </a:cubicBezTo>
                  <a:cubicBezTo>
                    <a:pt x="2823" y="5702"/>
                    <a:pt x="3094" y="5380"/>
                    <a:pt x="3485" y="5140"/>
                  </a:cubicBezTo>
                  <a:cubicBezTo>
                    <a:pt x="3797" y="4946"/>
                    <a:pt x="3989" y="4645"/>
                    <a:pt x="4058" y="4293"/>
                  </a:cubicBezTo>
                  <a:cubicBezTo>
                    <a:pt x="4110" y="4032"/>
                    <a:pt x="4266" y="3826"/>
                    <a:pt x="4376" y="3596"/>
                  </a:cubicBezTo>
                  <a:cubicBezTo>
                    <a:pt x="4605" y="3113"/>
                    <a:pt x="5010" y="2851"/>
                    <a:pt x="5463" y="2607"/>
                  </a:cubicBezTo>
                  <a:cubicBezTo>
                    <a:pt x="5704" y="2477"/>
                    <a:pt x="5907" y="2278"/>
                    <a:pt x="6125" y="2109"/>
                  </a:cubicBezTo>
                  <a:cubicBezTo>
                    <a:pt x="6222" y="2035"/>
                    <a:pt x="6316" y="1960"/>
                    <a:pt x="6459" y="1848"/>
                  </a:cubicBezTo>
                  <a:cubicBezTo>
                    <a:pt x="6666" y="2158"/>
                    <a:pt x="6854" y="2435"/>
                    <a:pt x="7034" y="2713"/>
                  </a:cubicBezTo>
                  <a:cubicBezTo>
                    <a:pt x="7127" y="2861"/>
                    <a:pt x="7206" y="3016"/>
                    <a:pt x="7291" y="3168"/>
                  </a:cubicBezTo>
                  <a:cubicBezTo>
                    <a:pt x="7334" y="3243"/>
                    <a:pt x="7413" y="3317"/>
                    <a:pt x="7415" y="3395"/>
                  </a:cubicBezTo>
                  <a:cubicBezTo>
                    <a:pt x="7423" y="3833"/>
                    <a:pt x="7777" y="4064"/>
                    <a:pt x="8059" y="4306"/>
                  </a:cubicBezTo>
                  <a:cubicBezTo>
                    <a:pt x="8231" y="4452"/>
                    <a:pt x="8527" y="4530"/>
                    <a:pt x="8768" y="4530"/>
                  </a:cubicBezTo>
                  <a:cubicBezTo>
                    <a:pt x="9991" y="4520"/>
                    <a:pt x="10914" y="5104"/>
                    <a:pt x="11768" y="5848"/>
                  </a:cubicBezTo>
                  <a:cubicBezTo>
                    <a:pt x="12081" y="6120"/>
                    <a:pt x="12397" y="6387"/>
                    <a:pt x="12709" y="6660"/>
                  </a:cubicBezTo>
                  <a:cubicBezTo>
                    <a:pt x="12843" y="6775"/>
                    <a:pt x="12964" y="6904"/>
                    <a:pt x="13100" y="7016"/>
                  </a:cubicBezTo>
                  <a:cubicBezTo>
                    <a:pt x="13252" y="7143"/>
                    <a:pt x="13349" y="7073"/>
                    <a:pt x="13436" y="6900"/>
                  </a:cubicBezTo>
                  <a:cubicBezTo>
                    <a:pt x="13231" y="6732"/>
                    <a:pt x="13021" y="6573"/>
                    <a:pt x="12826" y="6401"/>
                  </a:cubicBezTo>
                  <a:cubicBezTo>
                    <a:pt x="12505" y="6118"/>
                    <a:pt x="12191" y="5833"/>
                    <a:pt x="11883" y="5537"/>
                  </a:cubicBezTo>
                  <a:cubicBezTo>
                    <a:pt x="11410" y="5087"/>
                    <a:pt x="10965" y="4608"/>
                    <a:pt x="10469" y="4182"/>
                  </a:cubicBezTo>
                  <a:cubicBezTo>
                    <a:pt x="10238" y="3981"/>
                    <a:pt x="9924" y="3860"/>
                    <a:pt x="9636" y="3729"/>
                  </a:cubicBezTo>
                  <a:cubicBezTo>
                    <a:pt x="8944" y="3419"/>
                    <a:pt x="8510" y="2861"/>
                    <a:pt x="8033" y="2285"/>
                  </a:cubicBezTo>
                  <a:cubicBezTo>
                    <a:pt x="8338" y="2056"/>
                    <a:pt x="8616" y="1842"/>
                    <a:pt x="8901" y="1638"/>
                  </a:cubicBezTo>
                  <a:cubicBezTo>
                    <a:pt x="9104" y="1488"/>
                    <a:pt x="9302" y="1323"/>
                    <a:pt x="9527" y="1212"/>
                  </a:cubicBezTo>
                  <a:cubicBezTo>
                    <a:pt x="9841" y="1055"/>
                    <a:pt x="10175" y="928"/>
                    <a:pt x="10511" y="816"/>
                  </a:cubicBezTo>
                  <a:cubicBezTo>
                    <a:pt x="10586" y="791"/>
                    <a:pt x="10738" y="867"/>
                    <a:pt x="10797" y="939"/>
                  </a:cubicBezTo>
                  <a:cubicBezTo>
                    <a:pt x="10961" y="1142"/>
                    <a:pt x="11092" y="1371"/>
                    <a:pt x="11246" y="1583"/>
                  </a:cubicBezTo>
                  <a:cubicBezTo>
                    <a:pt x="11404" y="1804"/>
                    <a:pt x="11552" y="2039"/>
                    <a:pt x="11747" y="2229"/>
                  </a:cubicBezTo>
                  <a:cubicBezTo>
                    <a:pt x="12071" y="2539"/>
                    <a:pt x="12381" y="2867"/>
                    <a:pt x="12804" y="3077"/>
                  </a:cubicBezTo>
                  <a:cubicBezTo>
                    <a:pt x="12976" y="3164"/>
                    <a:pt x="13100" y="3346"/>
                    <a:pt x="13231" y="3497"/>
                  </a:cubicBezTo>
                  <a:cubicBezTo>
                    <a:pt x="13549" y="3865"/>
                    <a:pt x="13851" y="4246"/>
                    <a:pt x="14171" y="4613"/>
                  </a:cubicBezTo>
                  <a:cubicBezTo>
                    <a:pt x="14384" y="4857"/>
                    <a:pt x="14663" y="4982"/>
                    <a:pt x="14999" y="5037"/>
                  </a:cubicBezTo>
                  <a:cubicBezTo>
                    <a:pt x="15465" y="5117"/>
                    <a:pt x="15923" y="5240"/>
                    <a:pt x="16382" y="5359"/>
                  </a:cubicBezTo>
                  <a:cubicBezTo>
                    <a:pt x="16514" y="5393"/>
                    <a:pt x="16651" y="5456"/>
                    <a:pt x="16759" y="5535"/>
                  </a:cubicBezTo>
                  <a:cubicBezTo>
                    <a:pt x="17052" y="5751"/>
                    <a:pt x="17376" y="5916"/>
                    <a:pt x="17666" y="6139"/>
                  </a:cubicBezTo>
                  <a:cubicBezTo>
                    <a:pt x="18061" y="6446"/>
                    <a:pt x="18526" y="6669"/>
                    <a:pt x="18966" y="6923"/>
                  </a:cubicBezTo>
                  <a:cubicBezTo>
                    <a:pt x="19006" y="6946"/>
                    <a:pt x="19073" y="6927"/>
                    <a:pt x="19128" y="6927"/>
                  </a:cubicBezTo>
                  <a:cubicBezTo>
                    <a:pt x="19128" y="6870"/>
                    <a:pt x="19138" y="6832"/>
                    <a:pt x="19126" y="6825"/>
                  </a:cubicBezTo>
                  <a:cubicBezTo>
                    <a:pt x="18684" y="6533"/>
                    <a:pt x="18364" y="6113"/>
                    <a:pt x="17909" y="5823"/>
                  </a:cubicBezTo>
                  <a:cubicBezTo>
                    <a:pt x="17176" y="5355"/>
                    <a:pt x="16413" y="4910"/>
                    <a:pt x="15833" y="4252"/>
                  </a:cubicBezTo>
                  <a:cubicBezTo>
                    <a:pt x="15414" y="4058"/>
                    <a:pt x="15256" y="3654"/>
                    <a:pt x="14997" y="3327"/>
                  </a:cubicBezTo>
                  <a:cubicBezTo>
                    <a:pt x="14821" y="3103"/>
                    <a:pt x="14606" y="2908"/>
                    <a:pt x="14382" y="2673"/>
                  </a:cubicBezTo>
                  <a:cubicBezTo>
                    <a:pt x="14580" y="2486"/>
                    <a:pt x="14809" y="2359"/>
                    <a:pt x="15060" y="2272"/>
                  </a:cubicBezTo>
                  <a:cubicBezTo>
                    <a:pt x="15210" y="2221"/>
                    <a:pt x="15356" y="2240"/>
                    <a:pt x="15495" y="2336"/>
                  </a:cubicBezTo>
                  <a:cubicBezTo>
                    <a:pt x="15985" y="2677"/>
                    <a:pt x="16485" y="2999"/>
                    <a:pt x="16969" y="3344"/>
                  </a:cubicBezTo>
                  <a:cubicBezTo>
                    <a:pt x="17532" y="3744"/>
                    <a:pt x="17812" y="4325"/>
                    <a:pt x="17992" y="4948"/>
                  </a:cubicBezTo>
                  <a:cubicBezTo>
                    <a:pt x="18073" y="5227"/>
                    <a:pt x="18205" y="5441"/>
                    <a:pt x="18435" y="5617"/>
                  </a:cubicBezTo>
                  <a:cubicBezTo>
                    <a:pt x="18727" y="5838"/>
                    <a:pt x="19018" y="6062"/>
                    <a:pt x="19290" y="6304"/>
                  </a:cubicBezTo>
                  <a:cubicBezTo>
                    <a:pt x="19488" y="6476"/>
                    <a:pt x="19656" y="6679"/>
                    <a:pt x="19855" y="6891"/>
                  </a:cubicBezTo>
                  <a:cubicBezTo>
                    <a:pt x="19907" y="6872"/>
                    <a:pt x="19978" y="6853"/>
                    <a:pt x="20041" y="6819"/>
                  </a:cubicBezTo>
                  <a:cubicBezTo>
                    <a:pt x="20314" y="6669"/>
                    <a:pt x="20580" y="6694"/>
                    <a:pt x="20845" y="6840"/>
                  </a:cubicBezTo>
                  <a:cubicBezTo>
                    <a:pt x="21568" y="7236"/>
                    <a:pt x="22289" y="7635"/>
                    <a:pt x="23016" y="8023"/>
                  </a:cubicBezTo>
                  <a:cubicBezTo>
                    <a:pt x="23091" y="8065"/>
                    <a:pt x="23198" y="8052"/>
                    <a:pt x="23291" y="8063"/>
                  </a:cubicBezTo>
                  <a:cubicBezTo>
                    <a:pt x="23291" y="7972"/>
                    <a:pt x="23305" y="7877"/>
                    <a:pt x="23289" y="7788"/>
                  </a:cubicBezTo>
                  <a:cubicBezTo>
                    <a:pt x="23277" y="7734"/>
                    <a:pt x="23226" y="7681"/>
                    <a:pt x="23180" y="7641"/>
                  </a:cubicBezTo>
                  <a:cubicBezTo>
                    <a:pt x="22927" y="7415"/>
                    <a:pt x="22677" y="7184"/>
                    <a:pt x="22412" y="6970"/>
                  </a:cubicBezTo>
                  <a:cubicBezTo>
                    <a:pt x="21912" y="6567"/>
                    <a:pt x="21392" y="6190"/>
                    <a:pt x="21023" y="5656"/>
                  </a:cubicBezTo>
                  <a:cubicBezTo>
                    <a:pt x="20906" y="5492"/>
                    <a:pt x="20693" y="5389"/>
                    <a:pt x="20521" y="5263"/>
                  </a:cubicBezTo>
                  <a:cubicBezTo>
                    <a:pt x="20248" y="5058"/>
                    <a:pt x="19970" y="4863"/>
                    <a:pt x="19701" y="4655"/>
                  </a:cubicBezTo>
                  <a:cubicBezTo>
                    <a:pt x="19142" y="4223"/>
                    <a:pt x="18609" y="3761"/>
                    <a:pt x="18028" y="3357"/>
                  </a:cubicBezTo>
                  <a:cubicBezTo>
                    <a:pt x="17303" y="2851"/>
                    <a:pt x="16542" y="2391"/>
                    <a:pt x="15795" y="1914"/>
                  </a:cubicBezTo>
                  <a:cubicBezTo>
                    <a:pt x="15562" y="1765"/>
                    <a:pt x="15321" y="1628"/>
                    <a:pt x="15070" y="1477"/>
                  </a:cubicBezTo>
                </a:path>
              </a:pathLst>
            </a:custGeom>
            <a:grpFill/>
            <a:ln>
              <a:noFill/>
            </a:ln>
          </p:spPr>
        </p:sp>
        <p:sp>
          <p:nvSpPr>
            <p:cNvPr id="23" name="Freeform 22"/>
            <p:cNvSpPr/>
            <p:nvPr/>
          </p:nvSpPr>
          <p:spPr>
            <a:xfrm>
              <a:off x="4629960" y="2997720"/>
              <a:ext cx="1145160" cy="929160"/>
            </a:xfrm>
            <a:custGeom>
              <a:avLst/>
              <a:gdLst/>
              <a:ahLst/>
              <a:cxnLst/>
              <a:rect l="0" t="0" r="r" b="b"/>
              <a:pathLst>
                <a:path w="3181" h="2581">
                  <a:moveTo>
                    <a:pt x="3180" y="2417"/>
                  </a:moveTo>
                  <a:lnTo>
                    <a:pt x="3180" y="2417"/>
                  </a:lnTo>
                  <a:cubicBezTo>
                    <a:pt x="2992" y="2216"/>
                    <a:pt x="2832" y="2033"/>
                    <a:pt x="2660" y="1860"/>
                  </a:cubicBezTo>
                  <a:cubicBezTo>
                    <a:pt x="2378" y="1576"/>
                    <a:pt x="2093" y="1294"/>
                    <a:pt x="1797" y="1026"/>
                  </a:cubicBezTo>
                  <a:cubicBezTo>
                    <a:pt x="1678" y="918"/>
                    <a:pt x="1534" y="816"/>
                    <a:pt x="1384" y="771"/>
                  </a:cubicBezTo>
                  <a:cubicBezTo>
                    <a:pt x="967" y="644"/>
                    <a:pt x="638" y="405"/>
                    <a:pt x="332" y="121"/>
                  </a:cubicBezTo>
                  <a:cubicBezTo>
                    <a:pt x="296" y="87"/>
                    <a:pt x="263" y="44"/>
                    <a:pt x="219" y="25"/>
                  </a:cubicBezTo>
                  <a:cubicBezTo>
                    <a:pt x="178" y="8"/>
                    <a:pt x="105" y="0"/>
                    <a:pt x="81" y="21"/>
                  </a:cubicBezTo>
                  <a:cubicBezTo>
                    <a:pt x="44" y="57"/>
                    <a:pt x="0" y="137"/>
                    <a:pt x="18" y="171"/>
                  </a:cubicBezTo>
                  <a:cubicBezTo>
                    <a:pt x="73" y="279"/>
                    <a:pt x="146" y="383"/>
                    <a:pt x="229" y="474"/>
                  </a:cubicBezTo>
                  <a:cubicBezTo>
                    <a:pt x="620" y="909"/>
                    <a:pt x="1011" y="1342"/>
                    <a:pt x="1414" y="1768"/>
                  </a:cubicBezTo>
                  <a:cubicBezTo>
                    <a:pt x="1696" y="2067"/>
                    <a:pt x="1989" y="2358"/>
                    <a:pt x="2417" y="2478"/>
                  </a:cubicBezTo>
                  <a:cubicBezTo>
                    <a:pt x="2656" y="2544"/>
                    <a:pt x="2890" y="2580"/>
                    <a:pt x="3180" y="2417"/>
                  </a:cubicBezTo>
                </a:path>
              </a:pathLst>
            </a:custGeom>
            <a:grpFill/>
            <a:ln>
              <a:noFill/>
            </a:ln>
          </p:spPr>
        </p:sp>
        <p:sp>
          <p:nvSpPr>
            <p:cNvPr id="24" name="Freeform 23"/>
            <p:cNvSpPr/>
            <p:nvPr/>
          </p:nvSpPr>
          <p:spPr>
            <a:xfrm>
              <a:off x="5836680" y="4015800"/>
              <a:ext cx="714600" cy="534600"/>
            </a:xfrm>
            <a:custGeom>
              <a:avLst/>
              <a:gdLst/>
              <a:ahLst/>
              <a:cxnLst/>
              <a:rect l="0" t="0" r="r" b="b"/>
              <a:pathLst>
                <a:path w="1985" h="1485">
                  <a:moveTo>
                    <a:pt x="1984" y="1401"/>
                  </a:moveTo>
                  <a:lnTo>
                    <a:pt x="1984" y="1401"/>
                  </a:lnTo>
                  <a:cubicBezTo>
                    <a:pt x="1750" y="1147"/>
                    <a:pt x="1594" y="941"/>
                    <a:pt x="1399" y="778"/>
                  </a:cubicBezTo>
                  <a:cubicBezTo>
                    <a:pt x="1199" y="611"/>
                    <a:pt x="960" y="490"/>
                    <a:pt x="739" y="346"/>
                  </a:cubicBezTo>
                  <a:cubicBezTo>
                    <a:pt x="626" y="271"/>
                    <a:pt x="519" y="187"/>
                    <a:pt x="407" y="113"/>
                  </a:cubicBezTo>
                  <a:cubicBezTo>
                    <a:pt x="342" y="72"/>
                    <a:pt x="251" y="0"/>
                    <a:pt x="201" y="17"/>
                  </a:cubicBezTo>
                  <a:cubicBezTo>
                    <a:pt x="136" y="43"/>
                    <a:pt x="69" y="134"/>
                    <a:pt x="53" y="208"/>
                  </a:cubicBezTo>
                  <a:cubicBezTo>
                    <a:pt x="0" y="469"/>
                    <a:pt x="361" y="1000"/>
                    <a:pt x="599" y="1143"/>
                  </a:cubicBezTo>
                  <a:cubicBezTo>
                    <a:pt x="944" y="1354"/>
                    <a:pt x="1349" y="1329"/>
                    <a:pt x="1711" y="1462"/>
                  </a:cubicBezTo>
                  <a:cubicBezTo>
                    <a:pt x="1772" y="1484"/>
                    <a:pt x="1861" y="1431"/>
                    <a:pt x="1984" y="1401"/>
                  </a:cubicBezTo>
                </a:path>
              </a:pathLst>
            </a:custGeom>
            <a:grpFill/>
            <a:ln>
              <a:noFill/>
            </a:ln>
          </p:spPr>
        </p:sp>
        <p:sp>
          <p:nvSpPr>
            <p:cNvPr id="25" name="Freeform 24"/>
            <p:cNvSpPr/>
            <p:nvPr/>
          </p:nvSpPr>
          <p:spPr>
            <a:xfrm>
              <a:off x="3654000" y="3897720"/>
              <a:ext cx="692640" cy="407520"/>
            </a:xfrm>
            <a:custGeom>
              <a:avLst/>
              <a:gdLst/>
              <a:ahLst/>
              <a:cxnLst/>
              <a:rect l="0" t="0" r="r" b="b"/>
              <a:pathLst>
                <a:path w="1924" h="1132">
                  <a:moveTo>
                    <a:pt x="1923" y="1011"/>
                  </a:moveTo>
                  <a:lnTo>
                    <a:pt x="1923" y="1011"/>
                  </a:lnTo>
                  <a:cubicBezTo>
                    <a:pt x="1769" y="714"/>
                    <a:pt x="1484" y="576"/>
                    <a:pt x="1204" y="434"/>
                  </a:cubicBezTo>
                  <a:cubicBezTo>
                    <a:pt x="1000" y="332"/>
                    <a:pt x="789" y="241"/>
                    <a:pt x="585" y="139"/>
                  </a:cubicBezTo>
                  <a:cubicBezTo>
                    <a:pt x="322" y="4"/>
                    <a:pt x="150" y="0"/>
                    <a:pt x="73" y="137"/>
                  </a:cubicBezTo>
                  <a:cubicBezTo>
                    <a:pt x="0" y="262"/>
                    <a:pt x="97" y="602"/>
                    <a:pt x="235" y="712"/>
                  </a:cubicBezTo>
                  <a:cubicBezTo>
                    <a:pt x="245" y="720"/>
                    <a:pt x="257" y="729"/>
                    <a:pt x="269" y="733"/>
                  </a:cubicBezTo>
                  <a:cubicBezTo>
                    <a:pt x="795" y="864"/>
                    <a:pt x="1288" y="1131"/>
                    <a:pt x="1860" y="1072"/>
                  </a:cubicBezTo>
                  <a:cubicBezTo>
                    <a:pt x="1867" y="1072"/>
                    <a:pt x="1875" y="1057"/>
                    <a:pt x="1923" y="1011"/>
                  </a:cubicBezTo>
                </a:path>
              </a:pathLst>
            </a:custGeom>
            <a:grpFill/>
            <a:ln>
              <a:noFill/>
            </a:ln>
          </p:spPr>
        </p:sp>
        <p:sp>
          <p:nvSpPr>
            <p:cNvPr id="26" name="Freeform 25"/>
            <p:cNvSpPr/>
            <p:nvPr/>
          </p:nvSpPr>
          <p:spPr>
            <a:xfrm>
              <a:off x="5600520" y="1792800"/>
              <a:ext cx="907920" cy="349200"/>
            </a:xfrm>
            <a:custGeom>
              <a:avLst/>
              <a:gdLst/>
              <a:ahLst/>
              <a:cxnLst/>
              <a:rect l="0" t="0" r="r" b="b"/>
              <a:pathLst>
                <a:path w="2522" h="970">
                  <a:moveTo>
                    <a:pt x="2009" y="664"/>
                  </a:moveTo>
                  <a:lnTo>
                    <a:pt x="2009" y="664"/>
                  </a:lnTo>
                  <a:cubicBezTo>
                    <a:pt x="2213" y="634"/>
                    <a:pt x="2319" y="903"/>
                    <a:pt x="2521" y="761"/>
                  </a:cubicBezTo>
                  <a:cubicBezTo>
                    <a:pt x="2359" y="464"/>
                    <a:pt x="2173" y="350"/>
                    <a:pt x="1887" y="460"/>
                  </a:cubicBezTo>
                  <a:cubicBezTo>
                    <a:pt x="1667" y="543"/>
                    <a:pt x="1525" y="488"/>
                    <a:pt x="1365" y="376"/>
                  </a:cubicBezTo>
                  <a:cubicBezTo>
                    <a:pt x="1294" y="325"/>
                    <a:pt x="1213" y="284"/>
                    <a:pt x="1134" y="244"/>
                  </a:cubicBezTo>
                  <a:cubicBezTo>
                    <a:pt x="650" y="0"/>
                    <a:pt x="405" y="53"/>
                    <a:pt x="0" y="490"/>
                  </a:cubicBezTo>
                  <a:cubicBezTo>
                    <a:pt x="107" y="606"/>
                    <a:pt x="235" y="581"/>
                    <a:pt x="340" y="513"/>
                  </a:cubicBezTo>
                  <a:cubicBezTo>
                    <a:pt x="640" y="314"/>
                    <a:pt x="897" y="420"/>
                    <a:pt x="1148" y="594"/>
                  </a:cubicBezTo>
                  <a:cubicBezTo>
                    <a:pt x="1231" y="653"/>
                    <a:pt x="1316" y="710"/>
                    <a:pt x="1395" y="772"/>
                  </a:cubicBezTo>
                  <a:cubicBezTo>
                    <a:pt x="1648" y="969"/>
                    <a:pt x="1646" y="969"/>
                    <a:pt x="1891" y="759"/>
                  </a:cubicBezTo>
                  <a:cubicBezTo>
                    <a:pt x="1936" y="717"/>
                    <a:pt x="1986" y="683"/>
                    <a:pt x="2009" y="664"/>
                  </a:cubicBezTo>
                </a:path>
              </a:pathLst>
            </a:custGeom>
            <a:grpFill/>
            <a:ln>
              <a:noFill/>
            </a:ln>
          </p:spPr>
        </p:sp>
        <p:sp>
          <p:nvSpPr>
            <p:cNvPr id="27" name="Freeform 26"/>
            <p:cNvSpPr/>
            <p:nvPr/>
          </p:nvSpPr>
          <p:spPr>
            <a:xfrm>
              <a:off x="6590520" y="3413520"/>
              <a:ext cx="483480" cy="449280"/>
            </a:xfrm>
            <a:custGeom>
              <a:avLst/>
              <a:gdLst/>
              <a:ahLst/>
              <a:cxnLst/>
              <a:rect l="0" t="0" r="r" b="b"/>
              <a:pathLst>
                <a:path w="1343" h="1248">
                  <a:moveTo>
                    <a:pt x="245" y="0"/>
                  </a:moveTo>
                  <a:lnTo>
                    <a:pt x="245" y="0"/>
                  </a:lnTo>
                  <a:cubicBezTo>
                    <a:pt x="152" y="65"/>
                    <a:pt x="57" y="103"/>
                    <a:pt x="30" y="166"/>
                  </a:cubicBezTo>
                  <a:cubicBezTo>
                    <a:pt x="0" y="230"/>
                    <a:pt x="8" y="353"/>
                    <a:pt x="53" y="395"/>
                  </a:cubicBezTo>
                  <a:cubicBezTo>
                    <a:pt x="354" y="662"/>
                    <a:pt x="668" y="916"/>
                    <a:pt x="980" y="1169"/>
                  </a:cubicBezTo>
                  <a:cubicBezTo>
                    <a:pt x="1028" y="1207"/>
                    <a:pt x="1093" y="1241"/>
                    <a:pt x="1152" y="1245"/>
                  </a:cubicBezTo>
                  <a:cubicBezTo>
                    <a:pt x="1205" y="1247"/>
                    <a:pt x="1284" y="1222"/>
                    <a:pt x="1312" y="1183"/>
                  </a:cubicBezTo>
                  <a:cubicBezTo>
                    <a:pt x="1340" y="1145"/>
                    <a:pt x="1342" y="1041"/>
                    <a:pt x="1312" y="1022"/>
                  </a:cubicBezTo>
                  <a:cubicBezTo>
                    <a:pt x="1053" y="844"/>
                    <a:pt x="986" y="560"/>
                    <a:pt x="873" y="306"/>
                  </a:cubicBezTo>
                  <a:cubicBezTo>
                    <a:pt x="743" y="11"/>
                    <a:pt x="431" y="171"/>
                    <a:pt x="245" y="0"/>
                  </a:cubicBezTo>
                </a:path>
              </a:pathLst>
            </a:custGeom>
            <a:grpFill/>
            <a:ln>
              <a:noFill/>
            </a:ln>
          </p:spPr>
        </p:sp>
        <p:sp>
          <p:nvSpPr>
            <p:cNvPr id="28" name="Freeform 27"/>
            <p:cNvSpPr/>
            <p:nvPr/>
          </p:nvSpPr>
          <p:spPr>
            <a:xfrm>
              <a:off x="7499520" y="2704680"/>
              <a:ext cx="918720" cy="317160"/>
            </a:xfrm>
            <a:custGeom>
              <a:avLst/>
              <a:gdLst/>
              <a:ahLst/>
              <a:cxnLst/>
              <a:rect l="0" t="0" r="r" b="b"/>
              <a:pathLst>
                <a:path w="2552" h="881">
                  <a:moveTo>
                    <a:pt x="1403" y="481"/>
                  </a:moveTo>
                  <a:lnTo>
                    <a:pt x="1403" y="481"/>
                  </a:lnTo>
                  <a:cubicBezTo>
                    <a:pt x="571" y="21"/>
                    <a:pt x="433" y="0"/>
                    <a:pt x="0" y="309"/>
                  </a:cubicBezTo>
                  <a:cubicBezTo>
                    <a:pt x="127" y="339"/>
                    <a:pt x="214" y="379"/>
                    <a:pt x="302" y="379"/>
                  </a:cubicBezTo>
                  <a:cubicBezTo>
                    <a:pt x="613" y="377"/>
                    <a:pt x="869" y="492"/>
                    <a:pt x="1111" y="668"/>
                  </a:cubicBezTo>
                  <a:cubicBezTo>
                    <a:pt x="1399" y="880"/>
                    <a:pt x="1401" y="877"/>
                    <a:pt x="1664" y="634"/>
                  </a:cubicBezTo>
                  <a:cubicBezTo>
                    <a:pt x="1802" y="507"/>
                    <a:pt x="1948" y="504"/>
                    <a:pt x="2185" y="621"/>
                  </a:cubicBezTo>
                  <a:cubicBezTo>
                    <a:pt x="2284" y="670"/>
                    <a:pt x="2383" y="718"/>
                    <a:pt x="2486" y="761"/>
                  </a:cubicBezTo>
                  <a:cubicBezTo>
                    <a:pt x="2499" y="767"/>
                    <a:pt x="2529" y="740"/>
                    <a:pt x="2551" y="729"/>
                  </a:cubicBezTo>
                  <a:cubicBezTo>
                    <a:pt x="2422" y="307"/>
                    <a:pt x="1836" y="172"/>
                    <a:pt x="1403" y="481"/>
                  </a:cubicBezTo>
                </a:path>
              </a:pathLst>
            </a:custGeom>
            <a:grpFill/>
            <a:ln>
              <a:noFill/>
            </a:ln>
          </p:spPr>
        </p:sp>
        <p:sp>
          <p:nvSpPr>
            <p:cNvPr id="29" name="Freeform 28"/>
            <p:cNvSpPr/>
            <p:nvPr/>
          </p:nvSpPr>
          <p:spPr>
            <a:xfrm>
              <a:off x="2994840" y="3290040"/>
              <a:ext cx="315360" cy="332280"/>
            </a:xfrm>
            <a:custGeom>
              <a:avLst/>
              <a:gdLst/>
              <a:ahLst/>
              <a:cxnLst/>
              <a:rect l="0" t="0" r="r" b="b"/>
              <a:pathLst>
                <a:path w="876" h="923">
                  <a:moveTo>
                    <a:pt x="596" y="922"/>
                  </a:moveTo>
                  <a:lnTo>
                    <a:pt x="596" y="922"/>
                  </a:lnTo>
                  <a:cubicBezTo>
                    <a:pt x="774" y="918"/>
                    <a:pt x="875" y="776"/>
                    <a:pt x="782" y="620"/>
                  </a:cubicBezTo>
                  <a:cubicBezTo>
                    <a:pt x="668" y="433"/>
                    <a:pt x="527" y="258"/>
                    <a:pt x="383" y="88"/>
                  </a:cubicBezTo>
                  <a:cubicBezTo>
                    <a:pt x="346" y="42"/>
                    <a:pt x="235" y="0"/>
                    <a:pt x="191" y="23"/>
                  </a:cubicBezTo>
                  <a:cubicBezTo>
                    <a:pt x="122" y="55"/>
                    <a:pt x="53" y="137"/>
                    <a:pt x="37" y="209"/>
                  </a:cubicBezTo>
                  <a:cubicBezTo>
                    <a:pt x="0" y="376"/>
                    <a:pt x="350" y="869"/>
                    <a:pt x="521" y="912"/>
                  </a:cubicBezTo>
                  <a:cubicBezTo>
                    <a:pt x="545" y="920"/>
                    <a:pt x="571" y="920"/>
                    <a:pt x="596" y="922"/>
                  </a:cubicBezTo>
                </a:path>
              </a:pathLst>
            </a:custGeom>
            <a:grpFill/>
            <a:ln>
              <a:noFill/>
            </a:ln>
          </p:spPr>
        </p:sp>
        <p:sp>
          <p:nvSpPr>
            <p:cNvPr id="30" name="Freeform 29"/>
            <p:cNvSpPr/>
            <p:nvPr/>
          </p:nvSpPr>
          <p:spPr>
            <a:xfrm>
              <a:off x="6229800" y="3087720"/>
              <a:ext cx="103680" cy="100440"/>
            </a:xfrm>
            <a:custGeom>
              <a:avLst/>
              <a:gdLst/>
              <a:ahLst/>
              <a:cxnLst/>
              <a:rect l="0" t="0" r="r" b="b"/>
              <a:pathLst>
                <a:path w="288" h="279">
                  <a:moveTo>
                    <a:pt x="265" y="278"/>
                  </a:moveTo>
                  <a:lnTo>
                    <a:pt x="265" y="278"/>
                  </a:lnTo>
                  <a:cubicBezTo>
                    <a:pt x="287" y="15"/>
                    <a:pt x="271" y="0"/>
                    <a:pt x="0" y="17"/>
                  </a:cubicBezTo>
                  <a:cubicBezTo>
                    <a:pt x="20" y="174"/>
                    <a:pt x="129" y="229"/>
                    <a:pt x="265" y="278"/>
                  </a:cubicBezTo>
                </a:path>
              </a:pathLst>
            </a:custGeom>
            <a:grpFill/>
            <a:ln>
              <a:noFill/>
            </a:ln>
          </p:spPr>
        </p:sp>
        <p:sp>
          <p:nvSpPr>
            <p:cNvPr id="31" name="Freeform 30"/>
            <p:cNvSpPr/>
            <p:nvPr/>
          </p:nvSpPr>
          <p:spPr>
            <a:xfrm>
              <a:off x="4424400" y="2588760"/>
              <a:ext cx="110520" cy="87120"/>
            </a:xfrm>
            <a:custGeom>
              <a:avLst/>
              <a:gdLst/>
              <a:ahLst/>
              <a:cxnLst/>
              <a:rect l="0" t="0" r="r" b="b"/>
              <a:pathLst>
                <a:path w="307" h="242">
                  <a:moveTo>
                    <a:pt x="0" y="116"/>
                  </a:moveTo>
                  <a:lnTo>
                    <a:pt x="0" y="116"/>
                  </a:lnTo>
                  <a:cubicBezTo>
                    <a:pt x="71" y="172"/>
                    <a:pt x="125" y="241"/>
                    <a:pt x="154" y="231"/>
                  </a:cubicBezTo>
                  <a:cubicBezTo>
                    <a:pt x="211" y="216"/>
                    <a:pt x="265" y="163"/>
                    <a:pt x="296" y="112"/>
                  </a:cubicBezTo>
                  <a:cubicBezTo>
                    <a:pt x="306" y="97"/>
                    <a:pt x="227" y="0"/>
                    <a:pt x="200" y="4"/>
                  </a:cubicBezTo>
                  <a:cubicBezTo>
                    <a:pt x="138" y="13"/>
                    <a:pt x="87" y="64"/>
                    <a:pt x="0" y="116"/>
                  </a:cubicBezTo>
                </a:path>
              </a:pathLst>
            </a:custGeom>
            <a:grpFill/>
            <a:ln>
              <a:noFill/>
            </a:ln>
          </p:spPr>
        </p:sp>
        <p:sp>
          <p:nvSpPr>
            <p:cNvPr id="32" name="Freeform 31"/>
            <p:cNvSpPr/>
            <p:nvPr/>
          </p:nvSpPr>
          <p:spPr>
            <a:xfrm>
              <a:off x="6351480" y="3192840"/>
              <a:ext cx="114840" cy="78120"/>
            </a:xfrm>
            <a:custGeom>
              <a:avLst/>
              <a:gdLst/>
              <a:ahLst/>
              <a:cxnLst/>
              <a:rect l="0" t="0" r="r" b="b"/>
              <a:pathLst>
                <a:path w="319" h="217">
                  <a:moveTo>
                    <a:pt x="0" y="108"/>
                  </a:moveTo>
                  <a:lnTo>
                    <a:pt x="0" y="108"/>
                  </a:lnTo>
                  <a:cubicBezTo>
                    <a:pt x="91" y="157"/>
                    <a:pt x="150" y="208"/>
                    <a:pt x="212" y="214"/>
                  </a:cubicBezTo>
                  <a:cubicBezTo>
                    <a:pt x="243" y="216"/>
                    <a:pt x="283" y="136"/>
                    <a:pt x="318" y="92"/>
                  </a:cubicBezTo>
                  <a:cubicBezTo>
                    <a:pt x="255" y="62"/>
                    <a:pt x="198" y="21"/>
                    <a:pt x="131" y="5"/>
                  </a:cubicBezTo>
                  <a:cubicBezTo>
                    <a:pt x="105" y="0"/>
                    <a:pt x="64" y="56"/>
                    <a:pt x="0" y="108"/>
                  </a:cubicBezTo>
                </a:path>
              </a:pathLst>
            </a:custGeom>
            <a:grpFill/>
            <a:ln>
              <a:noFill/>
            </a:ln>
          </p:spPr>
        </p:sp>
      </p:grpSp>
      <p:cxnSp>
        <p:nvCxnSpPr>
          <p:cNvPr id="34" name="Straight Connector 33"/>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12278" y="6317571"/>
            <a:ext cx="524503" cy="230832"/>
          </a:xfrm>
          <a:prstGeom prst="rect">
            <a:avLst/>
          </a:prstGeom>
          <a:noFill/>
        </p:spPr>
        <p:txBody>
          <a:bodyPr wrap="none" rtlCol="0">
            <a:spAutoFit/>
          </a:bodyPr>
          <a:lstStyle/>
          <a:p>
            <a:r>
              <a:rPr lang="en-US" sz="900" dirty="0">
                <a:solidFill>
                  <a:prstClr val="black">
                    <a:lumMod val="85000"/>
                    <a:lumOff val="15000"/>
                  </a:prstClr>
                </a:solidFill>
                <a:latin typeface="Cormorant Garamond Light" charset="0"/>
                <a:ea typeface="Cormorant Garamond Light" charset="0"/>
                <a:cs typeface="Cormorant Garamond Light" charset="0"/>
              </a:rPr>
              <a:t>slide : </a:t>
            </a:r>
            <a:fld id="{62AEC829-9D8B-B04A-97F2-7EA009EEF72F}" type="slidenum">
              <a:rPr lang="en-US" sz="900" b="1">
                <a:solidFill>
                  <a:prstClr val="black"/>
                </a:solidFill>
                <a:latin typeface="Cormorant Garamond" charset="0"/>
                <a:ea typeface="Cormorant Garamond" charset="0"/>
                <a:cs typeface="Cormorant Garamond" charset="0"/>
              </a:rPr>
              <a:pPr/>
              <a:t>20</a:t>
            </a:fld>
            <a:endParaRPr lang="en-US" sz="900" b="1" dirty="0">
              <a:solidFill>
                <a:prstClr val="black"/>
              </a:solidFill>
              <a:latin typeface="Cormorant Garamond" charset="0"/>
              <a:ea typeface="Cormorant Garamond" charset="0"/>
              <a:cs typeface="Cormorant Garamond" charset="0"/>
            </a:endParaRPr>
          </a:p>
        </p:txBody>
      </p:sp>
      <p:pic>
        <p:nvPicPr>
          <p:cNvPr id="4" name="图片 3">
            <a:extLst>
              <a:ext uri="{FF2B5EF4-FFF2-40B4-BE49-F238E27FC236}">
                <a16:creationId xmlns:a16="http://schemas.microsoft.com/office/drawing/2014/main" id="{24E91A57-5B3A-4A4F-B37D-11B11F9DBCE0}"/>
              </a:ext>
            </a:extLst>
          </p:cNvPr>
          <p:cNvPicPr>
            <a:picLocks noChangeAspect="1"/>
          </p:cNvPicPr>
          <p:nvPr/>
        </p:nvPicPr>
        <p:blipFill rotWithShape="1">
          <a:blip r:embed="rId3"/>
          <a:srcRect l="808" t="28054" r="932" b="20199"/>
          <a:stretch/>
        </p:blipFill>
        <p:spPr>
          <a:xfrm>
            <a:off x="448213" y="394385"/>
            <a:ext cx="6814590" cy="2691615"/>
          </a:xfrm>
          <a:prstGeom prst="rect">
            <a:avLst/>
          </a:prstGeom>
        </p:spPr>
      </p:pic>
      <p:pic>
        <p:nvPicPr>
          <p:cNvPr id="8" name="图片 7">
            <a:extLst>
              <a:ext uri="{FF2B5EF4-FFF2-40B4-BE49-F238E27FC236}">
                <a16:creationId xmlns:a16="http://schemas.microsoft.com/office/drawing/2014/main" id="{625D7F8E-5649-4B24-B3F3-C57C54921084}"/>
              </a:ext>
            </a:extLst>
          </p:cNvPr>
          <p:cNvPicPr>
            <a:picLocks noChangeAspect="1"/>
          </p:cNvPicPr>
          <p:nvPr/>
        </p:nvPicPr>
        <p:blipFill>
          <a:blip r:embed="rId4"/>
          <a:stretch>
            <a:fillRect/>
          </a:stretch>
        </p:blipFill>
        <p:spPr>
          <a:xfrm>
            <a:off x="2301305" y="3429000"/>
            <a:ext cx="3108405" cy="3108405"/>
          </a:xfrm>
          <a:prstGeom prst="rect">
            <a:avLst/>
          </a:prstGeom>
        </p:spPr>
      </p:pic>
      <p:pic>
        <p:nvPicPr>
          <p:cNvPr id="10" name="图片 9">
            <a:extLst>
              <a:ext uri="{FF2B5EF4-FFF2-40B4-BE49-F238E27FC236}">
                <a16:creationId xmlns:a16="http://schemas.microsoft.com/office/drawing/2014/main" id="{D218C627-0098-41D3-B46C-32DC742785E6}"/>
              </a:ext>
            </a:extLst>
          </p:cNvPr>
          <p:cNvPicPr>
            <a:picLocks noChangeAspect="1"/>
          </p:cNvPicPr>
          <p:nvPr/>
        </p:nvPicPr>
        <p:blipFill>
          <a:blip r:embed="rId5"/>
          <a:stretch>
            <a:fillRect/>
          </a:stretch>
        </p:blipFill>
        <p:spPr>
          <a:xfrm>
            <a:off x="8222167" y="392290"/>
            <a:ext cx="3573374" cy="5387419"/>
          </a:xfrm>
          <a:prstGeom prst="rect">
            <a:avLst/>
          </a:prstGeom>
        </p:spPr>
      </p:pic>
      <p:sp>
        <p:nvSpPr>
          <p:cNvPr id="11" name="文本框 10">
            <a:extLst>
              <a:ext uri="{FF2B5EF4-FFF2-40B4-BE49-F238E27FC236}">
                <a16:creationId xmlns:a16="http://schemas.microsoft.com/office/drawing/2014/main" id="{318204E0-9212-4220-8DD7-444C10354B38}"/>
              </a:ext>
            </a:extLst>
          </p:cNvPr>
          <p:cNvSpPr txBox="1"/>
          <p:nvPr/>
        </p:nvSpPr>
        <p:spPr>
          <a:xfrm>
            <a:off x="448213" y="3429000"/>
            <a:ext cx="2294987" cy="1954381"/>
          </a:xfrm>
          <a:prstGeom prst="rect">
            <a:avLst/>
          </a:prstGeom>
          <a:noFill/>
        </p:spPr>
        <p:txBody>
          <a:bodyPr wrap="square" rtlCol="0">
            <a:spAutoFit/>
          </a:bodyPr>
          <a:lstStyle/>
          <a:p>
            <a:r>
              <a:rPr lang="zh-CN" altLang="en-US" sz="2400" b="1" dirty="0">
                <a:solidFill>
                  <a:prstClr val="black"/>
                </a:solidFill>
                <a:effectLst>
                  <a:outerShdw blurRad="38100" dist="38100" dir="2700000" algn="tl">
                    <a:srgbClr val="000000">
                      <a:alpha val="43137"/>
                    </a:srgbClr>
                  </a:outerShdw>
                </a:effectLst>
              </a:rPr>
              <a:t>↑</a:t>
            </a:r>
            <a:endParaRPr lang="en-US" altLang="zh-CN" sz="2400" b="1" dirty="0">
              <a:solidFill>
                <a:prstClr val="black"/>
              </a:solidFill>
              <a:effectLst>
                <a:outerShdw blurRad="38100" dist="38100" dir="2700000" algn="tl">
                  <a:srgbClr val="000000">
                    <a:alpha val="43137"/>
                  </a:srgbClr>
                </a:outerShdw>
              </a:effectLst>
            </a:endParaRPr>
          </a:p>
          <a:p>
            <a:r>
              <a:rPr lang="zh-CN" altLang="en-US" sz="2000" b="1" dirty="0">
                <a:solidFill>
                  <a:prstClr val="black"/>
                </a:solidFill>
              </a:rPr>
              <a:t>爱马仕</a:t>
            </a:r>
            <a:r>
              <a:rPr lang="en-US" altLang="zh-CN" sz="2000" b="1" dirty="0">
                <a:solidFill>
                  <a:prstClr val="black"/>
                </a:solidFill>
              </a:rPr>
              <a:t> </a:t>
            </a:r>
            <a:r>
              <a:rPr lang="zh-CN" altLang="en-US" sz="2000" b="1" dirty="0">
                <a:solidFill>
                  <a:prstClr val="black"/>
                </a:solidFill>
              </a:rPr>
              <a:t>板砖</a:t>
            </a:r>
            <a:endParaRPr lang="en-US" altLang="zh-CN" sz="2000" b="1" dirty="0">
              <a:solidFill>
                <a:prstClr val="black"/>
              </a:solidFill>
            </a:endParaRPr>
          </a:p>
          <a:p>
            <a:endParaRPr lang="en-US" altLang="zh-CN" sz="1200" dirty="0">
              <a:solidFill>
                <a:prstClr val="black"/>
              </a:solidFill>
            </a:endParaRPr>
          </a:p>
          <a:p>
            <a:pPr>
              <a:lnSpc>
                <a:spcPct val="150000"/>
              </a:lnSpc>
            </a:pPr>
            <a:r>
              <a:rPr lang="zh-CN" altLang="en-US" sz="1200" dirty="0">
                <a:solidFill>
                  <a:prstClr val="black"/>
                </a:solidFill>
              </a:rPr>
              <a:t>特别烧制的板砖</a:t>
            </a:r>
            <a:endParaRPr lang="en-US" altLang="zh-CN" sz="1200" dirty="0">
              <a:solidFill>
                <a:prstClr val="black"/>
              </a:solidFill>
            </a:endParaRPr>
          </a:p>
          <a:p>
            <a:pPr>
              <a:lnSpc>
                <a:spcPct val="150000"/>
              </a:lnSpc>
            </a:pPr>
            <a:r>
              <a:rPr lang="zh-CN" altLang="en-US" dirty="0">
                <a:solidFill>
                  <a:srgbClr val="FFC000"/>
                </a:solidFill>
              </a:rPr>
              <a:t>作用是</a:t>
            </a:r>
            <a:r>
              <a:rPr lang="zh-CN" altLang="en-US" b="1" dirty="0">
                <a:solidFill>
                  <a:srgbClr val="FFC000"/>
                </a:solidFill>
                <a:effectLst>
                  <a:outerShdw blurRad="38100" dist="38100" dir="2700000" algn="tl">
                    <a:srgbClr val="000000">
                      <a:alpha val="43137"/>
                    </a:srgbClr>
                  </a:outerShdw>
                </a:effectLst>
              </a:rPr>
              <a:t>门挡</a:t>
            </a:r>
          </a:p>
          <a:p>
            <a:endParaRPr lang="en-US" altLang="zh-CN" sz="2000" b="1" dirty="0">
              <a:solidFill>
                <a:prstClr val="black"/>
              </a:solidFill>
            </a:endParaRPr>
          </a:p>
        </p:txBody>
      </p:sp>
      <p:sp>
        <p:nvSpPr>
          <p:cNvPr id="12" name="文本框 11">
            <a:extLst>
              <a:ext uri="{FF2B5EF4-FFF2-40B4-BE49-F238E27FC236}">
                <a16:creationId xmlns:a16="http://schemas.microsoft.com/office/drawing/2014/main" id="{6D341D75-0756-4ACF-87CB-187FB98722C9}"/>
              </a:ext>
            </a:extLst>
          </p:cNvPr>
          <p:cNvSpPr txBox="1"/>
          <p:nvPr/>
        </p:nvSpPr>
        <p:spPr>
          <a:xfrm>
            <a:off x="5210204" y="4260915"/>
            <a:ext cx="2045617" cy="1398203"/>
          </a:xfrm>
          <a:prstGeom prst="rect">
            <a:avLst/>
          </a:prstGeom>
          <a:noFill/>
        </p:spPr>
        <p:txBody>
          <a:bodyPr wrap="square" rtlCol="0">
            <a:spAutoFit/>
          </a:bodyPr>
          <a:lstStyle/>
          <a:p>
            <a:pPr>
              <a:lnSpc>
                <a:spcPct val="150000"/>
              </a:lnSpc>
            </a:pPr>
            <a:r>
              <a:rPr lang="zh-CN" altLang="en-US" sz="2400" b="1" dirty="0">
                <a:solidFill>
                  <a:prstClr val="black"/>
                </a:solidFill>
                <a:effectLst>
                  <a:outerShdw blurRad="38100" dist="38100" dir="2700000" algn="tl">
                    <a:srgbClr val="000000">
                      <a:alpha val="43137"/>
                    </a:srgbClr>
                  </a:outerShdw>
                </a:effectLst>
              </a:rPr>
              <a:t>←</a:t>
            </a:r>
            <a:endParaRPr lang="en-US" altLang="zh-CN" sz="2400" b="1" dirty="0">
              <a:solidFill>
                <a:prstClr val="black"/>
              </a:solidFill>
              <a:effectLst>
                <a:outerShdw blurRad="38100" dist="38100" dir="2700000" algn="tl">
                  <a:srgbClr val="000000">
                    <a:alpha val="43137"/>
                  </a:srgbClr>
                </a:outerShdw>
              </a:effectLst>
            </a:endParaRPr>
          </a:p>
          <a:p>
            <a:pPr>
              <a:lnSpc>
                <a:spcPct val="150000"/>
              </a:lnSpc>
            </a:pPr>
            <a:r>
              <a:rPr lang="en-US" altLang="zh-CN" sz="2000" b="1" dirty="0">
                <a:solidFill>
                  <a:prstClr val="black"/>
                </a:solidFill>
                <a:effectLst>
                  <a:outerShdw blurRad="38100" dist="38100" dir="2700000" algn="tl">
                    <a:srgbClr val="000000">
                      <a:alpha val="43137"/>
                    </a:srgbClr>
                  </a:outerShdw>
                </a:effectLst>
              </a:rPr>
              <a:t>Supreme </a:t>
            </a:r>
            <a:r>
              <a:rPr lang="zh-CN" altLang="en-US" sz="2000" b="1" dirty="0">
                <a:solidFill>
                  <a:prstClr val="black"/>
                </a:solidFill>
                <a:effectLst>
                  <a:outerShdw blurRad="38100" dist="38100" dir="2700000" algn="tl">
                    <a:srgbClr val="000000">
                      <a:alpha val="43137"/>
                    </a:srgbClr>
                  </a:outerShdw>
                </a:effectLst>
              </a:rPr>
              <a:t>方便面 </a:t>
            </a:r>
            <a:r>
              <a:rPr lang="zh-CN" altLang="en-US" sz="1400" dirty="0">
                <a:solidFill>
                  <a:prstClr val="black"/>
                </a:solidFill>
              </a:rPr>
              <a:t>典藏级口味</a:t>
            </a:r>
          </a:p>
        </p:txBody>
      </p:sp>
      <p:sp>
        <p:nvSpPr>
          <p:cNvPr id="13" name="文本框 12">
            <a:extLst>
              <a:ext uri="{FF2B5EF4-FFF2-40B4-BE49-F238E27FC236}">
                <a16:creationId xmlns:a16="http://schemas.microsoft.com/office/drawing/2014/main" id="{F0EE247E-ADC9-470E-B764-A18F51EF5CA2}"/>
              </a:ext>
            </a:extLst>
          </p:cNvPr>
          <p:cNvSpPr txBox="1"/>
          <p:nvPr/>
        </p:nvSpPr>
        <p:spPr>
          <a:xfrm>
            <a:off x="8849644" y="5947564"/>
            <a:ext cx="2630078" cy="589841"/>
          </a:xfrm>
          <a:prstGeom prst="rect">
            <a:avLst/>
          </a:prstGeom>
          <a:noFill/>
        </p:spPr>
        <p:txBody>
          <a:bodyPr wrap="square" rtlCol="0">
            <a:spAutoFit/>
          </a:bodyPr>
          <a:lstStyle/>
          <a:p>
            <a:pPr>
              <a:lnSpc>
                <a:spcPct val="150000"/>
              </a:lnSpc>
            </a:pPr>
            <a:r>
              <a:rPr lang="zh-CN" altLang="en-US" sz="2400" b="1" dirty="0">
                <a:solidFill>
                  <a:prstClr val="black"/>
                </a:solidFill>
                <a:effectLst>
                  <a:outerShdw blurRad="38100" dist="38100" dir="2700000" algn="tl">
                    <a:srgbClr val="000000">
                      <a:alpha val="43137"/>
                    </a:srgbClr>
                  </a:outerShdw>
                </a:effectLst>
              </a:rPr>
              <a:t>↑</a:t>
            </a:r>
            <a:r>
              <a:rPr lang="en-US" altLang="zh-CN" sz="2400" b="1" dirty="0">
                <a:solidFill>
                  <a:prstClr val="black"/>
                </a:solidFill>
                <a:effectLst>
                  <a:outerShdw blurRad="38100" dist="38100" dir="2700000" algn="tl">
                    <a:srgbClr val="000000">
                      <a:alpha val="43137"/>
                    </a:srgbClr>
                  </a:outerShdw>
                </a:effectLst>
              </a:rPr>
              <a:t>  </a:t>
            </a:r>
            <a:r>
              <a:rPr lang="zh-CN" altLang="en-US" sz="2000" b="1" dirty="0">
                <a:solidFill>
                  <a:prstClr val="black"/>
                </a:solidFill>
                <a:effectLst>
                  <a:outerShdw blurRad="38100" dist="38100" dir="2700000" algn="tl">
                    <a:srgbClr val="000000">
                      <a:alpha val="43137"/>
                    </a:srgbClr>
                  </a:outerShdw>
                </a:effectLst>
              </a:rPr>
              <a:t>克罗心 捕鼠夹</a:t>
            </a:r>
          </a:p>
        </p:txBody>
      </p:sp>
    </p:spTree>
    <p:extLst>
      <p:ext uri="{BB962C8B-B14F-4D97-AF65-F5344CB8AC3E}">
        <p14:creationId xmlns:p14="http://schemas.microsoft.com/office/powerpoint/2010/main" val="728799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gn="ctr">
              <a:buNone/>
            </a:pPr>
            <a:r>
              <a:rPr lang="zh-CN" altLang="en-US" sz="4800" dirty="0"/>
              <a:t>什么是消费</a:t>
            </a:r>
            <a:endParaRPr lang="en-US" altLang="zh-CN" sz="4800" dirty="0"/>
          </a:p>
          <a:p>
            <a:pPr marL="0" indent="0" algn="ctr">
              <a:buNone/>
            </a:pPr>
            <a:r>
              <a:rPr lang="zh-CN" altLang="en-US" sz="4800" dirty="0"/>
              <a:t>我们可以通过消费得到什么？</a:t>
            </a:r>
            <a:endParaRPr lang="en-US" altLang="zh-CN" sz="4800" dirty="0"/>
          </a:p>
          <a:p>
            <a:pPr marL="0" indent="0" algn="ctr">
              <a:buNone/>
            </a:pPr>
            <a:r>
              <a:rPr lang="zh-CN" altLang="en-US" sz="4800" dirty="0"/>
              <a:t>消费的核心目的是什么</a:t>
            </a:r>
            <a:endParaRPr lang="en-US" altLang="zh-CN" sz="4800" dirty="0"/>
          </a:p>
          <a:p>
            <a:endParaRPr lang="en-US" altLang="zh-CN" dirty="0"/>
          </a:p>
          <a:p>
            <a:endParaRPr lang="en-US" altLang="zh-CN" dirty="0"/>
          </a:p>
        </p:txBody>
      </p:sp>
    </p:spTree>
    <p:extLst>
      <p:ext uri="{BB962C8B-B14F-4D97-AF65-F5344CB8AC3E}">
        <p14:creationId xmlns:p14="http://schemas.microsoft.com/office/powerpoint/2010/main" val="3040846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30E711-9BB1-E280-AC62-3A4D6B11CB1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BC212D6-2071-A3F3-4925-8B6C92DD3557}"/>
              </a:ext>
            </a:extLst>
          </p:cNvPr>
          <p:cNvSpPr>
            <a:spLocks noGrp="1"/>
          </p:cNvSpPr>
          <p:nvPr>
            <p:ph idx="1"/>
          </p:nvPr>
        </p:nvSpPr>
        <p:spPr/>
        <p:txBody>
          <a:bodyPr/>
          <a:lstStyle/>
          <a:p>
            <a:r>
              <a:rPr lang="zh-CN" altLang="en-US" dirty="0"/>
              <a:t>思想形态：</a:t>
            </a:r>
            <a:endParaRPr lang="en-US" altLang="zh-CN" dirty="0"/>
          </a:p>
          <a:p>
            <a:r>
              <a:rPr lang="zh-CN" altLang="en-US" dirty="0"/>
              <a:t>社会方面：工业化</a:t>
            </a:r>
            <a:r>
              <a:rPr lang="en-US" altLang="zh-CN" dirty="0"/>
              <a:t>-</a:t>
            </a:r>
            <a:r>
              <a:rPr lang="zh-CN" altLang="en-US" dirty="0"/>
              <a:t>分离</a:t>
            </a:r>
            <a:endParaRPr lang="en-US" altLang="zh-CN" dirty="0"/>
          </a:p>
          <a:p>
            <a:r>
              <a:rPr lang="zh-CN" altLang="en-US" dirty="0"/>
              <a:t>政治制度：民主</a:t>
            </a:r>
            <a:r>
              <a:rPr lang="en-US" altLang="zh-CN" dirty="0"/>
              <a:t>-</a:t>
            </a:r>
            <a:r>
              <a:rPr lang="zh-CN" altLang="en-US" dirty="0"/>
              <a:t>平等</a:t>
            </a:r>
            <a:r>
              <a:rPr lang="en-US" altLang="zh-CN" dirty="0"/>
              <a:t>-</a:t>
            </a:r>
            <a:r>
              <a:rPr lang="zh-CN" altLang="en-US" dirty="0"/>
              <a:t>区隔需求</a:t>
            </a:r>
            <a:endParaRPr lang="en-US" altLang="zh-CN" dirty="0"/>
          </a:p>
          <a:p>
            <a:r>
              <a:rPr lang="zh-CN" altLang="en-US" dirty="0"/>
              <a:t>社会文化：</a:t>
            </a:r>
            <a:endParaRPr lang="en-US" altLang="zh-CN" dirty="0"/>
          </a:p>
          <a:p>
            <a:endParaRPr lang="zh-CN" altLang="en-US" dirty="0"/>
          </a:p>
        </p:txBody>
      </p:sp>
    </p:spTree>
    <p:extLst>
      <p:ext uri="{BB962C8B-B14F-4D97-AF65-F5344CB8AC3E}">
        <p14:creationId xmlns:p14="http://schemas.microsoft.com/office/powerpoint/2010/main" val="4281265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0EB407-CAA5-7B34-353D-EB6555914A2C}"/>
              </a:ext>
            </a:extLst>
          </p:cNvPr>
          <p:cNvSpPr>
            <a:spLocks noGrp="1"/>
          </p:cNvSpPr>
          <p:nvPr>
            <p:ph type="title"/>
          </p:nvPr>
        </p:nvSpPr>
        <p:spPr/>
        <p:txBody>
          <a:bodyPr/>
          <a:lstStyle/>
          <a:p>
            <a:r>
              <a:rPr lang="zh-CN" altLang="en-US" dirty="0"/>
              <a:t>本此课程解释清楚的主要问题</a:t>
            </a:r>
          </a:p>
        </p:txBody>
      </p:sp>
      <p:sp>
        <p:nvSpPr>
          <p:cNvPr id="3" name="内容占位符 2">
            <a:extLst>
              <a:ext uri="{FF2B5EF4-FFF2-40B4-BE49-F238E27FC236}">
                <a16:creationId xmlns:a16="http://schemas.microsoft.com/office/drawing/2014/main" id="{062526B5-1887-2CF6-C917-6B3DC14DA9D3}"/>
              </a:ext>
            </a:extLst>
          </p:cNvPr>
          <p:cNvSpPr>
            <a:spLocks noGrp="1"/>
          </p:cNvSpPr>
          <p:nvPr>
            <p:ph idx="1"/>
          </p:nvPr>
        </p:nvSpPr>
        <p:spPr/>
        <p:txBody>
          <a:bodyPr>
            <a:normAutofit/>
          </a:bodyPr>
          <a:lstStyle/>
          <a:p>
            <a:r>
              <a:rPr lang="zh-CN" altLang="en-US" dirty="0"/>
              <a:t>商品的诞生</a:t>
            </a:r>
            <a:r>
              <a:rPr lang="en-US" altLang="zh-CN" dirty="0"/>
              <a:t>\</a:t>
            </a:r>
            <a:r>
              <a:rPr lang="zh-CN" altLang="en-US" dirty="0"/>
              <a:t>市场的交换</a:t>
            </a:r>
            <a:r>
              <a:rPr lang="en-US" altLang="zh-CN" dirty="0"/>
              <a:t>\</a:t>
            </a:r>
            <a:r>
              <a:rPr lang="zh-CN" altLang="en-US" dirty="0"/>
              <a:t>人的不自足和不完整</a:t>
            </a:r>
            <a:endParaRPr lang="en-US" altLang="zh-CN" dirty="0"/>
          </a:p>
          <a:p>
            <a:r>
              <a:rPr lang="zh-CN" altLang="en-US" dirty="0"/>
              <a:t>需求的满足和自我认同的建构</a:t>
            </a:r>
            <a:endParaRPr lang="en-US" altLang="zh-CN" dirty="0"/>
          </a:p>
          <a:p>
            <a:r>
              <a:rPr lang="zh-CN" altLang="en-US" dirty="0"/>
              <a:t>满足欲望</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2573055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239EF-9FDA-7D98-711E-9FB8FA39BB8A}"/>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ACDF4B2A-0496-D7A1-B6B2-84D094C3F8BF}"/>
              </a:ext>
            </a:extLst>
          </p:cNvPr>
          <p:cNvSpPr>
            <a:spLocks noGrp="1"/>
          </p:cNvSpPr>
          <p:nvPr>
            <p:ph idx="1"/>
          </p:nvPr>
        </p:nvSpPr>
        <p:spPr/>
        <p:txBody>
          <a:bodyPr/>
          <a:lstStyle/>
          <a:p>
            <a:endParaRPr lang="en-US" altLang="zh-CN" dirty="0"/>
          </a:p>
          <a:p>
            <a:r>
              <a:rPr lang="zh-CN" altLang="en-US" dirty="0"/>
              <a:t>物品的商品化</a:t>
            </a:r>
            <a:endParaRPr lang="en-US" altLang="zh-CN" dirty="0"/>
          </a:p>
          <a:p>
            <a:r>
              <a:rPr lang="zh-CN" altLang="en-US" dirty="0"/>
              <a:t>商品是依托于劳动价值的变现实现</a:t>
            </a:r>
            <a:endParaRPr lang="en-US" altLang="zh-CN" dirty="0"/>
          </a:p>
          <a:p>
            <a:r>
              <a:rPr lang="zh-CN" altLang="en-US" dirty="0"/>
              <a:t>劳动被进行细化和分工</a:t>
            </a:r>
            <a:endParaRPr lang="en-US" altLang="zh-CN" dirty="0"/>
          </a:p>
          <a:p>
            <a:r>
              <a:rPr lang="zh-CN" altLang="en-US" dirty="0"/>
              <a:t>人脱离生存环境而存在</a:t>
            </a:r>
            <a:endParaRPr lang="en-US" altLang="zh-CN" dirty="0"/>
          </a:p>
          <a:p>
            <a:endParaRPr lang="zh-CN" altLang="en-US" dirty="0"/>
          </a:p>
        </p:txBody>
      </p:sp>
    </p:spTree>
    <p:extLst>
      <p:ext uri="{BB962C8B-B14F-4D97-AF65-F5344CB8AC3E}">
        <p14:creationId xmlns:p14="http://schemas.microsoft.com/office/powerpoint/2010/main" val="1876776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ross 19"/>
          <p:cNvSpPr/>
          <p:nvPr/>
        </p:nvSpPr>
        <p:spPr>
          <a:xfrm>
            <a:off x="4264418" y="840921"/>
            <a:ext cx="279400" cy="279400"/>
          </a:xfrm>
          <a:prstGeom prst="plus">
            <a:avLst>
              <a:gd name="adj" fmla="val 42088"/>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6" name="Straight Connector 15"/>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12278" y="6317571"/>
            <a:ext cx="524503" cy="230832"/>
          </a:xfrm>
          <a:prstGeom prst="rect">
            <a:avLst/>
          </a:prstGeom>
          <a:noFill/>
        </p:spPr>
        <p:txBody>
          <a:bodyPr wrap="none" rtlCol="0">
            <a:spAutoFit/>
          </a:bodyPr>
          <a:lstStyle/>
          <a:p>
            <a:r>
              <a:rPr lang="en-US" sz="900" dirty="0">
                <a:solidFill>
                  <a:prstClr val="black">
                    <a:lumMod val="85000"/>
                    <a:lumOff val="15000"/>
                  </a:prstClr>
                </a:solidFill>
                <a:latin typeface="Cormorant Garamond Light" charset="0"/>
                <a:ea typeface="Cormorant Garamond Light" charset="0"/>
                <a:cs typeface="Cormorant Garamond Light" charset="0"/>
              </a:rPr>
              <a:t>slide : </a:t>
            </a:r>
            <a:fld id="{62AEC829-9D8B-B04A-97F2-7EA009EEF72F}" type="slidenum">
              <a:rPr lang="en-US" sz="900" b="1">
                <a:solidFill>
                  <a:prstClr val="black"/>
                </a:solidFill>
                <a:latin typeface="Cormorant Garamond" charset="0"/>
                <a:ea typeface="Cormorant Garamond" charset="0"/>
                <a:cs typeface="Cormorant Garamond" charset="0"/>
              </a:rPr>
              <a:pPr/>
              <a:t>25</a:t>
            </a:fld>
            <a:endParaRPr lang="en-US" sz="900" b="1" dirty="0">
              <a:solidFill>
                <a:prstClr val="black"/>
              </a:solidFill>
              <a:latin typeface="Cormorant Garamond" charset="0"/>
              <a:ea typeface="Cormorant Garamond" charset="0"/>
              <a:cs typeface="Cormorant Garamond" charset="0"/>
            </a:endParaRPr>
          </a:p>
        </p:txBody>
      </p:sp>
      <p:sp>
        <p:nvSpPr>
          <p:cNvPr id="26" name="TextBox 25"/>
          <p:cNvSpPr txBox="1"/>
          <p:nvPr/>
        </p:nvSpPr>
        <p:spPr>
          <a:xfrm rot="16200000">
            <a:off x="8724353" y="2055356"/>
            <a:ext cx="4403770" cy="769441"/>
          </a:xfrm>
          <a:prstGeom prst="rect">
            <a:avLst/>
          </a:prstGeom>
          <a:noFill/>
        </p:spPr>
        <p:txBody>
          <a:bodyPr wrap="none" rtlCol="0">
            <a:spAutoFit/>
          </a:bodyPr>
          <a:lstStyle/>
          <a:p>
            <a:pPr algn="ctr"/>
            <a:r>
              <a:rPr lang="zh-CN" altLang="en-US" sz="4400" b="1" spc="300" dirty="0">
                <a:solidFill>
                  <a:prstClr val="white"/>
                </a:solidFill>
                <a:latin typeface="Montserrat Semi" charset="0"/>
                <a:ea typeface="Montserrat Light" charset="0"/>
                <a:cs typeface="Montserrat Light" charset="0"/>
              </a:rPr>
              <a:t>现代社会的降临</a:t>
            </a:r>
            <a:endParaRPr lang="en-US" sz="4400" spc="300" dirty="0">
              <a:solidFill>
                <a:prstClr val="white"/>
              </a:solidFill>
              <a:latin typeface="Montserrat Light" charset="0"/>
              <a:ea typeface="Montserrat Light" charset="0"/>
              <a:cs typeface="Montserrat Light" charset="0"/>
            </a:endParaRPr>
          </a:p>
        </p:txBody>
      </p:sp>
      <p:pic>
        <p:nvPicPr>
          <p:cNvPr id="4" name="图片占位符 3"/>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21848" b="21848"/>
          <a:stretch>
            <a:fillRect/>
          </a:stretch>
        </p:blipFill>
        <p:spPr/>
      </p:pic>
      <p:sp>
        <p:nvSpPr>
          <p:cNvPr id="5" name="圆角矩形 4"/>
          <p:cNvSpPr/>
          <p:nvPr/>
        </p:nvSpPr>
        <p:spPr>
          <a:xfrm>
            <a:off x="8570563" y="6168325"/>
            <a:ext cx="3487118" cy="689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t>现代社会的降临</a:t>
            </a:r>
          </a:p>
        </p:txBody>
      </p:sp>
    </p:spTree>
    <p:extLst>
      <p:ext uri="{BB962C8B-B14F-4D97-AF65-F5344CB8AC3E}">
        <p14:creationId xmlns:p14="http://schemas.microsoft.com/office/powerpoint/2010/main" val="203123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现代社会思想转变形式</a:t>
            </a:r>
          </a:p>
        </p:txBody>
      </p:sp>
      <p:sp>
        <p:nvSpPr>
          <p:cNvPr id="3" name="内容占位符 2"/>
          <p:cNvSpPr>
            <a:spLocks noGrp="1"/>
          </p:cNvSpPr>
          <p:nvPr>
            <p:ph idx="1"/>
          </p:nvPr>
        </p:nvSpPr>
        <p:spPr/>
        <p:txBody>
          <a:bodyPr/>
          <a:lstStyle/>
          <a:p>
            <a:endParaRPr lang="en-US" altLang="zh-CN" dirty="0"/>
          </a:p>
          <a:p>
            <a:r>
              <a:rPr lang="zh-CN" altLang="en-US" dirty="0"/>
              <a:t>人与自然的分离</a:t>
            </a:r>
            <a:endParaRPr lang="en-US" altLang="zh-CN" dirty="0"/>
          </a:p>
          <a:p>
            <a:r>
              <a:rPr lang="zh-CN" altLang="en-US" dirty="0"/>
              <a:t>主客之间的二元分裂</a:t>
            </a:r>
            <a:r>
              <a:rPr lang="en-US" altLang="zh-CN" sz="1600" dirty="0"/>
              <a:t>(</a:t>
            </a:r>
            <a:r>
              <a:rPr lang="zh-CN" altLang="en-US" sz="1600" dirty="0"/>
              <a:t>认识、征服、掌握</a:t>
            </a:r>
            <a:r>
              <a:rPr lang="en-US" altLang="zh-CN" sz="1600" dirty="0"/>
              <a:t>)</a:t>
            </a:r>
          </a:p>
          <a:p>
            <a:r>
              <a:rPr lang="zh-CN" altLang="en-US" dirty="0"/>
              <a:t>世界的祛魅</a:t>
            </a:r>
            <a:r>
              <a:rPr lang="zh-CN" altLang="en-US" sz="1600" dirty="0"/>
              <a:t>（个人与超验世界的脱离）</a:t>
            </a:r>
            <a:endParaRPr lang="en-US" altLang="zh-CN" sz="1600" dirty="0"/>
          </a:p>
          <a:p>
            <a:r>
              <a:rPr lang="zh-CN" altLang="en-US" dirty="0"/>
              <a:t>世界服务于工具理性的生产资料，积累财富的私有化工具</a:t>
            </a:r>
            <a:endParaRPr lang="en-US" altLang="zh-CN" dirty="0"/>
          </a:p>
          <a:p>
            <a:r>
              <a:rPr lang="zh-CN" altLang="en-US" dirty="0"/>
              <a:t>人类中心主义的转向</a:t>
            </a:r>
            <a:r>
              <a:rPr lang="zh-CN" altLang="en-US" sz="1600" dirty="0">
                <a:solidFill>
                  <a:srgbClr val="C00000"/>
                </a:solidFill>
              </a:rPr>
              <a:t>（</a:t>
            </a:r>
            <a:r>
              <a:rPr lang="en-US" altLang="zh-CN" sz="1600" dirty="0">
                <a:solidFill>
                  <a:srgbClr val="C00000"/>
                </a:solidFill>
              </a:rPr>
              <a:t>《</a:t>
            </a:r>
            <a:r>
              <a:rPr lang="zh-CN" altLang="en-US" sz="1600" dirty="0">
                <a:solidFill>
                  <a:srgbClr val="C00000"/>
                </a:solidFill>
              </a:rPr>
              <a:t>红与黑</a:t>
            </a:r>
            <a:r>
              <a:rPr lang="en-US" altLang="zh-CN" sz="1600" dirty="0">
                <a:solidFill>
                  <a:srgbClr val="C00000"/>
                </a:solidFill>
              </a:rPr>
              <a:t>》</a:t>
            </a:r>
            <a:r>
              <a:rPr lang="en-US" altLang="zh-CN" sz="1800" dirty="0">
                <a:solidFill>
                  <a:srgbClr val="C00000"/>
                </a:solidFill>
              </a:rPr>
              <a:t>《</a:t>
            </a:r>
            <a:r>
              <a:rPr lang="zh-CN" altLang="en-US" sz="1800" dirty="0">
                <a:solidFill>
                  <a:srgbClr val="C00000"/>
                </a:solidFill>
              </a:rPr>
              <a:t>卡拉玛佐夫兄弟</a:t>
            </a:r>
            <a:r>
              <a:rPr lang="en-US" altLang="zh-CN" sz="1800" dirty="0">
                <a:solidFill>
                  <a:srgbClr val="C00000"/>
                </a:solidFill>
              </a:rPr>
              <a:t>》</a:t>
            </a:r>
            <a:r>
              <a:rPr lang="zh-CN" altLang="en-US" sz="1800" dirty="0">
                <a:solidFill>
                  <a:srgbClr val="C00000"/>
                </a:solidFill>
              </a:rPr>
              <a:t>、</a:t>
            </a:r>
            <a:r>
              <a:rPr lang="en-US" altLang="zh-CN" sz="1800" dirty="0">
                <a:solidFill>
                  <a:srgbClr val="C00000"/>
                </a:solidFill>
              </a:rPr>
              <a:t>《</a:t>
            </a:r>
            <a:r>
              <a:rPr lang="zh-CN" altLang="en-US" sz="1800" dirty="0">
                <a:solidFill>
                  <a:srgbClr val="C00000"/>
                </a:solidFill>
              </a:rPr>
              <a:t>罪与罚</a:t>
            </a:r>
            <a:r>
              <a:rPr lang="en-US" altLang="zh-CN" sz="1800" dirty="0">
                <a:solidFill>
                  <a:srgbClr val="C00000"/>
                </a:solidFill>
              </a:rPr>
              <a:t>》</a:t>
            </a:r>
            <a:r>
              <a:rPr lang="zh-CN" altLang="en-US" sz="1800" dirty="0">
                <a:solidFill>
                  <a:srgbClr val="C00000"/>
                </a:solidFill>
              </a:rPr>
              <a:t>）</a:t>
            </a:r>
          </a:p>
        </p:txBody>
      </p:sp>
    </p:spTree>
    <p:extLst>
      <p:ext uri="{BB962C8B-B14F-4D97-AF65-F5344CB8AC3E}">
        <p14:creationId xmlns:p14="http://schemas.microsoft.com/office/powerpoint/2010/main" val="788728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p:cNvPicPr>
          <p:nvPr>
            <p:ph idx="1"/>
          </p:nvPr>
        </p:nvPicPr>
        <p:blipFill>
          <a:blip r:embed="rId2"/>
          <a:stretch>
            <a:fillRect/>
          </a:stretch>
        </p:blipFill>
        <p:spPr>
          <a:xfrm>
            <a:off x="0" y="18106"/>
            <a:ext cx="12192000" cy="6858000"/>
          </a:xfrm>
          <a:prstGeom prst="rect">
            <a:avLst/>
          </a:prstGeom>
        </p:spPr>
      </p:pic>
    </p:spTree>
    <p:extLst>
      <p:ext uri="{BB962C8B-B14F-4D97-AF65-F5344CB8AC3E}">
        <p14:creationId xmlns:p14="http://schemas.microsoft.com/office/powerpoint/2010/main" val="520676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en-US" altLang="zh-CN" dirty="0"/>
          </a:p>
          <a:p>
            <a:r>
              <a:rPr lang="zh-CN" altLang="en-US" dirty="0"/>
              <a:t>资本主义兴起：工业化、商业化、城市化</a:t>
            </a:r>
            <a:endParaRPr lang="en-US" altLang="zh-CN" dirty="0"/>
          </a:p>
          <a:p>
            <a:r>
              <a:rPr lang="zh-CN" altLang="en-US" dirty="0"/>
              <a:t>资本和生产的通路：生产资料、人的流动，进入陌生人社会</a:t>
            </a:r>
            <a:endParaRPr lang="en-US" altLang="zh-CN" dirty="0"/>
          </a:p>
          <a:p>
            <a:r>
              <a:rPr lang="zh-CN" altLang="en-US" dirty="0"/>
              <a:t>政治制度上，人民主权和民主意识的兴起</a:t>
            </a:r>
            <a:endParaRPr lang="en-US" altLang="zh-CN" dirty="0"/>
          </a:p>
          <a:p>
            <a:r>
              <a:rPr lang="zh-CN" altLang="en-US" dirty="0"/>
              <a:t>文化领域上，个人主义的兴起带来了权利意识和个人自由</a:t>
            </a:r>
          </a:p>
        </p:txBody>
      </p:sp>
    </p:spTree>
    <p:extLst>
      <p:ext uri="{BB962C8B-B14F-4D97-AF65-F5344CB8AC3E}">
        <p14:creationId xmlns:p14="http://schemas.microsoft.com/office/powerpoint/2010/main" val="862724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消费</a:t>
            </a:r>
            <a:r>
              <a:rPr lang="zh-CN" altLang="en-US" kern="100" dirty="0">
                <a:latin typeface="Calibri" panose="020F0502020204030204" pitchFamily="34" charset="0"/>
                <a:cs typeface="Times New Roman" panose="02020603050405020304" pitchFamily="18" charset="0"/>
              </a:rPr>
              <a:t>社会的发展</a:t>
            </a:r>
            <a:r>
              <a:rPr lang="zh-CN" altLang="en-US" sz="2400" kern="100" dirty="0">
                <a:latin typeface="Calibri" panose="020F0502020204030204" pitchFamily="34" charset="0"/>
                <a:cs typeface="Times New Roman" panose="02020603050405020304" pitchFamily="18" charset="0"/>
              </a:rPr>
              <a:t>（现代社会</a:t>
            </a:r>
            <a:r>
              <a:rPr lang="en-US" altLang="zh-CN" sz="2400" kern="100" dirty="0">
                <a:latin typeface="Calibri" panose="020F0502020204030204" pitchFamily="34" charset="0"/>
                <a:cs typeface="Times New Roman" panose="02020603050405020304" pitchFamily="18" charset="0"/>
              </a:rPr>
              <a:t>-</a:t>
            </a:r>
            <a:r>
              <a:rPr lang="zh-CN" altLang="en-US" sz="2400" kern="100" dirty="0">
                <a:latin typeface="Calibri" panose="020F0502020204030204" pitchFamily="34" charset="0"/>
                <a:cs typeface="Times New Roman" panose="02020603050405020304" pitchFamily="18" charset="0"/>
              </a:rPr>
              <a:t>大都市兴起）</a:t>
            </a:r>
            <a:br>
              <a:rPr lang="en-US" altLang="zh-CN" sz="2400" kern="100" dirty="0">
                <a:latin typeface="Calibri" panose="020F0502020204030204" pitchFamily="34" charset="0"/>
                <a:cs typeface="Times New Roman" panose="02020603050405020304" pitchFamily="18" charset="0"/>
              </a:rPr>
            </a:br>
            <a:r>
              <a:rPr lang="en-US" altLang="zh-CN" sz="2400" kern="100" dirty="0">
                <a:latin typeface="Calibri" panose="020F0502020204030204" pitchFamily="34" charset="0"/>
                <a:cs typeface="Times New Roman" panose="02020603050405020304" pitchFamily="18" charset="0"/>
              </a:rPr>
              <a:t>     </a:t>
            </a:r>
            <a:r>
              <a:rPr lang="zh-CN" altLang="en-US" sz="2400" kern="100" dirty="0">
                <a:latin typeface="Calibri" panose="020F0502020204030204" pitchFamily="34" charset="0"/>
                <a:cs typeface="Times New Roman" panose="02020603050405020304" pitchFamily="18" charset="0"/>
              </a:rPr>
              <a:t>阶级区隔和夸饰性行为</a:t>
            </a:r>
            <a:endParaRPr lang="zh-CN" altLang="en-US" sz="2400" dirty="0"/>
          </a:p>
        </p:txBody>
      </p:sp>
      <p:sp>
        <p:nvSpPr>
          <p:cNvPr id="3" name="内容占位符 2"/>
          <p:cNvSpPr>
            <a:spLocks noGrp="1"/>
          </p:cNvSpPr>
          <p:nvPr>
            <p:ph idx="1"/>
          </p:nvPr>
        </p:nvSpPr>
        <p:spPr>
          <a:xfrm>
            <a:off x="506083" y="1825625"/>
            <a:ext cx="11260347" cy="4351338"/>
          </a:xfrm>
        </p:spPr>
        <p:txBody>
          <a:bodyPr>
            <a:normAutofit/>
          </a:bodyPr>
          <a:lstStyle/>
          <a:p>
            <a:pPr algn="just">
              <a:spcAft>
                <a:spcPts val="0"/>
              </a:spcAft>
            </a:pPr>
            <a:r>
              <a:rPr lang="zh-CN" altLang="zh-CN" sz="2400" kern="100" dirty="0">
                <a:latin typeface="Calibri" panose="020F0502020204030204" pitchFamily="34" charset="0"/>
                <a:cs typeface="Times New Roman" panose="02020603050405020304" pitchFamily="18" charset="0"/>
              </a:rPr>
              <a:t>古典的阶级出身差异因民主制度的推广被消弭后，消费成为了人们进阶与标榜差异性的一种方式</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zh-CN" sz="2400" kern="100" dirty="0">
                <a:latin typeface="Calibri" panose="020F0502020204030204" pitchFamily="34" charset="0"/>
                <a:cs typeface="Times New Roman" panose="02020603050405020304" pitchFamily="18" charset="0"/>
              </a:rPr>
              <a:t>大都会的出现促成了消费</a:t>
            </a:r>
            <a:r>
              <a:rPr lang="zh-CN" altLang="en-US" sz="2400" kern="100" dirty="0">
                <a:latin typeface="Calibri" panose="020F0502020204030204" pitchFamily="34" charset="0"/>
                <a:cs typeface="Times New Roman" panose="02020603050405020304" pitchFamily="18" charset="0"/>
              </a:rPr>
              <a:t>可以成为生活方式</a:t>
            </a:r>
            <a:endParaRPr lang="zh-CN" altLang="zh-CN" sz="2400" kern="100" dirty="0">
              <a:latin typeface="Calibri" panose="020F0502020204030204" pitchFamily="34" charset="0"/>
              <a:cs typeface="Times New Roman" panose="02020603050405020304" pitchFamily="18" charset="0"/>
            </a:endParaRPr>
          </a:p>
          <a:p>
            <a:pPr algn="just">
              <a:spcAft>
                <a:spcPts val="0"/>
              </a:spcAft>
            </a:pPr>
            <a:r>
              <a:rPr lang="zh-CN" altLang="zh-CN" sz="2400" kern="100" dirty="0">
                <a:latin typeface="Calibri" panose="020F0502020204030204" pitchFamily="34" charset="0"/>
                <a:cs typeface="Times New Roman" panose="02020603050405020304" pitchFamily="18" charset="0"/>
              </a:rPr>
              <a:t>家庭在</a:t>
            </a:r>
            <a:r>
              <a:rPr lang="zh-CN" altLang="en-US" sz="2400" kern="100" dirty="0">
                <a:latin typeface="Calibri" panose="020F0502020204030204" pitchFamily="34" charset="0"/>
                <a:cs typeface="Times New Roman" panose="02020603050405020304" pitchFamily="18" charset="0"/>
              </a:rPr>
              <a:t>该</a:t>
            </a:r>
            <a:r>
              <a:rPr lang="zh-CN" altLang="zh-CN" sz="2400" kern="100" dirty="0">
                <a:latin typeface="Calibri" panose="020F0502020204030204" pitchFamily="34" charset="0"/>
                <a:cs typeface="Times New Roman" panose="02020603050405020304" pitchFamily="18" charset="0"/>
              </a:rPr>
              <a:t>时期的分工是明确的，丈夫职业决定收入及社会地位，妻子负责家中的消费用以彰显家庭的经济能力与生活品质</a:t>
            </a:r>
          </a:p>
        </p:txBody>
      </p:sp>
    </p:spTree>
    <p:extLst>
      <p:ext uri="{BB962C8B-B14F-4D97-AF65-F5344CB8AC3E}">
        <p14:creationId xmlns:p14="http://schemas.microsoft.com/office/powerpoint/2010/main" val="4166276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latin typeface="Calibri" panose="020F0502020204030204" pitchFamily="34" charset="0"/>
                <a:cs typeface="Times New Roman" panose="02020603050405020304" pitchFamily="18" charset="0"/>
              </a:rPr>
              <a:t>福特主义</a:t>
            </a:r>
            <a:r>
              <a:rPr lang="zh-CN" altLang="en-US" kern="100" dirty="0">
                <a:latin typeface="Calibri" panose="020F0502020204030204" pitchFamily="34" charset="0"/>
                <a:cs typeface="Times New Roman" panose="02020603050405020304" pitchFamily="18" charset="0"/>
              </a:rPr>
              <a:t>：大众消费兴起</a:t>
            </a:r>
            <a:endParaRPr lang="zh-CN" altLang="en-US" dirty="0"/>
          </a:p>
        </p:txBody>
      </p:sp>
      <p:sp>
        <p:nvSpPr>
          <p:cNvPr id="3" name="内容占位符 2"/>
          <p:cNvSpPr>
            <a:spLocks noGrp="1"/>
          </p:cNvSpPr>
          <p:nvPr>
            <p:ph idx="1"/>
          </p:nvPr>
        </p:nvSpPr>
        <p:spPr>
          <a:xfrm>
            <a:off x="838199" y="1825625"/>
            <a:ext cx="10830791" cy="4351338"/>
          </a:xfrm>
        </p:spPr>
        <p:txBody>
          <a:bodyPr/>
          <a:lstStyle/>
          <a:p>
            <a:pPr algn="just">
              <a:spcAft>
                <a:spcPts val="0"/>
              </a:spcAft>
            </a:pPr>
            <a:r>
              <a:rPr lang="zh-CN" altLang="zh-CN" sz="2400" kern="100" dirty="0">
                <a:latin typeface="Calibri" panose="020F0502020204030204" pitchFamily="34" charset="0"/>
                <a:cs typeface="Times New Roman" panose="02020603050405020304" pitchFamily="18" charset="0"/>
              </a:rPr>
              <a:t>福特主义的出现，开始了劳工阶层的职业分工</a:t>
            </a:r>
            <a:r>
              <a:rPr lang="zh-CN" altLang="zh-CN" sz="2400" kern="100" dirty="0">
                <a:solidFill>
                  <a:srgbClr val="FF0000"/>
                </a:solidFill>
                <a:latin typeface="Calibri" panose="020F0502020204030204" pitchFamily="34" charset="0"/>
                <a:cs typeface="Times New Roman" panose="02020603050405020304" pitchFamily="18" charset="0"/>
              </a:rPr>
              <a:t>（</a:t>
            </a:r>
            <a:r>
              <a:rPr lang="zh-CN" altLang="en-US" sz="2400" kern="100" dirty="0">
                <a:solidFill>
                  <a:srgbClr val="FF0000"/>
                </a:solidFill>
                <a:latin typeface="Calibri" panose="020F0502020204030204" pitchFamily="34" charset="0"/>
                <a:cs typeface="Times New Roman" panose="02020603050405020304" pitchFamily="18" charset="0"/>
              </a:rPr>
              <a:t>李嘉图</a:t>
            </a:r>
            <a:r>
              <a:rPr lang="zh-CN" altLang="zh-CN" sz="2400" kern="100" dirty="0">
                <a:solidFill>
                  <a:srgbClr val="FF0000"/>
                </a:solidFill>
                <a:latin typeface="Calibri" panose="020F0502020204030204" pitchFamily="34" charset="0"/>
                <a:cs typeface="Times New Roman" panose="02020603050405020304" pitchFamily="18" charset="0"/>
              </a:rPr>
              <a:t>专业</a:t>
            </a:r>
            <a:r>
              <a:rPr lang="zh-CN" altLang="en-US" sz="2400" kern="100" dirty="0">
                <a:solidFill>
                  <a:srgbClr val="FF0000"/>
                </a:solidFill>
                <a:latin typeface="Calibri" panose="020F0502020204030204" pitchFamily="34" charset="0"/>
                <a:cs typeface="Times New Roman" panose="02020603050405020304" pitchFamily="18" charset="0"/>
              </a:rPr>
              <a:t>分工</a:t>
            </a:r>
            <a:r>
              <a:rPr lang="zh-CN" altLang="zh-CN" sz="2400" kern="100" dirty="0">
                <a:solidFill>
                  <a:srgbClr val="FF0000"/>
                </a:solidFill>
                <a:latin typeface="Calibri" panose="020F0502020204030204" pitchFamily="34" charset="0"/>
                <a:cs typeface="Times New Roman" panose="02020603050405020304" pitchFamily="18" charset="0"/>
              </a:rPr>
              <a:t>）</a:t>
            </a:r>
          </a:p>
          <a:p>
            <a:pPr algn="just">
              <a:spcAft>
                <a:spcPts val="0"/>
              </a:spcAft>
            </a:pPr>
            <a:r>
              <a:rPr lang="zh-CN" altLang="zh-CN" sz="2400" kern="100" dirty="0">
                <a:latin typeface="Calibri" panose="020F0502020204030204" pitchFamily="34" charset="0"/>
                <a:cs typeface="Times New Roman" panose="02020603050405020304" pitchFamily="18" charset="0"/>
              </a:rPr>
              <a:t>工人的工作时间被缩短</a:t>
            </a:r>
            <a:r>
              <a:rPr lang="zh-CN" altLang="en-US" sz="2400" kern="100" dirty="0">
                <a:latin typeface="Calibri" panose="020F0502020204030204" pitchFamily="34" charset="0"/>
                <a:cs typeface="Times New Roman" panose="02020603050405020304" pitchFamily="18" charset="0"/>
              </a:rPr>
              <a:t>（自动化</a:t>
            </a:r>
            <a:r>
              <a:rPr lang="en-US" altLang="zh-CN" sz="2400" kern="100" dirty="0">
                <a:latin typeface="Calibri" panose="020F0502020204030204" pitchFamily="34" charset="0"/>
                <a:cs typeface="Times New Roman" panose="02020603050405020304" pitchFamily="18" charset="0"/>
              </a:rPr>
              <a:t>-</a:t>
            </a:r>
            <a:r>
              <a:rPr lang="zh-CN" altLang="en-US" sz="2400" kern="100" dirty="0">
                <a:latin typeface="Calibri" panose="020F0502020204030204" pitchFamily="34" charset="0"/>
                <a:cs typeface="Times New Roman" panose="02020603050405020304" pitchFamily="18" charset="0"/>
              </a:rPr>
              <a:t>流水线）</a:t>
            </a:r>
            <a:endParaRPr lang="zh-CN" altLang="zh-CN" sz="2400" kern="100" dirty="0">
              <a:latin typeface="Calibri" panose="020F0502020204030204" pitchFamily="34" charset="0"/>
              <a:cs typeface="Times New Roman" panose="02020603050405020304" pitchFamily="18" charset="0"/>
            </a:endParaRPr>
          </a:p>
          <a:p>
            <a:pPr algn="just">
              <a:spcAft>
                <a:spcPts val="0"/>
              </a:spcAft>
            </a:pPr>
            <a:r>
              <a:rPr lang="zh-CN" altLang="zh-CN" sz="2400" kern="100" dirty="0">
                <a:latin typeface="Calibri" panose="020F0502020204030204" pitchFamily="34" charset="0"/>
                <a:cs typeface="Times New Roman" panose="02020603050405020304" pitchFamily="18" charset="0"/>
              </a:rPr>
              <a:t>可以支配的</a:t>
            </a:r>
            <a:r>
              <a:rPr lang="zh-CN" altLang="en-US" sz="2400" kern="100" dirty="0">
                <a:latin typeface="Calibri" panose="020F0502020204030204" pitchFamily="34" charset="0"/>
                <a:cs typeface="Times New Roman" panose="02020603050405020304" pitchFamily="18" charset="0"/>
              </a:rPr>
              <a:t>时间和</a:t>
            </a:r>
            <a:r>
              <a:rPr lang="zh-CN" altLang="zh-CN" sz="2400" kern="100" dirty="0">
                <a:latin typeface="Calibri" panose="020F0502020204030204" pitchFamily="34" charset="0"/>
                <a:cs typeface="Times New Roman" panose="02020603050405020304" pitchFamily="18" charset="0"/>
              </a:rPr>
              <a:t>收入被增加</a:t>
            </a:r>
          </a:p>
          <a:p>
            <a:pPr algn="just">
              <a:spcAft>
                <a:spcPts val="0"/>
              </a:spcAft>
            </a:pPr>
            <a:r>
              <a:rPr lang="zh-CN" altLang="zh-CN" sz="2400" kern="100" dirty="0">
                <a:latin typeface="Calibri" panose="020F0502020204030204" pitchFamily="34" charset="0"/>
                <a:cs typeface="Times New Roman" panose="02020603050405020304" pitchFamily="18" charset="0"/>
              </a:rPr>
              <a:t>努力工作和努力购物的经济模式被开启，推动了资本主义的发展进入了新阶段</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en-US" sz="2400" kern="100" dirty="0">
                <a:latin typeface="Calibri" panose="020F0502020204030204" pitchFamily="34" charset="0"/>
                <a:cs typeface="Times New Roman" panose="02020603050405020304" pitchFamily="18" charset="0"/>
              </a:rPr>
              <a:t>伴随着经济一体化</a:t>
            </a:r>
            <a:r>
              <a:rPr lang="en-US" altLang="zh-CN" sz="2400" kern="100" dirty="0">
                <a:latin typeface="Calibri" panose="020F0502020204030204" pitchFamily="34" charset="0"/>
                <a:cs typeface="Times New Roman" panose="02020603050405020304" pitchFamily="18" charset="0"/>
              </a:rPr>
              <a:t>-</a:t>
            </a:r>
            <a:r>
              <a:rPr lang="zh-CN" altLang="en-US" sz="2400" kern="100" dirty="0">
                <a:latin typeface="Calibri" panose="020F0502020204030204" pitchFamily="34" charset="0"/>
                <a:cs typeface="Times New Roman" panose="02020603050405020304" pitchFamily="18" charset="0"/>
              </a:rPr>
              <a:t>全球化，福特主义在二战后的普及</a:t>
            </a:r>
            <a:endParaRPr lang="zh-CN" altLang="zh-CN" sz="2400" kern="100" dirty="0">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39855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4D03D944-9464-B517-82B0-1D1903C92DF1}"/>
              </a:ext>
            </a:extLst>
          </p:cNvPr>
          <p:cNvPicPr>
            <a:picLocks noGrp="1" noChangeAspect="1"/>
          </p:cNvPicPr>
          <p:nvPr>
            <p:ph idx="1"/>
          </p:nvPr>
        </p:nvPicPr>
        <p:blipFill>
          <a:blip r:embed="rId2"/>
          <a:stretch>
            <a:fillRect/>
          </a:stretch>
        </p:blipFill>
        <p:spPr>
          <a:xfrm>
            <a:off x="247546" y="606425"/>
            <a:ext cx="6263151" cy="5029500"/>
          </a:xfrm>
          <a:prstGeom prst="rect">
            <a:avLst/>
          </a:prstGeom>
        </p:spPr>
      </p:pic>
      <p:pic>
        <p:nvPicPr>
          <p:cNvPr id="5" name="图片 4">
            <a:extLst>
              <a:ext uri="{FF2B5EF4-FFF2-40B4-BE49-F238E27FC236}">
                <a16:creationId xmlns:a16="http://schemas.microsoft.com/office/drawing/2014/main" id="{24F3113B-F370-8154-2C9E-F77BD5D65D6C}"/>
              </a:ext>
            </a:extLst>
          </p:cNvPr>
          <p:cNvPicPr>
            <a:picLocks noChangeAspect="1"/>
          </p:cNvPicPr>
          <p:nvPr/>
        </p:nvPicPr>
        <p:blipFill>
          <a:blip r:embed="rId3"/>
          <a:stretch>
            <a:fillRect/>
          </a:stretch>
        </p:blipFill>
        <p:spPr>
          <a:xfrm>
            <a:off x="6964392" y="1764645"/>
            <a:ext cx="5156878" cy="3764887"/>
          </a:xfrm>
          <a:prstGeom prst="rect">
            <a:avLst/>
          </a:prstGeom>
        </p:spPr>
      </p:pic>
    </p:spTree>
    <p:extLst>
      <p:ext uri="{BB962C8B-B14F-4D97-AF65-F5344CB8AC3E}">
        <p14:creationId xmlns:p14="http://schemas.microsoft.com/office/powerpoint/2010/main" val="441578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F62A6-EC50-3AE4-9AF0-5AC4804843AB}"/>
              </a:ext>
            </a:extLst>
          </p:cNvPr>
          <p:cNvSpPr>
            <a:spLocks noGrp="1"/>
          </p:cNvSpPr>
          <p:nvPr>
            <p:ph type="title"/>
          </p:nvPr>
        </p:nvSpPr>
        <p:spPr/>
        <p:txBody>
          <a:bodyPr>
            <a:normAutofit/>
          </a:bodyPr>
          <a:lstStyle/>
          <a:p>
            <a:r>
              <a:rPr lang="zh-CN" altLang="en-US" dirty="0"/>
              <a:t>消费社会：生产积累到消费积累</a:t>
            </a:r>
            <a:br>
              <a:rPr lang="en-US" altLang="zh-CN" dirty="0"/>
            </a:br>
            <a:r>
              <a:rPr lang="en-US" altLang="zh-CN" dirty="0"/>
              <a:t>                      </a:t>
            </a:r>
            <a:r>
              <a:rPr lang="zh-CN" altLang="en-US" sz="2000" dirty="0"/>
              <a:t>（面包</a:t>
            </a:r>
            <a:r>
              <a:rPr lang="en-US" altLang="zh-CN" sz="2000" dirty="0"/>
              <a:t>-</a:t>
            </a:r>
            <a:r>
              <a:rPr lang="zh-CN" altLang="en-US" sz="2000" dirty="0"/>
              <a:t>家具</a:t>
            </a:r>
            <a:r>
              <a:rPr lang="en-US" altLang="zh-CN" sz="2000" dirty="0"/>
              <a:t>-</a:t>
            </a:r>
            <a:r>
              <a:rPr lang="zh-CN" altLang="en-US" sz="2000" dirty="0"/>
              <a:t>房屋</a:t>
            </a:r>
            <a:r>
              <a:rPr lang="en-US" altLang="zh-CN" sz="2000" dirty="0"/>
              <a:t>/</a:t>
            </a:r>
            <a:r>
              <a:rPr lang="zh-CN" altLang="en-US" sz="2000" dirty="0"/>
              <a:t>家电和汽车）</a:t>
            </a:r>
            <a:r>
              <a:rPr lang="en-US" altLang="zh-CN" sz="2000" dirty="0"/>
              <a:t>-</a:t>
            </a:r>
            <a:r>
              <a:rPr lang="zh-CN" altLang="en-US" sz="1800" dirty="0"/>
              <a:t>（蛋糕）</a:t>
            </a:r>
          </a:p>
        </p:txBody>
      </p:sp>
      <p:sp>
        <p:nvSpPr>
          <p:cNvPr id="3" name="内容占位符 2">
            <a:extLst>
              <a:ext uri="{FF2B5EF4-FFF2-40B4-BE49-F238E27FC236}">
                <a16:creationId xmlns:a16="http://schemas.microsoft.com/office/drawing/2014/main" id="{2C709763-A161-C4F8-03DA-5BCC34DCDCD5}"/>
              </a:ext>
            </a:extLst>
          </p:cNvPr>
          <p:cNvSpPr>
            <a:spLocks noGrp="1"/>
          </p:cNvSpPr>
          <p:nvPr>
            <p:ph idx="1"/>
          </p:nvPr>
        </p:nvSpPr>
        <p:spPr/>
        <p:txBody>
          <a:bodyPr/>
          <a:lstStyle/>
          <a:p>
            <a:r>
              <a:rPr lang="zh-CN" altLang="en-US" dirty="0"/>
              <a:t>资本主义进入新一轮的模式：全球的采购和倾销</a:t>
            </a:r>
            <a:r>
              <a:rPr lang="zh-CN" altLang="en-US" sz="1600" dirty="0">
                <a:latin typeface="+mn-ea"/>
              </a:rPr>
              <a:t>（亚洲四小龙）</a:t>
            </a:r>
            <a:endParaRPr lang="en-US" altLang="zh-CN" sz="1600" dirty="0">
              <a:latin typeface="+mn-ea"/>
            </a:endParaRPr>
          </a:p>
          <a:p>
            <a:r>
              <a:rPr lang="zh-CN" altLang="en-US" dirty="0"/>
              <a:t>获利的需求：资本全球流转的速度</a:t>
            </a:r>
            <a:endParaRPr lang="en-US" altLang="zh-CN" dirty="0"/>
          </a:p>
          <a:p>
            <a:r>
              <a:rPr lang="zh-CN" altLang="en-US" dirty="0"/>
              <a:t>产品生产转型：文化产品、快销品、时尚</a:t>
            </a:r>
            <a:endParaRPr lang="en-US" altLang="zh-CN" dirty="0"/>
          </a:p>
          <a:p>
            <a:r>
              <a:rPr lang="zh-CN" altLang="en-US" dirty="0"/>
              <a:t>技术创新、企业管理的创新、产品的创新</a:t>
            </a:r>
            <a:endParaRPr lang="en-US" altLang="zh-CN" dirty="0"/>
          </a:p>
          <a:p>
            <a:r>
              <a:rPr lang="zh-CN" altLang="en-US" dirty="0"/>
              <a:t>产生了与之相应的消费文化形式</a:t>
            </a:r>
            <a:endParaRPr lang="en-US" altLang="zh-CN" dirty="0"/>
          </a:p>
          <a:p>
            <a:endParaRPr lang="zh-CN" altLang="en-US" dirty="0"/>
          </a:p>
        </p:txBody>
      </p:sp>
    </p:spTree>
    <p:extLst>
      <p:ext uri="{BB962C8B-B14F-4D97-AF65-F5344CB8AC3E}">
        <p14:creationId xmlns:p14="http://schemas.microsoft.com/office/powerpoint/2010/main" val="2698228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D733F675-9376-0EC5-6B96-365302813CB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FF0F83B-42CC-B570-C8C6-9DF8D54C725A}"/>
              </a:ext>
            </a:extLst>
          </p:cNvPr>
          <p:cNvSpPr>
            <a:spLocks noGrp="1"/>
          </p:cNvSpPr>
          <p:nvPr>
            <p:ph idx="1"/>
          </p:nvPr>
        </p:nvSpPr>
        <p:spPr>
          <a:xfrm>
            <a:off x="267778" y="4764207"/>
            <a:ext cx="11086022" cy="2111046"/>
          </a:xfrm>
        </p:spPr>
        <p:txBody>
          <a:bodyPr/>
          <a:lstStyle/>
          <a:p>
            <a:endParaRPr lang="en-US" altLang="zh-CN" dirty="0"/>
          </a:p>
          <a:p>
            <a:pPr marL="0" indent="0">
              <a:buNone/>
            </a:pPr>
            <a:endParaRPr lang="en-US" altLang="zh-CN" dirty="0"/>
          </a:p>
          <a:p>
            <a:pPr marL="0" indent="0">
              <a:buNone/>
            </a:pPr>
            <a:endParaRPr lang="en-US" altLang="zh-CN" dirty="0"/>
          </a:p>
          <a:p>
            <a:pPr marL="0" indent="0">
              <a:buNone/>
            </a:pPr>
            <a:r>
              <a:rPr lang="zh-CN" altLang="en-US" dirty="0"/>
              <a:t>即时性的实践和体验</a:t>
            </a:r>
            <a:endParaRPr lang="en-US" altLang="zh-CN" dirty="0"/>
          </a:p>
          <a:p>
            <a:pPr marL="0" indent="0">
              <a:buNone/>
            </a:pPr>
            <a:endParaRPr lang="zh-CN" altLang="en-US" dirty="0"/>
          </a:p>
        </p:txBody>
      </p:sp>
      <p:pic>
        <p:nvPicPr>
          <p:cNvPr id="4" name="图片 3">
            <a:extLst>
              <a:ext uri="{FF2B5EF4-FFF2-40B4-BE49-F238E27FC236}">
                <a16:creationId xmlns:a16="http://schemas.microsoft.com/office/drawing/2014/main" id="{D98376DE-C663-F5F0-927C-86CB1C14AB20}"/>
              </a:ext>
            </a:extLst>
          </p:cNvPr>
          <p:cNvPicPr>
            <a:picLocks noChangeAspect="1"/>
          </p:cNvPicPr>
          <p:nvPr/>
        </p:nvPicPr>
        <p:blipFill>
          <a:blip r:embed="rId2"/>
          <a:stretch>
            <a:fillRect/>
          </a:stretch>
        </p:blipFill>
        <p:spPr>
          <a:xfrm>
            <a:off x="8353425" y="3910640"/>
            <a:ext cx="3725390" cy="2631057"/>
          </a:xfrm>
          <a:prstGeom prst="rect">
            <a:avLst/>
          </a:prstGeom>
        </p:spPr>
      </p:pic>
      <p:pic>
        <p:nvPicPr>
          <p:cNvPr id="5" name="图片 4">
            <a:extLst>
              <a:ext uri="{FF2B5EF4-FFF2-40B4-BE49-F238E27FC236}">
                <a16:creationId xmlns:a16="http://schemas.microsoft.com/office/drawing/2014/main" id="{70E05FBC-4D95-7002-C24D-A985B9E1E932}"/>
              </a:ext>
            </a:extLst>
          </p:cNvPr>
          <p:cNvPicPr>
            <a:picLocks noChangeAspect="1"/>
          </p:cNvPicPr>
          <p:nvPr/>
        </p:nvPicPr>
        <p:blipFill>
          <a:blip r:embed="rId3"/>
          <a:stretch>
            <a:fillRect/>
          </a:stretch>
        </p:blipFill>
        <p:spPr>
          <a:xfrm>
            <a:off x="4554028" y="455748"/>
            <a:ext cx="3907227" cy="2604818"/>
          </a:xfrm>
          <a:prstGeom prst="rect">
            <a:avLst/>
          </a:prstGeom>
        </p:spPr>
      </p:pic>
      <p:pic>
        <p:nvPicPr>
          <p:cNvPr id="6" name="图片 5">
            <a:extLst>
              <a:ext uri="{FF2B5EF4-FFF2-40B4-BE49-F238E27FC236}">
                <a16:creationId xmlns:a16="http://schemas.microsoft.com/office/drawing/2014/main" id="{D660D588-DD73-BC7A-E8B5-8C9CFAA3B746}"/>
              </a:ext>
            </a:extLst>
          </p:cNvPr>
          <p:cNvPicPr>
            <a:picLocks noChangeAspect="1"/>
          </p:cNvPicPr>
          <p:nvPr/>
        </p:nvPicPr>
        <p:blipFill>
          <a:blip r:embed="rId4"/>
          <a:stretch>
            <a:fillRect/>
          </a:stretch>
        </p:blipFill>
        <p:spPr>
          <a:xfrm>
            <a:off x="8079193" y="254179"/>
            <a:ext cx="4013418" cy="2816825"/>
          </a:xfrm>
          <a:prstGeom prst="rect">
            <a:avLst/>
          </a:prstGeom>
        </p:spPr>
      </p:pic>
      <p:pic>
        <p:nvPicPr>
          <p:cNvPr id="7" name="图片 6">
            <a:extLst>
              <a:ext uri="{FF2B5EF4-FFF2-40B4-BE49-F238E27FC236}">
                <a16:creationId xmlns:a16="http://schemas.microsoft.com/office/drawing/2014/main" id="{DF2EEA92-E345-5822-26DA-0D49C1B92E55}"/>
              </a:ext>
            </a:extLst>
          </p:cNvPr>
          <p:cNvPicPr>
            <a:picLocks noChangeAspect="1"/>
          </p:cNvPicPr>
          <p:nvPr/>
        </p:nvPicPr>
        <p:blipFill>
          <a:blip r:embed="rId5"/>
          <a:stretch>
            <a:fillRect/>
          </a:stretch>
        </p:blipFill>
        <p:spPr>
          <a:xfrm>
            <a:off x="267778" y="213504"/>
            <a:ext cx="4286250" cy="2857500"/>
          </a:xfrm>
          <a:prstGeom prst="rect">
            <a:avLst/>
          </a:prstGeom>
        </p:spPr>
      </p:pic>
      <p:pic>
        <p:nvPicPr>
          <p:cNvPr id="8" name="图片 7">
            <a:extLst>
              <a:ext uri="{FF2B5EF4-FFF2-40B4-BE49-F238E27FC236}">
                <a16:creationId xmlns:a16="http://schemas.microsoft.com/office/drawing/2014/main" id="{72E09E20-7207-61BD-54EF-50BE16001260}"/>
              </a:ext>
            </a:extLst>
          </p:cNvPr>
          <p:cNvPicPr>
            <a:picLocks noChangeAspect="1"/>
          </p:cNvPicPr>
          <p:nvPr/>
        </p:nvPicPr>
        <p:blipFill>
          <a:blip r:embed="rId6"/>
          <a:stretch>
            <a:fillRect/>
          </a:stretch>
        </p:blipFill>
        <p:spPr>
          <a:xfrm>
            <a:off x="2335241" y="3071004"/>
            <a:ext cx="5809172" cy="3264755"/>
          </a:xfrm>
          <a:prstGeom prst="rect">
            <a:avLst/>
          </a:prstGeom>
        </p:spPr>
      </p:pic>
    </p:spTree>
    <p:extLst>
      <p:ext uri="{BB962C8B-B14F-4D97-AF65-F5344CB8AC3E}">
        <p14:creationId xmlns:p14="http://schemas.microsoft.com/office/powerpoint/2010/main" val="998507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00062"/>
            <a:ext cx="10515600" cy="1325563"/>
          </a:xfrm>
        </p:spPr>
        <p:txBody>
          <a:bodyPr/>
          <a:lstStyle/>
          <a:p>
            <a:pPr>
              <a:spcAft>
                <a:spcPts val="0"/>
              </a:spcAft>
            </a:pPr>
            <a:r>
              <a:rPr lang="zh-CN" altLang="zh-CN" kern="100" dirty="0">
                <a:latin typeface="Calibri" panose="020F0502020204030204" pitchFamily="34" charset="0"/>
                <a:cs typeface="Times New Roman" panose="02020603050405020304" pitchFamily="18" charset="0"/>
              </a:rPr>
              <a:t>后期发展：福特主义的</a:t>
            </a:r>
            <a:r>
              <a:rPr lang="zh-CN" altLang="en-US" kern="100" dirty="0">
                <a:latin typeface="Calibri" panose="020F0502020204030204" pitchFamily="34" charset="0"/>
                <a:cs typeface="Times New Roman" panose="02020603050405020304" pitchFamily="18" charset="0"/>
              </a:rPr>
              <a:t>影响</a:t>
            </a:r>
            <a:endParaRPr lang="zh-CN" altLang="en-US" dirty="0"/>
          </a:p>
        </p:txBody>
      </p:sp>
      <p:sp>
        <p:nvSpPr>
          <p:cNvPr id="3" name="内容占位符 2"/>
          <p:cNvSpPr>
            <a:spLocks noGrp="1"/>
          </p:cNvSpPr>
          <p:nvPr>
            <p:ph idx="1"/>
          </p:nvPr>
        </p:nvSpPr>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社会的广泛富裕和全民消费的形态</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消费主义成为一种社会机制</a:t>
            </a:r>
          </a:p>
          <a:p>
            <a:pPr marL="0" indent="0" algn="just">
              <a:spcAft>
                <a:spcPts val="0"/>
              </a:spcAft>
              <a:buNone/>
            </a:pPr>
            <a:r>
              <a:rPr lang="en-US" altLang="zh-CN" sz="2400" kern="100" dirty="0">
                <a:latin typeface="Calibri" panose="020F0502020204030204" pitchFamily="34" charset="0"/>
                <a:cs typeface="Times New Roman" panose="02020603050405020304" pitchFamily="18" charset="0"/>
              </a:rPr>
              <a:t>——</a:t>
            </a:r>
            <a:r>
              <a:rPr lang="zh-CN" altLang="zh-CN" sz="2400" kern="100" dirty="0">
                <a:latin typeface="Calibri" panose="020F0502020204030204" pitchFamily="34" charset="0"/>
                <a:cs typeface="Times New Roman" panose="02020603050405020304" pitchFamily="18" charset="0"/>
              </a:rPr>
              <a:t>在英国的选举中劳工阶层居然把票投给了保守党而非代表其直接利益的工党，很多人认为是因为消费主义增加了劳工阶层的满意程度，而使得他们追求收入和消费产品的丰富，而不是权利和尊重</a:t>
            </a:r>
            <a:r>
              <a:rPr lang="zh-CN" altLang="zh-CN" kern="100" dirty="0">
                <a:latin typeface="Calibri" panose="020F0502020204030204" pitchFamily="34" charset="0"/>
                <a:cs typeface="Times New Roman" panose="02020603050405020304" pitchFamily="18" charset="0"/>
              </a:rPr>
              <a:t>。</a:t>
            </a:r>
          </a:p>
          <a:p>
            <a:endParaRPr lang="zh-CN" altLang="en-US" dirty="0"/>
          </a:p>
        </p:txBody>
      </p:sp>
    </p:spTree>
    <p:extLst>
      <p:ext uri="{BB962C8B-B14F-4D97-AF65-F5344CB8AC3E}">
        <p14:creationId xmlns:p14="http://schemas.microsoft.com/office/powerpoint/2010/main" val="2098156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latin typeface="Calibri" panose="020F0502020204030204" pitchFamily="34" charset="0"/>
                <a:cs typeface="Times New Roman" panose="02020603050405020304" pitchFamily="18" charset="0"/>
              </a:rPr>
              <a:t>新消费者的出现</a:t>
            </a:r>
            <a:r>
              <a:rPr lang="zh-CN" altLang="en-US" sz="1600" kern="100" dirty="0">
                <a:latin typeface="Calibri" panose="020F0502020204030204" pitchFamily="34" charset="0"/>
                <a:cs typeface="Times New Roman" panose="02020603050405020304" pitchFamily="18" charset="0"/>
              </a:rPr>
              <a:t>（灵活的全球化经济模式、新经济的爆发）</a:t>
            </a:r>
            <a:endParaRPr lang="zh-CN" altLang="en-US" sz="1600" dirty="0"/>
          </a:p>
        </p:txBody>
      </p:sp>
      <p:sp>
        <p:nvSpPr>
          <p:cNvPr id="3" name="内容占位符 2"/>
          <p:cNvSpPr>
            <a:spLocks noGrp="1"/>
          </p:cNvSpPr>
          <p:nvPr>
            <p:ph idx="1"/>
          </p:nvPr>
        </p:nvSpPr>
        <p:spPr/>
        <p:txBody>
          <a:bodyPr>
            <a:normAutofit/>
          </a:bodyPr>
          <a:lstStyle/>
          <a:p>
            <a:pPr algn="just">
              <a:spcAft>
                <a:spcPts val="0"/>
              </a:spcAft>
            </a:pPr>
            <a:r>
              <a:rPr lang="zh-CN" altLang="zh-CN" kern="100" dirty="0">
                <a:latin typeface="Calibri" panose="020F0502020204030204" pitchFamily="34" charset="0"/>
                <a:cs typeface="Times New Roman" panose="02020603050405020304" pitchFamily="18" charset="0"/>
              </a:rPr>
              <a:t>后现代性当中流动性状态已经取代了先前的稳固团体归属</a:t>
            </a:r>
          </a:p>
          <a:p>
            <a:pPr marL="0" indent="0" algn="just">
              <a:buNone/>
            </a:pPr>
            <a:r>
              <a:rPr lang="en-US" altLang="zh-CN" sz="1800" kern="100" dirty="0">
                <a:solidFill>
                  <a:srgbClr val="FF0000"/>
                </a:solidFill>
                <a:latin typeface="Calibri" panose="020F0502020204030204" pitchFamily="34" charset="0"/>
                <a:cs typeface="Times New Roman" panose="02020603050405020304" pitchFamily="18" charset="0"/>
              </a:rPr>
              <a:t>EG</a:t>
            </a:r>
            <a:r>
              <a:rPr lang="zh-CN" altLang="zh-CN" sz="1800" kern="100" dirty="0">
                <a:solidFill>
                  <a:srgbClr val="FF0000"/>
                </a:solidFill>
                <a:latin typeface="Calibri" panose="020F0502020204030204" pitchFamily="34" charset="0"/>
                <a:cs typeface="Times New Roman" panose="02020603050405020304" pitchFamily="18" charset="0"/>
              </a:rPr>
              <a:t>：美国女艺术家的摄影系列辛迪·舍曼</a:t>
            </a:r>
            <a:r>
              <a:rPr lang="en-US" altLang="zh-CN" sz="1800" kern="100" dirty="0">
                <a:solidFill>
                  <a:srgbClr val="FF0000"/>
                </a:solidFill>
                <a:latin typeface="Calibri" panose="020F0502020204030204" pitchFamily="34" charset="0"/>
                <a:cs typeface="Times New Roman" panose="02020603050405020304" pitchFamily="18" charset="0"/>
              </a:rPr>
              <a:t>:</a:t>
            </a:r>
            <a:r>
              <a:rPr lang="zh-CN" altLang="zh-CN" sz="1800" kern="100" dirty="0">
                <a:solidFill>
                  <a:srgbClr val="FF0000"/>
                </a:solidFill>
                <a:latin typeface="Calibri" panose="020F0502020204030204" pitchFamily="34" charset="0"/>
                <a:cs typeface="Times New Roman" panose="02020603050405020304" pitchFamily="18" charset="0"/>
              </a:rPr>
              <a:t>一人千面 </a:t>
            </a:r>
            <a:endParaRPr lang="zh-CN" altLang="zh-CN" sz="1800" kern="100" dirty="0">
              <a:solidFill>
                <a:prstClr val="black"/>
              </a:solidFill>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出现了以消费为生活重心的新团体</a:t>
            </a:r>
          </a:p>
          <a:p>
            <a:pPr algn="just">
              <a:spcAft>
                <a:spcPts val="0"/>
              </a:spcAft>
            </a:pPr>
            <a:r>
              <a:rPr lang="zh-CN" altLang="en-US" kern="100" dirty="0">
                <a:latin typeface="Calibri" panose="020F0502020204030204" pitchFamily="34" charset="0"/>
                <a:cs typeface="Times New Roman" panose="02020603050405020304" pitchFamily="18" charset="0"/>
              </a:rPr>
              <a:t>新媒体生态下的景观消费、饭圈文化</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马克思和韦伯处理早期资本主义发展与运作的基础理论著作仍然很重要</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提供了现代社会结构——即资本主义的基础概念框架</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295000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567219" y="2860452"/>
            <a:ext cx="2152953" cy="3829842"/>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9785" y="3028158"/>
            <a:ext cx="4004324" cy="3662136"/>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532" y="3528616"/>
            <a:ext cx="4762500" cy="2828925"/>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532" y="242435"/>
            <a:ext cx="5172075" cy="2857500"/>
          </a:xfrm>
          <a:prstGeom prst="rect">
            <a:avLst/>
          </a:prstGeom>
        </p:spPr>
      </p:pic>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31766" y="0"/>
            <a:ext cx="2352298" cy="2948214"/>
          </a:xfrm>
          <a:prstGeom prst="rect">
            <a:avLst/>
          </a:prstGeom>
        </p:spPr>
      </p:pic>
    </p:spTree>
    <p:extLst>
      <p:ext uri="{BB962C8B-B14F-4D97-AF65-F5344CB8AC3E}">
        <p14:creationId xmlns:p14="http://schemas.microsoft.com/office/powerpoint/2010/main" val="5727477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660467" y="0"/>
            <a:ext cx="2531533" cy="601707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 name="组合 1"/>
          <p:cNvGrpSpPr/>
          <p:nvPr/>
        </p:nvGrpSpPr>
        <p:grpSpPr>
          <a:xfrm>
            <a:off x="10281362" y="4182167"/>
            <a:ext cx="1587032" cy="1868691"/>
            <a:chOff x="10281362" y="4182167"/>
            <a:chExt cx="1587032" cy="1868691"/>
          </a:xfrm>
        </p:grpSpPr>
        <p:sp>
          <p:nvSpPr>
            <p:cNvPr id="12" name="TextBox 11"/>
            <p:cNvSpPr txBox="1"/>
            <p:nvPr/>
          </p:nvSpPr>
          <p:spPr>
            <a:xfrm>
              <a:off x="10281362" y="4182167"/>
              <a:ext cx="1023037" cy="261610"/>
            </a:xfrm>
            <a:prstGeom prst="rect">
              <a:avLst/>
            </a:prstGeom>
            <a:noFill/>
          </p:spPr>
          <p:txBody>
            <a:bodyPr wrap="none" rtlCol="0">
              <a:spAutoFit/>
            </a:bodyPr>
            <a:lstStyle/>
            <a:p>
              <a:r>
                <a:rPr lang="en-US" sz="1100" b="1">
                  <a:solidFill>
                    <a:prstClr val="white"/>
                  </a:solidFill>
                  <a:latin typeface="Montserrat Semi" charset="0"/>
                  <a:ea typeface="Montserrat Semi" charset="0"/>
                  <a:cs typeface="Montserrat Semi" charset="0"/>
                </a:rPr>
                <a:t>S E C T I O N</a:t>
              </a:r>
              <a:endParaRPr lang="en-US" sz="1100" b="1" dirty="0">
                <a:solidFill>
                  <a:prstClr val="white"/>
                </a:solidFill>
                <a:latin typeface="Montserrat Semi" charset="0"/>
                <a:ea typeface="Montserrat Semi" charset="0"/>
                <a:cs typeface="Montserrat Semi" charset="0"/>
              </a:endParaRPr>
            </a:p>
          </p:txBody>
        </p:sp>
        <p:sp>
          <p:nvSpPr>
            <p:cNvPr id="13" name="TextBox 12"/>
            <p:cNvSpPr txBox="1"/>
            <p:nvPr/>
          </p:nvSpPr>
          <p:spPr>
            <a:xfrm>
              <a:off x="10370868" y="4727419"/>
              <a:ext cx="1497526" cy="1323439"/>
            </a:xfrm>
            <a:prstGeom prst="rect">
              <a:avLst/>
            </a:prstGeom>
            <a:noFill/>
          </p:spPr>
          <p:txBody>
            <a:bodyPr wrap="none" rtlCol="0">
              <a:spAutoFit/>
            </a:bodyPr>
            <a:lstStyle/>
            <a:p>
              <a:pPr algn="ctr"/>
              <a:r>
                <a:rPr lang="en-US" altLang="zh-CN" sz="8000" b="1" dirty="0">
                  <a:solidFill>
                    <a:prstClr val="white"/>
                  </a:solidFill>
                  <a:latin typeface="Montserrat Semi" charset="0"/>
                  <a:ea typeface="Montserrat Semi" charset="0"/>
                  <a:cs typeface="Montserrat Semi" charset="0"/>
                </a:rPr>
                <a:t>02</a:t>
              </a:r>
              <a:r>
                <a:rPr lang="en-US" sz="8000" b="1" dirty="0">
                  <a:solidFill>
                    <a:prstClr val="white"/>
                  </a:solidFill>
                  <a:latin typeface="Montserrat Semi" charset="0"/>
                  <a:ea typeface="Montserrat Semi" charset="0"/>
                  <a:cs typeface="Montserrat Semi" charset="0"/>
                </a:rPr>
                <a:t>.</a:t>
              </a:r>
            </a:p>
          </p:txBody>
        </p:sp>
      </p:grpSp>
      <p:cxnSp>
        <p:nvCxnSpPr>
          <p:cNvPr id="16" name="Straight Connector 15"/>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12278" y="6317571"/>
            <a:ext cx="524503" cy="230832"/>
          </a:xfrm>
          <a:prstGeom prst="rect">
            <a:avLst/>
          </a:prstGeom>
          <a:noFill/>
        </p:spPr>
        <p:txBody>
          <a:bodyPr wrap="none" rtlCol="0">
            <a:spAutoFit/>
          </a:bodyPr>
          <a:lstStyle/>
          <a:p>
            <a:r>
              <a:rPr lang="en-US" sz="900" dirty="0">
                <a:solidFill>
                  <a:prstClr val="black">
                    <a:lumMod val="85000"/>
                    <a:lumOff val="15000"/>
                  </a:prstClr>
                </a:solidFill>
                <a:latin typeface="Cormorant Garamond Light" charset="0"/>
                <a:ea typeface="Cormorant Garamond Light" charset="0"/>
                <a:cs typeface="Cormorant Garamond Light" charset="0"/>
              </a:rPr>
              <a:t>slide : </a:t>
            </a:r>
            <a:fld id="{62AEC829-9D8B-B04A-97F2-7EA009EEF72F}" type="slidenum">
              <a:rPr lang="en-US" sz="900" b="1">
                <a:solidFill>
                  <a:prstClr val="black"/>
                </a:solidFill>
                <a:latin typeface="Cormorant Garamond" charset="0"/>
                <a:ea typeface="Cormorant Garamond" charset="0"/>
                <a:cs typeface="Cormorant Garamond" charset="0"/>
              </a:rPr>
              <a:pPr/>
              <a:t>37</a:t>
            </a:fld>
            <a:endParaRPr lang="en-US" sz="900" b="1" dirty="0">
              <a:solidFill>
                <a:prstClr val="black"/>
              </a:solidFill>
              <a:latin typeface="Cormorant Garamond" charset="0"/>
              <a:ea typeface="Cormorant Garamond" charset="0"/>
              <a:cs typeface="Cormorant Garamond" charset="0"/>
            </a:endParaRPr>
          </a:p>
        </p:txBody>
      </p:sp>
      <p:sp>
        <p:nvSpPr>
          <p:cNvPr id="26" name="TextBox 25"/>
          <p:cNvSpPr txBox="1"/>
          <p:nvPr/>
        </p:nvSpPr>
        <p:spPr>
          <a:xfrm rot="16200000">
            <a:off x="9025724" y="2055356"/>
            <a:ext cx="3801041" cy="769441"/>
          </a:xfrm>
          <a:prstGeom prst="rect">
            <a:avLst/>
          </a:prstGeom>
          <a:noFill/>
        </p:spPr>
        <p:txBody>
          <a:bodyPr wrap="none" rtlCol="0">
            <a:spAutoFit/>
          </a:bodyPr>
          <a:lstStyle/>
          <a:p>
            <a:pPr algn="ctr"/>
            <a:r>
              <a:rPr lang="zh-CN" altLang="en-US" sz="4400" spc="300" dirty="0">
                <a:solidFill>
                  <a:prstClr val="white"/>
                </a:solidFill>
                <a:latin typeface="Montserrat Light" charset="0"/>
                <a:ea typeface="Montserrat Light" charset="0"/>
                <a:cs typeface="Montserrat Light" charset="0"/>
              </a:rPr>
              <a:t>消费文化概论</a:t>
            </a:r>
            <a:endParaRPr lang="en-US" sz="4400" spc="300" dirty="0">
              <a:solidFill>
                <a:prstClr val="white"/>
              </a:solidFill>
              <a:latin typeface="Montserrat Light" charset="0"/>
              <a:ea typeface="Montserrat Light" charset="0"/>
              <a:cs typeface="Montserrat Light" charset="0"/>
            </a:endParaRPr>
          </a:p>
        </p:txBody>
      </p:sp>
      <p:sp>
        <p:nvSpPr>
          <p:cNvPr id="8" name="文本框 7">
            <a:extLst>
              <a:ext uri="{FF2B5EF4-FFF2-40B4-BE49-F238E27FC236}">
                <a16:creationId xmlns:a16="http://schemas.microsoft.com/office/drawing/2014/main" id="{3062648B-B788-4467-8D7C-FE7F3E56D4E6}"/>
              </a:ext>
            </a:extLst>
          </p:cNvPr>
          <p:cNvSpPr txBox="1"/>
          <p:nvPr/>
        </p:nvSpPr>
        <p:spPr>
          <a:xfrm>
            <a:off x="703295" y="1791092"/>
            <a:ext cx="7727783" cy="2544286"/>
          </a:xfrm>
          <a:prstGeom prst="rect">
            <a:avLst/>
          </a:prstGeom>
          <a:noFill/>
        </p:spPr>
        <p:txBody>
          <a:bodyPr wrap="square" rtlCol="0">
            <a:spAutoFit/>
          </a:bodyPr>
          <a:lstStyle/>
          <a:p>
            <a:pPr marL="228600" indent="-228600">
              <a:lnSpc>
                <a:spcPct val="90000"/>
              </a:lnSpc>
              <a:spcBef>
                <a:spcPts val="1000"/>
              </a:spcBef>
              <a:buFont typeface="Arial" panose="020B0604020202020204" pitchFamily="34" charset="0"/>
              <a:buChar char="•"/>
            </a:pPr>
            <a:r>
              <a:rPr lang="zh-CN" altLang="en-US" sz="2800" dirty="0">
                <a:solidFill>
                  <a:prstClr val="black"/>
                </a:solidFill>
                <a:ea typeface="宋体" panose="02010600030101010101" pitchFamily="2" charset="-122"/>
              </a:rPr>
              <a:t>消费与工作：资本主义伦理价值及其批判</a:t>
            </a:r>
            <a:endParaRPr lang="en-US" altLang="zh-CN" sz="2800" dirty="0">
              <a:solidFill>
                <a:prstClr val="black"/>
              </a:solidFill>
              <a:ea typeface="宋体" panose="02010600030101010101" pitchFamily="2" charset="-122"/>
            </a:endParaRPr>
          </a:p>
          <a:p>
            <a:pPr>
              <a:lnSpc>
                <a:spcPct val="90000"/>
              </a:lnSpc>
              <a:spcBef>
                <a:spcPts val="1000"/>
              </a:spcBef>
            </a:pPr>
            <a:endParaRPr lang="en-US" altLang="zh-CN" sz="2800" dirty="0">
              <a:solidFill>
                <a:prstClr val="black"/>
              </a:solidFill>
              <a:ea typeface="宋体" panose="02010600030101010101" pitchFamily="2" charset="-122"/>
            </a:endParaRPr>
          </a:p>
          <a:p>
            <a:pPr marL="228600" indent="-228600">
              <a:lnSpc>
                <a:spcPct val="90000"/>
              </a:lnSpc>
              <a:spcBef>
                <a:spcPts val="1000"/>
              </a:spcBef>
              <a:buFont typeface="Arial" panose="020B0604020202020204" pitchFamily="34" charset="0"/>
              <a:buChar char="•"/>
            </a:pPr>
            <a:r>
              <a:rPr lang="zh-CN" altLang="en-US" sz="2800" dirty="0">
                <a:solidFill>
                  <a:prstClr val="black"/>
                </a:solidFill>
                <a:ea typeface="宋体" panose="02010600030101010101" pitchFamily="2" charset="-122"/>
              </a:rPr>
              <a:t>消费与物：物的生产及符号系统</a:t>
            </a:r>
            <a:endParaRPr lang="en-US" altLang="zh-CN" sz="2800" dirty="0">
              <a:solidFill>
                <a:prstClr val="black"/>
              </a:solidFill>
              <a:ea typeface="宋体" panose="02010600030101010101" pitchFamily="2" charset="-122"/>
            </a:endParaRPr>
          </a:p>
          <a:p>
            <a:pPr marL="228600" indent="-228600">
              <a:lnSpc>
                <a:spcPct val="90000"/>
              </a:lnSpc>
              <a:spcBef>
                <a:spcPts val="1000"/>
              </a:spcBef>
              <a:buFont typeface="Arial" panose="020B0604020202020204" pitchFamily="34" charset="0"/>
              <a:buChar char="•"/>
            </a:pPr>
            <a:endParaRPr lang="en-US" altLang="zh-CN" sz="2800" dirty="0">
              <a:solidFill>
                <a:prstClr val="black"/>
              </a:solidFill>
              <a:ea typeface="宋体" panose="02010600030101010101" pitchFamily="2" charset="-122"/>
            </a:endParaRPr>
          </a:p>
          <a:p>
            <a:pPr marL="228600" indent="-228600">
              <a:lnSpc>
                <a:spcPct val="90000"/>
              </a:lnSpc>
              <a:spcBef>
                <a:spcPts val="1000"/>
              </a:spcBef>
              <a:buFont typeface="Arial" panose="020B0604020202020204" pitchFamily="34" charset="0"/>
              <a:buChar char="•"/>
            </a:pPr>
            <a:r>
              <a:rPr lang="zh-CN" altLang="en-US" sz="2800" dirty="0">
                <a:solidFill>
                  <a:prstClr val="black"/>
                </a:solidFill>
                <a:ea typeface="宋体" panose="02010600030101010101" pitchFamily="2" charset="-122"/>
              </a:rPr>
              <a:t>消费与文化：大众文化消费与商业收编</a:t>
            </a:r>
            <a:endParaRPr lang="en-US" altLang="zh-CN" sz="2800" dirty="0">
              <a:solidFill>
                <a:prstClr val="black"/>
              </a:solidFill>
              <a:ea typeface="宋体" panose="02010600030101010101" pitchFamily="2" charset="-122"/>
            </a:endParaRPr>
          </a:p>
        </p:txBody>
      </p:sp>
    </p:spTree>
    <p:extLst>
      <p:ext uri="{BB962C8B-B14F-4D97-AF65-F5344CB8AC3E}">
        <p14:creationId xmlns:p14="http://schemas.microsoft.com/office/powerpoint/2010/main" val="311910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6"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latin typeface="Calibri" panose="020F0502020204030204" pitchFamily="34" charset="0"/>
                <a:cs typeface="Times New Roman" panose="02020603050405020304" pitchFamily="18" charset="0"/>
              </a:rPr>
              <a:t>（一）理论</a:t>
            </a:r>
            <a:r>
              <a:rPr lang="zh-CN" altLang="en-US" kern="100" dirty="0">
                <a:latin typeface="Calibri" panose="020F0502020204030204" pitchFamily="34" charset="0"/>
                <a:cs typeface="Times New Roman" panose="02020603050405020304" pitchFamily="18" charset="0"/>
              </a:rPr>
              <a:t>框架：消费的解读</a:t>
            </a:r>
            <a:br>
              <a:rPr lang="zh-CN" altLang="zh-CN" kern="100" dirty="0">
                <a:latin typeface="Calibri" panose="020F0502020204030204" pitchFamily="34" charset="0"/>
                <a:cs typeface="Times New Roman" panose="02020603050405020304" pitchFamily="18" charset="0"/>
              </a:rPr>
            </a:br>
            <a:endParaRPr lang="zh-CN" altLang="en-US" dirty="0"/>
          </a:p>
        </p:txBody>
      </p:sp>
      <p:sp>
        <p:nvSpPr>
          <p:cNvPr id="3" name="内容占位符 2"/>
          <p:cNvSpPr>
            <a:spLocks noGrp="1"/>
          </p:cNvSpPr>
          <p:nvPr>
            <p:ph idx="1"/>
          </p:nvPr>
        </p:nvSpPr>
        <p:spPr/>
        <p:txBody>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马克思</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韦伯《资本主义发展与新教伦理》</a:t>
            </a:r>
            <a:endParaRPr lang="en-US" altLang="zh-CN" kern="100" dirty="0">
              <a:latin typeface="Calibri" panose="020F0502020204030204" pitchFamily="34" charset="0"/>
              <a:cs typeface="Times New Roman" panose="02020603050405020304" pitchFamily="18" charset="0"/>
            </a:endParaRPr>
          </a:p>
          <a:p>
            <a:pPr marL="0" indent="0" algn="just">
              <a:spcAft>
                <a:spcPts val="0"/>
              </a:spcAft>
              <a:buNone/>
            </a:pPr>
            <a:r>
              <a:rPr lang="zh-CN" altLang="en-US" sz="1800" kern="100" dirty="0">
                <a:latin typeface="Calibri" panose="020F0502020204030204" pitchFamily="34" charset="0"/>
                <a:cs typeface="Times New Roman" panose="02020603050405020304" pitchFamily="18" charset="0"/>
              </a:rPr>
              <a:t>（基督教的喀尔文教派分支、世俗化的准备、文化视野的补充：初始和发展及批判）</a:t>
            </a:r>
            <a:endParaRPr lang="zh-CN" altLang="zh-CN" sz="1800" kern="100" dirty="0">
              <a:latin typeface="Calibri" panose="020F0502020204030204" pitchFamily="34" charset="0"/>
              <a:cs typeface="Times New Roman" panose="02020603050405020304" pitchFamily="18" charset="0"/>
            </a:endParaRPr>
          </a:p>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卡尔</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马克思《资本论》</a:t>
            </a:r>
            <a:endParaRPr lang="en-US" altLang="zh-CN" kern="100" dirty="0">
              <a:latin typeface="Calibri" panose="020F0502020204030204" pitchFamily="34" charset="0"/>
              <a:cs typeface="Times New Roman" panose="02020603050405020304" pitchFamily="18" charset="0"/>
            </a:endParaRPr>
          </a:p>
          <a:p>
            <a:pPr marL="0" indent="0" algn="just">
              <a:spcAft>
                <a:spcPts val="0"/>
              </a:spcAft>
              <a:buNone/>
            </a:pPr>
            <a:r>
              <a:rPr lang="zh-CN" altLang="en-US" sz="1800" kern="100" dirty="0">
                <a:latin typeface="Calibri" panose="020F0502020204030204" pitchFamily="34" charset="0"/>
                <a:cs typeface="Times New Roman" panose="02020603050405020304" pitchFamily="18" charset="0"/>
              </a:rPr>
              <a:t>（商品</a:t>
            </a:r>
            <a:r>
              <a:rPr lang="en-US" altLang="zh-CN" sz="1800" kern="100" dirty="0">
                <a:latin typeface="Calibri" panose="020F0502020204030204" pitchFamily="34" charset="0"/>
                <a:cs typeface="Times New Roman" panose="02020603050405020304" pitchFamily="18" charset="0"/>
              </a:rPr>
              <a:t>-</a:t>
            </a:r>
            <a:r>
              <a:rPr lang="zh-CN" altLang="en-US" sz="1800" kern="100" dirty="0">
                <a:latin typeface="Calibri" panose="020F0502020204030204" pitchFamily="34" charset="0"/>
                <a:cs typeface="Times New Roman" panose="02020603050405020304" pitchFamily="18" charset="0"/>
              </a:rPr>
              <a:t>资本）</a:t>
            </a:r>
            <a:endParaRPr lang="zh-CN" altLang="zh-CN" sz="1800" kern="100" dirty="0">
              <a:latin typeface="Calibri" panose="020F0502020204030204" pitchFamily="34" charset="0"/>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1487817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r"/>
            <a:br>
              <a:rPr lang="en-US" altLang="zh-CN" sz="3100" kern="100" dirty="0">
                <a:solidFill>
                  <a:prstClr val="black"/>
                </a:solidFill>
                <a:latin typeface="Calibri" panose="020F0502020204030204" pitchFamily="34" charset="0"/>
                <a:cs typeface="Times New Roman" panose="02020603050405020304" pitchFamily="18" charset="0"/>
              </a:rPr>
            </a:br>
            <a:r>
              <a:rPr lang="zh-CN" altLang="zh-CN" sz="3100" kern="100" dirty="0">
                <a:solidFill>
                  <a:prstClr val="black"/>
                </a:solidFill>
                <a:latin typeface="Calibri" panose="020F0502020204030204" pitchFamily="34" charset="0"/>
                <a:cs typeface="Times New Roman" panose="02020603050405020304" pitchFamily="18" charset="0"/>
              </a:rPr>
              <a:t>生产和商品：马克思主义的“异化说”</a:t>
            </a:r>
            <a:r>
              <a:rPr lang="zh-CN" altLang="en-US" sz="2000" kern="100" dirty="0">
                <a:solidFill>
                  <a:prstClr val="black"/>
                </a:solidFill>
                <a:latin typeface="Calibri" panose="020F0502020204030204" pitchFamily="34" charset="0"/>
                <a:cs typeface="Times New Roman" panose="02020603050405020304" pitchFamily="18" charset="0"/>
              </a:rPr>
              <a:t>（客体化）</a:t>
            </a:r>
            <a:br>
              <a:rPr lang="en-US" altLang="zh-CN" kern="100" dirty="0">
                <a:latin typeface="Calibri" panose="020F0502020204030204" pitchFamily="34" charset="0"/>
                <a:cs typeface="Times New Roman" panose="02020603050405020304" pitchFamily="18" charset="0"/>
              </a:rPr>
            </a:br>
            <a:endParaRPr lang="zh-CN" altLang="en-US" dirty="0"/>
          </a:p>
        </p:txBody>
      </p:sp>
      <p:sp>
        <p:nvSpPr>
          <p:cNvPr id="3" name="内容占位符 2"/>
          <p:cNvSpPr>
            <a:spLocks noGrp="1"/>
          </p:cNvSpPr>
          <p:nvPr>
            <p:ph idx="1"/>
          </p:nvPr>
        </p:nvSpPr>
        <p:spPr/>
        <p:txBody>
          <a:bodyPr/>
          <a:lstStyle/>
          <a:p>
            <a:pPr marL="0" indent="0" algn="just">
              <a:spcAft>
                <a:spcPts val="0"/>
              </a:spcAft>
              <a:buNone/>
            </a:pPr>
            <a:r>
              <a:rPr lang="zh-CN" altLang="en-US" kern="100" dirty="0">
                <a:latin typeface="Calibri" panose="020F0502020204030204" pitchFamily="34" charset="0"/>
                <a:cs typeface="Times New Roman" panose="02020603050405020304" pitchFamily="18" charset="0"/>
              </a:rPr>
              <a:t>客体化</a:t>
            </a:r>
            <a:endParaRPr lang="en-US" altLang="zh-CN" kern="100" dirty="0">
              <a:latin typeface="Calibri" panose="020F0502020204030204" pitchFamily="34" charset="0"/>
              <a:cs typeface="Times New Roman" panose="02020603050405020304" pitchFamily="18" charset="0"/>
            </a:endParaRPr>
          </a:p>
          <a:p>
            <a:pPr marL="0" indent="0" algn="r">
              <a:spcAft>
                <a:spcPts val="0"/>
              </a:spcAft>
              <a:buNone/>
            </a:pPr>
            <a:r>
              <a:rPr lang="zh-CN" altLang="en-US" sz="2000" b="1" kern="100" dirty="0">
                <a:solidFill>
                  <a:srgbClr val="FF0000"/>
                </a:solidFill>
                <a:latin typeface="Calibri" panose="020F0502020204030204" pitchFamily="34" charset="0"/>
                <a:cs typeface="Times New Roman" panose="02020603050405020304" pitchFamily="18" charset="0"/>
              </a:rPr>
              <a:t>生产与需求的分离</a:t>
            </a:r>
            <a:endParaRPr lang="en-US" altLang="zh-CN" sz="2000" b="1" kern="100" dirty="0">
              <a:solidFill>
                <a:srgbClr val="FF0000"/>
              </a:solidFill>
              <a:latin typeface="Calibri" panose="020F0502020204030204" pitchFamily="34" charset="0"/>
              <a:cs typeface="Times New Roman" panose="02020603050405020304" pitchFamily="18" charset="0"/>
            </a:endParaRPr>
          </a:p>
          <a:p>
            <a:pPr algn="r">
              <a:spcAft>
                <a:spcPts val="0"/>
              </a:spcAft>
            </a:pPr>
            <a:r>
              <a:rPr lang="zh-CN" altLang="zh-CN" sz="2000" kern="100" dirty="0">
                <a:latin typeface="Calibri" panose="020F0502020204030204" pitchFamily="34" charset="0"/>
                <a:cs typeface="Times New Roman" panose="02020603050405020304" pitchFamily="18" charset="0"/>
              </a:rPr>
              <a:t>工人制造生产和劳动所得并不属于他们自己，而是属于资本投入的资本家</a:t>
            </a:r>
            <a:endParaRPr lang="en-US" altLang="zh-CN" sz="2000" kern="100" dirty="0">
              <a:latin typeface="Calibri" panose="020F0502020204030204" pitchFamily="34" charset="0"/>
              <a:cs typeface="Times New Roman" panose="02020603050405020304" pitchFamily="18" charset="0"/>
            </a:endParaRPr>
          </a:p>
          <a:p>
            <a:pPr algn="r">
              <a:spcAft>
                <a:spcPts val="0"/>
              </a:spcAft>
            </a:pPr>
            <a:r>
              <a:rPr lang="zh-CN" altLang="zh-CN" sz="2000" kern="100" dirty="0">
                <a:latin typeface="Calibri" panose="020F0502020204030204" pitchFamily="34" charset="0"/>
                <a:cs typeface="Times New Roman" panose="02020603050405020304" pitchFamily="18" charset="0"/>
              </a:rPr>
              <a:t>生产的最终目的不是为了使用</a:t>
            </a:r>
            <a:endParaRPr lang="en-US" altLang="zh-CN" sz="2000" kern="100" dirty="0">
              <a:latin typeface="Calibri" panose="020F0502020204030204" pitchFamily="34" charset="0"/>
              <a:cs typeface="Times New Roman" panose="02020603050405020304" pitchFamily="18" charset="0"/>
            </a:endParaRPr>
          </a:p>
          <a:p>
            <a:pPr algn="r">
              <a:spcAft>
                <a:spcPts val="0"/>
              </a:spcAft>
            </a:pPr>
            <a:r>
              <a:rPr lang="zh-CN" altLang="zh-CN" sz="2000" dirty="0">
                <a:latin typeface="Calibri" panose="020F0502020204030204" pitchFamily="34" charset="0"/>
                <a:cs typeface="Times New Roman" panose="02020603050405020304" pitchFamily="18" charset="0"/>
              </a:rPr>
              <a:t>劳动在使用价值和交换价值分离的过程当中被异化了</a:t>
            </a:r>
            <a:endParaRPr lang="en-US" altLang="zh-CN" sz="2000" dirty="0">
              <a:latin typeface="Calibri" panose="020F0502020204030204" pitchFamily="34" charset="0"/>
              <a:cs typeface="Times New Roman" panose="02020603050405020304" pitchFamily="18" charset="0"/>
            </a:endParaRPr>
          </a:p>
          <a:p>
            <a:pPr algn="r">
              <a:spcAft>
                <a:spcPts val="0"/>
              </a:spcAft>
            </a:pPr>
            <a:r>
              <a:rPr lang="zh-CN" altLang="en-US" sz="2000" dirty="0">
                <a:latin typeface="Calibri" panose="020F0502020204030204" pitchFamily="34" charset="0"/>
                <a:cs typeface="Times New Roman" panose="02020603050405020304" pitchFamily="18" charset="0"/>
              </a:rPr>
              <a:t>劳动的目的是为了维持生活所需，改变了劳动的性质</a:t>
            </a:r>
            <a:r>
              <a:rPr lang="zh-CN" altLang="en-US" sz="1600" dirty="0">
                <a:latin typeface="Calibri" panose="020F0502020204030204" pitchFamily="34" charset="0"/>
                <a:cs typeface="Times New Roman" panose="02020603050405020304" pitchFamily="18" charset="0"/>
              </a:rPr>
              <a:t>（商品化）</a:t>
            </a:r>
            <a:endParaRPr lang="zh-CN" altLang="en-US" sz="1600" dirty="0"/>
          </a:p>
        </p:txBody>
      </p:sp>
      <p:pic>
        <p:nvPicPr>
          <p:cNvPr id="4" name="图片占位符 23">
            <a:extLst>
              <a:ext uri="{FF2B5EF4-FFF2-40B4-BE49-F238E27FC236}">
                <a16:creationId xmlns:a16="http://schemas.microsoft.com/office/drawing/2014/main" id="{08C88204-87F0-4B70-93C8-5974CF56659E}"/>
              </a:ext>
            </a:extLst>
          </p:cNvPr>
          <p:cNvPicPr>
            <a:picLocks noChangeAspect="1"/>
          </p:cNvPicPr>
          <p:nvPr/>
        </p:nvPicPr>
        <p:blipFill rotWithShape="1">
          <a:blip r:embed="rId2"/>
          <a:srcRect l="19703" r="20866"/>
          <a:stretch/>
        </p:blipFill>
        <p:spPr>
          <a:xfrm>
            <a:off x="141249" y="-30997"/>
            <a:ext cx="2074334" cy="3146554"/>
          </a:xfrm>
          <a:custGeom>
            <a:avLst/>
            <a:gdLst>
              <a:gd name="connsiteX0" fmla="*/ 0 w 2074334"/>
              <a:gd name="connsiteY0" fmla="*/ 0 h 3096079"/>
              <a:gd name="connsiteX1" fmla="*/ 2074334 w 2074334"/>
              <a:gd name="connsiteY1" fmla="*/ 0 h 3096079"/>
              <a:gd name="connsiteX2" fmla="*/ 2074334 w 2074334"/>
              <a:gd name="connsiteY2" fmla="*/ 3096079 h 3096079"/>
              <a:gd name="connsiteX3" fmla="*/ 0 w 2074334"/>
              <a:gd name="connsiteY3" fmla="*/ 3096079 h 3096079"/>
            </a:gdLst>
            <a:ahLst/>
            <a:cxnLst>
              <a:cxn ang="0">
                <a:pos x="connsiteX0" y="connsiteY0"/>
              </a:cxn>
              <a:cxn ang="0">
                <a:pos x="connsiteX1" y="connsiteY1"/>
              </a:cxn>
              <a:cxn ang="0">
                <a:pos x="connsiteX2" y="connsiteY2"/>
              </a:cxn>
              <a:cxn ang="0">
                <a:pos x="connsiteX3" y="connsiteY3"/>
              </a:cxn>
            </a:cxnLst>
            <a:rect l="l" t="t" r="r" b="b"/>
            <a:pathLst>
              <a:path w="2074334" h="3096079">
                <a:moveTo>
                  <a:pt x="0" y="0"/>
                </a:moveTo>
                <a:lnTo>
                  <a:pt x="2074334" y="0"/>
                </a:lnTo>
                <a:lnTo>
                  <a:pt x="2074334" y="3096079"/>
                </a:lnTo>
                <a:lnTo>
                  <a:pt x="0" y="3096079"/>
                </a:lnTo>
                <a:close/>
              </a:path>
            </a:pathLst>
          </a:custGeom>
        </p:spPr>
      </p:pic>
      <p:pic>
        <p:nvPicPr>
          <p:cNvPr id="5" name="图片占位符 30">
            <a:extLst>
              <a:ext uri="{FF2B5EF4-FFF2-40B4-BE49-F238E27FC236}">
                <a16:creationId xmlns:a16="http://schemas.microsoft.com/office/drawing/2014/main" id="{4C9825D4-61F2-4515-9F2E-23C7B86815D8}"/>
              </a:ext>
            </a:extLst>
          </p:cNvPr>
          <p:cNvPicPr>
            <a:picLocks noChangeAspect="1"/>
          </p:cNvPicPr>
          <p:nvPr/>
        </p:nvPicPr>
        <p:blipFill>
          <a:blip r:embed="rId3"/>
          <a:srcRect l="114" r="114"/>
          <a:stretch>
            <a:fillRect/>
          </a:stretch>
        </p:blipFill>
        <p:spPr>
          <a:xfrm>
            <a:off x="555317" y="3390589"/>
            <a:ext cx="2074334" cy="2080080"/>
          </a:xfrm>
          <a:custGeom>
            <a:avLst/>
            <a:gdLst>
              <a:gd name="connsiteX0" fmla="*/ 0 w 2074334"/>
              <a:gd name="connsiteY0" fmla="*/ 0 h 2080080"/>
              <a:gd name="connsiteX1" fmla="*/ 2074334 w 2074334"/>
              <a:gd name="connsiteY1" fmla="*/ 0 h 2080080"/>
              <a:gd name="connsiteX2" fmla="*/ 2074334 w 2074334"/>
              <a:gd name="connsiteY2" fmla="*/ 2080080 h 2080080"/>
              <a:gd name="connsiteX3" fmla="*/ 0 w 2074334"/>
              <a:gd name="connsiteY3" fmla="*/ 2080080 h 2080080"/>
            </a:gdLst>
            <a:ahLst/>
            <a:cxnLst>
              <a:cxn ang="0">
                <a:pos x="connsiteX0" y="connsiteY0"/>
              </a:cxn>
              <a:cxn ang="0">
                <a:pos x="connsiteX1" y="connsiteY1"/>
              </a:cxn>
              <a:cxn ang="0">
                <a:pos x="connsiteX2" y="connsiteY2"/>
              </a:cxn>
              <a:cxn ang="0">
                <a:pos x="connsiteX3" y="connsiteY3"/>
              </a:cxn>
            </a:cxnLst>
            <a:rect l="l" t="t" r="r" b="b"/>
            <a:pathLst>
              <a:path w="2074334" h="2080080">
                <a:moveTo>
                  <a:pt x="0" y="0"/>
                </a:moveTo>
                <a:lnTo>
                  <a:pt x="2074334" y="0"/>
                </a:lnTo>
                <a:lnTo>
                  <a:pt x="2074334" y="2080080"/>
                </a:lnTo>
                <a:lnTo>
                  <a:pt x="0" y="2080080"/>
                </a:lnTo>
                <a:close/>
              </a:path>
            </a:pathLst>
          </a:custGeom>
        </p:spPr>
      </p:pic>
    </p:spTree>
    <p:extLst>
      <p:ext uri="{BB962C8B-B14F-4D97-AF65-F5344CB8AC3E}">
        <p14:creationId xmlns:p14="http://schemas.microsoft.com/office/powerpoint/2010/main" val="3343896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7551" y="828241"/>
            <a:ext cx="11476383" cy="1325563"/>
          </a:xfrm>
        </p:spPr>
        <p:txBody>
          <a:bodyPr>
            <a:normAutofit fontScale="90000"/>
          </a:bodyPr>
          <a:lstStyle/>
          <a:p>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疏离化</a:t>
            </a:r>
            <a:br>
              <a:rPr lang="en-US" altLang="zh-CN" kern="100" dirty="0">
                <a:latin typeface="Calibri" panose="020F0502020204030204" pitchFamily="34" charset="0"/>
                <a:cs typeface="Times New Roman" panose="02020603050405020304" pitchFamily="18" charset="0"/>
              </a:rPr>
            </a:br>
            <a:r>
              <a:rPr lang="en-US" altLang="zh-CN" kern="100" dirty="0">
                <a:latin typeface="Calibri" panose="020F0502020204030204" pitchFamily="34" charset="0"/>
                <a:cs typeface="Times New Roman" panose="02020603050405020304" pitchFamily="18" charset="0"/>
              </a:rPr>
              <a:t>             </a:t>
            </a:r>
            <a:r>
              <a:rPr lang="zh-CN" altLang="en-US" sz="2700" kern="100" dirty="0">
                <a:latin typeface="Calibri" panose="020F0502020204030204" pitchFamily="34" charset="0"/>
                <a:cs typeface="Times New Roman" panose="02020603050405020304" pitchFamily="18" charset="0"/>
              </a:rPr>
              <a:t>“</a:t>
            </a:r>
            <a:r>
              <a:rPr lang="zh-CN" altLang="zh-CN" sz="2700" kern="100" dirty="0">
                <a:latin typeface="Calibri" panose="020F0502020204030204" pitchFamily="34" charset="0"/>
                <a:cs typeface="Times New Roman" panose="02020603050405020304" pitchFamily="18" charset="0"/>
              </a:rPr>
              <a:t>外在的劳动，自我异化的劳动，乃是一种自我牺牲或自残的劳动。</a:t>
            </a:r>
            <a:r>
              <a:rPr lang="zh-CN" altLang="en-US" sz="2700" kern="100" dirty="0">
                <a:latin typeface="Calibri" panose="020F0502020204030204" pitchFamily="34" charset="0"/>
                <a:cs typeface="Times New Roman" panose="02020603050405020304" pitchFamily="18" charset="0"/>
              </a:rPr>
              <a:t>”</a:t>
            </a:r>
            <a:br>
              <a:rPr lang="zh-CN" altLang="zh-CN" sz="2700" kern="100" dirty="0">
                <a:latin typeface="Calibri" panose="020F0502020204030204" pitchFamily="34" charset="0"/>
                <a:cs typeface="Times New Roman" panose="02020603050405020304" pitchFamily="18" charset="0"/>
              </a:rPr>
            </a:br>
            <a:endParaRPr lang="zh-CN" altLang="en-US" sz="2700" dirty="0"/>
          </a:p>
        </p:txBody>
      </p:sp>
      <p:sp>
        <p:nvSpPr>
          <p:cNvPr id="3" name="内容占位符 2"/>
          <p:cNvSpPr>
            <a:spLocks noGrp="1"/>
          </p:cNvSpPr>
          <p:nvPr>
            <p:ph idx="1"/>
          </p:nvPr>
        </p:nvSpPr>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工人彼此之间的疏离：竞争关系</a:t>
            </a:r>
          </a:p>
          <a:p>
            <a:pPr algn="just">
              <a:spcAft>
                <a:spcPts val="0"/>
              </a:spcAft>
            </a:pPr>
            <a:r>
              <a:rPr lang="zh-CN" altLang="zh-CN" kern="100" dirty="0">
                <a:latin typeface="Calibri" panose="020F0502020204030204" pitchFamily="34" charset="0"/>
                <a:cs typeface="Times New Roman" panose="02020603050405020304" pitchFamily="18" charset="0"/>
              </a:rPr>
              <a:t>工人与代理</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管理者之间</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控制</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管理与被控制和管理的关系</a:t>
            </a:r>
          </a:p>
          <a:p>
            <a:pPr algn="just">
              <a:spcAft>
                <a:spcPts val="0"/>
              </a:spcAft>
            </a:pPr>
            <a:r>
              <a:rPr lang="zh-CN" altLang="zh-CN" kern="100" dirty="0">
                <a:latin typeface="Calibri" panose="020F0502020204030204" pitchFamily="34" charset="0"/>
                <a:cs typeface="Times New Roman" panose="02020603050405020304" pitchFamily="18" charset="0"/>
              </a:rPr>
              <a:t>产业流水线不可能是一种社会性的合作</a:t>
            </a:r>
            <a:r>
              <a:rPr lang="zh-CN" altLang="en-US" kern="100" dirty="0">
                <a:latin typeface="Calibri" panose="020F0502020204030204" pitchFamily="34" charset="0"/>
                <a:cs typeface="Times New Roman" panose="02020603050405020304" pitchFamily="18" charset="0"/>
              </a:rPr>
              <a:t>和</a:t>
            </a:r>
            <a:r>
              <a:rPr lang="zh-CN" altLang="zh-CN" kern="100" dirty="0">
                <a:latin typeface="Calibri" panose="020F0502020204030204" pitchFamily="34" charset="0"/>
                <a:cs typeface="Times New Roman" panose="02020603050405020304" pitchFamily="18" charset="0"/>
              </a:rPr>
              <a:t>自我实现的经验</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工作之外，才感到自由与真实</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工作所产生的是强迫性的劳作（非劳动）</a:t>
            </a:r>
            <a:endParaRPr lang="zh-CN" altLang="zh-CN" kern="100" dirty="0">
              <a:latin typeface="Calibri" panose="020F0502020204030204" pitchFamily="34" charset="0"/>
              <a:cs typeface="Times New Roman" panose="02020603050405020304" pitchFamily="18" charset="0"/>
            </a:endParaRPr>
          </a:p>
        </p:txBody>
      </p:sp>
      <p:pic>
        <p:nvPicPr>
          <p:cNvPr id="4" name="图片 3">
            <a:extLst>
              <a:ext uri="{FF2B5EF4-FFF2-40B4-BE49-F238E27FC236}">
                <a16:creationId xmlns:a16="http://schemas.microsoft.com/office/drawing/2014/main" id="{22315597-4E4E-4799-97E9-7873E3D2CC4D}"/>
              </a:ext>
            </a:extLst>
          </p:cNvPr>
          <p:cNvPicPr>
            <a:picLocks noChangeAspect="1"/>
          </p:cNvPicPr>
          <p:nvPr/>
        </p:nvPicPr>
        <p:blipFill>
          <a:blip r:embed="rId2"/>
          <a:stretch>
            <a:fillRect/>
          </a:stretch>
        </p:blipFill>
        <p:spPr>
          <a:xfrm>
            <a:off x="8255123" y="4312356"/>
            <a:ext cx="3790121" cy="2356981"/>
          </a:xfrm>
          <a:prstGeom prst="rect">
            <a:avLst/>
          </a:prstGeom>
        </p:spPr>
      </p:pic>
    </p:spTree>
    <p:extLst>
      <p:ext uri="{BB962C8B-B14F-4D97-AF65-F5344CB8AC3E}">
        <p14:creationId xmlns:p14="http://schemas.microsoft.com/office/powerpoint/2010/main" val="1316761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a:t>无法实现“类存在”</a:t>
            </a:r>
          </a:p>
        </p:txBody>
      </p:sp>
      <p:sp>
        <p:nvSpPr>
          <p:cNvPr id="3" name="内容占位符 2"/>
          <p:cNvSpPr>
            <a:spLocks noGrp="1"/>
          </p:cNvSpPr>
          <p:nvPr>
            <p:ph idx="1"/>
          </p:nvPr>
        </p:nvSpPr>
        <p:spPr>
          <a:xfrm>
            <a:off x="417443" y="1825625"/>
            <a:ext cx="10936357" cy="4351338"/>
          </a:xfrm>
        </p:spPr>
        <p:txBody>
          <a:bodyPr/>
          <a:lstStyle/>
          <a:p>
            <a:pPr marL="0" indent="0" algn="just">
              <a:spcAft>
                <a:spcPts val="0"/>
              </a:spcAft>
              <a:buNone/>
            </a:pPr>
            <a:r>
              <a:rPr lang="en-US" altLang="zh-CN" kern="100" dirty="0">
                <a:latin typeface="Calibri" panose="020F0502020204030204" pitchFamily="34" charset="0"/>
                <a:cs typeface="Times New Roman" panose="02020603050405020304" pitchFamily="18" charset="0"/>
              </a:rPr>
              <a:t> </a:t>
            </a:r>
          </a:p>
          <a:p>
            <a:pPr algn="just">
              <a:spcAft>
                <a:spcPts val="0"/>
              </a:spcAft>
            </a:pPr>
            <a:r>
              <a:rPr lang="zh-CN" altLang="en-US" kern="100" dirty="0">
                <a:latin typeface="Calibri" panose="020F0502020204030204" pitchFamily="34" charset="0"/>
                <a:cs typeface="Times New Roman" panose="02020603050405020304" pitchFamily="18" charset="0"/>
              </a:rPr>
              <a:t>劳动的公共性</a:t>
            </a:r>
            <a:r>
              <a:rPr lang="zh-CN" altLang="en-US" sz="1600" kern="100" dirty="0">
                <a:latin typeface="Calibri" panose="020F0502020204030204" pitchFamily="34" charset="0"/>
                <a:cs typeface="Times New Roman" panose="02020603050405020304" pitchFamily="18" charset="0"/>
              </a:rPr>
              <a:t>（“朝菌不知晦塑，蟪蛄不知春秋”：人类世界与社会）</a:t>
            </a:r>
            <a:endParaRPr lang="en-US" altLang="zh-CN" sz="1600"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创造性活动的丧失</a:t>
            </a:r>
            <a:r>
              <a:rPr lang="zh-CN" altLang="en-US" sz="1600" kern="100" dirty="0">
                <a:latin typeface="Calibri" panose="020F0502020204030204" pitchFamily="34" charset="0"/>
                <a:cs typeface="Times New Roman" panose="02020603050405020304" pitchFamily="18" charset="0"/>
              </a:rPr>
              <a:t>（劳动力和劳动生命力）</a:t>
            </a:r>
            <a:endParaRPr lang="en-US" altLang="zh-CN" sz="1600"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概念发展：工作与消费的一体化</a:t>
            </a:r>
            <a:endParaRPr lang="zh-CN" altLang="zh-CN" kern="100" dirty="0">
              <a:latin typeface="Calibri" panose="020F0502020204030204" pitchFamily="34" charset="0"/>
              <a:cs typeface="Times New Roman" panose="02020603050405020304" pitchFamily="18" charset="0"/>
            </a:endParaRPr>
          </a:p>
          <a:p>
            <a:pPr marL="0" indent="0" algn="just">
              <a:spcAft>
                <a:spcPts val="0"/>
              </a:spcAft>
              <a:buNone/>
            </a:pPr>
            <a:endParaRPr lang="en-US" altLang="zh-CN" kern="100" dirty="0">
              <a:latin typeface="Calibri" panose="020F0502020204030204" pitchFamily="34" charset="0"/>
              <a:cs typeface="Times New Roman" panose="02020603050405020304" pitchFamily="18" charset="0"/>
            </a:endParaRPr>
          </a:p>
          <a:p>
            <a:pPr marL="0" indent="0" algn="just">
              <a:spcAft>
                <a:spcPts val="0"/>
              </a:spcAft>
              <a:buNone/>
            </a:pPr>
            <a:r>
              <a:rPr lang="zh-CN" altLang="zh-CN" kern="100" dirty="0">
                <a:latin typeface="Calibri" panose="020F0502020204030204" pitchFamily="34" charset="0"/>
                <a:cs typeface="Times New Roman" panose="02020603050405020304" pitchFamily="18" charset="0"/>
              </a:rPr>
              <a:t>马克思</a:t>
            </a:r>
            <a:r>
              <a:rPr lang="zh-CN" altLang="en-US" kern="100" dirty="0">
                <a:latin typeface="Calibri" panose="020F0502020204030204" pitchFamily="34" charset="0"/>
                <a:cs typeface="Times New Roman" panose="02020603050405020304" pitchFamily="18" charset="0"/>
              </a:rPr>
              <a:t> ：</a:t>
            </a:r>
            <a:r>
              <a:rPr lang="zh-CN" altLang="en-US" kern="100" dirty="0">
                <a:solidFill>
                  <a:srgbClr val="FF0000"/>
                </a:solidFill>
                <a:latin typeface="Calibri" panose="020F0502020204030204" pitchFamily="34" charset="0"/>
                <a:cs typeface="Times New Roman" panose="02020603050405020304" pitchFamily="18" charset="0"/>
              </a:rPr>
              <a:t>“</a:t>
            </a:r>
            <a:r>
              <a:rPr lang="zh-CN" altLang="zh-CN" kern="100" dirty="0">
                <a:solidFill>
                  <a:srgbClr val="FF0000"/>
                </a:solidFill>
                <a:latin typeface="Calibri" panose="020F0502020204030204" pitchFamily="34" charset="0"/>
                <a:cs typeface="Times New Roman" panose="02020603050405020304" pitchFamily="18" charset="0"/>
              </a:rPr>
              <a:t>异化</a:t>
            </a:r>
            <a:r>
              <a:rPr lang="zh-CN" altLang="en-US" kern="100" dirty="0">
                <a:solidFill>
                  <a:srgbClr val="FF0000"/>
                </a:solidFill>
                <a:latin typeface="Calibri" panose="020F0502020204030204" pitchFamily="34" charset="0"/>
                <a:cs typeface="Times New Roman" panose="02020603050405020304" pitchFamily="18" charset="0"/>
              </a:rPr>
              <a:t>”</a:t>
            </a:r>
            <a:r>
              <a:rPr lang="zh-CN" altLang="zh-CN" kern="100" dirty="0">
                <a:solidFill>
                  <a:srgbClr val="FF0000"/>
                </a:solidFill>
                <a:latin typeface="Calibri" panose="020F0502020204030204" pitchFamily="34" charset="0"/>
                <a:cs typeface="Times New Roman" panose="02020603050405020304" pitchFamily="18" charset="0"/>
              </a:rPr>
              <a:t>乃是一种社会与历史的</a:t>
            </a:r>
            <a:r>
              <a:rPr lang="zh-CN" altLang="en-US" kern="100" dirty="0">
                <a:solidFill>
                  <a:srgbClr val="FF0000"/>
                </a:solidFill>
                <a:latin typeface="Calibri" panose="020F0502020204030204" pitchFamily="34" charset="0"/>
                <a:cs typeface="Times New Roman" panose="02020603050405020304" pitchFamily="18" charset="0"/>
              </a:rPr>
              <a:t>建构</a:t>
            </a:r>
            <a:r>
              <a:rPr lang="zh-CN" altLang="zh-CN" kern="100" dirty="0">
                <a:solidFill>
                  <a:srgbClr val="FF0000"/>
                </a:solidFill>
                <a:latin typeface="Calibri" panose="020F0502020204030204" pitchFamily="34" charset="0"/>
                <a:cs typeface="Times New Roman" panose="02020603050405020304" pitchFamily="18" charset="0"/>
              </a:rPr>
              <a:t>物</a:t>
            </a:r>
            <a:endParaRPr lang="en-US" altLang="zh-CN" kern="100" dirty="0">
              <a:solidFill>
                <a:srgbClr val="FF0000"/>
              </a:solidFill>
              <a:latin typeface="Calibri" panose="020F0502020204030204" pitchFamily="34" charset="0"/>
              <a:cs typeface="Times New Roman" panose="02020603050405020304" pitchFamily="18" charset="0"/>
            </a:endParaRPr>
          </a:p>
          <a:p>
            <a:pPr marL="0" indent="0" algn="just">
              <a:spcAft>
                <a:spcPts val="0"/>
              </a:spcAft>
              <a:buNone/>
            </a:pPr>
            <a:r>
              <a:rPr lang="zh-CN" altLang="zh-CN" sz="2400" kern="100" dirty="0">
                <a:latin typeface="Calibri" panose="020F0502020204030204" pitchFamily="34" charset="0"/>
                <a:cs typeface="Times New Roman" panose="02020603050405020304" pitchFamily="18" charset="0"/>
              </a:rPr>
              <a:t>人类之所以为人类是因为具有创造性活动的能力</a:t>
            </a:r>
            <a:r>
              <a:rPr lang="zh-CN" altLang="en-US" sz="2400" kern="100" dirty="0">
                <a:latin typeface="Calibri" panose="020F0502020204030204" pitchFamily="34" charset="0"/>
                <a:cs typeface="Times New Roman" panose="02020603050405020304" pitchFamily="18" charset="0"/>
              </a:rPr>
              <a:t>：</a:t>
            </a:r>
            <a:r>
              <a:rPr lang="zh-CN" altLang="zh-CN" sz="2400" kern="100" dirty="0">
                <a:latin typeface="Calibri" panose="020F0502020204030204" pitchFamily="34" charset="0"/>
                <a:cs typeface="Times New Roman" panose="02020603050405020304" pitchFamily="18" charset="0"/>
              </a:rPr>
              <a:t>异化的劳动是将劳动限制在商品生产的范畴里，使人失去了创造性生活的能力，无法实现“类存在”的生存</a:t>
            </a:r>
          </a:p>
          <a:p>
            <a:pPr marL="0" indent="0">
              <a:buNone/>
            </a:pPr>
            <a:endParaRPr lang="zh-CN" altLang="en-US" dirty="0"/>
          </a:p>
        </p:txBody>
      </p:sp>
    </p:spTree>
    <p:extLst>
      <p:ext uri="{BB962C8B-B14F-4D97-AF65-F5344CB8AC3E}">
        <p14:creationId xmlns:p14="http://schemas.microsoft.com/office/powerpoint/2010/main" val="4088391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C06B03-2E8E-5BFF-9C6E-772A5ECAF7B2}"/>
              </a:ext>
            </a:extLst>
          </p:cNvPr>
          <p:cNvSpPr>
            <a:spLocks noGrp="1"/>
          </p:cNvSpPr>
          <p:nvPr>
            <p:ph type="title"/>
          </p:nvPr>
        </p:nvSpPr>
        <p:spPr/>
        <p:txBody>
          <a:bodyPr/>
          <a:lstStyle/>
          <a:p>
            <a:r>
              <a:rPr lang="zh-CN" altLang="zh-CN" kern="100" dirty="0">
                <a:latin typeface="等线" panose="02010600030101010101" pitchFamily="2" charset="-122"/>
                <a:ea typeface="等线" panose="02010600030101010101" pitchFamily="2" charset="-122"/>
                <a:cs typeface="Times New Roman" panose="02020603050405020304" pitchFamily="18" charset="0"/>
              </a:rPr>
              <a:t>后果：消费</a:t>
            </a:r>
            <a:r>
              <a:rPr lang="zh-CN" altLang="en-US" kern="100" dirty="0">
                <a:latin typeface="等线" panose="02010600030101010101" pitchFamily="2" charset="-122"/>
                <a:ea typeface="等线" panose="02010600030101010101" pitchFamily="2" charset="-122"/>
                <a:cs typeface="Times New Roman" panose="02020603050405020304" pitchFamily="18" charset="0"/>
              </a:rPr>
              <a:t>是异化的一部分</a:t>
            </a:r>
            <a:r>
              <a:rPr lang="zh-CN" altLang="en-US" sz="1400" kern="100" dirty="0">
                <a:latin typeface="等线" panose="02010600030101010101" pitchFamily="2" charset="-122"/>
                <a:ea typeface="等线" panose="02010600030101010101" pitchFamily="2" charset="-122"/>
                <a:cs typeface="Times New Roman" panose="02020603050405020304" pitchFamily="18" charset="0"/>
              </a:rPr>
              <a:t>（人的异化）</a:t>
            </a:r>
            <a:endParaRPr lang="zh-CN" altLang="en-US" sz="1400" dirty="0"/>
          </a:p>
        </p:txBody>
      </p:sp>
      <p:sp>
        <p:nvSpPr>
          <p:cNvPr id="3" name="内容占位符 2">
            <a:extLst>
              <a:ext uri="{FF2B5EF4-FFF2-40B4-BE49-F238E27FC236}">
                <a16:creationId xmlns:a16="http://schemas.microsoft.com/office/drawing/2014/main" id="{091587D0-EC5E-3F89-F96A-C59A0B2E66DE}"/>
              </a:ext>
            </a:extLst>
          </p:cNvPr>
          <p:cNvSpPr>
            <a:spLocks noGrp="1"/>
          </p:cNvSpPr>
          <p:nvPr>
            <p:ph idx="1"/>
          </p:nvPr>
        </p:nvSpPr>
        <p:spPr>
          <a:xfrm>
            <a:off x="530087" y="1825625"/>
            <a:ext cx="11178209" cy="4351338"/>
          </a:xfrm>
        </p:spPr>
        <p:txBody>
          <a:bodyPr/>
          <a:lstStyle/>
          <a:p>
            <a:pPr algn="just"/>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大生产与大众</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消费的社会</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产生</a:t>
            </a:r>
          </a:p>
          <a:p>
            <a:pPr algn="just">
              <a:buFont typeface="Wingdings" panose="05000000000000000000" pitchFamily="2" charset="2"/>
              <a:buChar char="ü"/>
            </a:pP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消费中的平权：汽车、各种生活用品的科技化</a:t>
            </a:r>
          </a:p>
          <a:p>
            <a:pPr algn="just">
              <a:buFont typeface="Wingdings" panose="05000000000000000000" pitchFamily="2" charset="2"/>
              <a:buChar char="ü"/>
            </a:pP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消费中的区隔：贵族阶层的消失，用商品来维护社会权益的新贵阶层</a:t>
            </a:r>
          </a:p>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消费活动定义个体的概念</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（物品透过材质、款式来完成对人的说明）</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消费具有被</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使用者投资</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的</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文化</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特质</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（物品对人的说明）</a:t>
            </a:r>
            <a:endPar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0" algn="just">
              <a:buNone/>
            </a:pP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使物品重新融入特定场景，物品的意义“否认商业的抽象性”</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（人对物品的塑造与使用）</a:t>
            </a:r>
            <a:endPar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132017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消费主义的当代性</a:t>
            </a:r>
            <a:r>
              <a:rPr lang="zh-CN" altLang="en-US" sz="1400" dirty="0">
                <a:solidFill>
                  <a:srgbClr val="FF0000"/>
                </a:solidFill>
              </a:rPr>
              <a:t>（政治的异化）</a:t>
            </a:r>
          </a:p>
        </p:txBody>
      </p:sp>
      <p:sp>
        <p:nvSpPr>
          <p:cNvPr id="3" name="内容占位符 2"/>
          <p:cNvSpPr>
            <a:spLocks noGrp="1"/>
          </p:cNvSpPr>
          <p:nvPr>
            <p:ph idx="1"/>
          </p:nvPr>
        </p:nvSpPr>
        <p:spPr>
          <a:xfrm>
            <a:off x="502169" y="1825625"/>
            <a:ext cx="11444991" cy="4351338"/>
          </a:xfrm>
        </p:spPr>
        <p:txBody>
          <a:bodyPr>
            <a:normAutofit/>
          </a:bodyPr>
          <a:lstStyle/>
          <a:p>
            <a:pPr algn="just">
              <a:spcAft>
                <a:spcPts val="0"/>
              </a:spcAft>
            </a:pPr>
            <a:r>
              <a:rPr lang="zh-CN" altLang="en-US" sz="2400" kern="100" dirty="0">
                <a:latin typeface="Calibri" panose="020F0502020204030204" pitchFamily="34" charset="0"/>
                <a:cs typeface="Times New Roman" panose="02020603050405020304" pitchFamily="18" charset="0"/>
              </a:rPr>
              <a:t>作为</a:t>
            </a:r>
            <a:r>
              <a:rPr lang="zh-CN" altLang="zh-CN" sz="2400" kern="100" dirty="0">
                <a:latin typeface="Calibri" panose="020F0502020204030204" pitchFamily="34" charset="0"/>
                <a:cs typeface="Times New Roman" panose="02020603050405020304" pitchFamily="18" charset="0"/>
              </a:rPr>
              <a:t>意识形态认为生命的意义在于购买东西和成品的经验</a:t>
            </a:r>
          </a:p>
          <a:p>
            <a:pPr algn="just">
              <a:spcAft>
                <a:spcPts val="0"/>
              </a:spcAft>
            </a:pPr>
            <a:r>
              <a:rPr lang="zh-CN" altLang="zh-CN" sz="2400" kern="100" dirty="0">
                <a:latin typeface="Calibri" panose="020F0502020204030204" pitchFamily="34" charset="0"/>
                <a:cs typeface="Times New Roman" panose="02020603050405020304" pitchFamily="18" charset="0"/>
              </a:rPr>
              <a:t>消费主义的意识形态正当化了资本主义</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en-US" sz="2400" kern="100" dirty="0">
                <a:latin typeface="Calibri" panose="020F0502020204030204" pitchFamily="34" charset="0"/>
                <a:cs typeface="Times New Roman" panose="02020603050405020304" pitchFamily="18" charset="0"/>
              </a:rPr>
              <a:t>增强异化</a:t>
            </a:r>
            <a:r>
              <a:rPr lang="en-US" altLang="zh-CN" sz="2400" kern="100" dirty="0">
                <a:latin typeface="Calibri" panose="020F0502020204030204" pitchFamily="34" charset="0"/>
                <a:cs typeface="Times New Roman" panose="02020603050405020304" pitchFamily="18" charset="0"/>
              </a:rPr>
              <a:t>——</a:t>
            </a:r>
            <a:r>
              <a:rPr lang="zh-CN" altLang="zh-CN" sz="2400" kern="100" dirty="0">
                <a:latin typeface="Calibri" panose="020F0502020204030204" pitchFamily="34" charset="0"/>
                <a:cs typeface="Times New Roman" panose="02020603050405020304" pitchFamily="18" charset="0"/>
              </a:rPr>
              <a:t>只要他们还有薪水可领，消费物品和经验的美梦就是他们生活的动力</a:t>
            </a:r>
            <a:endParaRPr lang="zh-CN" altLang="en-US" sz="2400" dirty="0"/>
          </a:p>
        </p:txBody>
      </p:sp>
    </p:spTree>
    <p:extLst>
      <p:ext uri="{BB962C8B-B14F-4D97-AF65-F5344CB8AC3E}">
        <p14:creationId xmlns:p14="http://schemas.microsoft.com/office/powerpoint/2010/main" val="1885949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E4827-C6DC-3ABB-3A73-C186FAD6375C}"/>
              </a:ext>
            </a:extLst>
          </p:cNvPr>
          <p:cNvSpPr>
            <a:spLocks noGrp="1"/>
          </p:cNvSpPr>
          <p:nvPr>
            <p:ph type="title"/>
          </p:nvPr>
        </p:nvSpPr>
        <p:spPr/>
        <p:txBody>
          <a:bodyPr/>
          <a:lstStyle/>
          <a:p>
            <a:r>
              <a:rPr lang="en-US" altLang="zh-CN" dirty="0"/>
              <a:t>                                                                      </a:t>
            </a:r>
            <a:r>
              <a:rPr lang="zh-CN" altLang="en-US" sz="1400" dirty="0"/>
              <a:t>社会的异化</a:t>
            </a:r>
          </a:p>
        </p:txBody>
      </p:sp>
      <p:sp>
        <p:nvSpPr>
          <p:cNvPr id="3" name="内容占位符 2">
            <a:extLst>
              <a:ext uri="{FF2B5EF4-FFF2-40B4-BE49-F238E27FC236}">
                <a16:creationId xmlns:a16="http://schemas.microsoft.com/office/drawing/2014/main" id="{BDF7D832-7BAC-D398-0752-ADD5703455F8}"/>
              </a:ext>
            </a:extLst>
          </p:cNvPr>
          <p:cNvSpPr>
            <a:spLocks noGrp="1"/>
          </p:cNvSpPr>
          <p:nvPr>
            <p:ph idx="1"/>
          </p:nvPr>
        </p:nvSpPr>
        <p:spPr>
          <a:xfrm>
            <a:off x="368060" y="1825625"/>
            <a:ext cx="11421374" cy="4351338"/>
          </a:xfrm>
        </p:spPr>
        <p:txBody>
          <a:bodyPr/>
          <a:lstStyle/>
          <a:p>
            <a:pPr algn="just"/>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消费需求种类</a:t>
            </a:r>
            <a:r>
              <a:rPr lang="zh-CN" altLang="en-US" sz="2800" kern="100" dirty="0">
                <a:effectLst/>
                <a:latin typeface="等线" panose="02010600030101010101" pitchFamily="2" charset="-122"/>
                <a:ea typeface="等线" panose="02010600030101010101" pitchFamily="2" charset="-122"/>
                <a:cs typeface="Times New Roman" panose="02020603050405020304" pitchFamily="18" charset="0"/>
              </a:rPr>
              <a:t>与文化</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由于资本的驱动，分裂而不稳定</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（美容）</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需求特性与商品的特色难以匹配</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人们对需求或需要越来越不关心</a:t>
            </a:r>
          </a:p>
          <a:p>
            <a:pPr algn="just"/>
            <a:r>
              <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rPr>
              <a:t>商品交换成为满足人类需求的主要方式，</a:t>
            </a:r>
            <a:r>
              <a:rPr lang="zh-CN" altLang="en-US" sz="2800" b="1" kern="100" dirty="0">
                <a:effectLst/>
                <a:latin typeface="等线" panose="02010600030101010101" pitchFamily="2" charset="-122"/>
                <a:ea typeface="等线" panose="02010600030101010101" pitchFamily="2" charset="-122"/>
                <a:cs typeface="Times New Roman" panose="02020603050405020304" pitchFamily="18" charset="0"/>
              </a:rPr>
              <a:t>成为了主要的社会</a:t>
            </a:r>
            <a:r>
              <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rPr>
              <a:t>关系</a:t>
            </a:r>
            <a:endParaRPr lang="en-US"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kern="100" dirty="0">
                <a:latin typeface="等线" panose="02010600030101010101" pitchFamily="2" charset="-122"/>
                <a:ea typeface="等线" panose="02010600030101010101" pitchFamily="2" charset="-122"/>
                <a:cs typeface="Times New Roman" panose="02020603050405020304" pitchFamily="18" charset="0"/>
              </a:rPr>
              <a:t>个体和社会面临越来越多的环境危机</a:t>
            </a:r>
          </a:p>
          <a:p>
            <a:pPr algn="just"/>
            <a:endParaRPr lang="zh-CN" altLang="en-US" dirty="0"/>
          </a:p>
        </p:txBody>
      </p:sp>
    </p:spTree>
    <p:extLst>
      <p:ext uri="{BB962C8B-B14F-4D97-AF65-F5344CB8AC3E}">
        <p14:creationId xmlns:p14="http://schemas.microsoft.com/office/powerpoint/2010/main" val="4016913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90A9BF42-D579-A6CE-4BC0-CC42F9E30F26}"/>
              </a:ext>
            </a:extLst>
          </p:cNvPr>
          <p:cNvPicPr>
            <a:picLocks noGrp="1" noChangeAspect="1"/>
          </p:cNvPicPr>
          <p:nvPr>
            <p:ph idx="1"/>
          </p:nvPr>
        </p:nvPicPr>
        <p:blipFill>
          <a:blip r:embed="rId2"/>
          <a:stretch>
            <a:fillRect/>
          </a:stretch>
        </p:blipFill>
        <p:spPr>
          <a:xfrm>
            <a:off x="2122312" y="863120"/>
            <a:ext cx="3017067" cy="3017067"/>
          </a:xfrm>
          <a:prstGeom prst="rect">
            <a:avLst/>
          </a:prstGeom>
        </p:spPr>
      </p:pic>
      <p:pic>
        <p:nvPicPr>
          <p:cNvPr id="7" name="图片 6">
            <a:extLst>
              <a:ext uri="{FF2B5EF4-FFF2-40B4-BE49-F238E27FC236}">
                <a16:creationId xmlns:a16="http://schemas.microsoft.com/office/drawing/2014/main" id="{137AF529-F710-EF9E-489F-96DCF45BEE4C}"/>
              </a:ext>
            </a:extLst>
          </p:cNvPr>
          <p:cNvPicPr>
            <a:picLocks noChangeAspect="1"/>
          </p:cNvPicPr>
          <p:nvPr/>
        </p:nvPicPr>
        <p:blipFill>
          <a:blip r:embed="rId3"/>
          <a:stretch>
            <a:fillRect/>
          </a:stretch>
        </p:blipFill>
        <p:spPr>
          <a:xfrm>
            <a:off x="5629365" y="1408896"/>
            <a:ext cx="4309418" cy="4309418"/>
          </a:xfrm>
          <a:prstGeom prst="rect">
            <a:avLst/>
          </a:prstGeom>
        </p:spPr>
      </p:pic>
    </p:spTree>
    <p:extLst>
      <p:ext uri="{BB962C8B-B14F-4D97-AF65-F5344CB8AC3E}">
        <p14:creationId xmlns:p14="http://schemas.microsoft.com/office/powerpoint/2010/main" val="3408119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latin typeface="Calibri" panose="020F0502020204030204" pitchFamily="34" charset="0"/>
                <a:cs typeface="Times New Roman" panose="02020603050405020304" pitchFamily="18" charset="0"/>
              </a:rPr>
              <a:t>（二）</a:t>
            </a:r>
            <a:r>
              <a:rPr lang="zh-CN" altLang="zh-CN" dirty="0">
                <a:latin typeface="Calibri" panose="020F0502020204030204" pitchFamily="34" charset="0"/>
                <a:cs typeface="Times New Roman" panose="02020603050405020304" pitchFamily="18" charset="0"/>
              </a:rPr>
              <a:t>消费与象征</a:t>
            </a:r>
            <a:endParaRPr lang="zh-CN" altLang="en-US" dirty="0"/>
          </a:p>
        </p:txBody>
      </p:sp>
      <p:sp>
        <p:nvSpPr>
          <p:cNvPr id="5" name="副标题 4"/>
          <p:cNvSpPr>
            <a:spLocks noGrp="1"/>
          </p:cNvSpPr>
          <p:nvPr>
            <p:ph type="subTitle" idx="1"/>
          </p:nvPr>
        </p:nvSpPr>
        <p:spPr/>
        <p:txBody>
          <a:bodyPr>
            <a:normAutofit fontScale="40000" lnSpcReduction="20000"/>
          </a:bodyPr>
          <a:lstStyle/>
          <a:p>
            <a:r>
              <a:rPr lang="zh-CN" altLang="en-US" dirty="0"/>
              <a:t>社会制度形塑</a:t>
            </a:r>
            <a:r>
              <a:rPr lang="en-US" altLang="zh-CN" dirty="0"/>
              <a:t>-</a:t>
            </a:r>
            <a:r>
              <a:rPr lang="zh-CN" altLang="en-US" dirty="0"/>
              <a:t>个体欲求</a:t>
            </a:r>
            <a:r>
              <a:rPr lang="en-US" altLang="zh-CN" dirty="0"/>
              <a:t>-</a:t>
            </a:r>
            <a:r>
              <a:rPr lang="zh-CN" altLang="en-US" dirty="0"/>
              <a:t>文化结构限定</a:t>
            </a:r>
            <a:endParaRPr lang="en-US" altLang="zh-CN" dirty="0"/>
          </a:p>
          <a:p>
            <a:r>
              <a:rPr lang="zh-CN" altLang="en-US" dirty="0"/>
              <a:t>消费不仅是经济过程，更是一种社会与文化过程</a:t>
            </a:r>
            <a:endParaRPr lang="en-US" altLang="zh-CN" dirty="0"/>
          </a:p>
          <a:p>
            <a:r>
              <a:rPr lang="zh-CN" altLang="en-US" dirty="0"/>
              <a:t>由生产制度导致的人的异化</a:t>
            </a:r>
            <a:r>
              <a:rPr lang="en-US" altLang="zh-CN" dirty="0"/>
              <a:t>-</a:t>
            </a:r>
            <a:r>
              <a:rPr lang="zh-CN" altLang="en-US" dirty="0"/>
              <a:t>人被符号和商品形塑的层次</a:t>
            </a:r>
            <a:endParaRPr lang="en-US" altLang="zh-CN" dirty="0"/>
          </a:p>
          <a:p>
            <a:r>
              <a:rPr lang="zh-CN" altLang="en-US" dirty="0"/>
              <a:t>（韦伯</a:t>
            </a:r>
            <a:endParaRPr lang="en-US" altLang="zh-CN" dirty="0"/>
          </a:p>
          <a:p>
            <a:r>
              <a:rPr lang="zh-CN" altLang="en-US" dirty="0"/>
              <a:t>补充多样性消费者</a:t>
            </a:r>
            <a:endParaRPr lang="en-US" altLang="zh-CN" dirty="0"/>
          </a:p>
          <a:p>
            <a:r>
              <a:rPr lang="zh-CN" altLang="en-US" dirty="0"/>
              <a:t>布波案例</a:t>
            </a:r>
            <a:endParaRPr lang="en-US" altLang="zh-CN" dirty="0"/>
          </a:p>
          <a:p>
            <a:r>
              <a:rPr lang="zh-CN" altLang="en-US" dirty="0"/>
              <a:t>最后一章）</a:t>
            </a:r>
          </a:p>
        </p:txBody>
      </p:sp>
    </p:spTree>
    <p:extLst>
      <p:ext uri="{BB962C8B-B14F-4D97-AF65-F5344CB8AC3E}">
        <p14:creationId xmlns:p14="http://schemas.microsoft.com/office/powerpoint/2010/main" val="773217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消费主义的当代性</a:t>
            </a:r>
            <a:r>
              <a:rPr lang="zh-CN" altLang="en-US" sz="2000" dirty="0">
                <a:solidFill>
                  <a:srgbClr val="FF0000"/>
                </a:solidFill>
              </a:rPr>
              <a:t>现象</a:t>
            </a:r>
            <a:r>
              <a:rPr lang="en-US" altLang="zh-CN" sz="2000" dirty="0">
                <a:solidFill>
                  <a:srgbClr val="FF0000"/>
                </a:solidFill>
              </a:rPr>
              <a:t>-</a:t>
            </a:r>
            <a:r>
              <a:rPr lang="zh-CN" altLang="en-US" sz="2000" dirty="0">
                <a:solidFill>
                  <a:srgbClr val="FF0000"/>
                </a:solidFill>
              </a:rPr>
              <a:t>原因</a:t>
            </a:r>
            <a:r>
              <a:rPr lang="en-US" altLang="zh-CN" sz="2000" dirty="0">
                <a:solidFill>
                  <a:srgbClr val="FF0000"/>
                </a:solidFill>
              </a:rPr>
              <a:t>(</a:t>
            </a:r>
            <a:r>
              <a:rPr lang="zh-CN" altLang="en-US" sz="2000" dirty="0">
                <a:solidFill>
                  <a:srgbClr val="FF0000"/>
                </a:solidFill>
              </a:rPr>
              <a:t>过渡：生产体制</a:t>
            </a:r>
            <a:r>
              <a:rPr lang="en-US" altLang="zh-CN" sz="2000" dirty="0">
                <a:solidFill>
                  <a:srgbClr val="FF0000"/>
                </a:solidFill>
              </a:rPr>
              <a:t>-</a:t>
            </a:r>
            <a:r>
              <a:rPr lang="zh-CN" altLang="en-US" sz="2000" dirty="0">
                <a:solidFill>
                  <a:srgbClr val="FF0000"/>
                </a:solidFill>
              </a:rPr>
              <a:t>媒体的教育</a:t>
            </a:r>
            <a:r>
              <a:rPr lang="en-US" altLang="zh-CN" sz="2000" dirty="0">
                <a:solidFill>
                  <a:srgbClr val="FF0000"/>
                </a:solidFill>
              </a:rPr>
              <a:t>-</a:t>
            </a:r>
            <a:r>
              <a:rPr lang="zh-CN" altLang="en-US" sz="2000" dirty="0">
                <a:solidFill>
                  <a:srgbClr val="FF0000"/>
                </a:solidFill>
              </a:rPr>
              <a:t>符号和象征</a:t>
            </a:r>
            <a:r>
              <a:rPr lang="en-US" altLang="zh-CN" sz="2000" dirty="0">
                <a:solidFill>
                  <a:srgbClr val="FF0000"/>
                </a:solidFill>
              </a:rPr>
              <a:t>)</a:t>
            </a:r>
            <a:br>
              <a:rPr lang="en-US" altLang="zh-CN" sz="2000" dirty="0">
                <a:solidFill>
                  <a:srgbClr val="FF0000"/>
                </a:solidFill>
              </a:rPr>
            </a:br>
            <a:r>
              <a:rPr lang="zh-CN" altLang="en-US" sz="2000" dirty="0">
                <a:solidFill>
                  <a:srgbClr val="FF0000"/>
                </a:solidFill>
              </a:rPr>
              <a:t>市场的扩大</a:t>
            </a:r>
            <a:r>
              <a:rPr lang="en-US" altLang="zh-CN" sz="2000" dirty="0">
                <a:solidFill>
                  <a:srgbClr val="FF0000"/>
                </a:solidFill>
              </a:rPr>
              <a:t>-</a:t>
            </a:r>
            <a:r>
              <a:rPr lang="zh-CN" altLang="en-US" sz="2000" dirty="0">
                <a:solidFill>
                  <a:srgbClr val="FF0000"/>
                </a:solidFill>
              </a:rPr>
              <a:t>需求与物品的偏移构成的意义和象征</a:t>
            </a:r>
            <a:r>
              <a:rPr lang="en-US" altLang="zh-CN" sz="2000" dirty="0">
                <a:solidFill>
                  <a:srgbClr val="FF0000"/>
                </a:solidFill>
              </a:rPr>
              <a:t>-</a:t>
            </a:r>
            <a:r>
              <a:rPr lang="zh-CN" altLang="en-US" sz="2000" dirty="0">
                <a:solidFill>
                  <a:srgbClr val="FF0000"/>
                </a:solidFill>
              </a:rPr>
              <a:t>驱动欲望</a:t>
            </a:r>
          </a:p>
        </p:txBody>
      </p:sp>
      <p:sp>
        <p:nvSpPr>
          <p:cNvPr id="3" name="内容占位符 2"/>
          <p:cNvSpPr>
            <a:spLocks noGrp="1"/>
          </p:cNvSpPr>
          <p:nvPr>
            <p:ph idx="1"/>
          </p:nvPr>
        </p:nvSpPr>
        <p:spPr>
          <a:xfrm>
            <a:off x="356558" y="1825625"/>
            <a:ext cx="10997242" cy="4351338"/>
          </a:xfrm>
        </p:spPr>
        <p:txBody>
          <a:bodyPr>
            <a:normAutofit/>
          </a:bodyPr>
          <a:lstStyle/>
          <a:p>
            <a:pPr algn="just">
              <a:spcAft>
                <a:spcPts val="0"/>
              </a:spcAft>
            </a:pP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zh-CN" sz="2400" kern="100" dirty="0">
                <a:latin typeface="Calibri" panose="020F0502020204030204" pitchFamily="34" charset="0"/>
                <a:cs typeface="Times New Roman" panose="02020603050405020304" pitchFamily="18" charset="0"/>
              </a:rPr>
              <a:t>强大的意识形态</a:t>
            </a:r>
            <a:r>
              <a:rPr lang="zh-CN" altLang="en-US" sz="2400" kern="100" dirty="0">
                <a:latin typeface="Calibri" panose="020F0502020204030204" pitchFamily="34" charset="0"/>
                <a:cs typeface="Times New Roman" panose="02020603050405020304" pitchFamily="18" charset="0"/>
              </a:rPr>
              <a:t>教育：</a:t>
            </a:r>
            <a:r>
              <a:rPr lang="zh-CN" altLang="zh-CN" sz="2400" kern="100" dirty="0">
                <a:latin typeface="Calibri" panose="020F0502020204030204" pitchFamily="34" charset="0"/>
                <a:cs typeface="Times New Roman" panose="02020603050405020304" pitchFamily="18" charset="0"/>
              </a:rPr>
              <a:t>生命的意义在于购买东西和成品的经验</a:t>
            </a:r>
          </a:p>
          <a:p>
            <a:pPr algn="just">
              <a:spcAft>
                <a:spcPts val="0"/>
              </a:spcAft>
            </a:pPr>
            <a:r>
              <a:rPr lang="zh-CN" altLang="zh-CN" sz="2400" kern="100" dirty="0">
                <a:latin typeface="Calibri" panose="020F0502020204030204" pitchFamily="34" charset="0"/>
                <a:cs typeface="Times New Roman" panose="02020603050405020304" pitchFamily="18" charset="0"/>
              </a:rPr>
              <a:t>消费主义的意识形态正当化了资本主义</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en-US" sz="2400" kern="100" dirty="0">
                <a:latin typeface="Calibri" panose="020F0502020204030204" pitchFamily="34" charset="0"/>
                <a:cs typeface="Times New Roman" panose="02020603050405020304" pitchFamily="18" charset="0"/>
              </a:rPr>
              <a:t>加强异化</a:t>
            </a:r>
            <a:r>
              <a:rPr lang="en-US" altLang="zh-CN" sz="2400" kern="100" dirty="0">
                <a:latin typeface="Calibri" panose="020F0502020204030204" pitchFamily="34" charset="0"/>
                <a:cs typeface="Times New Roman" panose="02020603050405020304" pitchFamily="18" charset="0"/>
              </a:rPr>
              <a:t>——</a:t>
            </a:r>
            <a:r>
              <a:rPr lang="zh-CN" altLang="zh-CN" sz="2400" kern="100" dirty="0">
                <a:latin typeface="Calibri" panose="020F0502020204030204" pitchFamily="34" charset="0"/>
                <a:cs typeface="Times New Roman" panose="02020603050405020304" pitchFamily="18" charset="0"/>
              </a:rPr>
              <a:t>只要还有薪水，消费物品和经验的美梦就是生活的动力</a:t>
            </a:r>
            <a:endParaRPr lang="zh-CN" altLang="en-US" sz="2400" dirty="0"/>
          </a:p>
        </p:txBody>
      </p:sp>
    </p:spTree>
    <p:extLst>
      <p:ext uri="{BB962C8B-B14F-4D97-AF65-F5344CB8AC3E}">
        <p14:creationId xmlns:p14="http://schemas.microsoft.com/office/powerpoint/2010/main" val="820941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kern="100" dirty="0">
                <a:latin typeface="Calibri" panose="020F0502020204030204" pitchFamily="34" charset="0"/>
                <a:cs typeface="Times New Roman" panose="02020603050405020304" pitchFamily="18" charset="0"/>
              </a:rPr>
              <a:t>结构主义</a:t>
            </a:r>
            <a:r>
              <a:rPr lang="zh-CN" altLang="en-US" sz="2000" b="1" kern="100" dirty="0">
                <a:latin typeface="Calibri" panose="020F0502020204030204" pitchFamily="34" charset="0"/>
                <a:cs typeface="Times New Roman" panose="02020603050405020304" pitchFamily="18" charset="0"/>
              </a:rPr>
              <a:t>（商品的符号化</a:t>
            </a:r>
            <a:r>
              <a:rPr lang="en-US" altLang="zh-CN" sz="2000" b="1" kern="100" dirty="0">
                <a:latin typeface="Calibri" panose="020F0502020204030204" pitchFamily="34" charset="0"/>
                <a:cs typeface="Times New Roman" panose="02020603050405020304" pitchFamily="18" charset="0"/>
              </a:rPr>
              <a:t>-</a:t>
            </a:r>
            <a:r>
              <a:rPr lang="zh-CN" altLang="en-US" sz="2000" b="1" kern="100" dirty="0">
                <a:latin typeface="Calibri" panose="020F0502020204030204" pitchFamily="34" charset="0"/>
                <a:cs typeface="Times New Roman" panose="02020603050405020304" pitchFamily="18" charset="0"/>
              </a:rPr>
              <a:t>审美化，文化消费）</a:t>
            </a:r>
            <a:endParaRPr lang="zh-CN" altLang="en-US" sz="2000" dirty="0"/>
          </a:p>
        </p:txBody>
      </p:sp>
      <p:sp>
        <p:nvSpPr>
          <p:cNvPr id="3" name="内容占位符 2"/>
          <p:cNvSpPr>
            <a:spLocks noGrp="1"/>
          </p:cNvSpPr>
          <p:nvPr>
            <p:ph idx="1"/>
          </p:nvPr>
        </p:nvSpPr>
        <p:spPr>
          <a:xfrm>
            <a:off x="838200" y="1825625"/>
            <a:ext cx="11353800" cy="4351338"/>
          </a:xfrm>
        </p:spPr>
        <p:txBody>
          <a:bodyPr>
            <a:normAutofit/>
          </a:bodyPr>
          <a:lstStyle/>
          <a:p>
            <a:pPr algn="just">
              <a:spcAft>
                <a:spcPts val="0"/>
              </a:spcAft>
            </a:pPr>
            <a:r>
              <a:rPr lang="zh-CN" altLang="en-US" kern="100" dirty="0">
                <a:latin typeface="Calibri" panose="020F0502020204030204" pitchFamily="34" charset="0"/>
                <a:cs typeface="Times New Roman" panose="02020603050405020304" pitchFamily="18" charset="0"/>
              </a:rPr>
              <a:t>将消费及文化的分析放置到社会阶级结构的架构中进行认识</a:t>
            </a:r>
            <a:endParaRPr lang="en-US" altLang="zh-CN" kern="100" dirty="0">
              <a:latin typeface="Calibri" panose="020F0502020204030204" pitchFamily="34" charset="0"/>
              <a:cs typeface="Times New Roman" panose="02020603050405020304" pitchFamily="18" charset="0"/>
            </a:endParaRPr>
          </a:p>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成为消费者，就必须学习一套特定的文化象征与价值</a:t>
            </a:r>
            <a:endParaRPr lang="en-US" altLang="zh-CN" kern="100" dirty="0">
              <a:latin typeface="Calibri" panose="020F0502020204030204" pitchFamily="34" charset="0"/>
              <a:cs typeface="Times New Roman" panose="02020603050405020304" pitchFamily="18" charset="0"/>
            </a:endParaRPr>
          </a:p>
          <a:p>
            <a:pPr marL="0" indent="0" algn="just">
              <a:spcAft>
                <a:spcPts val="0"/>
              </a:spcAft>
              <a:buNone/>
            </a:pPr>
            <a:r>
              <a:rPr lang="en-US" altLang="zh-CN" sz="2000" kern="100" dirty="0">
                <a:latin typeface="Calibri" panose="020F0502020204030204" pitchFamily="34" charset="0"/>
                <a:cs typeface="Times New Roman" panose="02020603050405020304" pitchFamily="18" charset="0"/>
              </a:rPr>
              <a:t>a</a:t>
            </a:r>
            <a:r>
              <a:rPr lang="zh-CN" altLang="zh-CN" sz="2000" kern="100" dirty="0">
                <a:latin typeface="Calibri" panose="020F0502020204030204" pitchFamily="34" charset="0"/>
                <a:cs typeface="Times New Roman" panose="02020603050405020304" pitchFamily="18" charset="0"/>
              </a:rPr>
              <a:t>必须和潜在的消费者的生活方式产生共鸣，才能发挥实际的影响力</a:t>
            </a:r>
            <a:endParaRPr lang="en-US" altLang="zh-CN" sz="2000" kern="100" dirty="0">
              <a:latin typeface="Calibri" panose="020F0502020204030204" pitchFamily="34" charset="0"/>
              <a:cs typeface="Times New Roman" panose="02020603050405020304" pitchFamily="18" charset="0"/>
            </a:endParaRPr>
          </a:p>
          <a:p>
            <a:pPr marL="0" indent="0" algn="just">
              <a:spcAft>
                <a:spcPts val="0"/>
              </a:spcAft>
              <a:buNone/>
            </a:pPr>
            <a:r>
              <a:rPr lang="en-US" altLang="zh-CN" sz="2000" kern="100" dirty="0">
                <a:latin typeface="Calibri" panose="020F0502020204030204" pitchFamily="34" charset="0"/>
                <a:cs typeface="Times New Roman" panose="02020603050405020304" pitchFamily="18" charset="0"/>
              </a:rPr>
              <a:t>b</a:t>
            </a:r>
            <a:r>
              <a:rPr lang="zh-CN" altLang="zh-CN" sz="2000" kern="100" dirty="0">
                <a:latin typeface="Calibri" panose="020F0502020204030204" pitchFamily="34" charset="0"/>
                <a:cs typeface="Times New Roman" panose="02020603050405020304" pitchFamily="18" charset="0"/>
              </a:rPr>
              <a:t>广告和促销互动必须触动潜在的消费者的欲望</a:t>
            </a:r>
            <a:endParaRPr lang="en-US" altLang="zh-CN" sz="2000" kern="100" dirty="0">
              <a:latin typeface="Calibri" panose="020F0502020204030204" pitchFamily="34" charset="0"/>
              <a:cs typeface="Times New Roman" panose="02020603050405020304" pitchFamily="18" charset="0"/>
            </a:endParaRPr>
          </a:p>
          <a:p>
            <a:pPr marL="0" indent="0" algn="just">
              <a:spcAft>
                <a:spcPts val="0"/>
              </a:spcAft>
              <a:buNone/>
            </a:pPr>
            <a:r>
              <a:rPr lang="en-US" altLang="zh-CN" sz="2000" kern="100" dirty="0">
                <a:latin typeface="Calibri" panose="020F0502020204030204" pitchFamily="34" charset="0"/>
                <a:cs typeface="Times New Roman" panose="02020603050405020304" pitchFamily="18" charset="0"/>
              </a:rPr>
              <a:t>C</a:t>
            </a:r>
            <a:r>
              <a:rPr lang="zh-CN" altLang="zh-CN" sz="2000" kern="100" dirty="0">
                <a:latin typeface="Calibri" panose="020F0502020204030204" pitchFamily="34" charset="0"/>
                <a:cs typeface="Times New Roman" panose="02020603050405020304" pitchFamily="18" charset="0"/>
              </a:rPr>
              <a:t>这种欲望不一定会出现在团体或个人的生活表面，它们很可能潜存在无意识当中</a:t>
            </a:r>
          </a:p>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文化资本与符号意义的生产</a:t>
            </a:r>
            <a:r>
              <a:rPr lang="zh-CN" altLang="en-US" sz="1400" kern="100" dirty="0">
                <a:latin typeface="Calibri" panose="020F0502020204030204" pitchFamily="34" charset="0"/>
                <a:cs typeface="Times New Roman" panose="02020603050405020304" pitchFamily="18" charset="0"/>
              </a:rPr>
              <a:t>（老钱与新钱）</a:t>
            </a:r>
            <a:endParaRPr lang="en-US" altLang="zh-CN" sz="14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8259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A2841-5FF9-3F7E-82BC-8319760BCCD2}"/>
              </a:ext>
            </a:extLst>
          </p:cNvPr>
          <p:cNvSpPr>
            <a:spLocks noGrp="1"/>
          </p:cNvSpPr>
          <p:nvPr>
            <p:ph type="title"/>
          </p:nvPr>
        </p:nvSpPr>
        <p:spPr/>
        <p:txBody>
          <a:bodyPr/>
          <a:lstStyle/>
          <a:p>
            <a:r>
              <a:rPr lang="zh-CN" altLang="en-US" dirty="0"/>
              <a:t>马尔库塞：由制度形塑的消费</a:t>
            </a:r>
          </a:p>
        </p:txBody>
      </p:sp>
      <p:sp>
        <p:nvSpPr>
          <p:cNvPr id="3" name="内容占位符 2">
            <a:extLst>
              <a:ext uri="{FF2B5EF4-FFF2-40B4-BE49-F238E27FC236}">
                <a16:creationId xmlns:a16="http://schemas.microsoft.com/office/drawing/2014/main" id="{54ECEF41-1CA1-B2B0-9CB9-A0D606BE02B0}"/>
              </a:ext>
            </a:extLst>
          </p:cNvPr>
          <p:cNvSpPr>
            <a:spLocks noGrp="1"/>
          </p:cNvSpPr>
          <p:nvPr>
            <p:ph idx="1"/>
          </p:nvPr>
        </p:nvSpPr>
        <p:spPr>
          <a:xfrm>
            <a:off x="838200" y="1825625"/>
            <a:ext cx="10732698" cy="4351338"/>
          </a:xfrm>
        </p:spPr>
        <p:txBody>
          <a:bodyPr/>
          <a:lstStyle/>
          <a:p>
            <a:endParaRPr lang="en-US" altLang="zh-CN" dirty="0"/>
          </a:p>
          <a:p>
            <a:r>
              <a:rPr lang="zh-CN" altLang="en-US" dirty="0"/>
              <a:t>消费经济和资本主义创造了人的第二天性</a:t>
            </a:r>
            <a:endParaRPr lang="en-US" altLang="zh-CN" dirty="0"/>
          </a:p>
          <a:p>
            <a:r>
              <a:rPr lang="zh-CN" altLang="en-US" dirty="0"/>
              <a:t>体制和人的“本能欲望”结合促成消费社会中消费欲望</a:t>
            </a:r>
          </a:p>
          <a:p>
            <a:r>
              <a:rPr lang="zh-CN" altLang="en-US" dirty="0"/>
              <a:t>拥有</a:t>
            </a:r>
            <a:r>
              <a:rPr lang="en-US" altLang="zh-CN" dirty="0"/>
              <a:t>-</a:t>
            </a:r>
            <a:r>
              <a:rPr lang="zh-CN" altLang="en-US" dirty="0"/>
              <a:t>消费</a:t>
            </a:r>
            <a:r>
              <a:rPr lang="en-US" altLang="zh-CN" dirty="0"/>
              <a:t>-</a:t>
            </a:r>
            <a:r>
              <a:rPr lang="zh-CN" altLang="en-US" dirty="0"/>
              <a:t>把持以及持续更新的需要被强加在人们的身上</a:t>
            </a:r>
            <a:endParaRPr lang="en-US" altLang="zh-CN" dirty="0"/>
          </a:p>
          <a:p>
            <a:r>
              <a:rPr lang="zh-CN" altLang="en-US" dirty="0"/>
              <a:t>“第二天性”阻碍和废除人的真正存在，变成消磨在买卖上消费者</a:t>
            </a:r>
            <a:endParaRPr lang="en-US" altLang="zh-CN" dirty="0"/>
          </a:p>
          <a:p>
            <a:endParaRPr lang="en-US" altLang="zh-CN" dirty="0"/>
          </a:p>
        </p:txBody>
      </p:sp>
    </p:spTree>
    <p:extLst>
      <p:ext uri="{BB962C8B-B14F-4D97-AF65-F5344CB8AC3E}">
        <p14:creationId xmlns:p14="http://schemas.microsoft.com/office/powerpoint/2010/main" val="1355574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9B547164-70ED-49AE-941F-6C77949125B5}"/>
              </a:ext>
            </a:extLst>
          </p:cNvPr>
          <p:cNvSpPr>
            <a:spLocks noGrp="1"/>
          </p:cNvSpPr>
          <p:nvPr>
            <p:ph type="body" idx="1"/>
          </p:nvPr>
        </p:nvSpPr>
        <p:spPr/>
        <p:txBody>
          <a:bodyPr/>
          <a:lstStyle/>
          <a:p>
            <a:r>
              <a:rPr lang="zh-CN" altLang="en-US" dirty="0"/>
              <a:t>消费这些物品可以表面什么？</a:t>
            </a:r>
          </a:p>
        </p:txBody>
      </p:sp>
      <p:pic>
        <p:nvPicPr>
          <p:cNvPr id="76802" name="内容占位符 6"/>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1766094" y="1118529"/>
            <a:ext cx="3532188" cy="3263900"/>
          </a:xfrm>
        </p:spPr>
      </p:pic>
      <p:pic>
        <p:nvPicPr>
          <p:cNvPr id="76803" name="内容占位符 7"/>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7748678" y="2957543"/>
            <a:ext cx="2095500" cy="1571625"/>
          </a:xfrm>
        </p:spPr>
      </p:pic>
      <p:pic>
        <p:nvPicPr>
          <p:cNvPr id="76804"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16751" y="977900"/>
            <a:ext cx="2794000"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3903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鲍德里亚</a:t>
            </a:r>
          </a:p>
        </p:txBody>
      </p:sp>
      <p:sp>
        <p:nvSpPr>
          <p:cNvPr id="3" name="内容占位符 2"/>
          <p:cNvSpPr>
            <a:spLocks noGrp="1"/>
          </p:cNvSpPr>
          <p:nvPr>
            <p:ph idx="1"/>
          </p:nvPr>
        </p:nvSpPr>
        <p:spPr>
          <a:xfrm>
            <a:off x="838200" y="1825625"/>
            <a:ext cx="11126492" cy="4351338"/>
          </a:xfrm>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透过消费，创造和展示“我”是谁</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一切象征消费都只是符号的消费</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意义诞生于消费者注意的符号或象征系统之中</a:t>
            </a:r>
            <a:endParaRPr lang="zh-CN"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消费已经变成了一种主动的过程，牵涉到集团与个人认同感的建构</a:t>
            </a:r>
          </a:p>
          <a:p>
            <a:pPr algn="just">
              <a:spcAft>
                <a:spcPts val="0"/>
              </a:spcAft>
            </a:pPr>
            <a:r>
              <a:rPr lang="zh-CN" altLang="en-US" kern="100" dirty="0">
                <a:latin typeface="Calibri" panose="020F0502020204030204" pitchFamily="34" charset="0"/>
                <a:cs typeface="Times New Roman" panose="02020603050405020304" pitchFamily="18" charset="0"/>
              </a:rPr>
              <a:t>透</a:t>
            </a:r>
            <a:r>
              <a:rPr lang="zh-CN" altLang="zh-CN" kern="100" dirty="0">
                <a:latin typeface="Calibri" panose="020F0502020204030204" pitchFamily="34" charset="0"/>
                <a:cs typeface="Times New Roman" panose="02020603050405020304" pitchFamily="18" charset="0"/>
              </a:rPr>
              <a:t>过所消费的</a:t>
            </a:r>
            <a:r>
              <a:rPr lang="zh-CN" altLang="en-US" kern="100" dirty="0">
                <a:latin typeface="Calibri" panose="020F0502020204030204" pitchFamily="34" charset="0"/>
                <a:cs typeface="Times New Roman" panose="02020603050405020304" pitchFamily="18" charset="0"/>
              </a:rPr>
              <a:t>体系</a:t>
            </a:r>
            <a:r>
              <a:rPr lang="zh-CN" altLang="zh-CN" kern="100" dirty="0">
                <a:latin typeface="Calibri" panose="020F0502020204030204" pitchFamily="34" charset="0"/>
                <a:cs typeface="Times New Roman" panose="02020603050405020304" pitchFamily="18" charset="0"/>
              </a:rPr>
              <a:t>来创造出他们是谁的意义</a:t>
            </a:r>
          </a:p>
          <a:p>
            <a:pPr marL="0" indent="0">
              <a:buNone/>
            </a:pPr>
            <a:endParaRPr lang="zh-CN" altLang="en-US" dirty="0"/>
          </a:p>
        </p:txBody>
      </p:sp>
    </p:spTree>
    <p:extLst>
      <p:ext uri="{BB962C8B-B14F-4D97-AF65-F5344CB8AC3E}">
        <p14:creationId xmlns:p14="http://schemas.microsoft.com/office/powerpoint/2010/main" val="2316331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BDFC430-6445-09FD-AC2D-7E472A590664}"/>
              </a:ext>
            </a:extLst>
          </p:cNvPr>
          <p:cNvSpPr>
            <a:spLocks noGrp="1"/>
          </p:cNvSpPr>
          <p:nvPr>
            <p:ph type="title"/>
          </p:nvPr>
        </p:nvSpPr>
        <p:spPr/>
        <p:txBody>
          <a:bodyPr/>
          <a:lstStyle/>
          <a:p>
            <a:r>
              <a:rPr lang="zh-CN" altLang="zh-CN" kern="100" dirty="0">
                <a:latin typeface="等线" panose="02010600030101010101" pitchFamily="2" charset="-122"/>
                <a:ea typeface="等线" panose="02010600030101010101" pitchFamily="2" charset="-122"/>
                <a:cs typeface="Times New Roman" panose="02020603050405020304" pitchFamily="18" charset="0"/>
              </a:rPr>
              <a:t>消费的风格化</a:t>
            </a:r>
            <a:endParaRPr lang="zh-CN" altLang="en-US" dirty="0"/>
          </a:p>
        </p:txBody>
      </p:sp>
      <p:sp>
        <p:nvSpPr>
          <p:cNvPr id="3" name="内容占位符 2">
            <a:extLst>
              <a:ext uri="{FF2B5EF4-FFF2-40B4-BE49-F238E27FC236}">
                <a16:creationId xmlns:a16="http://schemas.microsoft.com/office/drawing/2014/main" id="{481ECE18-3C69-2AE6-0A7C-F75BFA2A91AE}"/>
              </a:ext>
            </a:extLst>
          </p:cNvPr>
          <p:cNvSpPr>
            <a:spLocks noGrp="1"/>
          </p:cNvSpPr>
          <p:nvPr>
            <p:ph idx="1"/>
          </p:nvPr>
        </p:nvSpPr>
        <p:spPr>
          <a:xfrm>
            <a:off x="318051" y="1825625"/>
            <a:ext cx="11655287" cy="4351338"/>
          </a:xfrm>
        </p:spPr>
        <p:txBody>
          <a:bodyPr>
            <a:normAutofit/>
          </a:bodyPr>
          <a:lstStyle/>
          <a:p>
            <a:pPr algn="just"/>
            <a:r>
              <a:rPr lang="zh-CN" altLang="zh-CN" sz="2400" kern="100" dirty="0">
                <a:effectLst/>
                <a:latin typeface="宋体" pitchFamily="2" charset="-122"/>
                <a:ea typeface="宋体" pitchFamily="2" charset="-122"/>
                <a:cs typeface="Times New Roman" panose="02020603050405020304" pitchFamily="18" charset="0"/>
              </a:rPr>
              <a:t>没有</a:t>
            </a:r>
            <a:r>
              <a:rPr lang="zh-CN" altLang="en-US" sz="2400" kern="100" dirty="0">
                <a:effectLst/>
                <a:latin typeface="宋体" pitchFamily="2" charset="-122"/>
                <a:ea typeface="宋体" pitchFamily="2" charset="-122"/>
                <a:cs typeface="Times New Roman" panose="02020603050405020304" pitchFamily="18" charset="0"/>
              </a:rPr>
              <a:t>任何</a:t>
            </a:r>
            <a:r>
              <a:rPr lang="zh-CN" altLang="zh-CN" sz="2400" kern="100" dirty="0">
                <a:effectLst/>
                <a:latin typeface="宋体" pitchFamily="2" charset="-122"/>
                <a:ea typeface="宋体" pitchFamily="2" charset="-122"/>
                <a:cs typeface="Times New Roman" panose="02020603050405020304" pitchFamily="18" charset="0"/>
              </a:rPr>
              <a:t>社会像消费社会充满了各种符号和概念</a:t>
            </a:r>
          </a:p>
          <a:p>
            <a:pPr algn="just"/>
            <a:r>
              <a:rPr lang="zh-CN" altLang="zh-CN" sz="2400" b="1" kern="100" dirty="0">
                <a:latin typeface="宋体" pitchFamily="2" charset="-122"/>
                <a:cs typeface="Times New Roman" panose="02020603050405020304" pitchFamily="18" charset="0"/>
              </a:rPr>
              <a:t>商品独特性</a:t>
            </a:r>
            <a:r>
              <a:rPr lang="zh-CN" altLang="zh-CN" sz="2400" kern="100" dirty="0">
                <a:latin typeface="宋体" pitchFamily="2" charset="-122"/>
                <a:cs typeface="Times New Roman" panose="02020603050405020304" pitchFamily="18" charset="0"/>
              </a:rPr>
              <a:t>基础上构成的价值体系</a:t>
            </a:r>
            <a:r>
              <a:rPr lang="zh-CN" altLang="en-US" sz="1600" kern="100" dirty="0">
                <a:latin typeface="宋体" pitchFamily="2" charset="-122"/>
                <a:cs typeface="Times New Roman" panose="02020603050405020304" pitchFamily="18" charset="0"/>
              </a:rPr>
              <a:t>（</a:t>
            </a:r>
            <a:r>
              <a:rPr lang="zh-CN" altLang="zh-CN" sz="1600" kern="100" dirty="0">
                <a:latin typeface="宋体" pitchFamily="2" charset="-122"/>
                <a:cs typeface="Times New Roman" panose="02020603050405020304" pitchFamily="18" charset="0"/>
              </a:rPr>
              <a:t>商品价值由获得商品价格间接地规定</a:t>
            </a:r>
            <a:r>
              <a:rPr lang="zh-CN" altLang="en-US" sz="1600" kern="100" dirty="0">
                <a:latin typeface="宋体" pitchFamily="2" charset="-122"/>
                <a:cs typeface="Times New Roman" panose="02020603050405020304" pitchFamily="18" charset="0"/>
              </a:rPr>
              <a:t>）</a:t>
            </a:r>
            <a:r>
              <a:rPr lang="zh-CN" altLang="zh-CN" sz="2400" kern="100" dirty="0">
                <a:latin typeface="宋体" pitchFamily="2" charset="-122"/>
                <a:cs typeface="Times New Roman" panose="02020603050405020304" pitchFamily="18" charset="0"/>
              </a:rPr>
              <a:t>已变为在</a:t>
            </a:r>
            <a:r>
              <a:rPr lang="zh-CN" altLang="en-US" sz="2400" b="1" kern="100" dirty="0">
                <a:latin typeface="宋体" pitchFamily="2" charset="-122"/>
                <a:cs typeface="Times New Roman" panose="02020603050405020304" pitchFamily="18" charset="0"/>
              </a:rPr>
              <a:t>社会</a:t>
            </a:r>
            <a:r>
              <a:rPr lang="zh-CN" altLang="zh-CN" sz="2400" b="1" kern="100" dirty="0">
                <a:latin typeface="宋体" pitchFamily="2" charset="-122"/>
                <a:cs typeface="Times New Roman" panose="02020603050405020304" pitchFamily="18" charset="0"/>
              </a:rPr>
              <a:t>性基础上构成的</a:t>
            </a:r>
            <a:r>
              <a:rPr lang="zh-CN" altLang="en-US" sz="2400" b="1" kern="100" dirty="0">
                <a:latin typeface="宋体" pitchFamily="2" charset="-122"/>
                <a:cs typeface="Times New Roman" panose="02020603050405020304" pitchFamily="18" charset="0"/>
              </a:rPr>
              <a:t>价值</a:t>
            </a:r>
            <a:r>
              <a:rPr lang="zh-CN" altLang="zh-CN" sz="2400" b="1" kern="100" dirty="0">
                <a:latin typeface="宋体" pitchFamily="2" charset="-122"/>
                <a:cs typeface="Times New Roman" panose="02020603050405020304" pitchFamily="18" charset="0"/>
              </a:rPr>
              <a:t>体系</a:t>
            </a:r>
            <a:endParaRPr lang="en-US" altLang="zh-CN" sz="2400" b="1" kern="100" dirty="0">
              <a:latin typeface="宋体" pitchFamily="2" charset="-122"/>
              <a:cs typeface="Times New Roman" panose="02020603050405020304" pitchFamily="18" charset="0"/>
            </a:endParaRPr>
          </a:p>
          <a:p>
            <a:pPr algn="just"/>
            <a:r>
              <a:rPr lang="zh-CN" altLang="zh-CN" sz="2400" kern="100" dirty="0">
                <a:effectLst/>
                <a:latin typeface="宋体" pitchFamily="2" charset="-122"/>
                <a:ea typeface="宋体" pitchFamily="2" charset="-122"/>
                <a:cs typeface="Times New Roman" panose="02020603050405020304" pitchFamily="18" charset="0"/>
              </a:rPr>
              <a:t>传播</a:t>
            </a:r>
            <a:r>
              <a:rPr lang="zh-CN" altLang="en-US" sz="2400" kern="100" dirty="0">
                <a:latin typeface="宋体" pitchFamily="2" charset="-122"/>
                <a:ea typeface="宋体" pitchFamily="2" charset="-122"/>
                <a:cs typeface="Times New Roman" panose="02020603050405020304" pitchFamily="18" charset="0"/>
              </a:rPr>
              <a:t>是</a:t>
            </a:r>
            <a:r>
              <a:rPr lang="zh-CN" altLang="zh-CN" sz="2400" kern="100" dirty="0">
                <a:effectLst/>
                <a:latin typeface="宋体" pitchFamily="2" charset="-122"/>
                <a:ea typeface="宋体" pitchFamily="2" charset="-122"/>
                <a:cs typeface="Times New Roman" panose="02020603050405020304" pitchFamily="18" charset="0"/>
              </a:rPr>
              <a:t>决定</a:t>
            </a:r>
            <a:r>
              <a:rPr lang="zh-CN" altLang="en-US" sz="2400" kern="100" dirty="0">
                <a:effectLst/>
                <a:latin typeface="宋体" pitchFamily="2" charset="-122"/>
                <a:ea typeface="宋体" pitchFamily="2" charset="-122"/>
                <a:cs typeface="Times New Roman" panose="02020603050405020304" pitchFamily="18" charset="0"/>
              </a:rPr>
              <a:t>“</a:t>
            </a:r>
            <a:r>
              <a:rPr lang="zh-CN" altLang="zh-CN" sz="2400" kern="100" dirty="0">
                <a:effectLst/>
                <a:latin typeface="宋体" pitchFamily="2" charset="-122"/>
                <a:ea typeface="宋体" pitchFamily="2" charset="-122"/>
                <a:cs typeface="Times New Roman" panose="02020603050405020304" pitchFamily="18" charset="0"/>
              </a:rPr>
              <a:t>物</a:t>
            </a:r>
            <a:r>
              <a:rPr lang="zh-CN" altLang="en-US" sz="2400" kern="100" dirty="0">
                <a:effectLst/>
                <a:latin typeface="宋体" pitchFamily="2" charset="-122"/>
                <a:ea typeface="宋体" pitchFamily="2" charset="-122"/>
                <a:cs typeface="Times New Roman" panose="02020603050405020304" pitchFamily="18" charset="0"/>
              </a:rPr>
              <a:t>”</a:t>
            </a:r>
            <a:r>
              <a:rPr lang="zh-CN" altLang="zh-CN" sz="2400" kern="100" dirty="0">
                <a:effectLst/>
                <a:latin typeface="宋体" pitchFamily="2" charset="-122"/>
                <a:ea typeface="宋体" pitchFamily="2" charset="-122"/>
                <a:cs typeface="Times New Roman" panose="02020603050405020304" pitchFamily="18" charset="0"/>
              </a:rPr>
              <a:t>流经</a:t>
            </a:r>
            <a:r>
              <a:rPr lang="zh-CN" altLang="en-US" sz="2400" kern="100" dirty="0">
                <a:effectLst/>
                <a:latin typeface="宋体" pitchFamily="2" charset="-122"/>
                <a:ea typeface="宋体" pitchFamily="2" charset="-122"/>
                <a:cs typeface="Times New Roman" panose="02020603050405020304" pitchFamily="18" charset="0"/>
              </a:rPr>
              <a:t>的</a:t>
            </a:r>
            <a:r>
              <a:rPr lang="zh-CN" altLang="zh-CN" sz="2400" kern="100" dirty="0">
                <a:effectLst/>
                <a:latin typeface="宋体" pitchFamily="2" charset="-122"/>
                <a:ea typeface="宋体" pitchFamily="2" charset="-122"/>
                <a:cs typeface="Times New Roman" panose="02020603050405020304" pitchFamily="18" charset="0"/>
              </a:rPr>
              <a:t>路径</a:t>
            </a:r>
            <a:r>
              <a:rPr lang="zh-CN" altLang="en-US" sz="2400" kern="100" dirty="0">
                <a:effectLst/>
                <a:latin typeface="宋体" pitchFamily="2" charset="-122"/>
                <a:ea typeface="宋体" pitchFamily="2" charset="-122"/>
                <a:cs typeface="Times New Roman" panose="02020603050405020304" pitchFamily="18" charset="0"/>
              </a:rPr>
              <a:t>，</a:t>
            </a:r>
            <a:r>
              <a:rPr lang="zh-CN" altLang="zh-CN" sz="2400" kern="100" dirty="0">
                <a:effectLst/>
                <a:latin typeface="宋体" pitchFamily="2" charset="-122"/>
                <a:ea typeface="宋体" pitchFamily="2" charset="-122"/>
                <a:cs typeface="Times New Roman" panose="02020603050405020304" pitchFamily="18" charset="0"/>
              </a:rPr>
              <a:t>获得何等价值的关键因素</a:t>
            </a:r>
            <a:endParaRPr lang="zh-CN" altLang="zh-CN" sz="2400" kern="100" dirty="0">
              <a:solidFill>
                <a:srgbClr val="C00000"/>
              </a:solidFill>
              <a:effectLst/>
              <a:latin typeface="宋体" pitchFamily="2" charset="-122"/>
              <a:ea typeface="宋体" pitchFamily="2" charset="-122"/>
              <a:cs typeface="Times New Roman" panose="02020603050405020304" pitchFamily="18" charset="0"/>
            </a:endParaRPr>
          </a:p>
          <a:p>
            <a:pPr algn="just"/>
            <a:r>
              <a:rPr lang="zh-CN" altLang="zh-CN" sz="2400" kern="100" dirty="0">
                <a:effectLst/>
                <a:latin typeface="宋体" pitchFamily="2" charset="-122"/>
                <a:ea typeface="宋体" pitchFamily="2" charset="-122"/>
                <a:cs typeface="Times New Roman" panose="02020603050405020304" pitchFamily="18" charset="0"/>
              </a:rPr>
              <a:t>该变化被认为是美学知识在物体流通过程中变得日益重要而导致的结果</a:t>
            </a:r>
            <a:endParaRPr lang="en-US" altLang="zh-CN" sz="2400" kern="100" dirty="0">
              <a:effectLst/>
              <a:latin typeface="宋体" pitchFamily="2" charset="-122"/>
              <a:ea typeface="宋体" pitchFamily="2" charset="-122"/>
              <a:cs typeface="Times New Roman" panose="02020603050405020304" pitchFamily="18" charset="0"/>
            </a:endParaRPr>
          </a:p>
          <a:p>
            <a:pPr algn="just"/>
            <a:r>
              <a:rPr lang="zh-CN" altLang="zh-CN" sz="2400" kern="100" dirty="0">
                <a:latin typeface="宋体" pitchFamily="2" charset="-122"/>
                <a:cs typeface="Times New Roman" panose="02020603050405020304" pitchFamily="18" charset="0"/>
              </a:rPr>
              <a:t>当代消费是意义的消费</a:t>
            </a:r>
            <a:r>
              <a:rPr lang="zh-CN" altLang="en-US" sz="2400" kern="100" dirty="0">
                <a:latin typeface="宋体" pitchFamily="2" charset="-122"/>
                <a:cs typeface="Times New Roman" panose="02020603050405020304" pitchFamily="18" charset="0"/>
              </a:rPr>
              <a:t>，</a:t>
            </a:r>
            <a:r>
              <a:rPr lang="zh-CN" altLang="zh-CN" sz="2400" kern="100" dirty="0">
                <a:latin typeface="宋体" pitchFamily="2" charset="-122"/>
                <a:cs typeface="Times New Roman" panose="02020603050405020304" pitchFamily="18" charset="0"/>
              </a:rPr>
              <a:t>文化是消费社会基本特征</a:t>
            </a:r>
            <a:endParaRPr lang="en-US" altLang="zh-CN" sz="2400" kern="100" dirty="0">
              <a:latin typeface="宋体" pitchFamily="2" charset="-122"/>
              <a:cs typeface="Times New Roman" panose="02020603050405020304" pitchFamily="18" charset="0"/>
            </a:endParaRPr>
          </a:p>
          <a:p>
            <a:pPr algn="just"/>
            <a:endParaRPr lang="zh-CN" altLang="zh-CN" sz="2400" kern="100" dirty="0">
              <a:effectLst/>
              <a:latin typeface="宋体" pitchFamily="2" charset="-122"/>
              <a:ea typeface="宋体" pitchFamily="2" charset="-122"/>
              <a:cs typeface="Times New Roman" panose="02020603050405020304" pitchFamily="18" charset="0"/>
            </a:endParaRPr>
          </a:p>
        </p:txBody>
      </p:sp>
    </p:spTree>
    <p:extLst>
      <p:ext uri="{BB962C8B-B14F-4D97-AF65-F5344CB8AC3E}">
        <p14:creationId xmlns:p14="http://schemas.microsoft.com/office/powerpoint/2010/main" val="39311869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7B156A-8B33-121C-6766-3AB06F50A54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1DEC630-1E8F-EE67-64E4-34C0199D6AEE}"/>
              </a:ext>
            </a:extLst>
          </p:cNvPr>
          <p:cNvSpPr>
            <a:spLocks noGrp="1"/>
          </p:cNvSpPr>
          <p:nvPr>
            <p:ph idx="1"/>
          </p:nvPr>
        </p:nvSpPr>
        <p:spPr>
          <a:xfrm>
            <a:off x="337929" y="1825625"/>
            <a:ext cx="11748053" cy="4351338"/>
          </a:xfrm>
        </p:spPr>
        <p:txBody>
          <a:bodyPr>
            <a:normAutofit/>
          </a:bodyPr>
          <a:lstStyle/>
          <a:p>
            <a:pPr algn="just"/>
            <a:endParaRPr lang="en-US" altLang="zh-CN" sz="2400" kern="100" dirty="0">
              <a:effectLst/>
              <a:latin typeface="宋体" pitchFamily="2" charset="-122"/>
              <a:ea typeface="宋体" pitchFamily="2" charset="-122"/>
              <a:cs typeface="Times New Roman" panose="02020603050405020304" pitchFamily="18" charset="0"/>
            </a:endParaRPr>
          </a:p>
          <a:p>
            <a:pPr algn="just"/>
            <a:r>
              <a:rPr lang="zh-CN" altLang="zh-CN" sz="2400" kern="100" dirty="0">
                <a:effectLst/>
                <a:latin typeface="宋体" pitchFamily="2" charset="-122"/>
                <a:ea typeface="宋体" pitchFamily="2" charset="-122"/>
                <a:cs typeface="Times New Roman" panose="02020603050405020304" pitchFamily="18" charset="0"/>
              </a:rPr>
              <a:t>概念是现代消费</a:t>
            </a:r>
            <a:r>
              <a:rPr lang="en-US" altLang="zh-CN" sz="2400" kern="100" dirty="0">
                <a:effectLst/>
                <a:latin typeface="宋体" pitchFamily="2" charset="-122"/>
                <a:ea typeface="宋体" pitchFamily="2" charset="-122"/>
                <a:cs typeface="Times New Roman" panose="02020603050405020304" pitchFamily="18" charset="0"/>
              </a:rPr>
              <a:t>-</a:t>
            </a:r>
            <a:r>
              <a:rPr lang="zh-CN" altLang="zh-CN" sz="2400" kern="100" dirty="0">
                <a:effectLst/>
                <a:latin typeface="宋体" pitchFamily="2" charset="-122"/>
                <a:ea typeface="宋体" pitchFamily="2" charset="-122"/>
                <a:cs typeface="Times New Roman" panose="02020603050405020304" pitchFamily="18" charset="0"/>
              </a:rPr>
              <a:t>生产者</a:t>
            </a:r>
            <a:r>
              <a:rPr lang="en-US" altLang="zh-CN" sz="2400" kern="100" dirty="0">
                <a:effectLst/>
                <a:latin typeface="宋体" pitchFamily="2" charset="-122"/>
                <a:ea typeface="宋体" pitchFamily="2" charset="-122"/>
                <a:cs typeface="Times New Roman" panose="02020603050405020304" pitchFamily="18" charset="0"/>
              </a:rPr>
              <a:t>-</a:t>
            </a:r>
            <a:r>
              <a:rPr lang="zh-CN" altLang="zh-CN" sz="2400" kern="100" dirty="0">
                <a:effectLst/>
                <a:latin typeface="宋体" pitchFamily="2" charset="-122"/>
                <a:ea typeface="宋体" pitchFamily="2" charset="-122"/>
                <a:cs typeface="Times New Roman" panose="02020603050405020304" pitchFamily="18" charset="0"/>
              </a:rPr>
              <a:t>消费者关系之中心</a:t>
            </a:r>
            <a:endParaRPr lang="en-US" altLang="zh-CN" sz="2400" kern="100" dirty="0">
              <a:effectLst/>
              <a:latin typeface="宋体" pitchFamily="2" charset="-122"/>
              <a:ea typeface="宋体" pitchFamily="2" charset="-122"/>
              <a:cs typeface="Times New Roman" panose="02020603050405020304" pitchFamily="18" charset="0"/>
            </a:endParaRPr>
          </a:p>
          <a:p>
            <a:pPr algn="just"/>
            <a:r>
              <a:rPr lang="zh-CN" altLang="zh-CN" sz="2400" kern="100" dirty="0">
                <a:effectLst/>
                <a:latin typeface="宋体" pitchFamily="2" charset="-122"/>
                <a:ea typeface="宋体" pitchFamily="2" charset="-122"/>
                <a:cs typeface="Times New Roman" panose="02020603050405020304" pitchFamily="18" charset="0"/>
              </a:rPr>
              <a:t>对概念意义的控制同样也是该关系权力分布的中心</a:t>
            </a:r>
            <a:r>
              <a:rPr lang="zh-CN" altLang="en-US" sz="2400" kern="100" dirty="0">
                <a:effectLst/>
                <a:latin typeface="宋体" pitchFamily="2" charset="-122"/>
                <a:ea typeface="宋体" pitchFamily="2" charset="-122"/>
                <a:cs typeface="Times New Roman" panose="02020603050405020304" pitchFamily="18" charset="0"/>
              </a:rPr>
              <a:t>（符号意义生产的话语权）</a:t>
            </a:r>
            <a:endParaRPr lang="en-US" altLang="zh-CN" sz="2400" kern="100" dirty="0">
              <a:effectLst/>
              <a:latin typeface="宋体" pitchFamily="2" charset="-122"/>
              <a:ea typeface="宋体" pitchFamily="2" charset="-122"/>
              <a:cs typeface="Times New Roman" panose="02020603050405020304" pitchFamily="18" charset="0"/>
            </a:endParaRPr>
          </a:p>
          <a:p>
            <a:pPr algn="just"/>
            <a:r>
              <a:rPr lang="zh-CN" altLang="zh-CN" sz="2400" b="1" kern="100" dirty="0">
                <a:effectLst/>
                <a:latin typeface="宋体" pitchFamily="2" charset="-122"/>
                <a:ea typeface="宋体" pitchFamily="2" charset="-122"/>
                <a:cs typeface="Times New Roman" panose="02020603050405020304" pitchFamily="18" charset="0"/>
              </a:rPr>
              <a:t>生产者实体将意义商品化，也就是说把概念和符号变成可以买卖的东西</a:t>
            </a:r>
          </a:p>
          <a:p>
            <a:pPr algn="just"/>
            <a:r>
              <a:rPr lang="zh-CN" altLang="zh-CN" sz="2400" kern="100" dirty="0">
                <a:effectLst/>
                <a:latin typeface="宋体" pitchFamily="2" charset="-122"/>
                <a:ea typeface="宋体" pitchFamily="2" charset="-122"/>
                <a:cs typeface="Times New Roman" panose="02020603050405020304" pitchFamily="18" charset="0"/>
              </a:rPr>
              <a:t>消费者试图赋予买来的商品和服务以自己的含义</a:t>
            </a:r>
          </a:p>
          <a:p>
            <a:pPr marL="0" indent="0" algn="just">
              <a:buNone/>
            </a:pPr>
            <a:endParaRPr lang="zh-CN" altLang="zh-CN" sz="2400" kern="100" dirty="0">
              <a:effectLst/>
              <a:latin typeface="宋体" pitchFamily="2" charset="-122"/>
              <a:ea typeface="宋体" pitchFamily="2" charset="-122"/>
              <a:cs typeface="Times New Roman" panose="02020603050405020304" pitchFamily="18" charset="0"/>
            </a:endParaRPr>
          </a:p>
          <a:p>
            <a:pPr marL="0" indent="0" algn="just">
              <a:buNone/>
            </a:pP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3333761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br>
              <a:rPr lang="en-US" altLang="zh-CN" sz="2400" dirty="0"/>
            </a:br>
            <a:r>
              <a:rPr lang="en-US" altLang="zh-CN" sz="2400" dirty="0"/>
              <a:t>                         </a:t>
            </a:r>
            <a:r>
              <a:rPr lang="zh-CN" altLang="en-US" sz="2400" dirty="0"/>
              <a:t>蒋琼耳：爱马仕“上”“下”联合创始人</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93705" y="1825625"/>
            <a:ext cx="4604590" cy="4351338"/>
          </a:xfrm>
        </p:spPr>
      </p:pic>
    </p:spTree>
    <p:extLst>
      <p:ext uri="{BB962C8B-B14F-4D97-AF65-F5344CB8AC3E}">
        <p14:creationId xmlns:p14="http://schemas.microsoft.com/office/powerpoint/2010/main" val="255438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498931-EE82-DCB9-E1D4-37EB56332CFA}"/>
              </a:ext>
            </a:extLst>
          </p:cNvPr>
          <p:cNvSpPr>
            <a:spLocks noGrp="1"/>
          </p:cNvSpPr>
          <p:nvPr>
            <p:ph type="title"/>
          </p:nvPr>
        </p:nvSpPr>
        <p:spPr/>
        <p:txBody>
          <a:bodyPr/>
          <a:lstStyle/>
          <a:p>
            <a:r>
              <a:rPr lang="zh-CN" altLang="zh-CN" kern="100" dirty="0">
                <a:latin typeface="等线" panose="02010600030101010101" pitchFamily="2" charset="-122"/>
                <a:ea typeface="等线" panose="02010600030101010101" pitchFamily="2" charset="-122"/>
                <a:cs typeface="Times New Roman" panose="02020603050405020304" pitchFamily="18" charset="0"/>
              </a:rPr>
              <a:t>习性和品味之争</a:t>
            </a:r>
            <a:endParaRPr lang="zh-CN" altLang="en-US" dirty="0"/>
          </a:p>
        </p:txBody>
      </p:sp>
      <p:sp>
        <p:nvSpPr>
          <p:cNvPr id="3" name="内容占位符 2">
            <a:extLst>
              <a:ext uri="{FF2B5EF4-FFF2-40B4-BE49-F238E27FC236}">
                <a16:creationId xmlns:a16="http://schemas.microsoft.com/office/drawing/2014/main" id="{6B7BBD3F-838A-1ED9-4403-47E4A88343EE}"/>
              </a:ext>
            </a:extLst>
          </p:cNvPr>
          <p:cNvSpPr>
            <a:spLocks noGrp="1"/>
          </p:cNvSpPr>
          <p:nvPr>
            <p:ph idx="1"/>
          </p:nvPr>
        </p:nvSpPr>
        <p:spPr>
          <a:xfrm>
            <a:off x="299803" y="1825625"/>
            <a:ext cx="11564912" cy="4351338"/>
          </a:xfrm>
        </p:spPr>
        <p:txBody>
          <a:bodyPr>
            <a:normAutofit/>
          </a:bodyPr>
          <a:lstStyle/>
          <a:p>
            <a:pPr algn="just"/>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习性不是随意的性情，</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而是</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实践的逻辑</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，该逻辑的</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结构是由社会分类体系决定的</a:t>
            </a:r>
          </a:p>
          <a:p>
            <a:pPr algn="just"/>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当代社会品位的基准归因于现代社会中各个等级的不同经历</a:t>
            </a:r>
            <a:endPar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劳动人民的品味之直觉性是从工作经验和其需求所带来的直接快乐中派生出来的</a:t>
            </a:r>
            <a:endPar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0" algn="just">
              <a:buNone/>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一个从事体力劳动且无法保障物质和舒适</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生活</a:t>
            </a:r>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的人，</a:t>
            </a:r>
            <a:r>
              <a:rPr lang="zh-CN" altLang="en-US" sz="1400" kern="100" dirty="0">
                <a:latin typeface="宋体" panose="02010600030101010101" pitchFamily="2" charset="-122"/>
                <a:ea typeface="宋体" panose="02010600030101010101" pitchFamily="2" charset="-122"/>
                <a:cs typeface="Times New Roman" panose="02020603050405020304" pitchFamily="18" charset="0"/>
              </a:rPr>
              <a:t>就会注重</a:t>
            </a:r>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和向往感官的、肉体的和直接感受</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抽象教育环境中成长、从事脑力工作并且肯定能获得日常必需品的人，会形成</a:t>
            </a:r>
            <a:r>
              <a:rPr lang="zh-CN" altLang="zh-CN" sz="2400" kern="100" dirty="0">
                <a:latin typeface="宋体" panose="02010600030101010101" pitchFamily="2" charset="-122"/>
                <a:cs typeface="Times New Roman" panose="02020603050405020304" pitchFamily="18" charset="0"/>
              </a:rPr>
              <a:t>注重和向往抽象的</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品味、有距离美的和形式上的满足</a:t>
            </a:r>
          </a:p>
          <a:p>
            <a:pPr marL="0" indent="0" algn="just">
              <a:buNone/>
            </a:pPr>
            <a:endParaRPr lang="zh-CN" altLang="en-US" dirty="0"/>
          </a:p>
        </p:txBody>
      </p:sp>
    </p:spTree>
    <p:extLst>
      <p:ext uri="{BB962C8B-B14F-4D97-AF65-F5344CB8AC3E}">
        <p14:creationId xmlns:p14="http://schemas.microsoft.com/office/powerpoint/2010/main" val="18671257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latin typeface="Calibri" panose="020F0502020204030204" pitchFamily="34" charset="0"/>
                <a:cs typeface="Times New Roman" panose="02020603050405020304" pitchFamily="18" charset="0"/>
              </a:rPr>
              <a:t>布尔迪厄《区隔》：文化资本</a:t>
            </a:r>
            <a:endParaRPr lang="zh-CN" altLang="en-US" dirty="0"/>
          </a:p>
        </p:txBody>
      </p:sp>
      <p:sp>
        <p:nvSpPr>
          <p:cNvPr id="3" name="内容占位符 2"/>
          <p:cNvSpPr>
            <a:spLocks noGrp="1"/>
          </p:cNvSpPr>
          <p:nvPr>
            <p:ph idx="1"/>
          </p:nvPr>
        </p:nvSpPr>
        <p:spPr>
          <a:xfrm>
            <a:off x="667109" y="1825625"/>
            <a:ext cx="10686691" cy="4351338"/>
          </a:xfrm>
        </p:spPr>
        <p:txBody>
          <a:bodyPr>
            <a:normAutofit/>
          </a:bodyPr>
          <a:lstStyle/>
          <a:p>
            <a:pPr algn="just">
              <a:spcAft>
                <a:spcPts val="0"/>
              </a:spcAft>
            </a:pPr>
            <a:r>
              <a:rPr lang="zh-CN" altLang="zh-CN" sz="2400" kern="100" dirty="0">
                <a:latin typeface="Calibri" panose="020F0502020204030204" pitchFamily="34" charset="0"/>
                <a:cs typeface="Times New Roman" panose="02020603050405020304" pitchFamily="18" charset="0"/>
              </a:rPr>
              <a:t>布尔迪厄把“资本”扩展到文化与教育的领域，赋予第二重的意义</a:t>
            </a:r>
            <a:r>
              <a:rPr lang="en-US" altLang="zh-CN" sz="2400" kern="100" dirty="0">
                <a:latin typeface="Calibri" panose="020F0502020204030204" pitchFamily="34" charset="0"/>
                <a:cs typeface="Times New Roman" panose="02020603050405020304" pitchFamily="18" charset="0"/>
              </a:rPr>
              <a:t>:</a:t>
            </a:r>
            <a:r>
              <a:rPr lang="zh-CN" altLang="en-US" sz="2400" kern="100" dirty="0">
                <a:latin typeface="Calibri" panose="020F0502020204030204" pitchFamily="34" charset="0"/>
                <a:cs typeface="Times New Roman" panose="02020603050405020304" pitchFamily="18" charset="0"/>
              </a:rPr>
              <a:t>智识资本</a:t>
            </a:r>
            <a:endParaRPr lang="en-US" altLang="zh-CN" sz="2400" kern="100" dirty="0">
              <a:latin typeface="Calibri" panose="020F0502020204030204" pitchFamily="34" charset="0"/>
              <a:cs typeface="Times New Roman" panose="02020603050405020304" pitchFamily="18" charset="0"/>
            </a:endParaRPr>
          </a:p>
          <a:p>
            <a:pPr algn="just">
              <a:spcAft>
                <a:spcPts val="0"/>
              </a:spcAft>
            </a:pP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zh-CN" sz="2400" kern="100" dirty="0">
                <a:latin typeface="Calibri" panose="020F0502020204030204" pitchFamily="34" charset="0"/>
                <a:cs typeface="Times New Roman" panose="02020603050405020304" pitchFamily="18" charset="0"/>
              </a:rPr>
              <a:t>有别于经济资本</a:t>
            </a:r>
            <a:r>
              <a:rPr lang="zh-CN" altLang="en-US" sz="2400" kern="100" dirty="0">
                <a:latin typeface="Calibri" panose="020F0502020204030204" pitchFamily="34" charset="0"/>
                <a:cs typeface="Times New Roman" panose="02020603050405020304" pitchFamily="18" charset="0"/>
              </a:rPr>
              <a:t>，</a:t>
            </a:r>
            <a:r>
              <a:rPr lang="zh-CN" altLang="zh-CN" sz="2400" kern="100" dirty="0">
                <a:latin typeface="Calibri" panose="020F0502020204030204" pitchFamily="34" charset="0"/>
                <a:cs typeface="Times New Roman" panose="02020603050405020304" pitchFamily="18" charset="0"/>
              </a:rPr>
              <a:t>在现代的、工业的、资本主义的社会中，教育系统衍生出了另一种资本结构</a:t>
            </a:r>
            <a:endParaRPr lang="en-US" altLang="zh-CN" sz="2400" kern="100" dirty="0">
              <a:latin typeface="Calibri" panose="020F0502020204030204" pitchFamily="34" charset="0"/>
              <a:cs typeface="Times New Roman" panose="02020603050405020304" pitchFamily="18" charset="0"/>
            </a:endParaRPr>
          </a:p>
          <a:p>
            <a:pPr algn="just">
              <a:spcAft>
                <a:spcPts val="0"/>
              </a:spcAft>
            </a:pP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zh-CN" altLang="zh-CN" sz="2400" kern="100" dirty="0">
                <a:latin typeface="Calibri" panose="020F0502020204030204" pitchFamily="34" charset="0"/>
                <a:cs typeface="Times New Roman" panose="02020603050405020304" pitchFamily="18" charset="0"/>
              </a:rPr>
              <a:t> “当我说到结构主义或结构主义的，我的意思是说，在社会世界本身之中，而不只是象征系统之中，存在着独立于行动意识与意志之外的客观结构，这些客观结构足以引领并限制他们的实践和表述”</a:t>
            </a:r>
            <a:endParaRPr lang="en-US" altLang="zh-CN" sz="2400" kern="100" dirty="0">
              <a:latin typeface="Calibri" panose="020F0502020204030204" pitchFamily="34" charset="0"/>
              <a:cs typeface="Times New Roman" panose="02020603050405020304" pitchFamily="18" charset="0"/>
            </a:endParaRPr>
          </a:p>
          <a:p>
            <a:pPr marL="0" lvl="0" indent="0">
              <a:buNone/>
            </a:pPr>
            <a:r>
              <a:rPr lang="zh-CN" altLang="en-US" dirty="0">
                <a:solidFill>
                  <a:srgbClr val="FF0000"/>
                </a:solidFill>
              </a:rPr>
              <a:t>案例：纪录片</a:t>
            </a:r>
            <a:r>
              <a:rPr lang="en-US" altLang="zh-CN" dirty="0">
                <a:solidFill>
                  <a:srgbClr val="FF0000"/>
                </a:solidFill>
              </a:rPr>
              <a:t>《</a:t>
            </a:r>
            <a:r>
              <a:rPr lang="zh-CN" altLang="en-US" dirty="0">
                <a:solidFill>
                  <a:srgbClr val="FF0000"/>
                </a:solidFill>
              </a:rPr>
              <a:t>出路</a:t>
            </a:r>
            <a:r>
              <a:rPr lang="en-US" altLang="zh-CN" dirty="0">
                <a:solidFill>
                  <a:srgbClr val="FF0000"/>
                </a:solidFill>
              </a:rPr>
              <a:t>》</a:t>
            </a:r>
            <a:endParaRPr lang="zh-CN" altLang="en-US" dirty="0">
              <a:solidFill>
                <a:srgbClr val="FF0000"/>
              </a:solidFill>
            </a:endParaRPr>
          </a:p>
          <a:p>
            <a:pPr marL="0" indent="0" algn="just">
              <a:spcAft>
                <a:spcPts val="0"/>
              </a:spcAft>
              <a:buNone/>
            </a:pPr>
            <a:endParaRPr lang="zh-CN" altLang="zh-CN"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75031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731F5-E9D2-D947-3ED8-5B675AEB6234}"/>
              </a:ext>
            </a:extLst>
          </p:cNvPr>
          <p:cNvSpPr>
            <a:spLocks noGrp="1"/>
          </p:cNvSpPr>
          <p:nvPr>
            <p:ph type="title"/>
          </p:nvPr>
        </p:nvSpPr>
        <p:spPr>
          <a:xfrm>
            <a:off x="337279" y="365125"/>
            <a:ext cx="11242623" cy="1325563"/>
          </a:xfrm>
        </p:spPr>
        <p:txBody>
          <a:bodyPr/>
          <a:lstStyle/>
          <a:p>
            <a:r>
              <a:rPr lang="zh-CN" altLang="zh-CN" kern="100" dirty="0">
                <a:latin typeface="等线" panose="02010600030101010101" pitchFamily="2" charset="-122"/>
                <a:ea typeface="等线" panose="02010600030101010101" pitchFamily="2" charset="-122"/>
                <a:cs typeface="Times New Roman" panose="02020603050405020304" pitchFamily="18" charset="0"/>
              </a:rPr>
              <a:t>布尔迪厄使用了艺术</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r>
              <a:rPr lang="zh-CN" altLang="zh-CN" kern="100" dirty="0">
                <a:latin typeface="等线" panose="02010600030101010101" pitchFamily="2" charset="-122"/>
                <a:ea typeface="等线" panose="02010600030101010101" pitchFamily="2" charset="-122"/>
                <a:cs typeface="Times New Roman" panose="02020603050405020304" pitchFamily="18" charset="0"/>
              </a:rPr>
              <a:t>文化体系</a:t>
            </a:r>
            <a:r>
              <a:rPr lang="zh-CN" altLang="en-US" kern="100" dirty="0">
                <a:latin typeface="等线" panose="02010600030101010101" pitchFamily="2" charset="-122"/>
                <a:ea typeface="等线" panose="02010600030101010101" pitchFamily="2" charset="-122"/>
                <a:cs typeface="Times New Roman" panose="02020603050405020304" pitchFamily="18" charset="0"/>
              </a:rPr>
              <a:t>（</a:t>
            </a:r>
            <a:r>
              <a:rPr lang="zh-CN" altLang="zh-CN" kern="100" dirty="0">
                <a:latin typeface="等线" panose="02010600030101010101" pitchFamily="2" charset="-122"/>
                <a:ea typeface="等线" panose="02010600030101010101" pitchFamily="2" charset="-122"/>
                <a:cs typeface="Times New Roman" panose="02020603050405020304" pitchFamily="18" charset="0"/>
              </a:rPr>
              <a:t>经济概念</a:t>
            </a:r>
            <a:r>
              <a:rPr lang="zh-CN" altLang="en-US" kern="100" dirty="0">
                <a:latin typeface="等线" panose="02010600030101010101" pitchFamily="2" charset="-122"/>
                <a:ea typeface="等线" panose="02010600030101010101" pitchFamily="2" charset="-122"/>
                <a:cs typeface="Times New Roman" panose="02020603050405020304" pitchFamily="18" charset="0"/>
              </a:rPr>
              <a:t>）</a:t>
            </a:r>
            <a:endParaRPr lang="zh-CN" altLang="en-US" dirty="0"/>
          </a:p>
        </p:txBody>
      </p:sp>
      <p:sp>
        <p:nvSpPr>
          <p:cNvPr id="3" name="内容占位符 2">
            <a:extLst>
              <a:ext uri="{FF2B5EF4-FFF2-40B4-BE49-F238E27FC236}">
                <a16:creationId xmlns:a16="http://schemas.microsoft.com/office/drawing/2014/main" id="{38BBFE32-87E2-7CBF-D906-D31B11FD5ACB}"/>
              </a:ext>
            </a:extLst>
          </p:cNvPr>
          <p:cNvSpPr>
            <a:spLocks noGrp="1"/>
          </p:cNvSpPr>
          <p:nvPr>
            <p:ph idx="1"/>
          </p:nvPr>
        </p:nvSpPr>
        <p:spPr>
          <a:xfrm>
            <a:off x="427220" y="1825625"/>
            <a:ext cx="11392524" cy="4351338"/>
          </a:xfrm>
        </p:spPr>
        <p:txBody>
          <a:bodyPr>
            <a:normAutofit/>
          </a:bodyPr>
          <a:lstStyle/>
          <a:p>
            <a:pPr marL="0" indent="0" algn="just">
              <a:buNone/>
            </a:pP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“文化资本”</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艺术</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文化体系的运作是一种经济运作，作为</a:t>
            </a:r>
            <a:r>
              <a:rPr lang="zh-CN" altLang="en-US" sz="2400" kern="100" dirty="0">
                <a:latin typeface="等线" panose="02010600030101010101" pitchFamily="2" charset="-122"/>
                <a:ea typeface="等线" panose="02010600030101010101" pitchFamily="2" charset="-122"/>
                <a:cs typeface="Times New Roman" panose="02020603050405020304" pitchFamily="18" charset="0"/>
              </a:rPr>
              <a:t>其组成</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部分</a:t>
            </a:r>
          </a:p>
          <a:p>
            <a:pPr algn="just"/>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文化经济特点使文化市场</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充满</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竞争、通货膨胀，其目的在于</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阶级</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垄断</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（王中军收藏）</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场域</a:t>
            </a: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不同的社会等级</a:t>
            </a:r>
            <a:r>
              <a:rPr lang="zh-CN" altLang="en-US" sz="24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同一社会等级及</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其</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内不同的阶层都卷入了彼此间为巩固并增加已有文化资本的特殊价值而进行的系列斗争</a:t>
            </a:r>
          </a:p>
          <a:p>
            <a:pPr algn="just"/>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群体以及其它阶层群体，通过使用和增加所拥有的不同类型的文化和经济资本，相互间不断地较量以提高他们的社会地位</a:t>
            </a: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4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（品味和场域的较量）案例</a:t>
            </a:r>
            <a:r>
              <a:rPr lang="zh-CN" altLang="en-US" sz="1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err="1">
                <a:solidFill>
                  <a:srgbClr val="FF0000"/>
                </a:solidFill>
                <a:latin typeface="等线" panose="02010600030101010101" pitchFamily="2" charset="-122"/>
                <a:ea typeface="等线" panose="02010600030101010101" pitchFamily="2" charset="-122"/>
                <a:cs typeface="Times New Roman" panose="02020603050405020304" pitchFamily="18" charset="0"/>
              </a:rPr>
              <a:t>MiuMiu</a:t>
            </a:r>
            <a:r>
              <a:rPr lang="zh-CN" altLang="en-US" sz="1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和</a:t>
            </a:r>
            <a:r>
              <a:rPr lang="en-US" altLang="zh-CN" sz="1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LV</a:t>
            </a:r>
            <a:r>
              <a:rPr lang="zh-CN" altLang="en-US" sz="1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、饭圈与同人</a:t>
            </a:r>
            <a:endParaRPr lang="zh-CN" altLang="zh-CN" sz="14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endParaRPr lang="zh-CN" alt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4274939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3DBE37-93C1-2949-A2E9-0975CFCEBCB9}"/>
              </a:ext>
            </a:extLst>
          </p:cNvPr>
          <p:cNvSpPr>
            <a:spLocks noGrp="1"/>
          </p:cNvSpPr>
          <p:nvPr>
            <p:ph type="title"/>
          </p:nvPr>
        </p:nvSpPr>
        <p:spPr/>
        <p:txBody>
          <a:bodyPr/>
          <a:lstStyle/>
          <a:p>
            <a:r>
              <a:rPr lang="zh-CN" altLang="en-US" dirty="0"/>
              <a:t>小资情调</a:t>
            </a:r>
            <a:r>
              <a:rPr lang="en-US" altLang="zh-CN" dirty="0"/>
              <a:t>&amp;</a:t>
            </a:r>
            <a:r>
              <a:rPr lang="zh-CN" altLang="en-US" dirty="0"/>
              <a:t>布波族</a:t>
            </a:r>
          </a:p>
        </p:txBody>
      </p:sp>
      <p:sp>
        <p:nvSpPr>
          <p:cNvPr id="3" name="内容占位符 2">
            <a:extLst>
              <a:ext uri="{FF2B5EF4-FFF2-40B4-BE49-F238E27FC236}">
                <a16:creationId xmlns:a16="http://schemas.microsoft.com/office/drawing/2014/main" id="{BE8DAF84-5E98-0446-A17B-92231FB04008}"/>
              </a:ext>
            </a:extLst>
          </p:cNvPr>
          <p:cNvSpPr>
            <a:spLocks noGrp="1"/>
          </p:cNvSpPr>
          <p:nvPr>
            <p:ph idx="1"/>
          </p:nvPr>
        </p:nvSpPr>
        <p:spPr>
          <a:xfrm>
            <a:off x="368059" y="1825625"/>
            <a:ext cx="11657163" cy="4351338"/>
          </a:xfrm>
        </p:spPr>
        <p:txBody>
          <a:bodyPr/>
          <a:lstStyle/>
          <a:p>
            <a:pPr algn="just"/>
            <a:r>
              <a:rPr lang="zh-CN" altLang="zh-CN" sz="2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媒体和民主化的高等教育，通过制造意义，鼓励人们将生活方式发展成崇高的计划</a:t>
            </a:r>
          </a:p>
          <a:p>
            <a:pPr algn="just"/>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新兴小资产阶级</a:t>
            </a:r>
            <a:r>
              <a:rPr lang="zh-CN" altLang="en-US" sz="2400" kern="100" dirty="0">
                <a:latin typeface="等线" panose="02010600030101010101" pitchFamily="2" charset="-122"/>
                <a:ea typeface="等线" panose="02010600030101010101" pitchFamily="2" charset="-122"/>
                <a:cs typeface="Times New Roman" panose="02020603050405020304" pitchFamily="18" charset="0"/>
              </a:rPr>
              <a:t>的</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社会资源不充分、社会地位不稳定，加之媒介的加持，使这个阶层有意识的培养自己的学习模式，培养自己的品</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味</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、风格和生活方式</a:t>
            </a:r>
          </a:p>
          <a:p>
            <a:pPr algn="just"/>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强调生产和消费之间的</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变化</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关系对美学知识分布的启示</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考察新兴中产阶级作为消费者的作用</a:t>
            </a: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从品味操纵研究消费者特殊生活方式的表达，特别是不同阶级之间的较量</a:t>
            </a:r>
            <a:endParaRPr lang="zh-CN" altLang="en-US" dirty="0"/>
          </a:p>
        </p:txBody>
      </p:sp>
    </p:spTree>
    <p:extLst>
      <p:ext uri="{BB962C8B-B14F-4D97-AF65-F5344CB8AC3E}">
        <p14:creationId xmlns:p14="http://schemas.microsoft.com/office/powerpoint/2010/main" val="22319375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内涵阐释：</a:t>
            </a:r>
            <a:endParaRPr lang="zh-CN" altLang="en-US" sz="2000" dirty="0">
              <a:solidFill>
                <a:srgbClr val="FF0000"/>
              </a:solidFill>
            </a:endParaRPr>
          </a:p>
        </p:txBody>
      </p:sp>
      <p:sp>
        <p:nvSpPr>
          <p:cNvPr id="3" name="内容占位符 2"/>
          <p:cNvSpPr>
            <a:spLocks noGrp="1"/>
          </p:cNvSpPr>
          <p:nvPr>
            <p:ph idx="1"/>
          </p:nvPr>
        </p:nvSpPr>
        <p:spPr/>
        <p:txBody>
          <a:bodyPr/>
          <a:lstStyle/>
          <a:p>
            <a:pPr lvl="0" algn="just"/>
            <a:endParaRPr lang="en-US" altLang="zh-CN" sz="1800" kern="100" dirty="0">
              <a:solidFill>
                <a:prstClr val="black"/>
              </a:solidFill>
              <a:latin typeface="Calibri" panose="020F0502020204030204" pitchFamily="34" charset="0"/>
              <a:cs typeface="Times New Roman" panose="02020603050405020304" pitchFamily="18" charset="0"/>
            </a:endParaRPr>
          </a:p>
          <a:p>
            <a:pPr lvl="0" algn="just"/>
            <a:r>
              <a:rPr lang="zh-CN" altLang="zh-CN" sz="2400" kern="100" dirty="0">
                <a:solidFill>
                  <a:prstClr val="black"/>
                </a:solidFill>
                <a:latin typeface="Calibri" panose="020F0502020204030204" pitchFamily="34" charset="0"/>
                <a:cs typeface="Times New Roman" panose="02020603050405020304" pitchFamily="18" charset="0"/>
              </a:rPr>
              <a:t>团体的结构位置本身并不会导致团体做出一致的政治活动</a:t>
            </a:r>
            <a:endParaRPr lang="en-US" altLang="zh-CN" sz="2400" kern="100" dirty="0">
              <a:solidFill>
                <a:prstClr val="black"/>
              </a:solidFill>
              <a:latin typeface="Calibri" panose="020F0502020204030204" pitchFamily="34" charset="0"/>
              <a:cs typeface="Times New Roman" panose="02020603050405020304" pitchFamily="18" charset="0"/>
            </a:endParaRPr>
          </a:p>
          <a:p>
            <a:pPr lvl="0" algn="just"/>
            <a:r>
              <a:rPr lang="zh-CN" altLang="zh-CN" sz="2400" kern="100" dirty="0">
                <a:solidFill>
                  <a:prstClr val="black"/>
                </a:solidFill>
                <a:latin typeface="Calibri" panose="020F0502020204030204" pitchFamily="34" charset="0"/>
                <a:cs typeface="Times New Roman" panose="02020603050405020304" pitchFamily="18" charset="0"/>
              </a:rPr>
              <a:t>结构位置并不会衍生出它本身的生活方式或象征意义</a:t>
            </a:r>
            <a:endParaRPr lang="en-US" altLang="zh-CN" sz="2400" kern="100" dirty="0">
              <a:solidFill>
                <a:prstClr val="black"/>
              </a:solidFill>
              <a:latin typeface="Calibri" panose="020F0502020204030204" pitchFamily="34" charset="0"/>
              <a:cs typeface="Times New Roman" panose="02020603050405020304" pitchFamily="18" charset="0"/>
            </a:endParaRPr>
          </a:p>
          <a:p>
            <a:pPr lvl="0" algn="just"/>
            <a:r>
              <a:rPr lang="zh-CN" altLang="zh-CN" sz="2400" kern="100" dirty="0">
                <a:solidFill>
                  <a:prstClr val="black"/>
                </a:solidFill>
                <a:latin typeface="Calibri" panose="020F0502020204030204" pitchFamily="34" charset="0"/>
                <a:cs typeface="Times New Roman" panose="02020603050405020304" pitchFamily="18" charset="0"/>
              </a:rPr>
              <a:t>象征的活动，包括消费，乃是一个具有相对自主性的社会实践</a:t>
            </a:r>
            <a:r>
              <a:rPr lang="zh-CN" altLang="en-US" sz="2400" kern="100" dirty="0">
                <a:solidFill>
                  <a:prstClr val="black"/>
                </a:solidFill>
                <a:latin typeface="Calibri" panose="020F0502020204030204" pitchFamily="34" charset="0"/>
                <a:cs typeface="Times New Roman" panose="02020603050405020304" pitchFamily="18" charset="0"/>
              </a:rPr>
              <a:t>；</a:t>
            </a:r>
            <a:r>
              <a:rPr lang="zh-CN" altLang="zh-CN" sz="2400" kern="100" dirty="0">
                <a:solidFill>
                  <a:srgbClr val="FF0000"/>
                </a:solidFill>
                <a:latin typeface="Calibri" panose="020F0502020204030204" pitchFamily="34" charset="0"/>
                <a:cs typeface="Times New Roman" panose="02020603050405020304" pitchFamily="18" charset="0"/>
              </a:rPr>
              <a:t>它不是直接由某一社会形态中的社经结构位置所决定或生产的</a:t>
            </a:r>
          </a:p>
          <a:p>
            <a:pPr lvl="0" algn="just"/>
            <a:r>
              <a:rPr lang="zh-CN" altLang="zh-CN" sz="2400" kern="100" dirty="0">
                <a:solidFill>
                  <a:prstClr val="black"/>
                </a:solidFill>
                <a:latin typeface="Calibri" panose="020F0502020204030204" pitchFamily="34" charset="0"/>
                <a:cs typeface="Times New Roman" panose="02020603050405020304" pitchFamily="18" charset="0"/>
              </a:rPr>
              <a:t>诸如消费以及消费主义之类的结构位置与文化实践，乃是独立的变项</a:t>
            </a:r>
          </a:p>
          <a:p>
            <a:pPr marL="0" lvl="0" indent="0" algn="just">
              <a:buNone/>
            </a:pPr>
            <a:endParaRPr lang="zh-CN" altLang="zh-CN" sz="2400" kern="100" dirty="0">
              <a:solidFill>
                <a:prstClr val="black"/>
              </a:solidFill>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50790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lvl="0" algn="just"/>
            <a:endParaRPr lang="en-US" altLang="zh-CN" kern="100" dirty="0">
              <a:solidFill>
                <a:prstClr val="black"/>
              </a:solidFill>
              <a:latin typeface="Calibri" panose="020F0502020204030204" pitchFamily="34" charset="0"/>
              <a:cs typeface="Times New Roman" panose="02020603050405020304" pitchFamily="18" charset="0"/>
            </a:endParaRPr>
          </a:p>
          <a:p>
            <a:pPr lvl="0" algn="just"/>
            <a:r>
              <a:rPr lang="zh-CN" altLang="zh-CN" kern="100" dirty="0">
                <a:solidFill>
                  <a:prstClr val="black"/>
                </a:solidFill>
                <a:latin typeface="Calibri" panose="020F0502020204030204" pitchFamily="34" charset="0"/>
                <a:cs typeface="Times New Roman" panose="02020603050405020304" pitchFamily="18" charset="0"/>
              </a:rPr>
              <a:t>消费不仅表达了经济差异，</a:t>
            </a:r>
            <a:r>
              <a:rPr lang="zh-CN" altLang="en-US" kern="100" dirty="0">
                <a:solidFill>
                  <a:prstClr val="black"/>
                </a:solidFill>
                <a:latin typeface="Calibri" panose="020F0502020204030204" pitchFamily="34" charset="0"/>
                <a:cs typeface="Times New Roman" panose="02020603050405020304" pitchFamily="18" charset="0"/>
              </a:rPr>
              <a:t>自主的经济因素</a:t>
            </a:r>
            <a:endParaRPr lang="en-US" altLang="zh-CN" kern="100" dirty="0">
              <a:solidFill>
                <a:prstClr val="black"/>
              </a:solidFill>
              <a:latin typeface="Calibri" panose="020F0502020204030204" pitchFamily="34" charset="0"/>
              <a:cs typeface="Times New Roman" panose="02020603050405020304" pitchFamily="18" charset="0"/>
            </a:endParaRPr>
          </a:p>
          <a:p>
            <a:pPr lvl="0" algn="just"/>
            <a:r>
              <a:rPr lang="zh-CN" altLang="zh-CN" kern="100" dirty="0">
                <a:solidFill>
                  <a:prstClr val="black"/>
                </a:solidFill>
                <a:latin typeface="Calibri" panose="020F0502020204030204" pitchFamily="34" charset="0"/>
                <a:cs typeface="Times New Roman" panose="02020603050405020304" pitchFamily="18" charset="0"/>
              </a:rPr>
              <a:t>消费更是一组社会与文化实践</a:t>
            </a:r>
            <a:r>
              <a:rPr lang="zh-CN" altLang="en-US" kern="100" dirty="0">
                <a:solidFill>
                  <a:prstClr val="black"/>
                </a:solidFill>
                <a:latin typeface="Calibri" panose="020F0502020204030204" pitchFamily="34" charset="0"/>
                <a:cs typeface="Times New Roman" panose="02020603050405020304" pitchFamily="18" charset="0"/>
              </a:rPr>
              <a:t>，建立了社会团体之间的差异</a:t>
            </a:r>
            <a:endParaRPr lang="en-US" altLang="zh-CN" kern="100" dirty="0">
              <a:solidFill>
                <a:prstClr val="black"/>
              </a:solidFill>
              <a:latin typeface="Calibri" panose="020F0502020204030204" pitchFamily="34" charset="0"/>
              <a:cs typeface="Times New Roman" panose="02020603050405020304" pitchFamily="18" charset="0"/>
            </a:endParaRPr>
          </a:p>
          <a:p>
            <a:pPr algn="just"/>
            <a:r>
              <a:rPr lang="zh-CN" altLang="zh-CN" kern="100" dirty="0">
                <a:solidFill>
                  <a:prstClr val="black"/>
                </a:solidFill>
                <a:latin typeface="Calibri" panose="020F0502020204030204" pitchFamily="34" charset="0"/>
                <a:cs typeface="Times New Roman" panose="02020603050405020304" pitchFamily="18" charset="0"/>
              </a:rPr>
              <a:t>消费牵涉到符号、象征和价值</a:t>
            </a:r>
            <a:r>
              <a:rPr lang="zh-CN" altLang="en-US" kern="100" dirty="0">
                <a:solidFill>
                  <a:prstClr val="black"/>
                </a:solidFill>
                <a:latin typeface="Calibri" panose="020F0502020204030204" pitchFamily="34" charset="0"/>
                <a:cs typeface="Times New Roman" panose="02020603050405020304" pitchFamily="18" charset="0"/>
              </a:rPr>
              <a:t>，不应被分析为生物需求的满足</a:t>
            </a:r>
            <a:endParaRPr lang="en-US" altLang="zh-CN" kern="100" dirty="0">
              <a:solidFill>
                <a:prstClr val="black"/>
              </a:solidFill>
              <a:latin typeface="Calibri" panose="020F0502020204030204" pitchFamily="34" charset="0"/>
              <a:cs typeface="Times New Roman" panose="02020603050405020304" pitchFamily="18" charset="0"/>
            </a:endParaRPr>
          </a:p>
          <a:p>
            <a:pPr lvl="0" algn="just"/>
            <a:r>
              <a:rPr lang="zh-CN" altLang="zh-CN" kern="100" dirty="0">
                <a:solidFill>
                  <a:prstClr val="black"/>
                </a:solidFill>
                <a:latin typeface="Calibri" panose="020F0502020204030204" pitchFamily="34" charset="0"/>
                <a:cs typeface="Times New Roman" panose="02020603050405020304" pitchFamily="18" charset="0"/>
              </a:rPr>
              <a:t>文化资本和经济资本之间的关系并不容易厘清</a:t>
            </a:r>
            <a:r>
              <a:rPr lang="zh-CN" altLang="en-US" kern="100" dirty="0">
                <a:solidFill>
                  <a:prstClr val="black"/>
                </a:solidFill>
                <a:latin typeface="Calibri" panose="020F0502020204030204" pitchFamily="34" charset="0"/>
                <a:cs typeface="Times New Roman" panose="02020603050405020304" pitchFamily="18" charset="0"/>
              </a:rPr>
              <a:t>（</a:t>
            </a:r>
            <a:r>
              <a:rPr lang="zh-CN" altLang="en-US" kern="100" dirty="0">
                <a:solidFill>
                  <a:srgbClr val="FF0000"/>
                </a:solidFill>
                <a:latin typeface="Calibri" panose="020F0502020204030204" pitchFamily="34" charset="0"/>
                <a:cs typeface="Times New Roman" panose="02020603050405020304" pitchFamily="18" charset="0"/>
              </a:rPr>
              <a:t>成为传习方式</a:t>
            </a:r>
            <a:r>
              <a:rPr lang="zh-CN" altLang="en-US" kern="100" dirty="0">
                <a:solidFill>
                  <a:prstClr val="black"/>
                </a:solidFill>
                <a:latin typeface="Calibri" panose="020F0502020204030204" pitchFamily="34" charset="0"/>
                <a:cs typeface="Times New Roman" panose="02020603050405020304" pitchFamily="18" charset="0"/>
              </a:rPr>
              <a:t>）</a:t>
            </a:r>
            <a:endParaRPr lang="en-US" altLang="zh-CN" kern="100" dirty="0">
              <a:solidFill>
                <a:prstClr val="black"/>
              </a:solidFill>
              <a:latin typeface="Calibri" panose="020F0502020204030204" pitchFamily="34" charset="0"/>
              <a:cs typeface="Times New Roman" panose="02020603050405020304" pitchFamily="18" charset="0"/>
            </a:endParaRPr>
          </a:p>
          <a:p>
            <a:pPr marL="0" lvl="0" indent="0" algn="just">
              <a:buNone/>
            </a:pPr>
            <a:r>
              <a:rPr lang="zh-CN" altLang="en-US" sz="2000" kern="100" dirty="0">
                <a:solidFill>
                  <a:srgbClr val="FF0000"/>
                </a:solidFill>
                <a:latin typeface="Calibri" panose="020F0502020204030204" pitchFamily="34" charset="0"/>
                <a:cs typeface="Times New Roman" panose="02020603050405020304" pitchFamily="18" charset="0"/>
              </a:rPr>
              <a:t>案例：上海中产家长的焦虑</a:t>
            </a:r>
            <a:endParaRPr lang="en-US" altLang="zh-CN" sz="2000" kern="100" dirty="0">
              <a:solidFill>
                <a:srgbClr val="FF0000"/>
              </a:solidFill>
              <a:latin typeface="Calibri" panose="020F0502020204030204" pitchFamily="34" charset="0"/>
              <a:cs typeface="Times New Roman" panose="02020603050405020304" pitchFamily="18" charset="0"/>
            </a:endParaRPr>
          </a:p>
          <a:p>
            <a:pPr lvl="0" algn="just"/>
            <a:endParaRPr lang="en-US" altLang="zh-CN" kern="100" dirty="0">
              <a:solidFill>
                <a:prstClr val="black"/>
              </a:solidFill>
              <a:latin typeface="Calibri" panose="020F0502020204030204" pitchFamily="34" charset="0"/>
              <a:cs typeface="Times New Roman" panose="02020603050405020304" pitchFamily="18" charset="0"/>
            </a:endParaRPr>
          </a:p>
          <a:p>
            <a:pPr lvl="0"/>
            <a:endParaRPr lang="zh-CN" altLang="en-US" dirty="0">
              <a:solidFill>
                <a:prstClr val="black"/>
              </a:solidFill>
            </a:endParaRPr>
          </a:p>
          <a:p>
            <a:endParaRPr lang="zh-CN" altLang="en-US" dirty="0"/>
          </a:p>
        </p:txBody>
      </p:sp>
    </p:spTree>
    <p:extLst>
      <p:ext uri="{BB962C8B-B14F-4D97-AF65-F5344CB8AC3E}">
        <p14:creationId xmlns:p14="http://schemas.microsoft.com/office/powerpoint/2010/main" val="17652951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059" y="365125"/>
            <a:ext cx="11588151" cy="1325563"/>
          </a:xfrm>
        </p:spPr>
        <p:txBody>
          <a:bodyPr>
            <a:normAutofit/>
          </a:bodyPr>
          <a:lstStyle/>
          <a:p>
            <a:r>
              <a:rPr lang="zh-CN" altLang="en-US" sz="4000" dirty="0"/>
              <a:t>资本主义全球化体系提供的“人”</a:t>
            </a:r>
            <a:r>
              <a:rPr lang="zh-CN" altLang="en-US" sz="2000" dirty="0"/>
              <a:t>（不完整）</a:t>
            </a:r>
            <a:r>
              <a:rPr lang="zh-CN" altLang="en-US" sz="4000" dirty="0"/>
              <a:t>实践路径</a:t>
            </a:r>
          </a:p>
        </p:txBody>
      </p:sp>
      <p:sp>
        <p:nvSpPr>
          <p:cNvPr id="3" name="内容占位符 2"/>
          <p:cNvSpPr>
            <a:spLocks noGrp="1"/>
          </p:cNvSpPr>
          <p:nvPr>
            <p:ph idx="1"/>
          </p:nvPr>
        </p:nvSpPr>
        <p:spPr>
          <a:xfrm>
            <a:off x="120770" y="1825625"/>
            <a:ext cx="11950460" cy="4351338"/>
          </a:xfrm>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消费并非是物质层面</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更是精神层面的</a:t>
            </a:r>
            <a:r>
              <a:rPr lang="zh-CN" altLang="en-US" kern="100" dirty="0">
                <a:latin typeface="Calibri" panose="020F0502020204030204" pitchFamily="34"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消费并非物质过程，而是一种理念上的实践</a:t>
            </a:r>
            <a:r>
              <a:rPr lang="zh-CN" altLang="en-US" kern="100" dirty="0">
                <a:latin typeface="Calibri" panose="020F0502020204030204" pitchFamily="34" charset="0"/>
                <a:cs typeface="Times New Roman" panose="02020603050405020304" pitchFamily="18" charset="0"/>
              </a:rPr>
              <a:t>；</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消费建立在匮乏之上</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永远欲求自己所不拥有的</a:t>
            </a:r>
            <a:r>
              <a:rPr lang="zh-CN" altLang="en-US" sz="2000" kern="100" dirty="0">
                <a:latin typeface="Calibri" panose="020F0502020204030204" pitchFamily="34" charset="0"/>
                <a:cs typeface="Times New Roman" panose="02020603050405020304" pitchFamily="18" charset="0"/>
              </a:rPr>
              <a:t>（理念实践冲动）</a:t>
            </a:r>
            <a:r>
              <a:rPr lang="zh-CN" altLang="en-US" kern="100" dirty="0">
                <a:latin typeface="Calibri" panose="020F0502020204030204" pitchFamily="34" charset="0"/>
                <a:cs typeface="Times New Roman" panose="02020603050405020304" pitchFamily="18" charset="0"/>
              </a:rPr>
              <a:t>；</a:t>
            </a:r>
            <a:endParaRPr lang="en-US" altLang="zh-CN" kern="100" dirty="0">
              <a:latin typeface="Calibri" panose="020F0502020204030204" pitchFamily="34" charset="0"/>
              <a:cs typeface="Times New Roman" panose="02020603050405020304" pitchFamily="18" charset="0"/>
            </a:endParaRPr>
          </a:p>
          <a:p>
            <a:pPr algn="just"/>
            <a:r>
              <a:rPr lang="zh-CN" altLang="zh-CN" kern="100" dirty="0">
                <a:solidFill>
                  <a:prstClr val="black"/>
                </a:solidFill>
                <a:latin typeface="Calibri" panose="020F0502020204030204" pitchFamily="34" charset="0"/>
                <a:cs typeface="Times New Roman" panose="02020603050405020304" pitchFamily="18" charset="0"/>
              </a:rPr>
              <a:t>“欲望”不来自于人的生物身体，</a:t>
            </a:r>
            <a:r>
              <a:rPr lang="zh-CN" altLang="en-US" kern="100" dirty="0">
                <a:solidFill>
                  <a:prstClr val="black"/>
                </a:solidFill>
                <a:latin typeface="Calibri" panose="020F0502020204030204" pitchFamily="34" charset="0"/>
                <a:cs typeface="Times New Roman" panose="02020603050405020304" pitchFamily="18" charset="0"/>
              </a:rPr>
              <a:t>而</a:t>
            </a:r>
            <a:r>
              <a:rPr lang="zh-CN" altLang="zh-CN" kern="100" dirty="0">
                <a:solidFill>
                  <a:prstClr val="black"/>
                </a:solidFill>
                <a:latin typeface="Calibri" panose="020F0502020204030204" pitchFamily="34" charset="0"/>
                <a:cs typeface="Times New Roman" panose="02020603050405020304" pitchFamily="18" charset="0"/>
              </a:rPr>
              <a:t>是完全肇因于周遭的社会和文化实践</a:t>
            </a:r>
            <a:r>
              <a:rPr lang="zh-CN" altLang="en-US" sz="1600" kern="100" dirty="0">
                <a:solidFill>
                  <a:prstClr val="black"/>
                </a:solidFill>
                <a:latin typeface="Calibri" panose="020F0502020204030204" pitchFamily="34" charset="0"/>
                <a:cs typeface="Times New Roman" panose="02020603050405020304" pitchFamily="18" charset="0"/>
              </a:rPr>
              <a:t>（活动、实践及自我建构）</a:t>
            </a:r>
            <a:r>
              <a:rPr lang="zh-CN" altLang="en-US" kern="100" dirty="0">
                <a:solidFill>
                  <a:prstClr val="black"/>
                </a:solidFill>
                <a:latin typeface="Calibri" panose="020F0502020204030204" pitchFamily="34" charset="0"/>
                <a:cs typeface="Times New Roman" panose="02020603050405020304" pitchFamily="18" charset="0"/>
              </a:rPr>
              <a:t>；</a:t>
            </a:r>
            <a:endParaRPr lang="en-US" altLang="zh-CN" kern="100" dirty="0">
              <a:solidFill>
                <a:prstClr val="black"/>
              </a:solidFill>
              <a:latin typeface="Calibri" panose="020F0502020204030204" pitchFamily="34" charset="0"/>
              <a:cs typeface="Times New Roman" panose="02020603050405020304" pitchFamily="18" charset="0"/>
            </a:endParaRPr>
          </a:p>
          <a:p>
            <a:pPr algn="just">
              <a:spcAft>
                <a:spcPts val="0"/>
              </a:spcAft>
            </a:pPr>
            <a:endParaRPr lang="zh-CN" altLang="zh-CN" kern="100" dirty="0">
              <a:latin typeface="Calibri" panose="020F0502020204030204" pitchFamily="34" charset="0"/>
              <a:cs typeface="Times New Roman" panose="02020603050405020304" pitchFamily="18" charset="0"/>
            </a:endParaRPr>
          </a:p>
          <a:p>
            <a:pPr algn="just">
              <a:spcAft>
                <a:spcPts val="0"/>
              </a:spcAft>
            </a:pPr>
            <a:endParaRPr lang="zh-CN" altLang="zh-CN" kern="100" dirty="0">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8878816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1201947" y="4170363"/>
            <a:ext cx="9144000" cy="2387600"/>
          </a:xfrm>
        </p:spPr>
        <p:txBody>
          <a:bodyPr>
            <a:normAutofit/>
          </a:bodyPr>
          <a:lstStyle/>
          <a:p>
            <a:r>
              <a:rPr lang="zh-CN" altLang="en-US" sz="4000" dirty="0"/>
              <a:t>（三）消费与欲望</a:t>
            </a:r>
            <a:r>
              <a:rPr lang="zh-CN" altLang="en-US" sz="1800" dirty="0">
                <a:solidFill>
                  <a:srgbClr val="C00000"/>
                </a:solidFill>
              </a:rPr>
              <a:t>象征</a:t>
            </a:r>
            <a:r>
              <a:rPr lang="en-US" altLang="zh-CN" sz="1800" dirty="0">
                <a:solidFill>
                  <a:srgbClr val="C00000"/>
                </a:solidFill>
              </a:rPr>
              <a:t>-</a:t>
            </a:r>
            <a:r>
              <a:rPr lang="zh-CN" altLang="en-US" sz="1800" dirty="0">
                <a:solidFill>
                  <a:srgbClr val="C00000"/>
                </a:solidFill>
              </a:rPr>
              <a:t>物品</a:t>
            </a:r>
            <a:r>
              <a:rPr lang="en-US" altLang="zh-CN" sz="1800" dirty="0">
                <a:solidFill>
                  <a:srgbClr val="C00000"/>
                </a:solidFill>
              </a:rPr>
              <a:t>-</a:t>
            </a:r>
            <a:r>
              <a:rPr lang="zh-CN" altLang="en-US" sz="1800" dirty="0">
                <a:solidFill>
                  <a:srgbClr val="C00000"/>
                </a:solidFill>
              </a:rPr>
              <a:t>媒介（</a:t>
            </a:r>
            <a:r>
              <a:rPr lang="en-US" altLang="zh-CN" sz="1800" dirty="0" err="1">
                <a:solidFill>
                  <a:srgbClr val="C00000"/>
                </a:solidFill>
              </a:rPr>
              <a:t>kfc</a:t>
            </a:r>
            <a:r>
              <a:rPr lang="zh-CN" altLang="en-US" sz="1800" dirty="0">
                <a:solidFill>
                  <a:srgbClr val="C00000"/>
                </a:solidFill>
              </a:rPr>
              <a:t>）</a:t>
            </a:r>
          </a:p>
        </p:txBody>
      </p:sp>
      <p:pic>
        <p:nvPicPr>
          <p:cNvPr id="2" name="图片 1">
            <a:extLst>
              <a:ext uri="{FF2B5EF4-FFF2-40B4-BE49-F238E27FC236}">
                <a16:creationId xmlns:a16="http://schemas.microsoft.com/office/drawing/2014/main" id="{C84A4553-794C-1D3D-1555-52061D3A3BD8}"/>
              </a:ext>
            </a:extLst>
          </p:cNvPr>
          <p:cNvPicPr>
            <a:picLocks noChangeAspect="1"/>
          </p:cNvPicPr>
          <p:nvPr/>
        </p:nvPicPr>
        <p:blipFill>
          <a:blip r:embed="rId2"/>
          <a:stretch>
            <a:fillRect/>
          </a:stretch>
        </p:blipFill>
        <p:spPr>
          <a:xfrm>
            <a:off x="920151" y="-57509"/>
            <a:ext cx="10351698" cy="5822830"/>
          </a:xfrm>
          <a:prstGeom prst="rect">
            <a:avLst/>
          </a:prstGeom>
        </p:spPr>
      </p:pic>
    </p:spTree>
    <p:extLst>
      <p:ext uri="{BB962C8B-B14F-4D97-AF65-F5344CB8AC3E}">
        <p14:creationId xmlns:p14="http://schemas.microsoft.com/office/powerpoint/2010/main" val="1768004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象征</a:t>
            </a:r>
          </a:p>
        </p:txBody>
      </p:sp>
      <p:sp>
        <p:nvSpPr>
          <p:cNvPr id="3" name="内容占位符 2"/>
          <p:cNvSpPr>
            <a:spLocks noGrp="1"/>
          </p:cNvSpPr>
          <p:nvPr>
            <p:ph idx="1"/>
          </p:nvPr>
        </p:nvSpPr>
        <p:spPr/>
        <p:txBody>
          <a:bodyPr/>
          <a:lstStyle/>
          <a:p>
            <a:pPr lvl="0" algn="just"/>
            <a:endParaRPr lang="en-US" altLang="zh-CN" sz="2600" kern="100" dirty="0">
              <a:solidFill>
                <a:prstClr val="black"/>
              </a:solidFill>
              <a:latin typeface="Calibri" panose="020F0502020204030204" pitchFamily="34" charset="0"/>
              <a:cs typeface="Times New Roman" panose="02020603050405020304" pitchFamily="18" charset="0"/>
            </a:endParaRPr>
          </a:p>
          <a:p>
            <a:pPr lvl="0" algn="just"/>
            <a:r>
              <a:rPr lang="zh-CN" altLang="zh-CN" sz="2600" kern="100" dirty="0">
                <a:solidFill>
                  <a:prstClr val="black"/>
                </a:solidFill>
                <a:latin typeface="Calibri" panose="020F0502020204030204" pitchFamily="34" charset="0"/>
                <a:cs typeface="Times New Roman" panose="02020603050405020304" pitchFamily="18" charset="0"/>
              </a:rPr>
              <a:t>在符号消费的过程中，充满了象征的作用</a:t>
            </a:r>
            <a:r>
              <a:rPr lang="zh-CN" altLang="en-US" sz="2600" kern="100" dirty="0">
                <a:solidFill>
                  <a:prstClr val="black"/>
                </a:solidFill>
                <a:latin typeface="Calibri" panose="020F0502020204030204" pitchFamily="34" charset="0"/>
                <a:cs typeface="Times New Roman" panose="02020603050405020304" pitchFamily="18" charset="0"/>
              </a:rPr>
              <a:t>；</a:t>
            </a:r>
            <a:endParaRPr lang="zh-CN" altLang="zh-CN" sz="2600" kern="100" dirty="0">
              <a:solidFill>
                <a:prstClr val="black"/>
              </a:solidFill>
              <a:latin typeface="Calibri" panose="020F0502020204030204" pitchFamily="34" charset="0"/>
              <a:cs typeface="Times New Roman" panose="02020603050405020304" pitchFamily="18" charset="0"/>
            </a:endParaRPr>
          </a:p>
          <a:p>
            <a:pPr lvl="0" algn="just"/>
            <a:r>
              <a:rPr lang="zh-CN" altLang="zh-CN" sz="2600" kern="100" dirty="0">
                <a:solidFill>
                  <a:prstClr val="black"/>
                </a:solidFill>
                <a:latin typeface="Calibri" panose="020F0502020204030204" pitchFamily="34" charset="0"/>
                <a:cs typeface="Times New Roman" panose="02020603050405020304" pitchFamily="18" charset="0"/>
              </a:rPr>
              <a:t>消费过程脱离生理因素，受制于象征戏法，而非物质需求的满足</a:t>
            </a:r>
            <a:r>
              <a:rPr lang="zh-CN" altLang="en-US" sz="2600" kern="100" dirty="0">
                <a:solidFill>
                  <a:prstClr val="black"/>
                </a:solidFill>
                <a:latin typeface="Calibri" panose="020F0502020204030204" pitchFamily="34" charset="0"/>
                <a:cs typeface="Times New Roman" panose="02020603050405020304" pitchFamily="18" charset="0"/>
              </a:rPr>
              <a:t>；</a:t>
            </a:r>
            <a:endParaRPr lang="en-US" altLang="zh-CN" sz="2600" kern="100" dirty="0">
              <a:solidFill>
                <a:prstClr val="black"/>
              </a:solidFill>
              <a:latin typeface="Calibri" panose="020F0502020204030204" pitchFamily="34" charset="0"/>
              <a:cs typeface="Times New Roman" panose="02020603050405020304" pitchFamily="18" charset="0"/>
            </a:endParaRPr>
          </a:p>
          <a:p>
            <a:pPr lvl="0" algn="just"/>
            <a:r>
              <a:rPr lang="zh-CN" altLang="en-US" sz="2600" kern="100" dirty="0">
                <a:solidFill>
                  <a:prstClr val="black"/>
                </a:solidFill>
                <a:latin typeface="Calibri" panose="020F0502020204030204" pitchFamily="34" charset="0"/>
                <a:cs typeface="Times New Roman" panose="02020603050405020304" pitchFamily="18" charset="0"/>
              </a:rPr>
              <a:t>象征戏法受到潜意识的欲望驱动</a:t>
            </a:r>
            <a:endParaRPr lang="zh-CN" altLang="zh-CN" sz="2600" kern="100" dirty="0">
              <a:solidFill>
                <a:prstClr val="black"/>
              </a:solidFill>
              <a:latin typeface="Calibri" panose="020F0502020204030204" pitchFamily="34" charset="0"/>
              <a:cs typeface="Times New Roman" panose="02020603050405020304" pitchFamily="18" charset="0"/>
            </a:endParaRPr>
          </a:p>
          <a:p>
            <a:pPr marL="0" lvl="0" indent="0" algn="just">
              <a:buNone/>
            </a:pPr>
            <a:endParaRPr lang="zh-CN" altLang="zh-CN" sz="2600" kern="100" dirty="0">
              <a:solidFill>
                <a:prstClr val="black"/>
              </a:solidFill>
              <a:latin typeface="Calibri" panose="020F0502020204030204" pitchFamily="34" charset="0"/>
              <a:cs typeface="Times New Roman" panose="02020603050405020304" pitchFamily="18" charset="0"/>
            </a:endParaRPr>
          </a:p>
          <a:p>
            <a:pPr marL="0" lvl="0" indent="0" algn="just">
              <a:buNone/>
            </a:pPr>
            <a:endParaRPr lang="zh-CN" altLang="zh-CN" sz="2600" kern="100" dirty="0">
              <a:solidFill>
                <a:prstClr val="black"/>
              </a:solidFill>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724568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1370BA28-0F0E-0F33-3C3A-D02F613567D2}"/>
              </a:ext>
            </a:extLst>
          </p:cNvPr>
          <p:cNvSpPr>
            <a:spLocks noGrp="1"/>
          </p:cNvSpPr>
          <p:nvPr>
            <p:ph type="title"/>
          </p:nvPr>
        </p:nvSpPr>
        <p:spPr/>
        <p:txBody>
          <a:bodyPr/>
          <a:lstStyle/>
          <a:p>
            <a:r>
              <a:rPr lang="zh-CN" altLang="zh-CN" kern="100" dirty="0">
                <a:latin typeface="等线" panose="02010600030101010101" pitchFamily="2" charset="-122"/>
                <a:ea typeface="等线" panose="02010600030101010101" pitchFamily="2" charset="-122"/>
                <a:cs typeface="Times New Roman" panose="02020603050405020304" pitchFamily="18" charset="0"/>
              </a:rPr>
              <a:t>商品美学</a:t>
            </a:r>
            <a:br>
              <a:rPr lang="zh-CN" altLang="zh-CN" kern="100" dirty="0">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8" name="内容占位符 7">
            <a:extLst>
              <a:ext uri="{FF2B5EF4-FFF2-40B4-BE49-F238E27FC236}">
                <a16:creationId xmlns:a16="http://schemas.microsoft.com/office/drawing/2014/main" id="{344EB822-5D3D-5ABB-DFBC-1DBD3237DD67}"/>
              </a:ext>
            </a:extLst>
          </p:cNvPr>
          <p:cNvSpPr>
            <a:spLocks noGrp="1"/>
          </p:cNvSpPr>
          <p:nvPr>
            <p:ph idx="1"/>
          </p:nvPr>
        </p:nvSpPr>
        <p:spPr>
          <a:xfrm>
            <a:off x="215347" y="1739486"/>
            <a:ext cx="11761305" cy="4351338"/>
          </a:xfrm>
        </p:spPr>
        <p:txBody>
          <a:bodyPr>
            <a:normAutofit/>
          </a:bodyPr>
          <a:lstStyle/>
          <a:p>
            <a:pPr algn="just"/>
            <a:r>
              <a:rPr lang="zh-CN" altLang="zh-CN" kern="100" dirty="0">
                <a:latin typeface="等线" panose="02010600030101010101" pitchFamily="2" charset="-122"/>
                <a:ea typeface="等线" panose="02010600030101010101" pitchFamily="2" charset="-122"/>
                <a:cs typeface="Times New Roman" panose="02020603050405020304" pitchFamily="18" charset="0"/>
              </a:rPr>
              <a:t>市场的扩大和消费的增长是资本扩张的结果</a:t>
            </a:r>
          </a:p>
          <a:p>
            <a:pPr algn="just"/>
            <a:r>
              <a:rPr lang="zh-CN" altLang="zh-CN" kern="100" dirty="0">
                <a:latin typeface="等线" panose="02010600030101010101" pitchFamily="2" charset="-122"/>
                <a:ea typeface="等线" panose="02010600030101010101" pitchFamily="2" charset="-122"/>
                <a:cs typeface="Times New Roman" panose="02020603050405020304" pitchFamily="18" charset="0"/>
              </a:rPr>
              <a:t>技术进步使大规模生产成为可能、使与产品相关的意识操作成为可能</a:t>
            </a:r>
          </a:p>
          <a:p>
            <a:pPr algn="just"/>
            <a:r>
              <a:rPr lang="zh-CN" altLang="zh-CN" kern="100" dirty="0">
                <a:latin typeface="等线" panose="02010600030101010101" pitchFamily="2" charset="-122"/>
                <a:ea typeface="等线" panose="02010600030101010101" pitchFamily="2" charset="-122"/>
                <a:cs typeface="Times New Roman" panose="02020603050405020304" pitchFamily="18" charset="0"/>
              </a:rPr>
              <a:t>广告：围绕物品销售形式的产生，是生产者控制和摆布消费者的工具</a:t>
            </a:r>
          </a:p>
          <a:p>
            <a:pPr algn="just">
              <a:buFont typeface="Wingdings" panose="05000000000000000000" pitchFamily="2" charset="2"/>
              <a:buChar char="Ø"/>
            </a:pP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kern="100" dirty="0">
                <a:latin typeface="等线" panose="02010600030101010101" pitchFamily="2" charset="-122"/>
                <a:ea typeface="等线" panose="02010600030101010101" pitchFamily="2" charset="-122"/>
                <a:cs typeface="Times New Roman" panose="02020603050405020304" pitchFamily="18" charset="0"/>
              </a:rPr>
              <a:t>从物质商品到经验商品的转变</a:t>
            </a:r>
          </a:p>
          <a:p>
            <a:pPr algn="just">
              <a:buFont typeface="Wingdings" panose="05000000000000000000" pitchFamily="2" charset="2"/>
              <a:buChar char="Ø"/>
            </a:pP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kern="100" dirty="0">
                <a:latin typeface="等线" panose="02010600030101010101" pitchFamily="2" charset="-122"/>
                <a:ea typeface="等线" panose="02010600030101010101" pitchFamily="2" charset="-122"/>
                <a:cs typeface="Times New Roman" panose="02020603050405020304" pitchFamily="18" charset="0"/>
              </a:rPr>
              <a:t>广告被认为是风格化过程的一个重要部分</a:t>
            </a:r>
          </a:p>
          <a:p>
            <a:pPr marL="0" indent="0" algn="just">
              <a:buNone/>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651454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zh-CN" kern="100" dirty="0">
                <a:latin typeface="Calibri" panose="020F0502020204030204" pitchFamily="34" charset="0"/>
                <a:cs typeface="Times New Roman" panose="02020603050405020304" pitchFamily="18" charset="0"/>
              </a:rPr>
              <a:t>媒体文化产品的生产与欲望</a:t>
            </a:r>
            <a:endParaRPr lang="zh-CN" altLang="en-US" dirty="0"/>
          </a:p>
        </p:txBody>
      </p:sp>
      <p:sp>
        <p:nvSpPr>
          <p:cNvPr id="3" name="内容占位符 2"/>
          <p:cNvSpPr>
            <a:spLocks noGrp="1"/>
          </p:cNvSpPr>
          <p:nvPr>
            <p:ph idx="1"/>
          </p:nvPr>
        </p:nvSpPr>
        <p:spPr>
          <a:xfrm>
            <a:off x="92015" y="1825625"/>
            <a:ext cx="11956211" cy="4351338"/>
          </a:xfrm>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媒体内容的生产提供了消费者消费欲望的菜单，他们和人的“性潜能有关”</a:t>
            </a:r>
          </a:p>
          <a:p>
            <a:pPr algn="just">
              <a:spcAft>
                <a:spcPts val="0"/>
              </a:spcAft>
            </a:pPr>
            <a:r>
              <a:rPr lang="zh-CN" altLang="zh-CN" kern="100" dirty="0">
                <a:latin typeface="Calibri" panose="020F0502020204030204" pitchFamily="34" charset="0"/>
                <a:cs typeface="Times New Roman" panose="02020603050405020304" pitchFamily="18" charset="0"/>
              </a:rPr>
              <a:t>媒体提供了展示性的平台——美食、生活方式、仪态、服装、旅游都成为了</a:t>
            </a:r>
            <a:r>
              <a:rPr lang="zh-CN" altLang="en-US" kern="100" dirty="0">
                <a:latin typeface="Calibri" panose="020F0502020204030204" pitchFamily="34" charset="0"/>
                <a:cs typeface="Times New Roman" panose="02020603050405020304" pitchFamily="18" charset="0"/>
              </a:rPr>
              <a:t>隐秘</a:t>
            </a:r>
            <a:r>
              <a:rPr lang="zh-CN" altLang="zh-CN" kern="100" dirty="0">
                <a:latin typeface="Calibri" panose="020F0502020204030204" pitchFamily="34" charset="0"/>
                <a:cs typeface="Times New Roman" panose="02020603050405020304" pitchFamily="18" charset="0"/>
              </a:rPr>
              <a:t>欲望实现的一部分</a:t>
            </a:r>
          </a:p>
          <a:p>
            <a:endParaRPr lang="zh-CN" altLang="en-US" dirty="0"/>
          </a:p>
        </p:txBody>
      </p:sp>
    </p:spTree>
    <p:extLst>
      <p:ext uri="{BB962C8B-B14F-4D97-AF65-F5344CB8AC3E}">
        <p14:creationId xmlns:p14="http://schemas.microsoft.com/office/powerpoint/2010/main" val="9619133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latin typeface="Calibri" panose="020F0502020204030204" pitchFamily="34" charset="0"/>
                <a:cs typeface="Times New Roman" panose="02020603050405020304" pitchFamily="18" charset="0"/>
              </a:rPr>
              <a:t>拉康：</a:t>
            </a:r>
            <a:endParaRPr lang="zh-CN" altLang="en-US" dirty="0"/>
          </a:p>
        </p:txBody>
      </p:sp>
      <p:sp>
        <p:nvSpPr>
          <p:cNvPr id="3" name="内容占位符 2"/>
          <p:cNvSpPr>
            <a:spLocks noGrp="1"/>
          </p:cNvSpPr>
          <p:nvPr>
            <p:ph idx="1"/>
          </p:nvPr>
        </p:nvSpPr>
        <p:spPr/>
        <p:txBody>
          <a:bodyPr/>
          <a:lstStyle/>
          <a:p>
            <a:endParaRPr lang="en-US" altLang="zh-CN" dirty="0"/>
          </a:p>
          <a:p>
            <a:r>
              <a:rPr lang="zh-CN" altLang="en-US" dirty="0"/>
              <a:t>想象界</a:t>
            </a:r>
            <a:endParaRPr lang="en-US" altLang="zh-CN" dirty="0"/>
          </a:p>
          <a:p>
            <a:r>
              <a:rPr lang="zh-CN" altLang="en-US" dirty="0"/>
              <a:t>象征界</a:t>
            </a:r>
            <a:endParaRPr lang="en-US" altLang="zh-CN" dirty="0"/>
          </a:p>
          <a:p>
            <a:r>
              <a:rPr lang="zh-CN" altLang="en-US" dirty="0">
                <a:solidFill>
                  <a:srgbClr val="FF0000"/>
                </a:solidFill>
              </a:rPr>
              <a:t>实在界</a:t>
            </a:r>
            <a:endParaRPr lang="zh-CN" altLang="en-US" dirty="0"/>
          </a:p>
        </p:txBody>
      </p:sp>
    </p:spTree>
    <p:extLst>
      <p:ext uri="{BB962C8B-B14F-4D97-AF65-F5344CB8AC3E}">
        <p14:creationId xmlns:p14="http://schemas.microsoft.com/office/powerpoint/2010/main" val="37840597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latin typeface="Calibri" panose="020F0502020204030204" pitchFamily="34" charset="0"/>
                <a:cs typeface="Times New Roman" panose="02020603050405020304" pitchFamily="18" charset="0"/>
              </a:rPr>
              <a:t>欲望和想象与象征</a:t>
            </a:r>
            <a:endParaRPr lang="zh-CN" altLang="en-US" dirty="0"/>
          </a:p>
        </p:txBody>
      </p:sp>
      <p:sp>
        <p:nvSpPr>
          <p:cNvPr id="3" name="内容占位符 2"/>
          <p:cNvSpPr>
            <a:spLocks noGrp="1"/>
          </p:cNvSpPr>
          <p:nvPr>
            <p:ph idx="1"/>
          </p:nvPr>
        </p:nvSpPr>
        <p:spPr>
          <a:xfrm>
            <a:off x="304800" y="1825625"/>
            <a:ext cx="11575774" cy="4351338"/>
          </a:xfrm>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en-US" altLang="zh-CN" kern="100" dirty="0">
                <a:latin typeface="Calibri" panose="020F0502020204030204" pitchFamily="34" charset="0"/>
                <a:cs typeface="Times New Roman" panose="02020603050405020304" pitchFamily="18" charset="0"/>
              </a:rPr>
              <a:t> </a:t>
            </a:r>
            <a:r>
              <a:rPr lang="zh-CN" altLang="zh-CN" kern="100" dirty="0">
                <a:latin typeface="Calibri" panose="020F0502020204030204" pitchFamily="34" charset="0"/>
                <a:cs typeface="Times New Roman" panose="02020603050405020304" pitchFamily="18" charset="0"/>
              </a:rPr>
              <a:t>身体不只是生理现象，身体会走入语言，走进文化，经历改造</a:t>
            </a:r>
          </a:p>
          <a:p>
            <a:pPr algn="just">
              <a:spcAft>
                <a:spcPts val="0"/>
              </a:spcAft>
            </a:pPr>
            <a:r>
              <a:rPr lang="zh-CN" altLang="zh-CN" kern="100" dirty="0">
                <a:latin typeface="Calibri" panose="020F0502020204030204" pitchFamily="34" charset="0"/>
                <a:cs typeface="Times New Roman" panose="02020603050405020304" pitchFamily="18" charset="0"/>
              </a:rPr>
              <a:t>消费的基础是欲望，欲望并不只是身体的生理运作所致</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solidFill>
                  <a:srgbClr val="FF0000"/>
                </a:solidFill>
                <a:latin typeface="Calibri" panose="020F0502020204030204" pitchFamily="34" charset="0"/>
                <a:cs typeface="Times New Roman" panose="02020603050405020304" pitchFamily="18" charset="0"/>
              </a:rPr>
              <a:t>唯有当文化看法</a:t>
            </a:r>
            <a:r>
              <a:rPr lang="en-US" altLang="zh-CN" kern="100" dirty="0">
                <a:solidFill>
                  <a:srgbClr val="FF0000"/>
                </a:solidFill>
                <a:latin typeface="Calibri" panose="020F0502020204030204" pitchFamily="34" charset="0"/>
                <a:cs typeface="Times New Roman" panose="02020603050405020304" pitchFamily="18" charset="0"/>
              </a:rPr>
              <a:t>”</a:t>
            </a:r>
            <a:r>
              <a:rPr lang="zh-CN" altLang="zh-CN" kern="100" dirty="0">
                <a:solidFill>
                  <a:srgbClr val="FF0000"/>
                </a:solidFill>
                <a:latin typeface="Calibri" panose="020F0502020204030204" pitchFamily="34" charset="0"/>
                <a:cs typeface="Times New Roman" panose="02020603050405020304" pitchFamily="18" charset="0"/>
              </a:rPr>
              <a:t>能指</a:t>
            </a:r>
            <a:r>
              <a:rPr lang="en-US" altLang="zh-CN" kern="100" dirty="0">
                <a:solidFill>
                  <a:srgbClr val="FF0000"/>
                </a:solidFill>
                <a:latin typeface="Calibri" panose="020F0502020204030204" pitchFamily="34" charset="0"/>
                <a:cs typeface="Times New Roman" panose="02020603050405020304" pitchFamily="18" charset="0"/>
              </a:rPr>
              <a:t>”</a:t>
            </a:r>
            <a:r>
              <a:rPr lang="zh-CN" altLang="zh-CN" kern="100" dirty="0">
                <a:solidFill>
                  <a:srgbClr val="FF0000"/>
                </a:solidFill>
                <a:latin typeface="Calibri" panose="020F0502020204030204" pitchFamily="34" charset="0"/>
                <a:cs typeface="Times New Roman" panose="02020603050405020304" pitchFamily="18" charset="0"/>
              </a:rPr>
              <a:t>深入到身体</a:t>
            </a:r>
            <a:r>
              <a:rPr lang="en-US" altLang="zh-CN" kern="100" dirty="0">
                <a:solidFill>
                  <a:srgbClr val="FF0000"/>
                </a:solidFill>
                <a:latin typeface="Calibri" panose="020F0502020204030204" pitchFamily="34" charset="0"/>
                <a:cs typeface="Times New Roman" panose="02020603050405020304" pitchFamily="18" charset="0"/>
              </a:rPr>
              <a:t>,</a:t>
            </a:r>
            <a:r>
              <a:rPr lang="zh-CN" altLang="zh-CN" kern="100" dirty="0">
                <a:solidFill>
                  <a:srgbClr val="FF0000"/>
                </a:solidFill>
                <a:latin typeface="Calibri" panose="020F0502020204030204" pitchFamily="34" charset="0"/>
                <a:cs typeface="Times New Roman" panose="02020603050405020304" pitchFamily="18" charset="0"/>
              </a:rPr>
              <a:t>从事性爱活动与攻击的能力之中，欲望才会产生</a:t>
            </a:r>
            <a:endParaRPr lang="en-US" altLang="zh-CN" kern="100" dirty="0">
              <a:solidFill>
                <a:srgbClr val="FF0000"/>
              </a:solidFill>
              <a:latin typeface="Calibri" panose="020F0502020204030204" pitchFamily="34" charset="0"/>
              <a:cs typeface="Times New Roman" panose="02020603050405020304" pitchFamily="18" charset="0"/>
            </a:endParaRPr>
          </a:p>
          <a:p>
            <a:pPr marL="0" indent="0" algn="just">
              <a:spcAft>
                <a:spcPts val="0"/>
              </a:spcAft>
              <a:buNone/>
            </a:pPr>
            <a:r>
              <a:rPr lang="zh-CN" altLang="en-US" sz="2000" kern="100" dirty="0">
                <a:solidFill>
                  <a:srgbClr val="FF0000"/>
                </a:solidFill>
                <a:latin typeface="Calibri" panose="020F0502020204030204" pitchFamily="34" charset="0"/>
                <a:cs typeface="Times New Roman" panose="02020603050405020304" pitchFamily="18" charset="0"/>
              </a:rPr>
              <a:t>                                                                                                                                          马甲线、斩男色</a:t>
            </a:r>
            <a:endParaRPr lang="zh-CN" altLang="zh-CN" sz="2000" kern="100" dirty="0">
              <a:solidFill>
                <a:srgbClr val="FF0000"/>
              </a:solidFill>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8212600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latin typeface="Calibri" panose="020F0502020204030204" pitchFamily="34" charset="0"/>
                <a:cs typeface="Times New Roman" panose="02020603050405020304" pitchFamily="18" charset="0"/>
              </a:rPr>
              <a:t>“镜像”与广告</a:t>
            </a:r>
            <a:endParaRPr lang="zh-CN" altLang="en-US" dirty="0"/>
          </a:p>
        </p:txBody>
      </p:sp>
      <p:sp>
        <p:nvSpPr>
          <p:cNvPr id="3" name="内容占位符 2"/>
          <p:cNvSpPr>
            <a:spLocks noGrp="1"/>
          </p:cNvSpPr>
          <p:nvPr>
            <p:ph idx="1"/>
          </p:nvPr>
        </p:nvSpPr>
        <p:spPr/>
        <p:txBody>
          <a:bodyPr>
            <a:normAutofit/>
          </a:bodyPr>
          <a:lstStyle/>
          <a:p>
            <a:pPr algn="just">
              <a:spcAft>
                <a:spcPts val="0"/>
              </a:spcAft>
            </a:pP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简单说来就是从别人的眼中看待自己的方式</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en-US" kern="100" dirty="0">
                <a:latin typeface="Calibri" panose="020F0502020204030204" pitchFamily="34" charset="0"/>
                <a:cs typeface="Times New Roman" panose="02020603050405020304" pitchFamily="18" charset="0"/>
              </a:rPr>
              <a:t>概念和理论可以让我们看到很多</a:t>
            </a:r>
            <a:endParaRPr lang="en-US"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当代的消费者已经在一种无意识的层面上受制于消费，达到了生理层面的深度</a:t>
            </a:r>
          </a:p>
          <a:p>
            <a:endParaRPr lang="zh-CN" altLang="en-US" dirty="0"/>
          </a:p>
        </p:txBody>
      </p:sp>
    </p:spTree>
    <p:extLst>
      <p:ext uri="{BB962C8B-B14F-4D97-AF65-F5344CB8AC3E}">
        <p14:creationId xmlns:p14="http://schemas.microsoft.com/office/powerpoint/2010/main" val="36890461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440210" y="508001"/>
            <a:ext cx="9215849" cy="5530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9774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latin typeface="Calibri" panose="020F0502020204030204" pitchFamily="34" charset="0"/>
                <a:cs typeface="Times New Roman" panose="02020603050405020304" pitchFamily="18" charset="0"/>
              </a:rPr>
              <a:t>性别与消费</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消费与女性的</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天然</a:t>
            </a:r>
            <a:r>
              <a:rPr lang="zh-CN" altLang="en-US"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关系</a:t>
            </a:r>
            <a:endParaRPr lang="zh-CN" altLang="en-US" dirty="0"/>
          </a:p>
        </p:txBody>
      </p:sp>
      <p:sp>
        <p:nvSpPr>
          <p:cNvPr id="3" name="内容占位符 2"/>
          <p:cNvSpPr>
            <a:spLocks noGrp="1"/>
          </p:cNvSpPr>
          <p:nvPr>
            <p:ph idx="1"/>
          </p:nvPr>
        </p:nvSpPr>
        <p:spPr/>
        <p:txBody>
          <a:bodyPr>
            <a:normAutofit/>
          </a:bodyPr>
          <a:lstStyle/>
          <a:p>
            <a:pPr lvl="0" algn="just"/>
            <a:endParaRPr lang="en-US" altLang="zh-CN" kern="100" dirty="0">
              <a:solidFill>
                <a:prstClr val="black"/>
              </a:solidFill>
              <a:latin typeface="Calibri" panose="020F0502020204030204" pitchFamily="34" charset="0"/>
              <a:cs typeface="Times New Roman" panose="02020603050405020304" pitchFamily="18" charset="0"/>
            </a:endParaRPr>
          </a:p>
          <a:p>
            <a:pPr lvl="0" algn="just"/>
            <a:r>
              <a:rPr lang="zh-CN" altLang="zh-CN" kern="100" dirty="0">
                <a:solidFill>
                  <a:prstClr val="black"/>
                </a:solidFill>
                <a:latin typeface="Calibri" panose="020F0502020204030204" pitchFamily="34" charset="0"/>
                <a:cs typeface="Times New Roman" panose="02020603050405020304" pitchFamily="18" charset="0"/>
              </a:rPr>
              <a:t>女性身体的展现</a:t>
            </a:r>
          </a:p>
          <a:p>
            <a:pPr lvl="0" algn="just"/>
            <a:r>
              <a:rPr lang="zh-CN" altLang="zh-CN" kern="100" dirty="0">
                <a:solidFill>
                  <a:prstClr val="black"/>
                </a:solidFill>
                <a:latin typeface="Calibri" panose="020F0502020204030204" pitchFamily="34" charset="0"/>
                <a:cs typeface="Times New Roman" panose="02020603050405020304" pitchFamily="18" charset="0"/>
              </a:rPr>
              <a:t>女性角色的塑造</a:t>
            </a:r>
            <a:endParaRPr lang="en-US" altLang="zh-CN" kern="100" dirty="0">
              <a:solidFill>
                <a:prstClr val="black"/>
              </a:solidFill>
              <a:latin typeface="Calibri" panose="020F0502020204030204" pitchFamily="34" charset="0"/>
              <a:cs typeface="Times New Roman" panose="02020603050405020304" pitchFamily="18" charset="0"/>
            </a:endParaRPr>
          </a:p>
          <a:p>
            <a:pPr algn="just"/>
            <a:r>
              <a:rPr lang="zh-CN" altLang="zh-CN" kern="100" dirty="0">
                <a:solidFill>
                  <a:prstClr val="black"/>
                </a:solidFill>
                <a:latin typeface="Calibri" panose="020F0502020204030204" pitchFamily="34" charset="0"/>
                <a:cs typeface="Times New Roman" panose="02020603050405020304" pitchFamily="18" charset="0"/>
              </a:rPr>
              <a:t>女权主义的批判</a:t>
            </a:r>
            <a:endParaRPr lang="en-US" altLang="zh-CN" kern="100" dirty="0">
              <a:solidFill>
                <a:prstClr val="black"/>
              </a:solidFill>
              <a:latin typeface="Calibri" panose="020F0502020204030204" pitchFamily="34" charset="0"/>
              <a:cs typeface="Times New Roman" panose="02020603050405020304" pitchFamily="18" charset="0"/>
            </a:endParaRPr>
          </a:p>
          <a:p>
            <a:pPr lvl="0" algn="just"/>
            <a:r>
              <a:rPr lang="zh-CN" altLang="en-US" kern="100" dirty="0">
                <a:solidFill>
                  <a:prstClr val="black"/>
                </a:solidFill>
                <a:latin typeface="Calibri" panose="020F0502020204030204" pitchFamily="34" charset="0"/>
                <a:cs typeface="Times New Roman" panose="02020603050405020304" pitchFamily="18" charset="0"/>
              </a:rPr>
              <a:t>男色消费的趋势</a:t>
            </a:r>
            <a:endParaRPr lang="zh-CN" altLang="zh-CN" kern="100" dirty="0">
              <a:solidFill>
                <a:prstClr val="black"/>
              </a:solidFill>
              <a:latin typeface="Calibri" panose="020F0502020204030204" pitchFamily="34" charset="0"/>
              <a:cs typeface="Times New Roman" panose="02020603050405020304" pitchFamily="18" charset="0"/>
            </a:endParaRPr>
          </a:p>
          <a:p>
            <a:pPr marL="0" lvl="0" indent="0" algn="just">
              <a:buNone/>
            </a:pPr>
            <a:endParaRPr lang="zh-CN" altLang="zh-CN" kern="100" dirty="0">
              <a:solidFill>
                <a:prstClr val="black"/>
              </a:solidFill>
              <a:latin typeface="Calibri" panose="020F0502020204030204" pitchFamily="34" charset="0"/>
              <a:cs typeface="Times New Roman" panose="02020603050405020304" pitchFamily="18" charset="0"/>
            </a:endParaRPr>
          </a:p>
          <a:p>
            <a:pPr marL="0" lvl="0" indent="0" algn="just">
              <a:buNone/>
            </a:pPr>
            <a:r>
              <a:rPr lang="en-US" altLang="zh-CN" b="1" dirty="0">
                <a:solidFill>
                  <a:srgbClr val="C00000"/>
                </a:solidFill>
              </a:rPr>
              <a:t>EG</a:t>
            </a:r>
            <a:r>
              <a:rPr lang="zh-CN" altLang="en-US" b="1" dirty="0">
                <a:solidFill>
                  <a:srgbClr val="C00000"/>
                </a:solidFill>
              </a:rPr>
              <a:t>：前上东区贵妇揭秘，混上流社会有多拼</a:t>
            </a:r>
            <a:endParaRPr lang="zh-CN" altLang="zh-CN" kern="100" dirty="0">
              <a:solidFill>
                <a:srgbClr val="C00000"/>
              </a:solidFill>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3153064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solidFill>
                  <a:prstClr val="black"/>
                </a:solidFill>
                <a:latin typeface="Calibri" panose="020F0502020204030204" pitchFamily="34" charset="0"/>
                <a:cs typeface="Times New Roman" panose="02020603050405020304" pitchFamily="18" charset="0"/>
              </a:rPr>
              <a:t>男性消费的崛起：</a:t>
            </a:r>
            <a:br>
              <a:rPr lang="zh-CN" altLang="zh-CN" kern="100" dirty="0">
                <a:solidFill>
                  <a:prstClr val="black"/>
                </a:solidFill>
                <a:latin typeface="Calibri" panose="020F0502020204030204" pitchFamily="34" charset="0"/>
                <a:cs typeface="Times New Roman" panose="02020603050405020304" pitchFamily="18" charset="0"/>
              </a:rPr>
            </a:br>
            <a:endParaRPr lang="zh-CN" altLang="en-US" dirty="0"/>
          </a:p>
        </p:txBody>
      </p:sp>
      <p:sp>
        <p:nvSpPr>
          <p:cNvPr id="3" name="内容占位符 2"/>
          <p:cNvSpPr>
            <a:spLocks noGrp="1"/>
          </p:cNvSpPr>
          <p:nvPr>
            <p:ph idx="1"/>
          </p:nvPr>
        </p:nvSpPr>
        <p:spPr/>
        <p:txBody>
          <a:bodyPr>
            <a:normAutofit/>
          </a:bodyPr>
          <a:lstStyle/>
          <a:p>
            <a:pPr lvl="0" algn="just"/>
            <a:endParaRPr lang="en-US" altLang="zh-CN" kern="100" dirty="0">
              <a:solidFill>
                <a:prstClr val="black"/>
              </a:solidFill>
              <a:latin typeface="Calibri" panose="020F0502020204030204" pitchFamily="34" charset="0"/>
              <a:cs typeface="Times New Roman" panose="02020603050405020304" pitchFamily="18" charset="0"/>
            </a:endParaRPr>
          </a:p>
          <a:p>
            <a:pPr lvl="0" algn="just"/>
            <a:r>
              <a:rPr lang="en-US" altLang="zh-CN" kern="100" dirty="0">
                <a:solidFill>
                  <a:prstClr val="black"/>
                </a:solidFill>
                <a:latin typeface="Calibri" panose="020F0502020204030204" pitchFamily="34" charset="0"/>
                <a:cs typeface="Times New Roman" panose="02020603050405020304" pitchFamily="18" charset="0"/>
              </a:rPr>
              <a:t>60</a:t>
            </a:r>
            <a:r>
              <a:rPr lang="zh-CN" altLang="zh-CN" kern="100" dirty="0">
                <a:solidFill>
                  <a:prstClr val="black"/>
                </a:solidFill>
                <a:latin typeface="Calibri" panose="020F0502020204030204" pitchFamily="34" charset="0"/>
                <a:cs typeface="Times New Roman" panose="02020603050405020304" pitchFamily="18" charset="0"/>
              </a:rPr>
              <a:t>年代：摇滚少年和流行客</a:t>
            </a:r>
          </a:p>
          <a:p>
            <a:pPr lvl="0" algn="just"/>
            <a:r>
              <a:rPr lang="en-US" altLang="zh-CN" kern="100" dirty="0">
                <a:solidFill>
                  <a:prstClr val="black"/>
                </a:solidFill>
                <a:latin typeface="Calibri" panose="020F0502020204030204" pitchFamily="34" charset="0"/>
                <a:cs typeface="Times New Roman" panose="02020603050405020304" pitchFamily="18" charset="0"/>
              </a:rPr>
              <a:t>80-90</a:t>
            </a:r>
            <a:r>
              <a:rPr lang="zh-CN" altLang="zh-CN" kern="100" dirty="0">
                <a:solidFill>
                  <a:prstClr val="black"/>
                </a:solidFill>
                <a:latin typeface="Calibri" panose="020F0502020204030204" pitchFamily="34" charset="0"/>
                <a:cs typeface="Times New Roman" panose="02020603050405020304" pitchFamily="18" charset="0"/>
              </a:rPr>
              <a:t>年代</a:t>
            </a:r>
            <a:r>
              <a:rPr lang="zh-CN" altLang="en-US" kern="100" dirty="0">
                <a:solidFill>
                  <a:prstClr val="black"/>
                </a:solidFill>
                <a:latin typeface="Calibri" panose="020F0502020204030204" pitchFamily="34" charset="0"/>
                <a:cs typeface="Times New Roman" panose="02020603050405020304" pitchFamily="18" charset="0"/>
              </a:rPr>
              <a:t>：</a:t>
            </a:r>
            <a:r>
              <a:rPr lang="zh-CN" altLang="zh-CN" kern="100" dirty="0">
                <a:solidFill>
                  <a:prstClr val="black"/>
                </a:solidFill>
                <a:latin typeface="Calibri" panose="020F0502020204030204" pitchFamily="34" charset="0"/>
                <a:cs typeface="Times New Roman" panose="02020603050405020304" pitchFamily="18" charset="0"/>
              </a:rPr>
              <a:t>男性身体的感性化开始进入大众媒体的视野</a:t>
            </a:r>
          </a:p>
          <a:p>
            <a:pPr lvl="0" algn="just"/>
            <a:r>
              <a:rPr lang="zh-CN" altLang="zh-CN" kern="100" dirty="0">
                <a:solidFill>
                  <a:prstClr val="black"/>
                </a:solidFill>
                <a:latin typeface="Calibri" panose="020F0502020204030204" pitchFamily="34" charset="0"/>
                <a:cs typeface="Times New Roman" panose="02020603050405020304" pitchFamily="18" charset="0"/>
              </a:rPr>
              <a:t>其中起到重要作用的是男同性恋的文化</a:t>
            </a: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6500" y="165138"/>
            <a:ext cx="2095500" cy="2495550"/>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0250" y="3190875"/>
            <a:ext cx="2571750" cy="3667125"/>
          </a:xfrm>
          <a:prstGeom prst="rect">
            <a:avLst/>
          </a:prstGeom>
        </p:spPr>
      </p:pic>
    </p:spTree>
    <p:extLst>
      <p:ext uri="{BB962C8B-B14F-4D97-AF65-F5344CB8AC3E}">
        <p14:creationId xmlns:p14="http://schemas.microsoft.com/office/powerpoint/2010/main" val="2695599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12278" y="6317571"/>
            <a:ext cx="524503" cy="230832"/>
          </a:xfrm>
          <a:prstGeom prst="rect">
            <a:avLst/>
          </a:prstGeom>
          <a:noFill/>
        </p:spPr>
        <p:txBody>
          <a:bodyPr wrap="none" rtlCol="0">
            <a:spAutoFit/>
          </a:bodyPr>
          <a:lstStyle/>
          <a:p>
            <a:r>
              <a:rPr lang="en-US" sz="900" dirty="0">
                <a:solidFill>
                  <a:schemeClr val="tx1">
                    <a:lumMod val="85000"/>
                    <a:lumOff val="15000"/>
                  </a:schemeClr>
                </a:solidFill>
                <a:latin typeface="Cormorant Garamond Light" charset="0"/>
                <a:ea typeface="Cormorant Garamond Light" charset="0"/>
                <a:cs typeface="Cormorant Garamond Light" charset="0"/>
              </a:rPr>
              <a:t>slide : </a:t>
            </a:r>
            <a:fld id="{62AEC829-9D8B-B04A-97F2-7EA009EEF72F}" type="slidenum">
              <a:rPr lang="en-US" sz="900" b="1">
                <a:latin typeface="Cormorant Garamond" charset="0"/>
                <a:ea typeface="Cormorant Garamond" charset="0"/>
                <a:cs typeface="Cormorant Garamond" charset="0"/>
              </a:rPr>
              <a:pPr/>
              <a:t>72</a:t>
            </a:fld>
            <a:endParaRPr lang="en-US" sz="900" b="1" dirty="0">
              <a:latin typeface="Cormorant Garamond" charset="0"/>
              <a:ea typeface="Cormorant Garamond" charset="0"/>
              <a:cs typeface="Cormorant Garamond" charset="0"/>
            </a:endParaRPr>
          </a:p>
        </p:txBody>
      </p:sp>
      <p:pic>
        <p:nvPicPr>
          <p:cNvPr id="20" name="图片 19">
            <a:extLst>
              <a:ext uri="{FF2B5EF4-FFF2-40B4-BE49-F238E27FC236}">
                <a16:creationId xmlns:a16="http://schemas.microsoft.com/office/drawing/2014/main" id="{C2018256-0D3E-46AC-95A3-C524ECA5C501}"/>
              </a:ext>
            </a:extLst>
          </p:cNvPr>
          <p:cNvPicPr>
            <a:picLocks noChangeAspect="1"/>
          </p:cNvPicPr>
          <p:nvPr/>
        </p:nvPicPr>
        <p:blipFill>
          <a:blip r:embed="rId3"/>
          <a:stretch>
            <a:fillRect/>
          </a:stretch>
        </p:blipFill>
        <p:spPr>
          <a:xfrm>
            <a:off x="8132347" y="2909296"/>
            <a:ext cx="3606177" cy="3799285"/>
          </a:xfrm>
          <a:prstGeom prst="rect">
            <a:avLst/>
          </a:prstGeom>
        </p:spPr>
      </p:pic>
      <p:pic>
        <p:nvPicPr>
          <p:cNvPr id="22" name="图片 21">
            <a:extLst>
              <a:ext uri="{FF2B5EF4-FFF2-40B4-BE49-F238E27FC236}">
                <a16:creationId xmlns:a16="http://schemas.microsoft.com/office/drawing/2014/main" id="{190D2BC3-5908-490B-B232-C924F35461F6}"/>
              </a:ext>
            </a:extLst>
          </p:cNvPr>
          <p:cNvPicPr>
            <a:picLocks noChangeAspect="1"/>
          </p:cNvPicPr>
          <p:nvPr/>
        </p:nvPicPr>
        <p:blipFill>
          <a:blip r:embed="rId4"/>
          <a:stretch>
            <a:fillRect/>
          </a:stretch>
        </p:blipFill>
        <p:spPr>
          <a:xfrm>
            <a:off x="4250843" y="721526"/>
            <a:ext cx="3596990" cy="2697742"/>
          </a:xfrm>
          <a:prstGeom prst="rect">
            <a:avLst/>
          </a:prstGeom>
        </p:spPr>
      </p:pic>
      <p:sp>
        <p:nvSpPr>
          <p:cNvPr id="23" name="文本框 22">
            <a:extLst>
              <a:ext uri="{FF2B5EF4-FFF2-40B4-BE49-F238E27FC236}">
                <a16:creationId xmlns:a16="http://schemas.microsoft.com/office/drawing/2014/main" id="{AE7C7553-CA12-4310-99C7-BC9A14049AAC}"/>
              </a:ext>
            </a:extLst>
          </p:cNvPr>
          <p:cNvSpPr txBox="1"/>
          <p:nvPr/>
        </p:nvSpPr>
        <p:spPr>
          <a:xfrm>
            <a:off x="4406779" y="3566726"/>
            <a:ext cx="3044857" cy="1318181"/>
          </a:xfrm>
          <a:prstGeom prst="rect">
            <a:avLst/>
          </a:prstGeom>
          <a:noFill/>
        </p:spPr>
        <p:txBody>
          <a:bodyPr wrap="square" rtlCol="0">
            <a:spAutoFit/>
          </a:bodyPr>
          <a:lstStyle/>
          <a:p>
            <a:pPr algn="ctr">
              <a:lnSpc>
                <a:spcPct val="150000"/>
              </a:lnSpc>
            </a:pPr>
            <a:r>
              <a:rPr lang="zh-CN" altLang="en-US" sz="2800" b="1" dirty="0">
                <a:effectLst>
                  <a:outerShdw blurRad="38100" dist="38100" dir="2700000" algn="tl">
                    <a:srgbClr val="000000">
                      <a:alpha val="43137"/>
                    </a:srgbClr>
                  </a:outerShdw>
                </a:effectLst>
              </a:rPr>
              <a:t>↑</a:t>
            </a:r>
            <a:endParaRPr lang="en-US" altLang="zh-CN" sz="2800" b="1" dirty="0">
              <a:effectLst>
                <a:outerShdw blurRad="38100" dist="38100" dir="2700000" algn="tl">
                  <a:srgbClr val="000000">
                    <a:alpha val="43137"/>
                  </a:srgbClr>
                </a:outerShdw>
              </a:effectLst>
            </a:endParaRPr>
          </a:p>
          <a:p>
            <a:pPr algn="ctr">
              <a:lnSpc>
                <a:spcPct val="150000"/>
              </a:lnSpc>
            </a:pPr>
            <a:r>
              <a:rPr lang="en-US" altLang="zh-CN" sz="2800" b="1" dirty="0">
                <a:solidFill>
                  <a:schemeClr val="accent2">
                    <a:lumMod val="75000"/>
                  </a:schemeClr>
                </a:solidFill>
                <a:effectLst>
                  <a:outerShdw blurRad="38100" dist="38100" dir="2700000" algn="tl">
                    <a:srgbClr val="000000">
                      <a:alpha val="43137"/>
                    </a:srgbClr>
                  </a:outerShdw>
                </a:effectLst>
              </a:rPr>
              <a:t>LV</a:t>
            </a:r>
            <a:r>
              <a:rPr lang="en-US" altLang="zh-CN" sz="2800" b="1" dirty="0">
                <a:effectLst>
                  <a:outerShdw blurRad="38100" dist="38100" dir="2700000" algn="tl">
                    <a:srgbClr val="000000">
                      <a:alpha val="43137"/>
                    </a:srgbClr>
                  </a:outerShdw>
                </a:effectLst>
              </a:rPr>
              <a:t> x </a:t>
            </a:r>
            <a:r>
              <a:rPr lang="en-US" altLang="zh-CN" sz="2800" b="1" dirty="0">
                <a:solidFill>
                  <a:srgbClr val="FF0000"/>
                </a:solidFill>
                <a:effectLst>
                  <a:outerShdw blurRad="38100" dist="38100" dir="2700000" algn="tl">
                    <a:srgbClr val="000000">
                      <a:alpha val="43137"/>
                    </a:srgbClr>
                  </a:outerShdw>
                </a:effectLst>
              </a:rPr>
              <a:t>Supreme</a:t>
            </a:r>
          </a:p>
        </p:txBody>
      </p:sp>
      <p:sp>
        <p:nvSpPr>
          <p:cNvPr id="24" name="文本框 23">
            <a:extLst>
              <a:ext uri="{FF2B5EF4-FFF2-40B4-BE49-F238E27FC236}">
                <a16:creationId xmlns:a16="http://schemas.microsoft.com/office/drawing/2014/main" id="{B23A9B9A-E259-49D5-8201-7446366CB098}"/>
              </a:ext>
            </a:extLst>
          </p:cNvPr>
          <p:cNvSpPr txBox="1"/>
          <p:nvPr/>
        </p:nvSpPr>
        <p:spPr>
          <a:xfrm>
            <a:off x="8132347" y="1498862"/>
            <a:ext cx="2953575" cy="1143070"/>
          </a:xfrm>
          <a:prstGeom prst="rect">
            <a:avLst/>
          </a:prstGeom>
          <a:noFill/>
        </p:spPr>
        <p:txBody>
          <a:bodyPr wrap="square" rtlCol="0">
            <a:spAutoFit/>
          </a:bodyPr>
          <a:lstStyle/>
          <a:p>
            <a:pPr algn="ctr">
              <a:lnSpc>
                <a:spcPct val="150000"/>
              </a:lnSpc>
            </a:pPr>
            <a:r>
              <a:rPr lang="en-US" altLang="zh-CN" sz="2400" b="1" dirty="0">
                <a:effectLst>
                  <a:outerShdw blurRad="38100" dist="38100" dir="2700000" algn="tl">
                    <a:srgbClr val="000000">
                      <a:alpha val="43137"/>
                    </a:srgbClr>
                  </a:outerShdw>
                </a:effectLst>
              </a:rPr>
              <a:t>NIKE x </a:t>
            </a:r>
            <a:r>
              <a:rPr lang="en-US" altLang="zh-CN" sz="2400" b="1" dirty="0">
                <a:solidFill>
                  <a:schemeClr val="accent2"/>
                </a:solidFill>
                <a:effectLst>
                  <a:outerShdw blurRad="38100" dist="38100" dir="2700000" algn="tl">
                    <a:srgbClr val="000000">
                      <a:alpha val="43137"/>
                    </a:srgbClr>
                  </a:outerShdw>
                </a:effectLst>
              </a:rPr>
              <a:t>OFF-WHITE</a:t>
            </a:r>
          </a:p>
          <a:p>
            <a:pPr algn="ctr">
              <a:lnSpc>
                <a:spcPct val="150000"/>
              </a:lnSpc>
            </a:pPr>
            <a:r>
              <a:rPr lang="zh-CN" altLang="en-US" sz="2400" b="1" dirty="0">
                <a:effectLst>
                  <a:outerShdw blurRad="38100" dist="38100" dir="2700000" algn="tl">
                    <a:srgbClr val="000000">
                      <a:alpha val="43137"/>
                    </a:srgbClr>
                  </a:outerShdw>
                </a:effectLst>
              </a:rPr>
              <a:t>↓</a:t>
            </a:r>
          </a:p>
        </p:txBody>
      </p:sp>
      <p:sp>
        <p:nvSpPr>
          <p:cNvPr id="25" name="Rectangle 10">
            <a:extLst>
              <a:ext uri="{FF2B5EF4-FFF2-40B4-BE49-F238E27FC236}">
                <a16:creationId xmlns:a16="http://schemas.microsoft.com/office/drawing/2014/main" id="{7935EA00-ADA3-4DFE-A065-219051DF9A2D}"/>
              </a:ext>
            </a:extLst>
          </p:cNvPr>
          <p:cNvSpPr/>
          <p:nvPr/>
        </p:nvSpPr>
        <p:spPr>
          <a:xfrm>
            <a:off x="274912" y="2474132"/>
            <a:ext cx="3451156" cy="338192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83120" y="2659377"/>
            <a:ext cx="2421562" cy="2421562"/>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173118" y="3870158"/>
            <a:ext cx="1731564" cy="1113766"/>
          </a:xfrm>
          <a:prstGeom prst="rect">
            <a:avLst/>
          </a:prstGeom>
          <a:noFill/>
        </p:spPr>
        <p:txBody>
          <a:bodyPr wrap="none" rtlCol="0">
            <a:spAutoFit/>
          </a:bodyPr>
          <a:lstStyle/>
          <a:p>
            <a:pPr algn="r">
              <a:lnSpc>
                <a:spcPct val="150000"/>
              </a:lnSpc>
            </a:pPr>
            <a:r>
              <a:rPr lang="zh-CN" altLang="en-US" sz="24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ontserrat" charset="0"/>
              </a:rPr>
              <a:t>品牌与品牌</a:t>
            </a:r>
            <a:endParaRPr lang="en-US" altLang="zh-CN" sz="24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ontserrat" charset="0"/>
            </a:endParaRPr>
          </a:p>
          <a:p>
            <a:pPr algn="r">
              <a:lnSpc>
                <a:spcPct val="150000"/>
              </a:lnSpc>
            </a:pPr>
            <a:r>
              <a:rPr lang="zh-CN" altLang="en-US" sz="24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ontserrat" charset="0"/>
              </a:rPr>
              <a:t>联名</a:t>
            </a:r>
            <a:endParaRPr lang="en-US" sz="24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ontserrat" charset="0"/>
            </a:endParaRPr>
          </a:p>
        </p:txBody>
      </p:sp>
    </p:spTree>
    <p:extLst>
      <p:ext uri="{BB962C8B-B14F-4D97-AF65-F5344CB8AC3E}">
        <p14:creationId xmlns:p14="http://schemas.microsoft.com/office/powerpoint/2010/main" val="2627083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a:extLst>
              <a:ext uri="{FF2B5EF4-FFF2-40B4-BE49-F238E27FC236}">
                <a16:creationId xmlns:a16="http://schemas.microsoft.com/office/drawing/2014/main" id="{85CDCF57-01F3-499D-A0E1-922CDBF757A8}"/>
              </a:ext>
            </a:extLst>
          </p:cNvPr>
          <p:cNvPicPr>
            <a:picLocks noGrp="1" noChangeAspect="1"/>
          </p:cNvPicPr>
          <p:nvPr>
            <p:ph type="pic" sz="quarter" idx="11"/>
          </p:nvPr>
        </p:nvPicPr>
        <p:blipFill>
          <a:blip r:embed="rId3"/>
          <a:srcRect t="18729" b="18729"/>
          <a:stretch>
            <a:fillRect/>
          </a:stretch>
        </p:blipFill>
        <p:spPr>
          <a:xfrm>
            <a:off x="1983840" y="0"/>
            <a:ext cx="7696200" cy="6017079"/>
          </a:xfrm>
        </p:spPr>
      </p:pic>
      <p:sp>
        <p:nvSpPr>
          <p:cNvPr id="9" name="Rectangle 8"/>
          <p:cNvSpPr/>
          <p:nvPr/>
        </p:nvSpPr>
        <p:spPr>
          <a:xfrm>
            <a:off x="9660467" y="0"/>
            <a:ext cx="2531533" cy="601707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组合 1"/>
          <p:cNvGrpSpPr/>
          <p:nvPr/>
        </p:nvGrpSpPr>
        <p:grpSpPr>
          <a:xfrm>
            <a:off x="10120563" y="4182167"/>
            <a:ext cx="1611340" cy="1323439"/>
            <a:chOff x="10120563" y="4182167"/>
            <a:chExt cx="1611340" cy="1323439"/>
          </a:xfrm>
        </p:grpSpPr>
        <p:sp>
          <p:nvSpPr>
            <p:cNvPr id="12" name="TextBox 11"/>
            <p:cNvSpPr txBox="1"/>
            <p:nvPr/>
          </p:nvSpPr>
          <p:spPr>
            <a:xfrm>
              <a:off x="10281362" y="4182167"/>
              <a:ext cx="1023037" cy="261610"/>
            </a:xfrm>
            <a:prstGeom prst="rect">
              <a:avLst/>
            </a:prstGeom>
            <a:noFill/>
          </p:spPr>
          <p:txBody>
            <a:bodyPr wrap="none" rtlCol="0">
              <a:spAutoFit/>
            </a:bodyPr>
            <a:lstStyle/>
            <a:p>
              <a:r>
                <a:rPr lang="en-US" sz="1100" b="1">
                  <a:solidFill>
                    <a:schemeClr val="bg1"/>
                  </a:solidFill>
                  <a:latin typeface="Montserrat Semi" charset="0"/>
                  <a:ea typeface="Montserrat Semi" charset="0"/>
                  <a:cs typeface="Montserrat Semi" charset="0"/>
                </a:rPr>
                <a:t>S E C T I O N</a:t>
              </a:r>
              <a:endParaRPr lang="en-US" sz="1100" b="1" dirty="0">
                <a:solidFill>
                  <a:schemeClr val="bg1"/>
                </a:solidFill>
                <a:latin typeface="Montserrat Semi" charset="0"/>
                <a:ea typeface="Montserrat Semi" charset="0"/>
                <a:cs typeface="Montserrat Semi" charset="0"/>
              </a:endParaRPr>
            </a:p>
          </p:txBody>
        </p:sp>
        <p:sp>
          <p:nvSpPr>
            <p:cNvPr id="13" name="TextBox 12"/>
            <p:cNvSpPr txBox="1"/>
            <p:nvPr/>
          </p:nvSpPr>
          <p:spPr>
            <a:xfrm>
              <a:off x="10120563" y="4182167"/>
              <a:ext cx="1611340" cy="1323439"/>
            </a:xfrm>
            <a:prstGeom prst="rect">
              <a:avLst/>
            </a:prstGeom>
            <a:noFill/>
          </p:spPr>
          <p:txBody>
            <a:bodyPr wrap="none" rtlCol="0">
              <a:spAutoFit/>
            </a:bodyPr>
            <a:lstStyle/>
            <a:p>
              <a:pPr algn="ctr"/>
              <a:r>
                <a:rPr lang="en-US" sz="8000" b="1" dirty="0">
                  <a:solidFill>
                    <a:schemeClr val="bg1"/>
                  </a:solidFill>
                  <a:latin typeface="Montserrat Semi" charset="0"/>
                  <a:ea typeface="Montserrat Semi" charset="0"/>
                  <a:cs typeface="Montserrat Semi" charset="0"/>
                </a:rPr>
                <a:t>0</a:t>
              </a:r>
              <a:r>
                <a:rPr lang="en-US" altLang="zh-CN" sz="8000" b="1" dirty="0">
                  <a:solidFill>
                    <a:schemeClr val="bg1"/>
                  </a:solidFill>
                  <a:latin typeface="Montserrat Semi" charset="0"/>
                  <a:ea typeface="Montserrat Semi" charset="0"/>
                  <a:cs typeface="Montserrat Semi" charset="0"/>
                </a:rPr>
                <a:t>4</a:t>
              </a:r>
              <a:r>
                <a:rPr lang="en-US" sz="8000" b="1" dirty="0">
                  <a:solidFill>
                    <a:schemeClr val="bg1"/>
                  </a:solidFill>
                  <a:latin typeface="Montserrat Semi" charset="0"/>
                  <a:ea typeface="Montserrat Semi" charset="0"/>
                  <a:cs typeface="Montserrat Semi" charset="0"/>
                </a:rPr>
                <a:t>.</a:t>
              </a:r>
            </a:p>
          </p:txBody>
        </p:sp>
      </p:grpSp>
      <p:sp>
        <p:nvSpPr>
          <p:cNvPr id="18" name="Rectangle 17"/>
          <p:cNvSpPr/>
          <p:nvPr/>
        </p:nvSpPr>
        <p:spPr>
          <a:xfrm>
            <a:off x="4502875" y="733199"/>
            <a:ext cx="2599267" cy="5584372"/>
          </a:xfrm>
          <a:prstGeom prst="rect">
            <a:avLst/>
          </a:prstGeom>
          <a:noFill/>
          <a:ln w="381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ross 19"/>
          <p:cNvSpPr/>
          <p:nvPr/>
        </p:nvSpPr>
        <p:spPr>
          <a:xfrm>
            <a:off x="4023479" y="453799"/>
            <a:ext cx="279400" cy="279400"/>
          </a:xfrm>
          <a:prstGeom prst="plus">
            <a:avLst>
              <a:gd name="adj" fmla="val 42088"/>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1494887"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3476" y="6432987"/>
            <a:ext cx="249819"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12278" y="6317571"/>
            <a:ext cx="524503" cy="230832"/>
          </a:xfrm>
          <a:prstGeom prst="rect">
            <a:avLst/>
          </a:prstGeom>
          <a:noFill/>
        </p:spPr>
        <p:txBody>
          <a:bodyPr wrap="none" rtlCol="0">
            <a:spAutoFit/>
          </a:bodyPr>
          <a:lstStyle/>
          <a:p>
            <a:r>
              <a:rPr lang="en-US" sz="900" dirty="0">
                <a:solidFill>
                  <a:schemeClr val="tx1">
                    <a:lumMod val="85000"/>
                    <a:lumOff val="15000"/>
                  </a:schemeClr>
                </a:solidFill>
                <a:latin typeface="Cormorant Garamond Light" charset="0"/>
                <a:ea typeface="Cormorant Garamond Light" charset="0"/>
                <a:cs typeface="Cormorant Garamond Light" charset="0"/>
              </a:rPr>
              <a:t>slide : </a:t>
            </a:r>
            <a:fld id="{62AEC829-9D8B-B04A-97F2-7EA009EEF72F}" type="slidenum">
              <a:rPr lang="en-US" sz="900" b="1">
                <a:latin typeface="Cormorant Garamond" charset="0"/>
                <a:ea typeface="Cormorant Garamond" charset="0"/>
                <a:cs typeface="Cormorant Garamond" charset="0"/>
              </a:rPr>
              <a:pPr/>
              <a:t>73</a:t>
            </a:fld>
            <a:endParaRPr lang="en-US" sz="900" b="1" dirty="0">
              <a:latin typeface="Cormorant Garamond" charset="0"/>
              <a:ea typeface="Cormorant Garamond" charset="0"/>
              <a:cs typeface="Cormorant Garamond" charset="0"/>
            </a:endParaRPr>
          </a:p>
        </p:txBody>
      </p:sp>
      <p:sp>
        <p:nvSpPr>
          <p:cNvPr id="26" name="TextBox 25"/>
          <p:cNvSpPr txBox="1"/>
          <p:nvPr/>
        </p:nvSpPr>
        <p:spPr>
          <a:xfrm rot="16200000">
            <a:off x="10231172" y="1980726"/>
            <a:ext cx="1390124" cy="769441"/>
          </a:xfrm>
          <a:prstGeom prst="rect">
            <a:avLst/>
          </a:prstGeom>
          <a:noFill/>
        </p:spPr>
        <p:txBody>
          <a:bodyPr wrap="none" rtlCol="0">
            <a:spAutoFit/>
          </a:bodyPr>
          <a:lstStyle/>
          <a:p>
            <a:pPr algn="ctr"/>
            <a:r>
              <a:rPr lang="zh-CN" altLang="en-US" sz="4400" spc="300" dirty="0">
                <a:solidFill>
                  <a:schemeClr val="bg1"/>
                </a:solidFill>
                <a:latin typeface="Montserrat Light" charset="0"/>
                <a:ea typeface="Montserrat Light" charset="0"/>
                <a:cs typeface="Montserrat Light" charset="0"/>
              </a:rPr>
              <a:t>结语</a:t>
            </a:r>
            <a:endParaRPr lang="en-US" sz="4400" spc="300" dirty="0">
              <a:solidFill>
                <a:schemeClr val="bg1"/>
              </a:solidFill>
              <a:latin typeface="Montserrat Light" charset="0"/>
              <a:ea typeface="Montserrat Light" charset="0"/>
              <a:cs typeface="Montserrat Light" charset="0"/>
            </a:endParaRPr>
          </a:p>
        </p:txBody>
      </p:sp>
    </p:spTree>
    <p:extLst>
      <p:ext uri="{BB962C8B-B14F-4D97-AF65-F5344CB8AC3E}">
        <p14:creationId xmlns:p14="http://schemas.microsoft.com/office/powerpoint/2010/main" val="387617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par>
                          <p:cTn id="18" fill="hold">
                            <p:stCondLst>
                              <p:cond delay="1500"/>
                            </p:stCondLst>
                            <p:childTnLst>
                              <p:par>
                                <p:cTn id="19" presetID="21" presetClass="entr" presetSubtype="1"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heel(1)">
                                      <p:cBhvr>
                                        <p:cTn id="21" dur="500"/>
                                        <p:tgtEl>
                                          <p:spTgt spid="18"/>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20" grpId="0" animBg="1"/>
      <p:bldP spid="2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ADD51-1A95-3DEA-1E72-81AC7268FC95}"/>
              </a:ext>
            </a:extLst>
          </p:cNvPr>
          <p:cNvSpPr>
            <a:spLocks noGrp="1"/>
          </p:cNvSpPr>
          <p:nvPr>
            <p:ph type="title"/>
          </p:nvPr>
        </p:nvSpPr>
        <p:spPr/>
        <p:txBody>
          <a:bodyPr/>
          <a:lstStyle/>
          <a:p>
            <a:r>
              <a:rPr lang="zh-CN" altLang="en-US" dirty="0"/>
              <a:t>大众文化消费：法兰克福学派的批判</a:t>
            </a:r>
          </a:p>
        </p:txBody>
      </p:sp>
      <p:sp>
        <p:nvSpPr>
          <p:cNvPr id="3" name="内容占位符 2">
            <a:extLst>
              <a:ext uri="{FF2B5EF4-FFF2-40B4-BE49-F238E27FC236}">
                <a16:creationId xmlns:a16="http://schemas.microsoft.com/office/drawing/2014/main" id="{AE625CA8-3217-205F-9621-8297F45EE243}"/>
              </a:ext>
            </a:extLst>
          </p:cNvPr>
          <p:cNvSpPr>
            <a:spLocks noGrp="1"/>
          </p:cNvSpPr>
          <p:nvPr>
            <p:ph idx="1"/>
          </p:nvPr>
        </p:nvSpPr>
        <p:spPr/>
        <p:txBody>
          <a:bodyPr/>
          <a:lstStyle/>
          <a:p>
            <a:r>
              <a:rPr lang="zh-CN" altLang="en-US" dirty="0"/>
              <a:t>文化批判：将现代社会的文化生产视之为批量处理的工业生产</a:t>
            </a:r>
            <a:endParaRPr lang="en-US" altLang="zh-CN" dirty="0"/>
          </a:p>
          <a:p>
            <a:r>
              <a:rPr lang="zh-CN" altLang="en-US" dirty="0"/>
              <a:t>构成消费社会建构欲望的有效系统</a:t>
            </a:r>
            <a:endParaRPr lang="en-US" altLang="zh-CN" dirty="0"/>
          </a:p>
          <a:p>
            <a:r>
              <a:rPr lang="zh-CN" altLang="en-US" dirty="0"/>
              <a:t>文化消费是物质消费的前景</a:t>
            </a:r>
            <a:r>
              <a:rPr lang="zh-CN" altLang="en-US" sz="1600" dirty="0"/>
              <a:t>（景观）</a:t>
            </a:r>
            <a:r>
              <a:rPr lang="zh-CN" altLang="en-US" sz="2400" dirty="0"/>
              <a:t>，</a:t>
            </a:r>
            <a:r>
              <a:rPr lang="zh-CN" altLang="en-US" dirty="0"/>
              <a:t>成为“现实”</a:t>
            </a:r>
            <a:endParaRPr lang="en-US" altLang="zh-CN" dirty="0"/>
          </a:p>
          <a:p>
            <a:r>
              <a:rPr lang="zh-CN" altLang="en-US" dirty="0"/>
              <a:t>植入式欲望透露着反抗的无力</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6131705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3E4B97-D1D9-0790-3E12-B68CF18B045E}"/>
              </a:ext>
            </a:extLst>
          </p:cNvPr>
          <p:cNvSpPr>
            <a:spLocks noGrp="1"/>
          </p:cNvSpPr>
          <p:nvPr>
            <p:ph type="title"/>
          </p:nvPr>
        </p:nvSpPr>
        <p:spPr/>
        <p:txBody>
          <a:bodyPr/>
          <a:lstStyle/>
          <a:p>
            <a:r>
              <a:rPr lang="zh-CN" altLang="en-US" dirty="0"/>
              <a:t>伯明翰学派：大众文化的乐观者</a:t>
            </a:r>
          </a:p>
        </p:txBody>
      </p:sp>
      <p:sp>
        <p:nvSpPr>
          <p:cNvPr id="3" name="内容占位符 2">
            <a:extLst>
              <a:ext uri="{FF2B5EF4-FFF2-40B4-BE49-F238E27FC236}">
                <a16:creationId xmlns:a16="http://schemas.microsoft.com/office/drawing/2014/main" id="{2131349E-7F03-F432-21E0-3BFBD72E58EB}"/>
              </a:ext>
            </a:extLst>
          </p:cNvPr>
          <p:cNvSpPr>
            <a:spLocks noGrp="1"/>
          </p:cNvSpPr>
          <p:nvPr>
            <p:ph idx="1"/>
          </p:nvPr>
        </p:nvSpPr>
        <p:spPr>
          <a:xfrm>
            <a:off x="838199" y="1825625"/>
            <a:ext cx="10910977" cy="4351338"/>
          </a:xfrm>
        </p:spPr>
        <p:txBody>
          <a:bodyPr/>
          <a:lstStyle/>
          <a:p>
            <a:endParaRPr lang="en-US" altLang="zh-CN" dirty="0"/>
          </a:p>
          <a:p>
            <a:r>
              <a:rPr lang="zh-CN" altLang="en-US" dirty="0"/>
              <a:t>大众文化的消费者并非无意识的欲望者，是具有创造能力的主体；</a:t>
            </a:r>
            <a:endParaRPr lang="en-US" altLang="zh-CN" dirty="0"/>
          </a:p>
          <a:p>
            <a:r>
              <a:rPr lang="zh-CN" altLang="en-US" dirty="0"/>
              <a:t>大众能够促使其文化吸纳时代特征，具有进步性；</a:t>
            </a:r>
            <a:endParaRPr lang="en-US" altLang="zh-CN" dirty="0"/>
          </a:p>
          <a:p>
            <a:r>
              <a:rPr lang="zh-CN" altLang="en-US" dirty="0"/>
              <a:t>文化规训和欲望植入下，具有反抗特质；</a:t>
            </a:r>
            <a:endParaRPr lang="en-US" altLang="zh-CN" dirty="0"/>
          </a:p>
          <a:p>
            <a:r>
              <a:rPr lang="zh-CN" altLang="en-US" dirty="0"/>
              <a:t>主流与反抗性亚文化之间的收编关系；</a:t>
            </a:r>
            <a:endParaRPr lang="en-US" altLang="zh-CN" dirty="0"/>
          </a:p>
          <a:p>
            <a:endParaRPr lang="zh-CN" altLang="en-US" dirty="0"/>
          </a:p>
        </p:txBody>
      </p:sp>
    </p:spTree>
    <p:extLst>
      <p:ext uri="{BB962C8B-B14F-4D97-AF65-F5344CB8AC3E}">
        <p14:creationId xmlns:p14="http://schemas.microsoft.com/office/powerpoint/2010/main" val="8785365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855AF3-96A8-F7F3-0743-D22A5863653C}"/>
              </a:ext>
            </a:extLst>
          </p:cNvPr>
          <p:cNvSpPr>
            <a:spLocks noGrp="1"/>
          </p:cNvSpPr>
          <p:nvPr>
            <p:ph type="title"/>
          </p:nvPr>
        </p:nvSpPr>
        <p:spPr/>
        <p:txBody>
          <a:bodyPr/>
          <a:lstStyle/>
          <a:p>
            <a:r>
              <a:rPr lang="zh-CN" altLang="en-US" dirty="0"/>
              <a:t>环保主义的批判：</a:t>
            </a:r>
            <a:r>
              <a:rPr lang="zh-CN" altLang="en-US" sz="2800" dirty="0"/>
              <a:t>全球气候灾难</a:t>
            </a:r>
          </a:p>
        </p:txBody>
      </p:sp>
      <p:sp>
        <p:nvSpPr>
          <p:cNvPr id="3" name="内容占位符 2">
            <a:extLst>
              <a:ext uri="{FF2B5EF4-FFF2-40B4-BE49-F238E27FC236}">
                <a16:creationId xmlns:a16="http://schemas.microsoft.com/office/drawing/2014/main" id="{58299C2F-E62C-4610-CC49-76F6E57579B3}"/>
              </a:ext>
            </a:extLst>
          </p:cNvPr>
          <p:cNvSpPr>
            <a:spLocks noGrp="1"/>
          </p:cNvSpPr>
          <p:nvPr>
            <p:ph idx="1"/>
          </p:nvPr>
        </p:nvSpPr>
        <p:spPr/>
        <p:txBody>
          <a:bodyPr/>
          <a:lstStyle/>
          <a:p>
            <a:endParaRPr lang="en-US" altLang="zh-CN" dirty="0"/>
          </a:p>
          <a:p>
            <a:r>
              <a:rPr lang="zh-CN" altLang="en-US" dirty="0"/>
              <a:t>人类社会中自然的层次</a:t>
            </a:r>
            <a:r>
              <a:rPr lang="zh-CN" altLang="en-US" sz="1400" dirty="0"/>
              <a:t>自在</a:t>
            </a:r>
            <a:r>
              <a:rPr lang="en-US" altLang="zh-CN" sz="1400" dirty="0"/>
              <a:t>-</a:t>
            </a:r>
            <a:r>
              <a:rPr lang="zh-CN" altLang="en-US" sz="1400" dirty="0"/>
              <a:t>人为中心的划定</a:t>
            </a:r>
            <a:r>
              <a:rPr lang="en-US" altLang="zh-CN" sz="1400" dirty="0"/>
              <a:t>-</a:t>
            </a:r>
            <a:r>
              <a:rPr lang="zh-CN" altLang="en-US" sz="1400" dirty="0"/>
              <a:t>文化性的划定（符号化）</a:t>
            </a:r>
            <a:endParaRPr lang="zh-CN" altLang="zh-CN" dirty="0"/>
          </a:p>
          <a:p>
            <a:r>
              <a:rPr lang="zh-CN" altLang="zh-CN" dirty="0"/>
              <a:t>资本主义基本矛盾是自然的新陈代谢与资本之间的矛盾</a:t>
            </a:r>
            <a:r>
              <a:rPr lang="zh-CN" altLang="zh-CN" sz="1400" dirty="0"/>
              <a:t>自然抵抗资本，对资本的自我增值构成了限制</a:t>
            </a:r>
          </a:p>
          <a:p>
            <a:r>
              <a:rPr lang="zh-CN" altLang="zh-CN" dirty="0"/>
              <a:t>符号秩序和符号虚构世界——我们社会生活的符号</a:t>
            </a:r>
            <a:r>
              <a:rPr lang="zh-CN" altLang="zh-CN"/>
              <a:t>性实体</a:t>
            </a:r>
            <a:r>
              <a:rPr lang="zh-CN" altLang="en-US"/>
              <a:t>在</a:t>
            </a:r>
            <a:r>
              <a:rPr lang="zh-CN" altLang="zh-CN"/>
              <a:t>摧毁</a:t>
            </a:r>
            <a:r>
              <a:rPr lang="zh-CN" altLang="en-US"/>
              <a:t>人类</a:t>
            </a:r>
            <a:r>
              <a:rPr lang="zh-CN" altLang="zh-CN"/>
              <a:t>自然栖息地，还在摧毁</a:t>
            </a:r>
            <a:r>
              <a:rPr lang="zh-CN" altLang="en-US"/>
              <a:t>人类</a:t>
            </a:r>
            <a:r>
              <a:rPr lang="zh-CN" altLang="zh-CN"/>
              <a:t>共有</a:t>
            </a:r>
            <a:r>
              <a:rPr lang="zh-CN" altLang="zh-CN" dirty="0"/>
              <a:t>的</a:t>
            </a:r>
            <a:r>
              <a:rPr lang="zh-CN" altLang="zh-CN"/>
              <a:t>符号实体</a:t>
            </a:r>
            <a:endParaRPr lang="zh-CN" altLang="zh-CN" dirty="0"/>
          </a:p>
          <a:p>
            <a:endParaRPr lang="en-US" altLang="zh-CN" dirty="0"/>
          </a:p>
          <a:p>
            <a:endParaRPr lang="en-US" altLang="zh-CN" dirty="0"/>
          </a:p>
        </p:txBody>
      </p:sp>
    </p:spTree>
    <p:extLst>
      <p:ext uri="{BB962C8B-B14F-4D97-AF65-F5344CB8AC3E}">
        <p14:creationId xmlns:p14="http://schemas.microsoft.com/office/powerpoint/2010/main" val="23423649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结语</a:t>
            </a:r>
          </a:p>
        </p:txBody>
      </p:sp>
      <p:sp>
        <p:nvSpPr>
          <p:cNvPr id="3" name="内容占位符 2"/>
          <p:cNvSpPr>
            <a:spLocks noGrp="1"/>
          </p:cNvSpPr>
          <p:nvPr>
            <p:ph idx="1"/>
          </p:nvPr>
        </p:nvSpPr>
        <p:spPr/>
        <p:txBody>
          <a:bodyPr>
            <a:normAutofit/>
          </a:bodyPr>
          <a:lstStyle/>
          <a:p>
            <a:pPr marL="0" indent="0" algn="just">
              <a:spcAft>
                <a:spcPts val="0"/>
              </a:spcAft>
              <a:buNone/>
            </a:pPr>
            <a:endParaRPr lang="zh-CN"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马克思主义的异化：人在消费的过程中被异化而无法实现“类存在”的本性，失去创造性的悲哀</a:t>
            </a:r>
            <a:r>
              <a:rPr lang="en-US" altLang="zh-CN" kern="100" dirty="0">
                <a:latin typeface="Calibri" panose="020F0502020204030204" pitchFamily="34" charset="0"/>
                <a:cs typeface="Times New Roman" panose="02020603050405020304" pitchFamily="18" charset="0"/>
              </a:rPr>
              <a:t>:</a:t>
            </a:r>
            <a:r>
              <a:rPr lang="zh-CN" altLang="zh-CN" kern="100" dirty="0">
                <a:latin typeface="Calibri" panose="020F0502020204030204" pitchFamily="34" charset="0"/>
                <a:cs typeface="Times New Roman" panose="02020603050405020304" pitchFamily="18" charset="0"/>
              </a:rPr>
              <a:t>末人</a:t>
            </a:r>
            <a:r>
              <a:rPr lang="zh-CN" altLang="en-US" kern="100" dirty="0">
                <a:latin typeface="Calibri" panose="020F0502020204030204" pitchFamily="34"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环保主义者：消费主义</a:t>
            </a:r>
            <a:r>
              <a:rPr lang="zh-CN" altLang="en-US" kern="100" dirty="0">
                <a:latin typeface="Calibri" panose="020F0502020204030204" pitchFamily="34" charset="0"/>
                <a:cs typeface="Times New Roman" panose="02020603050405020304" pitchFamily="18" charset="0"/>
              </a:rPr>
              <a:t>消耗</a:t>
            </a:r>
            <a:r>
              <a:rPr lang="zh-CN" altLang="zh-CN" kern="100" dirty="0">
                <a:latin typeface="Calibri" panose="020F0502020204030204" pitchFamily="34" charset="0"/>
                <a:cs typeface="Times New Roman" panose="02020603050405020304" pitchFamily="18" charset="0"/>
              </a:rPr>
              <a:t>地球的资源，包装、制造、运输和住宅的的扩张性开放，已经带来了第三次物种灭绝的高峰</a:t>
            </a:r>
            <a:r>
              <a:rPr lang="zh-CN" altLang="en-US" kern="100" dirty="0">
                <a:latin typeface="Calibri" panose="020F0502020204030204" pitchFamily="34" charset="0"/>
                <a:cs typeface="Times New Roman" panose="02020603050405020304" pitchFamily="18" charset="0"/>
              </a:rPr>
              <a:t>；</a:t>
            </a:r>
            <a:endParaRPr lang="zh-CN"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宗教的信仰是否可以重启人们简朴而自然的生活？</a:t>
            </a:r>
          </a:p>
          <a:p>
            <a:endParaRPr lang="en-US" altLang="zh-CN" dirty="0"/>
          </a:p>
          <a:p>
            <a:endParaRPr lang="zh-CN" altLang="en-US" dirty="0"/>
          </a:p>
        </p:txBody>
      </p:sp>
    </p:spTree>
    <p:extLst>
      <p:ext uri="{BB962C8B-B14F-4D97-AF65-F5344CB8AC3E}">
        <p14:creationId xmlns:p14="http://schemas.microsoft.com/office/powerpoint/2010/main" val="7049936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rot="16200000">
            <a:off x="536502" y="5114242"/>
            <a:ext cx="915636" cy="215444"/>
          </a:xfrm>
          <a:prstGeom prst="rect">
            <a:avLst/>
          </a:prstGeom>
          <a:noFill/>
        </p:spPr>
        <p:txBody>
          <a:bodyPr wrap="none" rtlCol="0">
            <a:spAutoFit/>
          </a:bodyPr>
          <a:lstStyle/>
          <a:p>
            <a:pPr algn="ctr"/>
            <a:r>
              <a:rPr lang="en-US" sz="800" b="1" spc="300" dirty="0">
                <a:solidFill>
                  <a:schemeClr val="tx1">
                    <a:lumMod val="85000"/>
                    <a:lumOff val="15000"/>
                  </a:schemeClr>
                </a:solidFill>
                <a:latin typeface="Montserrat Semi" charset="0"/>
                <a:ea typeface="Montserrat Light" charset="0"/>
                <a:cs typeface="Montserrat Light" charset="0"/>
              </a:rPr>
              <a:t>FASHION</a:t>
            </a:r>
            <a:endParaRPr lang="en-US" sz="800" spc="300" dirty="0">
              <a:solidFill>
                <a:schemeClr val="tx1">
                  <a:lumMod val="85000"/>
                  <a:lumOff val="15000"/>
                </a:schemeClr>
              </a:solidFill>
              <a:latin typeface="Montserrat Light" charset="0"/>
              <a:ea typeface="Montserrat Light" charset="0"/>
              <a:cs typeface="Montserrat Light" charset="0"/>
            </a:endParaRPr>
          </a:p>
        </p:txBody>
      </p:sp>
      <p:sp>
        <p:nvSpPr>
          <p:cNvPr id="16" name="TextBox 15"/>
          <p:cNvSpPr txBox="1"/>
          <p:nvPr/>
        </p:nvSpPr>
        <p:spPr>
          <a:xfrm>
            <a:off x="3732149" y="2328704"/>
            <a:ext cx="6835910" cy="1569660"/>
          </a:xfrm>
          <a:prstGeom prst="rect">
            <a:avLst/>
          </a:prstGeom>
          <a:noFill/>
        </p:spPr>
        <p:txBody>
          <a:bodyPr wrap="none" rtlCol="0">
            <a:spAutoFit/>
          </a:bodyPr>
          <a:lstStyle/>
          <a:p>
            <a:pPr algn="ctr"/>
            <a:r>
              <a:rPr lang="en-US" sz="9600" spc="600" dirty="0">
                <a:solidFill>
                  <a:srgbClr val="FFC000"/>
                </a:solidFill>
                <a:latin typeface="Das Reicht Gut Regular" pitchFamily="2" charset="0"/>
                <a:ea typeface="魚石行書" panose="03000509000000000000" pitchFamily="65" charset="-128"/>
                <a:cs typeface="Space Age" charset="0"/>
              </a:rPr>
              <a:t>THANK YOU</a:t>
            </a:r>
          </a:p>
        </p:txBody>
      </p:sp>
    </p:spTree>
    <p:extLst>
      <p:ext uri="{BB962C8B-B14F-4D97-AF65-F5344CB8AC3E}">
        <p14:creationId xmlns:p14="http://schemas.microsoft.com/office/powerpoint/2010/main" val="180884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99DF091-BCEA-4DBB-A0BD-97D11E758447"/>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OMAH PowerPoint Template"/>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9110</TotalTime>
  <Words>3562</Words>
  <Application>Microsoft Office PowerPoint</Application>
  <PresentationFormat>宽屏</PresentationFormat>
  <Paragraphs>402</Paragraphs>
  <Slides>78</Slides>
  <Notes>10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78</vt:i4>
      </vt:variant>
    </vt:vector>
  </HeadingPairs>
  <TitlesOfParts>
    <vt:vector size="95" baseType="lpstr">
      <vt:lpstr>造字工房黄金时代（非商用）粗体</vt:lpstr>
      <vt:lpstr>Das Reicht Gut Regular</vt:lpstr>
      <vt:lpstr>等线</vt:lpstr>
      <vt:lpstr>黑体</vt:lpstr>
      <vt:lpstr>宋体</vt:lpstr>
      <vt:lpstr>Calibri Light</vt:lpstr>
      <vt:lpstr>Calibri</vt:lpstr>
      <vt:lpstr>Cormorant Garamond Light</vt:lpstr>
      <vt:lpstr>Montserrat Semi</vt:lpstr>
      <vt:lpstr>微软雅黑</vt:lpstr>
      <vt:lpstr>Cormorant Garamond</vt:lpstr>
      <vt:lpstr>Montserrat Light</vt:lpstr>
      <vt:lpstr>Montserrat</vt:lpstr>
      <vt:lpstr>Arial</vt:lpstr>
      <vt:lpstr>Wingdings</vt:lpstr>
      <vt:lpstr>Office Theme</vt:lpstr>
      <vt:lpstr>Office 主题</vt:lpstr>
      <vt:lpstr>PowerPoint 演示文稿</vt:lpstr>
      <vt:lpstr>PowerPoint 演示文稿</vt:lpstr>
      <vt:lpstr>PowerPoint 演示文稿</vt:lpstr>
      <vt:lpstr>消费与工作</vt:lpstr>
      <vt:lpstr>消费与“物”</vt:lpstr>
      <vt:lpstr>消费与文化</vt:lpstr>
      <vt:lpstr>相关的理论背景</vt:lpstr>
      <vt:lpstr>参考书目：</vt:lpstr>
      <vt:lpstr>资料包</vt:lpstr>
      <vt:lpstr>PowerPoint 演示文稿</vt:lpstr>
      <vt:lpstr>视频</vt:lpstr>
      <vt:lpstr>授课方式</vt:lpstr>
      <vt:lpstr>消费专题</vt:lpstr>
      <vt:lpstr>PowerPoint 演示文稿</vt:lpstr>
      <vt:lpstr>PowerPoint 演示文稿</vt:lpstr>
      <vt:lpstr>PowerPoint 演示文稿</vt:lpstr>
      <vt:lpstr>                             </vt:lpstr>
      <vt:lpstr>                                             小红书和B站</vt:lpstr>
      <vt:lpstr>PowerPoint 演示文稿</vt:lpstr>
      <vt:lpstr>PowerPoint 演示文稿</vt:lpstr>
      <vt:lpstr>PowerPoint 演示文稿</vt:lpstr>
      <vt:lpstr>PowerPoint 演示文稿</vt:lpstr>
      <vt:lpstr>本此课程解释清楚的主要问题</vt:lpstr>
      <vt:lpstr>PowerPoint 演示文稿</vt:lpstr>
      <vt:lpstr>PowerPoint 演示文稿</vt:lpstr>
      <vt:lpstr>现代社会思想转变形式</vt:lpstr>
      <vt:lpstr>PowerPoint 演示文稿</vt:lpstr>
      <vt:lpstr>PowerPoint 演示文稿</vt:lpstr>
      <vt:lpstr>  消费社会的发展（现代社会-大都市兴起）      阶级区隔和夸饰性行为</vt:lpstr>
      <vt:lpstr>福特主义：大众消费兴起</vt:lpstr>
      <vt:lpstr>PowerPoint 演示文稿</vt:lpstr>
      <vt:lpstr>消费社会：生产积累到消费积累                       （面包-家具-房屋/家电和汽车）-（蛋糕）</vt:lpstr>
      <vt:lpstr>PowerPoint 演示文稿</vt:lpstr>
      <vt:lpstr>后期发展：福特主义的影响</vt:lpstr>
      <vt:lpstr>新消费者的出现（灵活的全球化经济模式、新经济的爆发）</vt:lpstr>
      <vt:lpstr>PowerPoint 演示文稿</vt:lpstr>
      <vt:lpstr>PowerPoint 演示文稿</vt:lpstr>
      <vt:lpstr>（一）理论框架：消费的解读 </vt:lpstr>
      <vt:lpstr> 生产和商品：马克思主义的“异化说”（客体化） </vt:lpstr>
      <vt:lpstr> 疏离化              “外在的劳动，自我异化的劳动，乃是一种自我牺牲或自残的劳动。” </vt:lpstr>
      <vt:lpstr>无法实现“类存在”</vt:lpstr>
      <vt:lpstr>后果：消费是异化的一部分（人的异化）</vt:lpstr>
      <vt:lpstr>消费主义的当代性（政治的异化）</vt:lpstr>
      <vt:lpstr>                                                                      社会的异化</vt:lpstr>
      <vt:lpstr>PowerPoint 演示文稿</vt:lpstr>
      <vt:lpstr>（二）消费与象征</vt:lpstr>
      <vt:lpstr>消费主义的当代性现象-原因(过渡：生产体制-媒体的教育-符号和象征) 市场的扩大-需求与物品的偏移构成的意义和象征-驱动欲望</vt:lpstr>
      <vt:lpstr>结构主义（商品的符号化-审美化，文化消费）</vt:lpstr>
      <vt:lpstr>马尔库塞：由制度形塑的消费</vt:lpstr>
      <vt:lpstr>PowerPoint 演示文稿</vt:lpstr>
      <vt:lpstr>鲍德里亚</vt:lpstr>
      <vt:lpstr>消费的风格化</vt:lpstr>
      <vt:lpstr>PowerPoint 演示文稿</vt:lpstr>
      <vt:lpstr>                          蒋琼耳：爱马仕“上”“下”联合创始人</vt:lpstr>
      <vt:lpstr>习性和品味之争</vt:lpstr>
      <vt:lpstr>布尔迪厄《区隔》：文化资本</vt:lpstr>
      <vt:lpstr>布尔迪厄使用了艺术-文化体系（经济概念）</vt:lpstr>
      <vt:lpstr>小资情调&amp;布波族</vt:lpstr>
      <vt:lpstr>内涵阐释：</vt:lpstr>
      <vt:lpstr>PowerPoint 演示文稿</vt:lpstr>
      <vt:lpstr>资本主义全球化体系提供的“人”（不完整）实践路径</vt:lpstr>
      <vt:lpstr>（三）消费与欲望象征-物品-媒介（kfc）</vt:lpstr>
      <vt:lpstr>象征</vt:lpstr>
      <vt:lpstr>商品美学 </vt:lpstr>
      <vt:lpstr>媒体文化产品的生产与欲望</vt:lpstr>
      <vt:lpstr>拉康：</vt:lpstr>
      <vt:lpstr>欲望和想象与象征</vt:lpstr>
      <vt:lpstr>“镜像”与广告</vt:lpstr>
      <vt:lpstr>PowerPoint 演示文稿</vt:lpstr>
      <vt:lpstr>性别与消费：消费与女性的“天然”关系</vt:lpstr>
      <vt:lpstr>男性消费的崛起： </vt:lpstr>
      <vt:lpstr>PowerPoint 演示文稿</vt:lpstr>
      <vt:lpstr>PowerPoint 演示文稿</vt:lpstr>
      <vt:lpstr>大众文化消费：法兰克福学派的批判</vt:lpstr>
      <vt:lpstr>伯明翰学派：大众文化的乐观者</vt:lpstr>
      <vt:lpstr>环保主义的批判：全球气候灾难</vt:lpstr>
      <vt:lpstr>结语</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OMAH PowerPoint Template</dc:title>
  <dc:creator/>
  <cp:revision>313</cp:revision>
  <dcterms:created xsi:type="dcterms:W3CDTF">2017-01-28T03:54:10Z</dcterms:created>
  <dcterms:modified xsi:type="dcterms:W3CDTF">2026-09-22T14:52:46Z</dcterms:modified>
</cp:coreProperties>
</file>