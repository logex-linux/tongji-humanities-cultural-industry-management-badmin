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75" r:id="rId4"/>
  </p:sldMasterIdLst>
  <p:notesMasterIdLst>
    <p:notesMasterId r:id="rId49"/>
  </p:notesMasterIdLst>
  <p:sldIdLst>
    <p:sldId id="406" r:id="rId5"/>
    <p:sldId id="440" r:id="rId6"/>
    <p:sldId id="381" r:id="rId7"/>
    <p:sldId id="387" r:id="rId8"/>
    <p:sldId id="389" r:id="rId9"/>
    <p:sldId id="390" r:id="rId10"/>
    <p:sldId id="391" r:id="rId11"/>
    <p:sldId id="535" r:id="rId12"/>
    <p:sldId id="655" r:id="rId13"/>
    <p:sldId id="412" r:id="rId14"/>
    <p:sldId id="401" r:id="rId15"/>
    <p:sldId id="659" r:id="rId16"/>
    <p:sldId id="638" r:id="rId17"/>
    <p:sldId id="417" r:id="rId18"/>
    <p:sldId id="400" r:id="rId19"/>
    <p:sldId id="429" r:id="rId20"/>
    <p:sldId id="415" r:id="rId21"/>
    <p:sldId id="658" r:id="rId22"/>
    <p:sldId id="416" r:id="rId23"/>
    <p:sldId id="537" r:id="rId24"/>
    <p:sldId id="394" r:id="rId25"/>
    <p:sldId id="421" r:id="rId26"/>
    <p:sldId id="395" r:id="rId27"/>
    <p:sldId id="437" r:id="rId28"/>
    <p:sldId id="630" r:id="rId29"/>
    <p:sldId id="396" r:id="rId30"/>
    <p:sldId id="398" r:id="rId31"/>
    <p:sldId id="423" r:id="rId32"/>
    <p:sldId id="349" r:id="rId33"/>
    <p:sldId id="422" r:id="rId34"/>
    <p:sldId id="424" r:id="rId35"/>
    <p:sldId id="663" r:id="rId36"/>
    <p:sldId id="351" r:id="rId37"/>
    <p:sldId id="664" r:id="rId38"/>
    <p:sldId id="425" r:id="rId39"/>
    <p:sldId id="352" r:id="rId40"/>
    <p:sldId id="656" r:id="rId41"/>
    <p:sldId id="657" r:id="rId42"/>
    <p:sldId id="414" r:id="rId43"/>
    <p:sldId id="426" r:id="rId44"/>
    <p:sldId id="543" r:id="rId45"/>
    <p:sldId id="428" r:id="rId46"/>
    <p:sldId id="427" r:id="rId47"/>
    <p:sldId id="662"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42" y="411"/>
      </p:cViewPr>
      <p:guideLst/>
    </p:cSldViewPr>
  </p:slideViewPr>
  <p:notesTextViewPr>
    <p:cViewPr>
      <p:scale>
        <a:sx n="1" d="1"/>
        <a:sy n="1" d="1"/>
      </p:scale>
      <p:origin x="0" y="0"/>
    </p:cViewPr>
  </p:notesTextViewPr>
  <p:sorterViewPr>
    <p:cViewPr>
      <p:scale>
        <a:sx n="100" d="100"/>
        <a:sy n="100" d="100"/>
      </p:scale>
      <p:origin x="0" y="-11547"/>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22A91-7BA8-4FDB-9A7D-DFE9CE758627}" type="datetimeFigureOut">
              <a:rPr lang="zh-CN" altLang="en-US" smtClean="0"/>
              <a:t>2026/10/12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A8641-239A-4AD1-BB97-E10C4C573935}" type="slidenum">
              <a:rPr lang="zh-CN" altLang="en-US" smtClean="0"/>
              <a:t>‹#›</a:t>
            </a:fld>
            <a:endParaRPr lang="zh-CN" altLang="en-US"/>
          </a:p>
        </p:txBody>
      </p:sp>
    </p:spTree>
    <p:extLst>
      <p:ext uri="{BB962C8B-B14F-4D97-AF65-F5344CB8AC3E}">
        <p14:creationId xmlns:p14="http://schemas.microsoft.com/office/powerpoint/2010/main" val="99689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CA0EB4-A529-4335-9B3E-020BB0F9FF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62090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CA0EB4-A529-4335-9B3E-020BB0F9FF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29934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CA0EB4-A529-4335-9B3E-020BB0F9FF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69597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7A0FEF-9F95-41EB-9086-AA9ED53CB887}" type="slidenum">
              <a:rPr lang="zh-CN" altLang="en-US" smtClean="0"/>
              <a:t>26</a:t>
            </a:fld>
            <a:endParaRPr lang="zh-CN" altLang="en-US"/>
          </a:p>
        </p:txBody>
      </p:sp>
    </p:spTree>
    <p:extLst>
      <p:ext uri="{BB962C8B-B14F-4D97-AF65-F5344CB8AC3E}">
        <p14:creationId xmlns:p14="http://schemas.microsoft.com/office/powerpoint/2010/main" val="46473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E7D6B9-CAA5-BFD7-5BE0-B6DA93CA9DE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EF12D59-4B37-0A4B-6D31-8EFD578301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72ED9B1-05DE-E768-8A24-0434C1B42871}"/>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C4DE8B85-3DF5-80FF-DA57-3E6DB9531D5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9F657E-A4B2-3AD8-A3C2-37137E5AAB3E}"/>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106471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51FF2-3DF7-4723-B71D-CBD3D67D2C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7926C4D-BE24-8E0E-0C39-C329C5F050F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22649A1-9AE2-E3A2-3904-646FDED039CE}"/>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858F6D8C-0E4C-DFF3-7A41-6823CD25ED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471AB0-2312-51C9-5346-31DE5B497603}"/>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2505900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7C0E41-FBDA-354C-B457-AB70E25403F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8B836FB-F040-71B1-1447-B918979E79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D7EC6EF-F799-AE63-D83E-83E613C7810A}"/>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D2D46E1E-A9AB-7D1E-0B08-A41F2C60FD4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398FBB-5F45-E6A8-09D0-15E41D614DAD}"/>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498606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DB7FF9-3CD8-F1D8-58BF-B0738552543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B9B3B2F-2868-D8DF-ADA5-F4D5A4AFA21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B244404-2D40-1BDE-761E-2D5462B0A20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2D094BA-EFBC-F015-7DEF-47444C7C8A9F}"/>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6" name="页脚占位符 5">
            <a:extLst>
              <a:ext uri="{FF2B5EF4-FFF2-40B4-BE49-F238E27FC236}">
                <a16:creationId xmlns:a16="http://schemas.microsoft.com/office/drawing/2014/main" id="{F69A3D4A-F46B-5C4C-640B-069E766D70E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44A691-D359-F708-F000-36BAF19DD4F0}"/>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1153069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7AB459-9281-FB81-E8BD-A5E4F210DF1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16A78C0-573C-261F-956C-52A9FE404A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F4DFBC6-960C-93FD-3A9D-4BD8D6ECCE7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7F11580-4A24-F24E-6501-6DFC79E9AE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2044511-E359-B664-A040-F0DD3C95A92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9CEB47B-CEDA-C273-59DC-A39E336D46F2}"/>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8" name="页脚占位符 7">
            <a:extLst>
              <a:ext uri="{FF2B5EF4-FFF2-40B4-BE49-F238E27FC236}">
                <a16:creationId xmlns:a16="http://schemas.microsoft.com/office/drawing/2014/main" id="{9036E8F0-CAB3-C072-4142-7C5ABAC0CA5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1D6F3D7-3D13-1245-C814-5D4CD52E3A50}"/>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1133457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7CF3C0-AB7C-8641-60DF-6A8899E4A95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336CEBE-DDB5-96ED-03A2-1F14AC047708}"/>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4" name="页脚占位符 3">
            <a:extLst>
              <a:ext uri="{FF2B5EF4-FFF2-40B4-BE49-F238E27FC236}">
                <a16:creationId xmlns:a16="http://schemas.microsoft.com/office/drawing/2014/main" id="{D84FB259-B251-740C-C01C-43B628DF3C4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2C3F92E-2460-E508-9D1A-707FB9AADFFF}"/>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23678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7A1ED3F-6349-56DD-C074-74D6311EF294}"/>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3" name="页脚占位符 2">
            <a:extLst>
              <a:ext uri="{FF2B5EF4-FFF2-40B4-BE49-F238E27FC236}">
                <a16:creationId xmlns:a16="http://schemas.microsoft.com/office/drawing/2014/main" id="{FFF20D79-BA7D-D6F4-00B7-3B68A6FED66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455B552-4345-BA22-4D17-065FC5DDDAF5}"/>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3694583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91CF0-BA2B-395C-5AB8-DB0E8285F54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21CE603-7FF5-290C-61B2-C0A6679163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05789A3-4A40-757C-A379-7BCDD1615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D6D45EA-48F9-563E-4C2E-C4C9239CE7AF}"/>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6" name="页脚占位符 5">
            <a:extLst>
              <a:ext uri="{FF2B5EF4-FFF2-40B4-BE49-F238E27FC236}">
                <a16:creationId xmlns:a16="http://schemas.microsoft.com/office/drawing/2014/main" id="{3C82F9EC-6A3F-FEEB-5759-1241C8B8CA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620BBD9-7696-F567-6C7B-D662274803C3}"/>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2857285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B995AB-4ECF-C9EB-D9DD-E40FBBF58D9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0E3D321-454C-1417-0AD9-53D7015BCB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0FF6448-B5DA-4FA0-F2CF-7154BD42F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6F396D-6ED8-A72C-5E58-8FA246A16231}"/>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6" name="页脚占位符 5">
            <a:extLst>
              <a:ext uri="{FF2B5EF4-FFF2-40B4-BE49-F238E27FC236}">
                <a16:creationId xmlns:a16="http://schemas.microsoft.com/office/drawing/2014/main" id="{344A3992-A6A6-22D6-3216-E8815044E9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D73E64-BBA3-CA13-35ED-90252A2C30F6}"/>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2655652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C6AE53-5627-146B-03CE-D7EEBC5CEB7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C30C74C-1FD8-0DBD-7C77-484D2E9991F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182AE8F-D4E8-CBBC-C99B-82C8E890C596}"/>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DB7629C0-CA89-DF22-C055-79468BABBD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0A5F064-23BF-9947-E034-075C746E7D55}"/>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4281076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4D08947-7113-ED2C-4CE1-AF625E1C7C2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9F271D1-23C7-10CD-BF0F-9870E9AA0B5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FBC1F7-BCBF-94BE-F8A7-251FD46E56E9}"/>
              </a:ext>
            </a:extLst>
          </p:cNvPr>
          <p:cNvSpPr>
            <a:spLocks noGrp="1"/>
          </p:cNvSpPr>
          <p:nvPr>
            <p:ph type="dt" sz="half" idx="10"/>
          </p:nvPr>
        </p:nvSpPr>
        <p:spPr/>
        <p:txBody>
          <a:bodyPr/>
          <a:lstStyle/>
          <a:p>
            <a:fld id="{E2F8A88F-416B-4FD1-ABB6-F3F0AF3DBAC3}"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6436C8A9-539A-4BD5-E197-9A95F215FC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8BE3D2-232E-E005-33C5-5C6198DCA074}"/>
              </a:ext>
            </a:extLst>
          </p:cNvPr>
          <p:cNvSpPr>
            <a:spLocks noGrp="1"/>
          </p:cNvSpPr>
          <p:nvPr>
            <p:ph type="sldNum" sz="quarter" idx="12"/>
          </p:nvPr>
        </p:nvSpPr>
        <p:spPr/>
        <p:txBody>
          <a:body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403544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026"/>
            <a:ext cx="10363200" cy="1469420"/>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5283"/>
            <a:ext cx="8534400" cy="1753141"/>
          </a:xfrm>
        </p:spPr>
        <p:txBody>
          <a:bodyPr/>
          <a:lstStyle>
            <a:lvl1pPr marL="0" indent="0" algn="ctr">
              <a:buNone/>
              <a:defRPr/>
            </a:lvl1pPr>
            <a:lvl2pPr marL="609402" indent="0" algn="ctr">
              <a:buNone/>
              <a:defRPr/>
            </a:lvl2pPr>
            <a:lvl3pPr marL="1218804" indent="0" algn="ctr">
              <a:buNone/>
              <a:defRPr/>
            </a:lvl3pPr>
            <a:lvl4pPr marL="1828206" indent="0" algn="ctr">
              <a:buNone/>
              <a:defRPr/>
            </a:lvl4pPr>
            <a:lvl5pPr marL="2437608" indent="0" algn="ctr">
              <a:buNone/>
              <a:defRPr/>
            </a:lvl5pPr>
            <a:lvl6pPr marL="3047009" indent="0" algn="ctr">
              <a:buNone/>
              <a:defRPr/>
            </a:lvl6pPr>
            <a:lvl7pPr marL="3656411" indent="0" algn="ctr">
              <a:buNone/>
              <a:defRPr/>
            </a:lvl7pPr>
            <a:lvl8pPr marL="4265813" indent="0" algn="ctr">
              <a:buNone/>
              <a:defRPr/>
            </a:lvl8pPr>
            <a:lvl9pPr marL="4875215" indent="0" algn="ctr">
              <a:buNone/>
              <a:defRPr/>
            </a:lvl9pPr>
          </a:lstStyle>
          <a:p>
            <a:r>
              <a:rPr lang="zh-CN" altLang="en-US" noProof="1"/>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5DEF13A-43AD-4918-B73B-AFDFC1C72C60}"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215880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ABADD47-4BD6-44C0-987A-0241123C56D3}"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787561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144"/>
            <a:ext cx="10363200" cy="1363554"/>
          </a:xfrm>
        </p:spPr>
        <p:txBody>
          <a:bodyPr anchor="t"/>
          <a:lstStyle>
            <a:lvl1pPr algn="l">
              <a:defRPr sz="5332" b="1" cap="all"/>
            </a:lvl1pPr>
          </a:lstStyle>
          <a:p>
            <a:r>
              <a:rPr lang="zh-CN" altLang="en-US" noProof="1"/>
              <a:t>单击此处编辑母版标题样式</a:t>
            </a:r>
          </a:p>
        </p:txBody>
      </p:sp>
      <p:sp>
        <p:nvSpPr>
          <p:cNvPr id="3" name="文本占位符 2"/>
          <p:cNvSpPr>
            <a:spLocks noGrp="1"/>
          </p:cNvSpPr>
          <p:nvPr>
            <p:ph type="body" idx="1"/>
          </p:nvPr>
        </p:nvSpPr>
        <p:spPr>
          <a:xfrm>
            <a:off x="963084" y="2907081"/>
            <a:ext cx="10363200" cy="1499063"/>
          </a:xfrm>
        </p:spPr>
        <p:txBody>
          <a:bodyPr anchor="b"/>
          <a:lstStyle>
            <a:lvl1pPr marL="0" indent="0">
              <a:buNone/>
              <a:defRPr sz="2666"/>
            </a:lvl1pPr>
            <a:lvl2pPr marL="609402" indent="0">
              <a:buNone/>
              <a:defRPr sz="2399"/>
            </a:lvl2pPr>
            <a:lvl3pPr marL="1218804" indent="0">
              <a:buNone/>
              <a:defRPr sz="2133"/>
            </a:lvl3pPr>
            <a:lvl4pPr marL="1828206" indent="0">
              <a:buNone/>
              <a:defRPr sz="1866"/>
            </a:lvl4pPr>
            <a:lvl5pPr marL="2437608" indent="0">
              <a:buNone/>
              <a:defRPr sz="1866"/>
            </a:lvl5pPr>
            <a:lvl6pPr marL="3047009" indent="0">
              <a:buNone/>
              <a:defRPr sz="1866"/>
            </a:lvl6pPr>
            <a:lvl7pPr marL="3656411" indent="0">
              <a:buNone/>
              <a:defRPr sz="1866"/>
            </a:lvl7pPr>
            <a:lvl8pPr marL="4265813" indent="0">
              <a:buNone/>
              <a:defRPr sz="1866"/>
            </a:lvl8pPr>
            <a:lvl9pPr marL="4875215" indent="0">
              <a:buNone/>
              <a:defRPr sz="1866"/>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87BD9AF-BB0D-467A-A2FC-4755B1A56694}"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858584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600694"/>
            <a:ext cx="5384800" cy="4524714"/>
          </a:xfr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600694"/>
            <a:ext cx="5384800" cy="4524714"/>
          </a:xfr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D3FA79D-2E54-4B7C-831A-C443B4CDCAFA}"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2979255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059"/>
            <a:ext cx="5386917" cy="639431"/>
          </a:xfrm>
        </p:spPr>
        <p:txBody>
          <a:bodyPr anchor="b"/>
          <a:lstStyle>
            <a:lvl1pPr marL="0" indent="0">
              <a:buNone/>
              <a:defRPr sz="3199" b="1"/>
            </a:lvl1pPr>
            <a:lvl2pPr marL="609402" indent="0">
              <a:buNone/>
              <a:defRPr sz="2666" b="1"/>
            </a:lvl2pPr>
            <a:lvl3pPr marL="1218804" indent="0">
              <a:buNone/>
              <a:defRPr sz="2399" b="1"/>
            </a:lvl3pPr>
            <a:lvl4pPr marL="1828206" indent="0">
              <a:buNone/>
              <a:defRPr sz="2133" b="1"/>
            </a:lvl4pPr>
            <a:lvl5pPr marL="2437608" indent="0">
              <a:buNone/>
              <a:defRPr sz="2133" b="1"/>
            </a:lvl5pPr>
            <a:lvl6pPr marL="3047009" indent="0">
              <a:buNone/>
              <a:defRPr sz="2133" b="1"/>
            </a:lvl6pPr>
            <a:lvl7pPr marL="3656411" indent="0">
              <a:buNone/>
              <a:defRPr sz="2133" b="1"/>
            </a:lvl7pPr>
            <a:lvl8pPr marL="4265813" indent="0">
              <a:buNone/>
              <a:defRPr sz="2133" b="1"/>
            </a:lvl8pPr>
            <a:lvl9pPr marL="4875215" indent="0">
              <a:buNone/>
              <a:defRPr sz="2133" b="1"/>
            </a:lvl9pPr>
          </a:lstStyle>
          <a:p>
            <a:pPr lvl="0"/>
            <a:r>
              <a:rPr lang="zh-CN" altLang="en-US" noProof="1"/>
              <a:t>单击此处编辑母版文本样式</a:t>
            </a:r>
          </a:p>
        </p:txBody>
      </p:sp>
      <p:sp>
        <p:nvSpPr>
          <p:cNvPr id="4" name="内容占位符 3"/>
          <p:cNvSpPr>
            <a:spLocks noGrp="1"/>
          </p:cNvSpPr>
          <p:nvPr>
            <p:ph sz="half" idx="2"/>
          </p:nvPr>
        </p:nvSpPr>
        <p:spPr>
          <a:xfrm>
            <a:off x="609600" y="2174489"/>
            <a:ext cx="5386917" cy="3950919"/>
          </a:xfr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9" y="1535059"/>
            <a:ext cx="5389033" cy="639431"/>
          </a:xfrm>
        </p:spPr>
        <p:txBody>
          <a:bodyPr anchor="b"/>
          <a:lstStyle>
            <a:lvl1pPr marL="0" indent="0">
              <a:buNone/>
              <a:defRPr sz="3199" b="1"/>
            </a:lvl1pPr>
            <a:lvl2pPr marL="609402" indent="0">
              <a:buNone/>
              <a:defRPr sz="2666" b="1"/>
            </a:lvl2pPr>
            <a:lvl3pPr marL="1218804" indent="0">
              <a:buNone/>
              <a:defRPr sz="2399" b="1"/>
            </a:lvl3pPr>
            <a:lvl4pPr marL="1828206" indent="0">
              <a:buNone/>
              <a:defRPr sz="2133" b="1"/>
            </a:lvl4pPr>
            <a:lvl5pPr marL="2437608" indent="0">
              <a:buNone/>
              <a:defRPr sz="2133" b="1"/>
            </a:lvl5pPr>
            <a:lvl6pPr marL="3047009" indent="0">
              <a:buNone/>
              <a:defRPr sz="2133" b="1"/>
            </a:lvl6pPr>
            <a:lvl7pPr marL="3656411" indent="0">
              <a:buNone/>
              <a:defRPr sz="2133" b="1"/>
            </a:lvl7pPr>
            <a:lvl8pPr marL="4265813" indent="0">
              <a:buNone/>
              <a:defRPr sz="2133" b="1"/>
            </a:lvl8pPr>
            <a:lvl9pPr marL="4875215" indent="0">
              <a:buNone/>
              <a:defRPr sz="2133" b="1"/>
            </a:lvl9pPr>
          </a:lstStyle>
          <a:p>
            <a:pPr lvl="0"/>
            <a:r>
              <a:rPr lang="zh-CN" altLang="en-US" noProof="1"/>
              <a:t>单击此处编辑母版文本样式</a:t>
            </a:r>
          </a:p>
        </p:txBody>
      </p:sp>
      <p:sp>
        <p:nvSpPr>
          <p:cNvPr id="6" name="内容占位符 5"/>
          <p:cNvSpPr>
            <a:spLocks noGrp="1"/>
          </p:cNvSpPr>
          <p:nvPr>
            <p:ph sz="quarter" idx="4"/>
          </p:nvPr>
        </p:nvSpPr>
        <p:spPr>
          <a:xfrm>
            <a:off x="6193369" y="2174489"/>
            <a:ext cx="5389033" cy="3950919"/>
          </a:xfr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5F354BA-66FA-4D30-97D5-39A064F43D9F}"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3689811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39EC24C-A0B8-4A69-9C54-5B1815DF478D}"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32400493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D5B895FA-30F7-4010-8363-E25A01F07437}"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108802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136"/>
            <a:ext cx="4011084" cy="1162408"/>
          </a:xfrm>
        </p:spPr>
        <p:txBody>
          <a:bodyPr anchor="b"/>
          <a:lstStyle>
            <a:lvl1pPr algn="l">
              <a:defRPr sz="2666" b="1"/>
            </a:lvl1pPr>
          </a:lstStyle>
          <a:p>
            <a:r>
              <a:rPr lang="zh-CN" altLang="en-US" noProof="1"/>
              <a:t>单击此处编辑母版标题样式</a:t>
            </a:r>
          </a:p>
        </p:txBody>
      </p:sp>
      <p:sp>
        <p:nvSpPr>
          <p:cNvPr id="3" name="内容占位符 2"/>
          <p:cNvSpPr>
            <a:spLocks noGrp="1"/>
          </p:cNvSpPr>
          <p:nvPr>
            <p:ph idx="1"/>
          </p:nvPr>
        </p:nvSpPr>
        <p:spPr>
          <a:xfrm>
            <a:off x="4766733" y="273136"/>
            <a:ext cx="6815667" cy="5852272"/>
          </a:xfrm>
        </p:spPr>
        <p:txBody>
          <a:bodyPr/>
          <a:lstStyle>
            <a:lvl1pPr>
              <a:defRPr sz="4265"/>
            </a:lvl1pPr>
            <a:lvl2pPr>
              <a:defRPr sz="3732"/>
            </a:lvl2pPr>
            <a:lvl3pPr>
              <a:defRPr sz="3199"/>
            </a:lvl3pPr>
            <a:lvl4pPr>
              <a:defRPr sz="2666"/>
            </a:lvl4pPr>
            <a:lvl5pPr>
              <a:defRPr sz="2666"/>
            </a:lvl5pPr>
            <a:lvl6pPr>
              <a:defRPr sz="2666"/>
            </a:lvl6pPr>
            <a:lvl7pPr>
              <a:defRPr sz="2666"/>
            </a:lvl7pPr>
            <a:lvl8pPr>
              <a:defRPr sz="2666"/>
            </a:lvl8pPr>
            <a:lvl9pPr>
              <a:defRPr sz="2666"/>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2" y="1435543"/>
            <a:ext cx="4011084" cy="4689864"/>
          </a:xfrm>
        </p:spPr>
        <p:txBody>
          <a:bodyPr/>
          <a:lstStyle>
            <a:lvl1pPr marL="0" indent="0">
              <a:buNone/>
              <a:defRPr sz="1866"/>
            </a:lvl1pPr>
            <a:lvl2pPr marL="609402" indent="0">
              <a:buNone/>
              <a:defRPr sz="1599"/>
            </a:lvl2pPr>
            <a:lvl3pPr marL="1218804" indent="0">
              <a:buNone/>
              <a:defRPr sz="1333"/>
            </a:lvl3pPr>
            <a:lvl4pPr marL="1828206" indent="0">
              <a:buNone/>
              <a:defRPr sz="1200"/>
            </a:lvl4pPr>
            <a:lvl5pPr marL="2437608" indent="0">
              <a:buNone/>
              <a:defRPr sz="1200"/>
            </a:lvl5pPr>
            <a:lvl6pPr marL="3047009" indent="0">
              <a:buNone/>
              <a:defRPr sz="1200"/>
            </a:lvl6pPr>
            <a:lvl7pPr marL="3656411" indent="0">
              <a:buNone/>
              <a:defRPr sz="1200"/>
            </a:lvl7pPr>
            <a:lvl8pPr marL="4265813" indent="0">
              <a:buNone/>
              <a:defRPr sz="1200"/>
            </a:lvl8pPr>
            <a:lvl9pPr marL="4875215" indent="0">
              <a:buNone/>
              <a:defRPr sz="12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E5E02D8-F44D-438C-A2C4-4152888BD1D6}"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26894838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799965"/>
            <a:ext cx="7315200" cy="567442"/>
          </a:xfrm>
        </p:spPr>
        <p:txBody>
          <a:bodyPr anchor="b"/>
          <a:lstStyle>
            <a:lvl1pPr algn="l">
              <a:defRPr sz="2666" b="1"/>
            </a:lvl1pPr>
          </a:lstStyle>
          <a:p>
            <a:r>
              <a:rPr lang="zh-CN" altLang="en-US" noProof="1"/>
              <a:t>单击此处编辑母版标题样式</a:t>
            </a:r>
          </a:p>
        </p:txBody>
      </p:sp>
      <p:sp>
        <p:nvSpPr>
          <p:cNvPr id="3" name="图片占位符 2"/>
          <p:cNvSpPr>
            <a:spLocks noGrp="1"/>
          </p:cNvSpPr>
          <p:nvPr>
            <p:ph type="pic" idx="1"/>
          </p:nvPr>
        </p:nvSpPr>
        <p:spPr>
          <a:xfrm>
            <a:off x="2389717" y="611906"/>
            <a:ext cx="7315200" cy="4116071"/>
          </a:xfrm>
        </p:spPr>
        <p:txBody>
          <a:bodyPr/>
          <a:lstStyle>
            <a:lvl1pPr marL="0" indent="0">
              <a:buNone/>
              <a:defRPr sz="4265"/>
            </a:lvl1pPr>
            <a:lvl2pPr marL="609402" indent="0">
              <a:buNone/>
              <a:defRPr sz="3732"/>
            </a:lvl2pPr>
            <a:lvl3pPr marL="1218804" indent="0">
              <a:buNone/>
              <a:defRPr sz="3199"/>
            </a:lvl3pPr>
            <a:lvl4pPr marL="1828206" indent="0">
              <a:buNone/>
              <a:defRPr sz="2666"/>
            </a:lvl4pPr>
            <a:lvl5pPr marL="2437608" indent="0">
              <a:buNone/>
              <a:defRPr sz="2666"/>
            </a:lvl5pPr>
            <a:lvl6pPr marL="3047009" indent="0">
              <a:buNone/>
              <a:defRPr sz="2666"/>
            </a:lvl6pPr>
            <a:lvl7pPr marL="3656411" indent="0">
              <a:buNone/>
              <a:defRPr sz="2666"/>
            </a:lvl7pPr>
            <a:lvl8pPr marL="4265813" indent="0">
              <a:buNone/>
              <a:defRPr sz="2666"/>
            </a:lvl8pPr>
            <a:lvl9pPr marL="4875215" indent="0">
              <a:buNone/>
              <a:defRPr sz="2666"/>
            </a:lvl9pPr>
          </a:lstStyle>
          <a:p>
            <a:pPr lvl="0"/>
            <a:endParaRPr lang="zh-CN" altLang="en-US" noProof="0"/>
          </a:p>
        </p:txBody>
      </p:sp>
      <p:sp>
        <p:nvSpPr>
          <p:cNvPr id="4" name="文本占位符 3"/>
          <p:cNvSpPr>
            <a:spLocks noGrp="1"/>
          </p:cNvSpPr>
          <p:nvPr>
            <p:ph type="body" sz="half" idx="2"/>
          </p:nvPr>
        </p:nvSpPr>
        <p:spPr>
          <a:xfrm>
            <a:off x="2389717" y="5367407"/>
            <a:ext cx="7315200" cy="804581"/>
          </a:xfrm>
        </p:spPr>
        <p:txBody>
          <a:bodyPr/>
          <a:lstStyle>
            <a:lvl1pPr marL="0" indent="0">
              <a:buNone/>
              <a:defRPr sz="1866"/>
            </a:lvl1pPr>
            <a:lvl2pPr marL="609402" indent="0">
              <a:buNone/>
              <a:defRPr sz="1599"/>
            </a:lvl2pPr>
            <a:lvl3pPr marL="1218804" indent="0">
              <a:buNone/>
              <a:defRPr sz="1333"/>
            </a:lvl3pPr>
            <a:lvl4pPr marL="1828206" indent="0">
              <a:buNone/>
              <a:defRPr sz="1200"/>
            </a:lvl4pPr>
            <a:lvl5pPr marL="2437608" indent="0">
              <a:buNone/>
              <a:defRPr sz="1200"/>
            </a:lvl5pPr>
            <a:lvl6pPr marL="3047009" indent="0">
              <a:buNone/>
              <a:defRPr sz="1200"/>
            </a:lvl6pPr>
            <a:lvl7pPr marL="3656411" indent="0">
              <a:buNone/>
              <a:defRPr sz="1200"/>
            </a:lvl7pPr>
            <a:lvl8pPr marL="4265813" indent="0">
              <a:buNone/>
              <a:defRPr sz="1200"/>
            </a:lvl8pPr>
            <a:lvl9pPr marL="4875215" indent="0">
              <a:buNone/>
              <a:defRPr sz="12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4243F2F-7B4B-4928-8950-E3B61DBE5763}"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7812580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26AB9C8-AF23-4A8F-BB18-8E2AFADE5851}"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828769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5253"/>
            <a:ext cx="2743200" cy="585015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275253"/>
            <a:ext cx="8026400" cy="585015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0751D6-83EC-485C-B3B8-AA3FBBA1F7B0}"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27772423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D89430-7B9A-447A-B98E-4BFADBD7E617}" type="datetimeFigureOut">
              <a:rPr lang="zh-CN" altLang="en-US" smtClean="0">
                <a:solidFill>
                  <a:prstClr val="black">
                    <a:tint val="75000"/>
                  </a:prstClr>
                </a:solidFill>
              </a:rPr>
              <a:pPr/>
              <a:t>2026/10/12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517814F9-BBE9-48E3-9C5C-39AEFA1A2946}"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0032"/>
          </a:xfrm>
          <a:prstGeom prst="rect">
            <a:avLst/>
          </a:prstGeom>
        </p:spPr>
      </p:pic>
    </p:spTree>
    <p:extLst>
      <p:ext uri="{BB962C8B-B14F-4D97-AF65-F5344CB8AC3E}">
        <p14:creationId xmlns:p14="http://schemas.microsoft.com/office/powerpoint/2010/main" val="13718661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2586364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39774264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22649119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42494942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35638422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17900877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33645984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25749377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1974390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42524752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30469192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A9E6E04-9B2B-4045-A830-F3683602191C}"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2557300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7208B30-EB1E-38A5-4357-5A1FB2BB87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1AA51B4-1CBE-2E18-AE66-9F849CF727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F91B6A-6DA1-ED71-CAF8-AAB73A93F1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8A88F-416B-4FD1-ABB6-F3F0AF3DBAC3}"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21C34128-A6F5-A14A-8EE5-9816B02DC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97B24FB-991E-DC20-6A30-DFD9D60AF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A30EAC-6BCD-4720-A8F0-3CC148A73C46}" type="slidenum">
              <a:rPr lang="zh-CN" altLang="en-US" smtClean="0"/>
              <a:t>‹#›</a:t>
            </a:fld>
            <a:endParaRPr lang="zh-CN" altLang="en-US"/>
          </a:p>
        </p:txBody>
      </p:sp>
    </p:spTree>
    <p:extLst>
      <p:ext uri="{BB962C8B-B14F-4D97-AF65-F5344CB8AC3E}">
        <p14:creationId xmlns:p14="http://schemas.microsoft.com/office/powerpoint/2010/main" val="942743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609600" y="275253"/>
            <a:ext cx="10972800" cy="1143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4294967295"/>
          </p:nvPr>
        </p:nvSpPr>
        <p:spPr bwMode="auto">
          <a:xfrm>
            <a:off x="609600" y="1600694"/>
            <a:ext cx="10972800" cy="4524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09600" y="6246094"/>
            <a:ext cx="2844800" cy="47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buFont typeface="Arial" panose="020B0604020202020204" pitchFamily="34" charset="0"/>
              <a:buNone/>
              <a:defRPr sz="1866"/>
            </a:lvl1pPr>
          </a:lstStyle>
          <a:p>
            <a:pPr fontAlgn="base">
              <a:spcBef>
                <a:spcPct val="0"/>
              </a:spcBef>
              <a:spcAft>
                <a:spcPct val="0"/>
              </a:spcAft>
              <a:defRPr/>
            </a:pPr>
            <a:endParaRPr lang="zh-CN" altLang="zh-CN">
              <a:solidFill>
                <a:srgbClr val="000000"/>
              </a:solidFill>
            </a:endParaRPr>
          </a:p>
        </p:txBody>
      </p:sp>
      <p:sp>
        <p:nvSpPr>
          <p:cNvPr id="1029" name="Rectangle 5"/>
          <p:cNvSpPr>
            <a:spLocks noGrp="1" noChangeArrowheads="1"/>
          </p:cNvSpPr>
          <p:nvPr>
            <p:ph type="ftr" sz="quarter" idx="3"/>
          </p:nvPr>
        </p:nvSpPr>
        <p:spPr bwMode="auto">
          <a:xfrm>
            <a:off x="4165600" y="6246094"/>
            <a:ext cx="3860800" cy="47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buFont typeface="Arial" panose="020B0604020202020204" pitchFamily="34" charset="0"/>
              <a:buNone/>
              <a:defRPr sz="1866"/>
            </a:lvl1pPr>
          </a:lstStyle>
          <a:p>
            <a:pPr fontAlgn="base">
              <a:spcBef>
                <a:spcPct val="0"/>
              </a:spcBef>
              <a:spcAft>
                <a:spcPct val="0"/>
              </a:spcAft>
              <a:defRPr/>
            </a:pPr>
            <a:endParaRPr lang="zh-CN" altLang="zh-CN">
              <a:solidFill>
                <a:srgbClr val="000000"/>
              </a:solidFill>
            </a:endParaRPr>
          </a:p>
        </p:txBody>
      </p:sp>
      <p:sp>
        <p:nvSpPr>
          <p:cNvPr id="1030" name="Rectangle 6"/>
          <p:cNvSpPr>
            <a:spLocks noGrp="1" noChangeArrowheads="1"/>
          </p:cNvSpPr>
          <p:nvPr>
            <p:ph type="sldNum" sz="quarter" idx="4"/>
          </p:nvPr>
        </p:nvSpPr>
        <p:spPr bwMode="auto">
          <a:xfrm>
            <a:off x="8737600" y="6246094"/>
            <a:ext cx="2844800" cy="47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866" smtClean="0"/>
            </a:lvl1pPr>
          </a:lstStyle>
          <a:p>
            <a:pPr fontAlgn="base">
              <a:spcBef>
                <a:spcPct val="0"/>
              </a:spcBef>
              <a:spcAft>
                <a:spcPct val="0"/>
              </a:spcAft>
              <a:defRPr/>
            </a:pPr>
            <a:fld id="{9D4195FC-30D8-4684-BECA-21C1536FFDDB}" type="slidenum">
              <a:rPr lang="zh-CN" altLang="zh-CN">
                <a:solidFill>
                  <a:srgbClr val="000000"/>
                </a:solidFill>
              </a:rPr>
              <a:pPr fontAlgn="base">
                <a:spcBef>
                  <a:spcPct val="0"/>
                </a:spcBef>
                <a:spcAft>
                  <a:spcPct val="0"/>
                </a:spcAft>
                <a:defRPr/>
              </a:pPr>
              <a:t>‹#›</a:t>
            </a:fld>
            <a:endParaRPr lang="zh-CN" altLang="zh-CN">
              <a:solidFill>
                <a:srgbClr val="000000"/>
              </a:solidFill>
            </a:endParaRPr>
          </a:p>
        </p:txBody>
      </p:sp>
    </p:spTree>
    <p:extLst>
      <p:ext uri="{BB962C8B-B14F-4D97-AF65-F5344CB8AC3E}">
        <p14:creationId xmlns:p14="http://schemas.microsoft.com/office/powerpoint/2010/main" val="3311450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5865">
          <a:solidFill>
            <a:schemeClr val="tx2"/>
          </a:solidFill>
          <a:latin typeface="+mj-lt"/>
          <a:ea typeface="+mj-ea"/>
          <a:cs typeface="+mj-cs"/>
        </a:defRPr>
      </a:lvl1pPr>
      <a:lvl2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5865">
          <a:solidFill>
            <a:schemeClr val="tx2"/>
          </a:solidFill>
          <a:latin typeface="Arial" panose="020B0604020202020204" pitchFamily="34" charset="0"/>
          <a:ea typeface="宋体" panose="02010600030101010101" pitchFamily="2" charset="-122"/>
        </a:defRPr>
      </a:lvl5pPr>
      <a:lvl6pPr marL="609402"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6pPr>
      <a:lvl7pPr marL="1218804"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7pPr>
      <a:lvl8pPr marL="1828206"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8pPr>
      <a:lvl9pPr marL="2437608" algn="ctr" rtl="0" fontAlgn="base">
        <a:spcBef>
          <a:spcPct val="0"/>
        </a:spcBef>
        <a:spcAft>
          <a:spcPct val="0"/>
        </a:spcAft>
        <a:defRPr sz="5865">
          <a:solidFill>
            <a:schemeClr val="tx2"/>
          </a:solidFill>
          <a:latin typeface="Arial" panose="020B0604020202020204" pitchFamily="34" charset="0"/>
          <a:ea typeface="宋体" panose="02010600030101010101" pitchFamily="2" charset="-122"/>
        </a:defRPr>
      </a:lvl9pPr>
    </p:titleStyle>
    <p:bodyStyle>
      <a:lvl1pPr marL="457051" indent="-457051" algn="l" rtl="0" eaLnBrk="0" fontAlgn="base" hangingPunct="0">
        <a:spcBef>
          <a:spcPct val="20000"/>
        </a:spcBef>
        <a:spcAft>
          <a:spcPct val="0"/>
        </a:spcAft>
        <a:buChar char="•"/>
        <a:defRPr sz="4265">
          <a:solidFill>
            <a:schemeClr val="tx1"/>
          </a:solidFill>
          <a:latin typeface="+mn-lt"/>
          <a:ea typeface="+mn-ea"/>
          <a:cs typeface="+mn-cs"/>
        </a:defRPr>
      </a:lvl1pPr>
      <a:lvl2pPr marL="990278" indent="-380876" algn="l" rtl="0" eaLnBrk="0" fontAlgn="base" hangingPunct="0">
        <a:spcBef>
          <a:spcPct val="20000"/>
        </a:spcBef>
        <a:spcAft>
          <a:spcPct val="0"/>
        </a:spcAft>
        <a:buChar char="–"/>
        <a:defRPr sz="3732">
          <a:solidFill>
            <a:schemeClr val="tx1"/>
          </a:solidFill>
          <a:latin typeface="+mn-lt"/>
          <a:ea typeface="+mn-ea"/>
        </a:defRPr>
      </a:lvl2pPr>
      <a:lvl3pPr marL="1523505" indent="-304701" algn="l" rtl="0" eaLnBrk="0" fontAlgn="base" hangingPunct="0">
        <a:spcBef>
          <a:spcPct val="20000"/>
        </a:spcBef>
        <a:spcAft>
          <a:spcPct val="0"/>
        </a:spcAft>
        <a:buChar char="•"/>
        <a:defRPr sz="3199">
          <a:solidFill>
            <a:schemeClr val="tx1"/>
          </a:solidFill>
          <a:latin typeface="+mn-lt"/>
          <a:ea typeface="+mn-ea"/>
        </a:defRPr>
      </a:lvl3pPr>
      <a:lvl4pPr marL="2132907" indent="-304701" algn="l" rtl="0" eaLnBrk="0" fontAlgn="base" hangingPunct="0">
        <a:spcBef>
          <a:spcPct val="20000"/>
        </a:spcBef>
        <a:spcAft>
          <a:spcPct val="0"/>
        </a:spcAft>
        <a:buChar char="–"/>
        <a:defRPr sz="2666">
          <a:solidFill>
            <a:schemeClr val="tx1"/>
          </a:solidFill>
          <a:latin typeface="+mn-lt"/>
          <a:ea typeface="+mn-ea"/>
        </a:defRPr>
      </a:lvl4pPr>
      <a:lvl5pPr marL="2742308" indent="-304701" algn="l" rtl="0" eaLnBrk="0" fontAlgn="base" hangingPunct="0">
        <a:spcBef>
          <a:spcPct val="20000"/>
        </a:spcBef>
        <a:spcAft>
          <a:spcPct val="0"/>
        </a:spcAft>
        <a:buChar char="»"/>
        <a:defRPr sz="2666">
          <a:solidFill>
            <a:schemeClr val="tx1"/>
          </a:solidFill>
          <a:latin typeface="+mn-lt"/>
          <a:ea typeface="+mn-ea"/>
        </a:defRPr>
      </a:lvl5pPr>
      <a:lvl6pPr marL="3351710" indent="-304701" algn="l" rtl="0" fontAlgn="base">
        <a:spcBef>
          <a:spcPct val="20000"/>
        </a:spcBef>
        <a:spcAft>
          <a:spcPct val="0"/>
        </a:spcAft>
        <a:buChar char="»"/>
        <a:defRPr sz="2666">
          <a:solidFill>
            <a:schemeClr val="tx1"/>
          </a:solidFill>
          <a:latin typeface="+mn-lt"/>
          <a:ea typeface="+mn-ea"/>
        </a:defRPr>
      </a:lvl6pPr>
      <a:lvl7pPr marL="3961112" indent="-304701" algn="l" rtl="0" fontAlgn="base">
        <a:spcBef>
          <a:spcPct val="20000"/>
        </a:spcBef>
        <a:spcAft>
          <a:spcPct val="0"/>
        </a:spcAft>
        <a:buChar char="»"/>
        <a:defRPr sz="2666">
          <a:solidFill>
            <a:schemeClr val="tx1"/>
          </a:solidFill>
          <a:latin typeface="+mn-lt"/>
          <a:ea typeface="+mn-ea"/>
        </a:defRPr>
      </a:lvl7pPr>
      <a:lvl8pPr marL="4570514" indent="-304701" algn="l" rtl="0" fontAlgn="base">
        <a:spcBef>
          <a:spcPct val="20000"/>
        </a:spcBef>
        <a:spcAft>
          <a:spcPct val="0"/>
        </a:spcAft>
        <a:buChar char="»"/>
        <a:defRPr sz="2666">
          <a:solidFill>
            <a:schemeClr val="tx1"/>
          </a:solidFill>
          <a:latin typeface="+mn-lt"/>
          <a:ea typeface="+mn-ea"/>
        </a:defRPr>
      </a:lvl8pPr>
      <a:lvl9pPr marL="5179916" indent="-304701" algn="l" rtl="0" fontAlgn="base">
        <a:spcBef>
          <a:spcPct val="20000"/>
        </a:spcBef>
        <a:spcAft>
          <a:spcPct val="0"/>
        </a:spcAft>
        <a:buChar char="»"/>
        <a:defRPr sz="2666">
          <a:solidFill>
            <a:schemeClr val="tx1"/>
          </a:solidFill>
          <a:latin typeface="+mn-lt"/>
          <a:ea typeface="+mn-ea"/>
        </a:defRPr>
      </a:lvl9pPr>
    </p:bodyStyle>
    <p:otherStyle>
      <a:defPPr>
        <a:defRPr lang="zh-CN"/>
      </a:defPPr>
      <a:lvl1pPr marL="0" algn="l" defTabSz="1218804" rtl="0" eaLnBrk="1" latinLnBrk="0" hangingPunct="1">
        <a:defRPr sz="2399" kern="1200">
          <a:solidFill>
            <a:schemeClr val="tx1"/>
          </a:solidFill>
          <a:latin typeface="+mn-lt"/>
          <a:ea typeface="+mn-ea"/>
          <a:cs typeface="+mn-cs"/>
        </a:defRPr>
      </a:lvl1pPr>
      <a:lvl2pPr marL="609402" algn="l" defTabSz="1218804" rtl="0" eaLnBrk="1" latinLnBrk="0" hangingPunct="1">
        <a:defRPr sz="2399" kern="1200">
          <a:solidFill>
            <a:schemeClr val="tx1"/>
          </a:solidFill>
          <a:latin typeface="+mn-lt"/>
          <a:ea typeface="+mn-ea"/>
          <a:cs typeface="+mn-cs"/>
        </a:defRPr>
      </a:lvl2pPr>
      <a:lvl3pPr marL="1218804" algn="l" defTabSz="1218804" rtl="0" eaLnBrk="1" latinLnBrk="0" hangingPunct="1">
        <a:defRPr sz="2399" kern="1200">
          <a:solidFill>
            <a:schemeClr val="tx1"/>
          </a:solidFill>
          <a:latin typeface="+mn-lt"/>
          <a:ea typeface="+mn-ea"/>
          <a:cs typeface="+mn-cs"/>
        </a:defRPr>
      </a:lvl3pPr>
      <a:lvl4pPr marL="1828206" algn="l" defTabSz="1218804" rtl="0" eaLnBrk="1" latinLnBrk="0" hangingPunct="1">
        <a:defRPr sz="2399" kern="1200">
          <a:solidFill>
            <a:schemeClr val="tx1"/>
          </a:solidFill>
          <a:latin typeface="+mn-lt"/>
          <a:ea typeface="+mn-ea"/>
          <a:cs typeface="+mn-cs"/>
        </a:defRPr>
      </a:lvl4pPr>
      <a:lvl5pPr marL="2437608" algn="l" defTabSz="1218804" rtl="0" eaLnBrk="1" latinLnBrk="0" hangingPunct="1">
        <a:defRPr sz="2399" kern="1200">
          <a:solidFill>
            <a:schemeClr val="tx1"/>
          </a:solidFill>
          <a:latin typeface="+mn-lt"/>
          <a:ea typeface="+mn-ea"/>
          <a:cs typeface="+mn-cs"/>
        </a:defRPr>
      </a:lvl5pPr>
      <a:lvl6pPr marL="3047009" algn="l" defTabSz="1218804" rtl="0" eaLnBrk="1" latinLnBrk="0" hangingPunct="1">
        <a:defRPr sz="2399" kern="1200">
          <a:solidFill>
            <a:schemeClr val="tx1"/>
          </a:solidFill>
          <a:latin typeface="+mn-lt"/>
          <a:ea typeface="+mn-ea"/>
          <a:cs typeface="+mn-cs"/>
        </a:defRPr>
      </a:lvl6pPr>
      <a:lvl7pPr marL="3656411" algn="l" defTabSz="1218804" rtl="0" eaLnBrk="1" latinLnBrk="0" hangingPunct="1">
        <a:defRPr sz="2399" kern="1200">
          <a:solidFill>
            <a:schemeClr val="tx1"/>
          </a:solidFill>
          <a:latin typeface="+mn-lt"/>
          <a:ea typeface="+mn-ea"/>
          <a:cs typeface="+mn-cs"/>
        </a:defRPr>
      </a:lvl7pPr>
      <a:lvl8pPr marL="4265813" algn="l" defTabSz="1218804" rtl="0" eaLnBrk="1" latinLnBrk="0" hangingPunct="1">
        <a:defRPr sz="2399" kern="1200">
          <a:solidFill>
            <a:schemeClr val="tx1"/>
          </a:solidFill>
          <a:latin typeface="+mn-lt"/>
          <a:ea typeface="+mn-ea"/>
          <a:cs typeface="+mn-cs"/>
        </a:defRPr>
      </a:lvl8pPr>
      <a:lvl9pPr marL="4875215" algn="l" defTabSz="1218804" rtl="0" eaLnBrk="1" latinLnBrk="0" hangingPunct="1">
        <a:defRPr sz="239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D89430-7B9A-447A-B98E-4BFADBD7E617}" type="datetimeFigureOut">
              <a:rPr lang="zh-CN" altLang="en-US" smtClean="0">
                <a:solidFill>
                  <a:prstClr val="black">
                    <a:tint val="75000"/>
                  </a:prstClr>
                </a:solidFill>
              </a:rPr>
              <a:pPr/>
              <a:t>2026/10/12</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7814F9-BBE9-48E3-9C5C-39AEFA1A294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39261597"/>
      </p:ext>
    </p:extLst>
  </p:cSld>
  <p:clrMap bg1="lt1" tx1="dk1" bg2="lt2" tx2="dk2" accent1="accent1" accent2="accent2" accent3="accent3" accent4="accent4" accent5="accent5" accent6="accent6" hlink="hlink" folHlink="folHlink"/>
  <p:sldLayoutIdLst>
    <p:sldLayoutId id="2147483673" r:id="rId1"/>
    <p:sldLayoutId id="2147483674" r:id="rId2"/>
  </p:sldLayoutIdLst>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9E6E04-9B2B-4045-A830-F3683602191C}" type="datetimeFigureOut">
              <a:rPr lang="zh-CN" altLang="en-US" smtClean="0"/>
              <a:t>2026/10/12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BC44D9-5414-4BE9-8004-C4A730ECE350}" type="slidenum">
              <a:rPr lang="zh-CN" altLang="en-US" smtClean="0"/>
              <a:t>‹#›</a:t>
            </a:fld>
            <a:endParaRPr lang="zh-CN" altLang="en-US"/>
          </a:p>
        </p:txBody>
      </p:sp>
    </p:spTree>
    <p:extLst>
      <p:ext uri="{BB962C8B-B14F-4D97-AF65-F5344CB8AC3E}">
        <p14:creationId xmlns:p14="http://schemas.microsoft.com/office/powerpoint/2010/main" val="308804038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3.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3.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6.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4.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458" name="Freeform 2"/>
          <p:cNvSpPr>
            <a:spLocks noChangeArrowheads="1"/>
          </p:cNvSpPr>
          <p:nvPr/>
        </p:nvSpPr>
        <p:spPr bwMode="auto">
          <a:xfrm>
            <a:off x="1883" y="977601"/>
            <a:ext cx="5878286" cy="5878286"/>
          </a:xfrm>
          <a:custGeom>
            <a:avLst/>
            <a:gdLst>
              <a:gd name="T0" fmla="*/ 2147483646 w 1386"/>
              <a:gd name="T1" fmla="*/ 2147483646 h 1386"/>
              <a:gd name="T2" fmla="*/ 2147483646 w 1386"/>
              <a:gd name="T3" fmla="*/ 2147483646 h 1386"/>
              <a:gd name="T4" fmla="*/ 2147483646 w 1386"/>
              <a:gd name="T5" fmla="*/ 0 h 1386"/>
              <a:gd name="T6" fmla="*/ 0 w 1386"/>
              <a:gd name="T7" fmla="*/ 2147483646 h 1386"/>
              <a:gd name="T8" fmla="*/ 0 w 1386"/>
              <a:gd name="T9" fmla="*/ 2147483646 h 1386"/>
              <a:gd name="T10" fmla="*/ 0 w 1386"/>
              <a:gd name="T11" fmla="*/ 2147483646 h 1386"/>
              <a:gd name="T12" fmla="*/ 2147483646 w 1386"/>
              <a:gd name="T13" fmla="*/ 2147483646 h 1386"/>
              <a:gd name="T14" fmla="*/ 2147483646 w 1386"/>
              <a:gd name="T15" fmla="*/ 2147483646 h 1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86" h="1386">
                <a:moveTo>
                  <a:pt x="1106" y="1386"/>
                </a:moveTo>
                <a:cubicBezTo>
                  <a:pt x="1277" y="1242"/>
                  <a:pt x="1386" y="1026"/>
                  <a:pt x="1386" y="785"/>
                </a:cubicBezTo>
                <a:cubicBezTo>
                  <a:pt x="1386" y="351"/>
                  <a:pt x="1034" y="0"/>
                  <a:pt x="601" y="0"/>
                </a:cubicBezTo>
                <a:cubicBezTo>
                  <a:pt x="360" y="0"/>
                  <a:pt x="144" y="109"/>
                  <a:pt x="0" y="280"/>
                </a:cubicBezTo>
                <a:cubicBezTo>
                  <a:pt x="0" y="1290"/>
                  <a:pt x="0" y="1290"/>
                  <a:pt x="0" y="1290"/>
                </a:cubicBezTo>
                <a:cubicBezTo>
                  <a:pt x="0" y="1386"/>
                  <a:pt x="0" y="1386"/>
                  <a:pt x="0" y="1386"/>
                </a:cubicBezTo>
                <a:cubicBezTo>
                  <a:pt x="96" y="1386"/>
                  <a:pt x="96" y="1386"/>
                  <a:pt x="96" y="1386"/>
                </a:cubicBezTo>
                <a:lnTo>
                  <a:pt x="1106" y="1386"/>
                </a:lnTo>
                <a:close/>
              </a:path>
            </a:pathLst>
          </a:custGeom>
          <a:solidFill>
            <a:srgbClr val="5D5D5D">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399" b="0" i="0" u="none" strike="noStrike" kern="1200" cap="none" spc="0" normalizeH="0" baseline="0" noProof="0">
              <a:ln>
                <a:noFill/>
              </a:ln>
              <a:solidFill>
                <a:srgbClr val="000000"/>
              </a:solidFill>
              <a:effectLst/>
              <a:uLnTx/>
              <a:uFillTx/>
              <a:latin typeface="Arial"/>
              <a:ea typeface="宋体"/>
              <a:cs typeface="+mn-cs"/>
            </a:endParaRPr>
          </a:p>
        </p:txBody>
      </p:sp>
      <p:sp>
        <p:nvSpPr>
          <p:cNvPr id="19459" name="Freeform 3"/>
          <p:cNvSpPr>
            <a:spLocks noChangeArrowheads="1"/>
          </p:cNvSpPr>
          <p:nvPr/>
        </p:nvSpPr>
        <p:spPr bwMode="auto">
          <a:xfrm>
            <a:off x="1881" y="1758408"/>
            <a:ext cx="5097477" cy="5097477"/>
          </a:xfrm>
          <a:custGeom>
            <a:avLst/>
            <a:gdLst>
              <a:gd name="T0" fmla="*/ 2147483646 w 1202"/>
              <a:gd name="T1" fmla="*/ 0 h 1202"/>
              <a:gd name="T2" fmla="*/ 0 w 1202"/>
              <a:gd name="T3" fmla="*/ 2147483646 h 1202"/>
              <a:gd name="T4" fmla="*/ 0 w 1202"/>
              <a:gd name="T5" fmla="*/ 2147483646 h 1202"/>
              <a:gd name="T6" fmla="*/ 2147483646 w 1202"/>
              <a:gd name="T7" fmla="*/ 2147483646 h 1202"/>
              <a:gd name="T8" fmla="*/ 2147483646 w 1202"/>
              <a:gd name="T9" fmla="*/ 2147483646 h 1202"/>
              <a:gd name="T10" fmla="*/ 2147483646 w 1202"/>
              <a:gd name="T11" fmla="*/ 0 h 12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2" h="1202">
                <a:moveTo>
                  <a:pt x="601" y="0"/>
                </a:moveTo>
                <a:cubicBezTo>
                  <a:pt x="269" y="0"/>
                  <a:pt x="0" y="269"/>
                  <a:pt x="0" y="601"/>
                </a:cubicBezTo>
                <a:cubicBezTo>
                  <a:pt x="0" y="1202"/>
                  <a:pt x="0" y="1202"/>
                  <a:pt x="0" y="1202"/>
                </a:cubicBezTo>
                <a:cubicBezTo>
                  <a:pt x="601" y="1202"/>
                  <a:pt x="601" y="1202"/>
                  <a:pt x="601" y="1202"/>
                </a:cubicBezTo>
                <a:cubicBezTo>
                  <a:pt x="933" y="1202"/>
                  <a:pt x="1202" y="933"/>
                  <a:pt x="1202" y="601"/>
                </a:cubicBezTo>
                <a:cubicBezTo>
                  <a:pt x="1202" y="269"/>
                  <a:pt x="933" y="0"/>
                  <a:pt x="601" y="0"/>
                </a:cubicBezTo>
                <a:close/>
              </a:path>
            </a:pathLst>
          </a:custGeom>
          <a:solidFill>
            <a:srgbClr val="000000">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399" b="0" i="0" u="none" strike="noStrike" kern="1200" cap="none" spc="0" normalizeH="0" baseline="0" noProof="0">
              <a:ln>
                <a:noFill/>
              </a:ln>
              <a:solidFill>
                <a:srgbClr val="000000"/>
              </a:solidFill>
              <a:effectLst/>
              <a:uLnTx/>
              <a:uFillTx/>
              <a:latin typeface="Arial"/>
              <a:ea typeface="宋体"/>
              <a:cs typeface="+mn-cs"/>
            </a:endParaRPr>
          </a:p>
        </p:txBody>
      </p:sp>
      <p:grpSp>
        <p:nvGrpSpPr>
          <p:cNvPr id="19460" name="Group 4"/>
          <p:cNvGrpSpPr>
            <a:grpSpLocks/>
          </p:cNvGrpSpPr>
          <p:nvPr/>
        </p:nvGrpSpPr>
        <p:grpSpPr bwMode="auto">
          <a:xfrm>
            <a:off x="3745112" y="1923459"/>
            <a:ext cx="774461" cy="774461"/>
            <a:chOff x="0" y="0"/>
            <a:chExt cx="366" cy="366"/>
          </a:xfrm>
        </p:grpSpPr>
        <p:sp>
          <p:nvSpPr>
            <p:cNvPr id="19464" name="Oval 5"/>
            <p:cNvSpPr>
              <a:spLocks noChangeArrowheads="1"/>
            </p:cNvSpPr>
            <p:nvPr/>
          </p:nvSpPr>
          <p:spPr bwMode="auto">
            <a:xfrm>
              <a:off x="0" y="0"/>
              <a:ext cx="366" cy="366"/>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399"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465" name="Freeform 6"/>
            <p:cNvSpPr>
              <a:spLocks noEditPoints="1" noChangeArrowheads="1"/>
            </p:cNvSpPr>
            <p:nvPr/>
          </p:nvSpPr>
          <p:spPr bwMode="auto">
            <a:xfrm>
              <a:off x="100" y="106"/>
              <a:ext cx="166" cy="167"/>
            </a:xfrm>
            <a:custGeom>
              <a:avLst/>
              <a:gdLst>
                <a:gd name="T0" fmla="*/ 1465 w 80"/>
                <a:gd name="T1" fmla="*/ 265 h 80"/>
                <a:gd name="T2" fmla="*/ 1394 w 80"/>
                <a:gd name="T3" fmla="*/ 344 h 80"/>
                <a:gd name="T4" fmla="*/ 1170 w 80"/>
                <a:gd name="T5" fmla="*/ 92 h 80"/>
                <a:gd name="T6" fmla="*/ 1222 w 80"/>
                <a:gd name="T7" fmla="*/ 35 h 80"/>
                <a:gd name="T8" fmla="*/ 1313 w 80"/>
                <a:gd name="T9" fmla="*/ 35 h 80"/>
                <a:gd name="T10" fmla="*/ 1465 w 80"/>
                <a:gd name="T11" fmla="*/ 175 h 80"/>
                <a:gd name="T12" fmla="*/ 1465 w 80"/>
                <a:gd name="T13" fmla="*/ 265 h 80"/>
                <a:gd name="T14" fmla="*/ 849 w 80"/>
                <a:gd name="T15" fmla="*/ 873 h 80"/>
                <a:gd name="T16" fmla="*/ 633 w 80"/>
                <a:gd name="T17" fmla="*/ 645 h 80"/>
                <a:gd name="T18" fmla="*/ 1137 w 80"/>
                <a:gd name="T19" fmla="*/ 136 h 80"/>
                <a:gd name="T20" fmla="*/ 1347 w 80"/>
                <a:gd name="T21" fmla="*/ 384 h 80"/>
                <a:gd name="T22" fmla="*/ 849 w 80"/>
                <a:gd name="T23" fmla="*/ 873 h 80"/>
                <a:gd name="T24" fmla="*/ 813 w 80"/>
                <a:gd name="T25" fmla="*/ 910 h 80"/>
                <a:gd name="T26" fmla="*/ 500 w 80"/>
                <a:gd name="T27" fmla="*/ 1010 h 80"/>
                <a:gd name="T28" fmla="*/ 589 w 80"/>
                <a:gd name="T29" fmla="*/ 685 h 80"/>
                <a:gd name="T30" fmla="*/ 813 w 80"/>
                <a:gd name="T31" fmla="*/ 910 h 80"/>
                <a:gd name="T32" fmla="*/ 293 w 80"/>
                <a:gd name="T33" fmla="*/ 192 h 80"/>
                <a:gd name="T34" fmla="*/ 151 w 80"/>
                <a:gd name="T35" fmla="*/ 344 h 80"/>
                <a:gd name="T36" fmla="*/ 151 w 80"/>
                <a:gd name="T37" fmla="*/ 1221 h 80"/>
                <a:gd name="T38" fmla="*/ 293 w 80"/>
                <a:gd name="T39" fmla="*/ 1363 h 80"/>
                <a:gd name="T40" fmla="*/ 1154 w 80"/>
                <a:gd name="T41" fmla="*/ 1363 h 80"/>
                <a:gd name="T42" fmla="*/ 1297 w 80"/>
                <a:gd name="T43" fmla="*/ 1221 h 80"/>
                <a:gd name="T44" fmla="*/ 1297 w 80"/>
                <a:gd name="T45" fmla="*/ 645 h 80"/>
                <a:gd name="T46" fmla="*/ 1446 w 80"/>
                <a:gd name="T47" fmla="*/ 493 h 80"/>
                <a:gd name="T48" fmla="*/ 1446 w 80"/>
                <a:gd name="T49" fmla="*/ 1273 h 80"/>
                <a:gd name="T50" fmla="*/ 1206 w 80"/>
                <a:gd name="T51" fmla="*/ 1522 h 80"/>
                <a:gd name="T52" fmla="*/ 241 w 80"/>
                <a:gd name="T53" fmla="*/ 1522 h 80"/>
                <a:gd name="T54" fmla="*/ 0 w 80"/>
                <a:gd name="T55" fmla="*/ 1273 h 80"/>
                <a:gd name="T56" fmla="*/ 0 w 80"/>
                <a:gd name="T57" fmla="*/ 301 h 80"/>
                <a:gd name="T58" fmla="*/ 241 w 80"/>
                <a:gd name="T59" fmla="*/ 56 h 80"/>
                <a:gd name="T60" fmla="*/ 998 w 80"/>
                <a:gd name="T61" fmla="*/ 56 h 80"/>
                <a:gd name="T62" fmla="*/ 849 w 80"/>
                <a:gd name="T63" fmla="*/ 192 h 80"/>
                <a:gd name="T64" fmla="*/ 293 w 80"/>
                <a:gd name="T65" fmla="*/ 192 h 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 h="80">
                  <a:moveTo>
                    <a:pt x="79" y="14"/>
                  </a:moveTo>
                  <a:cubicBezTo>
                    <a:pt x="75" y="18"/>
                    <a:pt x="75" y="18"/>
                    <a:pt x="75" y="18"/>
                  </a:cubicBezTo>
                  <a:cubicBezTo>
                    <a:pt x="63" y="5"/>
                    <a:pt x="63" y="5"/>
                    <a:pt x="63" y="5"/>
                  </a:cubicBezTo>
                  <a:cubicBezTo>
                    <a:pt x="66" y="2"/>
                    <a:pt x="66" y="2"/>
                    <a:pt x="66" y="2"/>
                  </a:cubicBezTo>
                  <a:cubicBezTo>
                    <a:pt x="68" y="0"/>
                    <a:pt x="70" y="0"/>
                    <a:pt x="71" y="2"/>
                  </a:cubicBezTo>
                  <a:cubicBezTo>
                    <a:pt x="79" y="9"/>
                    <a:pt x="79" y="9"/>
                    <a:pt x="79" y="9"/>
                  </a:cubicBezTo>
                  <a:cubicBezTo>
                    <a:pt x="80" y="11"/>
                    <a:pt x="80" y="13"/>
                    <a:pt x="79" y="14"/>
                  </a:cubicBezTo>
                  <a:close/>
                  <a:moveTo>
                    <a:pt x="46" y="46"/>
                  </a:moveTo>
                  <a:cubicBezTo>
                    <a:pt x="34" y="34"/>
                    <a:pt x="34" y="34"/>
                    <a:pt x="34" y="34"/>
                  </a:cubicBezTo>
                  <a:cubicBezTo>
                    <a:pt x="61" y="7"/>
                    <a:pt x="61" y="7"/>
                    <a:pt x="61" y="7"/>
                  </a:cubicBezTo>
                  <a:cubicBezTo>
                    <a:pt x="73" y="20"/>
                    <a:pt x="73" y="20"/>
                    <a:pt x="73" y="20"/>
                  </a:cubicBezTo>
                  <a:lnTo>
                    <a:pt x="46" y="46"/>
                  </a:lnTo>
                  <a:close/>
                  <a:moveTo>
                    <a:pt x="44" y="48"/>
                  </a:moveTo>
                  <a:cubicBezTo>
                    <a:pt x="27" y="53"/>
                    <a:pt x="27" y="53"/>
                    <a:pt x="27" y="53"/>
                  </a:cubicBezTo>
                  <a:cubicBezTo>
                    <a:pt x="32" y="36"/>
                    <a:pt x="32" y="36"/>
                    <a:pt x="32" y="36"/>
                  </a:cubicBezTo>
                  <a:lnTo>
                    <a:pt x="44" y="48"/>
                  </a:lnTo>
                  <a:close/>
                  <a:moveTo>
                    <a:pt x="16" y="10"/>
                  </a:moveTo>
                  <a:cubicBezTo>
                    <a:pt x="12" y="10"/>
                    <a:pt x="8" y="14"/>
                    <a:pt x="8" y="18"/>
                  </a:cubicBezTo>
                  <a:cubicBezTo>
                    <a:pt x="8" y="64"/>
                    <a:pt x="8" y="64"/>
                    <a:pt x="8" y="64"/>
                  </a:cubicBezTo>
                  <a:cubicBezTo>
                    <a:pt x="8" y="69"/>
                    <a:pt x="12" y="72"/>
                    <a:pt x="16" y="72"/>
                  </a:cubicBezTo>
                  <a:cubicBezTo>
                    <a:pt x="62" y="72"/>
                    <a:pt x="62" y="72"/>
                    <a:pt x="62" y="72"/>
                  </a:cubicBezTo>
                  <a:cubicBezTo>
                    <a:pt x="67" y="72"/>
                    <a:pt x="70" y="69"/>
                    <a:pt x="70" y="64"/>
                  </a:cubicBezTo>
                  <a:cubicBezTo>
                    <a:pt x="70" y="34"/>
                    <a:pt x="70" y="34"/>
                    <a:pt x="70" y="34"/>
                  </a:cubicBezTo>
                  <a:cubicBezTo>
                    <a:pt x="78" y="26"/>
                    <a:pt x="78" y="26"/>
                    <a:pt x="78" y="26"/>
                  </a:cubicBezTo>
                  <a:cubicBezTo>
                    <a:pt x="78" y="67"/>
                    <a:pt x="78" y="67"/>
                    <a:pt x="78" y="67"/>
                  </a:cubicBezTo>
                  <a:cubicBezTo>
                    <a:pt x="78" y="74"/>
                    <a:pt x="72" y="80"/>
                    <a:pt x="65" y="80"/>
                  </a:cubicBezTo>
                  <a:cubicBezTo>
                    <a:pt x="13" y="80"/>
                    <a:pt x="13" y="80"/>
                    <a:pt x="13" y="80"/>
                  </a:cubicBezTo>
                  <a:cubicBezTo>
                    <a:pt x="6" y="80"/>
                    <a:pt x="0" y="74"/>
                    <a:pt x="0" y="67"/>
                  </a:cubicBezTo>
                  <a:cubicBezTo>
                    <a:pt x="0" y="16"/>
                    <a:pt x="0" y="16"/>
                    <a:pt x="0" y="16"/>
                  </a:cubicBezTo>
                  <a:cubicBezTo>
                    <a:pt x="0" y="9"/>
                    <a:pt x="6" y="3"/>
                    <a:pt x="13" y="3"/>
                  </a:cubicBezTo>
                  <a:cubicBezTo>
                    <a:pt x="54" y="3"/>
                    <a:pt x="54" y="3"/>
                    <a:pt x="54" y="3"/>
                  </a:cubicBezTo>
                  <a:cubicBezTo>
                    <a:pt x="46" y="10"/>
                    <a:pt x="46" y="10"/>
                    <a:pt x="46" y="10"/>
                  </a:cubicBezTo>
                  <a:lnTo>
                    <a:pt x="1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399" b="0" i="0" u="none" strike="noStrike" kern="1200" cap="none" spc="0" normalizeH="0" baseline="0" noProof="0">
                <a:ln>
                  <a:noFill/>
                </a:ln>
                <a:solidFill>
                  <a:srgbClr val="000000"/>
                </a:solidFill>
                <a:effectLst/>
                <a:uLnTx/>
                <a:uFillTx/>
                <a:latin typeface="Arial"/>
                <a:ea typeface="宋体"/>
                <a:cs typeface="+mn-cs"/>
              </a:endParaRPr>
            </a:p>
          </p:txBody>
        </p:sp>
      </p:grpSp>
      <p:sp>
        <p:nvSpPr>
          <p:cNvPr id="19461" name="Rectangle 7"/>
          <p:cNvSpPr>
            <a:spLocks noChangeArrowheads="1"/>
          </p:cNvSpPr>
          <p:nvPr/>
        </p:nvSpPr>
        <p:spPr bwMode="auto">
          <a:xfrm>
            <a:off x="915999" y="4648883"/>
            <a:ext cx="314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808080"/>
                </a:solidFill>
                <a:effectLst/>
                <a:uLnTx/>
                <a:uFillTx/>
                <a:latin typeface="Arial" panose="020B0604020202020204" pitchFamily="34" charset="0"/>
                <a:ea typeface="宋体" panose="02010600030101010101" pitchFamily="2" charset="-122"/>
                <a:cs typeface="+mn-cs"/>
              </a:rPr>
              <a:t>气氛的结构</a:t>
            </a:r>
          </a:p>
        </p:txBody>
      </p:sp>
      <p:sp>
        <p:nvSpPr>
          <p:cNvPr id="19462" name="Text Box 8"/>
          <p:cNvSpPr txBox="1">
            <a:spLocks noChangeArrowheads="1"/>
          </p:cNvSpPr>
          <p:nvPr/>
        </p:nvSpPr>
        <p:spPr bwMode="auto">
          <a:xfrm>
            <a:off x="1859741" y="3326374"/>
            <a:ext cx="1210588" cy="1200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7198"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0</a:t>
            </a:r>
            <a:r>
              <a:rPr kumimoji="0" lang="en-US" altLang="zh-CN" sz="7198"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2</a:t>
            </a:r>
            <a:endParaRPr kumimoji="0" lang="zh-CN" altLang="zh-CN" sz="7198"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19463" name="Line 9"/>
          <p:cNvSpPr>
            <a:spLocks noChangeShapeType="1"/>
          </p:cNvSpPr>
          <p:nvPr/>
        </p:nvSpPr>
        <p:spPr bwMode="auto">
          <a:xfrm>
            <a:off x="1356130" y="4479601"/>
            <a:ext cx="2234510" cy="0"/>
          </a:xfrm>
          <a:prstGeom prst="line">
            <a:avLst/>
          </a:prstGeom>
          <a:noFill/>
          <a:ln w="6350">
            <a:solidFill>
              <a:schemeClr val="bg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399" b="0" i="0" u="none" strike="noStrike" kern="1200" cap="none" spc="0" normalizeH="0" baseline="0" noProof="0">
              <a:ln>
                <a:noFill/>
              </a:ln>
              <a:solidFill>
                <a:srgbClr val="000000"/>
              </a:solidFill>
              <a:effectLst/>
              <a:uLnTx/>
              <a:uFillTx/>
              <a:latin typeface="Arial"/>
              <a:ea typeface="宋体"/>
              <a:cs typeface="+mn-cs"/>
            </a:endParaRPr>
          </a:p>
        </p:txBody>
      </p:sp>
    </p:spTree>
    <p:extLst>
      <p:ext uri="{BB962C8B-B14F-4D97-AF65-F5344CB8AC3E}">
        <p14:creationId xmlns:p14="http://schemas.microsoft.com/office/powerpoint/2010/main" val="3435139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t>从功能</a:t>
            </a:r>
            <a:r>
              <a:rPr lang="en-US" altLang="zh-CN" sz="3600" dirty="0"/>
              <a:t>-</a:t>
            </a:r>
            <a:r>
              <a:rPr lang="zh-CN" altLang="en-US" sz="3600" dirty="0"/>
              <a:t>审美的充分条件</a:t>
            </a:r>
          </a:p>
        </p:txBody>
      </p:sp>
      <p:sp>
        <p:nvSpPr>
          <p:cNvPr id="3" name="内容占位符 2"/>
          <p:cNvSpPr>
            <a:spLocks noGrp="1"/>
          </p:cNvSpPr>
          <p:nvPr>
            <p:ph idx="1"/>
          </p:nvPr>
        </p:nvSpPr>
        <p:spPr/>
        <p:txBody>
          <a:bodyPr/>
          <a:lstStyle/>
          <a:p>
            <a:r>
              <a:rPr lang="zh-CN" altLang="en-US" sz="2400" dirty="0"/>
              <a:t>物品成为元件进行组合摆设</a:t>
            </a:r>
            <a:endParaRPr lang="en-US" altLang="zh-CN" sz="2400" dirty="0"/>
          </a:p>
          <a:p>
            <a:r>
              <a:rPr lang="zh-CN" altLang="en-US" sz="2400" dirty="0"/>
              <a:t>技术层面构成之上是气氛层面的文化命令</a:t>
            </a:r>
            <a:endParaRPr lang="en-US" altLang="zh-CN" sz="2400" dirty="0"/>
          </a:p>
          <a:p>
            <a:r>
              <a:rPr lang="zh-CN" altLang="en-US" sz="2400" dirty="0"/>
              <a:t>完成文化指令还需构成摆设之物（色彩、材质的解放、重构与组合）能够合格的发挥文化记号的作用</a:t>
            </a:r>
          </a:p>
        </p:txBody>
      </p:sp>
    </p:spTree>
    <p:extLst>
      <p:ext uri="{BB962C8B-B14F-4D97-AF65-F5344CB8AC3E}">
        <p14:creationId xmlns:p14="http://schemas.microsoft.com/office/powerpoint/2010/main" val="4141251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29766" y="2412984"/>
            <a:ext cx="200911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5B9BD5">
                    <a:lumMod val="50000"/>
                  </a:srgbClr>
                </a:solidFill>
                <a:effectLst/>
                <a:uLnTx/>
                <a:uFillTx/>
                <a:latin typeface="Arial"/>
                <a:ea typeface="微软雅黑"/>
                <a:cs typeface="Arial" panose="020B0604020202020204" pitchFamily="34" charset="0"/>
                <a:sym typeface="Arial"/>
              </a:rPr>
              <a:t>传统色彩</a:t>
            </a:r>
            <a:endParaRPr kumimoji="0" lang="zh-CN" altLang="en-US" sz="1600" b="1" i="0" u="none" strike="noStrike" kern="1200" cap="none" spc="0" normalizeH="0" baseline="0" noProof="0" dirty="0">
              <a:ln>
                <a:noFill/>
              </a:ln>
              <a:solidFill>
                <a:srgbClr val="5B9BD5">
                  <a:lumMod val="50000"/>
                </a:srgbClr>
              </a:solidFill>
              <a:effectLst/>
              <a:uLnTx/>
              <a:uFillTx/>
              <a:latin typeface="Arial"/>
              <a:ea typeface="微软雅黑"/>
              <a:cs typeface="+mn-cs"/>
              <a:sym typeface="Arial"/>
            </a:endParaRPr>
          </a:p>
        </p:txBody>
      </p:sp>
      <p:sp>
        <p:nvSpPr>
          <p:cNvPr id="5" name="矩形 4"/>
          <p:cNvSpPr/>
          <p:nvPr/>
        </p:nvSpPr>
        <p:spPr>
          <a:xfrm>
            <a:off x="2444451" y="4282082"/>
            <a:ext cx="2009114"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44546A"/>
                </a:solidFill>
                <a:effectLst/>
                <a:uLnTx/>
                <a:uFillTx/>
                <a:latin typeface="Arial"/>
                <a:ea typeface="微软雅黑"/>
                <a:cs typeface="+mn-cs"/>
                <a:sym typeface="Arial"/>
              </a:rPr>
              <a:t>色彩的解放</a:t>
            </a:r>
          </a:p>
        </p:txBody>
      </p:sp>
      <p:sp>
        <p:nvSpPr>
          <p:cNvPr id="9" name="矩形 8"/>
          <p:cNvSpPr/>
          <p:nvPr/>
        </p:nvSpPr>
        <p:spPr>
          <a:xfrm>
            <a:off x="6491801" y="1933213"/>
            <a:ext cx="200911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4546A"/>
                </a:solidFill>
                <a:effectLst/>
                <a:uLnTx/>
                <a:uFillTx/>
                <a:latin typeface="Arial"/>
                <a:ea typeface="微软雅黑"/>
                <a:cs typeface="Arial" panose="020B0604020202020204" pitchFamily="34" charset="0"/>
                <a:sym typeface="Arial"/>
              </a:rPr>
              <a:t>色彩的功能化</a:t>
            </a:r>
            <a:endParaRPr kumimoji="0" lang="zh-CN" altLang="en-US" sz="1600" b="1" i="0" u="none" strike="noStrike" kern="1200" cap="none" spc="0" normalizeH="0" baseline="0" noProof="0" dirty="0">
              <a:ln>
                <a:noFill/>
              </a:ln>
              <a:solidFill>
                <a:srgbClr val="44546A"/>
              </a:solidFill>
              <a:effectLst/>
              <a:uLnTx/>
              <a:uFillTx/>
              <a:latin typeface="Arial"/>
              <a:ea typeface="微软雅黑"/>
              <a:cs typeface="+mn-cs"/>
              <a:sym typeface="Arial"/>
            </a:endParaRPr>
          </a:p>
        </p:txBody>
      </p:sp>
      <p:sp>
        <p:nvSpPr>
          <p:cNvPr id="10" name="泪滴形 9"/>
          <p:cNvSpPr/>
          <p:nvPr/>
        </p:nvSpPr>
        <p:spPr>
          <a:xfrm rot="9784955">
            <a:off x="7326569" y="2904017"/>
            <a:ext cx="1244191" cy="1225670"/>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A9BD5"/>
              </a:solidFill>
              <a:effectLst/>
              <a:uLnTx/>
              <a:uFillTx/>
              <a:latin typeface="Arial"/>
              <a:ea typeface="微软雅黑"/>
              <a:cs typeface="+mn-cs"/>
              <a:sym typeface="Arial"/>
            </a:endParaRPr>
          </a:p>
        </p:txBody>
      </p:sp>
      <p:sp>
        <p:nvSpPr>
          <p:cNvPr id="11" name="矩形 10"/>
          <p:cNvSpPr/>
          <p:nvPr/>
        </p:nvSpPr>
        <p:spPr>
          <a:xfrm>
            <a:off x="7321487" y="3330656"/>
            <a:ext cx="1368237"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Arial"/>
                <a:ea typeface="微软雅黑"/>
                <a:cs typeface="Arial" panose="020B0604020202020204" pitchFamily="34" charset="0"/>
                <a:sym typeface="Arial"/>
              </a:rPr>
              <a:t>自然色</a:t>
            </a:r>
            <a:endParaRPr kumimoji="0" lang="zh-CN" altLang="en-US" sz="1600" b="1" i="0" u="none" strike="noStrike" kern="1200" cap="none" spc="0" normalizeH="0" baseline="0" noProof="0" dirty="0">
              <a:ln>
                <a:noFill/>
              </a:ln>
              <a:solidFill>
                <a:prstClr val="white"/>
              </a:solidFill>
              <a:effectLst/>
              <a:uLnTx/>
              <a:uFillTx/>
              <a:latin typeface="Arial"/>
              <a:ea typeface="微软雅黑"/>
              <a:cs typeface="+mn-cs"/>
              <a:sym typeface="Arial"/>
            </a:endParaRPr>
          </a:p>
        </p:txBody>
      </p:sp>
      <p:sp>
        <p:nvSpPr>
          <p:cNvPr id="14" name="泪滴形 13"/>
          <p:cNvSpPr/>
          <p:nvPr/>
        </p:nvSpPr>
        <p:spPr>
          <a:xfrm rot="7942971">
            <a:off x="5444376" y="2219968"/>
            <a:ext cx="1410943" cy="1389940"/>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15" name="泪滴形 14"/>
          <p:cNvSpPr/>
          <p:nvPr/>
        </p:nvSpPr>
        <p:spPr>
          <a:xfrm rot="7285796">
            <a:off x="5086152" y="3328172"/>
            <a:ext cx="918837" cy="905160"/>
          </a:xfrm>
          <a:prstGeom prst="teardrop">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16" name="泪滴形 15"/>
          <p:cNvSpPr/>
          <p:nvPr/>
        </p:nvSpPr>
        <p:spPr>
          <a:xfrm rot="6923497">
            <a:off x="3923889" y="2865276"/>
            <a:ext cx="1205810" cy="1208514"/>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17" name="矩形 16"/>
          <p:cNvSpPr/>
          <p:nvPr/>
        </p:nvSpPr>
        <p:spPr>
          <a:xfrm>
            <a:off x="3979717" y="3318954"/>
            <a:ext cx="1120099"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Arial"/>
                <a:ea typeface="微软雅黑"/>
                <a:cs typeface="Arial" panose="020B0604020202020204" pitchFamily="34" charset="0"/>
                <a:sym typeface="Arial"/>
              </a:rPr>
              <a:t>传统色彩</a:t>
            </a:r>
            <a:endParaRPr kumimoji="0" lang="zh-CN" altLang="en-US" sz="1600" b="1" i="0" u="none" strike="noStrike" kern="1200" cap="none" spc="0" normalizeH="0" baseline="0" noProof="0" dirty="0">
              <a:ln>
                <a:noFill/>
              </a:ln>
              <a:solidFill>
                <a:prstClr val="white"/>
              </a:solidFill>
              <a:effectLst/>
              <a:uLnTx/>
              <a:uFillTx/>
              <a:latin typeface="Arial"/>
              <a:ea typeface="微软雅黑"/>
              <a:cs typeface="+mn-cs"/>
              <a:sym typeface="Arial"/>
            </a:endParaRPr>
          </a:p>
        </p:txBody>
      </p:sp>
      <p:sp>
        <p:nvSpPr>
          <p:cNvPr id="18" name="矩形 17"/>
          <p:cNvSpPr/>
          <p:nvPr/>
        </p:nvSpPr>
        <p:spPr>
          <a:xfrm>
            <a:off x="5088991" y="3611646"/>
            <a:ext cx="935589"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white"/>
                </a:solidFill>
                <a:effectLst/>
                <a:uLnTx/>
                <a:uFillTx/>
                <a:latin typeface="Arial"/>
                <a:ea typeface="微软雅黑"/>
                <a:cs typeface="Arial" panose="020B0604020202020204" pitchFamily="34" charset="0"/>
                <a:sym typeface="Arial"/>
              </a:rPr>
              <a:t>色彩解放</a:t>
            </a:r>
            <a:endParaRPr kumimoji="0" lang="zh-CN" altLang="en-US" sz="1200" b="1" i="0" u="none" strike="noStrike" kern="1200" cap="none" spc="0" normalizeH="0" baseline="0" noProof="0" dirty="0">
              <a:ln>
                <a:noFill/>
              </a:ln>
              <a:solidFill>
                <a:prstClr val="white"/>
              </a:solidFill>
              <a:effectLst/>
              <a:uLnTx/>
              <a:uFillTx/>
              <a:latin typeface="Arial"/>
              <a:ea typeface="微软雅黑"/>
              <a:cs typeface="+mn-cs"/>
              <a:sym typeface="Arial"/>
            </a:endParaRPr>
          </a:p>
        </p:txBody>
      </p:sp>
      <p:grpSp>
        <p:nvGrpSpPr>
          <p:cNvPr id="19" name="组合 18"/>
          <p:cNvGrpSpPr/>
          <p:nvPr/>
        </p:nvGrpSpPr>
        <p:grpSpPr>
          <a:xfrm>
            <a:off x="5912639" y="2511270"/>
            <a:ext cx="474416" cy="403668"/>
            <a:chOff x="1663814" y="4336316"/>
            <a:chExt cx="667095" cy="567616"/>
          </a:xfrm>
          <a:solidFill>
            <a:schemeClr val="bg1"/>
          </a:solidFill>
        </p:grpSpPr>
        <p:sp>
          <p:nvSpPr>
            <p:cNvPr id="20" name="Freeform 16"/>
            <p:cNvSpPr>
              <a:spLocks noEditPoints="1"/>
            </p:cNvSpPr>
            <p:nvPr/>
          </p:nvSpPr>
          <p:spPr bwMode="auto">
            <a:xfrm>
              <a:off x="1663814" y="4336316"/>
              <a:ext cx="623207" cy="567616"/>
            </a:xfrm>
            <a:custGeom>
              <a:avLst/>
              <a:gdLst>
                <a:gd name="T0" fmla="*/ 499 w 721"/>
                <a:gd name="T1" fmla="*/ 196 h 657"/>
                <a:gd name="T2" fmla="*/ 637 w 721"/>
                <a:gd name="T3" fmla="*/ 322 h 657"/>
                <a:gd name="T4" fmla="*/ 646 w 721"/>
                <a:gd name="T5" fmla="*/ 329 h 657"/>
                <a:gd name="T6" fmla="*/ 672 w 721"/>
                <a:gd name="T7" fmla="*/ 353 h 657"/>
                <a:gd name="T8" fmla="*/ 686 w 721"/>
                <a:gd name="T9" fmla="*/ 367 h 657"/>
                <a:gd name="T10" fmla="*/ 669 w 721"/>
                <a:gd name="T11" fmla="*/ 472 h 657"/>
                <a:gd name="T12" fmla="*/ 611 w 721"/>
                <a:gd name="T13" fmla="*/ 550 h 657"/>
                <a:gd name="T14" fmla="*/ 539 w 721"/>
                <a:gd name="T15" fmla="*/ 598 h 657"/>
                <a:gd name="T16" fmla="*/ 439 w 721"/>
                <a:gd name="T17" fmla="*/ 633 h 657"/>
                <a:gd name="T18" fmla="*/ 433 w 721"/>
                <a:gd name="T19" fmla="*/ 629 h 657"/>
                <a:gd name="T20" fmla="*/ 449 w 721"/>
                <a:gd name="T21" fmla="*/ 594 h 657"/>
                <a:gd name="T22" fmla="*/ 481 w 721"/>
                <a:gd name="T23" fmla="*/ 606 h 657"/>
                <a:gd name="T24" fmla="*/ 501 w 721"/>
                <a:gd name="T25" fmla="*/ 591 h 657"/>
                <a:gd name="T26" fmla="*/ 501 w 721"/>
                <a:gd name="T27" fmla="*/ 577 h 657"/>
                <a:gd name="T28" fmla="*/ 452 w 721"/>
                <a:gd name="T29" fmla="*/ 538 h 657"/>
                <a:gd name="T30" fmla="*/ 449 w 721"/>
                <a:gd name="T31" fmla="*/ 511 h 657"/>
                <a:gd name="T32" fmla="*/ 475 w 721"/>
                <a:gd name="T33" fmla="*/ 508 h 657"/>
                <a:gd name="T34" fmla="*/ 530 w 721"/>
                <a:gd name="T35" fmla="*/ 551 h 657"/>
                <a:gd name="T36" fmla="*/ 567 w 721"/>
                <a:gd name="T37" fmla="*/ 557 h 657"/>
                <a:gd name="T38" fmla="*/ 572 w 721"/>
                <a:gd name="T39" fmla="*/ 549 h 657"/>
                <a:gd name="T40" fmla="*/ 570 w 721"/>
                <a:gd name="T41" fmla="*/ 532 h 657"/>
                <a:gd name="T42" fmla="*/ 506 w 721"/>
                <a:gd name="T43" fmla="*/ 481 h 657"/>
                <a:gd name="T44" fmla="*/ 503 w 721"/>
                <a:gd name="T45" fmla="*/ 455 h 657"/>
                <a:gd name="T46" fmla="*/ 529 w 721"/>
                <a:gd name="T47" fmla="*/ 451 h 657"/>
                <a:gd name="T48" fmla="*/ 596 w 721"/>
                <a:gd name="T49" fmla="*/ 504 h 657"/>
                <a:gd name="T50" fmla="*/ 598 w 721"/>
                <a:gd name="T51" fmla="*/ 505 h 657"/>
                <a:gd name="T52" fmla="*/ 620 w 721"/>
                <a:gd name="T53" fmla="*/ 467 h 657"/>
                <a:gd name="T54" fmla="*/ 549 w 721"/>
                <a:gd name="T55" fmla="*/ 414 h 657"/>
                <a:gd name="T56" fmla="*/ 546 w 721"/>
                <a:gd name="T57" fmla="*/ 388 h 657"/>
                <a:gd name="T58" fmla="*/ 572 w 721"/>
                <a:gd name="T59" fmla="*/ 384 h 657"/>
                <a:gd name="T60" fmla="*/ 642 w 721"/>
                <a:gd name="T61" fmla="*/ 437 h 657"/>
                <a:gd name="T62" fmla="*/ 663 w 721"/>
                <a:gd name="T63" fmla="*/ 429 h 657"/>
                <a:gd name="T64" fmla="*/ 659 w 721"/>
                <a:gd name="T65" fmla="*/ 394 h 657"/>
                <a:gd name="T66" fmla="*/ 645 w 721"/>
                <a:gd name="T67" fmla="*/ 379 h 657"/>
                <a:gd name="T68" fmla="*/ 457 w 721"/>
                <a:gd name="T69" fmla="*/ 209 h 657"/>
                <a:gd name="T70" fmla="*/ 462 w 721"/>
                <a:gd name="T71" fmla="*/ 198 h 657"/>
                <a:gd name="T72" fmla="*/ 496 w 721"/>
                <a:gd name="T73" fmla="*/ 196 h 657"/>
                <a:gd name="T74" fmla="*/ 499 w 721"/>
                <a:gd name="T75" fmla="*/ 196 h 657"/>
                <a:gd name="T76" fmla="*/ 86 w 721"/>
                <a:gd name="T77" fmla="*/ 355 h 657"/>
                <a:gd name="T78" fmla="*/ 59 w 721"/>
                <a:gd name="T79" fmla="*/ 262 h 657"/>
                <a:gd name="T80" fmla="*/ 35 w 721"/>
                <a:gd name="T81" fmla="*/ 239 h 657"/>
                <a:gd name="T82" fmla="*/ 0 w 721"/>
                <a:gd name="T83" fmla="*/ 176 h 657"/>
                <a:gd name="T84" fmla="*/ 16 w 721"/>
                <a:gd name="T85" fmla="*/ 135 h 657"/>
                <a:gd name="T86" fmla="*/ 116 w 721"/>
                <a:gd name="T87" fmla="*/ 27 h 657"/>
                <a:gd name="T88" fmla="*/ 199 w 721"/>
                <a:gd name="T89" fmla="*/ 20 h 657"/>
                <a:gd name="T90" fmla="*/ 242 w 721"/>
                <a:gd name="T91" fmla="*/ 46 h 657"/>
                <a:gd name="T92" fmla="*/ 254 w 721"/>
                <a:gd name="T93" fmla="*/ 50 h 657"/>
                <a:gd name="T94" fmla="*/ 350 w 721"/>
                <a:gd name="T95" fmla="*/ 33 h 657"/>
                <a:gd name="T96" fmla="*/ 284 w 721"/>
                <a:gd name="T97" fmla="*/ 82 h 657"/>
                <a:gd name="T98" fmla="*/ 260 w 721"/>
                <a:gd name="T99" fmla="*/ 87 h 657"/>
                <a:gd name="T100" fmla="*/ 195 w 721"/>
                <a:gd name="T101" fmla="*/ 64 h 657"/>
                <a:gd name="T102" fmla="*/ 176 w 721"/>
                <a:gd name="T103" fmla="*/ 50 h 657"/>
                <a:gd name="T104" fmla="*/ 144 w 721"/>
                <a:gd name="T105" fmla="*/ 53 h 657"/>
                <a:gd name="T106" fmla="*/ 44 w 721"/>
                <a:gd name="T107" fmla="*/ 161 h 657"/>
                <a:gd name="T108" fmla="*/ 44 w 721"/>
                <a:gd name="T109" fmla="*/ 193 h 657"/>
                <a:gd name="T110" fmla="*/ 69 w 721"/>
                <a:gd name="T111" fmla="*/ 220 h 657"/>
                <a:gd name="T112" fmla="*/ 97 w 721"/>
                <a:gd name="T113" fmla="*/ 257 h 657"/>
                <a:gd name="T114" fmla="*/ 115 w 721"/>
                <a:gd name="T115" fmla="*/ 330 h 657"/>
                <a:gd name="T116" fmla="*/ 86 w 721"/>
                <a:gd name="T117" fmla="*/ 355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7">
                  <a:moveTo>
                    <a:pt x="499" y="196"/>
                  </a:moveTo>
                  <a:cubicBezTo>
                    <a:pt x="545" y="237"/>
                    <a:pt x="592" y="279"/>
                    <a:pt x="637" y="322"/>
                  </a:cubicBezTo>
                  <a:cubicBezTo>
                    <a:pt x="640" y="325"/>
                    <a:pt x="643" y="327"/>
                    <a:pt x="646" y="329"/>
                  </a:cubicBezTo>
                  <a:cubicBezTo>
                    <a:pt x="672" y="353"/>
                    <a:pt x="672" y="353"/>
                    <a:pt x="672" y="353"/>
                  </a:cubicBezTo>
                  <a:cubicBezTo>
                    <a:pt x="686" y="367"/>
                    <a:pt x="686" y="367"/>
                    <a:pt x="686" y="367"/>
                  </a:cubicBezTo>
                  <a:cubicBezTo>
                    <a:pt x="721" y="403"/>
                    <a:pt x="707" y="456"/>
                    <a:pt x="669" y="472"/>
                  </a:cubicBezTo>
                  <a:cubicBezTo>
                    <a:pt x="685" y="513"/>
                    <a:pt x="652" y="552"/>
                    <a:pt x="611" y="550"/>
                  </a:cubicBezTo>
                  <a:cubicBezTo>
                    <a:pt x="606" y="584"/>
                    <a:pt x="574" y="607"/>
                    <a:pt x="539" y="598"/>
                  </a:cubicBezTo>
                  <a:cubicBezTo>
                    <a:pt x="529" y="641"/>
                    <a:pt x="479" y="657"/>
                    <a:pt x="439" y="633"/>
                  </a:cubicBezTo>
                  <a:cubicBezTo>
                    <a:pt x="433" y="629"/>
                    <a:pt x="433" y="629"/>
                    <a:pt x="433" y="629"/>
                  </a:cubicBezTo>
                  <a:cubicBezTo>
                    <a:pt x="441" y="619"/>
                    <a:pt x="446" y="607"/>
                    <a:pt x="449" y="594"/>
                  </a:cubicBezTo>
                  <a:cubicBezTo>
                    <a:pt x="460" y="601"/>
                    <a:pt x="468" y="607"/>
                    <a:pt x="481" y="606"/>
                  </a:cubicBezTo>
                  <a:cubicBezTo>
                    <a:pt x="490" y="605"/>
                    <a:pt x="499" y="600"/>
                    <a:pt x="501" y="591"/>
                  </a:cubicBezTo>
                  <a:cubicBezTo>
                    <a:pt x="502" y="587"/>
                    <a:pt x="502" y="583"/>
                    <a:pt x="501" y="577"/>
                  </a:cubicBezTo>
                  <a:cubicBezTo>
                    <a:pt x="452" y="538"/>
                    <a:pt x="452" y="538"/>
                    <a:pt x="452" y="538"/>
                  </a:cubicBezTo>
                  <a:cubicBezTo>
                    <a:pt x="444" y="531"/>
                    <a:pt x="442" y="519"/>
                    <a:pt x="449" y="511"/>
                  </a:cubicBezTo>
                  <a:cubicBezTo>
                    <a:pt x="455" y="503"/>
                    <a:pt x="467" y="502"/>
                    <a:pt x="475" y="508"/>
                  </a:cubicBezTo>
                  <a:cubicBezTo>
                    <a:pt x="530" y="551"/>
                    <a:pt x="530" y="551"/>
                    <a:pt x="530" y="551"/>
                  </a:cubicBezTo>
                  <a:cubicBezTo>
                    <a:pt x="543" y="562"/>
                    <a:pt x="556" y="566"/>
                    <a:pt x="567" y="557"/>
                  </a:cubicBezTo>
                  <a:cubicBezTo>
                    <a:pt x="569" y="555"/>
                    <a:pt x="571" y="552"/>
                    <a:pt x="572" y="549"/>
                  </a:cubicBezTo>
                  <a:cubicBezTo>
                    <a:pt x="574" y="544"/>
                    <a:pt x="576" y="536"/>
                    <a:pt x="570" y="532"/>
                  </a:cubicBezTo>
                  <a:cubicBezTo>
                    <a:pt x="506" y="481"/>
                    <a:pt x="506" y="481"/>
                    <a:pt x="506" y="481"/>
                  </a:cubicBezTo>
                  <a:cubicBezTo>
                    <a:pt x="498" y="475"/>
                    <a:pt x="496" y="463"/>
                    <a:pt x="503" y="455"/>
                  </a:cubicBezTo>
                  <a:cubicBezTo>
                    <a:pt x="509" y="446"/>
                    <a:pt x="521" y="445"/>
                    <a:pt x="529" y="451"/>
                  </a:cubicBezTo>
                  <a:cubicBezTo>
                    <a:pt x="596" y="504"/>
                    <a:pt x="596" y="504"/>
                    <a:pt x="596" y="504"/>
                  </a:cubicBezTo>
                  <a:cubicBezTo>
                    <a:pt x="597" y="504"/>
                    <a:pt x="597" y="505"/>
                    <a:pt x="598" y="505"/>
                  </a:cubicBezTo>
                  <a:cubicBezTo>
                    <a:pt x="620" y="525"/>
                    <a:pt x="656" y="496"/>
                    <a:pt x="620" y="467"/>
                  </a:cubicBezTo>
                  <a:cubicBezTo>
                    <a:pt x="549" y="414"/>
                    <a:pt x="549" y="414"/>
                    <a:pt x="549" y="414"/>
                  </a:cubicBezTo>
                  <a:cubicBezTo>
                    <a:pt x="541" y="408"/>
                    <a:pt x="539" y="396"/>
                    <a:pt x="546" y="388"/>
                  </a:cubicBezTo>
                  <a:cubicBezTo>
                    <a:pt x="552" y="379"/>
                    <a:pt x="564" y="378"/>
                    <a:pt x="572" y="384"/>
                  </a:cubicBezTo>
                  <a:cubicBezTo>
                    <a:pt x="642" y="437"/>
                    <a:pt x="642" y="437"/>
                    <a:pt x="642" y="437"/>
                  </a:cubicBezTo>
                  <a:cubicBezTo>
                    <a:pt x="649" y="441"/>
                    <a:pt x="659" y="436"/>
                    <a:pt x="663" y="429"/>
                  </a:cubicBezTo>
                  <a:cubicBezTo>
                    <a:pt x="671" y="419"/>
                    <a:pt x="670" y="405"/>
                    <a:pt x="659" y="394"/>
                  </a:cubicBezTo>
                  <a:cubicBezTo>
                    <a:pt x="645" y="379"/>
                    <a:pt x="645" y="379"/>
                    <a:pt x="645" y="379"/>
                  </a:cubicBezTo>
                  <a:cubicBezTo>
                    <a:pt x="457" y="209"/>
                    <a:pt x="457" y="209"/>
                    <a:pt x="457" y="209"/>
                  </a:cubicBezTo>
                  <a:cubicBezTo>
                    <a:pt x="453" y="205"/>
                    <a:pt x="456" y="198"/>
                    <a:pt x="462" y="198"/>
                  </a:cubicBezTo>
                  <a:cubicBezTo>
                    <a:pt x="473" y="198"/>
                    <a:pt x="485" y="198"/>
                    <a:pt x="496" y="196"/>
                  </a:cubicBezTo>
                  <a:cubicBezTo>
                    <a:pt x="497" y="196"/>
                    <a:pt x="498" y="196"/>
                    <a:pt x="499" y="196"/>
                  </a:cubicBezTo>
                  <a:close/>
                  <a:moveTo>
                    <a:pt x="86" y="355"/>
                  </a:moveTo>
                  <a:cubicBezTo>
                    <a:pt x="66" y="330"/>
                    <a:pt x="64" y="295"/>
                    <a:pt x="59" y="262"/>
                  </a:cubicBezTo>
                  <a:cubicBezTo>
                    <a:pt x="35" y="239"/>
                    <a:pt x="35" y="239"/>
                    <a:pt x="35" y="239"/>
                  </a:cubicBezTo>
                  <a:cubicBezTo>
                    <a:pt x="17" y="219"/>
                    <a:pt x="0" y="205"/>
                    <a:pt x="0" y="176"/>
                  </a:cubicBezTo>
                  <a:cubicBezTo>
                    <a:pt x="0" y="161"/>
                    <a:pt x="6" y="147"/>
                    <a:pt x="16" y="135"/>
                  </a:cubicBezTo>
                  <a:cubicBezTo>
                    <a:pt x="116" y="27"/>
                    <a:pt x="116" y="27"/>
                    <a:pt x="116" y="27"/>
                  </a:cubicBezTo>
                  <a:cubicBezTo>
                    <a:pt x="138" y="3"/>
                    <a:pt x="174" y="0"/>
                    <a:pt x="199" y="20"/>
                  </a:cubicBezTo>
                  <a:cubicBezTo>
                    <a:pt x="215" y="31"/>
                    <a:pt x="221" y="38"/>
                    <a:pt x="242" y="46"/>
                  </a:cubicBezTo>
                  <a:cubicBezTo>
                    <a:pt x="248" y="48"/>
                    <a:pt x="253" y="50"/>
                    <a:pt x="254" y="50"/>
                  </a:cubicBezTo>
                  <a:cubicBezTo>
                    <a:pt x="284" y="46"/>
                    <a:pt x="316" y="32"/>
                    <a:pt x="350" y="33"/>
                  </a:cubicBezTo>
                  <a:cubicBezTo>
                    <a:pt x="337" y="42"/>
                    <a:pt x="286" y="82"/>
                    <a:pt x="284" y="82"/>
                  </a:cubicBezTo>
                  <a:cubicBezTo>
                    <a:pt x="276" y="84"/>
                    <a:pt x="268" y="86"/>
                    <a:pt x="260" y="87"/>
                  </a:cubicBezTo>
                  <a:cubicBezTo>
                    <a:pt x="241" y="90"/>
                    <a:pt x="208" y="74"/>
                    <a:pt x="195" y="64"/>
                  </a:cubicBezTo>
                  <a:cubicBezTo>
                    <a:pt x="176" y="50"/>
                    <a:pt x="176" y="50"/>
                    <a:pt x="176" y="50"/>
                  </a:cubicBezTo>
                  <a:cubicBezTo>
                    <a:pt x="166" y="42"/>
                    <a:pt x="152" y="44"/>
                    <a:pt x="144" y="53"/>
                  </a:cubicBezTo>
                  <a:cubicBezTo>
                    <a:pt x="44" y="161"/>
                    <a:pt x="44" y="161"/>
                    <a:pt x="44" y="161"/>
                  </a:cubicBezTo>
                  <a:cubicBezTo>
                    <a:pt x="36" y="170"/>
                    <a:pt x="36" y="184"/>
                    <a:pt x="44" y="193"/>
                  </a:cubicBezTo>
                  <a:cubicBezTo>
                    <a:pt x="53" y="203"/>
                    <a:pt x="59" y="210"/>
                    <a:pt x="69" y="220"/>
                  </a:cubicBezTo>
                  <a:cubicBezTo>
                    <a:pt x="80" y="230"/>
                    <a:pt x="95" y="244"/>
                    <a:pt x="97" y="257"/>
                  </a:cubicBezTo>
                  <a:cubicBezTo>
                    <a:pt x="100" y="280"/>
                    <a:pt x="102" y="313"/>
                    <a:pt x="115" y="330"/>
                  </a:cubicBezTo>
                  <a:cubicBezTo>
                    <a:pt x="102" y="337"/>
                    <a:pt x="95" y="344"/>
                    <a:pt x="86" y="3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1" name="Freeform 17"/>
            <p:cNvSpPr>
              <a:spLocks noEditPoints="1"/>
            </p:cNvSpPr>
            <p:nvPr/>
          </p:nvSpPr>
          <p:spPr bwMode="auto">
            <a:xfrm>
              <a:off x="1735497" y="4350830"/>
              <a:ext cx="595412" cy="551158"/>
            </a:xfrm>
            <a:custGeom>
              <a:avLst/>
              <a:gdLst>
                <a:gd name="T0" fmla="*/ 319 w 689"/>
                <a:gd name="T1" fmla="*/ 543 h 638"/>
                <a:gd name="T2" fmla="*/ 262 w 689"/>
                <a:gd name="T3" fmla="*/ 538 h 638"/>
                <a:gd name="T4" fmla="*/ 258 w 689"/>
                <a:gd name="T5" fmla="*/ 538 h 638"/>
                <a:gd name="T6" fmla="*/ 257 w 689"/>
                <a:gd name="T7" fmla="*/ 535 h 638"/>
                <a:gd name="T8" fmla="*/ 241 w 689"/>
                <a:gd name="T9" fmla="*/ 489 h 638"/>
                <a:gd name="T10" fmla="*/ 241 w 689"/>
                <a:gd name="T11" fmla="*/ 489 h 638"/>
                <a:gd name="T12" fmla="*/ 185 w 689"/>
                <a:gd name="T13" fmla="*/ 484 h 638"/>
                <a:gd name="T14" fmla="*/ 181 w 689"/>
                <a:gd name="T15" fmla="*/ 484 h 638"/>
                <a:gd name="T16" fmla="*/ 180 w 689"/>
                <a:gd name="T17" fmla="*/ 481 h 638"/>
                <a:gd name="T18" fmla="*/ 164 w 689"/>
                <a:gd name="T19" fmla="*/ 435 h 638"/>
                <a:gd name="T20" fmla="*/ 164 w 689"/>
                <a:gd name="T21" fmla="*/ 435 h 638"/>
                <a:gd name="T22" fmla="*/ 117 w 689"/>
                <a:gd name="T23" fmla="*/ 425 h 638"/>
                <a:gd name="T24" fmla="*/ 113 w 689"/>
                <a:gd name="T25" fmla="*/ 425 h 638"/>
                <a:gd name="T26" fmla="*/ 113 w 689"/>
                <a:gd name="T27" fmla="*/ 421 h 638"/>
                <a:gd name="T28" fmla="*/ 100 w 689"/>
                <a:gd name="T29" fmla="*/ 365 h 638"/>
                <a:gd name="T30" fmla="*/ 100 w 689"/>
                <a:gd name="T31" fmla="*/ 365 h 638"/>
                <a:gd name="T32" fmla="*/ 32 w 689"/>
                <a:gd name="T33" fmla="*/ 370 h 638"/>
                <a:gd name="T34" fmla="*/ 18 w 689"/>
                <a:gd name="T35" fmla="*/ 386 h 638"/>
                <a:gd name="T36" fmla="*/ 23 w 689"/>
                <a:gd name="T37" fmla="*/ 455 h 638"/>
                <a:gd name="T38" fmla="*/ 23 w 689"/>
                <a:gd name="T39" fmla="*/ 455 h 638"/>
                <a:gd name="T40" fmla="*/ 66 w 689"/>
                <a:gd name="T41" fmla="*/ 465 h 638"/>
                <a:gd name="T42" fmla="*/ 70 w 689"/>
                <a:gd name="T43" fmla="*/ 466 h 638"/>
                <a:gd name="T44" fmla="*/ 69 w 689"/>
                <a:gd name="T45" fmla="*/ 470 h 638"/>
                <a:gd name="T46" fmla="*/ 76 w 689"/>
                <a:gd name="T47" fmla="*/ 536 h 638"/>
                <a:gd name="T48" fmla="*/ 76 w 689"/>
                <a:gd name="T49" fmla="*/ 536 h 638"/>
                <a:gd name="T50" fmla="*/ 142 w 689"/>
                <a:gd name="T51" fmla="*/ 534 h 638"/>
                <a:gd name="T52" fmla="*/ 145 w 689"/>
                <a:gd name="T53" fmla="*/ 534 h 638"/>
                <a:gd name="T54" fmla="*/ 147 w 689"/>
                <a:gd name="T55" fmla="*/ 537 h 638"/>
                <a:gd name="T56" fmla="*/ 164 w 689"/>
                <a:gd name="T57" fmla="*/ 578 h 638"/>
                <a:gd name="T58" fmla="*/ 164 w 689"/>
                <a:gd name="T59" fmla="*/ 578 h 638"/>
                <a:gd name="T60" fmla="*/ 230 w 689"/>
                <a:gd name="T61" fmla="*/ 576 h 638"/>
                <a:gd name="T62" fmla="*/ 233 w 689"/>
                <a:gd name="T63" fmla="*/ 576 h 638"/>
                <a:gd name="T64" fmla="*/ 235 w 689"/>
                <a:gd name="T65" fmla="*/ 579 h 638"/>
                <a:gd name="T66" fmla="*/ 252 w 689"/>
                <a:gd name="T67" fmla="*/ 621 h 638"/>
                <a:gd name="T68" fmla="*/ 320 w 689"/>
                <a:gd name="T69" fmla="*/ 615 h 638"/>
                <a:gd name="T70" fmla="*/ 324 w 689"/>
                <a:gd name="T71" fmla="*/ 611 h 638"/>
                <a:gd name="T72" fmla="*/ 319 w 689"/>
                <a:gd name="T73" fmla="*/ 543 h 638"/>
                <a:gd name="T74" fmla="*/ 449 w 689"/>
                <a:gd name="T75" fmla="*/ 177 h 638"/>
                <a:gd name="T76" fmla="*/ 576 w 689"/>
                <a:gd name="T77" fmla="*/ 299 h 638"/>
                <a:gd name="T78" fmla="*/ 597 w 689"/>
                <a:gd name="T79" fmla="*/ 306 h 638"/>
                <a:gd name="T80" fmla="*/ 616 w 689"/>
                <a:gd name="T81" fmla="*/ 293 h 638"/>
                <a:gd name="T82" fmla="*/ 636 w 689"/>
                <a:gd name="T83" fmla="*/ 234 h 638"/>
                <a:gd name="T84" fmla="*/ 649 w 689"/>
                <a:gd name="T85" fmla="*/ 209 h 638"/>
                <a:gd name="T86" fmla="*/ 671 w 689"/>
                <a:gd name="T87" fmla="*/ 186 h 638"/>
                <a:gd name="T88" fmla="*/ 672 w 689"/>
                <a:gd name="T89" fmla="*/ 121 h 638"/>
                <a:gd name="T90" fmla="*/ 580 w 689"/>
                <a:gd name="T91" fmla="*/ 21 h 638"/>
                <a:gd name="T92" fmla="*/ 515 w 689"/>
                <a:gd name="T93" fmla="*/ 16 h 638"/>
                <a:gd name="T94" fmla="*/ 493 w 689"/>
                <a:gd name="T95" fmla="*/ 34 h 638"/>
                <a:gd name="T96" fmla="*/ 457 w 689"/>
                <a:gd name="T97" fmla="*/ 44 h 638"/>
                <a:gd name="T98" fmla="*/ 390 w 689"/>
                <a:gd name="T99" fmla="*/ 36 h 638"/>
                <a:gd name="T100" fmla="*/ 274 w 689"/>
                <a:gd name="T101" fmla="*/ 67 h 638"/>
                <a:gd name="T102" fmla="*/ 139 w 689"/>
                <a:gd name="T103" fmla="*/ 171 h 638"/>
                <a:gd name="T104" fmla="*/ 203 w 689"/>
                <a:gd name="T105" fmla="*/ 222 h 638"/>
                <a:gd name="T106" fmla="*/ 301 w 689"/>
                <a:gd name="T107" fmla="*/ 161 h 638"/>
                <a:gd name="T108" fmla="*/ 346 w 689"/>
                <a:gd name="T109" fmla="*/ 158 h 638"/>
                <a:gd name="T110" fmla="*/ 408 w 689"/>
                <a:gd name="T111" fmla="*/ 165 h 638"/>
                <a:gd name="T112" fmla="*/ 449 w 689"/>
                <a:gd name="T113" fmla="*/ 177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9" h="638">
                  <a:moveTo>
                    <a:pt x="319" y="543"/>
                  </a:moveTo>
                  <a:cubicBezTo>
                    <a:pt x="302" y="529"/>
                    <a:pt x="279" y="528"/>
                    <a:pt x="262" y="538"/>
                  </a:cubicBezTo>
                  <a:cubicBezTo>
                    <a:pt x="261" y="539"/>
                    <a:pt x="259" y="539"/>
                    <a:pt x="258" y="538"/>
                  </a:cubicBezTo>
                  <a:cubicBezTo>
                    <a:pt x="257" y="537"/>
                    <a:pt x="257" y="536"/>
                    <a:pt x="257" y="535"/>
                  </a:cubicBezTo>
                  <a:cubicBezTo>
                    <a:pt x="260" y="518"/>
                    <a:pt x="255" y="500"/>
                    <a:pt x="241" y="489"/>
                  </a:cubicBezTo>
                  <a:cubicBezTo>
                    <a:pt x="241" y="489"/>
                    <a:pt x="241" y="489"/>
                    <a:pt x="241" y="489"/>
                  </a:cubicBezTo>
                  <a:cubicBezTo>
                    <a:pt x="225" y="475"/>
                    <a:pt x="202" y="473"/>
                    <a:pt x="185" y="484"/>
                  </a:cubicBezTo>
                  <a:cubicBezTo>
                    <a:pt x="183" y="485"/>
                    <a:pt x="182" y="484"/>
                    <a:pt x="181" y="484"/>
                  </a:cubicBezTo>
                  <a:cubicBezTo>
                    <a:pt x="180" y="483"/>
                    <a:pt x="180" y="482"/>
                    <a:pt x="180" y="481"/>
                  </a:cubicBezTo>
                  <a:cubicBezTo>
                    <a:pt x="183" y="464"/>
                    <a:pt x="177" y="446"/>
                    <a:pt x="164" y="435"/>
                  </a:cubicBezTo>
                  <a:cubicBezTo>
                    <a:pt x="164" y="435"/>
                    <a:pt x="164" y="435"/>
                    <a:pt x="164" y="435"/>
                  </a:cubicBezTo>
                  <a:cubicBezTo>
                    <a:pt x="150" y="423"/>
                    <a:pt x="132" y="420"/>
                    <a:pt x="117" y="425"/>
                  </a:cubicBezTo>
                  <a:cubicBezTo>
                    <a:pt x="115" y="426"/>
                    <a:pt x="114" y="425"/>
                    <a:pt x="113" y="425"/>
                  </a:cubicBezTo>
                  <a:cubicBezTo>
                    <a:pt x="112" y="424"/>
                    <a:pt x="112" y="422"/>
                    <a:pt x="113" y="421"/>
                  </a:cubicBezTo>
                  <a:cubicBezTo>
                    <a:pt x="121" y="402"/>
                    <a:pt x="116" y="379"/>
                    <a:pt x="100" y="365"/>
                  </a:cubicBezTo>
                  <a:cubicBezTo>
                    <a:pt x="100" y="365"/>
                    <a:pt x="100" y="365"/>
                    <a:pt x="100" y="365"/>
                  </a:cubicBezTo>
                  <a:cubicBezTo>
                    <a:pt x="80" y="347"/>
                    <a:pt x="49" y="350"/>
                    <a:pt x="32" y="370"/>
                  </a:cubicBezTo>
                  <a:cubicBezTo>
                    <a:pt x="18" y="386"/>
                    <a:pt x="18" y="386"/>
                    <a:pt x="18" y="386"/>
                  </a:cubicBezTo>
                  <a:cubicBezTo>
                    <a:pt x="0" y="406"/>
                    <a:pt x="2" y="437"/>
                    <a:pt x="23" y="455"/>
                  </a:cubicBezTo>
                  <a:cubicBezTo>
                    <a:pt x="23" y="455"/>
                    <a:pt x="23" y="455"/>
                    <a:pt x="23" y="455"/>
                  </a:cubicBezTo>
                  <a:cubicBezTo>
                    <a:pt x="35" y="465"/>
                    <a:pt x="51" y="469"/>
                    <a:pt x="66" y="465"/>
                  </a:cubicBezTo>
                  <a:cubicBezTo>
                    <a:pt x="68" y="465"/>
                    <a:pt x="69" y="465"/>
                    <a:pt x="70" y="466"/>
                  </a:cubicBezTo>
                  <a:cubicBezTo>
                    <a:pt x="70" y="467"/>
                    <a:pt x="70" y="469"/>
                    <a:pt x="69" y="470"/>
                  </a:cubicBezTo>
                  <a:cubicBezTo>
                    <a:pt x="54" y="490"/>
                    <a:pt x="57" y="519"/>
                    <a:pt x="76" y="536"/>
                  </a:cubicBezTo>
                  <a:cubicBezTo>
                    <a:pt x="76" y="536"/>
                    <a:pt x="76" y="536"/>
                    <a:pt x="76" y="536"/>
                  </a:cubicBezTo>
                  <a:cubicBezTo>
                    <a:pt x="95" y="553"/>
                    <a:pt x="124" y="552"/>
                    <a:pt x="142" y="534"/>
                  </a:cubicBezTo>
                  <a:cubicBezTo>
                    <a:pt x="143" y="533"/>
                    <a:pt x="144" y="533"/>
                    <a:pt x="145" y="534"/>
                  </a:cubicBezTo>
                  <a:cubicBezTo>
                    <a:pt x="147" y="534"/>
                    <a:pt x="147" y="535"/>
                    <a:pt x="147" y="537"/>
                  </a:cubicBezTo>
                  <a:cubicBezTo>
                    <a:pt x="146" y="552"/>
                    <a:pt x="151" y="568"/>
                    <a:pt x="164" y="578"/>
                  </a:cubicBezTo>
                  <a:cubicBezTo>
                    <a:pt x="164" y="578"/>
                    <a:pt x="164" y="578"/>
                    <a:pt x="164" y="578"/>
                  </a:cubicBezTo>
                  <a:cubicBezTo>
                    <a:pt x="183" y="595"/>
                    <a:pt x="212" y="594"/>
                    <a:pt x="230" y="576"/>
                  </a:cubicBezTo>
                  <a:cubicBezTo>
                    <a:pt x="231" y="575"/>
                    <a:pt x="232" y="575"/>
                    <a:pt x="233" y="576"/>
                  </a:cubicBezTo>
                  <a:cubicBezTo>
                    <a:pt x="234" y="576"/>
                    <a:pt x="235" y="577"/>
                    <a:pt x="235" y="579"/>
                  </a:cubicBezTo>
                  <a:cubicBezTo>
                    <a:pt x="233" y="594"/>
                    <a:pt x="239" y="610"/>
                    <a:pt x="252" y="621"/>
                  </a:cubicBezTo>
                  <a:cubicBezTo>
                    <a:pt x="272" y="638"/>
                    <a:pt x="303" y="636"/>
                    <a:pt x="320" y="615"/>
                  </a:cubicBezTo>
                  <a:cubicBezTo>
                    <a:pt x="324" y="611"/>
                    <a:pt x="324" y="611"/>
                    <a:pt x="324" y="611"/>
                  </a:cubicBezTo>
                  <a:cubicBezTo>
                    <a:pt x="341" y="591"/>
                    <a:pt x="339" y="560"/>
                    <a:pt x="319" y="543"/>
                  </a:cubicBezTo>
                  <a:close/>
                  <a:moveTo>
                    <a:pt x="449" y="177"/>
                  </a:moveTo>
                  <a:cubicBezTo>
                    <a:pt x="489" y="216"/>
                    <a:pt x="535" y="260"/>
                    <a:pt x="576" y="299"/>
                  </a:cubicBezTo>
                  <a:cubicBezTo>
                    <a:pt x="582" y="305"/>
                    <a:pt x="589" y="307"/>
                    <a:pt x="597" y="306"/>
                  </a:cubicBezTo>
                  <a:cubicBezTo>
                    <a:pt x="605" y="305"/>
                    <a:pt x="612" y="300"/>
                    <a:pt x="616" y="293"/>
                  </a:cubicBezTo>
                  <a:cubicBezTo>
                    <a:pt x="626" y="275"/>
                    <a:pt x="632" y="256"/>
                    <a:pt x="636" y="234"/>
                  </a:cubicBezTo>
                  <a:cubicBezTo>
                    <a:pt x="638" y="224"/>
                    <a:pt x="642" y="216"/>
                    <a:pt x="649" y="209"/>
                  </a:cubicBezTo>
                  <a:cubicBezTo>
                    <a:pt x="671" y="186"/>
                    <a:pt x="671" y="186"/>
                    <a:pt x="671" y="186"/>
                  </a:cubicBezTo>
                  <a:cubicBezTo>
                    <a:pt x="688" y="168"/>
                    <a:pt x="689" y="139"/>
                    <a:pt x="672" y="121"/>
                  </a:cubicBezTo>
                  <a:cubicBezTo>
                    <a:pt x="580" y="21"/>
                    <a:pt x="580" y="21"/>
                    <a:pt x="580" y="21"/>
                  </a:cubicBezTo>
                  <a:cubicBezTo>
                    <a:pt x="563" y="3"/>
                    <a:pt x="534" y="0"/>
                    <a:pt x="515" y="16"/>
                  </a:cubicBezTo>
                  <a:cubicBezTo>
                    <a:pt x="493" y="34"/>
                    <a:pt x="493" y="34"/>
                    <a:pt x="493" y="34"/>
                  </a:cubicBezTo>
                  <a:cubicBezTo>
                    <a:pt x="483" y="42"/>
                    <a:pt x="471" y="45"/>
                    <a:pt x="457" y="44"/>
                  </a:cubicBezTo>
                  <a:cubicBezTo>
                    <a:pt x="435" y="41"/>
                    <a:pt x="412" y="38"/>
                    <a:pt x="390" y="36"/>
                  </a:cubicBezTo>
                  <a:cubicBezTo>
                    <a:pt x="347" y="30"/>
                    <a:pt x="308" y="41"/>
                    <a:pt x="274" y="67"/>
                  </a:cubicBezTo>
                  <a:cubicBezTo>
                    <a:pt x="229" y="101"/>
                    <a:pt x="184" y="136"/>
                    <a:pt x="139" y="171"/>
                  </a:cubicBezTo>
                  <a:cubicBezTo>
                    <a:pt x="95" y="207"/>
                    <a:pt x="151" y="255"/>
                    <a:pt x="203" y="222"/>
                  </a:cubicBezTo>
                  <a:cubicBezTo>
                    <a:pt x="301" y="161"/>
                    <a:pt x="301" y="161"/>
                    <a:pt x="301" y="161"/>
                  </a:cubicBezTo>
                  <a:cubicBezTo>
                    <a:pt x="315" y="153"/>
                    <a:pt x="331" y="152"/>
                    <a:pt x="346" y="158"/>
                  </a:cubicBezTo>
                  <a:cubicBezTo>
                    <a:pt x="364" y="167"/>
                    <a:pt x="388" y="168"/>
                    <a:pt x="408" y="165"/>
                  </a:cubicBezTo>
                  <a:cubicBezTo>
                    <a:pt x="423" y="162"/>
                    <a:pt x="437" y="166"/>
                    <a:pt x="449" y="1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sp>
        <p:nvSpPr>
          <p:cNvPr id="22" name="矩形 21"/>
          <p:cNvSpPr/>
          <p:nvPr/>
        </p:nvSpPr>
        <p:spPr>
          <a:xfrm>
            <a:off x="5506258" y="2919682"/>
            <a:ext cx="1474044"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Arial"/>
                <a:ea typeface="微软雅黑"/>
                <a:cs typeface="Arial" panose="020B0604020202020204" pitchFamily="34" charset="0"/>
                <a:sym typeface="Arial"/>
              </a:rPr>
              <a:t>色彩的功能化</a:t>
            </a:r>
            <a:endParaRPr kumimoji="0" lang="zh-CN" altLang="en-US" sz="1600" b="1" i="0" u="none" strike="noStrike" kern="1200" cap="none" spc="0" normalizeH="0" baseline="0" noProof="0" dirty="0">
              <a:ln>
                <a:noFill/>
              </a:ln>
              <a:solidFill>
                <a:prstClr val="white"/>
              </a:solidFill>
              <a:effectLst/>
              <a:uLnTx/>
              <a:uFillTx/>
              <a:latin typeface="Arial"/>
              <a:ea typeface="微软雅黑"/>
              <a:cs typeface="+mn-cs"/>
              <a:sym typeface="Arial"/>
            </a:endParaRPr>
          </a:p>
        </p:txBody>
      </p:sp>
      <p:grpSp>
        <p:nvGrpSpPr>
          <p:cNvPr id="23" name="组合 22"/>
          <p:cNvGrpSpPr/>
          <p:nvPr/>
        </p:nvGrpSpPr>
        <p:grpSpPr>
          <a:xfrm>
            <a:off x="5722197" y="5596603"/>
            <a:ext cx="996157" cy="907433"/>
            <a:chOff x="4677169" y="5922786"/>
            <a:chExt cx="996157" cy="907433"/>
          </a:xfrm>
          <a:solidFill>
            <a:schemeClr val="tx1">
              <a:lumMod val="75000"/>
              <a:lumOff val="25000"/>
            </a:schemeClr>
          </a:solidFill>
        </p:grpSpPr>
        <p:sp>
          <p:nvSpPr>
            <p:cNvPr id="24" name="任意多边形 23"/>
            <p:cNvSpPr/>
            <p:nvPr/>
          </p:nvSpPr>
          <p:spPr>
            <a:xfrm>
              <a:off x="4677169" y="6215063"/>
              <a:ext cx="996157" cy="615156"/>
            </a:xfrm>
            <a:custGeom>
              <a:avLst/>
              <a:gdLst>
                <a:gd name="connsiteX0" fmla="*/ 27998 w 996157"/>
                <a:gd name="connsiteY0" fmla="*/ 0 h 615156"/>
                <a:gd name="connsiteX1" fmla="*/ 146692 w 996157"/>
                <a:gd name="connsiteY1" fmla="*/ 0 h 615156"/>
                <a:gd name="connsiteX2" fmla="*/ 392754 w 996157"/>
                <a:gd name="connsiteY2" fmla="*/ 0 h 615156"/>
                <a:gd name="connsiteX3" fmla="*/ 392112 w 996157"/>
                <a:gd name="connsiteY3" fmla="*/ 1550 h 615156"/>
                <a:gd name="connsiteX4" fmla="*/ 392112 w 996157"/>
                <a:gd name="connsiteY4" fmla="*/ 492961 h 615156"/>
                <a:gd name="connsiteX5" fmla="*/ 434140 w 996157"/>
                <a:gd name="connsiteY5" fmla="*/ 534989 h 615156"/>
                <a:gd name="connsiteX6" fmla="*/ 562015 w 996157"/>
                <a:gd name="connsiteY6" fmla="*/ 534989 h 615156"/>
                <a:gd name="connsiteX7" fmla="*/ 604043 w 996157"/>
                <a:gd name="connsiteY7" fmla="*/ 492961 h 615156"/>
                <a:gd name="connsiteX8" fmla="*/ 604043 w 996157"/>
                <a:gd name="connsiteY8" fmla="*/ 1550 h 615156"/>
                <a:gd name="connsiteX9" fmla="*/ 603401 w 996157"/>
                <a:gd name="connsiteY9" fmla="*/ 0 h 615156"/>
                <a:gd name="connsiteX10" fmla="*/ 849467 w 996157"/>
                <a:gd name="connsiteY10" fmla="*/ 0 h 615156"/>
                <a:gd name="connsiteX11" fmla="*/ 968159 w 996157"/>
                <a:gd name="connsiteY11" fmla="*/ 0 h 615156"/>
                <a:gd name="connsiteX12" fmla="*/ 996157 w 996157"/>
                <a:gd name="connsiteY12" fmla="*/ 27998 h 615156"/>
                <a:gd name="connsiteX13" fmla="*/ 996157 w 996157"/>
                <a:gd name="connsiteY13" fmla="*/ 260133 h 615156"/>
                <a:gd name="connsiteX14" fmla="*/ 968159 w 996157"/>
                <a:gd name="connsiteY14" fmla="*/ 288131 h 615156"/>
                <a:gd name="connsiteX15" fmla="*/ 909242 w 996157"/>
                <a:gd name="connsiteY15" fmla="*/ 288131 h 615156"/>
                <a:gd name="connsiteX16" fmla="*/ 909242 w 996157"/>
                <a:gd name="connsiteY16" fmla="*/ 555381 h 615156"/>
                <a:gd name="connsiteX17" fmla="*/ 849467 w 996157"/>
                <a:gd name="connsiteY17" fmla="*/ 615156 h 615156"/>
                <a:gd name="connsiteX18" fmla="*/ 146692 w 996157"/>
                <a:gd name="connsiteY18" fmla="*/ 615156 h 615156"/>
                <a:gd name="connsiteX19" fmla="*/ 86917 w 996157"/>
                <a:gd name="connsiteY19" fmla="*/ 555381 h 615156"/>
                <a:gd name="connsiteX20" fmla="*/ 86917 w 996157"/>
                <a:gd name="connsiteY20" fmla="*/ 288131 h 615156"/>
                <a:gd name="connsiteX21" fmla="*/ 27998 w 996157"/>
                <a:gd name="connsiteY21" fmla="*/ 288131 h 615156"/>
                <a:gd name="connsiteX22" fmla="*/ 0 w 996157"/>
                <a:gd name="connsiteY22" fmla="*/ 260133 h 615156"/>
                <a:gd name="connsiteX23" fmla="*/ 0 w 996157"/>
                <a:gd name="connsiteY23" fmla="*/ 27998 h 615156"/>
                <a:gd name="connsiteX24" fmla="*/ 27998 w 996157"/>
                <a:gd name="connsiteY24" fmla="*/ 0 h 61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157" h="615156">
                  <a:moveTo>
                    <a:pt x="27998" y="0"/>
                  </a:moveTo>
                  <a:lnTo>
                    <a:pt x="146692" y="0"/>
                  </a:lnTo>
                  <a:lnTo>
                    <a:pt x="392754" y="0"/>
                  </a:lnTo>
                  <a:lnTo>
                    <a:pt x="392112" y="1550"/>
                  </a:lnTo>
                  <a:lnTo>
                    <a:pt x="392112" y="492961"/>
                  </a:lnTo>
                  <a:cubicBezTo>
                    <a:pt x="392112" y="516172"/>
                    <a:pt x="410929" y="534989"/>
                    <a:pt x="434140" y="534989"/>
                  </a:cubicBezTo>
                  <a:lnTo>
                    <a:pt x="562015" y="534989"/>
                  </a:lnTo>
                  <a:cubicBezTo>
                    <a:pt x="585226" y="534989"/>
                    <a:pt x="604043" y="516172"/>
                    <a:pt x="604043" y="492961"/>
                  </a:cubicBezTo>
                  <a:lnTo>
                    <a:pt x="604043" y="1550"/>
                  </a:lnTo>
                  <a:lnTo>
                    <a:pt x="603401" y="0"/>
                  </a:lnTo>
                  <a:lnTo>
                    <a:pt x="849467" y="0"/>
                  </a:lnTo>
                  <a:lnTo>
                    <a:pt x="968159" y="0"/>
                  </a:lnTo>
                  <a:cubicBezTo>
                    <a:pt x="983622" y="0"/>
                    <a:pt x="996157" y="12535"/>
                    <a:pt x="996157" y="27998"/>
                  </a:cubicBezTo>
                  <a:lnTo>
                    <a:pt x="996157" y="260133"/>
                  </a:lnTo>
                  <a:cubicBezTo>
                    <a:pt x="996157" y="275596"/>
                    <a:pt x="983622" y="288131"/>
                    <a:pt x="968159" y="288131"/>
                  </a:cubicBezTo>
                  <a:lnTo>
                    <a:pt x="909242" y="288131"/>
                  </a:lnTo>
                  <a:lnTo>
                    <a:pt x="909242" y="555381"/>
                  </a:lnTo>
                  <a:cubicBezTo>
                    <a:pt x="909242" y="588394"/>
                    <a:pt x="882480" y="615156"/>
                    <a:pt x="849467" y="615156"/>
                  </a:cubicBezTo>
                  <a:lnTo>
                    <a:pt x="146692" y="615156"/>
                  </a:lnTo>
                  <a:cubicBezTo>
                    <a:pt x="113679" y="615156"/>
                    <a:pt x="86917" y="588394"/>
                    <a:pt x="86917" y="555381"/>
                  </a:cubicBezTo>
                  <a:lnTo>
                    <a:pt x="86917" y="288131"/>
                  </a:lnTo>
                  <a:lnTo>
                    <a:pt x="27998" y="288131"/>
                  </a:lnTo>
                  <a:cubicBezTo>
                    <a:pt x="12535" y="288131"/>
                    <a:pt x="0" y="275596"/>
                    <a:pt x="0" y="260133"/>
                  </a:cubicBezTo>
                  <a:lnTo>
                    <a:pt x="0" y="27998"/>
                  </a:lnTo>
                  <a:cubicBezTo>
                    <a:pt x="0" y="12535"/>
                    <a:pt x="12535" y="0"/>
                    <a:pt x="27998"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5" name="任意多边形 24"/>
            <p:cNvSpPr/>
            <p:nvPr/>
          </p:nvSpPr>
          <p:spPr>
            <a:xfrm rot="10168383" flipH="1">
              <a:off x="4843629" y="5922788"/>
              <a:ext cx="306974" cy="324112"/>
            </a:xfrm>
            <a:custGeom>
              <a:avLst/>
              <a:gdLst>
                <a:gd name="connsiteX0" fmla="*/ 183422 w 306974"/>
                <a:gd name="connsiteY0" fmla="*/ 225886 h 324112"/>
                <a:gd name="connsiteX1" fmla="*/ 153487 w 306974"/>
                <a:gd name="connsiteY1" fmla="*/ 231330 h 324112"/>
                <a:gd name="connsiteX2" fmla="*/ 76581 w 306974"/>
                <a:gd name="connsiteY2" fmla="*/ 162059 h 324112"/>
                <a:gd name="connsiteX3" fmla="*/ 76582 w 306974"/>
                <a:gd name="connsiteY3" fmla="*/ 162059 h 324112"/>
                <a:gd name="connsiteX4" fmla="*/ 153487 w 306974"/>
                <a:gd name="connsiteY4" fmla="*/ 92788 h 324112"/>
                <a:gd name="connsiteX5" fmla="*/ 231475 w 306974"/>
                <a:gd name="connsiteY5" fmla="*/ 91813 h 324112"/>
                <a:gd name="connsiteX6" fmla="*/ 230393 w 306974"/>
                <a:gd name="connsiteY6" fmla="*/ 162059 h 324112"/>
                <a:gd name="connsiteX7" fmla="*/ 183422 w 306974"/>
                <a:gd name="connsiteY7" fmla="*/ 225886 h 324112"/>
                <a:gd name="connsiteX8" fmla="*/ 153487 w 306974"/>
                <a:gd name="connsiteY8" fmla="*/ 324112 h 324112"/>
                <a:gd name="connsiteX9" fmla="*/ 306974 w 306974"/>
                <a:gd name="connsiteY9" fmla="*/ 162056 h 324112"/>
                <a:gd name="connsiteX10" fmla="*/ 306974 w 306974"/>
                <a:gd name="connsiteY10" fmla="*/ 0 h 324112"/>
                <a:gd name="connsiteX11" fmla="*/ 153487 w 306974"/>
                <a:gd name="connsiteY11" fmla="*/ 0 h 324112"/>
                <a:gd name="connsiteX12" fmla="*/ 0 w 306974"/>
                <a:gd name="connsiteY12" fmla="*/ 162056 h 324112"/>
                <a:gd name="connsiteX13" fmla="*/ 153487 w 306974"/>
                <a:gd name="connsiteY13" fmla="*/ 324112 h 324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6974" h="324112">
                  <a:moveTo>
                    <a:pt x="183422" y="225886"/>
                  </a:moveTo>
                  <a:cubicBezTo>
                    <a:pt x="174221" y="229392"/>
                    <a:pt x="164106" y="231330"/>
                    <a:pt x="153487" y="231330"/>
                  </a:cubicBezTo>
                  <a:cubicBezTo>
                    <a:pt x="111012" y="231330"/>
                    <a:pt x="76581" y="200316"/>
                    <a:pt x="76581" y="162059"/>
                  </a:cubicBezTo>
                  <a:lnTo>
                    <a:pt x="76582" y="162059"/>
                  </a:lnTo>
                  <a:cubicBezTo>
                    <a:pt x="76582" y="123802"/>
                    <a:pt x="111014" y="92788"/>
                    <a:pt x="153487" y="92788"/>
                  </a:cubicBezTo>
                  <a:cubicBezTo>
                    <a:pt x="179484" y="92788"/>
                    <a:pt x="205480" y="92463"/>
                    <a:pt x="231475" y="91813"/>
                  </a:cubicBezTo>
                  <a:cubicBezTo>
                    <a:pt x="230754" y="115228"/>
                    <a:pt x="230393" y="138644"/>
                    <a:pt x="230393" y="162059"/>
                  </a:cubicBezTo>
                  <a:cubicBezTo>
                    <a:pt x="230393" y="190751"/>
                    <a:pt x="211024" y="215370"/>
                    <a:pt x="183422" y="225886"/>
                  </a:cubicBezTo>
                  <a:close/>
                  <a:moveTo>
                    <a:pt x="153487" y="324112"/>
                  </a:moveTo>
                  <a:cubicBezTo>
                    <a:pt x="238256" y="324112"/>
                    <a:pt x="306974" y="251557"/>
                    <a:pt x="306974" y="162056"/>
                  </a:cubicBezTo>
                  <a:lnTo>
                    <a:pt x="306974" y="0"/>
                  </a:lnTo>
                  <a:lnTo>
                    <a:pt x="153487" y="0"/>
                  </a:lnTo>
                  <a:cubicBezTo>
                    <a:pt x="68718" y="0"/>
                    <a:pt x="0" y="72555"/>
                    <a:pt x="0" y="162056"/>
                  </a:cubicBezTo>
                  <a:cubicBezTo>
                    <a:pt x="0" y="251557"/>
                    <a:pt x="68718" y="324112"/>
                    <a:pt x="153487" y="3241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6" name="任意多边形 25"/>
            <p:cNvSpPr/>
            <p:nvPr/>
          </p:nvSpPr>
          <p:spPr>
            <a:xfrm rot="11431617">
              <a:off x="5176883" y="5922786"/>
              <a:ext cx="306974" cy="324112"/>
            </a:xfrm>
            <a:custGeom>
              <a:avLst/>
              <a:gdLst>
                <a:gd name="connsiteX0" fmla="*/ 183422 w 306974"/>
                <a:gd name="connsiteY0" fmla="*/ 225886 h 324112"/>
                <a:gd name="connsiteX1" fmla="*/ 153487 w 306974"/>
                <a:gd name="connsiteY1" fmla="*/ 231330 h 324112"/>
                <a:gd name="connsiteX2" fmla="*/ 76581 w 306974"/>
                <a:gd name="connsiteY2" fmla="*/ 162059 h 324112"/>
                <a:gd name="connsiteX3" fmla="*/ 76582 w 306974"/>
                <a:gd name="connsiteY3" fmla="*/ 162059 h 324112"/>
                <a:gd name="connsiteX4" fmla="*/ 153487 w 306974"/>
                <a:gd name="connsiteY4" fmla="*/ 92788 h 324112"/>
                <a:gd name="connsiteX5" fmla="*/ 231475 w 306974"/>
                <a:gd name="connsiteY5" fmla="*/ 91813 h 324112"/>
                <a:gd name="connsiteX6" fmla="*/ 230393 w 306974"/>
                <a:gd name="connsiteY6" fmla="*/ 162059 h 324112"/>
                <a:gd name="connsiteX7" fmla="*/ 183422 w 306974"/>
                <a:gd name="connsiteY7" fmla="*/ 225886 h 324112"/>
                <a:gd name="connsiteX8" fmla="*/ 153487 w 306974"/>
                <a:gd name="connsiteY8" fmla="*/ 324112 h 324112"/>
                <a:gd name="connsiteX9" fmla="*/ 306974 w 306974"/>
                <a:gd name="connsiteY9" fmla="*/ 162056 h 324112"/>
                <a:gd name="connsiteX10" fmla="*/ 306974 w 306974"/>
                <a:gd name="connsiteY10" fmla="*/ 0 h 324112"/>
                <a:gd name="connsiteX11" fmla="*/ 153487 w 306974"/>
                <a:gd name="connsiteY11" fmla="*/ 0 h 324112"/>
                <a:gd name="connsiteX12" fmla="*/ 0 w 306974"/>
                <a:gd name="connsiteY12" fmla="*/ 162056 h 324112"/>
                <a:gd name="connsiteX13" fmla="*/ 153487 w 306974"/>
                <a:gd name="connsiteY13" fmla="*/ 324112 h 324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6974" h="324112">
                  <a:moveTo>
                    <a:pt x="183422" y="225886"/>
                  </a:moveTo>
                  <a:cubicBezTo>
                    <a:pt x="174221" y="229392"/>
                    <a:pt x="164106" y="231330"/>
                    <a:pt x="153487" y="231330"/>
                  </a:cubicBezTo>
                  <a:cubicBezTo>
                    <a:pt x="111012" y="231330"/>
                    <a:pt x="76581" y="200316"/>
                    <a:pt x="76581" y="162059"/>
                  </a:cubicBezTo>
                  <a:lnTo>
                    <a:pt x="76582" y="162059"/>
                  </a:lnTo>
                  <a:cubicBezTo>
                    <a:pt x="76582" y="123802"/>
                    <a:pt x="111014" y="92788"/>
                    <a:pt x="153487" y="92788"/>
                  </a:cubicBezTo>
                  <a:cubicBezTo>
                    <a:pt x="179484" y="92788"/>
                    <a:pt x="205480" y="92463"/>
                    <a:pt x="231475" y="91813"/>
                  </a:cubicBezTo>
                  <a:cubicBezTo>
                    <a:pt x="230754" y="115228"/>
                    <a:pt x="230393" y="138644"/>
                    <a:pt x="230393" y="162059"/>
                  </a:cubicBezTo>
                  <a:cubicBezTo>
                    <a:pt x="230393" y="190751"/>
                    <a:pt x="211024" y="215370"/>
                    <a:pt x="183422" y="225886"/>
                  </a:cubicBezTo>
                  <a:close/>
                  <a:moveTo>
                    <a:pt x="153487" y="324112"/>
                  </a:moveTo>
                  <a:cubicBezTo>
                    <a:pt x="238256" y="324112"/>
                    <a:pt x="306974" y="251557"/>
                    <a:pt x="306974" y="162056"/>
                  </a:cubicBezTo>
                  <a:lnTo>
                    <a:pt x="306974" y="0"/>
                  </a:lnTo>
                  <a:lnTo>
                    <a:pt x="153487" y="0"/>
                  </a:lnTo>
                  <a:cubicBezTo>
                    <a:pt x="68718" y="0"/>
                    <a:pt x="0" y="72555"/>
                    <a:pt x="0" y="162056"/>
                  </a:cubicBezTo>
                  <a:cubicBezTo>
                    <a:pt x="0" y="251557"/>
                    <a:pt x="68718" y="324112"/>
                    <a:pt x="153487" y="3241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7" name="圆角矩形 26"/>
            <p:cNvSpPr/>
            <p:nvPr/>
          </p:nvSpPr>
          <p:spPr>
            <a:xfrm>
              <a:off x="4943043" y="6172201"/>
              <a:ext cx="403011" cy="6429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cxnSp>
        <p:nvCxnSpPr>
          <p:cNvPr id="28" name="直接连接符 27"/>
          <p:cNvCxnSpPr>
            <a:stCxn id="16" idx="7"/>
            <a:endCxn id="25" idx="9"/>
          </p:cNvCxnSpPr>
          <p:nvPr/>
        </p:nvCxnSpPr>
        <p:spPr>
          <a:xfrm>
            <a:off x="4814151" y="4273303"/>
            <a:ext cx="1378897" cy="14573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5" idx="7"/>
            <a:endCxn id="25" idx="9"/>
          </p:cNvCxnSpPr>
          <p:nvPr/>
        </p:nvCxnSpPr>
        <p:spPr>
          <a:xfrm>
            <a:off x="5692181" y="4408764"/>
            <a:ext cx="500867" cy="1321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265226" y="3904506"/>
            <a:ext cx="5401" cy="18261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5" idx="9"/>
          </p:cNvCxnSpPr>
          <p:nvPr/>
        </p:nvCxnSpPr>
        <p:spPr>
          <a:xfrm flipH="1">
            <a:off x="6193048" y="4279429"/>
            <a:ext cx="1343537" cy="14511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779156" y="584518"/>
            <a:ext cx="111280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00" cap="none" spc="0" normalizeH="0" baseline="0" noProof="0" dirty="0">
                <a:ln>
                  <a:noFill/>
                </a:ln>
                <a:solidFill>
                  <a:srgbClr val="482E3F"/>
                </a:solidFill>
                <a:effectLst/>
                <a:uLnTx/>
                <a:uFillTx/>
                <a:latin typeface="华文宋体" panose="02010600040101010101" pitchFamily="2" charset="-122"/>
                <a:ea typeface="宋体" panose="02010600030101010101" pitchFamily="2" charset="-122"/>
                <a:cs typeface="方正苏新诗柳楷简体-yolan" panose="02000000000000000000" pitchFamily="2" charset="-122"/>
                <a:sym typeface="Arial"/>
              </a:rPr>
              <a:t>色彩</a:t>
            </a:r>
            <a:endParaRPr kumimoji="0" lang="zh-CN" altLang="en-US" sz="3600" b="0" i="0" u="none" strike="noStrike" kern="1200" cap="none" spc="0" normalizeH="0" baseline="0" noProof="0" dirty="0">
              <a:ln>
                <a:noFill/>
              </a:ln>
              <a:solidFill>
                <a:srgbClr val="482E3F"/>
              </a:solidFill>
              <a:effectLst/>
              <a:uLnTx/>
              <a:uFillTx/>
              <a:latin typeface="Arial"/>
              <a:ea typeface="微软雅黑"/>
              <a:cs typeface="方正苏新诗柳楷简体-yolan" panose="02000000000000000000" pitchFamily="2" charset="-122"/>
              <a:sym typeface="Arial"/>
            </a:endParaRPr>
          </a:p>
        </p:txBody>
      </p:sp>
      <p:grpSp>
        <p:nvGrpSpPr>
          <p:cNvPr id="38" name="组合 37"/>
          <p:cNvGrpSpPr/>
          <p:nvPr/>
        </p:nvGrpSpPr>
        <p:grpSpPr>
          <a:xfrm>
            <a:off x="3543759" y="266849"/>
            <a:ext cx="636853" cy="393183"/>
            <a:chOff x="3610120" y="261689"/>
            <a:chExt cx="636853" cy="393183"/>
          </a:xfrm>
        </p:grpSpPr>
        <p:pic>
          <p:nvPicPr>
            <p:cNvPr id="39" name="图片 38"/>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rot="409115">
              <a:off x="3830226" y="261689"/>
              <a:ext cx="416747" cy="246260"/>
            </a:xfrm>
            <a:prstGeom prst="rect">
              <a:avLst/>
            </a:prstGeom>
          </p:spPr>
        </p:pic>
        <p:sp>
          <p:nvSpPr>
            <p:cNvPr id="40" name="Freeform 249"/>
            <p:cNvSpPr>
              <a:spLocks noEditPoints="1"/>
            </p:cNvSpPr>
            <p:nvPr userDrawn="1"/>
          </p:nvSpPr>
          <p:spPr bwMode="auto">
            <a:xfrm rot="2431720" flipH="1">
              <a:off x="3610120" y="366070"/>
              <a:ext cx="211706" cy="288802"/>
            </a:xfrm>
            <a:custGeom>
              <a:avLst/>
              <a:gdLst>
                <a:gd name="T0" fmla="*/ 82 w 239"/>
                <a:gd name="T1" fmla="*/ 301 h 301"/>
                <a:gd name="T2" fmla="*/ 64 w 239"/>
                <a:gd name="T3" fmla="*/ 298 h 301"/>
                <a:gd name="T4" fmla="*/ 8 w 239"/>
                <a:gd name="T5" fmla="*/ 212 h 301"/>
                <a:gd name="T6" fmla="*/ 100 w 239"/>
                <a:gd name="T7" fmla="*/ 162 h 301"/>
                <a:gd name="T8" fmla="*/ 153 w 239"/>
                <a:gd name="T9" fmla="*/ 182 h 301"/>
                <a:gd name="T10" fmla="*/ 44 w 239"/>
                <a:gd name="T11" fmla="*/ 17 h 301"/>
                <a:gd name="T12" fmla="*/ 53 w 239"/>
                <a:gd name="T13" fmla="*/ 47 h 301"/>
                <a:gd name="T14" fmla="*/ 51 w 239"/>
                <a:gd name="T15" fmla="*/ 52 h 301"/>
                <a:gd name="T16" fmla="*/ 46 w 239"/>
                <a:gd name="T17" fmla="*/ 50 h 301"/>
                <a:gd name="T18" fmla="*/ 34 w 239"/>
                <a:gd name="T19" fmla="*/ 11 h 301"/>
                <a:gd name="T20" fmla="*/ 33 w 239"/>
                <a:gd name="T21" fmla="*/ 8 h 301"/>
                <a:gd name="T22" fmla="*/ 34 w 239"/>
                <a:gd name="T23" fmla="*/ 3 h 301"/>
                <a:gd name="T24" fmla="*/ 36 w 239"/>
                <a:gd name="T25" fmla="*/ 3 h 301"/>
                <a:gd name="T26" fmla="*/ 44 w 239"/>
                <a:gd name="T27" fmla="*/ 0 h 301"/>
                <a:gd name="T28" fmla="*/ 81 w 239"/>
                <a:gd name="T29" fmla="*/ 6 h 301"/>
                <a:gd name="T30" fmla="*/ 80 w 239"/>
                <a:gd name="T31" fmla="*/ 14 h 301"/>
                <a:gd name="T32" fmla="*/ 47 w 239"/>
                <a:gd name="T33" fmla="*/ 9 h 301"/>
                <a:gd name="T34" fmla="*/ 161 w 239"/>
                <a:gd name="T35" fmla="*/ 187 h 301"/>
                <a:gd name="T36" fmla="*/ 239 w 239"/>
                <a:gd name="T37" fmla="*/ 288 h 301"/>
                <a:gd name="T38" fmla="*/ 236 w 239"/>
                <a:gd name="T39" fmla="*/ 293 h 301"/>
                <a:gd name="T40" fmla="*/ 231 w 239"/>
                <a:gd name="T41" fmla="*/ 291 h 301"/>
                <a:gd name="T42" fmla="*/ 161 w 239"/>
                <a:gd name="T43" fmla="*/ 197 h 301"/>
                <a:gd name="T44" fmla="*/ 149 w 239"/>
                <a:gd name="T45" fmla="*/ 252 h 301"/>
                <a:gd name="T46" fmla="*/ 82 w 239"/>
                <a:gd name="T47" fmla="*/ 301 h 301"/>
                <a:gd name="T48" fmla="*/ 79 w 239"/>
                <a:gd name="T49" fmla="*/ 168 h 301"/>
                <a:gd name="T50" fmla="*/ 16 w 239"/>
                <a:gd name="T51" fmla="*/ 214 h 301"/>
                <a:gd name="T52" fmla="*/ 66 w 239"/>
                <a:gd name="T53" fmla="*/ 291 h 301"/>
                <a:gd name="T54" fmla="*/ 141 w 239"/>
                <a:gd name="T55" fmla="*/ 249 h 301"/>
                <a:gd name="T56" fmla="*/ 153 w 239"/>
                <a:gd name="T57" fmla="*/ 191 h 301"/>
                <a:gd name="T58" fmla="*/ 99 w 239"/>
                <a:gd name="T59" fmla="*/ 170 h 301"/>
                <a:gd name="T60" fmla="*/ 79 w 239"/>
                <a:gd name="T61" fmla="*/ 168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9" h="301">
                  <a:moveTo>
                    <a:pt x="82" y="301"/>
                  </a:moveTo>
                  <a:cubicBezTo>
                    <a:pt x="76" y="301"/>
                    <a:pt x="70" y="300"/>
                    <a:pt x="64" y="298"/>
                  </a:cubicBezTo>
                  <a:cubicBezTo>
                    <a:pt x="17" y="285"/>
                    <a:pt x="0" y="245"/>
                    <a:pt x="8" y="212"/>
                  </a:cubicBezTo>
                  <a:cubicBezTo>
                    <a:pt x="15" y="180"/>
                    <a:pt x="47" y="152"/>
                    <a:pt x="100" y="162"/>
                  </a:cubicBezTo>
                  <a:cubicBezTo>
                    <a:pt x="120" y="165"/>
                    <a:pt x="137" y="173"/>
                    <a:pt x="153" y="182"/>
                  </a:cubicBezTo>
                  <a:cubicBezTo>
                    <a:pt x="148" y="130"/>
                    <a:pt x="116" y="69"/>
                    <a:pt x="44" y="17"/>
                  </a:cubicBezTo>
                  <a:cubicBezTo>
                    <a:pt x="53" y="47"/>
                    <a:pt x="53" y="47"/>
                    <a:pt x="53" y="47"/>
                  </a:cubicBezTo>
                  <a:cubicBezTo>
                    <a:pt x="54" y="49"/>
                    <a:pt x="53" y="51"/>
                    <a:pt x="51" y="52"/>
                  </a:cubicBezTo>
                  <a:cubicBezTo>
                    <a:pt x="49" y="53"/>
                    <a:pt x="46" y="52"/>
                    <a:pt x="46" y="50"/>
                  </a:cubicBezTo>
                  <a:cubicBezTo>
                    <a:pt x="41" y="41"/>
                    <a:pt x="33" y="22"/>
                    <a:pt x="34" y="11"/>
                  </a:cubicBezTo>
                  <a:cubicBezTo>
                    <a:pt x="33" y="8"/>
                    <a:pt x="33" y="8"/>
                    <a:pt x="33" y="8"/>
                  </a:cubicBezTo>
                  <a:cubicBezTo>
                    <a:pt x="32" y="6"/>
                    <a:pt x="33" y="4"/>
                    <a:pt x="34" y="3"/>
                  </a:cubicBezTo>
                  <a:cubicBezTo>
                    <a:pt x="35" y="3"/>
                    <a:pt x="35" y="3"/>
                    <a:pt x="36" y="3"/>
                  </a:cubicBezTo>
                  <a:cubicBezTo>
                    <a:pt x="37" y="1"/>
                    <a:pt x="40" y="0"/>
                    <a:pt x="44" y="0"/>
                  </a:cubicBezTo>
                  <a:cubicBezTo>
                    <a:pt x="59" y="3"/>
                    <a:pt x="81" y="6"/>
                    <a:pt x="81" y="6"/>
                  </a:cubicBezTo>
                  <a:cubicBezTo>
                    <a:pt x="80" y="14"/>
                    <a:pt x="80" y="14"/>
                    <a:pt x="80" y="14"/>
                  </a:cubicBezTo>
                  <a:cubicBezTo>
                    <a:pt x="80" y="14"/>
                    <a:pt x="62" y="11"/>
                    <a:pt x="47" y="9"/>
                  </a:cubicBezTo>
                  <a:cubicBezTo>
                    <a:pt x="125" y="66"/>
                    <a:pt x="158" y="131"/>
                    <a:pt x="161" y="187"/>
                  </a:cubicBezTo>
                  <a:cubicBezTo>
                    <a:pt x="217" y="225"/>
                    <a:pt x="238" y="287"/>
                    <a:pt x="239" y="288"/>
                  </a:cubicBezTo>
                  <a:cubicBezTo>
                    <a:pt x="239" y="290"/>
                    <a:pt x="238" y="293"/>
                    <a:pt x="236" y="293"/>
                  </a:cubicBezTo>
                  <a:cubicBezTo>
                    <a:pt x="234" y="294"/>
                    <a:pt x="232" y="293"/>
                    <a:pt x="231" y="291"/>
                  </a:cubicBezTo>
                  <a:cubicBezTo>
                    <a:pt x="231" y="290"/>
                    <a:pt x="211" y="233"/>
                    <a:pt x="161" y="197"/>
                  </a:cubicBezTo>
                  <a:cubicBezTo>
                    <a:pt x="161" y="217"/>
                    <a:pt x="156" y="236"/>
                    <a:pt x="149" y="252"/>
                  </a:cubicBezTo>
                  <a:cubicBezTo>
                    <a:pt x="134" y="283"/>
                    <a:pt x="109" y="301"/>
                    <a:pt x="82" y="301"/>
                  </a:cubicBezTo>
                  <a:close/>
                  <a:moveTo>
                    <a:pt x="79" y="168"/>
                  </a:moveTo>
                  <a:cubicBezTo>
                    <a:pt x="43" y="168"/>
                    <a:pt x="21" y="189"/>
                    <a:pt x="16" y="214"/>
                  </a:cubicBezTo>
                  <a:cubicBezTo>
                    <a:pt x="9" y="243"/>
                    <a:pt x="24" y="279"/>
                    <a:pt x="66" y="291"/>
                  </a:cubicBezTo>
                  <a:cubicBezTo>
                    <a:pt x="96" y="299"/>
                    <a:pt x="125" y="283"/>
                    <a:pt x="141" y="249"/>
                  </a:cubicBezTo>
                  <a:cubicBezTo>
                    <a:pt x="149" y="232"/>
                    <a:pt x="154" y="212"/>
                    <a:pt x="153" y="191"/>
                  </a:cubicBezTo>
                  <a:cubicBezTo>
                    <a:pt x="138" y="181"/>
                    <a:pt x="120" y="174"/>
                    <a:pt x="99" y="170"/>
                  </a:cubicBezTo>
                  <a:cubicBezTo>
                    <a:pt x="92" y="168"/>
                    <a:pt x="85" y="168"/>
                    <a:pt x="79" y="16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sp>
        <p:nvSpPr>
          <p:cNvPr id="33" name="文本框 32"/>
          <p:cNvSpPr txBox="1"/>
          <p:nvPr/>
        </p:nvSpPr>
        <p:spPr>
          <a:xfrm>
            <a:off x="8227560" y="4219970"/>
            <a:ext cx="13991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mn-cs"/>
              </a:rPr>
              <a:t>自然色</a:t>
            </a:r>
          </a:p>
        </p:txBody>
      </p:sp>
    </p:spTree>
    <p:extLst>
      <p:ext uri="{BB962C8B-B14F-4D97-AF65-F5344CB8AC3E}">
        <p14:creationId xmlns:p14="http://schemas.microsoft.com/office/powerpoint/2010/main" val="751979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500"/>
                                        <p:tgtEl>
                                          <p:spTgt spid="28"/>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anim calcmode="lin" valueType="num">
                                      <p:cBhvr>
                                        <p:cTn id="11" dur="250" fill="hold"/>
                                        <p:tgtEl>
                                          <p:spTgt spid="16"/>
                                        </p:tgtEl>
                                        <p:attrNameLst>
                                          <p:attrName>ppt_x</p:attrName>
                                        </p:attrNameLst>
                                      </p:cBhvr>
                                      <p:tavLst>
                                        <p:tav tm="0">
                                          <p:val>
                                            <p:strVal val="#ppt_x"/>
                                          </p:val>
                                        </p:tav>
                                        <p:tav tm="100000">
                                          <p:val>
                                            <p:strVal val="#ppt_x"/>
                                          </p:val>
                                        </p:tav>
                                      </p:tavLst>
                                    </p:anim>
                                    <p:anim calcmode="lin" valueType="num">
                                      <p:cBhvr>
                                        <p:cTn id="12" dur="250" fill="hold"/>
                                        <p:tgtEl>
                                          <p:spTgt spid="16"/>
                                        </p:tgtEl>
                                        <p:attrNameLst>
                                          <p:attrName>ppt_y</p:attrName>
                                        </p:attrNameLst>
                                      </p:cBhvr>
                                      <p:tavLst>
                                        <p:tav tm="0">
                                          <p:val>
                                            <p:strVal val="#ppt_y+.1"/>
                                          </p:val>
                                        </p:tav>
                                        <p:tav tm="100000">
                                          <p:val>
                                            <p:strVal val="#ppt_y"/>
                                          </p:val>
                                        </p:tav>
                                      </p:tavLst>
                                    </p:anim>
                                  </p:childTnLst>
                                </p:cTn>
                              </p:par>
                              <p:par>
                                <p:cTn id="13" presetID="22" presetClass="entr" presetSubtype="4" fill="hold" nodeType="withEffect">
                                  <p:stCondLst>
                                    <p:cond delay="10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par>
                                <p:cTn id="16" presetID="42" presetClass="entr" presetSubtype="0" fill="hold" grpId="0" nodeType="withEffect">
                                  <p:stCondLst>
                                    <p:cond delay="4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250"/>
                                        <p:tgtEl>
                                          <p:spTgt spid="15"/>
                                        </p:tgtEl>
                                      </p:cBhvr>
                                    </p:animEffect>
                                    <p:anim calcmode="lin" valueType="num">
                                      <p:cBhvr>
                                        <p:cTn id="19" dur="250" fill="hold"/>
                                        <p:tgtEl>
                                          <p:spTgt spid="15"/>
                                        </p:tgtEl>
                                        <p:attrNameLst>
                                          <p:attrName>ppt_x</p:attrName>
                                        </p:attrNameLst>
                                      </p:cBhvr>
                                      <p:tavLst>
                                        <p:tav tm="0">
                                          <p:val>
                                            <p:strVal val="#ppt_x"/>
                                          </p:val>
                                        </p:tav>
                                        <p:tav tm="100000">
                                          <p:val>
                                            <p:strVal val="#ppt_x"/>
                                          </p:val>
                                        </p:tav>
                                      </p:tavLst>
                                    </p:anim>
                                    <p:anim calcmode="lin" valueType="num">
                                      <p:cBhvr>
                                        <p:cTn id="20" dur="250" fill="hold"/>
                                        <p:tgtEl>
                                          <p:spTgt spid="15"/>
                                        </p:tgtEl>
                                        <p:attrNameLst>
                                          <p:attrName>ppt_y</p:attrName>
                                        </p:attrNameLst>
                                      </p:cBhvr>
                                      <p:tavLst>
                                        <p:tav tm="0">
                                          <p:val>
                                            <p:strVal val="#ppt_y+.1"/>
                                          </p:val>
                                        </p:tav>
                                        <p:tav tm="100000">
                                          <p:val>
                                            <p:strVal val="#ppt_y"/>
                                          </p:val>
                                        </p:tav>
                                      </p:tavLst>
                                    </p:anim>
                                  </p:childTnLst>
                                </p:cTn>
                              </p:par>
                              <p:par>
                                <p:cTn id="21" presetID="22" presetClass="entr" presetSubtype="4" fill="hold" nodeType="withEffect">
                                  <p:stCondLst>
                                    <p:cond delay="200"/>
                                  </p:stCondLst>
                                  <p:childTnLst>
                                    <p:set>
                                      <p:cBhvr>
                                        <p:cTn id="22" dur="1" fill="hold">
                                          <p:stCondLst>
                                            <p:cond delay="0"/>
                                          </p:stCondLst>
                                        </p:cTn>
                                        <p:tgtEl>
                                          <p:spTgt spid="30"/>
                                        </p:tgtEl>
                                        <p:attrNameLst>
                                          <p:attrName>style.visibility</p:attrName>
                                        </p:attrNameLst>
                                      </p:cBhvr>
                                      <p:to>
                                        <p:strVal val="visible"/>
                                      </p:to>
                                    </p:set>
                                    <p:animEffect transition="in" filter="wipe(down)">
                                      <p:cBhvr>
                                        <p:cTn id="23" dur="500"/>
                                        <p:tgtEl>
                                          <p:spTgt spid="30"/>
                                        </p:tgtEl>
                                      </p:cBhvr>
                                    </p:animEffect>
                                  </p:childTnLst>
                                </p:cTn>
                              </p:par>
                              <p:par>
                                <p:cTn id="24" presetID="42" presetClass="entr" presetSubtype="0" fill="hold" grpId="0" nodeType="withEffect">
                                  <p:stCondLst>
                                    <p:cond delay="50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250"/>
                                        <p:tgtEl>
                                          <p:spTgt spid="14"/>
                                        </p:tgtEl>
                                      </p:cBhvr>
                                    </p:animEffect>
                                    <p:anim calcmode="lin" valueType="num">
                                      <p:cBhvr>
                                        <p:cTn id="27" dur="250" fill="hold"/>
                                        <p:tgtEl>
                                          <p:spTgt spid="14"/>
                                        </p:tgtEl>
                                        <p:attrNameLst>
                                          <p:attrName>ppt_x</p:attrName>
                                        </p:attrNameLst>
                                      </p:cBhvr>
                                      <p:tavLst>
                                        <p:tav tm="0">
                                          <p:val>
                                            <p:strVal val="#ppt_x"/>
                                          </p:val>
                                        </p:tav>
                                        <p:tav tm="100000">
                                          <p:val>
                                            <p:strVal val="#ppt_x"/>
                                          </p:val>
                                        </p:tav>
                                      </p:tavLst>
                                    </p:anim>
                                    <p:anim calcmode="lin" valueType="num">
                                      <p:cBhvr>
                                        <p:cTn id="28" dur="250" fill="hold"/>
                                        <p:tgtEl>
                                          <p:spTgt spid="14"/>
                                        </p:tgtEl>
                                        <p:attrNameLst>
                                          <p:attrName>ppt_y</p:attrName>
                                        </p:attrNameLst>
                                      </p:cBhvr>
                                      <p:tavLst>
                                        <p:tav tm="0">
                                          <p:val>
                                            <p:strVal val="#ppt_y+.1"/>
                                          </p:val>
                                        </p:tav>
                                        <p:tav tm="100000">
                                          <p:val>
                                            <p:strVal val="#ppt_y"/>
                                          </p:val>
                                        </p:tav>
                                      </p:tavLst>
                                    </p:anim>
                                  </p:childTnLst>
                                </p:cTn>
                              </p:par>
                              <p:par>
                                <p:cTn id="29" presetID="22" presetClass="entr" presetSubtype="4" fill="hold" nodeType="withEffect">
                                  <p:stCondLst>
                                    <p:cond delay="400"/>
                                  </p:stCondLst>
                                  <p:childTnLst>
                                    <p:set>
                                      <p:cBhvr>
                                        <p:cTn id="30" dur="1" fill="hold">
                                          <p:stCondLst>
                                            <p:cond delay="0"/>
                                          </p:stCondLst>
                                        </p:cTn>
                                        <p:tgtEl>
                                          <p:spTgt spid="31"/>
                                        </p:tgtEl>
                                        <p:attrNameLst>
                                          <p:attrName>style.visibility</p:attrName>
                                        </p:attrNameLst>
                                      </p:cBhvr>
                                      <p:to>
                                        <p:strVal val="visible"/>
                                      </p:to>
                                    </p:set>
                                    <p:animEffect transition="in" filter="wipe(down)">
                                      <p:cBhvr>
                                        <p:cTn id="31" dur="250"/>
                                        <p:tgtEl>
                                          <p:spTgt spid="31"/>
                                        </p:tgtEl>
                                      </p:cBhvr>
                                    </p:animEffect>
                                  </p:childTnLst>
                                </p:cTn>
                              </p:par>
                              <p:par>
                                <p:cTn id="32" presetID="42" presetClass="entr" presetSubtype="0" fill="hold" grpId="0" nodeType="withEffect">
                                  <p:stCondLst>
                                    <p:cond delay="40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250"/>
                                        <p:tgtEl>
                                          <p:spTgt spid="10"/>
                                        </p:tgtEl>
                                      </p:cBhvr>
                                    </p:animEffect>
                                    <p:anim calcmode="lin" valueType="num">
                                      <p:cBhvr>
                                        <p:cTn id="35" dur="250" fill="hold"/>
                                        <p:tgtEl>
                                          <p:spTgt spid="10"/>
                                        </p:tgtEl>
                                        <p:attrNameLst>
                                          <p:attrName>ppt_x</p:attrName>
                                        </p:attrNameLst>
                                      </p:cBhvr>
                                      <p:tavLst>
                                        <p:tav tm="0">
                                          <p:val>
                                            <p:strVal val="#ppt_x"/>
                                          </p:val>
                                        </p:tav>
                                        <p:tav tm="100000">
                                          <p:val>
                                            <p:strVal val="#ppt_x"/>
                                          </p:val>
                                        </p:tav>
                                      </p:tavLst>
                                    </p:anim>
                                    <p:anim calcmode="lin" valueType="num">
                                      <p:cBhvr>
                                        <p:cTn id="36" dur="250" fill="hold"/>
                                        <p:tgtEl>
                                          <p:spTgt spid="10"/>
                                        </p:tgtEl>
                                        <p:attrNameLst>
                                          <p:attrName>ppt_y</p:attrName>
                                        </p:attrNameLst>
                                      </p:cBhvr>
                                      <p:tavLst>
                                        <p:tav tm="0">
                                          <p:val>
                                            <p:strVal val="#ppt_y+.1"/>
                                          </p:val>
                                        </p:tav>
                                        <p:tav tm="100000">
                                          <p:val>
                                            <p:strVal val="#ppt_y"/>
                                          </p:val>
                                        </p:tav>
                                      </p:tavLst>
                                    </p:anim>
                                  </p:childTnLst>
                                </p:cTn>
                              </p:par>
                              <p:par>
                                <p:cTn id="37" presetID="41" presetClass="entr" presetSubtype="0" fill="hold" grpId="0" nodeType="withEffect">
                                  <p:stCondLst>
                                    <p:cond delay="750"/>
                                  </p:stCondLst>
                                  <p:iterate type="lt">
                                    <p:tmPct val="10000"/>
                                  </p:iterate>
                                  <p:childTnLst>
                                    <p:set>
                                      <p:cBhvr>
                                        <p:cTn id="38" dur="1" fill="hold">
                                          <p:stCondLst>
                                            <p:cond delay="0"/>
                                          </p:stCondLst>
                                        </p:cTn>
                                        <p:tgtEl>
                                          <p:spTgt spid="3"/>
                                        </p:tgtEl>
                                        <p:attrNameLst>
                                          <p:attrName>style.visibility</p:attrName>
                                        </p:attrNameLst>
                                      </p:cBhvr>
                                      <p:to>
                                        <p:strVal val="visible"/>
                                      </p:to>
                                    </p:set>
                                    <p:anim calcmode="lin" valueType="num">
                                      <p:cBhvr>
                                        <p:cTn id="39" dur="25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40" dur="250" fill="hold"/>
                                        <p:tgtEl>
                                          <p:spTgt spid="3"/>
                                        </p:tgtEl>
                                        <p:attrNameLst>
                                          <p:attrName>ppt_y</p:attrName>
                                        </p:attrNameLst>
                                      </p:cBhvr>
                                      <p:tavLst>
                                        <p:tav tm="0">
                                          <p:val>
                                            <p:strVal val="#ppt_y"/>
                                          </p:val>
                                        </p:tav>
                                        <p:tav tm="100000">
                                          <p:val>
                                            <p:strVal val="#ppt_y"/>
                                          </p:val>
                                        </p:tav>
                                      </p:tavLst>
                                    </p:anim>
                                    <p:anim calcmode="lin" valueType="num">
                                      <p:cBhvr>
                                        <p:cTn id="41" dur="25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42" dur="25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43" dur="250" tmFilter="0,0; .5, 1; 1, 1"/>
                                        <p:tgtEl>
                                          <p:spTgt spid="3"/>
                                        </p:tgtEl>
                                      </p:cBhvr>
                                    </p:animEffect>
                                  </p:childTnLst>
                                </p:cTn>
                              </p:par>
                              <p:par>
                                <p:cTn id="44" presetID="41" presetClass="entr" presetSubtype="0" fill="hold" grpId="0" nodeType="withEffect">
                                  <p:stCondLst>
                                    <p:cond delay="750"/>
                                  </p:stCondLst>
                                  <p:iterate type="lt">
                                    <p:tmPct val="10000"/>
                                  </p:iterate>
                                  <p:childTnLst>
                                    <p:set>
                                      <p:cBhvr>
                                        <p:cTn id="45" dur="1" fill="hold">
                                          <p:stCondLst>
                                            <p:cond delay="0"/>
                                          </p:stCondLst>
                                        </p:cTn>
                                        <p:tgtEl>
                                          <p:spTgt spid="5"/>
                                        </p:tgtEl>
                                        <p:attrNameLst>
                                          <p:attrName>style.visibility</p:attrName>
                                        </p:attrNameLst>
                                      </p:cBhvr>
                                      <p:to>
                                        <p:strVal val="visible"/>
                                      </p:to>
                                    </p:set>
                                    <p:anim calcmode="lin" valueType="num">
                                      <p:cBhvr>
                                        <p:cTn id="46" dur="25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47" dur="250" fill="hold"/>
                                        <p:tgtEl>
                                          <p:spTgt spid="5"/>
                                        </p:tgtEl>
                                        <p:attrNameLst>
                                          <p:attrName>ppt_y</p:attrName>
                                        </p:attrNameLst>
                                      </p:cBhvr>
                                      <p:tavLst>
                                        <p:tav tm="0">
                                          <p:val>
                                            <p:strVal val="#ppt_y"/>
                                          </p:val>
                                        </p:tav>
                                        <p:tav tm="100000">
                                          <p:val>
                                            <p:strVal val="#ppt_y"/>
                                          </p:val>
                                        </p:tav>
                                      </p:tavLst>
                                    </p:anim>
                                    <p:anim calcmode="lin" valueType="num">
                                      <p:cBhvr>
                                        <p:cTn id="48" dur="25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49" dur="25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50" dur="250" tmFilter="0,0; .5, 1; 1, 1"/>
                                        <p:tgtEl>
                                          <p:spTgt spid="5"/>
                                        </p:tgtEl>
                                      </p:cBhvr>
                                    </p:animEffect>
                                  </p:childTnLst>
                                </p:cTn>
                              </p:par>
                              <p:par>
                                <p:cTn id="51" presetID="41" presetClass="entr" presetSubtype="0" fill="hold" grpId="0" nodeType="withEffect">
                                  <p:stCondLst>
                                    <p:cond delay="750"/>
                                  </p:stCondLst>
                                  <p:iterate type="lt">
                                    <p:tmPct val="10000"/>
                                  </p:iterate>
                                  <p:childTnLst>
                                    <p:set>
                                      <p:cBhvr>
                                        <p:cTn id="52" dur="1" fill="hold">
                                          <p:stCondLst>
                                            <p:cond delay="0"/>
                                          </p:stCondLst>
                                        </p:cTn>
                                        <p:tgtEl>
                                          <p:spTgt spid="9"/>
                                        </p:tgtEl>
                                        <p:attrNameLst>
                                          <p:attrName>style.visibility</p:attrName>
                                        </p:attrNameLst>
                                      </p:cBhvr>
                                      <p:to>
                                        <p:strVal val="visible"/>
                                      </p:to>
                                    </p:set>
                                    <p:anim calcmode="lin" valueType="num">
                                      <p:cBhvr>
                                        <p:cTn id="53" dur="25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54" dur="250" fill="hold"/>
                                        <p:tgtEl>
                                          <p:spTgt spid="9"/>
                                        </p:tgtEl>
                                        <p:attrNameLst>
                                          <p:attrName>ppt_y</p:attrName>
                                        </p:attrNameLst>
                                      </p:cBhvr>
                                      <p:tavLst>
                                        <p:tav tm="0">
                                          <p:val>
                                            <p:strVal val="#ppt_y"/>
                                          </p:val>
                                        </p:tav>
                                        <p:tav tm="100000">
                                          <p:val>
                                            <p:strVal val="#ppt_y"/>
                                          </p:val>
                                        </p:tav>
                                      </p:tavLst>
                                    </p:anim>
                                    <p:anim calcmode="lin" valueType="num">
                                      <p:cBhvr>
                                        <p:cTn id="55" dur="25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56" dur="25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57" dur="250" tmFilter="0,0; .5, 1; 1, 1"/>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p:bldP spid="10"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73715" y="2193277"/>
            <a:ext cx="8196549" cy="1806648"/>
          </a:xfrm>
          <a:prstGeom prst="rect">
            <a:avLst/>
          </a:prstGeom>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和价值世界相对，具有强烈的情感和道德象征</a:t>
            </a:r>
            <a:endParaRPr kumimoji="0" lang="en-US" altLang="zh-CN" sz="1600" b="0" i="0" u="none" strike="noStrike" kern="120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黑白灰零程度的颜色更表现尊严、压抑、道德地位的典范</a:t>
            </a:r>
            <a:endParaRPr kumimoji="0" lang="en-US" altLang="zh-CN" sz="2400" b="0" i="0" u="none" strike="noStrike" kern="120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色彩被使用在实用功能方面非常保守</a:t>
            </a:r>
            <a:endParaRPr kumimoji="0" lang="en-US" altLang="zh-CN" sz="2400" b="0" i="0" u="none" strike="noStrike" kern="120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endParaRPr>
          </a:p>
        </p:txBody>
      </p:sp>
      <p:sp>
        <p:nvSpPr>
          <p:cNvPr id="4" name="矩形 3"/>
          <p:cNvSpPr/>
          <p:nvPr/>
        </p:nvSpPr>
        <p:spPr>
          <a:xfrm>
            <a:off x="983628" y="1188900"/>
            <a:ext cx="2749471"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色彩</a:t>
            </a:r>
            <a:r>
              <a:rPr kumimoji="0" lang="zh-CN" altLang="en-US" sz="24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在传统社会</a:t>
            </a:r>
            <a:endParaRPr kumimoji="0" lang="zh-CN" altLang="en-US" sz="2400" b="0" i="0" u="none" strike="noStrike" kern="0" cap="none" spc="0" normalizeH="0" baseline="0" noProof="0" dirty="0">
              <a:ln>
                <a:noFill/>
              </a:ln>
              <a:solidFill>
                <a:sysClr val="windowText" lastClr="000000"/>
              </a:solidFill>
              <a:effectLst/>
              <a:uLnTx/>
              <a:uFillTx/>
              <a:latin typeface="Arial"/>
              <a:ea typeface="微软雅黑"/>
              <a:cs typeface="+mn-cs"/>
            </a:endParaRPr>
          </a:p>
        </p:txBody>
      </p:sp>
    </p:spTree>
    <p:extLst>
      <p:ext uri="{BB962C8B-B14F-4D97-AF65-F5344CB8AC3E}">
        <p14:creationId xmlns:p14="http://schemas.microsoft.com/office/powerpoint/2010/main" val="2741397812"/>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63546" y="2113232"/>
            <a:ext cx="9827046" cy="1862048"/>
          </a:xfrm>
          <a:prstGeom prst="rect">
            <a:avLst/>
          </a:prstGeom>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在</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工业生产中获得功能性的解放用了很长时间</a:t>
            </a:r>
            <a:r>
              <a:rPr kumimoji="0" lang="zh-CN" altLang="en-US" sz="16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（以汽车为例）</a:t>
            </a:r>
            <a:endParaRPr kumimoji="0" lang="zh-CN" altLang="zh-CN" sz="1600" b="0" i="0" u="none" strike="noStrike" kern="100" cap="none" spc="0" normalizeH="0" baseline="0" noProof="0" dirty="0">
              <a:ln>
                <a:noFill/>
              </a:ln>
              <a:solidFill>
                <a:srgbClr val="660033"/>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色彩以本来的面目出现的时候，很快便被视作具有侵略性</a:t>
            </a:r>
            <a:endPar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现代性把色彩和外形解体一起颂扬</a:t>
            </a:r>
            <a:endPar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C00000"/>
                </a:solidFill>
                <a:effectLst/>
                <a:uLnTx/>
                <a:uFillTx/>
                <a:latin typeface="华文宋体" panose="02010600040101010101" pitchFamily="2" charset="-122"/>
                <a:ea typeface="宋体" panose="02010600030101010101" pitchFamily="2" charset="-122"/>
                <a:cs typeface="华文宋体" panose="02010600040101010101" pitchFamily="2" charset="-122"/>
              </a:rPr>
              <a:t>色彩被当作纯粹功能性的东西：</a:t>
            </a:r>
            <a:r>
              <a:rPr kumimoji="0" lang="zh-CN" altLang="en-US" sz="1600" b="0" i="0" u="none" strike="noStrike" kern="100" cap="none" spc="0" normalizeH="0" baseline="0" noProof="0" dirty="0">
                <a:ln>
                  <a:noFill/>
                </a:ln>
                <a:solidFill>
                  <a:srgbClr val="C00000"/>
                </a:solidFill>
                <a:effectLst/>
                <a:uLnTx/>
                <a:uFillTx/>
                <a:latin typeface="华文宋体" panose="02010600040101010101" pitchFamily="2" charset="-122"/>
                <a:ea typeface="宋体" panose="02010600030101010101" pitchFamily="2" charset="-122"/>
                <a:cs typeface="华文宋体" panose="02010600040101010101" pitchFamily="2" charset="-122"/>
              </a:rPr>
              <a:t>京东和浦发银行的门店用色</a:t>
            </a:r>
            <a:endParaRPr kumimoji="0" lang="en-US" altLang="zh-CN" sz="1600" b="0" i="0" u="none" strike="noStrike" kern="100" cap="none" spc="0" normalizeH="0" baseline="0" noProof="0" dirty="0">
              <a:ln>
                <a:noFill/>
              </a:ln>
              <a:solidFill>
                <a:srgbClr val="C00000"/>
              </a:solidFill>
              <a:effectLst/>
              <a:uLnTx/>
              <a:uFillTx/>
              <a:latin typeface="华文宋体" panose="02010600040101010101" pitchFamily="2" charset="-122"/>
              <a:ea typeface="宋体" panose="02010600030101010101" pitchFamily="2" charset="-122"/>
              <a:cs typeface="华文宋体" panose="02010600040101010101" pitchFamily="2" charset="-122"/>
            </a:endParaRPr>
          </a:p>
        </p:txBody>
      </p:sp>
      <p:sp>
        <p:nvSpPr>
          <p:cNvPr id="3" name="矩形 2"/>
          <p:cNvSpPr/>
          <p:nvPr/>
        </p:nvSpPr>
        <p:spPr>
          <a:xfrm>
            <a:off x="979492" y="1193446"/>
            <a:ext cx="2492990"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色彩的解放</a:t>
            </a:r>
            <a:endParaRPr kumimoji="0" lang="zh-CN" altLang="en-US" sz="36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mn-cs"/>
            </a:endParaRPr>
          </a:p>
        </p:txBody>
      </p:sp>
      <p:pic>
        <p:nvPicPr>
          <p:cNvPr id="4" name="图片 3"/>
          <p:cNvPicPr>
            <a:picLocks noChangeAspect="1"/>
          </p:cNvPicPr>
          <p:nvPr/>
        </p:nvPicPr>
        <p:blipFill>
          <a:blip r:embed="rId2"/>
          <a:stretch>
            <a:fillRect/>
          </a:stretch>
        </p:blipFill>
        <p:spPr>
          <a:xfrm>
            <a:off x="481069" y="4382904"/>
            <a:ext cx="11259375" cy="924624"/>
          </a:xfrm>
          <a:prstGeom prst="rect">
            <a:avLst/>
          </a:prstGeom>
        </p:spPr>
      </p:pic>
      <p:sp>
        <p:nvSpPr>
          <p:cNvPr id="5" name="文本框 4"/>
          <p:cNvSpPr txBox="1"/>
          <p:nvPr/>
        </p:nvSpPr>
        <p:spPr>
          <a:xfrm>
            <a:off x="3751703" y="1422507"/>
            <a:ext cx="45609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微软雅黑"/>
                <a:cs typeface="+mn-cs"/>
              </a:rPr>
              <a:t>红色：从仪式和道德中解放出来</a:t>
            </a:r>
          </a:p>
        </p:txBody>
      </p:sp>
    </p:spTree>
    <p:extLst>
      <p:ext uri="{BB962C8B-B14F-4D97-AF65-F5344CB8AC3E}">
        <p14:creationId xmlns:p14="http://schemas.microsoft.com/office/powerpoint/2010/main" val="4028138515"/>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4352" y="2147228"/>
            <a:ext cx="9848111" cy="2156488"/>
          </a:xfrm>
          <a:prstGeom prst="rect">
            <a:avLst/>
          </a:prstGeom>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鲜艳的色彩总是被当作生活经历中，摆脱束缚的记号</a:t>
            </a:r>
            <a:endParaRPr kumimoji="0" lang="zh-CN" altLang="zh-CN" sz="2400" b="0" i="0" u="none" strike="noStrike" kern="100" cap="none" spc="0" normalizeH="0" baseline="0" noProof="0" dirty="0">
              <a:ln>
                <a:noFill/>
              </a:ln>
              <a:solidFill>
                <a:srgbClr val="660033"/>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在流行品的色彩中常常是</a:t>
            </a: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俗艳</a:t>
            </a: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的色彩占据上风</a:t>
            </a:r>
            <a:endPar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用来补偿最基本的品质上的缺陷</a:t>
            </a:r>
            <a:r>
              <a:rPr kumimoji="0" lang="zh-CN" altLang="en-US" sz="16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（特别是空间的匮乏）</a:t>
            </a:r>
            <a:endParaRPr kumimoji="0" lang="en-US" altLang="zh-CN" sz="16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成为</a:t>
            </a:r>
            <a:r>
              <a:rPr kumimoji="0" lang="zh-CN" altLang="en-US"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解放</a:t>
            </a:r>
            <a:r>
              <a:rPr kumimoji="0" lang="zh-CN" altLang="en-US"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代表后，拿给人看和使用的</a:t>
            </a:r>
            <a:r>
              <a:rPr kumimoji="0" lang="en-US"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自由</a:t>
            </a:r>
            <a:r>
              <a:rPr kumimoji="0" lang="en-US"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，不是给人生活的</a:t>
            </a:r>
            <a:endParaRPr kumimoji="0" lang="en-US" altLang="zh-CN" sz="2400" b="1"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0" marR="0" lvl="0" indent="0" algn="just" defTabSz="914400" rtl="0" eaLnBrk="1" fontAlgn="auto" latinLnBrk="0" hangingPunct="1">
              <a:lnSpc>
                <a:spcPct val="90000"/>
              </a:lnSpc>
              <a:spcBef>
                <a:spcPts val="1000"/>
              </a:spcBef>
              <a:spcAft>
                <a:spcPts val="0"/>
              </a:spcAft>
              <a:buClrTx/>
              <a:buSzTx/>
              <a:buFontTx/>
              <a:buNone/>
              <a:tabLst/>
              <a:defRPr/>
            </a:pPr>
            <a:r>
              <a:rPr kumimoji="0" lang="zh-CN" altLang="en-US" sz="16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Times New Roman" panose="02020603050405020304" pitchFamily="18" charset="0"/>
              </a:rPr>
              <a:t>    包豪斯风格的椅子：皮质、宽阔的工业风  颜色的弥补</a:t>
            </a:r>
            <a:endParaRPr kumimoji="0" lang="zh-CN" altLang="zh-CN" sz="1600" b="0" i="0" u="none" strike="noStrike" kern="100" cap="none" spc="0" normalizeH="0" baseline="0" noProof="0" dirty="0">
              <a:ln>
                <a:noFill/>
              </a:ln>
              <a:solidFill>
                <a:srgbClr val="660033"/>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1060224" y="1166866"/>
            <a:ext cx="480131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色彩的功能化</a:t>
            </a:r>
            <a:r>
              <a:rPr kumimoji="0" lang="zh-CN" altLang="en-US" sz="16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（弥补空间和材质）</a:t>
            </a:r>
            <a:endParaRPr kumimoji="0" lang="zh-CN" altLang="en-US" sz="1600" b="0" i="0" u="none" strike="noStrike" kern="0" cap="none" spc="0" normalizeH="0" baseline="0" noProof="0" dirty="0">
              <a:ln>
                <a:noFill/>
              </a:ln>
              <a:solidFill>
                <a:sysClr val="windowText" lastClr="000000"/>
              </a:solidFill>
              <a:effectLst/>
              <a:uLnTx/>
              <a:uFillTx/>
              <a:latin typeface="Arial"/>
              <a:ea typeface="微软雅黑"/>
              <a:cs typeface="+mn-cs"/>
            </a:endParaRPr>
          </a:p>
        </p:txBody>
      </p:sp>
      <p:pic>
        <p:nvPicPr>
          <p:cNvPr id="4" name="图片 3"/>
          <p:cNvPicPr>
            <a:picLocks noChangeAspect="1"/>
          </p:cNvPicPr>
          <p:nvPr/>
        </p:nvPicPr>
        <p:blipFill>
          <a:blip r:embed="rId2"/>
          <a:stretch>
            <a:fillRect/>
          </a:stretch>
        </p:blipFill>
        <p:spPr>
          <a:xfrm>
            <a:off x="7113721" y="4322968"/>
            <a:ext cx="4555695" cy="2217008"/>
          </a:xfrm>
          <a:prstGeom prst="rect">
            <a:avLst/>
          </a:prstGeom>
        </p:spPr>
      </p:pic>
    </p:spTree>
    <p:extLst>
      <p:ext uri="{BB962C8B-B14F-4D97-AF65-F5344CB8AC3E}">
        <p14:creationId xmlns:p14="http://schemas.microsoft.com/office/powerpoint/2010/main" val="2613991733"/>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1887" y="2114177"/>
            <a:ext cx="11465168" cy="3372205"/>
          </a:xfrm>
          <a:prstGeom prst="rect">
            <a:avLst/>
          </a:prstGeom>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色彩发展被要求</a:t>
            </a: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自然</a:t>
            </a: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大地色系、莫兰迪色系</a:t>
            </a: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Times New Roman" panose="02020603050405020304" pitchFamily="18" charset="0"/>
              </a:rPr>
              <a:t>自然的颜色是帮助永远无法回归自然的物品呈现出“自然”</a:t>
            </a:r>
            <a:endPar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C00000"/>
                </a:solidFill>
                <a:effectLst/>
                <a:uLnTx/>
                <a:uFillTx/>
                <a:latin typeface="华文宋体" panose="02010600040101010101" pitchFamily="2" charset="-122"/>
                <a:ea typeface="宋体" panose="02010600030101010101" pitchFamily="2" charset="-122"/>
                <a:cs typeface="华文宋体" panose="02010600040101010101" pitchFamily="2" charset="-122"/>
              </a:rPr>
              <a:t>假期</a:t>
            </a: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是自然的拟像，扮演了现代生活的范式，自然环境的替代物其实是假期的世界        </a:t>
            </a:r>
            <a:endPar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0" marR="0" lvl="0" indent="0" algn="just" defTabSz="914400" rtl="0" eaLnBrk="1" fontAlgn="auto" latinLnBrk="0" hangingPunct="1">
              <a:lnSpc>
                <a:spcPct val="90000"/>
              </a:lnSpc>
              <a:spcBef>
                <a:spcPts val="1000"/>
              </a:spcBef>
              <a:spcAft>
                <a:spcPts val="0"/>
              </a:spcAft>
              <a:buClrTx/>
              <a:buSzTx/>
              <a:buFontTx/>
              <a:buNone/>
              <a:tabLst/>
              <a:defRPr/>
            </a:pP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                                                                                                     </a:t>
            </a:r>
            <a:r>
              <a:rPr kumimoji="0" lang="zh-CN" altLang="en-US" sz="16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人失去忍耐无效率和意外及偶然的能力</a:t>
            </a:r>
            <a:endParaRPr kumimoji="0" lang="en-US" altLang="zh-CN" sz="16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被</a:t>
            </a: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自然</a:t>
            </a:r>
            <a:r>
              <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色系</a:t>
            </a: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的物品</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短暂用途因符合假期自然拟像的需求被接纳和肯定</a:t>
            </a:r>
            <a:endPar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人开始把家移进</a:t>
            </a: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自然</a:t>
            </a: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a:t>
            </a:r>
            <a:r>
              <a:rPr kumimoji="0" lang="zh-CN"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，结果却是休闲的价值和自然的理念被移入家中</a:t>
            </a:r>
            <a:endParaRPr kumimoji="0" lang="en-US" altLang="zh-CN"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endParaRPr>
          </a:p>
          <a:p>
            <a:pPr marL="0" marR="0" lvl="0" indent="0" algn="just" defTabSz="914400" rtl="0" eaLnBrk="1" fontAlgn="auto" latinLnBrk="0" hangingPunct="1">
              <a:lnSpc>
                <a:spcPct val="90000"/>
              </a:lnSpc>
              <a:spcBef>
                <a:spcPts val="1000"/>
              </a:spcBef>
              <a:spcAft>
                <a:spcPts val="0"/>
              </a:spcAft>
              <a:buClrTx/>
              <a:buSzTx/>
              <a:buFontTx/>
              <a:buNone/>
              <a:tabLst/>
              <a:defRPr/>
            </a:pPr>
            <a:r>
              <a:rPr kumimoji="0" lang="zh-CN" altLang="en-US" sz="1400" b="0" i="0" u="none" strike="noStrike" kern="100" cap="none" spc="0" normalizeH="0" baseline="0" noProof="0" dirty="0">
                <a:ln>
                  <a:noFill/>
                </a:ln>
                <a:solidFill>
                  <a:srgbClr val="FF0000"/>
                </a:solidFill>
                <a:effectLst/>
                <a:uLnTx/>
                <a:uFillTx/>
                <a:latin typeface="华文宋体" panose="02010600040101010101" pitchFamily="2" charset="-122"/>
                <a:ea typeface="宋体" panose="02010600030101010101" pitchFamily="2" charset="-122"/>
                <a:cs typeface="Times New Roman" panose="02020603050405020304" pitchFamily="18" charset="0"/>
              </a:rPr>
              <a:t>                                                                                                                                                                     草编织收纳和棉麻手袋</a:t>
            </a:r>
            <a:endParaRPr kumimoji="0" lang="en-US" altLang="zh-CN" sz="1400" b="0" i="0" u="none" strike="noStrike" kern="100" cap="none" spc="0" normalizeH="0" baseline="0" noProof="0" dirty="0">
              <a:ln>
                <a:noFill/>
              </a:ln>
              <a:solidFill>
                <a:srgbClr val="FF0000"/>
              </a:solidFill>
              <a:effectLst/>
              <a:uLnTx/>
              <a:uFillTx/>
              <a:latin typeface="华文宋体" panose="02010600040101010101" pitchFamily="2" charset="-122"/>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FontTx/>
              <a:buNone/>
              <a:tabLst/>
              <a:defRPr/>
            </a:pPr>
            <a:r>
              <a:rPr kumimoji="0" lang="zh-CN" altLang="en-US" sz="1400" b="0" i="0" u="none" strike="noStrike" kern="100" cap="none" spc="0" normalizeH="0" baseline="0" noProof="0" dirty="0">
                <a:ln>
                  <a:noFill/>
                </a:ln>
                <a:solidFill>
                  <a:srgbClr val="FF0000"/>
                </a:solidFill>
                <a:effectLst/>
                <a:uLnTx/>
                <a:uFillTx/>
                <a:latin typeface="华文宋体" panose="02010600040101010101" pitchFamily="2" charset="-122"/>
                <a:ea typeface="宋体" panose="02010600030101010101" pitchFamily="2" charset="-122"/>
                <a:cs typeface="Times New Roman" panose="02020603050405020304" pitchFamily="18" charset="0"/>
              </a:rPr>
              <a:t>色彩的“函数”</a:t>
            </a:r>
            <a:r>
              <a:rPr kumimoji="0" lang="en-US" altLang="zh-CN" sz="1400" b="0" i="0" u="none" strike="noStrike" kern="100" cap="none" spc="0" normalizeH="0" baseline="0" noProof="0" dirty="0">
                <a:ln>
                  <a:noFill/>
                </a:ln>
                <a:solidFill>
                  <a:srgbClr val="FF0000"/>
                </a:solidFill>
                <a:effectLst/>
                <a:uLnTx/>
                <a:uFillTx/>
                <a:latin typeface="华文宋体" panose="02010600040101010101" pitchFamily="2" charset="-122"/>
                <a:ea typeface="宋体" panose="02010600030101010101" pitchFamily="2" charset="-122"/>
                <a:cs typeface="Times New Roman" panose="02020603050405020304" pitchFamily="18" charset="0"/>
              </a:rPr>
              <a:t>P38</a:t>
            </a:r>
            <a:endParaRPr kumimoji="0" lang="zh-CN" altLang="zh-CN" sz="1400" b="0" i="0" u="none" strike="noStrike" kern="1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534023" y="1199917"/>
            <a:ext cx="480131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功能化</a:t>
            </a:r>
            <a:r>
              <a:rPr kumimoji="0" lang="en-US" altLang="zh-CN" sz="36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a:t>
            </a:r>
            <a:r>
              <a:rPr kumimoji="0" lang="zh-CN" altLang="en-US" sz="20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n-cs"/>
              </a:rPr>
              <a:t>以“自然”色彩为例</a:t>
            </a:r>
            <a:endParaRPr kumimoji="0" lang="zh-CN" altLang="en-US" sz="2000" b="0" i="0" u="none" strike="noStrike" kern="0" cap="none" spc="0" normalizeH="0" baseline="0" noProof="0" dirty="0">
              <a:ln>
                <a:noFill/>
              </a:ln>
              <a:solidFill>
                <a:sysClr val="windowText" lastClr="000000"/>
              </a:solidFill>
              <a:effectLst/>
              <a:uLnTx/>
              <a:uFillTx/>
              <a:latin typeface="Arial"/>
              <a:ea typeface="微软雅黑"/>
              <a:cs typeface="+mn-cs"/>
            </a:endParaRPr>
          </a:p>
        </p:txBody>
      </p:sp>
    </p:spTree>
    <p:extLst>
      <p:ext uri="{BB962C8B-B14F-4D97-AF65-F5344CB8AC3E}">
        <p14:creationId xmlns:p14="http://schemas.microsoft.com/office/powerpoint/2010/main" val="3677538262"/>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91408" y="112876"/>
            <a:ext cx="3251835" cy="5781040"/>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0044" y="112876"/>
            <a:ext cx="3640455" cy="6471920"/>
          </a:xfrm>
          <a:prstGeom prst="rect">
            <a:avLst/>
          </a:prstGeom>
        </p:spPr>
      </p:pic>
    </p:spTree>
    <p:extLst>
      <p:ext uri="{BB962C8B-B14F-4D97-AF65-F5344CB8AC3E}">
        <p14:creationId xmlns:p14="http://schemas.microsoft.com/office/powerpoint/2010/main" val="187988791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E92ABEBC-B3DB-3FAE-CE7F-48DC7702B76D}"/>
              </a:ext>
            </a:extLst>
          </p:cNvPr>
          <p:cNvPicPr>
            <a:picLocks noChangeAspect="1"/>
          </p:cNvPicPr>
          <p:nvPr/>
        </p:nvPicPr>
        <p:blipFill>
          <a:blip r:embed="rId2"/>
          <a:stretch>
            <a:fillRect/>
          </a:stretch>
        </p:blipFill>
        <p:spPr>
          <a:xfrm>
            <a:off x="509364" y="5412757"/>
            <a:ext cx="11482164" cy="1022997"/>
          </a:xfrm>
          <a:prstGeom prst="rect">
            <a:avLst/>
          </a:prstGeom>
        </p:spPr>
      </p:pic>
      <p:pic>
        <p:nvPicPr>
          <p:cNvPr id="8" name="内容占位符 7">
            <a:extLst>
              <a:ext uri="{FF2B5EF4-FFF2-40B4-BE49-F238E27FC236}">
                <a16:creationId xmlns:a16="http://schemas.microsoft.com/office/drawing/2014/main" id="{B876E2E8-DA30-14A9-6965-0D0CF386EDE0}"/>
              </a:ext>
            </a:extLst>
          </p:cNvPr>
          <p:cNvPicPr>
            <a:picLocks noGrp="1" noChangeAspect="1"/>
          </p:cNvPicPr>
          <p:nvPr>
            <p:ph idx="1"/>
          </p:nvPr>
        </p:nvPicPr>
        <p:blipFill>
          <a:blip r:embed="rId3"/>
          <a:stretch>
            <a:fillRect/>
          </a:stretch>
        </p:blipFill>
        <p:spPr>
          <a:xfrm>
            <a:off x="920552" y="422245"/>
            <a:ext cx="10623074" cy="4726625"/>
          </a:xfrm>
          <a:prstGeom prst="rect">
            <a:avLst/>
          </a:prstGeom>
        </p:spPr>
      </p:pic>
      <p:sp>
        <p:nvSpPr>
          <p:cNvPr id="2" name="文本框 1">
            <a:extLst>
              <a:ext uri="{FF2B5EF4-FFF2-40B4-BE49-F238E27FC236}">
                <a16:creationId xmlns:a16="http://schemas.microsoft.com/office/drawing/2014/main" id="{0F87F14E-5D1C-CC5B-0FA5-2CFF6A4642BE}"/>
              </a:ext>
            </a:extLst>
          </p:cNvPr>
          <p:cNvSpPr txBox="1"/>
          <p:nvPr/>
        </p:nvSpPr>
        <p:spPr>
          <a:xfrm>
            <a:off x="5928258" y="5096148"/>
            <a:ext cx="158332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微软雅黑"/>
                <a:cs typeface="+mn-cs"/>
              </a:rPr>
              <a:t>生产的强制</a:t>
            </a:r>
          </a:p>
        </p:txBody>
      </p:sp>
      <p:sp>
        <p:nvSpPr>
          <p:cNvPr id="3" name="文本框 2">
            <a:extLst>
              <a:ext uri="{FF2B5EF4-FFF2-40B4-BE49-F238E27FC236}">
                <a16:creationId xmlns:a16="http://schemas.microsoft.com/office/drawing/2014/main" id="{202CF655-928A-3A09-6744-5C7DE8973EDB}"/>
              </a:ext>
            </a:extLst>
          </p:cNvPr>
          <p:cNvSpPr txBox="1"/>
          <p:nvPr/>
        </p:nvSpPr>
        <p:spPr>
          <a:xfrm>
            <a:off x="5406619" y="6295914"/>
            <a:ext cx="23872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微软雅黑"/>
                <a:cs typeface="+mn-cs"/>
              </a:rPr>
              <a:t>       仿真的消费</a:t>
            </a:r>
          </a:p>
        </p:txBody>
      </p:sp>
    </p:spTree>
    <p:extLst>
      <p:ext uri="{BB962C8B-B14F-4D97-AF65-F5344CB8AC3E}">
        <p14:creationId xmlns:p14="http://schemas.microsoft.com/office/powerpoint/2010/main" val="1067757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29766" y="2412984"/>
            <a:ext cx="2009114"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5B9BD5">
                    <a:lumMod val="50000"/>
                  </a:srgbClr>
                </a:solidFill>
                <a:effectLst/>
                <a:uLnTx/>
                <a:uFillTx/>
                <a:latin typeface="Arial"/>
                <a:ea typeface="微软雅黑"/>
                <a:cs typeface="+mn-cs"/>
                <a:sym typeface="Arial"/>
              </a:rPr>
              <a:t>材质</a:t>
            </a:r>
          </a:p>
        </p:txBody>
      </p:sp>
      <p:sp>
        <p:nvSpPr>
          <p:cNvPr id="5" name="矩形 4"/>
          <p:cNvSpPr/>
          <p:nvPr/>
        </p:nvSpPr>
        <p:spPr>
          <a:xfrm>
            <a:off x="5177824" y="1731526"/>
            <a:ext cx="2009114"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44546A"/>
                </a:solidFill>
                <a:effectLst/>
                <a:uLnTx/>
                <a:uFillTx/>
                <a:latin typeface="Arial"/>
                <a:ea typeface="微软雅黑"/>
                <a:cs typeface="+mn-cs"/>
                <a:sym typeface="Arial"/>
              </a:rPr>
              <a:t>气氛的逻辑</a:t>
            </a:r>
          </a:p>
        </p:txBody>
      </p:sp>
      <p:sp>
        <p:nvSpPr>
          <p:cNvPr id="9" name="矩形 8"/>
          <p:cNvSpPr/>
          <p:nvPr/>
        </p:nvSpPr>
        <p:spPr>
          <a:xfrm>
            <a:off x="8722170" y="3587677"/>
            <a:ext cx="200911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4546A"/>
                </a:solidFill>
                <a:effectLst/>
                <a:uLnTx/>
                <a:uFillTx/>
                <a:latin typeface="Arial"/>
                <a:ea typeface="微软雅黑"/>
                <a:cs typeface="Arial" panose="020B0604020202020204" pitchFamily="34" charset="0"/>
                <a:sym typeface="Arial"/>
              </a:rPr>
              <a:t>玻璃材质</a:t>
            </a:r>
            <a:endParaRPr kumimoji="0" lang="zh-CN" altLang="en-US" sz="1600" b="1" i="0" u="none" strike="noStrike" kern="1200" cap="none" spc="0" normalizeH="0" baseline="0" noProof="0" dirty="0">
              <a:ln>
                <a:noFill/>
              </a:ln>
              <a:solidFill>
                <a:srgbClr val="44546A"/>
              </a:solidFill>
              <a:effectLst/>
              <a:uLnTx/>
              <a:uFillTx/>
              <a:latin typeface="Arial"/>
              <a:ea typeface="微软雅黑"/>
              <a:cs typeface="+mn-cs"/>
              <a:sym typeface="Arial"/>
            </a:endParaRPr>
          </a:p>
        </p:txBody>
      </p:sp>
      <p:sp>
        <p:nvSpPr>
          <p:cNvPr id="10" name="泪滴形 9"/>
          <p:cNvSpPr/>
          <p:nvPr/>
        </p:nvSpPr>
        <p:spPr>
          <a:xfrm rot="9784955">
            <a:off x="7326569" y="2904017"/>
            <a:ext cx="1244191" cy="1225670"/>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A9BD5"/>
              </a:solidFill>
              <a:effectLst/>
              <a:uLnTx/>
              <a:uFillTx/>
              <a:latin typeface="Arial"/>
              <a:ea typeface="微软雅黑"/>
              <a:cs typeface="+mn-cs"/>
              <a:sym typeface="Arial"/>
            </a:endParaRPr>
          </a:p>
        </p:txBody>
      </p:sp>
      <p:sp>
        <p:nvSpPr>
          <p:cNvPr id="14" name="泪滴形 13"/>
          <p:cNvSpPr/>
          <p:nvPr/>
        </p:nvSpPr>
        <p:spPr>
          <a:xfrm rot="7942971">
            <a:off x="5444376" y="2219968"/>
            <a:ext cx="1410943" cy="1389940"/>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16" name="泪滴形 15"/>
          <p:cNvSpPr/>
          <p:nvPr/>
        </p:nvSpPr>
        <p:spPr>
          <a:xfrm rot="6923497">
            <a:off x="3923889" y="2865276"/>
            <a:ext cx="1205810" cy="1208514"/>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nvGrpSpPr>
          <p:cNvPr id="23" name="组合 22"/>
          <p:cNvGrpSpPr/>
          <p:nvPr/>
        </p:nvGrpSpPr>
        <p:grpSpPr>
          <a:xfrm>
            <a:off x="5722197" y="5596603"/>
            <a:ext cx="996157" cy="907433"/>
            <a:chOff x="4677169" y="5922786"/>
            <a:chExt cx="996157" cy="907433"/>
          </a:xfrm>
          <a:solidFill>
            <a:schemeClr val="tx1">
              <a:lumMod val="75000"/>
              <a:lumOff val="25000"/>
            </a:schemeClr>
          </a:solidFill>
        </p:grpSpPr>
        <p:sp>
          <p:nvSpPr>
            <p:cNvPr id="24" name="任意多边形 23"/>
            <p:cNvSpPr/>
            <p:nvPr/>
          </p:nvSpPr>
          <p:spPr>
            <a:xfrm>
              <a:off x="4677169" y="6215063"/>
              <a:ext cx="996157" cy="615156"/>
            </a:xfrm>
            <a:custGeom>
              <a:avLst/>
              <a:gdLst>
                <a:gd name="connsiteX0" fmla="*/ 27998 w 996157"/>
                <a:gd name="connsiteY0" fmla="*/ 0 h 615156"/>
                <a:gd name="connsiteX1" fmla="*/ 146692 w 996157"/>
                <a:gd name="connsiteY1" fmla="*/ 0 h 615156"/>
                <a:gd name="connsiteX2" fmla="*/ 392754 w 996157"/>
                <a:gd name="connsiteY2" fmla="*/ 0 h 615156"/>
                <a:gd name="connsiteX3" fmla="*/ 392112 w 996157"/>
                <a:gd name="connsiteY3" fmla="*/ 1550 h 615156"/>
                <a:gd name="connsiteX4" fmla="*/ 392112 w 996157"/>
                <a:gd name="connsiteY4" fmla="*/ 492961 h 615156"/>
                <a:gd name="connsiteX5" fmla="*/ 434140 w 996157"/>
                <a:gd name="connsiteY5" fmla="*/ 534989 h 615156"/>
                <a:gd name="connsiteX6" fmla="*/ 562015 w 996157"/>
                <a:gd name="connsiteY6" fmla="*/ 534989 h 615156"/>
                <a:gd name="connsiteX7" fmla="*/ 604043 w 996157"/>
                <a:gd name="connsiteY7" fmla="*/ 492961 h 615156"/>
                <a:gd name="connsiteX8" fmla="*/ 604043 w 996157"/>
                <a:gd name="connsiteY8" fmla="*/ 1550 h 615156"/>
                <a:gd name="connsiteX9" fmla="*/ 603401 w 996157"/>
                <a:gd name="connsiteY9" fmla="*/ 0 h 615156"/>
                <a:gd name="connsiteX10" fmla="*/ 849467 w 996157"/>
                <a:gd name="connsiteY10" fmla="*/ 0 h 615156"/>
                <a:gd name="connsiteX11" fmla="*/ 968159 w 996157"/>
                <a:gd name="connsiteY11" fmla="*/ 0 h 615156"/>
                <a:gd name="connsiteX12" fmla="*/ 996157 w 996157"/>
                <a:gd name="connsiteY12" fmla="*/ 27998 h 615156"/>
                <a:gd name="connsiteX13" fmla="*/ 996157 w 996157"/>
                <a:gd name="connsiteY13" fmla="*/ 260133 h 615156"/>
                <a:gd name="connsiteX14" fmla="*/ 968159 w 996157"/>
                <a:gd name="connsiteY14" fmla="*/ 288131 h 615156"/>
                <a:gd name="connsiteX15" fmla="*/ 909242 w 996157"/>
                <a:gd name="connsiteY15" fmla="*/ 288131 h 615156"/>
                <a:gd name="connsiteX16" fmla="*/ 909242 w 996157"/>
                <a:gd name="connsiteY16" fmla="*/ 555381 h 615156"/>
                <a:gd name="connsiteX17" fmla="*/ 849467 w 996157"/>
                <a:gd name="connsiteY17" fmla="*/ 615156 h 615156"/>
                <a:gd name="connsiteX18" fmla="*/ 146692 w 996157"/>
                <a:gd name="connsiteY18" fmla="*/ 615156 h 615156"/>
                <a:gd name="connsiteX19" fmla="*/ 86917 w 996157"/>
                <a:gd name="connsiteY19" fmla="*/ 555381 h 615156"/>
                <a:gd name="connsiteX20" fmla="*/ 86917 w 996157"/>
                <a:gd name="connsiteY20" fmla="*/ 288131 h 615156"/>
                <a:gd name="connsiteX21" fmla="*/ 27998 w 996157"/>
                <a:gd name="connsiteY21" fmla="*/ 288131 h 615156"/>
                <a:gd name="connsiteX22" fmla="*/ 0 w 996157"/>
                <a:gd name="connsiteY22" fmla="*/ 260133 h 615156"/>
                <a:gd name="connsiteX23" fmla="*/ 0 w 996157"/>
                <a:gd name="connsiteY23" fmla="*/ 27998 h 615156"/>
                <a:gd name="connsiteX24" fmla="*/ 27998 w 996157"/>
                <a:gd name="connsiteY24" fmla="*/ 0 h 61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157" h="615156">
                  <a:moveTo>
                    <a:pt x="27998" y="0"/>
                  </a:moveTo>
                  <a:lnTo>
                    <a:pt x="146692" y="0"/>
                  </a:lnTo>
                  <a:lnTo>
                    <a:pt x="392754" y="0"/>
                  </a:lnTo>
                  <a:lnTo>
                    <a:pt x="392112" y="1550"/>
                  </a:lnTo>
                  <a:lnTo>
                    <a:pt x="392112" y="492961"/>
                  </a:lnTo>
                  <a:cubicBezTo>
                    <a:pt x="392112" y="516172"/>
                    <a:pt x="410929" y="534989"/>
                    <a:pt x="434140" y="534989"/>
                  </a:cubicBezTo>
                  <a:lnTo>
                    <a:pt x="562015" y="534989"/>
                  </a:lnTo>
                  <a:cubicBezTo>
                    <a:pt x="585226" y="534989"/>
                    <a:pt x="604043" y="516172"/>
                    <a:pt x="604043" y="492961"/>
                  </a:cubicBezTo>
                  <a:lnTo>
                    <a:pt x="604043" y="1550"/>
                  </a:lnTo>
                  <a:lnTo>
                    <a:pt x="603401" y="0"/>
                  </a:lnTo>
                  <a:lnTo>
                    <a:pt x="849467" y="0"/>
                  </a:lnTo>
                  <a:lnTo>
                    <a:pt x="968159" y="0"/>
                  </a:lnTo>
                  <a:cubicBezTo>
                    <a:pt x="983622" y="0"/>
                    <a:pt x="996157" y="12535"/>
                    <a:pt x="996157" y="27998"/>
                  </a:cubicBezTo>
                  <a:lnTo>
                    <a:pt x="996157" y="260133"/>
                  </a:lnTo>
                  <a:cubicBezTo>
                    <a:pt x="996157" y="275596"/>
                    <a:pt x="983622" y="288131"/>
                    <a:pt x="968159" y="288131"/>
                  </a:cubicBezTo>
                  <a:lnTo>
                    <a:pt x="909242" y="288131"/>
                  </a:lnTo>
                  <a:lnTo>
                    <a:pt x="909242" y="555381"/>
                  </a:lnTo>
                  <a:cubicBezTo>
                    <a:pt x="909242" y="588394"/>
                    <a:pt x="882480" y="615156"/>
                    <a:pt x="849467" y="615156"/>
                  </a:cubicBezTo>
                  <a:lnTo>
                    <a:pt x="146692" y="615156"/>
                  </a:lnTo>
                  <a:cubicBezTo>
                    <a:pt x="113679" y="615156"/>
                    <a:pt x="86917" y="588394"/>
                    <a:pt x="86917" y="555381"/>
                  </a:cubicBezTo>
                  <a:lnTo>
                    <a:pt x="86917" y="288131"/>
                  </a:lnTo>
                  <a:lnTo>
                    <a:pt x="27998" y="288131"/>
                  </a:lnTo>
                  <a:cubicBezTo>
                    <a:pt x="12535" y="288131"/>
                    <a:pt x="0" y="275596"/>
                    <a:pt x="0" y="260133"/>
                  </a:cubicBezTo>
                  <a:lnTo>
                    <a:pt x="0" y="27998"/>
                  </a:lnTo>
                  <a:cubicBezTo>
                    <a:pt x="0" y="12535"/>
                    <a:pt x="12535" y="0"/>
                    <a:pt x="27998"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5" name="任意多边形 24"/>
            <p:cNvSpPr/>
            <p:nvPr/>
          </p:nvSpPr>
          <p:spPr>
            <a:xfrm rot="10168383" flipH="1">
              <a:off x="4843629" y="5922788"/>
              <a:ext cx="306974" cy="324112"/>
            </a:xfrm>
            <a:custGeom>
              <a:avLst/>
              <a:gdLst>
                <a:gd name="connsiteX0" fmla="*/ 183422 w 306974"/>
                <a:gd name="connsiteY0" fmla="*/ 225886 h 324112"/>
                <a:gd name="connsiteX1" fmla="*/ 153487 w 306974"/>
                <a:gd name="connsiteY1" fmla="*/ 231330 h 324112"/>
                <a:gd name="connsiteX2" fmla="*/ 76581 w 306974"/>
                <a:gd name="connsiteY2" fmla="*/ 162059 h 324112"/>
                <a:gd name="connsiteX3" fmla="*/ 76582 w 306974"/>
                <a:gd name="connsiteY3" fmla="*/ 162059 h 324112"/>
                <a:gd name="connsiteX4" fmla="*/ 153487 w 306974"/>
                <a:gd name="connsiteY4" fmla="*/ 92788 h 324112"/>
                <a:gd name="connsiteX5" fmla="*/ 231475 w 306974"/>
                <a:gd name="connsiteY5" fmla="*/ 91813 h 324112"/>
                <a:gd name="connsiteX6" fmla="*/ 230393 w 306974"/>
                <a:gd name="connsiteY6" fmla="*/ 162059 h 324112"/>
                <a:gd name="connsiteX7" fmla="*/ 183422 w 306974"/>
                <a:gd name="connsiteY7" fmla="*/ 225886 h 324112"/>
                <a:gd name="connsiteX8" fmla="*/ 153487 w 306974"/>
                <a:gd name="connsiteY8" fmla="*/ 324112 h 324112"/>
                <a:gd name="connsiteX9" fmla="*/ 306974 w 306974"/>
                <a:gd name="connsiteY9" fmla="*/ 162056 h 324112"/>
                <a:gd name="connsiteX10" fmla="*/ 306974 w 306974"/>
                <a:gd name="connsiteY10" fmla="*/ 0 h 324112"/>
                <a:gd name="connsiteX11" fmla="*/ 153487 w 306974"/>
                <a:gd name="connsiteY11" fmla="*/ 0 h 324112"/>
                <a:gd name="connsiteX12" fmla="*/ 0 w 306974"/>
                <a:gd name="connsiteY12" fmla="*/ 162056 h 324112"/>
                <a:gd name="connsiteX13" fmla="*/ 153487 w 306974"/>
                <a:gd name="connsiteY13" fmla="*/ 324112 h 324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6974" h="324112">
                  <a:moveTo>
                    <a:pt x="183422" y="225886"/>
                  </a:moveTo>
                  <a:cubicBezTo>
                    <a:pt x="174221" y="229392"/>
                    <a:pt x="164106" y="231330"/>
                    <a:pt x="153487" y="231330"/>
                  </a:cubicBezTo>
                  <a:cubicBezTo>
                    <a:pt x="111012" y="231330"/>
                    <a:pt x="76581" y="200316"/>
                    <a:pt x="76581" y="162059"/>
                  </a:cubicBezTo>
                  <a:lnTo>
                    <a:pt x="76582" y="162059"/>
                  </a:lnTo>
                  <a:cubicBezTo>
                    <a:pt x="76582" y="123802"/>
                    <a:pt x="111014" y="92788"/>
                    <a:pt x="153487" y="92788"/>
                  </a:cubicBezTo>
                  <a:cubicBezTo>
                    <a:pt x="179484" y="92788"/>
                    <a:pt x="205480" y="92463"/>
                    <a:pt x="231475" y="91813"/>
                  </a:cubicBezTo>
                  <a:cubicBezTo>
                    <a:pt x="230754" y="115228"/>
                    <a:pt x="230393" y="138644"/>
                    <a:pt x="230393" y="162059"/>
                  </a:cubicBezTo>
                  <a:cubicBezTo>
                    <a:pt x="230393" y="190751"/>
                    <a:pt x="211024" y="215370"/>
                    <a:pt x="183422" y="225886"/>
                  </a:cubicBezTo>
                  <a:close/>
                  <a:moveTo>
                    <a:pt x="153487" y="324112"/>
                  </a:moveTo>
                  <a:cubicBezTo>
                    <a:pt x="238256" y="324112"/>
                    <a:pt x="306974" y="251557"/>
                    <a:pt x="306974" y="162056"/>
                  </a:cubicBezTo>
                  <a:lnTo>
                    <a:pt x="306974" y="0"/>
                  </a:lnTo>
                  <a:lnTo>
                    <a:pt x="153487" y="0"/>
                  </a:lnTo>
                  <a:cubicBezTo>
                    <a:pt x="68718" y="0"/>
                    <a:pt x="0" y="72555"/>
                    <a:pt x="0" y="162056"/>
                  </a:cubicBezTo>
                  <a:cubicBezTo>
                    <a:pt x="0" y="251557"/>
                    <a:pt x="68718" y="324112"/>
                    <a:pt x="153487" y="3241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6" name="任意多边形 25"/>
            <p:cNvSpPr/>
            <p:nvPr/>
          </p:nvSpPr>
          <p:spPr>
            <a:xfrm rot="11431617">
              <a:off x="5176883" y="5922786"/>
              <a:ext cx="306974" cy="324112"/>
            </a:xfrm>
            <a:custGeom>
              <a:avLst/>
              <a:gdLst>
                <a:gd name="connsiteX0" fmla="*/ 183422 w 306974"/>
                <a:gd name="connsiteY0" fmla="*/ 225886 h 324112"/>
                <a:gd name="connsiteX1" fmla="*/ 153487 w 306974"/>
                <a:gd name="connsiteY1" fmla="*/ 231330 h 324112"/>
                <a:gd name="connsiteX2" fmla="*/ 76581 w 306974"/>
                <a:gd name="connsiteY2" fmla="*/ 162059 h 324112"/>
                <a:gd name="connsiteX3" fmla="*/ 76582 w 306974"/>
                <a:gd name="connsiteY3" fmla="*/ 162059 h 324112"/>
                <a:gd name="connsiteX4" fmla="*/ 153487 w 306974"/>
                <a:gd name="connsiteY4" fmla="*/ 92788 h 324112"/>
                <a:gd name="connsiteX5" fmla="*/ 231475 w 306974"/>
                <a:gd name="connsiteY5" fmla="*/ 91813 h 324112"/>
                <a:gd name="connsiteX6" fmla="*/ 230393 w 306974"/>
                <a:gd name="connsiteY6" fmla="*/ 162059 h 324112"/>
                <a:gd name="connsiteX7" fmla="*/ 183422 w 306974"/>
                <a:gd name="connsiteY7" fmla="*/ 225886 h 324112"/>
                <a:gd name="connsiteX8" fmla="*/ 153487 w 306974"/>
                <a:gd name="connsiteY8" fmla="*/ 324112 h 324112"/>
                <a:gd name="connsiteX9" fmla="*/ 306974 w 306974"/>
                <a:gd name="connsiteY9" fmla="*/ 162056 h 324112"/>
                <a:gd name="connsiteX10" fmla="*/ 306974 w 306974"/>
                <a:gd name="connsiteY10" fmla="*/ 0 h 324112"/>
                <a:gd name="connsiteX11" fmla="*/ 153487 w 306974"/>
                <a:gd name="connsiteY11" fmla="*/ 0 h 324112"/>
                <a:gd name="connsiteX12" fmla="*/ 0 w 306974"/>
                <a:gd name="connsiteY12" fmla="*/ 162056 h 324112"/>
                <a:gd name="connsiteX13" fmla="*/ 153487 w 306974"/>
                <a:gd name="connsiteY13" fmla="*/ 324112 h 324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6974" h="324112">
                  <a:moveTo>
                    <a:pt x="183422" y="225886"/>
                  </a:moveTo>
                  <a:cubicBezTo>
                    <a:pt x="174221" y="229392"/>
                    <a:pt x="164106" y="231330"/>
                    <a:pt x="153487" y="231330"/>
                  </a:cubicBezTo>
                  <a:cubicBezTo>
                    <a:pt x="111012" y="231330"/>
                    <a:pt x="76581" y="200316"/>
                    <a:pt x="76581" y="162059"/>
                  </a:cubicBezTo>
                  <a:lnTo>
                    <a:pt x="76582" y="162059"/>
                  </a:lnTo>
                  <a:cubicBezTo>
                    <a:pt x="76582" y="123802"/>
                    <a:pt x="111014" y="92788"/>
                    <a:pt x="153487" y="92788"/>
                  </a:cubicBezTo>
                  <a:cubicBezTo>
                    <a:pt x="179484" y="92788"/>
                    <a:pt x="205480" y="92463"/>
                    <a:pt x="231475" y="91813"/>
                  </a:cubicBezTo>
                  <a:cubicBezTo>
                    <a:pt x="230754" y="115228"/>
                    <a:pt x="230393" y="138644"/>
                    <a:pt x="230393" y="162059"/>
                  </a:cubicBezTo>
                  <a:cubicBezTo>
                    <a:pt x="230393" y="190751"/>
                    <a:pt x="211024" y="215370"/>
                    <a:pt x="183422" y="225886"/>
                  </a:cubicBezTo>
                  <a:close/>
                  <a:moveTo>
                    <a:pt x="153487" y="324112"/>
                  </a:moveTo>
                  <a:cubicBezTo>
                    <a:pt x="238256" y="324112"/>
                    <a:pt x="306974" y="251557"/>
                    <a:pt x="306974" y="162056"/>
                  </a:cubicBezTo>
                  <a:lnTo>
                    <a:pt x="306974" y="0"/>
                  </a:lnTo>
                  <a:lnTo>
                    <a:pt x="153487" y="0"/>
                  </a:lnTo>
                  <a:cubicBezTo>
                    <a:pt x="68718" y="0"/>
                    <a:pt x="0" y="72555"/>
                    <a:pt x="0" y="162056"/>
                  </a:cubicBezTo>
                  <a:cubicBezTo>
                    <a:pt x="0" y="251557"/>
                    <a:pt x="68718" y="324112"/>
                    <a:pt x="153487" y="3241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7" name="圆角矩形 26"/>
            <p:cNvSpPr/>
            <p:nvPr/>
          </p:nvSpPr>
          <p:spPr>
            <a:xfrm>
              <a:off x="4943043" y="6172201"/>
              <a:ext cx="403011" cy="6429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cxnSp>
        <p:nvCxnSpPr>
          <p:cNvPr id="28" name="直接连接符 27"/>
          <p:cNvCxnSpPr>
            <a:stCxn id="16" idx="7"/>
            <a:endCxn id="25" idx="9"/>
          </p:cNvCxnSpPr>
          <p:nvPr/>
        </p:nvCxnSpPr>
        <p:spPr>
          <a:xfrm>
            <a:off x="4814151" y="4273303"/>
            <a:ext cx="1378897" cy="14573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265226" y="3904506"/>
            <a:ext cx="5401" cy="18261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5" idx="9"/>
          </p:cNvCxnSpPr>
          <p:nvPr/>
        </p:nvCxnSpPr>
        <p:spPr>
          <a:xfrm flipH="1">
            <a:off x="6193048" y="4279429"/>
            <a:ext cx="1343537" cy="14511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779156" y="584518"/>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00" cap="none" spc="0" normalizeH="0" baseline="0" noProof="0" dirty="0">
                <a:ln>
                  <a:noFill/>
                </a:ln>
                <a:solidFill>
                  <a:srgbClr val="482E3F"/>
                </a:solidFill>
                <a:effectLst/>
                <a:uLnTx/>
                <a:uFillTx/>
                <a:latin typeface="华文宋体" panose="02010600040101010101" pitchFamily="2" charset="-122"/>
                <a:ea typeface="宋体" panose="02010600030101010101" pitchFamily="2" charset="-122"/>
                <a:cs typeface="方正苏新诗柳楷简体-yolan" panose="02000000000000000000" pitchFamily="2" charset="-122"/>
                <a:sym typeface="Arial"/>
              </a:rPr>
              <a:t>气氛</a:t>
            </a:r>
            <a:endParaRPr kumimoji="0" lang="zh-CN" altLang="en-US" sz="3600" b="0" i="0" u="none" strike="noStrike" kern="1200" cap="none" spc="0" normalizeH="0" baseline="0" noProof="0" dirty="0">
              <a:ln>
                <a:noFill/>
              </a:ln>
              <a:solidFill>
                <a:srgbClr val="482E3F"/>
              </a:solidFill>
              <a:effectLst/>
              <a:uLnTx/>
              <a:uFillTx/>
              <a:latin typeface="Arial"/>
              <a:ea typeface="微软雅黑"/>
              <a:cs typeface="方正苏新诗柳楷简体-yolan" panose="02000000000000000000" pitchFamily="2" charset="-122"/>
              <a:sym typeface="Arial"/>
            </a:endParaRPr>
          </a:p>
        </p:txBody>
      </p:sp>
      <p:grpSp>
        <p:nvGrpSpPr>
          <p:cNvPr id="38" name="组合 37"/>
          <p:cNvGrpSpPr/>
          <p:nvPr/>
        </p:nvGrpSpPr>
        <p:grpSpPr>
          <a:xfrm>
            <a:off x="3543759" y="266849"/>
            <a:ext cx="636853" cy="393183"/>
            <a:chOff x="3610120" y="261689"/>
            <a:chExt cx="636853" cy="393183"/>
          </a:xfrm>
        </p:grpSpPr>
        <p:pic>
          <p:nvPicPr>
            <p:cNvPr id="39" name="图片 38"/>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rot="409115">
              <a:off x="3830226" y="261689"/>
              <a:ext cx="416747" cy="246260"/>
            </a:xfrm>
            <a:prstGeom prst="rect">
              <a:avLst/>
            </a:prstGeom>
          </p:spPr>
        </p:pic>
        <p:sp>
          <p:nvSpPr>
            <p:cNvPr id="40" name="Freeform 249"/>
            <p:cNvSpPr>
              <a:spLocks noEditPoints="1"/>
            </p:cNvSpPr>
            <p:nvPr userDrawn="1"/>
          </p:nvSpPr>
          <p:spPr bwMode="auto">
            <a:xfrm rot="2431720" flipH="1">
              <a:off x="3610120" y="366070"/>
              <a:ext cx="211706" cy="288802"/>
            </a:xfrm>
            <a:custGeom>
              <a:avLst/>
              <a:gdLst>
                <a:gd name="T0" fmla="*/ 82 w 239"/>
                <a:gd name="T1" fmla="*/ 301 h 301"/>
                <a:gd name="T2" fmla="*/ 64 w 239"/>
                <a:gd name="T3" fmla="*/ 298 h 301"/>
                <a:gd name="T4" fmla="*/ 8 w 239"/>
                <a:gd name="T5" fmla="*/ 212 h 301"/>
                <a:gd name="T6" fmla="*/ 100 w 239"/>
                <a:gd name="T7" fmla="*/ 162 h 301"/>
                <a:gd name="T8" fmla="*/ 153 w 239"/>
                <a:gd name="T9" fmla="*/ 182 h 301"/>
                <a:gd name="T10" fmla="*/ 44 w 239"/>
                <a:gd name="T11" fmla="*/ 17 h 301"/>
                <a:gd name="T12" fmla="*/ 53 w 239"/>
                <a:gd name="T13" fmla="*/ 47 h 301"/>
                <a:gd name="T14" fmla="*/ 51 w 239"/>
                <a:gd name="T15" fmla="*/ 52 h 301"/>
                <a:gd name="T16" fmla="*/ 46 w 239"/>
                <a:gd name="T17" fmla="*/ 50 h 301"/>
                <a:gd name="T18" fmla="*/ 34 w 239"/>
                <a:gd name="T19" fmla="*/ 11 h 301"/>
                <a:gd name="T20" fmla="*/ 33 w 239"/>
                <a:gd name="T21" fmla="*/ 8 h 301"/>
                <a:gd name="T22" fmla="*/ 34 w 239"/>
                <a:gd name="T23" fmla="*/ 3 h 301"/>
                <a:gd name="T24" fmla="*/ 36 w 239"/>
                <a:gd name="T25" fmla="*/ 3 h 301"/>
                <a:gd name="T26" fmla="*/ 44 w 239"/>
                <a:gd name="T27" fmla="*/ 0 h 301"/>
                <a:gd name="T28" fmla="*/ 81 w 239"/>
                <a:gd name="T29" fmla="*/ 6 h 301"/>
                <a:gd name="T30" fmla="*/ 80 w 239"/>
                <a:gd name="T31" fmla="*/ 14 h 301"/>
                <a:gd name="T32" fmla="*/ 47 w 239"/>
                <a:gd name="T33" fmla="*/ 9 h 301"/>
                <a:gd name="T34" fmla="*/ 161 w 239"/>
                <a:gd name="T35" fmla="*/ 187 h 301"/>
                <a:gd name="T36" fmla="*/ 239 w 239"/>
                <a:gd name="T37" fmla="*/ 288 h 301"/>
                <a:gd name="T38" fmla="*/ 236 w 239"/>
                <a:gd name="T39" fmla="*/ 293 h 301"/>
                <a:gd name="T40" fmla="*/ 231 w 239"/>
                <a:gd name="T41" fmla="*/ 291 h 301"/>
                <a:gd name="T42" fmla="*/ 161 w 239"/>
                <a:gd name="T43" fmla="*/ 197 h 301"/>
                <a:gd name="T44" fmla="*/ 149 w 239"/>
                <a:gd name="T45" fmla="*/ 252 h 301"/>
                <a:gd name="T46" fmla="*/ 82 w 239"/>
                <a:gd name="T47" fmla="*/ 301 h 301"/>
                <a:gd name="T48" fmla="*/ 79 w 239"/>
                <a:gd name="T49" fmla="*/ 168 h 301"/>
                <a:gd name="T50" fmla="*/ 16 w 239"/>
                <a:gd name="T51" fmla="*/ 214 h 301"/>
                <a:gd name="T52" fmla="*/ 66 w 239"/>
                <a:gd name="T53" fmla="*/ 291 h 301"/>
                <a:gd name="T54" fmla="*/ 141 w 239"/>
                <a:gd name="T55" fmla="*/ 249 h 301"/>
                <a:gd name="T56" fmla="*/ 153 w 239"/>
                <a:gd name="T57" fmla="*/ 191 h 301"/>
                <a:gd name="T58" fmla="*/ 99 w 239"/>
                <a:gd name="T59" fmla="*/ 170 h 301"/>
                <a:gd name="T60" fmla="*/ 79 w 239"/>
                <a:gd name="T61" fmla="*/ 168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9" h="301">
                  <a:moveTo>
                    <a:pt x="82" y="301"/>
                  </a:moveTo>
                  <a:cubicBezTo>
                    <a:pt x="76" y="301"/>
                    <a:pt x="70" y="300"/>
                    <a:pt x="64" y="298"/>
                  </a:cubicBezTo>
                  <a:cubicBezTo>
                    <a:pt x="17" y="285"/>
                    <a:pt x="0" y="245"/>
                    <a:pt x="8" y="212"/>
                  </a:cubicBezTo>
                  <a:cubicBezTo>
                    <a:pt x="15" y="180"/>
                    <a:pt x="47" y="152"/>
                    <a:pt x="100" y="162"/>
                  </a:cubicBezTo>
                  <a:cubicBezTo>
                    <a:pt x="120" y="165"/>
                    <a:pt x="137" y="173"/>
                    <a:pt x="153" y="182"/>
                  </a:cubicBezTo>
                  <a:cubicBezTo>
                    <a:pt x="148" y="130"/>
                    <a:pt x="116" y="69"/>
                    <a:pt x="44" y="17"/>
                  </a:cubicBezTo>
                  <a:cubicBezTo>
                    <a:pt x="53" y="47"/>
                    <a:pt x="53" y="47"/>
                    <a:pt x="53" y="47"/>
                  </a:cubicBezTo>
                  <a:cubicBezTo>
                    <a:pt x="54" y="49"/>
                    <a:pt x="53" y="51"/>
                    <a:pt x="51" y="52"/>
                  </a:cubicBezTo>
                  <a:cubicBezTo>
                    <a:pt x="49" y="53"/>
                    <a:pt x="46" y="52"/>
                    <a:pt x="46" y="50"/>
                  </a:cubicBezTo>
                  <a:cubicBezTo>
                    <a:pt x="41" y="41"/>
                    <a:pt x="33" y="22"/>
                    <a:pt x="34" y="11"/>
                  </a:cubicBezTo>
                  <a:cubicBezTo>
                    <a:pt x="33" y="8"/>
                    <a:pt x="33" y="8"/>
                    <a:pt x="33" y="8"/>
                  </a:cubicBezTo>
                  <a:cubicBezTo>
                    <a:pt x="32" y="6"/>
                    <a:pt x="33" y="4"/>
                    <a:pt x="34" y="3"/>
                  </a:cubicBezTo>
                  <a:cubicBezTo>
                    <a:pt x="35" y="3"/>
                    <a:pt x="35" y="3"/>
                    <a:pt x="36" y="3"/>
                  </a:cubicBezTo>
                  <a:cubicBezTo>
                    <a:pt x="37" y="1"/>
                    <a:pt x="40" y="0"/>
                    <a:pt x="44" y="0"/>
                  </a:cubicBezTo>
                  <a:cubicBezTo>
                    <a:pt x="59" y="3"/>
                    <a:pt x="81" y="6"/>
                    <a:pt x="81" y="6"/>
                  </a:cubicBezTo>
                  <a:cubicBezTo>
                    <a:pt x="80" y="14"/>
                    <a:pt x="80" y="14"/>
                    <a:pt x="80" y="14"/>
                  </a:cubicBezTo>
                  <a:cubicBezTo>
                    <a:pt x="80" y="14"/>
                    <a:pt x="62" y="11"/>
                    <a:pt x="47" y="9"/>
                  </a:cubicBezTo>
                  <a:cubicBezTo>
                    <a:pt x="125" y="66"/>
                    <a:pt x="158" y="131"/>
                    <a:pt x="161" y="187"/>
                  </a:cubicBezTo>
                  <a:cubicBezTo>
                    <a:pt x="217" y="225"/>
                    <a:pt x="238" y="287"/>
                    <a:pt x="239" y="288"/>
                  </a:cubicBezTo>
                  <a:cubicBezTo>
                    <a:pt x="239" y="290"/>
                    <a:pt x="238" y="293"/>
                    <a:pt x="236" y="293"/>
                  </a:cubicBezTo>
                  <a:cubicBezTo>
                    <a:pt x="234" y="294"/>
                    <a:pt x="232" y="293"/>
                    <a:pt x="231" y="291"/>
                  </a:cubicBezTo>
                  <a:cubicBezTo>
                    <a:pt x="231" y="290"/>
                    <a:pt x="211" y="233"/>
                    <a:pt x="161" y="197"/>
                  </a:cubicBezTo>
                  <a:cubicBezTo>
                    <a:pt x="161" y="217"/>
                    <a:pt x="156" y="236"/>
                    <a:pt x="149" y="252"/>
                  </a:cubicBezTo>
                  <a:cubicBezTo>
                    <a:pt x="134" y="283"/>
                    <a:pt x="109" y="301"/>
                    <a:pt x="82" y="301"/>
                  </a:cubicBezTo>
                  <a:close/>
                  <a:moveTo>
                    <a:pt x="79" y="168"/>
                  </a:moveTo>
                  <a:cubicBezTo>
                    <a:pt x="43" y="168"/>
                    <a:pt x="21" y="189"/>
                    <a:pt x="16" y="214"/>
                  </a:cubicBezTo>
                  <a:cubicBezTo>
                    <a:pt x="9" y="243"/>
                    <a:pt x="24" y="279"/>
                    <a:pt x="66" y="291"/>
                  </a:cubicBezTo>
                  <a:cubicBezTo>
                    <a:pt x="96" y="299"/>
                    <a:pt x="125" y="283"/>
                    <a:pt x="141" y="249"/>
                  </a:cubicBezTo>
                  <a:cubicBezTo>
                    <a:pt x="149" y="232"/>
                    <a:pt x="154" y="212"/>
                    <a:pt x="153" y="191"/>
                  </a:cubicBezTo>
                  <a:cubicBezTo>
                    <a:pt x="138" y="181"/>
                    <a:pt x="120" y="174"/>
                    <a:pt x="99" y="170"/>
                  </a:cubicBezTo>
                  <a:cubicBezTo>
                    <a:pt x="92" y="168"/>
                    <a:pt x="85" y="168"/>
                    <a:pt x="79" y="16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spTree>
    <p:extLst>
      <p:ext uri="{BB962C8B-B14F-4D97-AF65-F5344CB8AC3E}">
        <p14:creationId xmlns:p14="http://schemas.microsoft.com/office/powerpoint/2010/main" val="4646059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500"/>
                                        <p:tgtEl>
                                          <p:spTgt spid="28"/>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anim calcmode="lin" valueType="num">
                                      <p:cBhvr>
                                        <p:cTn id="11" dur="250" fill="hold"/>
                                        <p:tgtEl>
                                          <p:spTgt spid="16"/>
                                        </p:tgtEl>
                                        <p:attrNameLst>
                                          <p:attrName>ppt_x</p:attrName>
                                        </p:attrNameLst>
                                      </p:cBhvr>
                                      <p:tavLst>
                                        <p:tav tm="0">
                                          <p:val>
                                            <p:strVal val="#ppt_x"/>
                                          </p:val>
                                        </p:tav>
                                        <p:tav tm="100000">
                                          <p:val>
                                            <p:strVal val="#ppt_x"/>
                                          </p:val>
                                        </p:tav>
                                      </p:tavLst>
                                    </p:anim>
                                    <p:anim calcmode="lin" valueType="num">
                                      <p:cBhvr>
                                        <p:cTn id="12" dur="250" fill="hold"/>
                                        <p:tgtEl>
                                          <p:spTgt spid="16"/>
                                        </p:tgtEl>
                                        <p:attrNameLst>
                                          <p:attrName>ppt_y</p:attrName>
                                        </p:attrNameLst>
                                      </p:cBhvr>
                                      <p:tavLst>
                                        <p:tav tm="0">
                                          <p:val>
                                            <p:strVal val="#ppt_y+.1"/>
                                          </p:val>
                                        </p:tav>
                                        <p:tav tm="100000">
                                          <p:val>
                                            <p:strVal val="#ppt_y"/>
                                          </p:val>
                                        </p:tav>
                                      </p:tavLst>
                                    </p:anim>
                                  </p:childTnLst>
                                </p:cTn>
                              </p:par>
                              <p:par>
                                <p:cTn id="13" presetID="22" presetClass="entr" presetSubtype="4" fill="hold" nodeType="withEffect">
                                  <p:stCondLst>
                                    <p:cond delay="200"/>
                                  </p:stCondLst>
                                  <p:childTnLst>
                                    <p:set>
                                      <p:cBhvr>
                                        <p:cTn id="14" dur="1" fill="hold">
                                          <p:stCondLst>
                                            <p:cond delay="0"/>
                                          </p:stCondLst>
                                        </p:cTn>
                                        <p:tgtEl>
                                          <p:spTgt spid="30"/>
                                        </p:tgtEl>
                                        <p:attrNameLst>
                                          <p:attrName>style.visibility</p:attrName>
                                        </p:attrNameLst>
                                      </p:cBhvr>
                                      <p:to>
                                        <p:strVal val="visible"/>
                                      </p:to>
                                    </p:set>
                                    <p:animEffect transition="in" filter="wipe(down)">
                                      <p:cBhvr>
                                        <p:cTn id="15" dur="500"/>
                                        <p:tgtEl>
                                          <p:spTgt spid="30"/>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250"/>
                                        <p:tgtEl>
                                          <p:spTgt spid="14"/>
                                        </p:tgtEl>
                                      </p:cBhvr>
                                    </p:animEffect>
                                    <p:anim calcmode="lin" valueType="num">
                                      <p:cBhvr>
                                        <p:cTn id="19" dur="250" fill="hold"/>
                                        <p:tgtEl>
                                          <p:spTgt spid="14"/>
                                        </p:tgtEl>
                                        <p:attrNameLst>
                                          <p:attrName>ppt_x</p:attrName>
                                        </p:attrNameLst>
                                      </p:cBhvr>
                                      <p:tavLst>
                                        <p:tav tm="0">
                                          <p:val>
                                            <p:strVal val="#ppt_x"/>
                                          </p:val>
                                        </p:tav>
                                        <p:tav tm="100000">
                                          <p:val>
                                            <p:strVal val="#ppt_x"/>
                                          </p:val>
                                        </p:tav>
                                      </p:tavLst>
                                    </p:anim>
                                    <p:anim calcmode="lin" valueType="num">
                                      <p:cBhvr>
                                        <p:cTn id="20" dur="250" fill="hold"/>
                                        <p:tgtEl>
                                          <p:spTgt spid="14"/>
                                        </p:tgtEl>
                                        <p:attrNameLst>
                                          <p:attrName>ppt_y</p:attrName>
                                        </p:attrNameLst>
                                      </p:cBhvr>
                                      <p:tavLst>
                                        <p:tav tm="0">
                                          <p:val>
                                            <p:strVal val="#ppt_y+.1"/>
                                          </p:val>
                                        </p:tav>
                                        <p:tav tm="100000">
                                          <p:val>
                                            <p:strVal val="#ppt_y"/>
                                          </p:val>
                                        </p:tav>
                                      </p:tavLst>
                                    </p:anim>
                                  </p:childTnLst>
                                </p:cTn>
                              </p:par>
                              <p:par>
                                <p:cTn id="21" presetID="22" presetClass="entr" presetSubtype="4" fill="hold" nodeType="withEffect">
                                  <p:stCondLst>
                                    <p:cond delay="400"/>
                                  </p:stCondLst>
                                  <p:childTnLst>
                                    <p:set>
                                      <p:cBhvr>
                                        <p:cTn id="22" dur="1" fill="hold">
                                          <p:stCondLst>
                                            <p:cond delay="0"/>
                                          </p:stCondLst>
                                        </p:cTn>
                                        <p:tgtEl>
                                          <p:spTgt spid="31"/>
                                        </p:tgtEl>
                                        <p:attrNameLst>
                                          <p:attrName>style.visibility</p:attrName>
                                        </p:attrNameLst>
                                      </p:cBhvr>
                                      <p:to>
                                        <p:strVal val="visible"/>
                                      </p:to>
                                    </p:set>
                                    <p:animEffect transition="in" filter="wipe(down)">
                                      <p:cBhvr>
                                        <p:cTn id="23" dur="250"/>
                                        <p:tgtEl>
                                          <p:spTgt spid="31"/>
                                        </p:tgtEl>
                                      </p:cBhvr>
                                    </p:animEffect>
                                  </p:childTnLst>
                                </p:cTn>
                              </p:par>
                              <p:par>
                                <p:cTn id="24" presetID="42" presetClass="entr" presetSubtype="0" fill="hold" grpId="0" nodeType="withEffect">
                                  <p:stCondLst>
                                    <p:cond delay="4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50"/>
                                        <p:tgtEl>
                                          <p:spTgt spid="10"/>
                                        </p:tgtEl>
                                      </p:cBhvr>
                                    </p:animEffect>
                                    <p:anim calcmode="lin" valueType="num">
                                      <p:cBhvr>
                                        <p:cTn id="27" dur="250" fill="hold"/>
                                        <p:tgtEl>
                                          <p:spTgt spid="10"/>
                                        </p:tgtEl>
                                        <p:attrNameLst>
                                          <p:attrName>ppt_x</p:attrName>
                                        </p:attrNameLst>
                                      </p:cBhvr>
                                      <p:tavLst>
                                        <p:tav tm="0">
                                          <p:val>
                                            <p:strVal val="#ppt_x"/>
                                          </p:val>
                                        </p:tav>
                                        <p:tav tm="100000">
                                          <p:val>
                                            <p:strVal val="#ppt_x"/>
                                          </p:val>
                                        </p:tav>
                                      </p:tavLst>
                                    </p:anim>
                                    <p:anim calcmode="lin" valueType="num">
                                      <p:cBhvr>
                                        <p:cTn id="28" dur="250" fill="hold"/>
                                        <p:tgtEl>
                                          <p:spTgt spid="10"/>
                                        </p:tgtEl>
                                        <p:attrNameLst>
                                          <p:attrName>ppt_y</p:attrName>
                                        </p:attrNameLst>
                                      </p:cBhvr>
                                      <p:tavLst>
                                        <p:tav tm="0">
                                          <p:val>
                                            <p:strVal val="#ppt_y+.1"/>
                                          </p:val>
                                        </p:tav>
                                        <p:tav tm="100000">
                                          <p:val>
                                            <p:strVal val="#ppt_y"/>
                                          </p:val>
                                        </p:tav>
                                      </p:tavLst>
                                    </p:anim>
                                  </p:childTnLst>
                                </p:cTn>
                              </p:par>
                              <p:par>
                                <p:cTn id="29" presetID="41" presetClass="entr" presetSubtype="0" fill="hold" grpId="0" nodeType="withEffect">
                                  <p:stCondLst>
                                    <p:cond delay="750"/>
                                  </p:stCondLst>
                                  <p:iterate type="lt">
                                    <p:tmPct val="10000"/>
                                  </p:iterate>
                                  <p:childTnLst>
                                    <p:set>
                                      <p:cBhvr>
                                        <p:cTn id="30" dur="1" fill="hold">
                                          <p:stCondLst>
                                            <p:cond delay="0"/>
                                          </p:stCondLst>
                                        </p:cTn>
                                        <p:tgtEl>
                                          <p:spTgt spid="3"/>
                                        </p:tgtEl>
                                        <p:attrNameLst>
                                          <p:attrName>style.visibility</p:attrName>
                                        </p:attrNameLst>
                                      </p:cBhvr>
                                      <p:to>
                                        <p:strVal val="visible"/>
                                      </p:to>
                                    </p:set>
                                    <p:anim calcmode="lin" valueType="num">
                                      <p:cBhvr>
                                        <p:cTn id="31" dur="25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32" dur="250" fill="hold"/>
                                        <p:tgtEl>
                                          <p:spTgt spid="3"/>
                                        </p:tgtEl>
                                        <p:attrNameLst>
                                          <p:attrName>ppt_y</p:attrName>
                                        </p:attrNameLst>
                                      </p:cBhvr>
                                      <p:tavLst>
                                        <p:tav tm="0">
                                          <p:val>
                                            <p:strVal val="#ppt_y"/>
                                          </p:val>
                                        </p:tav>
                                        <p:tav tm="100000">
                                          <p:val>
                                            <p:strVal val="#ppt_y"/>
                                          </p:val>
                                        </p:tav>
                                      </p:tavLst>
                                    </p:anim>
                                    <p:anim calcmode="lin" valueType="num">
                                      <p:cBhvr>
                                        <p:cTn id="33" dur="25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34" dur="25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35" dur="250" tmFilter="0,0; .5, 1; 1, 1"/>
                                        <p:tgtEl>
                                          <p:spTgt spid="3"/>
                                        </p:tgtEl>
                                      </p:cBhvr>
                                    </p:animEffect>
                                  </p:childTnLst>
                                </p:cTn>
                              </p:par>
                              <p:par>
                                <p:cTn id="36" presetID="41" presetClass="entr" presetSubtype="0" fill="hold" grpId="0" nodeType="withEffect">
                                  <p:stCondLst>
                                    <p:cond delay="750"/>
                                  </p:stCondLst>
                                  <p:iterate type="lt">
                                    <p:tmPct val="10000"/>
                                  </p:iterate>
                                  <p:childTnLst>
                                    <p:set>
                                      <p:cBhvr>
                                        <p:cTn id="37" dur="1" fill="hold">
                                          <p:stCondLst>
                                            <p:cond delay="0"/>
                                          </p:stCondLst>
                                        </p:cTn>
                                        <p:tgtEl>
                                          <p:spTgt spid="5"/>
                                        </p:tgtEl>
                                        <p:attrNameLst>
                                          <p:attrName>style.visibility</p:attrName>
                                        </p:attrNameLst>
                                      </p:cBhvr>
                                      <p:to>
                                        <p:strVal val="visible"/>
                                      </p:to>
                                    </p:set>
                                    <p:anim calcmode="lin" valueType="num">
                                      <p:cBhvr>
                                        <p:cTn id="38" dur="25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39" dur="250" fill="hold"/>
                                        <p:tgtEl>
                                          <p:spTgt spid="5"/>
                                        </p:tgtEl>
                                        <p:attrNameLst>
                                          <p:attrName>ppt_y</p:attrName>
                                        </p:attrNameLst>
                                      </p:cBhvr>
                                      <p:tavLst>
                                        <p:tav tm="0">
                                          <p:val>
                                            <p:strVal val="#ppt_y"/>
                                          </p:val>
                                        </p:tav>
                                        <p:tav tm="100000">
                                          <p:val>
                                            <p:strVal val="#ppt_y"/>
                                          </p:val>
                                        </p:tav>
                                      </p:tavLst>
                                    </p:anim>
                                    <p:anim calcmode="lin" valueType="num">
                                      <p:cBhvr>
                                        <p:cTn id="40" dur="25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41" dur="25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42" dur="250" tmFilter="0,0; .5, 1; 1, 1"/>
                                        <p:tgtEl>
                                          <p:spTgt spid="5"/>
                                        </p:tgtEl>
                                      </p:cBhvr>
                                    </p:animEffect>
                                  </p:childTnLst>
                                </p:cTn>
                              </p:par>
                              <p:par>
                                <p:cTn id="43" presetID="41" presetClass="entr" presetSubtype="0" fill="hold" grpId="0" nodeType="withEffect">
                                  <p:stCondLst>
                                    <p:cond delay="750"/>
                                  </p:stCondLst>
                                  <p:iterate type="lt">
                                    <p:tmPct val="10000"/>
                                  </p:iterate>
                                  <p:childTnLst>
                                    <p:set>
                                      <p:cBhvr>
                                        <p:cTn id="44" dur="1" fill="hold">
                                          <p:stCondLst>
                                            <p:cond delay="0"/>
                                          </p:stCondLst>
                                        </p:cTn>
                                        <p:tgtEl>
                                          <p:spTgt spid="9"/>
                                        </p:tgtEl>
                                        <p:attrNameLst>
                                          <p:attrName>style.visibility</p:attrName>
                                        </p:attrNameLst>
                                      </p:cBhvr>
                                      <p:to>
                                        <p:strVal val="visible"/>
                                      </p:to>
                                    </p:set>
                                    <p:anim calcmode="lin" valueType="num">
                                      <p:cBhvr>
                                        <p:cTn id="45" dur="25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46" dur="250" fill="hold"/>
                                        <p:tgtEl>
                                          <p:spTgt spid="9"/>
                                        </p:tgtEl>
                                        <p:attrNameLst>
                                          <p:attrName>ppt_y</p:attrName>
                                        </p:attrNameLst>
                                      </p:cBhvr>
                                      <p:tavLst>
                                        <p:tav tm="0">
                                          <p:val>
                                            <p:strVal val="#ppt_y"/>
                                          </p:val>
                                        </p:tav>
                                        <p:tav tm="100000">
                                          <p:val>
                                            <p:strVal val="#ppt_y"/>
                                          </p:val>
                                        </p:tav>
                                      </p:tavLst>
                                    </p:anim>
                                    <p:anim calcmode="lin" valueType="num">
                                      <p:cBhvr>
                                        <p:cTn id="47" dur="25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48" dur="25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49" dur="250" tmFilter="0,0; .5, 1; 1, 1"/>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p:bldP spid="10" grpId="0" animBg="1"/>
      <p:bldP spid="14"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8866" y="365125"/>
            <a:ext cx="10515600" cy="1325563"/>
          </a:xfrm>
        </p:spPr>
        <p:txBody>
          <a:bodyPr/>
          <a:lstStyle/>
          <a:p>
            <a:r>
              <a:rPr lang="zh-CN" altLang="en-US" b="1" dirty="0">
                <a:solidFill>
                  <a:srgbClr val="FF0000"/>
                </a:solidFill>
              </a:rPr>
              <a:t>材质</a:t>
            </a:r>
            <a:r>
              <a:rPr lang="zh-CN" altLang="en-US" sz="1600" b="1" dirty="0">
                <a:solidFill>
                  <a:srgbClr val="FF0000"/>
                </a:solidFill>
              </a:rPr>
              <a:t>新材质于实用层面展开的前景之外，它们如何改变了材料的“意义”</a:t>
            </a:r>
          </a:p>
        </p:txBody>
      </p:sp>
      <p:sp>
        <p:nvSpPr>
          <p:cNvPr id="3" name="内容占位符 2"/>
          <p:cNvSpPr>
            <a:spLocks noGrp="1"/>
          </p:cNvSpPr>
          <p:nvPr>
            <p:ph idx="1"/>
          </p:nvPr>
        </p:nvSpPr>
        <p:spPr/>
        <p:txBody>
          <a:bodyPr>
            <a:normAutofit/>
          </a:bodyPr>
          <a:lstStyle/>
          <a:p>
            <a:r>
              <a:rPr lang="zh-CN" altLang="en-US" sz="2400" dirty="0">
                <a:latin typeface="宋体" panose="02010600030101010101" pitchFamily="2" charset="-122"/>
                <a:ea typeface="宋体" panose="02010600030101010101" pitchFamily="2" charset="-122"/>
              </a:rPr>
              <a:t>木头和石头的材质与水泥、树脂、聚苯乙烯化工合成材料</a:t>
            </a:r>
            <a:r>
              <a:rPr lang="zh-CN" altLang="en-US" sz="1400" dirty="0">
                <a:latin typeface="宋体" panose="02010600030101010101" pitchFamily="2" charset="-122"/>
                <a:ea typeface="宋体" panose="02010600030101010101" pitchFamily="2" charset="-122"/>
              </a:rPr>
              <a:t>（生命性与客观性）</a:t>
            </a:r>
          </a:p>
          <a:p>
            <a:r>
              <a:rPr lang="zh-CN" altLang="en-US" sz="2400" dirty="0">
                <a:latin typeface="宋体" panose="02010600030101010101" pitchFamily="2" charset="-122"/>
                <a:ea typeface="宋体" panose="02010600030101010101" pitchFamily="2" charset="-122"/>
              </a:rPr>
              <a:t>材质的高贵性只能在一个文化意识形态中成立</a:t>
            </a:r>
            <a:r>
              <a:rPr lang="zh-CN" altLang="en-US" sz="1600" dirty="0">
                <a:latin typeface="宋体" panose="02010600030101010101" pitchFamily="2" charset="-122"/>
                <a:ea typeface="宋体" panose="02010600030101010101" pitchFamily="2" charset="-122"/>
              </a:rPr>
              <a:t>（武当山“金顶”）</a:t>
            </a:r>
            <a:endParaRPr lang="en-US" altLang="zh-CN" sz="16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生命材质和生产材质的对立系统</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合成材质摆脱了以自然为基础的象征主义束缚，迈向多种可能</a:t>
            </a:r>
            <a:r>
              <a:rPr lang="zh-CN" altLang="en-US" sz="1200" dirty="0">
                <a:solidFill>
                  <a:srgbClr val="C00000"/>
                </a:solidFill>
                <a:latin typeface="宋体" panose="02010600030101010101" pitchFamily="2" charset="-122"/>
                <a:ea typeface="宋体" panose="02010600030101010101" pitchFamily="2" charset="-122"/>
              </a:rPr>
              <a:t>（案例：太湖石）</a:t>
            </a:r>
            <a:endParaRPr lang="en-US" altLang="zh-CN" sz="1200" dirty="0">
              <a:solidFill>
                <a:srgbClr val="C00000"/>
              </a:solidFill>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多元造型可能和更高程度的抽象，使得普遍的材质结合游戏成为可能</a:t>
            </a:r>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57791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C75B5457-5E64-0DC3-D948-6733B11B309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83879" y="1913702"/>
            <a:ext cx="4876800" cy="3657600"/>
          </a:xfrm>
        </p:spPr>
      </p:pic>
      <p:pic>
        <p:nvPicPr>
          <p:cNvPr id="6" name="图片 5">
            <a:extLst>
              <a:ext uri="{FF2B5EF4-FFF2-40B4-BE49-F238E27FC236}">
                <a16:creationId xmlns:a16="http://schemas.microsoft.com/office/drawing/2014/main" id="{F6A7BA36-5B48-AE6E-8524-A32BF77E5891}"/>
              </a:ext>
            </a:extLst>
          </p:cNvPr>
          <p:cNvPicPr>
            <a:picLocks noChangeAspect="1"/>
          </p:cNvPicPr>
          <p:nvPr/>
        </p:nvPicPr>
        <p:blipFill>
          <a:blip r:embed="rId3"/>
          <a:stretch>
            <a:fillRect/>
          </a:stretch>
        </p:blipFill>
        <p:spPr>
          <a:xfrm>
            <a:off x="1564257" y="592182"/>
            <a:ext cx="4108330" cy="5512443"/>
          </a:xfrm>
          <a:prstGeom prst="rect">
            <a:avLst/>
          </a:prstGeom>
        </p:spPr>
      </p:pic>
    </p:spTree>
    <p:extLst>
      <p:ext uri="{BB962C8B-B14F-4D97-AF65-F5344CB8AC3E}">
        <p14:creationId xmlns:p14="http://schemas.microsoft.com/office/powerpoint/2010/main" val="3338805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353800" cy="1325563"/>
          </a:xfrm>
        </p:spPr>
        <p:txBody>
          <a:bodyPr>
            <a:normAutofit/>
          </a:bodyPr>
          <a:lstStyle/>
          <a:p>
            <a:r>
              <a:rPr lang="zh-CN" altLang="en-US" sz="3600" dirty="0">
                <a:latin typeface="宋体" panose="02010600030101010101" pitchFamily="2" charset="-122"/>
                <a:ea typeface="宋体" panose="02010600030101010101" pitchFamily="2" charset="-122"/>
              </a:rPr>
              <a:t>气氛的逻辑</a:t>
            </a:r>
            <a:r>
              <a:rPr lang="zh-CN" altLang="en-US" sz="2000" dirty="0">
                <a:latin typeface="宋体" panose="02010600030101010101" pitchFamily="2" charset="-122"/>
                <a:ea typeface="宋体" panose="02010600030101010101" pitchFamily="2" charset="-122"/>
              </a:rPr>
              <a:t>一贯性不再是自然的，它存在于一个由记号形成的文化体系中</a:t>
            </a:r>
            <a:endParaRPr lang="zh-CN" altLang="en-US" sz="2000" dirty="0">
              <a:solidFill>
                <a:srgbClr val="FF0000"/>
              </a:solidFill>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a:bodyPr>
          <a:lstStyle/>
          <a:p>
            <a:r>
              <a:rPr lang="zh-CN" altLang="en-US" sz="2400" dirty="0">
                <a:latin typeface="宋体" panose="02010600030101010101" pitchFamily="2" charset="-122"/>
                <a:ea typeface="宋体" panose="02010600030101010101" pitchFamily="2" charset="-122"/>
              </a:rPr>
              <a:t>气氛的逻辑是建立体系的重组：家具</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去中心化的机动性元素</a:t>
            </a:r>
            <a:r>
              <a:rPr lang="zh-CN" altLang="en-US" sz="1200" dirty="0">
                <a:latin typeface="宋体" panose="02010600030101010101" pitchFamily="2" charset="-122"/>
                <a:ea typeface="宋体" panose="02010600030101010101" pitchFamily="2" charset="-122"/>
              </a:rPr>
              <a:t>元件化</a:t>
            </a:r>
            <a:endParaRPr lang="en-US" altLang="zh-CN" sz="12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通过氛围建立一个由记号形成的文化体系</a:t>
            </a:r>
            <a:endParaRPr lang="en-US" altLang="zh-CN" sz="1600" dirty="0">
              <a:latin typeface="宋体" panose="02010600030101010101" pitchFamily="2" charset="-122"/>
              <a:ea typeface="宋体" panose="02010600030101010101" pitchFamily="2" charset="-122"/>
            </a:endParaRPr>
          </a:p>
          <a:p>
            <a:pPr marL="0" indent="0">
              <a:buNone/>
            </a:pPr>
            <a:r>
              <a:rPr lang="en-US" altLang="zh-CN" sz="1600" dirty="0">
                <a:latin typeface="宋体" panose="02010600030101010101" pitchFamily="2" charset="-122"/>
                <a:ea typeface="宋体" panose="02010600030101010101" pitchFamily="2" charset="-122"/>
              </a:rPr>
              <a:t>                                         </a:t>
            </a:r>
            <a:r>
              <a:rPr lang="zh-CN" altLang="en-US" sz="1600" dirty="0">
                <a:latin typeface="宋体" panose="02010600030101010101" pitchFamily="2" charset="-122"/>
                <a:ea typeface="宋体" panose="02010600030101010101" pitchFamily="2" charset="-122"/>
              </a:rPr>
              <a:t>不同的场景功能：普罗旺斯风格、中式庭院及东南亚热带雨林等</a:t>
            </a:r>
            <a:endParaRPr lang="en-US" altLang="zh-CN" sz="16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怀旧情绪以“真实”的物品整体，排列组合变化的方式</a:t>
            </a:r>
            <a:r>
              <a:rPr lang="zh-CN" altLang="en-US" sz="1400" dirty="0">
                <a:latin typeface="宋体" panose="02010600030101010101" pitchFamily="2" charset="-122"/>
                <a:ea typeface="宋体" panose="02010600030101010101" pitchFamily="2" charset="-122"/>
              </a:rPr>
              <a:t>变量完成风格逻辑的均衡</a:t>
            </a:r>
            <a:endParaRPr lang="en-US" altLang="zh-CN" sz="1400" dirty="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世纪腐烂的雕像和未来主义的金属摆件摆在一起不是不合逻辑的</a:t>
            </a:r>
            <a:r>
              <a:rPr lang="zh-CN" altLang="en-US" sz="1600" dirty="0">
                <a:latin typeface="宋体" panose="02010600030101010101" pitchFamily="2" charset="-122"/>
                <a:ea typeface="宋体" panose="02010600030101010101" pitchFamily="2" charset="-122"/>
              </a:rPr>
              <a:t>穿越风格</a:t>
            </a:r>
            <a:endParaRPr lang="en-US" altLang="zh-CN" sz="1600" dirty="0">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“组合”将记号</a:t>
            </a:r>
            <a:r>
              <a:rPr lang="zh-CN" altLang="en-US" sz="1600" dirty="0">
                <a:solidFill>
                  <a:srgbClr val="FF0000"/>
                </a:solidFill>
                <a:latin typeface="宋体" panose="02010600030101010101" pitchFamily="2" charset="-122"/>
                <a:ea typeface="宋体" panose="02010600030101010101" pitchFamily="2" charset="-122"/>
              </a:rPr>
              <a:t>（受主观投注价值的元素</a:t>
            </a:r>
            <a:r>
              <a:rPr lang="zh-CN" altLang="en-US" sz="2400" dirty="0">
                <a:solidFill>
                  <a:srgbClr val="FF0000"/>
                </a:solidFill>
                <a:latin typeface="宋体" panose="02010600030101010101" pitchFamily="2" charset="-122"/>
                <a:ea typeface="宋体" panose="02010600030101010101" pitchFamily="2" charset="-122"/>
              </a:rPr>
              <a:t>）再带回体系的逻辑里</a:t>
            </a:r>
            <a:endParaRPr lang="en-US" altLang="zh-CN" sz="2400" dirty="0">
              <a:solidFill>
                <a:srgbClr val="FF0000"/>
              </a:solidFill>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记号的排列组合是不可逆转又没有限制的</a:t>
            </a:r>
            <a:r>
              <a:rPr lang="en-US" altLang="zh-CN" sz="2400" dirty="0">
                <a:solidFill>
                  <a:srgbClr val="FF0000"/>
                </a:solidFill>
                <a:latin typeface="宋体" panose="02010600030101010101" pitchFamily="2" charset="-122"/>
                <a:ea typeface="宋体" panose="02010600030101010101" pitchFamily="2" charset="-122"/>
              </a:rPr>
              <a:t>P42</a:t>
            </a:r>
          </a:p>
          <a:p>
            <a:endParaRPr lang="en-US" altLang="zh-CN" sz="2400" dirty="0">
              <a:latin typeface="宋体" panose="02010600030101010101" pitchFamily="2" charset="-122"/>
              <a:ea typeface="宋体" panose="02010600030101010101" pitchFamily="2" charset="-122"/>
            </a:endParaRPr>
          </a:p>
          <a:p>
            <a:endParaRPr lang="en-US" altLang="zh-CN" sz="1600" dirty="0">
              <a:latin typeface="宋体" panose="02010600030101010101" pitchFamily="2" charset="-122"/>
              <a:ea typeface="宋体" panose="02010600030101010101" pitchFamily="2" charset="-122"/>
            </a:endParaRPr>
          </a:p>
          <a:p>
            <a:endParaRPr lang="en-US" altLang="zh-CN" sz="1600" dirty="0">
              <a:latin typeface="宋体" panose="02010600030101010101" pitchFamily="2" charset="-122"/>
              <a:ea typeface="宋体" panose="02010600030101010101" pitchFamily="2" charset="-122"/>
            </a:endParaRPr>
          </a:p>
          <a:p>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697703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39489" y="185980"/>
            <a:ext cx="3671761" cy="3540627"/>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0286" y="1520206"/>
            <a:ext cx="3630729" cy="2978647"/>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101" y="3540627"/>
            <a:ext cx="4084694" cy="2936929"/>
          </a:xfrm>
          <a:prstGeom prst="rect">
            <a:avLst/>
          </a:prstGeom>
        </p:spPr>
      </p:pic>
    </p:spTree>
    <p:extLst>
      <p:ext uri="{BB962C8B-B14F-4D97-AF65-F5344CB8AC3E}">
        <p14:creationId xmlns:p14="http://schemas.microsoft.com/office/powerpoint/2010/main" val="1545609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8623" y="2038120"/>
            <a:ext cx="10967224" cy="2617127"/>
          </a:xfrm>
          <a:prstGeom prst="rect">
            <a:avLst/>
          </a:prstGeom>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玻璃不会产生偏好，不会因内容而随时间演变，不会遮隐内容</a:t>
            </a:r>
            <a:endParaRPr kumimoji="0" lang="en-US" altLang="zh-CN"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零程度材质：透明性</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隔绝：阻止混淆、凝固</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内外的超越：象征</a:t>
            </a: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冻结的、抽象化象征</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（看见又排除的关系）</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帮助整个世界以剧场表演的身份被整合于居家天地</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例如：玻璃天棚的游泳池或温泉（在水中的人与天空</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身在自然的拟态）</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3" name="文本框 2"/>
          <p:cNvSpPr txBox="1"/>
          <p:nvPr/>
        </p:nvSpPr>
        <p:spPr>
          <a:xfrm>
            <a:off x="1255922" y="694063"/>
            <a:ext cx="434100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Arial"/>
                <a:ea typeface="微软雅黑"/>
                <a:cs typeface="+mn-cs"/>
              </a:rPr>
              <a:t>模范材质：玻璃        </a:t>
            </a:r>
            <a:r>
              <a:rPr kumimoji="0" lang="en-US" altLang="zh-CN" sz="1600" b="0" i="0" u="none" strike="noStrike" kern="1200" cap="none" spc="0" normalizeH="0" baseline="0" noProof="0" dirty="0">
                <a:ln>
                  <a:noFill/>
                </a:ln>
                <a:solidFill>
                  <a:srgbClr val="FF0000"/>
                </a:solidFill>
                <a:effectLst/>
                <a:uLnTx/>
                <a:uFillTx/>
                <a:latin typeface="Arial"/>
                <a:ea typeface="微软雅黑"/>
                <a:cs typeface="+mn-cs"/>
              </a:rPr>
              <a:t>P44</a:t>
            </a:r>
            <a:endParaRPr kumimoji="0" lang="zh-CN" altLang="en-US" sz="1600" b="0" i="0" u="none" strike="noStrike" kern="1200" cap="none" spc="0" normalizeH="0" baseline="0" noProof="0" dirty="0">
              <a:ln>
                <a:noFill/>
              </a:ln>
              <a:solidFill>
                <a:srgbClr val="FF0000"/>
              </a:solidFill>
              <a:effectLst/>
              <a:uLnTx/>
              <a:uFillTx/>
              <a:latin typeface="Arial"/>
              <a:ea typeface="微软雅黑"/>
              <a:cs typeface="+mn-cs"/>
            </a:endParaRPr>
          </a:p>
        </p:txBody>
      </p:sp>
    </p:spTree>
    <p:extLst>
      <p:ext uri="{BB962C8B-B14F-4D97-AF65-F5344CB8AC3E}">
        <p14:creationId xmlns:p14="http://schemas.microsoft.com/office/powerpoint/2010/main" val="287291434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549992" y="235027"/>
            <a:ext cx="3467215" cy="6163937"/>
          </a:xfrm>
          <a:prstGeom prst="rect">
            <a:avLst/>
          </a:prstGeom>
        </p:spPr>
      </p:pic>
      <p:pic>
        <p:nvPicPr>
          <p:cNvPr id="4" name="图片 3"/>
          <p:cNvPicPr>
            <a:picLocks noChangeAspect="1"/>
          </p:cNvPicPr>
          <p:nvPr/>
        </p:nvPicPr>
        <p:blipFill>
          <a:blip r:embed="rId3"/>
          <a:stretch>
            <a:fillRect/>
          </a:stretch>
        </p:blipFill>
        <p:spPr>
          <a:xfrm>
            <a:off x="6257581" y="258388"/>
            <a:ext cx="3649279" cy="6487607"/>
          </a:xfrm>
          <a:prstGeom prst="rect">
            <a:avLst/>
          </a:prstGeom>
        </p:spPr>
      </p:pic>
    </p:spTree>
    <p:extLst>
      <p:ext uri="{BB962C8B-B14F-4D97-AF65-F5344CB8AC3E}">
        <p14:creationId xmlns:p14="http://schemas.microsoft.com/office/powerpoint/2010/main" val="1958144125"/>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29766" y="2412984"/>
            <a:ext cx="2009114"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5B9BD5">
                    <a:lumMod val="50000"/>
                  </a:srgbClr>
                </a:solidFill>
                <a:effectLst/>
                <a:uLnTx/>
                <a:uFillTx/>
                <a:latin typeface="Arial"/>
                <a:ea typeface="微软雅黑"/>
                <a:cs typeface="+mn-cs"/>
                <a:sym typeface="Arial"/>
              </a:rPr>
              <a:t>传统手势：劳动</a:t>
            </a:r>
          </a:p>
        </p:txBody>
      </p:sp>
      <p:sp>
        <p:nvSpPr>
          <p:cNvPr id="5" name="矩形 4"/>
          <p:cNvSpPr/>
          <p:nvPr/>
        </p:nvSpPr>
        <p:spPr>
          <a:xfrm>
            <a:off x="2444451" y="4282082"/>
            <a:ext cx="2009114"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44546A"/>
                </a:solidFill>
                <a:effectLst/>
                <a:uLnTx/>
                <a:uFillTx/>
                <a:latin typeface="Arial"/>
                <a:ea typeface="微软雅黑"/>
                <a:cs typeface="+mn-cs"/>
                <a:sym typeface="Arial"/>
              </a:rPr>
              <a:t>功能化手势：记号</a:t>
            </a:r>
          </a:p>
        </p:txBody>
      </p:sp>
      <p:sp>
        <p:nvSpPr>
          <p:cNvPr id="9" name="矩形 8"/>
          <p:cNvSpPr/>
          <p:nvPr/>
        </p:nvSpPr>
        <p:spPr>
          <a:xfrm>
            <a:off x="6491801" y="1933213"/>
            <a:ext cx="200911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4546A"/>
                </a:solidFill>
                <a:effectLst/>
                <a:uLnTx/>
                <a:uFillTx/>
                <a:latin typeface="Arial"/>
                <a:ea typeface="微软雅黑"/>
                <a:cs typeface="Arial" panose="020B0604020202020204" pitchFamily="34" charset="0"/>
                <a:sym typeface="Arial"/>
              </a:rPr>
              <a:t>新的操作场域</a:t>
            </a:r>
            <a:endParaRPr kumimoji="0" lang="zh-CN" altLang="en-US" sz="1600" b="1" i="0" u="none" strike="noStrike" kern="1200" cap="none" spc="0" normalizeH="0" baseline="0" noProof="0" dirty="0">
              <a:ln>
                <a:noFill/>
              </a:ln>
              <a:solidFill>
                <a:srgbClr val="44546A"/>
              </a:solidFill>
              <a:effectLst/>
              <a:uLnTx/>
              <a:uFillTx/>
              <a:latin typeface="Arial"/>
              <a:ea typeface="微软雅黑"/>
              <a:cs typeface="+mn-cs"/>
              <a:sym typeface="Arial"/>
            </a:endParaRPr>
          </a:p>
        </p:txBody>
      </p:sp>
      <p:sp>
        <p:nvSpPr>
          <p:cNvPr id="10" name="泪滴形 9"/>
          <p:cNvSpPr/>
          <p:nvPr/>
        </p:nvSpPr>
        <p:spPr>
          <a:xfrm rot="9784955">
            <a:off x="7326569" y="2904017"/>
            <a:ext cx="1244191" cy="1225670"/>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A9BD5"/>
              </a:solidFill>
              <a:effectLst/>
              <a:uLnTx/>
              <a:uFillTx/>
              <a:latin typeface="Arial"/>
              <a:ea typeface="微软雅黑"/>
              <a:cs typeface="+mn-cs"/>
              <a:sym typeface="Arial"/>
            </a:endParaRPr>
          </a:p>
        </p:txBody>
      </p:sp>
      <p:sp>
        <p:nvSpPr>
          <p:cNvPr id="14" name="泪滴形 13"/>
          <p:cNvSpPr/>
          <p:nvPr/>
        </p:nvSpPr>
        <p:spPr>
          <a:xfrm rot="7942971">
            <a:off x="5559754" y="2211190"/>
            <a:ext cx="1410943" cy="1389940"/>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15" name="泪滴形 14"/>
          <p:cNvSpPr/>
          <p:nvPr/>
        </p:nvSpPr>
        <p:spPr>
          <a:xfrm rot="7285796">
            <a:off x="5086152" y="3328172"/>
            <a:ext cx="918837" cy="905160"/>
          </a:xfrm>
          <a:prstGeom prst="teardrop">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16" name="泪滴形 15"/>
          <p:cNvSpPr/>
          <p:nvPr/>
        </p:nvSpPr>
        <p:spPr>
          <a:xfrm rot="6923497">
            <a:off x="3923889" y="2865276"/>
            <a:ext cx="1205810" cy="1208514"/>
          </a:xfrm>
          <a:prstGeom prst="teardrop">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nvGrpSpPr>
          <p:cNvPr id="23" name="组合 22"/>
          <p:cNvGrpSpPr/>
          <p:nvPr/>
        </p:nvGrpSpPr>
        <p:grpSpPr>
          <a:xfrm>
            <a:off x="5722197" y="5596603"/>
            <a:ext cx="996157" cy="907433"/>
            <a:chOff x="4677169" y="5922786"/>
            <a:chExt cx="996157" cy="907433"/>
          </a:xfrm>
          <a:solidFill>
            <a:schemeClr val="tx1">
              <a:lumMod val="75000"/>
              <a:lumOff val="25000"/>
            </a:schemeClr>
          </a:solidFill>
        </p:grpSpPr>
        <p:sp>
          <p:nvSpPr>
            <p:cNvPr id="24" name="任意多边形 23"/>
            <p:cNvSpPr/>
            <p:nvPr/>
          </p:nvSpPr>
          <p:spPr>
            <a:xfrm>
              <a:off x="4677169" y="6215063"/>
              <a:ext cx="996157" cy="615156"/>
            </a:xfrm>
            <a:custGeom>
              <a:avLst/>
              <a:gdLst>
                <a:gd name="connsiteX0" fmla="*/ 27998 w 996157"/>
                <a:gd name="connsiteY0" fmla="*/ 0 h 615156"/>
                <a:gd name="connsiteX1" fmla="*/ 146692 w 996157"/>
                <a:gd name="connsiteY1" fmla="*/ 0 h 615156"/>
                <a:gd name="connsiteX2" fmla="*/ 392754 w 996157"/>
                <a:gd name="connsiteY2" fmla="*/ 0 h 615156"/>
                <a:gd name="connsiteX3" fmla="*/ 392112 w 996157"/>
                <a:gd name="connsiteY3" fmla="*/ 1550 h 615156"/>
                <a:gd name="connsiteX4" fmla="*/ 392112 w 996157"/>
                <a:gd name="connsiteY4" fmla="*/ 492961 h 615156"/>
                <a:gd name="connsiteX5" fmla="*/ 434140 w 996157"/>
                <a:gd name="connsiteY5" fmla="*/ 534989 h 615156"/>
                <a:gd name="connsiteX6" fmla="*/ 562015 w 996157"/>
                <a:gd name="connsiteY6" fmla="*/ 534989 h 615156"/>
                <a:gd name="connsiteX7" fmla="*/ 604043 w 996157"/>
                <a:gd name="connsiteY7" fmla="*/ 492961 h 615156"/>
                <a:gd name="connsiteX8" fmla="*/ 604043 w 996157"/>
                <a:gd name="connsiteY8" fmla="*/ 1550 h 615156"/>
                <a:gd name="connsiteX9" fmla="*/ 603401 w 996157"/>
                <a:gd name="connsiteY9" fmla="*/ 0 h 615156"/>
                <a:gd name="connsiteX10" fmla="*/ 849467 w 996157"/>
                <a:gd name="connsiteY10" fmla="*/ 0 h 615156"/>
                <a:gd name="connsiteX11" fmla="*/ 968159 w 996157"/>
                <a:gd name="connsiteY11" fmla="*/ 0 h 615156"/>
                <a:gd name="connsiteX12" fmla="*/ 996157 w 996157"/>
                <a:gd name="connsiteY12" fmla="*/ 27998 h 615156"/>
                <a:gd name="connsiteX13" fmla="*/ 996157 w 996157"/>
                <a:gd name="connsiteY13" fmla="*/ 260133 h 615156"/>
                <a:gd name="connsiteX14" fmla="*/ 968159 w 996157"/>
                <a:gd name="connsiteY14" fmla="*/ 288131 h 615156"/>
                <a:gd name="connsiteX15" fmla="*/ 909242 w 996157"/>
                <a:gd name="connsiteY15" fmla="*/ 288131 h 615156"/>
                <a:gd name="connsiteX16" fmla="*/ 909242 w 996157"/>
                <a:gd name="connsiteY16" fmla="*/ 555381 h 615156"/>
                <a:gd name="connsiteX17" fmla="*/ 849467 w 996157"/>
                <a:gd name="connsiteY17" fmla="*/ 615156 h 615156"/>
                <a:gd name="connsiteX18" fmla="*/ 146692 w 996157"/>
                <a:gd name="connsiteY18" fmla="*/ 615156 h 615156"/>
                <a:gd name="connsiteX19" fmla="*/ 86917 w 996157"/>
                <a:gd name="connsiteY19" fmla="*/ 555381 h 615156"/>
                <a:gd name="connsiteX20" fmla="*/ 86917 w 996157"/>
                <a:gd name="connsiteY20" fmla="*/ 288131 h 615156"/>
                <a:gd name="connsiteX21" fmla="*/ 27998 w 996157"/>
                <a:gd name="connsiteY21" fmla="*/ 288131 h 615156"/>
                <a:gd name="connsiteX22" fmla="*/ 0 w 996157"/>
                <a:gd name="connsiteY22" fmla="*/ 260133 h 615156"/>
                <a:gd name="connsiteX23" fmla="*/ 0 w 996157"/>
                <a:gd name="connsiteY23" fmla="*/ 27998 h 615156"/>
                <a:gd name="connsiteX24" fmla="*/ 27998 w 996157"/>
                <a:gd name="connsiteY24" fmla="*/ 0 h 61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157" h="615156">
                  <a:moveTo>
                    <a:pt x="27998" y="0"/>
                  </a:moveTo>
                  <a:lnTo>
                    <a:pt x="146692" y="0"/>
                  </a:lnTo>
                  <a:lnTo>
                    <a:pt x="392754" y="0"/>
                  </a:lnTo>
                  <a:lnTo>
                    <a:pt x="392112" y="1550"/>
                  </a:lnTo>
                  <a:lnTo>
                    <a:pt x="392112" y="492961"/>
                  </a:lnTo>
                  <a:cubicBezTo>
                    <a:pt x="392112" y="516172"/>
                    <a:pt x="410929" y="534989"/>
                    <a:pt x="434140" y="534989"/>
                  </a:cubicBezTo>
                  <a:lnTo>
                    <a:pt x="562015" y="534989"/>
                  </a:lnTo>
                  <a:cubicBezTo>
                    <a:pt x="585226" y="534989"/>
                    <a:pt x="604043" y="516172"/>
                    <a:pt x="604043" y="492961"/>
                  </a:cubicBezTo>
                  <a:lnTo>
                    <a:pt x="604043" y="1550"/>
                  </a:lnTo>
                  <a:lnTo>
                    <a:pt x="603401" y="0"/>
                  </a:lnTo>
                  <a:lnTo>
                    <a:pt x="849467" y="0"/>
                  </a:lnTo>
                  <a:lnTo>
                    <a:pt x="968159" y="0"/>
                  </a:lnTo>
                  <a:cubicBezTo>
                    <a:pt x="983622" y="0"/>
                    <a:pt x="996157" y="12535"/>
                    <a:pt x="996157" y="27998"/>
                  </a:cubicBezTo>
                  <a:lnTo>
                    <a:pt x="996157" y="260133"/>
                  </a:lnTo>
                  <a:cubicBezTo>
                    <a:pt x="996157" y="275596"/>
                    <a:pt x="983622" y="288131"/>
                    <a:pt x="968159" y="288131"/>
                  </a:cubicBezTo>
                  <a:lnTo>
                    <a:pt x="909242" y="288131"/>
                  </a:lnTo>
                  <a:lnTo>
                    <a:pt x="909242" y="555381"/>
                  </a:lnTo>
                  <a:cubicBezTo>
                    <a:pt x="909242" y="588394"/>
                    <a:pt x="882480" y="615156"/>
                    <a:pt x="849467" y="615156"/>
                  </a:cubicBezTo>
                  <a:lnTo>
                    <a:pt x="146692" y="615156"/>
                  </a:lnTo>
                  <a:cubicBezTo>
                    <a:pt x="113679" y="615156"/>
                    <a:pt x="86917" y="588394"/>
                    <a:pt x="86917" y="555381"/>
                  </a:cubicBezTo>
                  <a:lnTo>
                    <a:pt x="86917" y="288131"/>
                  </a:lnTo>
                  <a:lnTo>
                    <a:pt x="27998" y="288131"/>
                  </a:lnTo>
                  <a:cubicBezTo>
                    <a:pt x="12535" y="288131"/>
                    <a:pt x="0" y="275596"/>
                    <a:pt x="0" y="260133"/>
                  </a:cubicBezTo>
                  <a:lnTo>
                    <a:pt x="0" y="27998"/>
                  </a:lnTo>
                  <a:cubicBezTo>
                    <a:pt x="0" y="12535"/>
                    <a:pt x="12535" y="0"/>
                    <a:pt x="27998"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5" name="任意多边形 24"/>
            <p:cNvSpPr/>
            <p:nvPr/>
          </p:nvSpPr>
          <p:spPr>
            <a:xfrm rot="10168383" flipH="1">
              <a:off x="4843629" y="5922788"/>
              <a:ext cx="306974" cy="324112"/>
            </a:xfrm>
            <a:custGeom>
              <a:avLst/>
              <a:gdLst>
                <a:gd name="connsiteX0" fmla="*/ 183422 w 306974"/>
                <a:gd name="connsiteY0" fmla="*/ 225886 h 324112"/>
                <a:gd name="connsiteX1" fmla="*/ 153487 w 306974"/>
                <a:gd name="connsiteY1" fmla="*/ 231330 h 324112"/>
                <a:gd name="connsiteX2" fmla="*/ 76581 w 306974"/>
                <a:gd name="connsiteY2" fmla="*/ 162059 h 324112"/>
                <a:gd name="connsiteX3" fmla="*/ 76582 w 306974"/>
                <a:gd name="connsiteY3" fmla="*/ 162059 h 324112"/>
                <a:gd name="connsiteX4" fmla="*/ 153487 w 306974"/>
                <a:gd name="connsiteY4" fmla="*/ 92788 h 324112"/>
                <a:gd name="connsiteX5" fmla="*/ 231475 w 306974"/>
                <a:gd name="connsiteY5" fmla="*/ 91813 h 324112"/>
                <a:gd name="connsiteX6" fmla="*/ 230393 w 306974"/>
                <a:gd name="connsiteY6" fmla="*/ 162059 h 324112"/>
                <a:gd name="connsiteX7" fmla="*/ 183422 w 306974"/>
                <a:gd name="connsiteY7" fmla="*/ 225886 h 324112"/>
                <a:gd name="connsiteX8" fmla="*/ 153487 w 306974"/>
                <a:gd name="connsiteY8" fmla="*/ 324112 h 324112"/>
                <a:gd name="connsiteX9" fmla="*/ 306974 w 306974"/>
                <a:gd name="connsiteY9" fmla="*/ 162056 h 324112"/>
                <a:gd name="connsiteX10" fmla="*/ 306974 w 306974"/>
                <a:gd name="connsiteY10" fmla="*/ 0 h 324112"/>
                <a:gd name="connsiteX11" fmla="*/ 153487 w 306974"/>
                <a:gd name="connsiteY11" fmla="*/ 0 h 324112"/>
                <a:gd name="connsiteX12" fmla="*/ 0 w 306974"/>
                <a:gd name="connsiteY12" fmla="*/ 162056 h 324112"/>
                <a:gd name="connsiteX13" fmla="*/ 153487 w 306974"/>
                <a:gd name="connsiteY13" fmla="*/ 324112 h 324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6974" h="324112">
                  <a:moveTo>
                    <a:pt x="183422" y="225886"/>
                  </a:moveTo>
                  <a:cubicBezTo>
                    <a:pt x="174221" y="229392"/>
                    <a:pt x="164106" y="231330"/>
                    <a:pt x="153487" y="231330"/>
                  </a:cubicBezTo>
                  <a:cubicBezTo>
                    <a:pt x="111012" y="231330"/>
                    <a:pt x="76581" y="200316"/>
                    <a:pt x="76581" y="162059"/>
                  </a:cubicBezTo>
                  <a:lnTo>
                    <a:pt x="76582" y="162059"/>
                  </a:lnTo>
                  <a:cubicBezTo>
                    <a:pt x="76582" y="123802"/>
                    <a:pt x="111014" y="92788"/>
                    <a:pt x="153487" y="92788"/>
                  </a:cubicBezTo>
                  <a:cubicBezTo>
                    <a:pt x="179484" y="92788"/>
                    <a:pt x="205480" y="92463"/>
                    <a:pt x="231475" y="91813"/>
                  </a:cubicBezTo>
                  <a:cubicBezTo>
                    <a:pt x="230754" y="115228"/>
                    <a:pt x="230393" y="138644"/>
                    <a:pt x="230393" y="162059"/>
                  </a:cubicBezTo>
                  <a:cubicBezTo>
                    <a:pt x="230393" y="190751"/>
                    <a:pt x="211024" y="215370"/>
                    <a:pt x="183422" y="225886"/>
                  </a:cubicBezTo>
                  <a:close/>
                  <a:moveTo>
                    <a:pt x="153487" y="324112"/>
                  </a:moveTo>
                  <a:cubicBezTo>
                    <a:pt x="238256" y="324112"/>
                    <a:pt x="306974" y="251557"/>
                    <a:pt x="306974" y="162056"/>
                  </a:cubicBezTo>
                  <a:lnTo>
                    <a:pt x="306974" y="0"/>
                  </a:lnTo>
                  <a:lnTo>
                    <a:pt x="153487" y="0"/>
                  </a:lnTo>
                  <a:cubicBezTo>
                    <a:pt x="68718" y="0"/>
                    <a:pt x="0" y="72555"/>
                    <a:pt x="0" y="162056"/>
                  </a:cubicBezTo>
                  <a:cubicBezTo>
                    <a:pt x="0" y="251557"/>
                    <a:pt x="68718" y="324112"/>
                    <a:pt x="153487" y="3241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6" name="任意多边形 25"/>
            <p:cNvSpPr/>
            <p:nvPr/>
          </p:nvSpPr>
          <p:spPr>
            <a:xfrm rot="11431617">
              <a:off x="5176883" y="5922786"/>
              <a:ext cx="306974" cy="324112"/>
            </a:xfrm>
            <a:custGeom>
              <a:avLst/>
              <a:gdLst>
                <a:gd name="connsiteX0" fmla="*/ 183422 w 306974"/>
                <a:gd name="connsiteY0" fmla="*/ 225886 h 324112"/>
                <a:gd name="connsiteX1" fmla="*/ 153487 w 306974"/>
                <a:gd name="connsiteY1" fmla="*/ 231330 h 324112"/>
                <a:gd name="connsiteX2" fmla="*/ 76581 w 306974"/>
                <a:gd name="connsiteY2" fmla="*/ 162059 h 324112"/>
                <a:gd name="connsiteX3" fmla="*/ 76582 w 306974"/>
                <a:gd name="connsiteY3" fmla="*/ 162059 h 324112"/>
                <a:gd name="connsiteX4" fmla="*/ 153487 w 306974"/>
                <a:gd name="connsiteY4" fmla="*/ 92788 h 324112"/>
                <a:gd name="connsiteX5" fmla="*/ 231475 w 306974"/>
                <a:gd name="connsiteY5" fmla="*/ 91813 h 324112"/>
                <a:gd name="connsiteX6" fmla="*/ 230393 w 306974"/>
                <a:gd name="connsiteY6" fmla="*/ 162059 h 324112"/>
                <a:gd name="connsiteX7" fmla="*/ 183422 w 306974"/>
                <a:gd name="connsiteY7" fmla="*/ 225886 h 324112"/>
                <a:gd name="connsiteX8" fmla="*/ 153487 w 306974"/>
                <a:gd name="connsiteY8" fmla="*/ 324112 h 324112"/>
                <a:gd name="connsiteX9" fmla="*/ 306974 w 306974"/>
                <a:gd name="connsiteY9" fmla="*/ 162056 h 324112"/>
                <a:gd name="connsiteX10" fmla="*/ 306974 w 306974"/>
                <a:gd name="connsiteY10" fmla="*/ 0 h 324112"/>
                <a:gd name="connsiteX11" fmla="*/ 153487 w 306974"/>
                <a:gd name="connsiteY11" fmla="*/ 0 h 324112"/>
                <a:gd name="connsiteX12" fmla="*/ 0 w 306974"/>
                <a:gd name="connsiteY12" fmla="*/ 162056 h 324112"/>
                <a:gd name="connsiteX13" fmla="*/ 153487 w 306974"/>
                <a:gd name="connsiteY13" fmla="*/ 324112 h 324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6974" h="324112">
                  <a:moveTo>
                    <a:pt x="183422" y="225886"/>
                  </a:moveTo>
                  <a:cubicBezTo>
                    <a:pt x="174221" y="229392"/>
                    <a:pt x="164106" y="231330"/>
                    <a:pt x="153487" y="231330"/>
                  </a:cubicBezTo>
                  <a:cubicBezTo>
                    <a:pt x="111012" y="231330"/>
                    <a:pt x="76581" y="200316"/>
                    <a:pt x="76581" y="162059"/>
                  </a:cubicBezTo>
                  <a:lnTo>
                    <a:pt x="76582" y="162059"/>
                  </a:lnTo>
                  <a:cubicBezTo>
                    <a:pt x="76582" y="123802"/>
                    <a:pt x="111014" y="92788"/>
                    <a:pt x="153487" y="92788"/>
                  </a:cubicBezTo>
                  <a:cubicBezTo>
                    <a:pt x="179484" y="92788"/>
                    <a:pt x="205480" y="92463"/>
                    <a:pt x="231475" y="91813"/>
                  </a:cubicBezTo>
                  <a:cubicBezTo>
                    <a:pt x="230754" y="115228"/>
                    <a:pt x="230393" y="138644"/>
                    <a:pt x="230393" y="162059"/>
                  </a:cubicBezTo>
                  <a:cubicBezTo>
                    <a:pt x="230393" y="190751"/>
                    <a:pt x="211024" y="215370"/>
                    <a:pt x="183422" y="225886"/>
                  </a:cubicBezTo>
                  <a:close/>
                  <a:moveTo>
                    <a:pt x="153487" y="324112"/>
                  </a:moveTo>
                  <a:cubicBezTo>
                    <a:pt x="238256" y="324112"/>
                    <a:pt x="306974" y="251557"/>
                    <a:pt x="306974" y="162056"/>
                  </a:cubicBezTo>
                  <a:lnTo>
                    <a:pt x="306974" y="0"/>
                  </a:lnTo>
                  <a:lnTo>
                    <a:pt x="153487" y="0"/>
                  </a:lnTo>
                  <a:cubicBezTo>
                    <a:pt x="68718" y="0"/>
                    <a:pt x="0" y="72555"/>
                    <a:pt x="0" y="162056"/>
                  </a:cubicBezTo>
                  <a:cubicBezTo>
                    <a:pt x="0" y="251557"/>
                    <a:pt x="68718" y="324112"/>
                    <a:pt x="153487" y="3241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sp>
          <p:nvSpPr>
            <p:cNvPr id="27" name="圆角矩形 26"/>
            <p:cNvSpPr/>
            <p:nvPr/>
          </p:nvSpPr>
          <p:spPr>
            <a:xfrm>
              <a:off x="4943043" y="6172201"/>
              <a:ext cx="403011" cy="6429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cxnSp>
        <p:nvCxnSpPr>
          <p:cNvPr id="28" name="直接连接符 27"/>
          <p:cNvCxnSpPr>
            <a:stCxn id="16" idx="7"/>
            <a:endCxn id="25" idx="9"/>
          </p:cNvCxnSpPr>
          <p:nvPr/>
        </p:nvCxnSpPr>
        <p:spPr>
          <a:xfrm>
            <a:off x="4814151" y="4273303"/>
            <a:ext cx="1378897" cy="14573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5" idx="7"/>
            <a:endCxn id="25" idx="9"/>
          </p:cNvCxnSpPr>
          <p:nvPr/>
        </p:nvCxnSpPr>
        <p:spPr>
          <a:xfrm>
            <a:off x="5692181" y="4408764"/>
            <a:ext cx="500867" cy="13218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265226" y="3904506"/>
            <a:ext cx="5401" cy="182611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5" idx="9"/>
          </p:cNvCxnSpPr>
          <p:nvPr/>
        </p:nvCxnSpPr>
        <p:spPr>
          <a:xfrm flipH="1">
            <a:off x="6193048" y="4279429"/>
            <a:ext cx="1343537" cy="14511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779156" y="584518"/>
            <a:ext cx="479330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00" cap="none" spc="0" normalizeH="0" baseline="0" noProof="0" dirty="0">
                <a:ln>
                  <a:noFill/>
                </a:ln>
                <a:solidFill>
                  <a:srgbClr val="482E3F"/>
                </a:solidFill>
                <a:effectLst/>
                <a:uLnTx/>
                <a:uFillTx/>
                <a:latin typeface="华文宋体" panose="02010600040101010101" pitchFamily="2" charset="-122"/>
                <a:ea typeface="宋体" panose="02010600030101010101" pitchFamily="2" charset="-122"/>
                <a:cs typeface="方正苏新诗柳楷简体-yolan" panose="02000000000000000000" pitchFamily="2" charset="-122"/>
                <a:sym typeface="Arial"/>
              </a:rPr>
              <a:t>气氛价值：</a:t>
            </a:r>
            <a:r>
              <a:rPr kumimoji="0" lang="zh-CN" altLang="en-US" sz="1800" b="0" i="0" u="none" strike="noStrike" kern="100" cap="none" spc="0" normalizeH="0" baseline="0" noProof="0" dirty="0">
                <a:ln>
                  <a:noFill/>
                </a:ln>
                <a:solidFill>
                  <a:srgbClr val="482E3F"/>
                </a:solidFill>
                <a:effectLst/>
                <a:uLnTx/>
                <a:uFillTx/>
                <a:latin typeface="华文宋体" panose="02010600040101010101" pitchFamily="2" charset="-122"/>
                <a:ea typeface="宋体" panose="02010600030101010101" pitchFamily="2" charset="-122"/>
                <a:cs typeface="方正苏新诗柳楷简体-yolan" panose="02000000000000000000" pitchFamily="2" charset="-122"/>
                <a:sym typeface="Arial"/>
              </a:rPr>
              <a:t>手势与形式</a:t>
            </a:r>
            <a:r>
              <a:rPr kumimoji="0" lang="zh-CN" altLang="en-US" sz="1200" b="0" i="0" u="none" strike="noStrike" kern="100" cap="none" spc="0" normalizeH="0" baseline="0" noProof="0" dirty="0">
                <a:ln>
                  <a:noFill/>
                </a:ln>
                <a:solidFill>
                  <a:srgbClr val="FF0000"/>
                </a:solidFill>
                <a:effectLst/>
                <a:uLnTx/>
                <a:uFillTx/>
                <a:latin typeface="华文宋体" panose="02010600040101010101" pitchFamily="2" charset="-122"/>
                <a:ea typeface="宋体" panose="02010600030101010101" pitchFamily="2" charset="-122"/>
                <a:cs typeface="方正苏新诗柳楷简体-yolan" panose="02000000000000000000" pitchFamily="2" charset="-122"/>
                <a:sym typeface="Arial"/>
              </a:rPr>
              <a:t>（家居视频）</a:t>
            </a:r>
            <a:r>
              <a:rPr kumimoji="0" lang="en-US" altLang="zh-CN" sz="1200" b="0" i="0" u="none" strike="noStrike" kern="100" cap="none" spc="0" normalizeH="0" baseline="0" noProof="0" dirty="0">
                <a:ln>
                  <a:noFill/>
                </a:ln>
                <a:solidFill>
                  <a:srgbClr val="FF0000"/>
                </a:solidFill>
                <a:effectLst/>
                <a:uLnTx/>
                <a:uFillTx/>
                <a:latin typeface="华文宋体" panose="02010600040101010101" pitchFamily="2" charset="-122"/>
                <a:ea typeface="宋体" panose="02010600030101010101" pitchFamily="2" charset="-122"/>
                <a:cs typeface="方正苏新诗柳楷简体-yolan" panose="02000000000000000000" pitchFamily="2" charset="-122"/>
                <a:sym typeface="Arial"/>
              </a:rPr>
              <a:t>p48</a:t>
            </a:r>
            <a:endParaRPr kumimoji="0" lang="zh-CN" altLang="en-US" sz="1200" b="0" i="0" u="none" strike="noStrike" kern="1200" cap="none" spc="0" normalizeH="0" baseline="0" noProof="0" dirty="0">
              <a:ln>
                <a:noFill/>
              </a:ln>
              <a:solidFill>
                <a:srgbClr val="FF0000"/>
              </a:solidFill>
              <a:effectLst/>
              <a:uLnTx/>
              <a:uFillTx/>
              <a:latin typeface="Arial"/>
              <a:ea typeface="微软雅黑"/>
              <a:cs typeface="方正苏新诗柳楷简体-yolan" panose="02000000000000000000" pitchFamily="2" charset="-122"/>
              <a:sym typeface="Arial"/>
            </a:endParaRPr>
          </a:p>
        </p:txBody>
      </p:sp>
      <p:grpSp>
        <p:nvGrpSpPr>
          <p:cNvPr id="38" name="组合 37"/>
          <p:cNvGrpSpPr/>
          <p:nvPr/>
        </p:nvGrpSpPr>
        <p:grpSpPr>
          <a:xfrm>
            <a:off x="3543759" y="266849"/>
            <a:ext cx="636853" cy="393183"/>
            <a:chOff x="3610120" y="261689"/>
            <a:chExt cx="636853" cy="393183"/>
          </a:xfrm>
        </p:grpSpPr>
        <p:pic>
          <p:nvPicPr>
            <p:cNvPr id="39" name="图片 38"/>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rot="409115">
              <a:off x="3830226" y="261689"/>
              <a:ext cx="416747" cy="246260"/>
            </a:xfrm>
            <a:prstGeom prst="rect">
              <a:avLst/>
            </a:prstGeom>
          </p:spPr>
        </p:pic>
        <p:sp>
          <p:nvSpPr>
            <p:cNvPr id="40" name="Freeform 249"/>
            <p:cNvSpPr>
              <a:spLocks noEditPoints="1"/>
            </p:cNvSpPr>
            <p:nvPr userDrawn="1"/>
          </p:nvSpPr>
          <p:spPr bwMode="auto">
            <a:xfrm rot="2431720" flipH="1">
              <a:off x="3610120" y="366070"/>
              <a:ext cx="211706" cy="288802"/>
            </a:xfrm>
            <a:custGeom>
              <a:avLst/>
              <a:gdLst>
                <a:gd name="T0" fmla="*/ 82 w 239"/>
                <a:gd name="T1" fmla="*/ 301 h 301"/>
                <a:gd name="T2" fmla="*/ 64 w 239"/>
                <a:gd name="T3" fmla="*/ 298 h 301"/>
                <a:gd name="T4" fmla="*/ 8 w 239"/>
                <a:gd name="T5" fmla="*/ 212 h 301"/>
                <a:gd name="T6" fmla="*/ 100 w 239"/>
                <a:gd name="T7" fmla="*/ 162 h 301"/>
                <a:gd name="T8" fmla="*/ 153 w 239"/>
                <a:gd name="T9" fmla="*/ 182 h 301"/>
                <a:gd name="T10" fmla="*/ 44 w 239"/>
                <a:gd name="T11" fmla="*/ 17 h 301"/>
                <a:gd name="T12" fmla="*/ 53 w 239"/>
                <a:gd name="T13" fmla="*/ 47 h 301"/>
                <a:gd name="T14" fmla="*/ 51 w 239"/>
                <a:gd name="T15" fmla="*/ 52 h 301"/>
                <a:gd name="T16" fmla="*/ 46 w 239"/>
                <a:gd name="T17" fmla="*/ 50 h 301"/>
                <a:gd name="T18" fmla="*/ 34 w 239"/>
                <a:gd name="T19" fmla="*/ 11 h 301"/>
                <a:gd name="T20" fmla="*/ 33 w 239"/>
                <a:gd name="T21" fmla="*/ 8 h 301"/>
                <a:gd name="T22" fmla="*/ 34 w 239"/>
                <a:gd name="T23" fmla="*/ 3 h 301"/>
                <a:gd name="T24" fmla="*/ 36 w 239"/>
                <a:gd name="T25" fmla="*/ 3 h 301"/>
                <a:gd name="T26" fmla="*/ 44 w 239"/>
                <a:gd name="T27" fmla="*/ 0 h 301"/>
                <a:gd name="T28" fmla="*/ 81 w 239"/>
                <a:gd name="T29" fmla="*/ 6 h 301"/>
                <a:gd name="T30" fmla="*/ 80 w 239"/>
                <a:gd name="T31" fmla="*/ 14 h 301"/>
                <a:gd name="T32" fmla="*/ 47 w 239"/>
                <a:gd name="T33" fmla="*/ 9 h 301"/>
                <a:gd name="T34" fmla="*/ 161 w 239"/>
                <a:gd name="T35" fmla="*/ 187 h 301"/>
                <a:gd name="T36" fmla="*/ 239 w 239"/>
                <a:gd name="T37" fmla="*/ 288 h 301"/>
                <a:gd name="T38" fmla="*/ 236 w 239"/>
                <a:gd name="T39" fmla="*/ 293 h 301"/>
                <a:gd name="T40" fmla="*/ 231 w 239"/>
                <a:gd name="T41" fmla="*/ 291 h 301"/>
                <a:gd name="T42" fmla="*/ 161 w 239"/>
                <a:gd name="T43" fmla="*/ 197 h 301"/>
                <a:gd name="T44" fmla="*/ 149 w 239"/>
                <a:gd name="T45" fmla="*/ 252 h 301"/>
                <a:gd name="T46" fmla="*/ 82 w 239"/>
                <a:gd name="T47" fmla="*/ 301 h 301"/>
                <a:gd name="T48" fmla="*/ 79 w 239"/>
                <a:gd name="T49" fmla="*/ 168 h 301"/>
                <a:gd name="T50" fmla="*/ 16 w 239"/>
                <a:gd name="T51" fmla="*/ 214 h 301"/>
                <a:gd name="T52" fmla="*/ 66 w 239"/>
                <a:gd name="T53" fmla="*/ 291 h 301"/>
                <a:gd name="T54" fmla="*/ 141 w 239"/>
                <a:gd name="T55" fmla="*/ 249 h 301"/>
                <a:gd name="T56" fmla="*/ 153 w 239"/>
                <a:gd name="T57" fmla="*/ 191 h 301"/>
                <a:gd name="T58" fmla="*/ 99 w 239"/>
                <a:gd name="T59" fmla="*/ 170 h 301"/>
                <a:gd name="T60" fmla="*/ 79 w 239"/>
                <a:gd name="T61" fmla="*/ 168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9" h="301">
                  <a:moveTo>
                    <a:pt x="82" y="301"/>
                  </a:moveTo>
                  <a:cubicBezTo>
                    <a:pt x="76" y="301"/>
                    <a:pt x="70" y="300"/>
                    <a:pt x="64" y="298"/>
                  </a:cubicBezTo>
                  <a:cubicBezTo>
                    <a:pt x="17" y="285"/>
                    <a:pt x="0" y="245"/>
                    <a:pt x="8" y="212"/>
                  </a:cubicBezTo>
                  <a:cubicBezTo>
                    <a:pt x="15" y="180"/>
                    <a:pt x="47" y="152"/>
                    <a:pt x="100" y="162"/>
                  </a:cubicBezTo>
                  <a:cubicBezTo>
                    <a:pt x="120" y="165"/>
                    <a:pt x="137" y="173"/>
                    <a:pt x="153" y="182"/>
                  </a:cubicBezTo>
                  <a:cubicBezTo>
                    <a:pt x="148" y="130"/>
                    <a:pt x="116" y="69"/>
                    <a:pt x="44" y="17"/>
                  </a:cubicBezTo>
                  <a:cubicBezTo>
                    <a:pt x="53" y="47"/>
                    <a:pt x="53" y="47"/>
                    <a:pt x="53" y="47"/>
                  </a:cubicBezTo>
                  <a:cubicBezTo>
                    <a:pt x="54" y="49"/>
                    <a:pt x="53" y="51"/>
                    <a:pt x="51" y="52"/>
                  </a:cubicBezTo>
                  <a:cubicBezTo>
                    <a:pt x="49" y="53"/>
                    <a:pt x="46" y="52"/>
                    <a:pt x="46" y="50"/>
                  </a:cubicBezTo>
                  <a:cubicBezTo>
                    <a:pt x="41" y="41"/>
                    <a:pt x="33" y="22"/>
                    <a:pt x="34" y="11"/>
                  </a:cubicBezTo>
                  <a:cubicBezTo>
                    <a:pt x="33" y="8"/>
                    <a:pt x="33" y="8"/>
                    <a:pt x="33" y="8"/>
                  </a:cubicBezTo>
                  <a:cubicBezTo>
                    <a:pt x="32" y="6"/>
                    <a:pt x="33" y="4"/>
                    <a:pt x="34" y="3"/>
                  </a:cubicBezTo>
                  <a:cubicBezTo>
                    <a:pt x="35" y="3"/>
                    <a:pt x="35" y="3"/>
                    <a:pt x="36" y="3"/>
                  </a:cubicBezTo>
                  <a:cubicBezTo>
                    <a:pt x="37" y="1"/>
                    <a:pt x="40" y="0"/>
                    <a:pt x="44" y="0"/>
                  </a:cubicBezTo>
                  <a:cubicBezTo>
                    <a:pt x="59" y="3"/>
                    <a:pt x="81" y="6"/>
                    <a:pt x="81" y="6"/>
                  </a:cubicBezTo>
                  <a:cubicBezTo>
                    <a:pt x="80" y="14"/>
                    <a:pt x="80" y="14"/>
                    <a:pt x="80" y="14"/>
                  </a:cubicBezTo>
                  <a:cubicBezTo>
                    <a:pt x="80" y="14"/>
                    <a:pt x="62" y="11"/>
                    <a:pt x="47" y="9"/>
                  </a:cubicBezTo>
                  <a:cubicBezTo>
                    <a:pt x="125" y="66"/>
                    <a:pt x="158" y="131"/>
                    <a:pt x="161" y="187"/>
                  </a:cubicBezTo>
                  <a:cubicBezTo>
                    <a:pt x="217" y="225"/>
                    <a:pt x="238" y="287"/>
                    <a:pt x="239" y="288"/>
                  </a:cubicBezTo>
                  <a:cubicBezTo>
                    <a:pt x="239" y="290"/>
                    <a:pt x="238" y="293"/>
                    <a:pt x="236" y="293"/>
                  </a:cubicBezTo>
                  <a:cubicBezTo>
                    <a:pt x="234" y="294"/>
                    <a:pt x="232" y="293"/>
                    <a:pt x="231" y="291"/>
                  </a:cubicBezTo>
                  <a:cubicBezTo>
                    <a:pt x="231" y="290"/>
                    <a:pt x="211" y="233"/>
                    <a:pt x="161" y="197"/>
                  </a:cubicBezTo>
                  <a:cubicBezTo>
                    <a:pt x="161" y="217"/>
                    <a:pt x="156" y="236"/>
                    <a:pt x="149" y="252"/>
                  </a:cubicBezTo>
                  <a:cubicBezTo>
                    <a:pt x="134" y="283"/>
                    <a:pt x="109" y="301"/>
                    <a:pt x="82" y="301"/>
                  </a:cubicBezTo>
                  <a:close/>
                  <a:moveTo>
                    <a:pt x="79" y="168"/>
                  </a:moveTo>
                  <a:cubicBezTo>
                    <a:pt x="43" y="168"/>
                    <a:pt x="21" y="189"/>
                    <a:pt x="16" y="214"/>
                  </a:cubicBezTo>
                  <a:cubicBezTo>
                    <a:pt x="9" y="243"/>
                    <a:pt x="24" y="279"/>
                    <a:pt x="66" y="291"/>
                  </a:cubicBezTo>
                  <a:cubicBezTo>
                    <a:pt x="96" y="299"/>
                    <a:pt x="125" y="283"/>
                    <a:pt x="141" y="249"/>
                  </a:cubicBezTo>
                  <a:cubicBezTo>
                    <a:pt x="149" y="232"/>
                    <a:pt x="154" y="212"/>
                    <a:pt x="153" y="191"/>
                  </a:cubicBezTo>
                  <a:cubicBezTo>
                    <a:pt x="138" y="181"/>
                    <a:pt x="120" y="174"/>
                    <a:pt x="99" y="170"/>
                  </a:cubicBezTo>
                  <a:cubicBezTo>
                    <a:pt x="92" y="168"/>
                    <a:pt x="85" y="168"/>
                    <a:pt x="79" y="16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a:ea typeface="微软雅黑"/>
                <a:cs typeface="+mn-cs"/>
                <a:sym typeface="Arial"/>
              </a:endParaRPr>
            </a:p>
          </p:txBody>
        </p:sp>
      </p:grpSp>
      <p:sp>
        <p:nvSpPr>
          <p:cNvPr id="2" name="文本框 1"/>
          <p:cNvSpPr txBox="1"/>
          <p:nvPr/>
        </p:nvSpPr>
        <p:spPr>
          <a:xfrm>
            <a:off x="8284684" y="4408764"/>
            <a:ext cx="2038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mn-cs"/>
              </a:rPr>
              <a:t>迷你化</a:t>
            </a:r>
          </a:p>
        </p:txBody>
      </p:sp>
    </p:spTree>
    <p:extLst>
      <p:ext uri="{BB962C8B-B14F-4D97-AF65-F5344CB8AC3E}">
        <p14:creationId xmlns:p14="http://schemas.microsoft.com/office/powerpoint/2010/main" val="23470865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500"/>
                                        <p:tgtEl>
                                          <p:spTgt spid="28"/>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anim calcmode="lin" valueType="num">
                                      <p:cBhvr>
                                        <p:cTn id="11" dur="250" fill="hold"/>
                                        <p:tgtEl>
                                          <p:spTgt spid="16"/>
                                        </p:tgtEl>
                                        <p:attrNameLst>
                                          <p:attrName>ppt_x</p:attrName>
                                        </p:attrNameLst>
                                      </p:cBhvr>
                                      <p:tavLst>
                                        <p:tav tm="0">
                                          <p:val>
                                            <p:strVal val="#ppt_x"/>
                                          </p:val>
                                        </p:tav>
                                        <p:tav tm="100000">
                                          <p:val>
                                            <p:strVal val="#ppt_x"/>
                                          </p:val>
                                        </p:tav>
                                      </p:tavLst>
                                    </p:anim>
                                    <p:anim calcmode="lin" valueType="num">
                                      <p:cBhvr>
                                        <p:cTn id="12" dur="250" fill="hold"/>
                                        <p:tgtEl>
                                          <p:spTgt spid="16"/>
                                        </p:tgtEl>
                                        <p:attrNameLst>
                                          <p:attrName>ppt_y</p:attrName>
                                        </p:attrNameLst>
                                      </p:cBhvr>
                                      <p:tavLst>
                                        <p:tav tm="0">
                                          <p:val>
                                            <p:strVal val="#ppt_y+.1"/>
                                          </p:val>
                                        </p:tav>
                                        <p:tav tm="100000">
                                          <p:val>
                                            <p:strVal val="#ppt_y"/>
                                          </p:val>
                                        </p:tav>
                                      </p:tavLst>
                                    </p:anim>
                                  </p:childTnLst>
                                </p:cTn>
                              </p:par>
                              <p:par>
                                <p:cTn id="13" presetID="22" presetClass="entr" presetSubtype="4" fill="hold" nodeType="withEffect">
                                  <p:stCondLst>
                                    <p:cond delay="10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par>
                                <p:cTn id="16" presetID="42" presetClass="entr" presetSubtype="0" fill="hold" grpId="0" nodeType="withEffect">
                                  <p:stCondLst>
                                    <p:cond delay="4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250"/>
                                        <p:tgtEl>
                                          <p:spTgt spid="15"/>
                                        </p:tgtEl>
                                      </p:cBhvr>
                                    </p:animEffect>
                                    <p:anim calcmode="lin" valueType="num">
                                      <p:cBhvr>
                                        <p:cTn id="19" dur="250" fill="hold"/>
                                        <p:tgtEl>
                                          <p:spTgt spid="15"/>
                                        </p:tgtEl>
                                        <p:attrNameLst>
                                          <p:attrName>ppt_x</p:attrName>
                                        </p:attrNameLst>
                                      </p:cBhvr>
                                      <p:tavLst>
                                        <p:tav tm="0">
                                          <p:val>
                                            <p:strVal val="#ppt_x"/>
                                          </p:val>
                                        </p:tav>
                                        <p:tav tm="100000">
                                          <p:val>
                                            <p:strVal val="#ppt_x"/>
                                          </p:val>
                                        </p:tav>
                                      </p:tavLst>
                                    </p:anim>
                                    <p:anim calcmode="lin" valueType="num">
                                      <p:cBhvr>
                                        <p:cTn id="20" dur="250" fill="hold"/>
                                        <p:tgtEl>
                                          <p:spTgt spid="15"/>
                                        </p:tgtEl>
                                        <p:attrNameLst>
                                          <p:attrName>ppt_y</p:attrName>
                                        </p:attrNameLst>
                                      </p:cBhvr>
                                      <p:tavLst>
                                        <p:tav tm="0">
                                          <p:val>
                                            <p:strVal val="#ppt_y+.1"/>
                                          </p:val>
                                        </p:tav>
                                        <p:tav tm="100000">
                                          <p:val>
                                            <p:strVal val="#ppt_y"/>
                                          </p:val>
                                        </p:tav>
                                      </p:tavLst>
                                    </p:anim>
                                  </p:childTnLst>
                                </p:cTn>
                              </p:par>
                              <p:par>
                                <p:cTn id="21" presetID="22" presetClass="entr" presetSubtype="4" fill="hold" nodeType="withEffect">
                                  <p:stCondLst>
                                    <p:cond delay="200"/>
                                  </p:stCondLst>
                                  <p:childTnLst>
                                    <p:set>
                                      <p:cBhvr>
                                        <p:cTn id="22" dur="1" fill="hold">
                                          <p:stCondLst>
                                            <p:cond delay="0"/>
                                          </p:stCondLst>
                                        </p:cTn>
                                        <p:tgtEl>
                                          <p:spTgt spid="30"/>
                                        </p:tgtEl>
                                        <p:attrNameLst>
                                          <p:attrName>style.visibility</p:attrName>
                                        </p:attrNameLst>
                                      </p:cBhvr>
                                      <p:to>
                                        <p:strVal val="visible"/>
                                      </p:to>
                                    </p:set>
                                    <p:animEffect transition="in" filter="wipe(down)">
                                      <p:cBhvr>
                                        <p:cTn id="23" dur="500"/>
                                        <p:tgtEl>
                                          <p:spTgt spid="30"/>
                                        </p:tgtEl>
                                      </p:cBhvr>
                                    </p:animEffect>
                                  </p:childTnLst>
                                </p:cTn>
                              </p:par>
                              <p:par>
                                <p:cTn id="24" presetID="42" presetClass="entr" presetSubtype="0" fill="hold" grpId="0" nodeType="withEffect">
                                  <p:stCondLst>
                                    <p:cond delay="50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250"/>
                                        <p:tgtEl>
                                          <p:spTgt spid="14"/>
                                        </p:tgtEl>
                                      </p:cBhvr>
                                    </p:animEffect>
                                    <p:anim calcmode="lin" valueType="num">
                                      <p:cBhvr>
                                        <p:cTn id="27" dur="250" fill="hold"/>
                                        <p:tgtEl>
                                          <p:spTgt spid="14"/>
                                        </p:tgtEl>
                                        <p:attrNameLst>
                                          <p:attrName>ppt_x</p:attrName>
                                        </p:attrNameLst>
                                      </p:cBhvr>
                                      <p:tavLst>
                                        <p:tav tm="0">
                                          <p:val>
                                            <p:strVal val="#ppt_x"/>
                                          </p:val>
                                        </p:tav>
                                        <p:tav tm="100000">
                                          <p:val>
                                            <p:strVal val="#ppt_x"/>
                                          </p:val>
                                        </p:tav>
                                      </p:tavLst>
                                    </p:anim>
                                    <p:anim calcmode="lin" valueType="num">
                                      <p:cBhvr>
                                        <p:cTn id="28" dur="250" fill="hold"/>
                                        <p:tgtEl>
                                          <p:spTgt spid="14"/>
                                        </p:tgtEl>
                                        <p:attrNameLst>
                                          <p:attrName>ppt_y</p:attrName>
                                        </p:attrNameLst>
                                      </p:cBhvr>
                                      <p:tavLst>
                                        <p:tav tm="0">
                                          <p:val>
                                            <p:strVal val="#ppt_y+.1"/>
                                          </p:val>
                                        </p:tav>
                                        <p:tav tm="100000">
                                          <p:val>
                                            <p:strVal val="#ppt_y"/>
                                          </p:val>
                                        </p:tav>
                                      </p:tavLst>
                                    </p:anim>
                                  </p:childTnLst>
                                </p:cTn>
                              </p:par>
                              <p:par>
                                <p:cTn id="29" presetID="22" presetClass="entr" presetSubtype="4" fill="hold" nodeType="withEffect">
                                  <p:stCondLst>
                                    <p:cond delay="400"/>
                                  </p:stCondLst>
                                  <p:childTnLst>
                                    <p:set>
                                      <p:cBhvr>
                                        <p:cTn id="30" dur="1" fill="hold">
                                          <p:stCondLst>
                                            <p:cond delay="0"/>
                                          </p:stCondLst>
                                        </p:cTn>
                                        <p:tgtEl>
                                          <p:spTgt spid="31"/>
                                        </p:tgtEl>
                                        <p:attrNameLst>
                                          <p:attrName>style.visibility</p:attrName>
                                        </p:attrNameLst>
                                      </p:cBhvr>
                                      <p:to>
                                        <p:strVal val="visible"/>
                                      </p:to>
                                    </p:set>
                                    <p:animEffect transition="in" filter="wipe(down)">
                                      <p:cBhvr>
                                        <p:cTn id="31" dur="250"/>
                                        <p:tgtEl>
                                          <p:spTgt spid="31"/>
                                        </p:tgtEl>
                                      </p:cBhvr>
                                    </p:animEffect>
                                  </p:childTnLst>
                                </p:cTn>
                              </p:par>
                              <p:par>
                                <p:cTn id="32" presetID="42" presetClass="entr" presetSubtype="0" fill="hold" grpId="0" nodeType="withEffect">
                                  <p:stCondLst>
                                    <p:cond delay="40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250"/>
                                        <p:tgtEl>
                                          <p:spTgt spid="10"/>
                                        </p:tgtEl>
                                      </p:cBhvr>
                                    </p:animEffect>
                                    <p:anim calcmode="lin" valueType="num">
                                      <p:cBhvr>
                                        <p:cTn id="35" dur="250" fill="hold"/>
                                        <p:tgtEl>
                                          <p:spTgt spid="10"/>
                                        </p:tgtEl>
                                        <p:attrNameLst>
                                          <p:attrName>ppt_x</p:attrName>
                                        </p:attrNameLst>
                                      </p:cBhvr>
                                      <p:tavLst>
                                        <p:tav tm="0">
                                          <p:val>
                                            <p:strVal val="#ppt_x"/>
                                          </p:val>
                                        </p:tav>
                                        <p:tav tm="100000">
                                          <p:val>
                                            <p:strVal val="#ppt_x"/>
                                          </p:val>
                                        </p:tav>
                                      </p:tavLst>
                                    </p:anim>
                                    <p:anim calcmode="lin" valueType="num">
                                      <p:cBhvr>
                                        <p:cTn id="36" dur="250" fill="hold"/>
                                        <p:tgtEl>
                                          <p:spTgt spid="10"/>
                                        </p:tgtEl>
                                        <p:attrNameLst>
                                          <p:attrName>ppt_y</p:attrName>
                                        </p:attrNameLst>
                                      </p:cBhvr>
                                      <p:tavLst>
                                        <p:tav tm="0">
                                          <p:val>
                                            <p:strVal val="#ppt_y+.1"/>
                                          </p:val>
                                        </p:tav>
                                        <p:tav tm="100000">
                                          <p:val>
                                            <p:strVal val="#ppt_y"/>
                                          </p:val>
                                        </p:tav>
                                      </p:tavLst>
                                    </p:anim>
                                  </p:childTnLst>
                                </p:cTn>
                              </p:par>
                              <p:par>
                                <p:cTn id="37" presetID="41" presetClass="entr" presetSubtype="0" fill="hold" grpId="0" nodeType="withEffect">
                                  <p:stCondLst>
                                    <p:cond delay="750"/>
                                  </p:stCondLst>
                                  <p:iterate type="lt">
                                    <p:tmPct val="10000"/>
                                  </p:iterate>
                                  <p:childTnLst>
                                    <p:set>
                                      <p:cBhvr>
                                        <p:cTn id="38" dur="1" fill="hold">
                                          <p:stCondLst>
                                            <p:cond delay="0"/>
                                          </p:stCondLst>
                                        </p:cTn>
                                        <p:tgtEl>
                                          <p:spTgt spid="3"/>
                                        </p:tgtEl>
                                        <p:attrNameLst>
                                          <p:attrName>style.visibility</p:attrName>
                                        </p:attrNameLst>
                                      </p:cBhvr>
                                      <p:to>
                                        <p:strVal val="visible"/>
                                      </p:to>
                                    </p:set>
                                    <p:anim calcmode="lin" valueType="num">
                                      <p:cBhvr>
                                        <p:cTn id="39" dur="25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40" dur="250" fill="hold"/>
                                        <p:tgtEl>
                                          <p:spTgt spid="3"/>
                                        </p:tgtEl>
                                        <p:attrNameLst>
                                          <p:attrName>ppt_y</p:attrName>
                                        </p:attrNameLst>
                                      </p:cBhvr>
                                      <p:tavLst>
                                        <p:tav tm="0">
                                          <p:val>
                                            <p:strVal val="#ppt_y"/>
                                          </p:val>
                                        </p:tav>
                                        <p:tav tm="100000">
                                          <p:val>
                                            <p:strVal val="#ppt_y"/>
                                          </p:val>
                                        </p:tav>
                                      </p:tavLst>
                                    </p:anim>
                                    <p:anim calcmode="lin" valueType="num">
                                      <p:cBhvr>
                                        <p:cTn id="41" dur="25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42" dur="25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43" dur="250" tmFilter="0,0; .5, 1; 1, 1"/>
                                        <p:tgtEl>
                                          <p:spTgt spid="3"/>
                                        </p:tgtEl>
                                      </p:cBhvr>
                                    </p:animEffect>
                                  </p:childTnLst>
                                </p:cTn>
                              </p:par>
                              <p:par>
                                <p:cTn id="44" presetID="41" presetClass="entr" presetSubtype="0" fill="hold" grpId="0" nodeType="withEffect">
                                  <p:stCondLst>
                                    <p:cond delay="750"/>
                                  </p:stCondLst>
                                  <p:iterate type="lt">
                                    <p:tmPct val="10000"/>
                                  </p:iterate>
                                  <p:childTnLst>
                                    <p:set>
                                      <p:cBhvr>
                                        <p:cTn id="45" dur="1" fill="hold">
                                          <p:stCondLst>
                                            <p:cond delay="0"/>
                                          </p:stCondLst>
                                        </p:cTn>
                                        <p:tgtEl>
                                          <p:spTgt spid="5"/>
                                        </p:tgtEl>
                                        <p:attrNameLst>
                                          <p:attrName>style.visibility</p:attrName>
                                        </p:attrNameLst>
                                      </p:cBhvr>
                                      <p:to>
                                        <p:strVal val="visible"/>
                                      </p:to>
                                    </p:set>
                                    <p:anim calcmode="lin" valueType="num">
                                      <p:cBhvr>
                                        <p:cTn id="46" dur="25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47" dur="250" fill="hold"/>
                                        <p:tgtEl>
                                          <p:spTgt spid="5"/>
                                        </p:tgtEl>
                                        <p:attrNameLst>
                                          <p:attrName>ppt_y</p:attrName>
                                        </p:attrNameLst>
                                      </p:cBhvr>
                                      <p:tavLst>
                                        <p:tav tm="0">
                                          <p:val>
                                            <p:strVal val="#ppt_y"/>
                                          </p:val>
                                        </p:tav>
                                        <p:tav tm="100000">
                                          <p:val>
                                            <p:strVal val="#ppt_y"/>
                                          </p:val>
                                        </p:tav>
                                      </p:tavLst>
                                    </p:anim>
                                    <p:anim calcmode="lin" valueType="num">
                                      <p:cBhvr>
                                        <p:cTn id="48" dur="25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49" dur="25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50" dur="250" tmFilter="0,0; .5, 1; 1, 1"/>
                                        <p:tgtEl>
                                          <p:spTgt spid="5"/>
                                        </p:tgtEl>
                                      </p:cBhvr>
                                    </p:animEffect>
                                  </p:childTnLst>
                                </p:cTn>
                              </p:par>
                              <p:par>
                                <p:cTn id="51" presetID="41" presetClass="entr" presetSubtype="0" fill="hold" grpId="0" nodeType="withEffect">
                                  <p:stCondLst>
                                    <p:cond delay="750"/>
                                  </p:stCondLst>
                                  <p:iterate type="lt">
                                    <p:tmPct val="10000"/>
                                  </p:iterate>
                                  <p:childTnLst>
                                    <p:set>
                                      <p:cBhvr>
                                        <p:cTn id="52" dur="1" fill="hold">
                                          <p:stCondLst>
                                            <p:cond delay="0"/>
                                          </p:stCondLst>
                                        </p:cTn>
                                        <p:tgtEl>
                                          <p:spTgt spid="9"/>
                                        </p:tgtEl>
                                        <p:attrNameLst>
                                          <p:attrName>style.visibility</p:attrName>
                                        </p:attrNameLst>
                                      </p:cBhvr>
                                      <p:to>
                                        <p:strVal val="visible"/>
                                      </p:to>
                                    </p:set>
                                    <p:anim calcmode="lin" valueType="num">
                                      <p:cBhvr>
                                        <p:cTn id="53" dur="25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54" dur="250" fill="hold"/>
                                        <p:tgtEl>
                                          <p:spTgt spid="9"/>
                                        </p:tgtEl>
                                        <p:attrNameLst>
                                          <p:attrName>ppt_y</p:attrName>
                                        </p:attrNameLst>
                                      </p:cBhvr>
                                      <p:tavLst>
                                        <p:tav tm="0">
                                          <p:val>
                                            <p:strVal val="#ppt_y"/>
                                          </p:val>
                                        </p:tav>
                                        <p:tav tm="100000">
                                          <p:val>
                                            <p:strVal val="#ppt_y"/>
                                          </p:val>
                                        </p:tav>
                                      </p:tavLst>
                                    </p:anim>
                                    <p:anim calcmode="lin" valueType="num">
                                      <p:cBhvr>
                                        <p:cTn id="55" dur="25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56" dur="25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57" dur="250" tmFilter="0,0; .5, 1; 1, 1"/>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p:bldP spid="10" grpId="0" animBg="1"/>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E68D6E-CBD6-4517-E6E2-769181D28D3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4AF44EE-A725-039A-0C01-F220705EAFF6}"/>
              </a:ext>
            </a:extLst>
          </p:cNvPr>
          <p:cNvSpPr>
            <a:spLocks noGrp="1"/>
          </p:cNvSpPr>
          <p:nvPr>
            <p:ph idx="1"/>
          </p:nvPr>
        </p:nvSpPr>
        <p:spPr/>
        <p:txBody>
          <a:bodyPr/>
          <a:lstStyle/>
          <a:p>
            <a:pPr marL="0" indent="0">
              <a:buNone/>
            </a:pPr>
            <a:endParaRPr lang="en-US" altLang="zh-CN" dirty="0"/>
          </a:p>
          <a:p>
            <a:pPr marL="0" indent="0">
              <a:buNone/>
            </a:pPr>
            <a:r>
              <a:rPr lang="en-US" altLang="zh-CN" dirty="0"/>
              <a:t> </a:t>
            </a:r>
            <a:r>
              <a:rPr lang="zh-CN" altLang="en-US" dirty="0"/>
              <a:t>      两个视频在手势和体力上的参与程度的异同？在小家电视频中，弥漫着什么样的气氛价值？</a:t>
            </a:r>
            <a:endParaRPr lang="en-US" altLang="zh-CN" dirty="0"/>
          </a:p>
          <a:p>
            <a:pPr marL="0" indent="0">
              <a:buNone/>
            </a:pPr>
            <a:endParaRPr lang="zh-CN" altLang="en-US" dirty="0"/>
          </a:p>
        </p:txBody>
      </p:sp>
    </p:spTree>
    <p:extLst>
      <p:ext uri="{BB962C8B-B14F-4D97-AF65-F5344CB8AC3E}">
        <p14:creationId xmlns:p14="http://schemas.microsoft.com/office/powerpoint/2010/main" val="1468070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8763" y="2040642"/>
            <a:ext cx="11406753" cy="2727926"/>
          </a:xfrm>
          <a:prstGeom prst="rect">
            <a:avLst/>
          </a:prstGeom>
        </p:spPr>
        <p:txBody>
          <a:bodyPr wrap="square">
            <a:spAutoFit/>
          </a:bodyPr>
          <a:lstStyle/>
          <a:p>
            <a:pPr marL="228600" lvl="0" indent="-228600">
              <a:lnSpc>
                <a:spcPct val="90000"/>
              </a:lnSpc>
              <a:spcBef>
                <a:spcPts val="1000"/>
              </a:spcBef>
              <a:buFont typeface="Arial" panose="020B0604020202020204" pitchFamily="34" charset="0"/>
              <a:buChar char="•"/>
            </a:pPr>
            <a:endParaRPr lang="en-US" altLang="zh-CN" sz="2400" dirty="0">
              <a:solidFill>
                <a:prstClr val="black"/>
              </a:solidFill>
              <a:latin typeface="宋体" panose="02010600030101010101" pitchFamily="2" charset="-122"/>
              <a:ea typeface="宋体" panose="02010600030101010101" pitchFamily="2" charset="-122"/>
            </a:endParaRPr>
          </a:p>
          <a:p>
            <a:pPr marL="228600" lvl="0" indent="-228600">
              <a:lnSpc>
                <a:spcPct val="90000"/>
              </a:lnSpc>
              <a:spcBef>
                <a:spcPts val="10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工具配合人的身体、劳力和所要转化的材料相合实现物与人完美无间的配合关系</a:t>
            </a:r>
            <a:endParaRPr lang="en-US" altLang="zh-CN" sz="2400" dirty="0">
              <a:solidFill>
                <a:prstClr val="black"/>
              </a:solidFill>
              <a:latin typeface="宋体" panose="02010600030101010101" pitchFamily="2" charset="-122"/>
              <a:ea typeface="宋体" panose="02010600030101010101" pitchFamily="2" charset="-122"/>
            </a:endParaRPr>
          </a:p>
          <a:p>
            <a:pPr marL="228600" indent="-228600">
              <a:lnSpc>
                <a:spcPct val="90000"/>
              </a:lnSpc>
              <a:spcBef>
                <a:spcPts val="1000"/>
              </a:spcBef>
              <a:buFont typeface="Arial" panose="020B0604020202020204" pitchFamily="34" charset="0"/>
              <a:buChar char="•"/>
            </a:pPr>
            <a:r>
              <a:rPr lang="zh-CN" altLang="en-US" sz="2400" dirty="0">
                <a:solidFill>
                  <a:srgbClr val="FF0000"/>
                </a:solidFill>
                <a:latin typeface="宋体" panose="02010600030101010101" pitchFamily="2" charset="-122"/>
                <a:ea typeface="宋体" panose="02010600030101010101" pitchFamily="2" charset="-122"/>
              </a:rPr>
              <a:t>透过手势的连接：</a:t>
            </a:r>
            <a:r>
              <a:rPr lang="zh-CN" altLang="en-US" sz="2400" b="1" dirty="0">
                <a:solidFill>
                  <a:srgbClr val="FF0000"/>
                </a:solidFill>
                <a:latin typeface="宋体" panose="02010600030101010101" pitchFamily="2" charset="-122"/>
                <a:ea typeface="宋体" panose="02010600030101010101" pitchFamily="2" charset="-122"/>
              </a:rPr>
              <a:t>人如何融入世界和社会化结构中的方式</a:t>
            </a:r>
            <a:endParaRPr lang="en-US" altLang="zh-CN" sz="2400" b="1" dirty="0">
              <a:solidFill>
                <a:srgbClr val="FF0000"/>
              </a:solidFill>
              <a:latin typeface="宋体" panose="02010600030101010101" pitchFamily="2" charset="-122"/>
              <a:ea typeface="宋体" panose="02010600030101010101" pitchFamily="2" charset="-122"/>
            </a:endParaRPr>
          </a:p>
          <a:p>
            <a:pPr marL="228600" indent="-228600">
              <a:lnSpc>
                <a:spcPct val="90000"/>
              </a:lnSpc>
              <a:spcBef>
                <a:spcPts val="1000"/>
              </a:spcBef>
              <a:buFont typeface="Arial" panose="020B0604020202020204" pitchFamily="34" charset="0"/>
              <a:buChar char="•"/>
            </a:pPr>
            <a:r>
              <a:rPr lang="zh-CN" altLang="en-US" sz="2400" b="1" dirty="0">
                <a:solidFill>
                  <a:prstClr val="black"/>
                </a:solidFill>
                <a:latin typeface="黑体" panose="02010609060101010101" pitchFamily="49" charset="-122"/>
                <a:ea typeface="黑体" panose="02010609060101010101" pitchFamily="49" charset="-122"/>
              </a:rPr>
              <a:t>能量层面的渗透关系和象征层面的关联状态</a:t>
            </a:r>
          </a:p>
          <a:p>
            <a:pPr marL="228600" indent="-228600">
              <a:lnSpc>
                <a:spcPct val="90000"/>
              </a:lnSpc>
              <a:spcBef>
                <a:spcPts val="10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与物品间相呼应的美感让人感到高度的完满</a:t>
            </a:r>
            <a:endParaRPr lang="en-US" altLang="zh-CN" sz="2400" dirty="0">
              <a:solidFill>
                <a:prstClr val="black"/>
              </a:solidFill>
              <a:latin typeface="宋体" panose="02010600030101010101" pitchFamily="2" charset="-122"/>
              <a:ea typeface="宋体" panose="02010600030101010101" pitchFamily="2" charset="-122"/>
            </a:endParaRPr>
          </a:p>
          <a:p>
            <a:pPr marL="228600" lvl="0" indent="-228600">
              <a:lnSpc>
                <a:spcPct val="90000"/>
              </a:lnSpc>
              <a:spcBef>
                <a:spcPts val="10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人不能不役于物，物亦不能不役于人，受制于关系上的相互限定</a:t>
            </a:r>
            <a:endParaRPr lang="en-US" altLang="zh-CN" sz="2400" dirty="0">
              <a:solidFill>
                <a:prstClr val="black"/>
              </a:solidFill>
              <a:latin typeface="宋体" panose="02010600030101010101" pitchFamily="2" charset="-122"/>
              <a:ea typeface="宋体" panose="02010600030101010101" pitchFamily="2" charset="-122"/>
            </a:endParaRPr>
          </a:p>
        </p:txBody>
      </p:sp>
      <p:sp>
        <p:nvSpPr>
          <p:cNvPr id="3" name="矩形 2"/>
          <p:cNvSpPr/>
          <p:nvPr/>
        </p:nvSpPr>
        <p:spPr>
          <a:xfrm>
            <a:off x="528763" y="889577"/>
            <a:ext cx="8443337" cy="64633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36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j-cs"/>
              </a:rPr>
              <a:t>传统手势：劳动</a:t>
            </a:r>
            <a:r>
              <a:rPr kumimoji="0" lang="zh-CN" altLang="en-US" sz="16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j-cs"/>
              </a:rPr>
              <a:t>（铁锹：手把和铲体适合偶然性的更改和创造）</a:t>
            </a:r>
            <a:r>
              <a:rPr kumimoji="0" lang="zh-CN" altLang="en-US" sz="16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j-cs"/>
              </a:rPr>
              <a:t>层次</a:t>
            </a:r>
            <a:r>
              <a:rPr kumimoji="0" lang="en-US" altLang="zh-CN" sz="16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j-cs"/>
              </a:rPr>
              <a:t>P49</a:t>
            </a:r>
            <a:endParaRPr kumimoji="0" lang="zh-CN" altLang="en-US" sz="1600" b="0" i="0" u="none" strike="noStrike" kern="0" cap="none" spc="0" normalizeH="0" baseline="0" noProof="0" dirty="0">
              <a:ln>
                <a:noFill/>
              </a:ln>
              <a:solidFill>
                <a:srgbClr val="FF0000"/>
              </a:solidFill>
              <a:effectLst/>
              <a:uLnTx/>
              <a:uFillTx/>
            </a:endParaRPr>
          </a:p>
        </p:txBody>
      </p:sp>
    </p:spTree>
    <p:extLst>
      <p:ext uri="{BB962C8B-B14F-4D97-AF65-F5344CB8AC3E}">
        <p14:creationId xmlns:p14="http://schemas.microsoft.com/office/powerpoint/2010/main" val="179375341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B7FFE5-6648-46AD-BD4A-BB3081FFBE2A}"/>
              </a:ext>
            </a:extLst>
          </p:cNvPr>
          <p:cNvSpPr>
            <a:spLocks noGrp="1"/>
          </p:cNvSpPr>
          <p:nvPr>
            <p:ph type="title"/>
          </p:nvPr>
        </p:nvSpPr>
        <p:spPr/>
        <p:txBody>
          <a:bodyPr/>
          <a:lstStyle/>
          <a:p>
            <a:pPr marR="0" lvl="0" algn="l" defTabSz="914400" rtl="0" eaLnBrk="1" fontAlgn="auto" latinLnBrk="0" hangingPunct="1">
              <a:lnSpc>
                <a:spcPct val="90000"/>
              </a:lnSpc>
              <a:spcBef>
                <a:spcPts val="1000"/>
              </a:spcBef>
              <a:spcAft>
                <a:spcPts val="0"/>
              </a:spcAft>
              <a:buClrTx/>
              <a:buSzTx/>
              <a:tabLst/>
              <a:defRPr/>
            </a:pPr>
            <a:r>
              <a:rPr lang="zh-CN" altLang="en-US" dirty="0">
                <a:solidFill>
                  <a:srgbClr val="660033"/>
                </a:solidFill>
              </a:rPr>
              <a:t>操控</a:t>
            </a:r>
            <a:r>
              <a:rPr lang="en-US" altLang="zh-CN" dirty="0">
                <a:solidFill>
                  <a:srgbClr val="660033"/>
                </a:solidFill>
              </a:rPr>
              <a:t>——</a:t>
            </a:r>
            <a:r>
              <a:rPr kumimoji="0" lang="zh-CN" altLang="en-US" sz="2800" b="0" i="0" u="none" strike="noStrike" kern="1200" cap="none" spc="0" normalizeH="0" baseline="0" noProof="0" dirty="0">
                <a:ln>
                  <a:noFill/>
                </a:ln>
                <a:solidFill>
                  <a:srgbClr val="660033"/>
                </a:solidFill>
                <a:effectLst/>
                <a:uLnTx/>
                <a:uFillTx/>
                <a:latin typeface="等线" panose="020F0502020204030204"/>
                <a:ea typeface="等线" panose="02010600030101010101" pitchFamily="2" charset="-122"/>
                <a:cs typeface="+mn-cs"/>
              </a:rPr>
              <a:t>人与物之间的中介者：人的手势动作</a:t>
            </a:r>
            <a:endParaRPr lang="zh-CN" altLang="en-US" dirty="0">
              <a:solidFill>
                <a:srgbClr val="660033"/>
              </a:solidFill>
            </a:endParaRPr>
          </a:p>
        </p:txBody>
      </p:sp>
      <p:sp>
        <p:nvSpPr>
          <p:cNvPr id="3" name="内容占位符 2">
            <a:extLst>
              <a:ext uri="{FF2B5EF4-FFF2-40B4-BE49-F238E27FC236}">
                <a16:creationId xmlns:a16="http://schemas.microsoft.com/office/drawing/2014/main" id="{DDB1E2CB-1AE9-4BFD-8C31-276F54ADA6D0}"/>
              </a:ext>
            </a:extLst>
          </p:cNvPr>
          <p:cNvSpPr>
            <a:spLocks noGrp="1"/>
          </p:cNvSpPr>
          <p:nvPr>
            <p:ph idx="1"/>
          </p:nvPr>
        </p:nvSpPr>
        <p:spPr/>
        <p:txBody>
          <a:bodyPr>
            <a:normAutofit/>
          </a:bodyPr>
          <a:lstStyle/>
          <a:p>
            <a:r>
              <a:rPr lang="zh-CN" altLang="en-US" sz="2400" dirty="0">
                <a:solidFill>
                  <a:srgbClr val="660033"/>
                </a:solidFill>
                <a:latin typeface="宋体" panose="02010600030101010101" pitchFamily="2" charset="-122"/>
                <a:ea typeface="宋体" panose="02010600030101010101" pitchFamily="2" charset="-122"/>
              </a:rPr>
              <a:t>衰竭不堪：最低限度的能量与参与</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只有人的“外端”积极地参与功能化的环境</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低限度的动作是象征性的必要，而非功能性必要</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人需要纯形式的参与，来向自己担保威力的存在</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针对系统在人心智状态中的良好运作</a:t>
            </a:r>
          </a:p>
        </p:txBody>
      </p:sp>
    </p:spTree>
    <p:extLst>
      <p:ext uri="{BB962C8B-B14F-4D97-AF65-F5344CB8AC3E}">
        <p14:creationId xmlns:p14="http://schemas.microsoft.com/office/powerpoint/2010/main" val="1946069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13743" y="1594942"/>
            <a:ext cx="9375354" cy="3858492"/>
          </a:xfrm>
          <a:prstGeom prst="rect">
            <a:avLst/>
          </a:prstGeom>
        </p:spPr>
        <p:txBody>
          <a:bodyPr wrap="square">
            <a:spAutoFit/>
          </a:bodyPr>
          <a:lstStyle/>
          <a:p>
            <a:pPr lvl="0">
              <a:defRPr/>
            </a:pPr>
            <a:r>
              <a:rPr lang="zh-CN"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手势来自功能化的分割</a:t>
            </a:r>
            <a:r>
              <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以洗衣机为例</a:t>
            </a:r>
            <a:endParaRPr lang="zh-CN" altLang="en-US" kern="0" dirty="0">
              <a:solidFill>
                <a:srgbClr val="660033"/>
              </a:solidFill>
            </a:endParaRPr>
          </a:p>
          <a:p>
            <a:pPr lvl="0" algn="just">
              <a:lnSpc>
                <a:spcPct val="90000"/>
              </a:lnSpc>
              <a:spcBef>
                <a:spcPts val="1000"/>
              </a:spcBef>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手工洗衣：捣衣杵或水桶还有溪边的操作场景</a:t>
            </a:r>
            <a:endParaRPr lang="zh-CN" altLang="zh-CN"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lvl="0" algn="just">
              <a:lnSpc>
                <a:spcPct val="90000"/>
              </a:lnSpc>
              <a:spcBef>
                <a:spcPts val="1000"/>
              </a:spcBef>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洗衣机：衣服放入封闭空间倒入化学清洁剂</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endPar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分割到其他场景，等待时间的结束和</a:t>
            </a:r>
            <a:r>
              <a:rPr lang="zh-CN" altLang="en-US"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呼唤</a:t>
            </a:r>
            <a:endParaRPr lang="zh-CN" altLang="zh-CN" sz="20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形式和作为要洗的衣服之间没有明确的关系</a:t>
            </a:r>
            <a:r>
              <a:rPr lang="zh-CN" altLang="en-US" sz="20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（开门与按键手势）</a:t>
            </a:r>
            <a:endParaRPr lang="en-US" altLang="zh-CN" sz="20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就时间和空间而言，洗衣的操作失去了特殊性</a:t>
            </a:r>
            <a:endPar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只要求人最低限度的</a:t>
            </a:r>
            <a:r>
              <a:rPr lang="zh-CN" altLang="en-US"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参与</a:t>
            </a:r>
            <a:endParaRPr lang="zh-CN" altLang="zh-CN" sz="20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1329368" y="847726"/>
            <a:ext cx="8145137"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新的操作场域</a:t>
            </a:r>
            <a:endParaRPr kumimoji="0" lang="zh-CN" alt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658208151"/>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solidFill>
                  <a:srgbClr val="660033"/>
                </a:solidFill>
                <a:latin typeface="宋体" panose="02010600030101010101" pitchFamily="2" charset="-122"/>
                <a:ea typeface="宋体" panose="02010600030101010101" pitchFamily="2" charset="-122"/>
              </a:rPr>
              <a:t>以完全不同的方式来分割操作场域：</a:t>
            </a:r>
            <a:r>
              <a:rPr lang="zh-CN" altLang="en-US" sz="1600" dirty="0">
                <a:solidFill>
                  <a:srgbClr val="660033"/>
                </a:solidFill>
                <a:latin typeface="宋体" panose="02010600030101010101" pitchFamily="2" charset="-122"/>
                <a:ea typeface="宋体" panose="02010600030101010101" pitchFamily="2" charset="-122"/>
              </a:rPr>
              <a:t>分割为完全不同的功能或功能集合</a:t>
            </a:r>
            <a:endParaRPr lang="en-US" altLang="zh-CN" sz="1600" dirty="0">
              <a:solidFill>
                <a:srgbClr val="660033"/>
              </a:solidFill>
              <a:latin typeface="宋体" panose="02010600030101010101" pitchFamily="2" charset="-122"/>
              <a:ea typeface="宋体" panose="02010600030101010101" pitchFamily="2" charset="-122"/>
            </a:endParaRPr>
          </a:p>
          <a:p>
            <a:r>
              <a:rPr lang="zh-CN" altLang="en-US" dirty="0">
                <a:solidFill>
                  <a:srgbClr val="660033"/>
                </a:solidFill>
                <a:latin typeface="宋体" panose="02010600030101010101" pitchFamily="2" charset="-122"/>
                <a:ea typeface="宋体" panose="02010600030101010101" pitchFamily="2" charset="-122"/>
              </a:rPr>
              <a:t>抽象后果</a:t>
            </a:r>
            <a:r>
              <a:rPr lang="en-US" altLang="zh-CN" dirty="0">
                <a:solidFill>
                  <a:srgbClr val="660033"/>
                </a:solidFill>
                <a:latin typeface="宋体" panose="02010600030101010101" pitchFamily="2" charset="-122"/>
                <a:ea typeface="宋体" panose="02010600030101010101" pitchFamily="2" charset="-122"/>
              </a:rPr>
              <a:t>:</a:t>
            </a:r>
            <a:r>
              <a:rPr lang="zh-CN" altLang="en-US" dirty="0">
                <a:solidFill>
                  <a:srgbClr val="660033"/>
                </a:solidFill>
                <a:latin typeface="宋体" panose="02010600030101010101" pitchFamily="2" charset="-122"/>
                <a:ea typeface="宋体" panose="02010600030101010101" pitchFamily="2" charset="-122"/>
              </a:rPr>
              <a:t>无法透过类同性知觉由过去的手势来比拟</a:t>
            </a:r>
            <a:endParaRPr lang="en-US" altLang="zh-CN" dirty="0">
              <a:solidFill>
                <a:srgbClr val="660033"/>
              </a:solidFill>
              <a:latin typeface="宋体" panose="02010600030101010101" pitchFamily="2" charset="-122"/>
              <a:ea typeface="宋体" panose="02010600030101010101" pitchFamily="2" charset="-122"/>
            </a:endParaRPr>
          </a:p>
          <a:p>
            <a:r>
              <a:rPr lang="zh-CN" altLang="en-US" dirty="0">
                <a:solidFill>
                  <a:srgbClr val="660033"/>
                </a:solidFill>
                <a:latin typeface="宋体" panose="02010600030101010101" pitchFamily="2" charset="-122"/>
                <a:ea typeface="宋体" panose="02010600030101010101" pitchFamily="2" charset="-122"/>
              </a:rPr>
              <a:t>从物的手势剧场转变为看说明书</a:t>
            </a:r>
            <a:endParaRPr lang="en-US" altLang="zh-CN" dirty="0">
              <a:solidFill>
                <a:srgbClr val="660033"/>
              </a:solidFill>
              <a:latin typeface="宋体" panose="02010600030101010101" pitchFamily="2" charset="-122"/>
              <a:ea typeface="宋体" panose="02010600030101010101" pitchFamily="2" charset="-122"/>
            </a:endParaRPr>
          </a:p>
          <a:p>
            <a:r>
              <a:rPr lang="zh-CN" altLang="en-US" dirty="0">
                <a:solidFill>
                  <a:srgbClr val="660033"/>
                </a:solidFill>
                <a:latin typeface="宋体" panose="02010600030101010101" pitchFamily="2" charset="-122"/>
                <a:ea typeface="宋体" panose="02010600030101010101" pitchFamily="2" charset="-122"/>
              </a:rPr>
              <a:t>技术不仅总结过去的手势，也发明了新的操作</a:t>
            </a:r>
            <a:r>
              <a:rPr lang="zh-CN" altLang="en-US" sz="1400" dirty="0">
                <a:solidFill>
                  <a:srgbClr val="660033"/>
                </a:solidFill>
                <a:latin typeface="宋体" panose="02010600030101010101" pitchFamily="2" charset="-122"/>
                <a:ea typeface="宋体" panose="02010600030101010101" pitchFamily="2" charset="-122"/>
              </a:rPr>
              <a:t>（智能家具：声控）</a:t>
            </a:r>
            <a:endParaRPr lang="en-US" altLang="zh-CN" sz="1400" dirty="0">
              <a:solidFill>
                <a:srgbClr val="660033"/>
              </a:solidFill>
              <a:latin typeface="宋体" panose="02010600030101010101" pitchFamily="2" charset="-122"/>
              <a:ea typeface="宋体" panose="02010600030101010101" pitchFamily="2" charset="-122"/>
            </a:endParaRPr>
          </a:p>
          <a:p>
            <a:r>
              <a:rPr lang="zh-CN" altLang="en-US" dirty="0">
                <a:solidFill>
                  <a:srgbClr val="660033"/>
                </a:solidFill>
                <a:latin typeface="宋体" panose="02010600030101010101" pitchFamily="2" charset="-122"/>
                <a:ea typeface="宋体" panose="02010600030101010101" pitchFamily="2" charset="-122"/>
              </a:rPr>
              <a:t>身心物的分离：不直接作用的智性的认知与适应</a:t>
            </a:r>
            <a:r>
              <a:rPr lang="zh-CN" altLang="en-US" sz="1600" dirty="0">
                <a:solidFill>
                  <a:srgbClr val="660033"/>
                </a:solidFill>
                <a:latin typeface="宋体" panose="02010600030101010101" pitchFamily="2" charset="-122"/>
                <a:ea typeface="宋体" panose="02010600030101010101" pitchFamily="2" charset="-122"/>
              </a:rPr>
              <a:t>（人的能量、技能与物经验）</a:t>
            </a:r>
            <a:endParaRPr lang="en-US" altLang="zh-CN" sz="1600" dirty="0">
              <a:solidFill>
                <a:srgbClr val="660033"/>
              </a:solidFill>
              <a:latin typeface="宋体" panose="02010600030101010101" pitchFamily="2" charset="-122"/>
              <a:ea typeface="宋体" panose="02010600030101010101" pitchFamily="2" charset="-122"/>
            </a:endParaRPr>
          </a:p>
          <a:p>
            <a:endParaRPr lang="zh-CN" altLang="en-US" dirty="0">
              <a:solidFill>
                <a:srgbClr val="660033"/>
              </a:solidFill>
            </a:endParaRPr>
          </a:p>
        </p:txBody>
      </p:sp>
    </p:spTree>
    <p:extLst>
      <p:ext uri="{BB962C8B-B14F-4D97-AF65-F5344CB8AC3E}">
        <p14:creationId xmlns:p14="http://schemas.microsoft.com/office/powerpoint/2010/main" val="2548305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81059" y="1709791"/>
            <a:ext cx="9301910" cy="3579954"/>
          </a:xfrm>
          <a:prstGeom prst="rect">
            <a:avLst/>
          </a:prstGeom>
        </p:spPr>
        <p:txBody>
          <a:bodyPr wrap="square">
            <a:spAutoFit/>
          </a:bodyPr>
          <a:lstStyle/>
          <a:p>
            <a:pPr marL="22860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洗衣机成为了物质和转变物质的人之间的实作中介</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人进入的是一个以不连续方式连结的功能场域</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由垂直的、有深度的场域进入了水平的、横向扩延的场域</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人变得比物品更不逻辑</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一致</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（“人”曾经程序）</a:t>
            </a:r>
            <a:endParaRPr lang="en-US" altLang="zh-CN"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物品在组织上超过了人，也把人的行为举止带着走</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（物的程序</a:t>
            </a:r>
            <a:r>
              <a:rPr lang="en-US" altLang="zh-CN"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剥蛋机）</a:t>
            </a:r>
            <a:endParaRPr lang="zh-CN"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C00000"/>
                </a:solidFill>
                <a:latin typeface="华文宋体" panose="02010600040101010101" pitchFamily="2" charset="-122"/>
                <a:ea typeface="宋体" panose="02010600030101010101" pitchFamily="2" charset="-122"/>
                <a:cs typeface="华文宋体" panose="02010600040101010101" pitchFamily="2" charset="-122"/>
              </a:rPr>
              <a:t>技术物品倾向于独立于人的干预组成关联清楚的体系</a:t>
            </a:r>
            <a:endParaRPr lang="en-US" altLang="zh-CN" sz="2400" kern="100" dirty="0">
              <a:solidFill>
                <a:srgbClr val="C00000"/>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直到连操控都不再需要人</a:t>
            </a:r>
            <a:r>
              <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无人驾驶汽车</a:t>
            </a:r>
            <a:r>
              <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p>
          <a:p>
            <a:pPr marL="228600" lvl="0" indent="-228600" algn="just">
              <a:lnSpc>
                <a:spcPct val="90000"/>
              </a:lnSpc>
              <a:spcBef>
                <a:spcPts val="1000"/>
              </a:spcBef>
              <a:buFont typeface="Arial" panose="020B0604020202020204" pitchFamily="34" charset="0"/>
              <a:buChar char="•"/>
            </a:pPr>
            <a:endParaRPr lang="zh-CN" altLang="zh-CN" sz="19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p:cNvSpPr txBox="1"/>
          <p:nvPr/>
        </p:nvSpPr>
        <p:spPr>
          <a:xfrm>
            <a:off x="0" y="826789"/>
            <a:ext cx="12017828" cy="523220"/>
          </a:xfrm>
          <a:prstGeom prst="rect">
            <a:avLst/>
          </a:prstGeom>
          <a:noFill/>
        </p:spPr>
        <p:txBody>
          <a:bodyPr wrap="square" rtlCol="0">
            <a:spAutoFit/>
          </a:bodyPr>
          <a:lstStyle/>
          <a:p>
            <a:r>
              <a:rPr lang="zh-CN" altLang="en-US" sz="2000" dirty="0">
                <a:solidFill>
                  <a:srgbClr val="660033"/>
                </a:solidFill>
                <a:latin typeface="宋体" panose="02010600030101010101" pitchFamily="2" charset="-122"/>
                <a:ea typeface="宋体" panose="02010600030101010101" pitchFamily="2" charset="-122"/>
              </a:rPr>
              <a:t>功能性对真实工作的省略</a:t>
            </a:r>
            <a:r>
              <a:rPr lang="zh-CN" altLang="en-US" sz="2800" b="1" dirty="0">
                <a:solidFill>
                  <a:srgbClr val="660033"/>
                </a:solidFill>
                <a:latin typeface="宋体" panose="02010600030101010101" pitchFamily="2" charset="-122"/>
                <a:ea typeface="宋体" panose="02010600030101010101" pitchFamily="2" charset="-122"/>
              </a:rPr>
              <a:t>追求省略的极致也成为工业物的气氛 </a:t>
            </a:r>
            <a:r>
              <a:rPr lang="zh-CN" altLang="en-US" sz="1400" dirty="0">
                <a:solidFill>
                  <a:srgbClr val="660033"/>
                </a:solidFill>
                <a:latin typeface="宋体" panose="02010600030101010101" pitchFamily="2" charset="-122"/>
                <a:ea typeface="宋体" panose="02010600030101010101" pitchFamily="2" charset="-122"/>
              </a:rPr>
              <a:t>一键式开启的家居生活</a:t>
            </a:r>
          </a:p>
        </p:txBody>
      </p:sp>
    </p:spTree>
    <p:extLst>
      <p:ext uri="{BB962C8B-B14F-4D97-AF65-F5344CB8AC3E}">
        <p14:creationId xmlns:p14="http://schemas.microsoft.com/office/powerpoint/2010/main" val="3153999561"/>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00000"/>
                </a:solidFill>
              </a:rPr>
              <a:t>迷你化 </a:t>
            </a:r>
            <a:endParaRPr lang="zh-CN" altLang="en-US" sz="1600" dirty="0">
              <a:solidFill>
                <a:srgbClr val="C00000"/>
              </a:solidFill>
            </a:endParaRPr>
          </a:p>
        </p:txBody>
      </p:sp>
      <p:sp>
        <p:nvSpPr>
          <p:cNvPr id="3" name="内容占位符 2"/>
          <p:cNvSpPr>
            <a:spLocks noGrp="1"/>
          </p:cNvSpPr>
          <p:nvPr>
            <p:ph idx="1"/>
          </p:nvPr>
        </p:nvSpPr>
        <p:spPr>
          <a:xfrm>
            <a:off x="451693" y="1825625"/>
            <a:ext cx="11325338" cy="4351338"/>
          </a:xfrm>
        </p:spPr>
        <p:txBody>
          <a:bodyPr>
            <a:normAutofit/>
          </a:bodyPr>
          <a:lstStyle/>
          <a:p>
            <a:r>
              <a:rPr lang="zh-CN" altLang="en-US" sz="2400" dirty="0">
                <a:solidFill>
                  <a:srgbClr val="660033"/>
                </a:solidFill>
                <a:latin typeface="宋体" panose="02010600030101010101" pitchFamily="2" charset="-122"/>
                <a:ea typeface="宋体" panose="02010600030101010101" pitchFamily="2" charset="-122"/>
              </a:rPr>
              <a:t>过去：连续但受限定的空间</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现在：不连续又不受限定的延展</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机械摆脱了以人为中心的参考点和“自然尺寸”</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越来越献身于信息的复杂性精细化与迷你化发展</a:t>
            </a:r>
            <a:r>
              <a:rPr lang="zh-CN" altLang="en-US" sz="1600" dirty="0">
                <a:solidFill>
                  <a:srgbClr val="660033"/>
                </a:solidFill>
                <a:latin typeface="宋体" panose="02010600030101010101" pitchFamily="2" charset="-122"/>
                <a:ea typeface="宋体" panose="02010600030101010101" pitchFamily="2" charset="-122"/>
              </a:rPr>
              <a:t>（厨房围绕灶炉为中心而成为无限分化的功能构成）</a:t>
            </a:r>
            <a:endParaRPr lang="en-US" altLang="zh-CN" sz="1600" dirty="0">
              <a:solidFill>
                <a:srgbClr val="660033"/>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712229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3213991" y="220068"/>
            <a:ext cx="5710731" cy="502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zh-CN" sz="2666" b="1" dirty="0">
                <a:solidFill>
                  <a:srgbClr val="000000"/>
                </a:solidFill>
              </a:rPr>
              <a:t>WRITE YOUR </a:t>
            </a:r>
            <a:r>
              <a:rPr lang="zh-CN" altLang="zh-CN" sz="2666" b="1" dirty="0">
                <a:solidFill>
                  <a:srgbClr val="88714E"/>
                </a:solidFill>
              </a:rPr>
              <a:t>GREAT TITLE</a:t>
            </a:r>
            <a:r>
              <a:rPr lang="zh-CN" altLang="zh-CN" sz="2666" b="1" dirty="0">
                <a:solidFill>
                  <a:srgbClr val="000000"/>
                </a:solidFill>
              </a:rPr>
              <a:t> HERE</a:t>
            </a:r>
          </a:p>
        </p:txBody>
      </p:sp>
      <p:sp>
        <p:nvSpPr>
          <p:cNvPr id="17411" name="Text Box 3"/>
          <p:cNvSpPr txBox="1">
            <a:spLocks noChangeArrowheads="1"/>
          </p:cNvSpPr>
          <p:nvPr/>
        </p:nvSpPr>
        <p:spPr bwMode="auto">
          <a:xfrm>
            <a:off x="4508992" y="641154"/>
            <a:ext cx="29382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dirty="0">
                <a:solidFill>
                  <a:srgbClr val="000000"/>
                </a:solidFill>
              </a:rPr>
              <a:t>风格化整合的体系</a:t>
            </a:r>
            <a:endParaRPr lang="zh-CN" altLang="zh-CN" sz="2400" dirty="0">
              <a:solidFill>
                <a:srgbClr val="000000"/>
              </a:solidFill>
            </a:endParaRPr>
          </a:p>
        </p:txBody>
      </p:sp>
      <p:sp>
        <p:nvSpPr>
          <p:cNvPr id="17412" name="Line 4"/>
          <p:cNvSpPr>
            <a:spLocks noChangeShapeType="1"/>
          </p:cNvSpPr>
          <p:nvPr/>
        </p:nvSpPr>
        <p:spPr bwMode="auto">
          <a:xfrm>
            <a:off x="1881"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13" name="Line 5"/>
          <p:cNvSpPr>
            <a:spLocks noChangeShapeType="1"/>
          </p:cNvSpPr>
          <p:nvPr/>
        </p:nvSpPr>
        <p:spPr bwMode="auto">
          <a:xfrm>
            <a:off x="9244628"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14" name="Freeform 6"/>
          <p:cNvSpPr>
            <a:spLocks noEditPoints="1" noChangeArrowheads="1"/>
          </p:cNvSpPr>
          <p:nvPr/>
        </p:nvSpPr>
        <p:spPr bwMode="auto">
          <a:xfrm>
            <a:off x="4056163" y="1944619"/>
            <a:ext cx="4079674" cy="4075442"/>
          </a:xfrm>
          <a:custGeom>
            <a:avLst/>
            <a:gdLst>
              <a:gd name="T0" fmla="*/ 2147483646 w 935"/>
              <a:gd name="T1" fmla="*/ 2147483646 h 935"/>
              <a:gd name="T2" fmla="*/ 2147483646 w 935"/>
              <a:gd name="T3" fmla="*/ 2147483646 h 935"/>
              <a:gd name="T4" fmla="*/ 2147483646 w 935"/>
              <a:gd name="T5" fmla="*/ 2147483646 h 935"/>
              <a:gd name="T6" fmla="*/ 2147483646 w 935"/>
              <a:gd name="T7" fmla="*/ 2147483646 h 935"/>
              <a:gd name="T8" fmla="*/ 2147483646 w 935"/>
              <a:gd name="T9" fmla="*/ 2147483646 h 935"/>
              <a:gd name="T10" fmla="*/ 2147483646 w 935"/>
              <a:gd name="T11" fmla="*/ 2147483646 h 935"/>
              <a:gd name="T12" fmla="*/ 2147483646 w 935"/>
              <a:gd name="T13" fmla="*/ 0 h 935"/>
              <a:gd name="T14" fmla="*/ 2147483646 w 935"/>
              <a:gd name="T15" fmla="*/ 2147483646 h 935"/>
              <a:gd name="T16" fmla="*/ 2147483646 w 935"/>
              <a:gd name="T17" fmla="*/ 2147483646 h 935"/>
              <a:gd name="T18" fmla="*/ 2147483646 w 935"/>
              <a:gd name="T19" fmla="*/ 2147483646 h 935"/>
              <a:gd name="T20" fmla="*/ 2147483646 w 935"/>
              <a:gd name="T21" fmla="*/ 2147483646 h 935"/>
              <a:gd name="T22" fmla="*/ 2147483646 w 935"/>
              <a:gd name="T23" fmla="*/ 2147483646 h 935"/>
              <a:gd name="T24" fmla="*/ 2147483646 w 935"/>
              <a:gd name="T25" fmla="*/ 0 h 935"/>
              <a:gd name="T26" fmla="*/ 0 w 935"/>
              <a:gd name="T27" fmla="*/ 2147483646 h 935"/>
              <a:gd name="T28" fmla="*/ 2147483646 w 935"/>
              <a:gd name="T29" fmla="*/ 2147483646 h 935"/>
              <a:gd name="T30" fmla="*/ 2147483646 w 935"/>
              <a:gd name="T31" fmla="*/ 2147483646 h 935"/>
              <a:gd name="T32" fmla="*/ 2147483646 w 935"/>
              <a:gd name="T33" fmla="*/ 2147483646 h 935"/>
              <a:gd name="T34" fmla="*/ 2147483646 w 935"/>
              <a:gd name="T35" fmla="*/ 2147483646 h 935"/>
              <a:gd name="T36" fmla="*/ 2147483646 w 935"/>
              <a:gd name="T37" fmla="*/ 2147483646 h 935"/>
              <a:gd name="T38" fmla="*/ 0 w 935"/>
              <a:gd name="T39" fmla="*/ 2147483646 h 935"/>
              <a:gd name="T40" fmla="*/ 2147483646 w 935"/>
              <a:gd name="T41" fmla="*/ 2147483646 h 935"/>
              <a:gd name="T42" fmla="*/ 2147483646 w 935"/>
              <a:gd name="T43" fmla="*/ 2147483646 h 935"/>
              <a:gd name="T44" fmla="*/ 2147483646 w 935"/>
              <a:gd name="T45" fmla="*/ 2147483646 h 935"/>
              <a:gd name="T46" fmla="*/ 2147483646 w 935"/>
              <a:gd name="T47" fmla="*/ 2147483646 h 935"/>
              <a:gd name="T48" fmla="*/ 2147483646 w 935"/>
              <a:gd name="T49" fmla="*/ 2147483646 h 935"/>
              <a:gd name="T50" fmla="*/ 2147483646 w 935"/>
              <a:gd name="T51" fmla="*/ 2147483646 h 935"/>
              <a:gd name="T52" fmla="*/ 2147483646 w 935"/>
              <a:gd name="T53" fmla="*/ 2147483646 h 935"/>
              <a:gd name="T54" fmla="*/ 2147483646 w 935"/>
              <a:gd name="T55" fmla="*/ 2147483646 h 935"/>
              <a:gd name="T56" fmla="*/ 2147483646 w 935"/>
              <a:gd name="T57" fmla="*/ 2147483646 h 935"/>
              <a:gd name="T58" fmla="*/ 2147483646 w 935"/>
              <a:gd name="T59" fmla="*/ 2147483646 h 935"/>
              <a:gd name="T60" fmla="*/ 2147483646 w 935"/>
              <a:gd name="T61" fmla="*/ 2147483646 h 935"/>
              <a:gd name="T62" fmla="*/ 2147483646 w 935"/>
              <a:gd name="T63" fmla="*/ 2147483646 h 935"/>
              <a:gd name="T64" fmla="*/ 2147483646 w 935"/>
              <a:gd name="T65" fmla="*/ 2147483646 h 935"/>
              <a:gd name="T66" fmla="*/ 2147483646 w 935"/>
              <a:gd name="T67" fmla="*/ 2147483646 h 93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5" h="935">
                <a:moveTo>
                  <a:pt x="870" y="608"/>
                </a:moveTo>
                <a:cubicBezTo>
                  <a:pt x="870" y="608"/>
                  <a:pt x="870" y="608"/>
                  <a:pt x="870" y="608"/>
                </a:cubicBezTo>
                <a:cubicBezTo>
                  <a:pt x="831" y="574"/>
                  <a:pt x="806" y="524"/>
                  <a:pt x="806" y="468"/>
                </a:cubicBezTo>
                <a:cubicBezTo>
                  <a:pt x="806" y="412"/>
                  <a:pt x="831" y="362"/>
                  <a:pt x="870" y="327"/>
                </a:cubicBezTo>
                <a:cubicBezTo>
                  <a:pt x="870" y="327"/>
                  <a:pt x="870" y="327"/>
                  <a:pt x="870" y="327"/>
                </a:cubicBezTo>
                <a:cubicBezTo>
                  <a:pt x="910" y="293"/>
                  <a:pt x="935" y="243"/>
                  <a:pt x="935" y="186"/>
                </a:cubicBezTo>
                <a:cubicBezTo>
                  <a:pt x="935" y="83"/>
                  <a:pt x="852" y="0"/>
                  <a:pt x="750" y="0"/>
                </a:cubicBezTo>
                <a:cubicBezTo>
                  <a:pt x="693" y="0"/>
                  <a:pt x="642" y="25"/>
                  <a:pt x="608" y="65"/>
                </a:cubicBezTo>
                <a:cubicBezTo>
                  <a:pt x="608" y="65"/>
                  <a:pt x="608" y="65"/>
                  <a:pt x="608" y="65"/>
                </a:cubicBezTo>
                <a:cubicBezTo>
                  <a:pt x="574" y="105"/>
                  <a:pt x="524" y="129"/>
                  <a:pt x="468" y="129"/>
                </a:cubicBezTo>
                <a:cubicBezTo>
                  <a:pt x="412" y="129"/>
                  <a:pt x="362" y="105"/>
                  <a:pt x="328" y="65"/>
                </a:cubicBezTo>
                <a:cubicBezTo>
                  <a:pt x="328" y="65"/>
                  <a:pt x="328" y="65"/>
                  <a:pt x="328" y="65"/>
                </a:cubicBezTo>
                <a:cubicBezTo>
                  <a:pt x="294" y="25"/>
                  <a:pt x="243" y="0"/>
                  <a:pt x="186" y="0"/>
                </a:cubicBezTo>
                <a:cubicBezTo>
                  <a:pt x="83" y="0"/>
                  <a:pt x="0" y="83"/>
                  <a:pt x="0" y="186"/>
                </a:cubicBezTo>
                <a:cubicBezTo>
                  <a:pt x="0" y="243"/>
                  <a:pt x="26" y="293"/>
                  <a:pt x="66" y="327"/>
                </a:cubicBezTo>
                <a:cubicBezTo>
                  <a:pt x="66" y="327"/>
                  <a:pt x="66" y="327"/>
                  <a:pt x="66" y="327"/>
                </a:cubicBezTo>
                <a:cubicBezTo>
                  <a:pt x="105" y="362"/>
                  <a:pt x="130" y="412"/>
                  <a:pt x="130" y="468"/>
                </a:cubicBezTo>
                <a:cubicBezTo>
                  <a:pt x="130" y="524"/>
                  <a:pt x="105" y="574"/>
                  <a:pt x="66" y="608"/>
                </a:cubicBezTo>
                <a:cubicBezTo>
                  <a:pt x="66" y="608"/>
                  <a:pt x="66" y="608"/>
                  <a:pt x="66" y="608"/>
                </a:cubicBezTo>
                <a:cubicBezTo>
                  <a:pt x="26" y="642"/>
                  <a:pt x="0" y="693"/>
                  <a:pt x="0" y="749"/>
                </a:cubicBezTo>
                <a:cubicBezTo>
                  <a:pt x="0" y="852"/>
                  <a:pt x="83" y="935"/>
                  <a:pt x="186" y="935"/>
                </a:cubicBezTo>
                <a:cubicBezTo>
                  <a:pt x="243" y="935"/>
                  <a:pt x="294" y="910"/>
                  <a:pt x="328" y="870"/>
                </a:cubicBezTo>
                <a:cubicBezTo>
                  <a:pt x="328" y="870"/>
                  <a:pt x="328" y="870"/>
                  <a:pt x="328" y="870"/>
                </a:cubicBezTo>
                <a:cubicBezTo>
                  <a:pt x="362" y="831"/>
                  <a:pt x="412" y="806"/>
                  <a:pt x="468" y="806"/>
                </a:cubicBezTo>
                <a:cubicBezTo>
                  <a:pt x="524" y="806"/>
                  <a:pt x="574" y="831"/>
                  <a:pt x="608" y="870"/>
                </a:cubicBezTo>
                <a:cubicBezTo>
                  <a:pt x="608" y="870"/>
                  <a:pt x="608" y="870"/>
                  <a:pt x="608" y="870"/>
                </a:cubicBezTo>
                <a:cubicBezTo>
                  <a:pt x="642" y="910"/>
                  <a:pt x="693" y="935"/>
                  <a:pt x="750" y="935"/>
                </a:cubicBezTo>
                <a:cubicBezTo>
                  <a:pt x="852" y="935"/>
                  <a:pt x="935" y="852"/>
                  <a:pt x="935" y="749"/>
                </a:cubicBezTo>
                <a:cubicBezTo>
                  <a:pt x="935" y="693"/>
                  <a:pt x="910" y="642"/>
                  <a:pt x="870" y="608"/>
                </a:cubicBezTo>
                <a:close/>
                <a:moveTo>
                  <a:pt x="468" y="681"/>
                </a:moveTo>
                <a:cubicBezTo>
                  <a:pt x="350" y="681"/>
                  <a:pt x="255" y="585"/>
                  <a:pt x="255" y="468"/>
                </a:cubicBezTo>
                <a:cubicBezTo>
                  <a:pt x="255" y="350"/>
                  <a:pt x="350" y="255"/>
                  <a:pt x="468" y="255"/>
                </a:cubicBezTo>
                <a:cubicBezTo>
                  <a:pt x="585" y="255"/>
                  <a:pt x="681" y="350"/>
                  <a:pt x="681" y="468"/>
                </a:cubicBezTo>
                <a:cubicBezTo>
                  <a:pt x="681" y="585"/>
                  <a:pt x="585" y="681"/>
                  <a:pt x="468" y="681"/>
                </a:cubicBezTo>
                <a:close/>
              </a:path>
            </a:pathLst>
          </a:custGeom>
          <a:solidFill>
            <a:srgbClr val="000000">
              <a:alpha val="9804"/>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15" name="Oval 7"/>
          <p:cNvSpPr>
            <a:spLocks noChangeArrowheads="1"/>
          </p:cNvSpPr>
          <p:nvPr/>
        </p:nvSpPr>
        <p:spPr bwMode="auto">
          <a:xfrm>
            <a:off x="6735038" y="4631956"/>
            <a:ext cx="1182852" cy="1180736"/>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7416" name="Oval 8"/>
          <p:cNvSpPr>
            <a:spLocks noChangeArrowheads="1"/>
          </p:cNvSpPr>
          <p:nvPr/>
        </p:nvSpPr>
        <p:spPr bwMode="auto">
          <a:xfrm>
            <a:off x="4278347" y="2177378"/>
            <a:ext cx="1178619" cy="1176504"/>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7417" name="Oval 9"/>
          <p:cNvSpPr>
            <a:spLocks noChangeArrowheads="1"/>
          </p:cNvSpPr>
          <p:nvPr/>
        </p:nvSpPr>
        <p:spPr bwMode="auto">
          <a:xfrm>
            <a:off x="6735038" y="2177378"/>
            <a:ext cx="1182852" cy="1176504"/>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7418" name="Oval 10"/>
          <p:cNvSpPr>
            <a:spLocks noChangeArrowheads="1"/>
          </p:cNvSpPr>
          <p:nvPr/>
        </p:nvSpPr>
        <p:spPr bwMode="auto">
          <a:xfrm>
            <a:off x="4278347" y="4631956"/>
            <a:ext cx="1178619" cy="1180736"/>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7419" name="Text Box 11"/>
          <p:cNvSpPr txBox="1">
            <a:spLocks noChangeArrowheads="1"/>
          </p:cNvSpPr>
          <p:nvPr/>
        </p:nvSpPr>
        <p:spPr bwMode="auto">
          <a:xfrm>
            <a:off x="4377214" y="2509595"/>
            <a:ext cx="9589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b="1" dirty="0">
                <a:solidFill>
                  <a:srgbClr val="FFFFFF"/>
                </a:solidFill>
              </a:rPr>
              <a:t>功能性</a:t>
            </a:r>
            <a:endParaRPr lang="en-US" altLang="zh-CN" sz="2000" b="1" dirty="0">
              <a:solidFill>
                <a:srgbClr val="FFFFFF"/>
              </a:solidFill>
            </a:endParaRPr>
          </a:p>
          <a:p>
            <a:pPr algn="ctr" fontAlgn="base">
              <a:spcBef>
                <a:spcPct val="0"/>
              </a:spcBef>
              <a:spcAft>
                <a:spcPct val="0"/>
              </a:spcAft>
              <a:buFontTx/>
              <a:buNone/>
            </a:pPr>
            <a:r>
              <a:rPr lang="zh-CN" altLang="en-US" sz="2000" b="1" dirty="0">
                <a:solidFill>
                  <a:srgbClr val="FFFFFF"/>
                </a:solidFill>
              </a:rPr>
              <a:t>形式</a:t>
            </a:r>
            <a:endParaRPr lang="zh-CN" altLang="zh-CN" sz="2000" b="1" dirty="0">
              <a:solidFill>
                <a:srgbClr val="FFFFFF"/>
              </a:solidFill>
            </a:endParaRPr>
          </a:p>
        </p:txBody>
      </p:sp>
      <p:sp>
        <p:nvSpPr>
          <p:cNvPr id="17420" name="Text Box 12"/>
          <p:cNvSpPr txBox="1">
            <a:spLocks noChangeArrowheads="1"/>
          </p:cNvSpPr>
          <p:nvPr/>
        </p:nvSpPr>
        <p:spPr bwMode="auto">
          <a:xfrm>
            <a:off x="6454608" y="2489173"/>
            <a:ext cx="169134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b="1" dirty="0">
                <a:solidFill>
                  <a:srgbClr val="FFFFFF"/>
                </a:solidFill>
              </a:rPr>
              <a:t>力量的抽象化</a:t>
            </a:r>
            <a:endParaRPr lang="zh-CN" altLang="zh-CN" sz="2000" b="1" dirty="0">
              <a:solidFill>
                <a:srgbClr val="FFFFFF"/>
              </a:solidFill>
            </a:endParaRPr>
          </a:p>
        </p:txBody>
      </p:sp>
      <p:sp>
        <p:nvSpPr>
          <p:cNvPr id="17421" name="Text Box 13"/>
          <p:cNvSpPr txBox="1">
            <a:spLocks noChangeArrowheads="1"/>
          </p:cNvSpPr>
          <p:nvPr/>
        </p:nvSpPr>
        <p:spPr bwMode="auto">
          <a:xfrm>
            <a:off x="4259157" y="4958787"/>
            <a:ext cx="1217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b="1" dirty="0">
                <a:solidFill>
                  <a:srgbClr val="FFFFFF"/>
                </a:solidFill>
              </a:rPr>
              <a:t>功能主义</a:t>
            </a:r>
            <a:endParaRPr lang="en-US" altLang="zh-CN" sz="2000" b="1" dirty="0">
              <a:solidFill>
                <a:srgbClr val="FFFFFF"/>
              </a:solidFill>
            </a:endParaRPr>
          </a:p>
          <a:p>
            <a:pPr algn="ctr" fontAlgn="base">
              <a:spcBef>
                <a:spcPct val="0"/>
              </a:spcBef>
              <a:spcAft>
                <a:spcPct val="0"/>
              </a:spcAft>
              <a:buFontTx/>
              <a:buNone/>
            </a:pPr>
            <a:r>
              <a:rPr lang="zh-CN" altLang="en-US" sz="2000" b="1" dirty="0">
                <a:solidFill>
                  <a:srgbClr val="FFFFFF"/>
                </a:solidFill>
              </a:rPr>
              <a:t>神话</a:t>
            </a:r>
            <a:endParaRPr lang="zh-CN" altLang="zh-CN" sz="2000" b="1" dirty="0">
              <a:solidFill>
                <a:srgbClr val="FFFFFF"/>
              </a:solidFill>
            </a:endParaRPr>
          </a:p>
        </p:txBody>
      </p:sp>
      <p:sp>
        <p:nvSpPr>
          <p:cNvPr id="17422" name="Text Box 14"/>
          <p:cNvSpPr txBox="1">
            <a:spLocks noChangeArrowheads="1"/>
          </p:cNvSpPr>
          <p:nvPr/>
        </p:nvSpPr>
        <p:spPr bwMode="auto">
          <a:xfrm>
            <a:off x="6986266" y="4928583"/>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b="1" dirty="0">
                <a:solidFill>
                  <a:srgbClr val="FFFFFF"/>
                </a:solidFill>
              </a:rPr>
              <a:t>象征</a:t>
            </a:r>
            <a:endParaRPr lang="en-US" altLang="zh-CN" sz="2000" b="1" dirty="0">
              <a:solidFill>
                <a:srgbClr val="FFFFFF"/>
              </a:solidFill>
            </a:endParaRPr>
          </a:p>
        </p:txBody>
      </p:sp>
      <p:grpSp>
        <p:nvGrpSpPr>
          <p:cNvPr id="17423" name="Group 15"/>
          <p:cNvGrpSpPr>
            <a:grpSpLocks/>
          </p:cNvGrpSpPr>
          <p:nvPr/>
        </p:nvGrpSpPr>
        <p:grpSpPr bwMode="auto">
          <a:xfrm>
            <a:off x="8389761" y="5012838"/>
            <a:ext cx="292010" cy="292010"/>
            <a:chOff x="0" y="0"/>
            <a:chExt cx="205" cy="206"/>
          </a:xfrm>
        </p:grpSpPr>
        <p:sp>
          <p:nvSpPr>
            <p:cNvPr id="17437" name="Freeform 16"/>
            <p:cNvSpPr>
              <a:spLocks noEditPoints="1" noChangeArrowheads="1"/>
            </p:cNvSpPr>
            <p:nvPr/>
          </p:nvSpPr>
          <p:spPr bwMode="auto">
            <a:xfrm>
              <a:off x="0" y="0"/>
              <a:ext cx="205" cy="206"/>
            </a:xfrm>
            <a:custGeom>
              <a:avLst/>
              <a:gdLst>
                <a:gd name="T0" fmla="*/ 324 w 140"/>
                <a:gd name="T1" fmla="*/ 0 h 140"/>
                <a:gd name="T2" fmla="*/ 0 w 140"/>
                <a:gd name="T3" fmla="*/ 330 h 140"/>
                <a:gd name="T4" fmla="*/ 324 w 140"/>
                <a:gd name="T5" fmla="*/ 656 h 140"/>
                <a:gd name="T6" fmla="*/ 643 w 140"/>
                <a:gd name="T7" fmla="*/ 330 h 140"/>
                <a:gd name="T8" fmla="*/ 324 w 140"/>
                <a:gd name="T9" fmla="*/ 0 h 140"/>
                <a:gd name="T10" fmla="*/ 324 w 140"/>
                <a:gd name="T11" fmla="*/ 600 h 140"/>
                <a:gd name="T12" fmla="*/ 56 w 140"/>
                <a:gd name="T13" fmla="*/ 330 h 140"/>
                <a:gd name="T14" fmla="*/ 324 w 140"/>
                <a:gd name="T15" fmla="*/ 56 h 140"/>
                <a:gd name="T16" fmla="*/ 587 w 140"/>
                <a:gd name="T17" fmla="*/ 330 h 140"/>
                <a:gd name="T18" fmla="*/ 324 w 140"/>
                <a:gd name="T19" fmla="*/ 600 h 1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0" h="140">
                  <a:moveTo>
                    <a:pt x="70" y="0"/>
                  </a:moveTo>
                  <a:cubicBezTo>
                    <a:pt x="32" y="0"/>
                    <a:pt x="0" y="32"/>
                    <a:pt x="0" y="70"/>
                  </a:cubicBezTo>
                  <a:cubicBezTo>
                    <a:pt x="0" y="109"/>
                    <a:pt x="32" y="140"/>
                    <a:pt x="70" y="140"/>
                  </a:cubicBezTo>
                  <a:cubicBezTo>
                    <a:pt x="109" y="140"/>
                    <a:pt x="140" y="109"/>
                    <a:pt x="140" y="70"/>
                  </a:cubicBezTo>
                  <a:cubicBezTo>
                    <a:pt x="140" y="32"/>
                    <a:pt x="109" y="0"/>
                    <a:pt x="70" y="0"/>
                  </a:cubicBezTo>
                  <a:close/>
                  <a:moveTo>
                    <a:pt x="70" y="128"/>
                  </a:moveTo>
                  <a:cubicBezTo>
                    <a:pt x="38" y="128"/>
                    <a:pt x="12" y="102"/>
                    <a:pt x="12" y="70"/>
                  </a:cubicBezTo>
                  <a:cubicBezTo>
                    <a:pt x="12" y="38"/>
                    <a:pt x="38" y="12"/>
                    <a:pt x="70" y="12"/>
                  </a:cubicBezTo>
                  <a:cubicBezTo>
                    <a:pt x="102" y="12"/>
                    <a:pt x="128" y="38"/>
                    <a:pt x="128" y="70"/>
                  </a:cubicBezTo>
                  <a:cubicBezTo>
                    <a:pt x="128" y="102"/>
                    <a:pt x="102" y="128"/>
                    <a:pt x="70" y="128"/>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38" name="Freeform 17"/>
            <p:cNvSpPr>
              <a:spLocks noChangeArrowheads="1"/>
            </p:cNvSpPr>
            <p:nvPr/>
          </p:nvSpPr>
          <p:spPr bwMode="auto">
            <a:xfrm>
              <a:off x="60" y="60"/>
              <a:ext cx="87" cy="86"/>
            </a:xfrm>
            <a:custGeom>
              <a:avLst/>
              <a:gdLst>
                <a:gd name="T0" fmla="*/ 265 w 59"/>
                <a:gd name="T1" fmla="*/ 9 h 58"/>
                <a:gd name="T2" fmla="*/ 229 w 59"/>
                <a:gd name="T3" fmla="*/ 9 h 58"/>
                <a:gd name="T4" fmla="*/ 137 w 59"/>
                <a:gd name="T5" fmla="*/ 101 h 58"/>
                <a:gd name="T6" fmla="*/ 52 w 59"/>
                <a:gd name="T7" fmla="*/ 9 h 58"/>
                <a:gd name="T8" fmla="*/ 9 w 59"/>
                <a:gd name="T9" fmla="*/ 9 h 58"/>
                <a:gd name="T10" fmla="*/ 9 w 59"/>
                <a:gd name="T11" fmla="*/ 53 h 58"/>
                <a:gd name="T12" fmla="*/ 100 w 59"/>
                <a:gd name="T13" fmla="*/ 141 h 58"/>
                <a:gd name="T14" fmla="*/ 9 w 59"/>
                <a:gd name="T15" fmla="*/ 231 h 58"/>
                <a:gd name="T16" fmla="*/ 9 w 59"/>
                <a:gd name="T17" fmla="*/ 270 h 58"/>
                <a:gd name="T18" fmla="*/ 32 w 59"/>
                <a:gd name="T19" fmla="*/ 282 h 58"/>
                <a:gd name="T20" fmla="*/ 52 w 59"/>
                <a:gd name="T21" fmla="*/ 270 h 58"/>
                <a:gd name="T22" fmla="*/ 137 w 59"/>
                <a:gd name="T23" fmla="*/ 182 h 58"/>
                <a:gd name="T24" fmla="*/ 229 w 59"/>
                <a:gd name="T25" fmla="*/ 270 h 58"/>
                <a:gd name="T26" fmla="*/ 248 w 59"/>
                <a:gd name="T27" fmla="*/ 282 h 58"/>
                <a:gd name="T28" fmla="*/ 265 w 59"/>
                <a:gd name="T29" fmla="*/ 270 h 58"/>
                <a:gd name="T30" fmla="*/ 265 w 59"/>
                <a:gd name="T31" fmla="*/ 231 h 58"/>
                <a:gd name="T32" fmla="*/ 180 w 59"/>
                <a:gd name="T33" fmla="*/ 141 h 58"/>
                <a:gd name="T34" fmla="*/ 265 w 59"/>
                <a:gd name="T35" fmla="*/ 53 h 58"/>
                <a:gd name="T36" fmla="*/ 265 w 59"/>
                <a:gd name="T37" fmla="*/ 9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58">
                  <a:moveTo>
                    <a:pt x="56" y="2"/>
                  </a:moveTo>
                  <a:cubicBezTo>
                    <a:pt x="54" y="0"/>
                    <a:pt x="50" y="0"/>
                    <a:pt x="48" y="2"/>
                  </a:cubicBezTo>
                  <a:cubicBezTo>
                    <a:pt x="29" y="21"/>
                    <a:pt x="29" y="21"/>
                    <a:pt x="29" y="21"/>
                  </a:cubicBezTo>
                  <a:cubicBezTo>
                    <a:pt x="11" y="2"/>
                    <a:pt x="11" y="2"/>
                    <a:pt x="11" y="2"/>
                  </a:cubicBezTo>
                  <a:cubicBezTo>
                    <a:pt x="8" y="0"/>
                    <a:pt x="5" y="0"/>
                    <a:pt x="2" y="2"/>
                  </a:cubicBezTo>
                  <a:cubicBezTo>
                    <a:pt x="0" y="5"/>
                    <a:pt x="0" y="8"/>
                    <a:pt x="2" y="11"/>
                  </a:cubicBezTo>
                  <a:cubicBezTo>
                    <a:pt x="21" y="29"/>
                    <a:pt x="21" y="29"/>
                    <a:pt x="21" y="29"/>
                  </a:cubicBezTo>
                  <a:cubicBezTo>
                    <a:pt x="2" y="48"/>
                    <a:pt x="2" y="48"/>
                    <a:pt x="2" y="48"/>
                  </a:cubicBezTo>
                  <a:cubicBezTo>
                    <a:pt x="0" y="50"/>
                    <a:pt x="0" y="54"/>
                    <a:pt x="2" y="56"/>
                  </a:cubicBezTo>
                  <a:cubicBezTo>
                    <a:pt x="3" y="58"/>
                    <a:pt x="5" y="58"/>
                    <a:pt x="7" y="58"/>
                  </a:cubicBezTo>
                  <a:cubicBezTo>
                    <a:pt x="8" y="58"/>
                    <a:pt x="10" y="58"/>
                    <a:pt x="11" y="56"/>
                  </a:cubicBezTo>
                  <a:cubicBezTo>
                    <a:pt x="29" y="38"/>
                    <a:pt x="29" y="38"/>
                    <a:pt x="29" y="38"/>
                  </a:cubicBezTo>
                  <a:cubicBezTo>
                    <a:pt x="48" y="56"/>
                    <a:pt x="48" y="56"/>
                    <a:pt x="48" y="56"/>
                  </a:cubicBezTo>
                  <a:cubicBezTo>
                    <a:pt x="49" y="58"/>
                    <a:pt x="51" y="58"/>
                    <a:pt x="52" y="58"/>
                  </a:cubicBezTo>
                  <a:cubicBezTo>
                    <a:pt x="54" y="58"/>
                    <a:pt x="55" y="58"/>
                    <a:pt x="56" y="56"/>
                  </a:cubicBezTo>
                  <a:cubicBezTo>
                    <a:pt x="59" y="54"/>
                    <a:pt x="59" y="50"/>
                    <a:pt x="56" y="48"/>
                  </a:cubicBezTo>
                  <a:cubicBezTo>
                    <a:pt x="38" y="29"/>
                    <a:pt x="38" y="29"/>
                    <a:pt x="38" y="29"/>
                  </a:cubicBezTo>
                  <a:cubicBezTo>
                    <a:pt x="56" y="11"/>
                    <a:pt x="56" y="11"/>
                    <a:pt x="56" y="11"/>
                  </a:cubicBezTo>
                  <a:cubicBezTo>
                    <a:pt x="59" y="8"/>
                    <a:pt x="59" y="5"/>
                    <a:pt x="56" y="2"/>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39" name="Freeform 18"/>
            <p:cNvSpPr>
              <a:spLocks noEditPoints="1" noChangeArrowheads="1"/>
            </p:cNvSpPr>
            <p:nvPr/>
          </p:nvSpPr>
          <p:spPr bwMode="auto">
            <a:xfrm>
              <a:off x="0" y="0"/>
              <a:ext cx="205" cy="206"/>
            </a:xfrm>
            <a:custGeom>
              <a:avLst/>
              <a:gdLst>
                <a:gd name="T0" fmla="*/ 324 w 140"/>
                <a:gd name="T1" fmla="*/ 0 h 140"/>
                <a:gd name="T2" fmla="*/ 0 w 140"/>
                <a:gd name="T3" fmla="*/ 330 h 140"/>
                <a:gd name="T4" fmla="*/ 324 w 140"/>
                <a:gd name="T5" fmla="*/ 656 h 140"/>
                <a:gd name="T6" fmla="*/ 643 w 140"/>
                <a:gd name="T7" fmla="*/ 330 h 140"/>
                <a:gd name="T8" fmla="*/ 324 w 140"/>
                <a:gd name="T9" fmla="*/ 0 h 140"/>
                <a:gd name="T10" fmla="*/ 324 w 140"/>
                <a:gd name="T11" fmla="*/ 600 h 140"/>
                <a:gd name="T12" fmla="*/ 56 w 140"/>
                <a:gd name="T13" fmla="*/ 330 h 140"/>
                <a:gd name="T14" fmla="*/ 324 w 140"/>
                <a:gd name="T15" fmla="*/ 56 h 140"/>
                <a:gd name="T16" fmla="*/ 587 w 140"/>
                <a:gd name="T17" fmla="*/ 330 h 140"/>
                <a:gd name="T18" fmla="*/ 324 w 140"/>
                <a:gd name="T19" fmla="*/ 600 h 1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0" h="140">
                  <a:moveTo>
                    <a:pt x="70" y="0"/>
                  </a:moveTo>
                  <a:cubicBezTo>
                    <a:pt x="32" y="0"/>
                    <a:pt x="0" y="32"/>
                    <a:pt x="0" y="70"/>
                  </a:cubicBezTo>
                  <a:cubicBezTo>
                    <a:pt x="0" y="109"/>
                    <a:pt x="32" y="140"/>
                    <a:pt x="70" y="140"/>
                  </a:cubicBezTo>
                  <a:cubicBezTo>
                    <a:pt x="109" y="140"/>
                    <a:pt x="140" y="109"/>
                    <a:pt x="140" y="70"/>
                  </a:cubicBezTo>
                  <a:cubicBezTo>
                    <a:pt x="140" y="32"/>
                    <a:pt x="109" y="0"/>
                    <a:pt x="70" y="0"/>
                  </a:cubicBezTo>
                  <a:close/>
                  <a:moveTo>
                    <a:pt x="70" y="128"/>
                  </a:moveTo>
                  <a:cubicBezTo>
                    <a:pt x="38" y="128"/>
                    <a:pt x="12" y="102"/>
                    <a:pt x="12" y="70"/>
                  </a:cubicBezTo>
                  <a:cubicBezTo>
                    <a:pt x="12" y="38"/>
                    <a:pt x="38" y="12"/>
                    <a:pt x="70" y="12"/>
                  </a:cubicBezTo>
                  <a:cubicBezTo>
                    <a:pt x="102" y="12"/>
                    <a:pt x="128" y="38"/>
                    <a:pt x="128" y="70"/>
                  </a:cubicBezTo>
                  <a:cubicBezTo>
                    <a:pt x="128" y="102"/>
                    <a:pt x="102" y="128"/>
                    <a:pt x="70" y="128"/>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40" name="Freeform 19"/>
            <p:cNvSpPr>
              <a:spLocks noChangeArrowheads="1"/>
            </p:cNvSpPr>
            <p:nvPr/>
          </p:nvSpPr>
          <p:spPr bwMode="auto">
            <a:xfrm>
              <a:off x="60" y="60"/>
              <a:ext cx="87" cy="86"/>
            </a:xfrm>
            <a:custGeom>
              <a:avLst/>
              <a:gdLst>
                <a:gd name="T0" fmla="*/ 265 w 59"/>
                <a:gd name="T1" fmla="*/ 9 h 58"/>
                <a:gd name="T2" fmla="*/ 229 w 59"/>
                <a:gd name="T3" fmla="*/ 9 h 58"/>
                <a:gd name="T4" fmla="*/ 137 w 59"/>
                <a:gd name="T5" fmla="*/ 101 h 58"/>
                <a:gd name="T6" fmla="*/ 52 w 59"/>
                <a:gd name="T7" fmla="*/ 9 h 58"/>
                <a:gd name="T8" fmla="*/ 9 w 59"/>
                <a:gd name="T9" fmla="*/ 9 h 58"/>
                <a:gd name="T10" fmla="*/ 9 w 59"/>
                <a:gd name="T11" fmla="*/ 53 h 58"/>
                <a:gd name="T12" fmla="*/ 100 w 59"/>
                <a:gd name="T13" fmla="*/ 141 h 58"/>
                <a:gd name="T14" fmla="*/ 9 w 59"/>
                <a:gd name="T15" fmla="*/ 231 h 58"/>
                <a:gd name="T16" fmla="*/ 9 w 59"/>
                <a:gd name="T17" fmla="*/ 270 h 58"/>
                <a:gd name="T18" fmla="*/ 32 w 59"/>
                <a:gd name="T19" fmla="*/ 282 h 58"/>
                <a:gd name="T20" fmla="*/ 52 w 59"/>
                <a:gd name="T21" fmla="*/ 270 h 58"/>
                <a:gd name="T22" fmla="*/ 137 w 59"/>
                <a:gd name="T23" fmla="*/ 182 h 58"/>
                <a:gd name="T24" fmla="*/ 229 w 59"/>
                <a:gd name="T25" fmla="*/ 270 h 58"/>
                <a:gd name="T26" fmla="*/ 248 w 59"/>
                <a:gd name="T27" fmla="*/ 282 h 58"/>
                <a:gd name="T28" fmla="*/ 265 w 59"/>
                <a:gd name="T29" fmla="*/ 270 h 58"/>
                <a:gd name="T30" fmla="*/ 265 w 59"/>
                <a:gd name="T31" fmla="*/ 231 h 58"/>
                <a:gd name="T32" fmla="*/ 180 w 59"/>
                <a:gd name="T33" fmla="*/ 141 h 58"/>
                <a:gd name="T34" fmla="*/ 265 w 59"/>
                <a:gd name="T35" fmla="*/ 53 h 58"/>
                <a:gd name="T36" fmla="*/ 265 w 59"/>
                <a:gd name="T37" fmla="*/ 9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58">
                  <a:moveTo>
                    <a:pt x="56" y="2"/>
                  </a:moveTo>
                  <a:cubicBezTo>
                    <a:pt x="54" y="0"/>
                    <a:pt x="50" y="0"/>
                    <a:pt x="48" y="2"/>
                  </a:cubicBezTo>
                  <a:cubicBezTo>
                    <a:pt x="29" y="21"/>
                    <a:pt x="29" y="21"/>
                    <a:pt x="29" y="21"/>
                  </a:cubicBezTo>
                  <a:cubicBezTo>
                    <a:pt x="11" y="2"/>
                    <a:pt x="11" y="2"/>
                    <a:pt x="11" y="2"/>
                  </a:cubicBezTo>
                  <a:cubicBezTo>
                    <a:pt x="8" y="0"/>
                    <a:pt x="5" y="0"/>
                    <a:pt x="2" y="2"/>
                  </a:cubicBezTo>
                  <a:cubicBezTo>
                    <a:pt x="0" y="5"/>
                    <a:pt x="0" y="8"/>
                    <a:pt x="2" y="11"/>
                  </a:cubicBezTo>
                  <a:cubicBezTo>
                    <a:pt x="21" y="29"/>
                    <a:pt x="21" y="29"/>
                    <a:pt x="21" y="29"/>
                  </a:cubicBezTo>
                  <a:cubicBezTo>
                    <a:pt x="2" y="48"/>
                    <a:pt x="2" y="48"/>
                    <a:pt x="2" y="48"/>
                  </a:cubicBezTo>
                  <a:cubicBezTo>
                    <a:pt x="0" y="50"/>
                    <a:pt x="0" y="54"/>
                    <a:pt x="2" y="56"/>
                  </a:cubicBezTo>
                  <a:cubicBezTo>
                    <a:pt x="3" y="58"/>
                    <a:pt x="5" y="58"/>
                    <a:pt x="7" y="58"/>
                  </a:cubicBezTo>
                  <a:cubicBezTo>
                    <a:pt x="8" y="58"/>
                    <a:pt x="10" y="58"/>
                    <a:pt x="11" y="56"/>
                  </a:cubicBezTo>
                  <a:cubicBezTo>
                    <a:pt x="29" y="38"/>
                    <a:pt x="29" y="38"/>
                    <a:pt x="29" y="38"/>
                  </a:cubicBezTo>
                  <a:cubicBezTo>
                    <a:pt x="48" y="56"/>
                    <a:pt x="48" y="56"/>
                    <a:pt x="48" y="56"/>
                  </a:cubicBezTo>
                  <a:cubicBezTo>
                    <a:pt x="49" y="58"/>
                    <a:pt x="51" y="58"/>
                    <a:pt x="52" y="58"/>
                  </a:cubicBezTo>
                  <a:cubicBezTo>
                    <a:pt x="54" y="58"/>
                    <a:pt x="55" y="58"/>
                    <a:pt x="56" y="56"/>
                  </a:cubicBezTo>
                  <a:cubicBezTo>
                    <a:pt x="59" y="54"/>
                    <a:pt x="59" y="50"/>
                    <a:pt x="56" y="48"/>
                  </a:cubicBezTo>
                  <a:cubicBezTo>
                    <a:pt x="38" y="29"/>
                    <a:pt x="38" y="29"/>
                    <a:pt x="38" y="29"/>
                  </a:cubicBezTo>
                  <a:cubicBezTo>
                    <a:pt x="56" y="11"/>
                    <a:pt x="56" y="11"/>
                    <a:pt x="56" y="11"/>
                  </a:cubicBezTo>
                  <a:cubicBezTo>
                    <a:pt x="59" y="8"/>
                    <a:pt x="59" y="5"/>
                    <a:pt x="56" y="2"/>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grpSp>
        <p:nvGrpSpPr>
          <p:cNvPr id="17424" name="Group 20"/>
          <p:cNvGrpSpPr>
            <a:grpSpLocks/>
          </p:cNvGrpSpPr>
          <p:nvPr/>
        </p:nvGrpSpPr>
        <p:grpSpPr bwMode="auto">
          <a:xfrm>
            <a:off x="3522929" y="2509595"/>
            <a:ext cx="292010" cy="292010"/>
            <a:chOff x="0" y="0"/>
            <a:chExt cx="205" cy="206"/>
          </a:xfrm>
        </p:grpSpPr>
        <p:sp>
          <p:nvSpPr>
            <p:cNvPr id="17435" name="Freeform 21"/>
            <p:cNvSpPr>
              <a:spLocks noEditPoints="1" noChangeArrowheads="1"/>
            </p:cNvSpPr>
            <p:nvPr/>
          </p:nvSpPr>
          <p:spPr bwMode="auto">
            <a:xfrm>
              <a:off x="0" y="0"/>
              <a:ext cx="205" cy="206"/>
            </a:xfrm>
            <a:custGeom>
              <a:avLst/>
              <a:gdLst>
                <a:gd name="T0" fmla="*/ 0 w 205"/>
                <a:gd name="T1" fmla="*/ 0 h 206"/>
                <a:gd name="T2" fmla="*/ 0 w 205"/>
                <a:gd name="T3" fmla="*/ 206 h 206"/>
                <a:gd name="T4" fmla="*/ 205 w 205"/>
                <a:gd name="T5" fmla="*/ 206 h 206"/>
                <a:gd name="T6" fmla="*/ 205 w 205"/>
                <a:gd name="T7" fmla="*/ 0 h 206"/>
                <a:gd name="T8" fmla="*/ 0 w 205"/>
                <a:gd name="T9" fmla="*/ 0 h 206"/>
                <a:gd name="T10" fmla="*/ 188 w 205"/>
                <a:gd name="T11" fmla="*/ 188 h 206"/>
                <a:gd name="T12" fmla="*/ 17 w 205"/>
                <a:gd name="T13" fmla="*/ 188 h 206"/>
                <a:gd name="T14" fmla="*/ 17 w 205"/>
                <a:gd name="T15" fmla="*/ 17 h 206"/>
                <a:gd name="T16" fmla="*/ 188 w 205"/>
                <a:gd name="T17" fmla="*/ 17 h 206"/>
                <a:gd name="T18" fmla="*/ 188 w 205"/>
                <a:gd name="T19" fmla="*/ 188 h 2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5" h="206">
                  <a:moveTo>
                    <a:pt x="0" y="0"/>
                  </a:moveTo>
                  <a:lnTo>
                    <a:pt x="0" y="206"/>
                  </a:lnTo>
                  <a:lnTo>
                    <a:pt x="205" y="206"/>
                  </a:lnTo>
                  <a:lnTo>
                    <a:pt x="205" y="0"/>
                  </a:lnTo>
                  <a:lnTo>
                    <a:pt x="0" y="0"/>
                  </a:lnTo>
                  <a:close/>
                  <a:moveTo>
                    <a:pt x="188" y="188"/>
                  </a:moveTo>
                  <a:lnTo>
                    <a:pt x="17" y="188"/>
                  </a:lnTo>
                  <a:lnTo>
                    <a:pt x="17" y="17"/>
                  </a:lnTo>
                  <a:lnTo>
                    <a:pt x="188" y="17"/>
                  </a:lnTo>
                  <a:lnTo>
                    <a:pt x="188" y="188"/>
                  </a:ln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36" name="Freeform 22"/>
            <p:cNvSpPr>
              <a:spLocks noChangeArrowheads="1"/>
            </p:cNvSpPr>
            <p:nvPr/>
          </p:nvSpPr>
          <p:spPr bwMode="auto">
            <a:xfrm>
              <a:off x="48" y="60"/>
              <a:ext cx="112" cy="90"/>
            </a:xfrm>
            <a:custGeom>
              <a:avLst/>
              <a:gdLst>
                <a:gd name="T0" fmla="*/ 112 w 112"/>
                <a:gd name="T1" fmla="*/ 12 h 90"/>
                <a:gd name="T2" fmla="*/ 99 w 112"/>
                <a:gd name="T3" fmla="*/ 0 h 90"/>
                <a:gd name="T4" fmla="*/ 44 w 112"/>
                <a:gd name="T5" fmla="*/ 66 h 90"/>
                <a:gd name="T6" fmla="*/ 10 w 112"/>
                <a:gd name="T7" fmla="*/ 38 h 90"/>
                <a:gd name="T8" fmla="*/ 0 w 112"/>
                <a:gd name="T9" fmla="*/ 53 h 90"/>
                <a:gd name="T10" fmla="*/ 47 w 112"/>
                <a:gd name="T11" fmla="*/ 90 h 90"/>
                <a:gd name="T12" fmla="*/ 112 w 112"/>
                <a:gd name="T13" fmla="*/ 12 h 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 h="90">
                  <a:moveTo>
                    <a:pt x="112" y="12"/>
                  </a:moveTo>
                  <a:lnTo>
                    <a:pt x="99" y="0"/>
                  </a:lnTo>
                  <a:lnTo>
                    <a:pt x="44" y="66"/>
                  </a:lnTo>
                  <a:lnTo>
                    <a:pt x="10" y="38"/>
                  </a:lnTo>
                  <a:lnTo>
                    <a:pt x="0" y="53"/>
                  </a:lnTo>
                  <a:lnTo>
                    <a:pt x="47" y="90"/>
                  </a:lnTo>
                  <a:lnTo>
                    <a:pt x="112" y="12"/>
                  </a:ln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grpSp>
        <p:nvGrpSpPr>
          <p:cNvPr id="17425" name="Group 23"/>
          <p:cNvGrpSpPr>
            <a:grpSpLocks/>
          </p:cNvGrpSpPr>
          <p:nvPr/>
        </p:nvGrpSpPr>
        <p:grpSpPr bwMode="auto">
          <a:xfrm>
            <a:off x="3522929" y="4991676"/>
            <a:ext cx="292010" cy="296242"/>
            <a:chOff x="0" y="0"/>
            <a:chExt cx="205" cy="208"/>
          </a:xfrm>
        </p:grpSpPr>
        <p:sp>
          <p:nvSpPr>
            <p:cNvPr id="17433" name="Freeform 24"/>
            <p:cNvSpPr>
              <a:spLocks noEditPoints="1" noChangeArrowheads="1"/>
            </p:cNvSpPr>
            <p:nvPr/>
          </p:nvSpPr>
          <p:spPr bwMode="auto">
            <a:xfrm>
              <a:off x="0" y="0"/>
              <a:ext cx="205" cy="208"/>
            </a:xfrm>
            <a:custGeom>
              <a:avLst/>
              <a:gdLst>
                <a:gd name="T0" fmla="*/ 624 w 140"/>
                <a:gd name="T1" fmla="*/ 260 h 141"/>
                <a:gd name="T2" fmla="*/ 562 w 140"/>
                <a:gd name="T3" fmla="*/ 218 h 141"/>
                <a:gd name="T4" fmla="*/ 583 w 140"/>
                <a:gd name="T5" fmla="*/ 137 h 141"/>
                <a:gd name="T6" fmla="*/ 486 w 140"/>
                <a:gd name="T7" fmla="*/ 68 h 141"/>
                <a:gd name="T8" fmla="*/ 414 w 140"/>
                <a:gd name="T9" fmla="*/ 81 h 141"/>
                <a:gd name="T10" fmla="*/ 373 w 140"/>
                <a:gd name="T11" fmla="*/ 9 h 141"/>
                <a:gd name="T12" fmla="*/ 255 w 140"/>
                <a:gd name="T13" fmla="*/ 28 h 141"/>
                <a:gd name="T14" fmla="*/ 211 w 140"/>
                <a:gd name="T15" fmla="*/ 89 h 141"/>
                <a:gd name="T16" fmla="*/ 133 w 140"/>
                <a:gd name="T17" fmla="*/ 68 h 141"/>
                <a:gd name="T18" fmla="*/ 60 w 140"/>
                <a:gd name="T19" fmla="*/ 170 h 141"/>
                <a:gd name="T20" fmla="*/ 73 w 140"/>
                <a:gd name="T21" fmla="*/ 242 h 141"/>
                <a:gd name="T22" fmla="*/ 1 w 140"/>
                <a:gd name="T23" fmla="*/ 285 h 141"/>
                <a:gd name="T24" fmla="*/ 1 w 140"/>
                <a:gd name="T25" fmla="*/ 384 h 141"/>
                <a:gd name="T26" fmla="*/ 73 w 140"/>
                <a:gd name="T27" fmla="*/ 426 h 141"/>
                <a:gd name="T28" fmla="*/ 60 w 140"/>
                <a:gd name="T29" fmla="*/ 500 h 141"/>
                <a:gd name="T30" fmla="*/ 133 w 140"/>
                <a:gd name="T31" fmla="*/ 600 h 141"/>
                <a:gd name="T32" fmla="*/ 211 w 140"/>
                <a:gd name="T33" fmla="*/ 581 h 141"/>
                <a:gd name="T34" fmla="*/ 255 w 140"/>
                <a:gd name="T35" fmla="*/ 646 h 141"/>
                <a:gd name="T36" fmla="*/ 324 w 140"/>
                <a:gd name="T37" fmla="*/ 668 h 141"/>
                <a:gd name="T38" fmla="*/ 397 w 140"/>
                <a:gd name="T39" fmla="*/ 646 h 141"/>
                <a:gd name="T40" fmla="*/ 438 w 140"/>
                <a:gd name="T41" fmla="*/ 581 h 141"/>
                <a:gd name="T42" fmla="*/ 514 w 140"/>
                <a:gd name="T43" fmla="*/ 600 h 141"/>
                <a:gd name="T44" fmla="*/ 583 w 140"/>
                <a:gd name="T45" fmla="*/ 500 h 141"/>
                <a:gd name="T46" fmla="*/ 574 w 140"/>
                <a:gd name="T47" fmla="*/ 426 h 141"/>
                <a:gd name="T48" fmla="*/ 641 w 140"/>
                <a:gd name="T49" fmla="*/ 384 h 141"/>
                <a:gd name="T50" fmla="*/ 641 w 140"/>
                <a:gd name="T51" fmla="*/ 285 h 141"/>
                <a:gd name="T52" fmla="*/ 542 w 140"/>
                <a:gd name="T53" fmla="*/ 379 h 141"/>
                <a:gd name="T54" fmla="*/ 507 w 140"/>
                <a:gd name="T55" fmla="*/ 438 h 141"/>
                <a:gd name="T56" fmla="*/ 527 w 140"/>
                <a:gd name="T57" fmla="*/ 512 h 141"/>
                <a:gd name="T58" fmla="*/ 452 w 140"/>
                <a:gd name="T59" fmla="*/ 527 h 141"/>
                <a:gd name="T60" fmla="*/ 384 w 140"/>
                <a:gd name="T61" fmla="*/ 540 h 141"/>
                <a:gd name="T62" fmla="*/ 350 w 140"/>
                <a:gd name="T63" fmla="*/ 608 h 141"/>
                <a:gd name="T64" fmla="*/ 278 w 140"/>
                <a:gd name="T65" fmla="*/ 559 h 141"/>
                <a:gd name="T66" fmla="*/ 225 w 140"/>
                <a:gd name="T67" fmla="*/ 527 h 141"/>
                <a:gd name="T68" fmla="*/ 151 w 140"/>
                <a:gd name="T69" fmla="*/ 546 h 141"/>
                <a:gd name="T70" fmla="*/ 142 w 140"/>
                <a:gd name="T71" fmla="*/ 466 h 141"/>
                <a:gd name="T72" fmla="*/ 126 w 140"/>
                <a:gd name="T73" fmla="*/ 398 h 141"/>
                <a:gd name="T74" fmla="*/ 60 w 140"/>
                <a:gd name="T75" fmla="*/ 358 h 141"/>
                <a:gd name="T76" fmla="*/ 60 w 140"/>
                <a:gd name="T77" fmla="*/ 308 h 141"/>
                <a:gd name="T78" fmla="*/ 126 w 140"/>
                <a:gd name="T79" fmla="*/ 276 h 141"/>
                <a:gd name="T80" fmla="*/ 142 w 140"/>
                <a:gd name="T81" fmla="*/ 209 h 141"/>
                <a:gd name="T82" fmla="*/ 151 w 140"/>
                <a:gd name="T83" fmla="*/ 122 h 141"/>
                <a:gd name="T84" fmla="*/ 225 w 140"/>
                <a:gd name="T85" fmla="*/ 148 h 141"/>
                <a:gd name="T86" fmla="*/ 278 w 140"/>
                <a:gd name="T87" fmla="*/ 109 h 141"/>
                <a:gd name="T88" fmla="*/ 350 w 140"/>
                <a:gd name="T89" fmla="*/ 60 h 141"/>
                <a:gd name="T90" fmla="*/ 384 w 140"/>
                <a:gd name="T91" fmla="*/ 128 h 141"/>
                <a:gd name="T92" fmla="*/ 452 w 140"/>
                <a:gd name="T93" fmla="*/ 148 h 141"/>
                <a:gd name="T94" fmla="*/ 527 w 140"/>
                <a:gd name="T95" fmla="*/ 161 h 141"/>
                <a:gd name="T96" fmla="*/ 507 w 140"/>
                <a:gd name="T97" fmla="*/ 230 h 141"/>
                <a:gd name="T98" fmla="*/ 542 w 140"/>
                <a:gd name="T99" fmla="*/ 292 h 141"/>
                <a:gd name="T100" fmla="*/ 587 w 140"/>
                <a:gd name="T101" fmla="*/ 338 h 1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40" h="141">
                  <a:moveTo>
                    <a:pt x="139" y="60"/>
                  </a:moveTo>
                  <a:cubicBezTo>
                    <a:pt x="139" y="58"/>
                    <a:pt x="138" y="56"/>
                    <a:pt x="136" y="55"/>
                  </a:cubicBezTo>
                  <a:cubicBezTo>
                    <a:pt x="125" y="51"/>
                    <a:pt x="125" y="51"/>
                    <a:pt x="125" y="51"/>
                  </a:cubicBezTo>
                  <a:cubicBezTo>
                    <a:pt x="124" y="50"/>
                    <a:pt x="123" y="48"/>
                    <a:pt x="122" y="46"/>
                  </a:cubicBezTo>
                  <a:cubicBezTo>
                    <a:pt x="127" y="36"/>
                    <a:pt x="127" y="36"/>
                    <a:pt x="127" y="36"/>
                  </a:cubicBezTo>
                  <a:cubicBezTo>
                    <a:pt x="128" y="34"/>
                    <a:pt x="128" y="31"/>
                    <a:pt x="127" y="29"/>
                  </a:cubicBezTo>
                  <a:cubicBezTo>
                    <a:pt x="123" y="24"/>
                    <a:pt x="117" y="19"/>
                    <a:pt x="112" y="14"/>
                  </a:cubicBezTo>
                  <a:cubicBezTo>
                    <a:pt x="110" y="13"/>
                    <a:pt x="108" y="13"/>
                    <a:pt x="106" y="14"/>
                  </a:cubicBezTo>
                  <a:cubicBezTo>
                    <a:pt x="95" y="19"/>
                    <a:pt x="95" y="19"/>
                    <a:pt x="95" y="19"/>
                  </a:cubicBezTo>
                  <a:cubicBezTo>
                    <a:pt x="93" y="18"/>
                    <a:pt x="91" y="17"/>
                    <a:pt x="90" y="17"/>
                  </a:cubicBezTo>
                  <a:cubicBezTo>
                    <a:pt x="86" y="6"/>
                    <a:pt x="86" y="6"/>
                    <a:pt x="86" y="6"/>
                  </a:cubicBezTo>
                  <a:cubicBezTo>
                    <a:pt x="85" y="4"/>
                    <a:pt x="83" y="2"/>
                    <a:pt x="81" y="2"/>
                  </a:cubicBezTo>
                  <a:cubicBezTo>
                    <a:pt x="73" y="0"/>
                    <a:pt x="67" y="0"/>
                    <a:pt x="60" y="2"/>
                  </a:cubicBezTo>
                  <a:cubicBezTo>
                    <a:pt x="58" y="2"/>
                    <a:pt x="56" y="4"/>
                    <a:pt x="55" y="6"/>
                  </a:cubicBezTo>
                  <a:cubicBezTo>
                    <a:pt x="51" y="17"/>
                    <a:pt x="51" y="17"/>
                    <a:pt x="51" y="17"/>
                  </a:cubicBezTo>
                  <a:cubicBezTo>
                    <a:pt x="49" y="17"/>
                    <a:pt x="47" y="18"/>
                    <a:pt x="46" y="19"/>
                  </a:cubicBezTo>
                  <a:cubicBezTo>
                    <a:pt x="35" y="14"/>
                    <a:pt x="35" y="14"/>
                    <a:pt x="35" y="14"/>
                  </a:cubicBezTo>
                  <a:cubicBezTo>
                    <a:pt x="33" y="13"/>
                    <a:pt x="31" y="13"/>
                    <a:pt x="29" y="14"/>
                  </a:cubicBezTo>
                  <a:cubicBezTo>
                    <a:pt x="23" y="19"/>
                    <a:pt x="18" y="24"/>
                    <a:pt x="14" y="29"/>
                  </a:cubicBezTo>
                  <a:cubicBezTo>
                    <a:pt x="13" y="31"/>
                    <a:pt x="12" y="34"/>
                    <a:pt x="13" y="36"/>
                  </a:cubicBezTo>
                  <a:cubicBezTo>
                    <a:pt x="18" y="46"/>
                    <a:pt x="18" y="46"/>
                    <a:pt x="18" y="46"/>
                  </a:cubicBezTo>
                  <a:cubicBezTo>
                    <a:pt x="18" y="48"/>
                    <a:pt x="17" y="50"/>
                    <a:pt x="16" y="51"/>
                  </a:cubicBezTo>
                  <a:cubicBezTo>
                    <a:pt x="5" y="55"/>
                    <a:pt x="5" y="55"/>
                    <a:pt x="5" y="55"/>
                  </a:cubicBezTo>
                  <a:cubicBezTo>
                    <a:pt x="3" y="56"/>
                    <a:pt x="2" y="58"/>
                    <a:pt x="1" y="60"/>
                  </a:cubicBezTo>
                  <a:cubicBezTo>
                    <a:pt x="1" y="64"/>
                    <a:pt x="0" y="67"/>
                    <a:pt x="0" y="71"/>
                  </a:cubicBezTo>
                  <a:cubicBezTo>
                    <a:pt x="0" y="74"/>
                    <a:pt x="1" y="77"/>
                    <a:pt x="1" y="81"/>
                  </a:cubicBezTo>
                  <a:cubicBezTo>
                    <a:pt x="2" y="84"/>
                    <a:pt x="3" y="85"/>
                    <a:pt x="5" y="86"/>
                  </a:cubicBezTo>
                  <a:cubicBezTo>
                    <a:pt x="16" y="90"/>
                    <a:pt x="16" y="90"/>
                    <a:pt x="16" y="90"/>
                  </a:cubicBezTo>
                  <a:cubicBezTo>
                    <a:pt x="17" y="92"/>
                    <a:pt x="18" y="94"/>
                    <a:pt x="18" y="95"/>
                  </a:cubicBezTo>
                  <a:cubicBezTo>
                    <a:pt x="13" y="106"/>
                    <a:pt x="13" y="106"/>
                    <a:pt x="13" y="106"/>
                  </a:cubicBezTo>
                  <a:cubicBezTo>
                    <a:pt x="12" y="108"/>
                    <a:pt x="13" y="110"/>
                    <a:pt x="14" y="112"/>
                  </a:cubicBezTo>
                  <a:cubicBezTo>
                    <a:pt x="18" y="118"/>
                    <a:pt x="23" y="123"/>
                    <a:pt x="29" y="127"/>
                  </a:cubicBezTo>
                  <a:cubicBezTo>
                    <a:pt x="31" y="128"/>
                    <a:pt x="33" y="129"/>
                    <a:pt x="35" y="128"/>
                  </a:cubicBezTo>
                  <a:cubicBezTo>
                    <a:pt x="46" y="123"/>
                    <a:pt x="46" y="123"/>
                    <a:pt x="46" y="123"/>
                  </a:cubicBezTo>
                  <a:cubicBezTo>
                    <a:pt x="47" y="124"/>
                    <a:pt x="49" y="124"/>
                    <a:pt x="51" y="125"/>
                  </a:cubicBezTo>
                  <a:cubicBezTo>
                    <a:pt x="55" y="136"/>
                    <a:pt x="55" y="136"/>
                    <a:pt x="55" y="136"/>
                  </a:cubicBezTo>
                  <a:cubicBezTo>
                    <a:pt x="56" y="138"/>
                    <a:pt x="58" y="140"/>
                    <a:pt x="60" y="140"/>
                  </a:cubicBezTo>
                  <a:cubicBezTo>
                    <a:pt x="64" y="140"/>
                    <a:pt x="67" y="141"/>
                    <a:pt x="70" y="141"/>
                  </a:cubicBezTo>
                  <a:cubicBezTo>
                    <a:pt x="74" y="141"/>
                    <a:pt x="77" y="140"/>
                    <a:pt x="81" y="140"/>
                  </a:cubicBezTo>
                  <a:cubicBezTo>
                    <a:pt x="83" y="140"/>
                    <a:pt x="85" y="138"/>
                    <a:pt x="86" y="136"/>
                  </a:cubicBezTo>
                  <a:cubicBezTo>
                    <a:pt x="90" y="125"/>
                    <a:pt x="90" y="125"/>
                    <a:pt x="90" y="125"/>
                  </a:cubicBezTo>
                  <a:cubicBezTo>
                    <a:pt x="91" y="124"/>
                    <a:pt x="93" y="124"/>
                    <a:pt x="95" y="123"/>
                  </a:cubicBezTo>
                  <a:cubicBezTo>
                    <a:pt x="106" y="128"/>
                    <a:pt x="106" y="128"/>
                    <a:pt x="106" y="128"/>
                  </a:cubicBezTo>
                  <a:cubicBezTo>
                    <a:pt x="108" y="129"/>
                    <a:pt x="110" y="128"/>
                    <a:pt x="112" y="127"/>
                  </a:cubicBezTo>
                  <a:cubicBezTo>
                    <a:pt x="117" y="123"/>
                    <a:pt x="123" y="118"/>
                    <a:pt x="127" y="112"/>
                  </a:cubicBezTo>
                  <a:cubicBezTo>
                    <a:pt x="128" y="110"/>
                    <a:pt x="128" y="108"/>
                    <a:pt x="127" y="106"/>
                  </a:cubicBezTo>
                  <a:cubicBezTo>
                    <a:pt x="122" y="95"/>
                    <a:pt x="122" y="95"/>
                    <a:pt x="122" y="95"/>
                  </a:cubicBezTo>
                  <a:cubicBezTo>
                    <a:pt x="123" y="94"/>
                    <a:pt x="124" y="92"/>
                    <a:pt x="125" y="90"/>
                  </a:cubicBezTo>
                  <a:cubicBezTo>
                    <a:pt x="136" y="86"/>
                    <a:pt x="136" y="86"/>
                    <a:pt x="136" y="86"/>
                  </a:cubicBezTo>
                  <a:cubicBezTo>
                    <a:pt x="138" y="85"/>
                    <a:pt x="139" y="84"/>
                    <a:pt x="139" y="81"/>
                  </a:cubicBezTo>
                  <a:cubicBezTo>
                    <a:pt x="140" y="77"/>
                    <a:pt x="140" y="74"/>
                    <a:pt x="140" y="71"/>
                  </a:cubicBezTo>
                  <a:cubicBezTo>
                    <a:pt x="140" y="67"/>
                    <a:pt x="140" y="64"/>
                    <a:pt x="139" y="60"/>
                  </a:cubicBezTo>
                  <a:close/>
                  <a:moveTo>
                    <a:pt x="128" y="76"/>
                  </a:moveTo>
                  <a:cubicBezTo>
                    <a:pt x="118" y="80"/>
                    <a:pt x="118" y="80"/>
                    <a:pt x="118" y="80"/>
                  </a:cubicBezTo>
                  <a:cubicBezTo>
                    <a:pt x="116" y="80"/>
                    <a:pt x="115" y="82"/>
                    <a:pt x="114" y="84"/>
                  </a:cubicBezTo>
                  <a:cubicBezTo>
                    <a:pt x="113" y="87"/>
                    <a:pt x="112" y="90"/>
                    <a:pt x="110" y="92"/>
                  </a:cubicBezTo>
                  <a:cubicBezTo>
                    <a:pt x="109" y="94"/>
                    <a:pt x="109" y="96"/>
                    <a:pt x="110" y="98"/>
                  </a:cubicBezTo>
                  <a:cubicBezTo>
                    <a:pt x="115" y="108"/>
                    <a:pt x="115" y="108"/>
                    <a:pt x="115" y="108"/>
                  </a:cubicBezTo>
                  <a:cubicBezTo>
                    <a:pt x="113" y="111"/>
                    <a:pt x="110" y="113"/>
                    <a:pt x="107" y="115"/>
                  </a:cubicBezTo>
                  <a:cubicBezTo>
                    <a:pt x="98" y="111"/>
                    <a:pt x="98" y="111"/>
                    <a:pt x="98" y="111"/>
                  </a:cubicBezTo>
                  <a:cubicBezTo>
                    <a:pt x="96" y="110"/>
                    <a:pt x="94" y="110"/>
                    <a:pt x="92" y="111"/>
                  </a:cubicBezTo>
                  <a:cubicBezTo>
                    <a:pt x="89" y="112"/>
                    <a:pt x="86" y="113"/>
                    <a:pt x="83" y="114"/>
                  </a:cubicBezTo>
                  <a:cubicBezTo>
                    <a:pt x="81" y="115"/>
                    <a:pt x="80" y="116"/>
                    <a:pt x="79" y="118"/>
                  </a:cubicBezTo>
                  <a:cubicBezTo>
                    <a:pt x="76" y="128"/>
                    <a:pt x="76" y="128"/>
                    <a:pt x="76" y="128"/>
                  </a:cubicBezTo>
                  <a:cubicBezTo>
                    <a:pt x="72" y="129"/>
                    <a:pt x="69" y="129"/>
                    <a:pt x="65" y="128"/>
                  </a:cubicBezTo>
                  <a:cubicBezTo>
                    <a:pt x="61" y="118"/>
                    <a:pt x="61" y="118"/>
                    <a:pt x="61" y="118"/>
                  </a:cubicBezTo>
                  <a:cubicBezTo>
                    <a:pt x="61" y="116"/>
                    <a:pt x="59" y="115"/>
                    <a:pt x="57" y="114"/>
                  </a:cubicBezTo>
                  <a:cubicBezTo>
                    <a:pt x="54" y="113"/>
                    <a:pt x="51" y="112"/>
                    <a:pt x="49" y="111"/>
                  </a:cubicBezTo>
                  <a:cubicBezTo>
                    <a:pt x="47" y="110"/>
                    <a:pt x="45" y="110"/>
                    <a:pt x="43" y="111"/>
                  </a:cubicBezTo>
                  <a:cubicBezTo>
                    <a:pt x="33" y="115"/>
                    <a:pt x="33" y="115"/>
                    <a:pt x="33" y="115"/>
                  </a:cubicBezTo>
                  <a:cubicBezTo>
                    <a:pt x="31" y="113"/>
                    <a:pt x="28" y="111"/>
                    <a:pt x="26" y="108"/>
                  </a:cubicBezTo>
                  <a:cubicBezTo>
                    <a:pt x="31" y="98"/>
                    <a:pt x="31" y="98"/>
                    <a:pt x="31" y="98"/>
                  </a:cubicBezTo>
                  <a:cubicBezTo>
                    <a:pt x="31" y="96"/>
                    <a:pt x="31" y="94"/>
                    <a:pt x="30" y="92"/>
                  </a:cubicBezTo>
                  <a:cubicBezTo>
                    <a:pt x="29" y="90"/>
                    <a:pt x="28" y="87"/>
                    <a:pt x="27" y="84"/>
                  </a:cubicBezTo>
                  <a:cubicBezTo>
                    <a:pt x="26" y="82"/>
                    <a:pt x="25" y="80"/>
                    <a:pt x="23" y="80"/>
                  </a:cubicBezTo>
                  <a:cubicBezTo>
                    <a:pt x="13" y="76"/>
                    <a:pt x="13" y="76"/>
                    <a:pt x="13" y="76"/>
                  </a:cubicBezTo>
                  <a:cubicBezTo>
                    <a:pt x="12" y="74"/>
                    <a:pt x="12" y="72"/>
                    <a:pt x="12" y="71"/>
                  </a:cubicBezTo>
                  <a:cubicBezTo>
                    <a:pt x="12" y="69"/>
                    <a:pt x="12" y="67"/>
                    <a:pt x="13" y="65"/>
                  </a:cubicBezTo>
                  <a:cubicBezTo>
                    <a:pt x="23" y="62"/>
                    <a:pt x="23" y="62"/>
                    <a:pt x="23" y="62"/>
                  </a:cubicBezTo>
                  <a:cubicBezTo>
                    <a:pt x="25" y="61"/>
                    <a:pt x="26" y="60"/>
                    <a:pt x="27" y="58"/>
                  </a:cubicBezTo>
                  <a:cubicBezTo>
                    <a:pt x="28" y="55"/>
                    <a:pt x="29" y="52"/>
                    <a:pt x="30" y="49"/>
                  </a:cubicBezTo>
                  <a:cubicBezTo>
                    <a:pt x="31" y="47"/>
                    <a:pt x="31" y="45"/>
                    <a:pt x="31" y="44"/>
                  </a:cubicBezTo>
                  <a:cubicBezTo>
                    <a:pt x="26" y="34"/>
                    <a:pt x="26" y="34"/>
                    <a:pt x="26" y="34"/>
                  </a:cubicBezTo>
                  <a:cubicBezTo>
                    <a:pt x="28" y="31"/>
                    <a:pt x="31" y="28"/>
                    <a:pt x="33" y="26"/>
                  </a:cubicBezTo>
                  <a:cubicBezTo>
                    <a:pt x="43" y="31"/>
                    <a:pt x="43" y="31"/>
                    <a:pt x="43" y="31"/>
                  </a:cubicBezTo>
                  <a:cubicBezTo>
                    <a:pt x="45" y="32"/>
                    <a:pt x="47" y="32"/>
                    <a:pt x="49" y="31"/>
                  </a:cubicBezTo>
                  <a:cubicBezTo>
                    <a:pt x="51" y="29"/>
                    <a:pt x="54" y="28"/>
                    <a:pt x="57" y="27"/>
                  </a:cubicBezTo>
                  <a:cubicBezTo>
                    <a:pt x="59" y="27"/>
                    <a:pt x="61" y="25"/>
                    <a:pt x="61" y="23"/>
                  </a:cubicBezTo>
                  <a:cubicBezTo>
                    <a:pt x="65" y="13"/>
                    <a:pt x="65" y="13"/>
                    <a:pt x="65" y="13"/>
                  </a:cubicBezTo>
                  <a:cubicBezTo>
                    <a:pt x="69" y="13"/>
                    <a:pt x="72" y="13"/>
                    <a:pt x="76" y="13"/>
                  </a:cubicBezTo>
                  <a:cubicBezTo>
                    <a:pt x="79" y="23"/>
                    <a:pt x="79" y="23"/>
                    <a:pt x="79" y="23"/>
                  </a:cubicBezTo>
                  <a:cubicBezTo>
                    <a:pt x="80" y="25"/>
                    <a:pt x="81" y="27"/>
                    <a:pt x="83" y="27"/>
                  </a:cubicBezTo>
                  <a:cubicBezTo>
                    <a:pt x="86" y="28"/>
                    <a:pt x="89" y="29"/>
                    <a:pt x="92" y="31"/>
                  </a:cubicBezTo>
                  <a:cubicBezTo>
                    <a:pt x="94" y="32"/>
                    <a:pt x="96" y="32"/>
                    <a:pt x="98" y="31"/>
                  </a:cubicBezTo>
                  <a:cubicBezTo>
                    <a:pt x="107" y="26"/>
                    <a:pt x="107" y="26"/>
                    <a:pt x="107" y="26"/>
                  </a:cubicBezTo>
                  <a:cubicBezTo>
                    <a:pt x="110" y="28"/>
                    <a:pt x="113" y="31"/>
                    <a:pt x="115" y="34"/>
                  </a:cubicBezTo>
                  <a:cubicBezTo>
                    <a:pt x="110" y="44"/>
                    <a:pt x="110" y="44"/>
                    <a:pt x="110" y="44"/>
                  </a:cubicBezTo>
                  <a:cubicBezTo>
                    <a:pt x="109" y="45"/>
                    <a:pt x="109" y="47"/>
                    <a:pt x="110" y="49"/>
                  </a:cubicBezTo>
                  <a:cubicBezTo>
                    <a:pt x="112" y="52"/>
                    <a:pt x="113" y="55"/>
                    <a:pt x="114" y="58"/>
                  </a:cubicBezTo>
                  <a:cubicBezTo>
                    <a:pt x="115" y="60"/>
                    <a:pt x="116" y="61"/>
                    <a:pt x="118" y="62"/>
                  </a:cubicBezTo>
                  <a:cubicBezTo>
                    <a:pt x="128" y="65"/>
                    <a:pt x="128" y="65"/>
                    <a:pt x="128" y="65"/>
                  </a:cubicBezTo>
                  <a:cubicBezTo>
                    <a:pt x="128" y="67"/>
                    <a:pt x="128" y="69"/>
                    <a:pt x="128" y="71"/>
                  </a:cubicBezTo>
                  <a:cubicBezTo>
                    <a:pt x="128" y="72"/>
                    <a:pt x="128" y="74"/>
                    <a:pt x="128" y="76"/>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34" name="Freeform 25"/>
            <p:cNvSpPr>
              <a:spLocks noEditPoints="1" noChangeArrowheads="1"/>
            </p:cNvSpPr>
            <p:nvPr/>
          </p:nvSpPr>
          <p:spPr bwMode="auto">
            <a:xfrm>
              <a:off x="63" y="62"/>
              <a:ext cx="81" cy="81"/>
            </a:xfrm>
            <a:custGeom>
              <a:avLst/>
              <a:gdLst>
                <a:gd name="T0" fmla="*/ 128 w 55"/>
                <a:gd name="T1" fmla="*/ 0 h 55"/>
                <a:gd name="T2" fmla="*/ 0 w 55"/>
                <a:gd name="T3" fmla="*/ 128 h 55"/>
                <a:gd name="T4" fmla="*/ 128 w 55"/>
                <a:gd name="T5" fmla="*/ 258 h 55"/>
                <a:gd name="T6" fmla="*/ 258 w 55"/>
                <a:gd name="T7" fmla="*/ 128 h 55"/>
                <a:gd name="T8" fmla="*/ 128 w 55"/>
                <a:gd name="T9" fmla="*/ 0 h 55"/>
                <a:gd name="T10" fmla="*/ 128 w 55"/>
                <a:gd name="T11" fmla="*/ 202 h 55"/>
                <a:gd name="T12" fmla="*/ 59 w 55"/>
                <a:gd name="T13" fmla="*/ 128 h 55"/>
                <a:gd name="T14" fmla="*/ 128 w 55"/>
                <a:gd name="T15" fmla="*/ 59 h 55"/>
                <a:gd name="T16" fmla="*/ 202 w 55"/>
                <a:gd name="T17" fmla="*/ 128 h 55"/>
                <a:gd name="T18" fmla="*/ 128 w 55"/>
                <a:gd name="T19" fmla="*/ 202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 h="55">
                  <a:moveTo>
                    <a:pt x="27" y="0"/>
                  </a:moveTo>
                  <a:cubicBezTo>
                    <a:pt x="12" y="0"/>
                    <a:pt x="0" y="12"/>
                    <a:pt x="0" y="27"/>
                  </a:cubicBezTo>
                  <a:cubicBezTo>
                    <a:pt x="0" y="43"/>
                    <a:pt x="12" y="55"/>
                    <a:pt x="27" y="55"/>
                  </a:cubicBezTo>
                  <a:cubicBezTo>
                    <a:pt x="43" y="55"/>
                    <a:pt x="55" y="43"/>
                    <a:pt x="55" y="27"/>
                  </a:cubicBezTo>
                  <a:cubicBezTo>
                    <a:pt x="55" y="12"/>
                    <a:pt x="43" y="0"/>
                    <a:pt x="27" y="0"/>
                  </a:cubicBezTo>
                  <a:close/>
                  <a:moveTo>
                    <a:pt x="27" y="43"/>
                  </a:moveTo>
                  <a:cubicBezTo>
                    <a:pt x="19" y="43"/>
                    <a:pt x="12" y="36"/>
                    <a:pt x="12" y="27"/>
                  </a:cubicBezTo>
                  <a:cubicBezTo>
                    <a:pt x="12" y="19"/>
                    <a:pt x="19" y="12"/>
                    <a:pt x="27" y="12"/>
                  </a:cubicBezTo>
                  <a:cubicBezTo>
                    <a:pt x="36" y="12"/>
                    <a:pt x="43" y="19"/>
                    <a:pt x="43" y="27"/>
                  </a:cubicBezTo>
                  <a:cubicBezTo>
                    <a:pt x="43" y="36"/>
                    <a:pt x="36" y="43"/>
                    <a:pt x="27" y="43"/>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grpSp>
        <p:nvGrpSpPr>
          <p:cNvPr id="17426" name="Group 26"/>
          <p:cNvGrpSpPr>
            <a:grpSpLocks/>
          </p:cNvGrpSpPr>
          <p:nvPr/>
        </p:nvGrpSpPr>
        <p:grpSpPr bwMode="auto">
          <a:xfrm>
            <a:off x="8389761" y="2509595"/>
            <a:ext cx="292010" cy="292010"/>
            <a:chOff x="0" y="0"/>
            <a:chExt cx="205" cy="207"/>
          </a:xfrm>
        </p:grpSpPr>
        <p:sp>
          <p:nvSpPr>
            <p:cNvPr id="17431" name="Freeform 27"/>
            <p:cNvSpPr>
              <a:spLocks noEditPoints="1" noChangeArrowheads="1"/>
            </p:cNvSpPr>
            <p:nvPr/>
          </p:nvSpPr>
          <p:spPr bwMode="auto">
            <a:xfrm>
              <a:off x="0" y="0"/>
              <a:ext cx="205" cy="207"/>
            </a:xfrm>
            <a:custGeom>
              <a:avLst/>
              <a:gdLst>
                <a:gd name="T0" fmla="*/ 324 w 140"/>
                <a:gd name="T1" fmla="*/ 668 h 140"/>
                <a:gd name="T2" fmla="*/ 0 w 140"/>
                <a:gd name="T3" fmla="*/ 337 h 140"/>
                <a:gd name="T4" fmla="*/ 324 w 140"/>
                <a:gd name="T5" fmla="*/ 0 h 140"/>
                <a:gd name="T6" fmla="*/ 643 w 140"/>
                <a:gd name="T7" fmla="*/ 337 h 140"/>
                <a:gd name="T8" fmla="*/ 324 w 140"/>
                <a:gd name="T9" fmla="*/ 668 h 140"/>
                <a:gd name="T10" fmla="*/ 324 w 140"/>
                <a:gd name="T11" fmla="*/ 59 h 140"/>
                <a:gd name="T12" fmla="*/ 56 w 140"/>
                <a:gd name="T13" fmla="*/ 337 h 140"/>
                <a:gd name="T14" fmla="*/ 324 w 140"/>
                <a:gd name="T15" fmla="*/ 611 h 140"/>
                <a:gd name="T16" fmla="*/ 587 w 140"/>
                <a:gd name="T17" fmla="*/ 337 h 140"/>
                <a:gd name="T18" fmla="*/ 324 w 140"/>
                <a:gd name="T19" fmla="*/ 59 h 1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0" h="140">
                  <a:moveTo>
                    <a:pt x="70" y="140"/>
                  </a:moveTo>
                  <a:cubicBezTo>
                    <a:pt x="32" y="140"/>
                    <a:pt x="0" y="109"/>
                    <a:pt x="0" y="70"/>
                  </a:cubicBezTo>
                  <a:cubicBezTo>
                    <a:pt x="0" y="32"/>
                    <a:pt x="32" y="0"/>
                    <a:pt x="70" y="0"/>
                  </a:cubicBezTo>
                  <a:cubicBezTo>
                    <a:pt x="109" y="0"/>
                    <a:pt x="140" y="32"/>
                    <a:pt x="140" y="70"/>
                  </a:cubicBezTo>
                  <a:cubicBezTo>
                    <a:pt x="140" y="109"/>
                    <a:pt x="109" y="140"/>
                    <a:pt x="70" y="140"/>
                  </a:cubicBezTo>
                  <a:close/>
                  <a:moveTo>
                    <a:pt x="70" y="12"/>
                  </a:moveTo>
                  <a:cubicBezTo>
                    <a:pt x="38" y="12"/>
                    <a:pt x="12" y="38"/>
                    <a:pt x="12" y="70"/>
                  </a:cubicBezTo>
                  <a:cubicBezTo>
                    <a:pt x="12" y="102"/>
                    <a:pt x="38" y="128"/>
                    <a:pt x="70" y="128"/>
                  </a:cubicBezTo>
                  <a:cubicBezTo>
                    <a:pt x="102" y="128"/>
                    <a:pt x="128" y="102"/>
                    <a:pt x="128" y="70"/>
                  </a:cubicBezTo>
                  <a:cubicBezTo>
                    <a:pt x="128" y="38"/>
                    <a:pt x="102" y="12"/>
                    <a:pt x="70" y="12"/>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7432" name="Freeform 28"/>
            <p:cNvSpPr>
              <a:spLocks noChangeArrowheads="1"/>
            </p:cNvSpPr>
            <p:nvPr/>
          </p:nvSpPr>
          <p:spPr bwMode="auto">
            <a:xfrm>
              <a:off x="94" y="40"/>
              <a:ext cx="63" cy="72"/>
            </a:xfrm>
            <a:custGeom>
              <a:avLst/>
              <a:gdLst>
                <a:gd name="T0" fmla="*/ 170 w 43"/>
                <a:gd name="T1" fmla="*/ 229 h 49"/>
                <a:gd name="T2" fmla="*/ 28 w 43"/>
                <a:gd name="T3" fmla="*/ 229 h 49"/>
                <a:gd name="T4" fmla="*/ 0 w 43"/>
                <a:gd name="T5" fmla="*/ 201 h 49"/>
                <a:gd name="T6" fmla="*/ 0 w 43"/>
                <a:gd name="T7" fmla="*/ 28 h 49"/>
                <a:gd name="T8" fmla="*/ 28 w 43"/>
                <a:gd name="T9" fmla="*/ 0 h 49"/>
                <a:gd name="T10" fmla="*/ 56 w 43"/>
                <a:gd name="T11" fmla="*/ 28 h 49"/>
                <a:gd name="T12" fmla="*/ 56 w 43"/>
                <a:gd name="T13" fmla="*/ 170 h 49"/>
                <a:gd name="T14" fmla="*/ 170 w 43"/>
                <a:gd name="T15" fmla="*/ 170 h 49"/>
                <a:gd name="T16" fmla="*/ 198 w 43"/>
                <a:gd name="T17" fmla="*/ 201 h 49"/>
                <a:gd name="T18" fmla="*/ 170 w 43"/>
                <a:gd name="T19" fmla="*/ 229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 h="49">
                  <a:moveTo>
                    <a:pt x="37" y="49"/>
                  </a:moveTo>
                  <a:cubicBezTo>
                    <a:pt x="6" y="49"/>
                    <a:pt x="6" y="49"/>
                    <a:pt x="6" y="49"/>
                  </a:cubicBezTo>
                  <a:cubicBezTo>
                    <a:pt x="3" y="49"/>
                    <a:pt x="0" y="46"/>
                    <a:pt x="0" y="43"/>
                  </a:cubicBezTo>
                  <a:cubicBezTo>
                    <a:pt x="0" y="6"/>
                    <a:pt x="0" y="6"/>
                    <a:pt x="0" y="6"/>
                  </a:cubicBezTo>
                  <a:cubicBezTo>
                    <a:pt x="0" y="3"/>
                    <a:pt x="3" y="0"/>
                    <a:pt x="6" y="0"/>
                  </a:cubicBezTo>
                  <a:cubicBezTo>
                    <a:pt x="10" y="0"/>
                    <a:pt x="12" y="3"/>
                    <a:pt x="12" y="6"/>
                  </a:cubicBezTo>
                  <a:cubicBezTo>
                    <a:pt x="12" y="37"/>
                    <a:pt x="12" y="37"/>
                    <a:pt x="12" y="37"/>
                  </a:cubicBezTo>
                  <a:cubicBezTo>
                    <a:pt x="37" y="37"/>
                    <a:pt x="37" y="37"/>
                    <a:pt x="37" y="37"/>
                  </a:cubicBezTo>
                  <a:cubicBezTo>
                    <a:pt x="40" y="37"/>
                    <a:pt x="43" y="40"/>
                    <a:pt x="43" y="43"/>
                  </a:cubicBezTo>
                  <a:cubicBezTo>
                    <a:pt x="43" y="46"/>
                    <a:pt x="40" y="49"/>
                    <a:pt x="37" y="49"/>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sp>
        <p:nvSpPr>
          <p:cNvPr id="17427" name="Rectangle 29"/>
          <p:cNvSpPr>
            <a:spLocks noChangeArrowheads="1"/>
          </p:cNvSpPr>
          <p:nvPr/>
        </p:nvSpPr>
        <p:spPr bwMode="auto">
          <a:xfrm>
            <a:off x="1559267" y="4447290"/>
            <a:ext cx="249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FontTx/>
              <a:buNone/>
            </a:pPr>
            <a:r>
              <a:rPr lang="zh-CN" altLang="en-US" sz="2400" dirty="0">
                <a:solidFill>
                  <a:srgbClr val="808080"/>
                </a:solidFill>
              </a:rPr>
              <a:t>面向的终结.</a:t>
            </a:r>
          </a:p>
        </p:txBody>
      </p:sp>
      <p:sp>
        <p:nvSpPr>
          <p:cNvPr id="17428" name="Rectangle 30"/>
          <p:cNvSpPr>
            <a:spLocks noChangeArrowheads="1"/>
          </p:cNvSpPr>
          <p:nvPr/>
        </p:nvSpPr>
        <p:spPr bwMode="auto">
          <a:xfrm>
            <a:off x="8891255" y="2469390"/>
            <a:ext cx="249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dirty="0">
                <a:solidFill>
                  <a:srgbClr val="808080"/>
                </a:solidFill>
              </a:rPr>
              <a:t>物品更为复杂</a:t>
            </a:r>
          </a:p>
        </p:txBody>
      </p:sp>
      <p:sp>
        <p:nvSpPr>
          <p:cNvPr id="17429" name="Rectangle 31"/>
          <p:cNvSpPr>
            <a:spLocks noChangeArrowheads="1"/>
          </p:cNvSpPr>
          <p:nvPr/>
        </p:nvSpPr>
        <p:spPr bwMode="auto">
          <a:xfrm>
            <a:off x="8475227" y="4532568"/>
            <a:ext cx="249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400" dirty="0">
                <a:solidFill>
                  <a:srgbClr val="808080"/>
                </a:solidFill>
              </a:rPr>
              <a:t>权威模式</a:t>
            </a:r>
          </a:p>
        </p:txBody>
      </p:sp>
      <p:sp>
        <p:nvSpPr>
          <p:cNvPr id="17430" name="Rectangle 32"/>
          <p:cNvSpPr>
            <a:spLocks noChangeArrowheads="1"/>
          </p:cNvSpPr>
          <p:nvPr/>
        </p:nvSpPr>
        <p:spPr bwMode="auto">
          <a:xfrm>
            <a:off x="1474626" y="3046105"/>
            <a:ext cx="2496896"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dirty="0">
                <a:solidFill>
                  <a:srgbClr val="808080"/>
                </a:solidFill>
              </a:rPr>
              <a:t>功能形式中风格化的流畅性</a:t>
            </a:r>
          </a:p>
        </p:txBody>
      </p:sp>
    </p:spTree>
    <p:extLst>
      <p:ext uri="{BB962C8B-B14F-4D97-AF65-F5344CB8AC3E}">
        <p14:creationId xmlns:p14="http://schemas.microsoft.com/office/powerpoint/2010/main" val="3331968980"/>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4671" y="2091198"/>
            <a:ext cx="11234057" cy="3188565"/>
          </a:xfrm>
          <a:prstGeom prst="rect">
            <a:avLst/>
          </a:prstGeom>
        </p:spPr>
        <p:txBody>
          <a:bodyPr wrap="square">
            <a:spAutoFit/>
          </a:bodyPr>
          <a:lstStyle/>
          <a:p>
            <a:pPr lvl="0" algn="just">
              <a:lnSpc>
                <a:spcPct val="90000"/>
              </a:lnSpc>
              <a:spcBef>
                <a:spcPts val="1000"/>
              </a:spcBef>
            </a:pPr>
            <a:r>
              <a:rPr lang="zh-CN" altLang="en-US"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物品功能性</a:t>
            </a:r>
            <a:r>
              <a:rPr lang="en-US"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出现形式间的勾结串联体系</a:t>
            </a:r>
            <a:endParaRPr lang="en-US"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“物品”在</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与功能和延展的最佳组织中日益</a:t>
            </a:r>
            <a:r>
              <a:rPr lang="zh-CN" altLang="en-US"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自主性的</a:t>
            </a:r>
            <a:r>
              <a:rPr lang="zh-CN"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成长</a:t>
            </a:r>
            <a:endParaRPr lang="zh-CN" altLang="zh-CN" sz="24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形式在彼此之间自由地组织</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：功能日益与人体和劳力的形态学相</a:t>
            </a:r>
            <a:r>
              <a:rPr lang="zh-CN" altLang="en-US"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远离</a:t>
            </a:r>
            <a:endParaRPr lang="en-US"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它们和人初等功能间失落的关系，总是在记号的抽象化程序中持续存在</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kumimoji="0" lang="zh-CN" altLang="en-US" sz="2400" b="0" i="0" u="none" strike="noStrike" kern="100" cap="none" spc="0" normalizeH="0" baseline="0" noProof="0" dirty="0">
                <a:ln>
                  <a:noFill/>
                </a:ln>
                <a:solidFill>
                  <a:srgbClr val="660033"/>
                </a:solidFill>
                <a:effectLst/>
                <a:uLnTx/>
                <a:uFillTx/>
                <a:latin typeface="华文宋体" panose="02010600040101010101" pitchFamily="2" charset="-122"/>
                <a:ea typeface="宋体" panose="02010600030101010101" pitchFamily="2" charset="-122"/>
                <a:cs typeface="华文宋体" panose="02010600040101010101" pitchFamily="2" charset="-122"/>
              </a:rPr>
              <a:t>人在其中只是通过操控的手势被暗示</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手</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在操控手势中最重要</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黑体" panose="02010609060101010101" pitchFamily="49" charset="-122"/>
                <a:ea typeface="黑体" panose="02010609060101010101" pitchFamily="49" charset="-122"/>
                <a:cs typeface="华文宋体" panose="02010600040101010101" pitchFamily="2" charset="-122"/>
              </a:rPr>
              <a:t>所有现代物品首先都希望自己是方便顺手</a:t>
            </a:r>
            <a:endParaRPr lang="en-US" altLang="zh-CN" sz="2400" kern="100" dirty="0">
              <a:solidFill>
                <a:srgbClr val="660033"/>
              </a:solidFill>
              <a:latin typeface="黑体" panose="02010609060101010101" pitchFamily="49" charset="-122"/>
              <a:ea typeface="黑体" panose="02010609060101010101" pitchFamily="49" charset="-122"/>
              <a:cs typeface="华文宋体" panose="02010600040101010101" pitchFamily="2" charset="-122"/>
            </a:endParaRPr>
          </a:p>
          <a:p>
            <a:pPr lvl="0" algn="just">
              <a:lnSpc>
                <a:spcPct val="90000"/>
              </a:lnSpc>
              <a:spcBef>
                <a:spcPts val="1000"/>
              </a:spcBef>
            </a:pP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1199481" y="831814"/>
            <a:ext cx="3108543"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j-cs"/>
              </a:rPr>
              <a:t>手势记号</a:t>
            </a:r>
            <a:r>
              <a:rPr lang="zh-CN" altLang="en-US" sz="2800" kern="0" dirty="0">
                <a:solidFill>
                  <a:srgbClr val="660033"/>
                </a:solidFill>
                <a:latin typeface="宋体" panose="02010600030101010101" pitchFamily="2" charset="-122"/>
                <a:ea typeface="宋体" panose="02010600030101010101" pitchFamily="2" charset="-122"/>
                <a:cs typeface="+mj-cs"/>
              </a:rPr>
              <a:t>：</a:t>
            </a:r>
            <a:r>
              <a:rPr kumimoji="0" lang="zh-CN" altLang="en-US" sz="28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j-cs"/>
              </a:rPr>
              <a:t>呼应</a:t>
            </a:r>
            <a:r>
              <a:rPr kumimoji="0" lang="zh-CN" altLang="en-US" sz="1600" b="0" i="0" u="none" strike="noStrike" kern="0" cap="none" spc="0" normalizeH="0" baseline="0" noProof="0" dirty="0">
                <a:ln>
                  <a:noFill/>
                </a:ln>
                <a:solidFill>
                  <a:srgbClr val="660033"/>
                </a:solidFill>
                <a:effectLst/>
                <a:uLnTx/>
                <a:uFillTx/>
                <a:latin typeface="宋体" panose="02010600030101010101" pitchFamily="2" charset="-122"/>
                <a:ea typeface="宋体" panose="02010600030101010101" pitchFamily="2" charset="-122"/>
                <a:cs typeface="+mj-cs"/>
              </a:rPr>
              <a:t>关系</a:t>
            </a:r>
            <a:endParaRPr kumimoji="0" lang="zh-CN" altLang="en-US" sz="16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59560627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643" y="2365227"/>
            <a:ext cx="12028714" cy="2602315"/>
          </a:xfrm>
          <a:prstGeom prst="rect">
            <a:avLst/>
          </a:prstGeom>
        </p:spPr>
        <p:txBody>
          <a:bodyPr wrap="square">
            <a:spAutoFit/>
          </a:bodyPr>
          <a:lstStyle/>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传统物品</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不吻合人的形体，它配合劳动与手势</a:t>
            </a:r>
            <a:r>
              <a:rPr lang="zh-CN" altLang="en-US" sz="2400" kern="100" dirty="0">
                <a:solidFill>
                  <a:srgbClr val="660033"/>
                </a:solidFill>
                <a:latin typeface="Times" panose="02020603050405020304" pitchFamily="18" charset="0"/>
                <a:ea typeface="宋体" panose="02010600030101010101" pitchFamily="2" charset="-122"/>
                <a:cs typeface="Times New Roman" panose="02020603050405020304" pitchFamily="18" charset="0"/>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人的形体是在一项具体的工作完成后才会加诸物体之上的；</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工业品吻合：</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人的身体之所以会在物体上出现</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    </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作为功能物品形式完整的抽象理由</a:t>
            </a:r>
            <a:r>
              <a:rPr lang="zh-CN" altLang="en-US" sz="10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刮胡刀</a:t>
            </a:r>
            <a:endParaRPr lang="zh-CN" altLang="zh-CN" sz="10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功能性不再是真实工作的施与，</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经过这一适应程序</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真实工作程序</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被</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省略</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和遮蔽</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只是</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一个形式</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（手柄对手）</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对另一个形式的适应</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400" kern="100">
                <a:solidFill>
                  <a:srgbClr val="660033"/>
                </a:solidFill>
                <a:latin typeface="华文宋体" panose="02010600040101010101" pitchFamily="2" charset="-122"/>
                <a:ea typeface="宋体" panose="02010600030101010101" pitchFamily="2" charset="-122"/>
                <a:cs typeface="华文宋体" panose="02010600040101010101" pitchFamily="2" charset="-122"/>
              </a:rPr>
              <a:t>形式整合了各种表象，以便超越各种机械令人不安的不连续性</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p:txBody>
      </p:sp>
      <p:sp>
        <p:nvSpPr>
          <p:cNvPr id="3" name="文本框 2">
            <a:extLst>
              <a:ext uri="{FF2B5EF4-FFF2-40B4-BE49-F238E27FC236}">
                <a16:creationId xmlns:a16="http://schemas.microsoft.com/office/drawing/2014/main" id="{5BEFE61C-21EF-3102-D3A3-0064776AAF15}"/>
              </a:ext>
            </a:extLst>
          </p:cNvPr>
          <p:cNvSpPr txBox="1"/>
          <p:nvPr/>
        </p:nvSpPr>
        <p:spPr>
          <a:xfrm>
            <a:off x="1196698" y="1049412"/>
            <a:ext cx="5553906" cy="646331"/>
          </a:xfrm>
          <a:prstGeom prst="rect">
            <a:avLst/>
          </a:prstGeom>
          <a:noFill/>
        </p:spPr>
        <p:txBody>
          <a:bodyPr wrap="square" rtlCol="0">
            <a:spAutoFit/>
          </a:bodyPr>
          <a:lstStyle/>
          <a:p>
            <a:r>
              <a:rPr lang="zh-CN" altLang="en-US" sz="3600" dirty="0"/>
              <a:t>功能性形式化 </a:t>
            </a:r>
            <a:r>
              <a:rPr lang="en-US" altLang="zh-CN" sz="2000" dirty="0"/>
              <a:t>P53</a:t>
            </a:r>
            <a:r>
              <a:rPr lang="zh-CN" altLang="en-US" sz="2000" dirty="0"/>
              <a:t>体系对人的适应</a:t>
            </a:r>
            <a:endParaRPr lang="en-US" altLang="zh-CN" sz="2000" dirty="0"/>
          </a:p>
        </p:txBody>
      </p:sp>
      <p:sp>
        <p:nvSpPr>
          <p:cNvPr id="4" name="箭头: 左 3">
            <a:extLst>
              <a:ext uri="{FF2B5EF4-FFF2-40B4-BE49-F238E27FC236}">
                <a16:creationId xmlns:a16="http://schemas.microsoft.com/office/drawing/2014/main" id="{8DAC58C6-E597-0E93-1399-55167AD26888}"/>
              </a:ext>
            </a:extLst>
          </p:cNvPr>
          <p:cNvSpPr/>
          <p:nvPr/>
        </p:nvSpPr>
        <p:spPr>
          <a:xfrm flipH="1">
            <a:off x="6642341" y="3332344"/>
            <a:ext cx="185380"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48980457"/>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9669" y="1021506"/>
            <a:ext cx="12192000" cy="3306546"/>
          </a:xfrm>
          <a:prstGeom prst="rect">
            <a:avLst/>
          </a:prstGeom>
        </p:spPr>
        <p:txBody>
          <a:bodyPr wrap="square">
            <a:spAutoFit/>
          </a:bodyPr>
          <a:lstStyle/>
          <a:p>
            <a:pPr lvl="0">
              <a:defRPr/>
            </a:pPr>
            <a:r>
              <a:rPr lang="zh-CN" altLang="en-US" sz="3600" kern="0" dirty="0">
                <a:solidFill>
                  <a:srgbClr val="660033"/>
                </a:solidFill>
                <a:latin typeface="宋体" panose="02010600030101010101" pitchFamily="2" charset="-122"/>
                <a:ea typeface="宋体" panose="02010600030101010101" pitchFamily="2" charset="-122"/>
              </a:rPr>
              <a:t>   记号化的过程：物功能的整合体系</a:t>
            </a:r>
            <a:endParaRPr lang="en-US" altLang="zh-CN" sz="3600" kern="0" dirty="0">
              <a:solidFill>
                <a:srgbClr val="660033"/>
              </a:solidFill>
              <a:latin typeface="宋体" panose="02010600030101010101" pitchFamily="2" charset="-122"/>
              <a:ea typeface="宋体" panose="02010600030101010101" pitchFamily="2" charset="-122"/>
            </a:endParaRPr>
          </a:p>
          <a:p>
            <a:pPr lvl="0">
              <a:defRPr/>
            </a:pPr>
            <a:r>
              <a:rPr lang="en-US" altLang="zh-CN" sz="1600" kern="0" dirty="0">
                <a:solidFill>
                  <a:srgbClr val="660033"/>
                </a:solidFill>
                <a:latin typeface="宋体" panose="02010600030101010101" pitchFamily="2" charset="-122"/>
                <a:ea typeface="宋体" panose="02010600030101010101" pitchFamily="2" charset="-122"/>
              </a:rPr>
              <a:t>                                     (</a:t>
            </a:r>
            <a:r>
              <a:rPr lang="zh-CN" altLang="en-US" sz="1600" kern="0" dirty="0">
                <a:solidFill>
                  <a:srgbClr val="660033"/>
                </a:solidFill>
                <a:latin typeface="宋体" panose="02010600030101010101" pitchFamily="2" charset="-122"/>
                <a:ea typeface="宋体" panose="02010600030101010101" pitchFamily="2" charset="-122"/>
              </a:rPr>
              <a:t>流体力学、顺手性、自动化，成为技术力量的加倍记号</a:t>
            </a:r>
            <a:r>
              <a:rPr lang="en-US" altLang="zh-CN" sz="1600" kern="0" dirty="0">
                <a:solidFill>
                  <a:srgbClr val="660033"/>
                </a:solidFill>
                <a:latin typeface="宋体" panose="02010600030101010101" pitchFamily="2" charset="-122"/>
                <a:ea typeface="宋体" panose="02010600030101010101" pitchFamily="2" charset="-122"/>
              </a:rPr>
              <a:t>)</a:t>
            </a:r>
            <a:endParaRPr lang="zh-CN" altLang="en-US" sz="1600" kern="0" dirty="0">
              <a:solidFill>
                <a:sysClr val="windowText" lastClr="000000"/>
              </a:solidFill>
            </a:endParaRPr>
          </a:p>
          <a:p>
            <a:pPr marL="228600" lvl="0" indent="-228600" algn="just">
              <a:lnSpc>
                <a:spcPct val="90000"/>
              </a:lnSpc>
              <a:spcBef>
                <a:spcPts val="1000"/>
              </a:spcBef>
              <a:buFont typeface="Arial" panose="020B0604020202020204" pitchFamily="34" charset="0"/>
              <a:buChar char="•"/>
            </a:pPr>
            <a:endParaRPr lang="en-US" altLang="zh-CN" sz="2800" kern="100" dirty="0">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吻合</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成为</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物品生产和销售体系中，对于物的功能整合的体系</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技术物所强制规定的行为举止是不连续的</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一串贫乏手势和记号</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物品的新的目的性会使它具有了修辞</a:t>
            </a:r>
            <a:r>
              <a:rPr lang="zh-CN" altLang="en-US" kern="100" dirty="0">
                <a:solidFill>
                  <a:srgbClr val="C00000"/>
                </a:solidFill>
                <a:latin typeface="华文宋体" panose="02010600040101010101" pitchFamily="2" charset="-122"/>
                <a:ea typeface="宋体" panose="02010600030101010101" pitchFamily="2" charset="-122"/>
                <a:cs typeface="华文宋体" panose="02010600040101010101" pitchFamily="2" charset="-122"/>
              </a:rPr>
              <a:t>（例：筋膜枪）</a:t>
            </a:r>
            <a:endParaRPr lang="en-US" altLang="zh-CN" kern="100" dirty="0">
              <a:solidFill>
                <a:srgbClr val="C00000"/>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9FEC5E61-6552-CDAE-8E2A-C734B04D88C8}"/>
              </a:ext>
            </a:extLst>
          </p:cNvPr>
          <p:cNvPicPr>
            <a:picLocks noChangeAspect="1"/>
          </p:cNvPicPr>
          <p:nvPr/>
        </p:nvPicPr>
        <p:blipFill>
          <a:blip r:embed="rId2"/>
          <a:stretch>
            <a:fillRect/>
          </a:stretch>
        </p:blipFill>
        <p:spPr>
          <a:xfrm>
            <a:off x="7184475" y="3429000"/>
            <a:ext cx="4837856" cy="3225237"/>
          </a:xfrm>
          <a:prstGeom prst="rect">
            <a:avLst/>
          </a:prstGeom>
        </p:spPr>
      </p:pic>
    </p:spTree>
    <p:extLst>
      <p:ext uri="{BB962C8B-B14F-4D97-AF65-F5344CB8AC3E}">
        <p14:creationId xmlns:p14="http://schemas.microsoft.com/office/powerpoint/2010/main" val="124905867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33"/>
                </a:solidFill>
              </a:rPr>
              <a:t>      力量的抽象化</a:t>
            </a:r>
            <a:r>
              <a:rPr lang="zh-CN" altLang="en-US" sz="1600" dirty="0">
                <a:solidFill>
                  <a:srgbClr val="660033"/>
                </a:solidFill>
              </a:rPr>
              <a:t>（后果：人的退化</a:t>
            </a:r>
            <a:r>
              <a:rPr lang="en-US" altLang="zh-CN" sz="1600" dirty="0">
                <a:solidFill>
                  <a:srgbClr val="660033"/>
                </a:solidFill>
              </a:rPr>
              <a:t>-</a:t>
            </a:r>
            <a:r>
              <a:rPr lang="zh-CN" altLang="en-US" sz="1600" dirty="0">
                <a:solidFill>
                  <a:srgbClr val="660033"/>
                </a:solidFill>
              </a:rPr>
              <a:t>宝马概念汽车）</a:t>
            </a:r>
          </a:p>
        </p:txBody>
      </p:sp>
      <p:sp>
        <p:nvSpPr>
          <p:cNvPr id="3" name="内容占位符 2"/>
          <p:cNvSpPr>
            <a:spLocks noGrp="1"/>
          </p:cNvSpPr>
          <p:nvPr>
            <p:ph idx="1"/>
          </p:nvPr>
        </p:nvSpPr>
        <p:spPr>
          <a:xfrm>
            <a:off x="838200" y="1825625"/>
            <a:ext cx="10993916" cy="4351338"/>
          </a:xfrm>
        </p:spPr>
        <p:txBody>
          <a:bodyPr/>
          <a:lstStyle/>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技术的介入，已经使物品变得</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比</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人、物之间的行为更为复杂</a:t>
            </a:r>
            <a:endParaRPr lang="zh-CN" altLang="zh-CN" sz="24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物品不再被一个由手势构成的剧场围绕，在其中扮演角色；</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目的性的极度发展，使得物品几乎成为一个全面程序的主导者</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物品越来越分化，而我们的手势则越来越不分化</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人在其中不过扮演一个角色，或者只是观众</a:t>
            </a:r>
            <a:endParaRPr lang="zh-CN" altLang="zh-CN" sz="24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041087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rgbClr val="660033"/>
                </a:solidFill>
              </a:rPr>
              <a:t>象征</a:t>
            </a:r>
            <a:r>
              <a:rPr lang="zh-CN" altLang="en-US" sz="3200" dirty="0">
                <a:solidFill>
                  <a:srgbClr val="660033"/>
                </a:solidFill>
              </a:rPr>
              <a:t>面向的终结</a:t>
            </a:r>
            <a:r>
              <a:rPr lang="en-US" altLang="zh-CN" sz="3200" dirty="0">
                <a:solidFill>
                  <a:srgbClr val="660033"/>
                </a:solidFill>
              </a:rPr>
              <a:t> </a:t>
            </a:r>
            <a:r>
              <a:rPr lang="zh-CN" altLang="en-US" sz="1600" dirty="0">
                <a:solidFill>
                  <a:srgbClr val="660033"/>
                </a:solidFill>
              </a:rPr>
              <a:t>人需要手势</a:t>
            </a:r>
            <a:r>
              <a:rPr lang="en-US" altLang="zh-CN" sz="1600" dirty="0">
                <a:solidFill>
                  <a:srgbClr val="660033"/>
                </a:solidFill>
              </a:rPr>
              <a:t>               </a:t>
            </a:r>
            <a:endParaRPr lang="zh-CN" altLang="en-US" sz="1600" dirty="0">
              <a:solidFill>
                <a:srgbClr val="660033"/>
              </a:solidFill>
            </a:endParaRPr>
          </a:p>
        </p:txBody>
      </p:sp>
      <p:sp>
        <p:nvSpPr>
          <p:cNvPr id="3" name="内容占位符 2"/>
          <p:cNvSpPr>
            <a:spLocks noGrp="1"/>
          </p:cNvSpPr>
          <p:nvPr>
            <p:ph idx="1"/>
          </p:nvPr>
        </p:nvSpPr>
        <p:spPr>
          <a:xfrm>
            <a:off x="838200" y="2086436"/>
            <a:ext cx="10515600" cy="4351338"/>
          </a:xfrm>
        </p:spPr>
        <p:txBody>
          <a:bodyPr/>
          <a:lstStyle/>
          <a:p>
            <a:pPr algn="just"/>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与传统工作手势相连接的象征关系的隐退</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劳动中原始力量的纯粹与征服被隐去</a:t>
            </a:r>
            <a:endPar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手势补偿我们的技术威力所导致的不真实、象征面的空洞</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r>
              <a:rPr lang="zh-CN" altLang="en-US" sz="2400" u="sng" dirty="0">
                <a:solidFill>
                  <a:srgbClr val="660033"/>
                </a:solidFill>
                <a:latin typeface="宋体" panose="02010600030101010101" pitchFamily="2" charset="-122"/>
                <a:ea typeface="宋体" panose="02010600030101010101" pitchFamily="2" charset="-122"/>
              </a:rPr>
              <a:t>形式的完成遮隐了一个基本的欠缺</a:t>
            </a:r>
            <a:r>
              <a:rPr lang="zh-CN" altLang="en-US" sz="2400" dirty="0">
                <a:solidFill>
                  <a:srgbClr val="660033"/>
                </a:solidFill>
                <a:latin typeface="宋体" panose="02010600030101010101" pitchFamily="2" charset="-122"/>
                <a:ea typeface="宋体" panose="02010600030101010101" pitchFamily="2" charset="-122"/>
              </a:rPr>
              <a:t>：</a:t>
            </a:r>
            <a:r>
              <a:rPr lang="zh-CN" altLang="en-US" b="1" dirty="0">
                <a:solidFill>
                  <a:srgbClr val="660033"/>
                </a:solidFill>
                <a:latin typeface="等线 Light"/>
                <a:ea typeface="等线 Light"/>
                <a:cs typeface="+mj-cs"/>
              </a:rPr>
              <a:t>人成为他力量的纯粹关照者（</a:t>
            </a:r>
            <a:r>
              <a:rPr lang="en-US" altLang="zh-CN" b="1" dirty="0">
                <a:solidFill>
                  <a:srgbClr val="660033"/>
                </a:solidFill>
                <a:latin typeface="等线 Light"/>
                <a:ea typeface="等线 Light"/>
                <a:cs typeface="+mj-cs"/>
              </a:rPr>
              <a:t>why</a:t>
            </a:r>
            <a:r>
              <a:rPr lang="zh-CN" altLang="en-US" b="1" dirty="0">
                <a:solidFill>
                  <a:srgbClr val="660033"/>
                </a:solidFill>
                <a:latin typeface="等线 Light"/>
                <a:ea typeface="等线 Light"/>
                <a:cs typeface="+mj-cs"/>
              </a:rPr>
              <a:t>）</a:t>
            </a:r>
            <a:endParaRPr lang="zh-CN" altLang="en-US" sz="1400" b="1"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5197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644" y="1709367"/>
            <a:ext cx="11344589" cy="4608441"/>
          </a:xfrm>
          <a:prstGeom prst="rect">
            <a:avLst/>
          </a:prstGeom>
        </p:spPr>
        <p:txBody>
          <a:bodyPr wrap="square">
            <a:spAutoFit/>
          </a:bodyPr>
          <a:lstStyle/>
          <a:p>
            <a:pPr lvl="0" algn="just">
              <a:lnSpc>
                <a:spcPct val="90000"/>
              </a:lnSpc>
              <a:spcBef>
                <a:spcPts val="1000"/>
              </a:spcBef>
            </a:pPr>
            <a:r>
              <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                                  </a:t>
            </a:r>
          </a:p>
          <a:p>
            <a:pPr marL="228600" lvl="0" indent="-228600" algn="just">
              <a:lnSpc>
                <a:spcPct val="90000"/>
              </a:lnSpc>
              <a:spcBef>
                <a:spcPts val="1000"/>
              </a:spcBef>
              <a:buFont typeface="Arial" panose="020B0604020202020204" pitchFamily="34" charset="0"/>
              <a:buChar char="•"/>
            </a:pPr>
            <a:r>
              <a:rPr lang="zh-CN"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机械会导致消除人的功能</a:t>
            </a:r>
            <a:r>
              <a:rPr lang="zh-CN" altLang="en-US"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和存在</a:t>
            </a:r>
            <a:endPar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人反而被功能物的结构性投射的严密一致推送到一个不一致的地位上</a:t>
            </a:r>
            <a:endPar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面对功能物，人失去功能、不理性、主观，成为空洞的形式</a:t>
            </a:r>
            <a:endPar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沉浸在转化的威能主义的自动化力量里，虚假的自我满足</a:t>
            </a:r>
            <a:endParaRPr lang="en-US" altLang="zh-CN" sz="2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endParaRPr lang="en-US" altLang="zh-CN" sz="2800" kern="100" dirty="0">
              <a:solidFill>
                <a:prstClr val="black"/>
              </a:solidFill>
              <a:latin typeface="华文宋体" panose="02010600040101010101" pitchFamily="2" charset="-122"/>
              <a:ea typeface="宋体" panose="0201060003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endParaRPr lang="en-US" altLang="zh-CN" sz="2800" kern="100" dirty="0">
              <a:solidFill>
                <a:prstClr val="black"/>
              </a:solidFill>
              <a:latin typeface="华文宋体" panose="02010600040101010101" pitchFamily="2" charset="-122"/>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endParaRPr lang="en-US" altLang="zh-CN" sz="2800" kern="100" dirty="0">
              <a:solidFill>
                <a:prstClr val="black"/>
              </a:solidFill>
              <a:latin typeface="华文宋体" panose="02010600040101010101" pitchFamily="2" charset="-122"/>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endParaRPr lang="zh-CN" altLang="zh-CN" sz="2800" kern="1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1934686" y="697320"/>
            <a:ext cx="4698722" cy="769441"/>
          </a:xfrm>
          <a:prstGeom prst="rect">
            <a:avLst/>
          </a:prstGeom>
        </p:spPr>
        <p:txBody>
          <a:bodyPr wrap="none">
            <a:spAutoFit/>
          </a:bodyPr>
          <a:lstStyle/>
          <a:p>
            <a:pPr lvl="0">
              <a:defRPr/>
            </a:pPr>
            <a:r>
              <a:rPr lang="zh-CN" altLang="en-US" sz="4400" kern="0" dirty="0">
                <a:solidFill>
                  <a:srgbClr val="660033"/>
                </a:solidFill>
                <a:latin typeface="等线 Light" panose="020F0302020204030204"/>
                <a:cs typeface="+mj-cs"/>
              </a:rPr>
              <a:t>象征</a:t>
            </a:r>
            <a:r>
              <a:rPr kumimoji="0" lang="en-US" altLang="zh-CN" sz="1600" b="0" i="0" u="none" strike="noStrike" kern="0" cap="none" spc="0" normalizeH="0" baseline="0" noProof="0" dirty="0">
                <a:ln>
                  <a:noFill/>
                </a:ln>
                <a:solidFill>
                  <a:srgbClr val="660033"/>
                </a:solidFill>
                <a:effectLst/>
                <a:uLnTx/>
                <a:uFillTx/>
                <a:latin typeface="等线 Light" panose="020F0302020204030204"/>
                <a:cs typeface="+mj-cs"/>
              </a:rPr>
              <a:t>-</a:t>
            </a:r>
            <a:r>
              <a:rPr kumimoji="0" lang="zh-CN" altLang="en-US" sz="1600" b="0" i="0" u="none" strike="noStrike" kern="0" cap="none" spc="0" normalizeH="0" baseline="0" noProof="0" dirty="0">
                <a:ln>
                  <a:noFill/>
                </a:ln>
                <a:solidFill>
                  <a:srgbClr val="660033"/>
                </a:solidFill>
                <a:effectLst/>
                <a:uLnTx/>
                <a:uFillTx/>
                <a:latin typeface="等线 Light" panose="020F0302020204030204"/>
                <a:cs typeface="+mj-cs"/>
              </a:rPr>
              <a:t>权威模式</a:t>
            </a:r>
            <a:r>
              <a:rPr lang="zh-CN" altLang="en-US" sz="1600" kern="0" dirty="0">
                <a:solidFill>
                  <a:srgbClr val="660033"/>
                </a:solidFill>
                <a:latin typeface="等线 Light" panose="020F0302020204030204"/>
                <a:cs typeface="+mj-cs"/>
              </a:rPr>
              <a:t>（</a:t>
            </a:r>
            <a:r>
              <a:rPr kumimoji="0" lang="zh-CN" altLang="en-US" sz="1600" b="0" i="0" u="none" strike="noStrike" kern="0" cap="none" spc="0" normalizeH="0" baseline="0" noProof="0" dirty="0">
                <a:ln>
                  <a:noFill/>
                </a:ln>
                <a:solidFill>
                  <a:srgbClr val="660033"/>
                </a:solidFill>
                <a:effectLst/>
                <a:uLnTx/>
                <a:uFillTx/>
                <a:latin typeface="等线 Light" panose="020F0302020204030204"/>
                <a:cs typeface="+mj-cs"/>
              </a:rPr>
              <a:t>后果：</a:t>
            </a:r>
            <a:r>
              <a:rPr lang="zh-CN" altLang="en-US" sz="1600" kern="0" dirty="0">
                <a:solidFill>
                  <a:srgbClr val="660033"/>
                </a:solidFill>
                <a:latin typeface="等线 Light" panose="020F0302020204030204"/>
                <a:cs typeface="+mj-cs"/>
              </a:rPr>
              <a:t>心理</a:t>
            </a:r>
            <a:r>
              <a:rPr kumimoji="0" lang="zh-CN" altLang="en-US" sz="1600" b="0" i="0" u="none" strike="noStrike" kern="0" cap="none" spc="0" normalizeH="0" baseline="0" noProof="0" dirty="0">
                <a:ln>
                  <a:noFill/>
                </a:ln>
                <a:solidFill>
                  <a:srgbClr val="660033"/>
                </a:solidFill>
                <a:effectLst/>
                <a:uLnTx/>
                <a:uFillTx/>
                <a:latin typeface="等线 Light" panose="020F0302020204030204"/>
                <a:cs typeface="+mj-cs"/>
              </a:rPr>
              <a:t>退化和自恋）</a:t>
            </a:r>
            <a:endParaRPr kumimoji="0" lang="zh-CN" altLang="en-US" sz="1800" b="0" i="0" u="none" strike="noStrike" kern="0" cap="none" spc="0" normalizeH="0" baseline="0" noProof="0" dirty="0">
              <a:ln>
                <a:noFill/>
              </a:ln>
              <a:solidFill>
                <a:srgbClr val="660033"/>
              </a:solidFill>
              <a:effectLst/>
              <a:uLnTx/>
              <a:uFillTx/>
            </a:endParaRPr>
          </a:p>
        </p:txBody>
      </p:sp>
    </p:spTree>
    <p:extLst>
      <p:ext uri="{BB962C8B-B14F-4D97-AF65-F5344CB8AC3E}">
        <p14:creationId xmlns:p14="http://schemas.microsoft.com/office/powerpoint/2010/main" val="144825662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08E62-033A-48B3-8150-E89FF8AFDC0D}"/>
              </a:ext>
            </a:extLst>
          </p:cNvPr>
          <p:cNvSpPr>
            <a:spLocks noGrp="1"/>
          </p:cNvSpPr>
          <p:nvPr>
            <p:ph type="title"/>
          </p:nvPr>
        </p:nvSpPr>
        <p:spPr/>
        <p:txBody>
          <a:bodyPr/>
          <a:lstStyle/>
          <a:p>
            <a:r>
              <a:rPr lang="en-US" altLang="zh-CN" dirty="0"/>
              <a:t>P57</a:t>
            </a:r>
            <a:r>
              <a:rPr lang="zh-CN" altLang="en-US" sz="2000" dirty="0"/>
              <a:t>打火机和汽车的翅翼</a:t>
            </a:r>
            <a:br>
              <a:rPr lang="zh-CN" altLang="en-US" sz="2000" dirty="0"/>
            </a:br>
            <a:endParaRPr lang="zh-CN" altLang="en-US" sz="2000" dirty="0"/>
          </a:p>
        </p:txBody>
      </p:sp>
      <p:sp>
        <p:nvSpPr>
          <p:cNvPr id="3" name="内容占位符 2">
            <a:extLst>
              <a:ext uri="{FF2B5EF4-FFF2-40B4-BE49-F238E27FC236}">
                <a16:creationId xmlns:a16="http://schemas.microsoft.com/office/drawing/2014/main" id="{774B90A8-7D1D-6D79-B511-17703AC856C8}"/>
              </a:ext>
            </a:extLst>
          </p:cNvPr>
          <p:cNvSpPr>
            <a:spLocks noGrp="1"/>
          </p:cNvSpPr>
          <p:nvPr>
            <p:ph idx="1"/>
          </p:nvPr>
        </p:nvSpPr>
        <p:spPr/>
        <p:txBody>
          <a:bodyPr/>
          <a:lstStyle/>
          <a:p>
            <a:pPr marL="0" indent="0">
              <a:buNone/>
            </a:pPr>
            <a:r>
              <a:rPr lang="en-US" altLang="zh-CN" dirty="0"/>
              <a:t>Q</a:t>
            </a:r>
            <a:r>
              <a:rPr lang="zh-CN" altLang="en-US" dirty="0"/>
              <a:t>：通过书中的两个案例，如何理解功能物品被赋予文化引申义后满足了退行的自恋心理？</a:t>
            </a:r>
          </a:p>
        </p:txBody>
      </p:sp>
    </p:spTree>
    <p:extLst>
      <p:ext uri="{BB962C8B-B14F-4D97-AF65-F5344CB8AC3E}">
        <p14:creationId xmlns:p14="http://schemas.microsoft.com/office/powerpoint/2010/main" val="2575450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功能性形式：</a:t>
            </a:r>
            <a:r>
              <a:rPr lang="zh-CN" altLang="zh-CN" sz="2000" kern="100" dirty="0">
                <a:solidFill>
                  <a:prstClr val="black"/>
                </a:solidFill>
                <a:latin typeface="华文宋体" panose="02010600040101010101" pitchFamily="2" charset="-122"/>
                <a:ea typeface="宋体" panose="02010600030101010101" pitchFamily="2" charset="-122"/>
                <a:cs typeface="华文宋体" panose="02010600040101010101" pitchFamily="2" charset="-122"/>
              </a:rPr>
              <a:t>打火机案例</a:t>
            </a:r>
            <a:r>
              <a:rPr lang="en-US" altLang="zh-CN" sz="2000" kern="100" dirty="0">
                <a:solidFill>
                  <a:prstClr val="black"/>
                </a:solidFill>
                <a:latin typeface="华文宋体" panose="02010600040101010101" pitchFamily="2" charset="-122"/>
                <a:ea typeface="宋体" panose="02010600030101010101" pitchFamily="2" charset="-122"/>
                <a:cs typeface="华文宋体" panose="02010600040101010101" pitchFamily="2" charset="-122"/>
              </a:rPr>
              <a:t>p57</a:t>
            </a:r>
            <a:endParaRPr lang="zh-CN" altLang="en-US" dirty="0">
              <a:solidFill>
                <a:srgbClr val="FF0000"/>
              </a:solidFill>
            </a:endParaRPr>
          </a:p>
        </p:txBody>
      </p:sp>
      <p:sp>
        <p:nvSpPr>
          <p:cNvPr id="3" name="内容占位符 2"/>
          <p:cNvSpPr>
            <a:spLocks noGrp="1"/>
          </p:cNvSpPr>
          <p:nvPr>
            <p:ph idx="1"/>
          </p:nvPr>
        </p:nvSpPr>
        <p:spPr>
          <a:xfrm>
            <a:off x="838200" y="1541145"/>
            <a:ext cx="10515600" cy="4351338"/>
          </a:xfrm>
        </p:spPr>
        <p:txBody>
          <a:bodyPr>
            <a:normAutofit fontScale="92500" lnSpcReduction="20000"/>
          </a:bodyPr>
          <a:lstStyle/>
          <a:p>
            <a:pPr algn="just">
              <a:lnSpc>
                <a:spcPct val="150000"/>
              </a:lnSpc>
              <a:spcAft>
                <a:spcPts val="0"/>
              </a:spcAft>
            </a:pPr>
            <a:r>
              <a:rPr lang="zh-CN" altLang="zh-CN" kern="100" dirty="0">
                <a:latin typeface="华文宋体" panose="02010600040101010101" pitchFamily="2" charset="-122"/>
                <a:ea typeface="宋体" panose="02010600030101010101" pitchFamily="2" charset="-122"/>
                <a:cs typeface="华文宋体" panose="02010600040101010101" pitchFamily="2" charset="-122"/>
              </a:rPr>
              <a:t>卵石状打火机</a:t>
            </a:r>
            <a:r>
              <a:rPr lang="zh-CN" altLang="en-US" kern="100" dirty="0">
                <a:latin typeface="华文宋体" panose="02010600040101010101" pitchFamily="2" charset="-122"/>
                <a:ea typeface="宋体" panose="02010600030101010101" pitchFamily="2" charset="-122"/>
                <a:cs typeface="华文宋体" panose="02010600040101010101" pitchFamily="2" charset="-122"/>
              </a:rPr>
              <a:t>：</a:t>
            </a:r>
            <a:r>
              <a:rPr lang="zh-CN" altLang="zh-CN" kern="100" dirty="0">
                <a:latin typeface="华文宋体" panose="02010600040101010101" pitchFamily="2" charset="-122"/>
                <a:ea typeface="宋体" panose="02010600030101010101" pitchFamily="2" charset="-122"/>
                <a:cs typeface="华文宋体" panose="02010600040101010101" pitchFamily="2" charset="-122"/>
              </a:rPr>
              <a:t>具有功能性的形状</a:t>
            </a:r>
            <a:r>
              <a:rPr lang="zh-CN" altLang="en-US" sz="1700" kern="100" dirty="0">
                <a:latin typeface="华文宋体" panose="02010600040101010101" pitchFamily="2" charset="-122"/>
                <a:ea typeface="宋体" panose="02010600030101010101" pitchFamily="2" charset="-122"/>
                <a:cs typeface="华文宋体" panose="02010600040101010101" pitchFamily="2" charset="-122"/>
              </a:rPr>
              <a:t>（材质、形状、功能和意义的衍生）</a:t>
            </a:r>
            <a:endParaRPr lang="zh-CN" alt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spcAft>
                <a:spcPts val="0"/>
              </a:spcAft>
              <a:buNone/>
            </a:pPr>
            <a:r>
              <a:rPr lang="en-US" altLang="zh-CN" sz="2200" kern="100" dirty="0">
                <a:latin typeface="华文宋体" panose="02010600040101010101" pitchFamily="2" charset="-122"/>
                <a:ea typeface="宋体" panose="02010600030101010101" pitchFamily="2" charset="-122"/>
                <a:cs typeface="华文宋体" panose="02010600040101010101" pitchFamily="2" charset="-122"/>
              </a:rPr>
              <a:t>1</a:t>
            </a: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海洋把它磨为适合手掌的形状：一个完美的状态</a:t>
            </a:r>
            <a:r>
              <a:rPr lang="en-US" altLang="zh-CN" sz="2200" kern="100" dirty="0">
                <a:latin typeface="华文宋体" panose="02010600040101010101" pitchFamily="2" charset="-122"/>
                <a:ea typeface="宋体" panose="02010600030101010101" pitchFamily="2" charset="-122"/>
                <a:cs typeface="华文宋体" panose="02010600040101010101" pitchFamily="2" charset="-122"/>
              </a:rPr>
              <a:t>——</a:t>
            </a: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方便顺手给人操作；</a:t>
            </a:r>
            <a:endParaRPr lang="zh-CN" alt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spcAft>
                <a:spcPts val="0"/>
              </a:spcAft>
              <a:buNone/>
            </a:pP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作为工业品，这个打火机被认为拥有手工艺品的品质；</a:t>
            </a:r>
            <a:endParaRPr lang="en-US" altLang="zh-CN" sz="2200" kern="100" dirty="0">
              <a:latin typeface="华文宋体" panose="02010600040101010101" pitchFamily="2" charset="-122"/>
              <a:ea typeface="宋体" panose="02010600030101010101" pitchFamily="2" charset="-122"/>
              <a:cs typeface="华文宋体" panose="02010600040101010101" pitchFamily="2" charset="-122"/>
            </a:endParaRPr>
          </a:p>
          <a:p>
            <a:pPr marL="0" indent="0" algn="just">
              <a:lnSpc>
                <a:spcPct val="150000"/>
              </a:lnSpc>
              <a:spcAft>
                <a:spcPts val="0"/>
              </a:spcAft>
              <a:buNone/>
            </a:pPr>
            <a:r>
              <a:rPr lang="en-US" altLang="zh-CN" sz="2200" kern="100" dirty="0">
                <a:latin typeface="华文宋体" panose="02010600040101010101" pitchFamily="2" charset="-122"/>
                <a:ea typeface="宋体" panose="02010600030101010101" pitchFamily="2" charset="-122"/>
                <a:cs typeface="华文宋体" panose="02010600040101010101" pitchFamily="2" charset="-122"/>
              </a:rPr>
              <a:t>2</a:t>
            </a: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海洋的影射将我们带入到一个神话的境地，一个为了人，将自身文化化的自然</a:t>
            </a:r>
            <a:endParaRPr lang="en-US" altLang="zh-CN" sz="2200" kern="100" dirty="0">
              <a:latin typeface="华文宋体" panose="02010600040101010101" pitchFamily="2" charset="-122"/>
              <a:ea typeface="宋体" panose="02010600030101010101" pitchFamily="2" charset="-122"/>
              <a:cs typeface="华文宋体" panose="02010600040101010101" pitchFamily="2" charset="-122"/>
            </a:endParaRPr>
          </a:p>
          <a:p>
            <a:pPr marL="0" indent="0" algn="just">
              <a:lnSpc>
                <a:spcPct val="150000"/>
              </a:lnSpc>
              <a:spcAft>
                <a:spcPts val="0"/>
              </a:spcAft>
              <a:buNone/>
            </a:pPr>
            <a:r>
              <a:rPr lang="en-US" altLang="zh-CN" sz="2200" u="sng" kern="100" dirty="0">
                <a:latin typeface="华文宋体" panose="02010600040101010101" pitchFamily="2" charset="-122"/>
                <a:ea typeface="宋体" panose="02010600030101010101" pitchFamily="2" charset="-122"/>
                <a:cs typeface="华文宋体" panose="02010600040101010101" pitchFamily="2" charset="-122"/>
              </a:rPr>
              <a:t>3</a:t>
            </a:r>
            <a:r>
              <a:rPr lang="zh-CN" altLang="zh-CN" sz="2200" u="sng" kern="100" dirty="0">
                <a:latin typeface="华文宋体" panose="02010600040101010101" pitchFamily="2" charset="-122"/>
                <a:ea typeface="宋体" panose="02010600030101010101" pitchFamily="2" charset="-122"/>
                <a:cs typeface="华文宋体" panose="02010600040101010101" pitchFamily="2" charset="-122"/>
              </a:rPr>
              <a:t>能配合人任何微小的欲望：</a:t>
            </a:r>
            <a:endParaRPr lang="zh-CN" altLang="zh-CN" sz="2200" u="sng"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spcAft>
                <a:spcPts val="0"/>
              </a:spcAft>
              <a:buNone/>
            </a:pP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海洋在这里扮演了磨石者的文化角色，而那是自然崇高的</a:t>
            </a:r>
            <a:r>
              <a:rPr lang="zh-CN" altLang="en-US" sz="2200" kern="100" dirty="0">
                <a:latin typeface="华文宋体" panose="02010600040101010101" pitchFamily="2" charset="-122"/>
                <a:ea typeface="宋体" panose="02010600030101010101" pitchFamily="2" charset="-122"/>
                <a:cs typeface="华文宋体" panose="02010600040101010101" pitchFamily="2" charset="-122"/>
              </a:rPr>
              <a:t>工艺</a:t>
            </a:r>
            <a:endParaRPr lang="zh-CN" alt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spcAft>
                <a:spcPts val="0"/>
              </a:spcAft>
              <a:buNone/>
            </a:pP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石头与火隐喻了人类最初的</a:t>
            </a:r>
            <a:r>
              <a:rPr lang="zh-CN" altLang="en-US" sz="2200" kern="100" dirty="0">
                <a:latin typeface="华文宋体" panose="02010600040101010101" pitchFamily="2" charset="-122"/>
                <a:ea typeface="宋体" panose="02010600030101010101" pitchFamily="2" charset="-122"/>
                <a:cs typeface="华文宋体" panose="02010600040101010101" pitchFamily="2" charset="-122"/>
              </a:rPr>
              <a:t>取火燧石</a:t>
            </a: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的象征</a:t>
            </a:r>
            <a:r>
              <a:rPr lang="en-US" altLang="zh-CN" sz="2200" kern="100" dirty="0">
                <a:latin typeface="华文宋体" panose="02010600040101010101" pitchFamily="2" charset="-122"/>
                <a:ea typeface="宋体" panose="02010600030101010101" pitchFamily="2" charset="-122"/>
                <a:cs typeface="华文宋体" panose="02010600040101010101" pitchFamily="2" charset="-122"/>
              </a:rPr>
              <a:t>——</a:t>
            </a:r>
            <a:r>
              <a:rPr lang="zh-CN" altLang="zh-CN" sz="2200" kern="100" dirty="0">
                <a:latin typeface="华文宋体" panose="02010600040101010101" pitchFamily="2" charset="-122"/>
                <a:ea typeface="宋体" panose="02010600030101010101" pitchFamily="2" charset="-122"/>
                <a:cs typeface="华文宋体" panose="02010600040101010101" pitchFamily="2" charset="-122"/>
              </a:rPr>
              <a:t>整套人类史前和工匠模式的目的性，前来在一个工业产品的实用本质构成中，扮演它的角色</a:t>
            </a:r>
            <a:endParaRPr lang="zh-CN" alt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lgn="just">
              <a:spcAft>
                <a:spcPts val="0"/>
              </a:spcAft>
              <a:buNone/>
            </a:pPr>
            <a:endParaRPr lang="zh-CN" altLang="zh-CN" sz="20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057667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586F0-234A-FDBE-730F-396D0869E0F1}"/>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引申意义的嫁接</a:t>
            </a:r>
          </a:p>
        </p:txBody>
      </p:sp>
      <p:sp>
        <p:nvSpPr>
          <p:cNvPr id="3" name="内容占位符 2">
            <a:extLst>
              <a:ext uri="{FF2B5EF4-FFF2-40B4-BE49-F238E27FC236}">
                <a16:creationId xmlns:a16="http://schemas.microsoft.com/office/drawing/2014/main" id="{D9CF88BA-9FA5-16EE-8463-A0AB99BBDF15}"/>
              </a:ext>
            </a:extLst>
          </p:cNvPr>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功能性：机械的引擎</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象征性：外观的翅膀型车门</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功能性和象征性的嫁接：有机状态过渡到流体状态</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流体性</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流体性背后的欲望：速度与激情的自由</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“自然”为技术物提供自然式的引申义</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对于“天空”的征服来自于引申意义的嫁接与想象</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无罪证明和心理退化的自恋</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838882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33"/>
                </a:solidFill>
              </a:rPr>
              <a:t>功能主义神话</a:t>
            </a:r>
            <a:r>
              <a:rPr lang="zh-CN" altLang="en-US" sz="1600" dirty="0">
                <a:solidFill>
                  <a:srgbClr val="660033"/>
                </a:solidFill>
              </a:rPr>
              <a:t>（小艾、智能家居）</a:t>
            </a:r>
            <a:r>
              <a:rPr lang="zh-CN" altLang="en-US" sz="2400" dirty="0">
                <a:solidFill>
                  <a:srgbClr val="660033"/>
                </a:solidFill>
              </a:rPr>
              <a:t>：世界权威的模式</a:t>
            </a:r>
            <a:r>
              <a:rPr lang="en-US" altLang="zh-CN" sz="2400" b="1" dirty="0">
                <a:solidFill>
                  <a:srgbClr val="FF0000"/>
                </a:solidFill>
                <a:latin typeface="等线 Light"/>
                <a:ea typeface="等线 Light"/>
                <a:cs typeface="+mj-cs"/>
              </a:rPr>
              <a:t>(</a:t>
            </a:r>
            <a:r>
              <a:rPr lang="zh-CN" altLang="en-US" sz="2400" b="1" dirty="0">
                <a:solidFill>
                  <a:srgbClr val="FF0000"/>
                </a:solidFill>
                <a:latin typeface="等线 Light"/>
                <a:ea typeface="等线 Light"/>
                <a:cs typeface="+mj-cs"/>
              </a:rPr>
              <a:t>原欲被压抑和转化</a:t>
            </a:r>
            <a:r>
              <a:rPr lang="en-US" altLang="zh-CN" sz="2400" b="1" dirty="0">
                <a:solidFill>
                  <a:srgbClr val="FF0000"/>
                </a:solidFill>
                <a:latin typeface="等线 Light"/>
                <a:ea typeface="等线 Light"/>
                <a:cs typeface="+mj-cs"/>
              </a:rPr>
              <a:t>)</a:t>
            </a:r>
            <a:endParaRPr lang="zh-CN" altLang="en-US" sz="2400" dirty="0">
              <a:solidFill>
                <a:srgbClr val="660033"/>
              </a:solidFill>
            </a:endParaRPr>
          </a:p>
        </p:txBody>
      </p:sp>
      <p:sp>
        <p:nvSpPr>
          <p:cNvPr id="3" name="内容占位符 2"/>
          <p:cNvSpPr>
            <a:spLocks noGrp="1"/>
          </p:cNvSpPr>
          <p:nvPr>
            <p:ph idx="1"/>
          </p:nvPr>
        </p:nvSpPr>
        <p:spPr>
          <a:xfrm>
            <a:off x="838200" y="1825625"/>
            <a:ext cx="11225270" cy="4351338"/>
          </a:xfrm>
        </p:spPr>
        <p:txBody>
          <a:bodyPr>
            <a:normAutofit/>
          </a:bodyPr>
          <a:lstStyle/>
          <a:p>
            <a:r>
              <a:rPr lang="zh-CN" altLang="en-US" sz="2400" dirty="0">
                <a:solidFill>
                  <a:srgbClr val="660033"/>
                </a:solidFill>
                <a:latin typeface="宋体" panose="02010600030101010101" pitchFamily="2" charset="-122"/>
                <a:ea typeface="宋体" panose="02010600030101010101" pitchFamily="2" charset="-122"/>
              </a:rPr>
              <a:t>劳力中具体活力虽被抽象化却不就此消逝</a:t>
            </a:r>
            <a:r>
              <a:rPr lang="en-US" altLang="zh-CN" sz="2400" dirty="0">
                <a:solidFill>
                  <a:srgbClr val="660033"/>
                </a:solidFill>
                <a:latin typeface="宋体" panose="02010600030101010101" pitchFamily="2" charset="-122"/>
                <a:ea typeface="宋体" panose="02010600030101010101" pitchFamily="2" charset="-122"/>
              </a:rPr>
              <a:t>P</a:t>
            </a:r>
            <a:r>
              <a:rPr lang="en-US" altLang="zh-CN" sz="1400" dirty="0">
                <a:solidFill>
                  <a:srgbClr val="660033"/>
                </a:solidFill>
                <a:latin typeface="宋体" panose="02010600030101010101" pitchFamily="2" charset="-122"/>
                <a:ea typeface="宋体" panose="02010600030101010101" pitchFamily="2" charset="-122"/>
              </a:rPr>
              <a:t>53</a:t>
            </a:r>
          </a:p>
          <a:p>
            <a:r>
              <a:rPr lang="zh-CN" altLang="en-US" sz="2400" dirty="0">
                <a:solidFill>
                  <a:srgbClr val="660033"/>
                </a:solidFill>
                <a:latin typeface="宋体" panose="02010600030101010101" pitchFamily="2" charset="-122"/>
                <a:ea typeface="宋体" panose="02010600030101010101" pitchFamily="2" charset="-122"/>
              </a:rPr>
              <a:t>它内化为一种心智的活力</a:t>
            </a:r>
            <a:r>
              <a:rPr lang="en-US" altLang="zh-CN" sz="2400" dirty="0">
                <a:solidFill>
                  <a:srgbClr val="660033"/>
                </a:solidFill>
                <a:latin typeface="宋体" panose="02010600030101010101" pitchFamily="2" charset="-122"/>
                <a:ea typeface="宋体" panose="02010600030101010101" pitchFamily="2" charset="-122"/>
              </a:rPr>
              <a:t>——</a:t>
            </a:r>
            <a:r>
              <a:rPr lang="zh-CN" altLang="en-US" sz="2400" dirty="0">
                <a:solidFill>
                  <a:srgbClr val="660033"/>
                </a:solidFill>
                <a:latin typeface="宋体" panose="02010600030101010101" pitchFamily="2" charset="-122"/>
                <a:ea typeface="宋体" panose="02010600030101010101" pitchFamily="2" charset="-122"/>
              </a:rPr>
              <a:t>功能主义神话的活力</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活力指向一个完全功能化的世界潜在的可能</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手势和劳力的缺乏，受惠的我们愿意去相信命运绝对止境的功能性</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对原始魔力效力的部分感情转化成对“进步”的无条件信仰</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技术社会的信仰存在于人对日常生活环境中无大意义的小发明</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rPr>
              <a:t>无需劳力的世界、能量的抽象化、手势</a:t>
            </a:r>
            <a:r>
              <a:rPr lang="en-US" altLang="zh-CN" sz="2400" dirty="0">
                <a:solidFill>
                  <a:srgbClr val="660033"/>
                </a:solidFill>
              </a:rPr>
              <a:t>-</a:t>
            </a:r>
            <a:r>
              <a:rPr lang="zh-CN" altLang="en-US" sz="2400" dirty="0">
                <a:solidFill>
                  <a:srgbClr val="660033"/>
                </a:solidFill>
              </a:rPr>
              <a:t>记号的全面效能</a:t>
            </a:r>
            <a:endParaRPr lang="en-US" altLang="zh-CN" sz="2400" dirty="0">
              <a:solidFill>
                <a:srgbClr val="660033"/>
              </a:solidFill>
            </a:endParaRPr>
          </a:p>
          <a:p>
            <a:endParaRPr lang="en-US" altLang="zh-CN" sz="2400" dirty="0">
              <a:solidFill>
                <a:srgbClr val="660033"/>
              </a:solidFill>
            </a:endParaRPr>
          </a:p>
        </p:txBody>
      </p:sp>
    </p:spTree>
    <p:extLst>
      <p:ext uri="{BB962C8B-B14F-4D97-AF65-F5344CB8AC3E}">
        <p14:creationId xmlns:p14="http://schemas.microsoft.com/office/powerpoint/2010/main" val="1967237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P72</a:t>
            </a:r>
            <a:r>
              <a:rPr lang="zh-CN" altLang="en-US" sz="1400" dirty="0"/>
              <a:t>提问</a:t>
            </a:r>
          </a:p>
        </p:txBody>
      </p:sp>
      <p:sp>
        <p:nvSpPr>
          <p:cNvPr id="3" name="内容占位符 2"/>
          <p:cNvSpPr>
            <a:spLocks noGrp="1"/>
          </p:cNvSpPr>
          <p:nvPr>
            <p:ph idx="1"/>
          </p:nvPr>
        </p:nvSpPr>
        <p:spPr/>
        <p:txBody>
          <a:bodyPr/>
          <a:lstStyle/>
          <a:p>
            <a:pPr algn="just">
              <a:spcAft>
                <a:spcPts val="0"/>
              </a:spcAft>
            </a:pP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p:txBody>
      </p:sp>
      <p:sp>
        <p:nvSpPr>
          <p:cNvPr id="5" name="文本框 4">
            <a:extLst>
              <a:ext uri="{FF2B5EF4-FFF2-40B4-BE49-F238E27FC236}">
                <a16:creationId xmlns:a16="http://schemas.microsoft.com/office/drawing/2014/main" id="{D8CCDE27-534D-E6AC-4462-4EDCDA731C1A}"/>
              </a:ext>
            </a:extLst>
          </p:cNvPr>
          <p:cNvSpPr txBox="1"/>
          <p:nvPr/>
        </p:nvSpPr>
        <p:spPr>
          <a:xfrm>
            <a:off x="411173" y="2531370"/>
            <a:ext cx="11488301" cy="2585323"/>
          </a:xfrm>
          <a:prstGeom prst="rect">
            <a:avLst/>
          </a:prstGeom>
          <a:noFill/>
        </p:spPr>
        <p:txBody>
          <a:bodyPr wrap="square" rtlCol="0">
            <a:spAutoFit/>
          </a:bodyPr>
          <a:lstStyle/>
          <a:p>
            <a:r>
              <a:rPr lang="zh-CN" altLang="en-US" sz="3600" dirty="0"/>
              <a:t>二次度功能是指什么？在功能物迈向二次度功能时，哪些要素能够协助其完成此目的？</a:t>
            </a:r>
            <a:endParaRPr lang="en-US" altLang="zh-CN" sz="3600" dirty="0"/>
          </a:p>
          <a:p>
            <a:endParaRPr lang="en-US" altLang="zh-CN" sz="3600" dirty="0"/>
          </a:p>
          <a:p>
            <a:endParaRPr lang="en-US" altLang="zh-CN" sz="3600" dirty="0"/>
          </a:p>
          <a:p>
            <a:endParaRPr lang="zh-CN" altLang="en-US" dirty="0"/>
          </a:p>
        </p:txBody>
      </p:sp>
    </p:spTree>
    <p:extLst>
      <p:ext uri="{BB962C8B-B14F-4D97-AF65-F5344CB8AC3E}">
        <p14:creationId xmlns:p14="http://schemas.microsoft.com/office/powerpoint/2010/main" val="224188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2433B-AA42-FA7B-7AE5-84229520744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C197F86-B715-A527-6C86-E24037E39556}"/>
              </a:ext>
            </a:extLst>
          </p:cNvPr>
          <p:cNvSpPr>
            <a:spLocks noGrp="1"/>
          </p:cNvSpPr>
          <p:nvPr>
            <p:ph idx="1"/>
          </p:nvPr>
        </p:nvSpPr>
        <p:spPr/>
        <p:txBody>
          <a:bodyPr/>
          <a:lstStyle/>
          <a:p>
            <a:endParaRPr lang="en-US" altLang="zh-CN" dirty="0"/>
          </a:p>
          <a:p>
            <a:r>
              <a:rPr lang="zh-CN" altLang="en-US" dirty="0"/>
              <a:t>物品，正是拥有超越它的“功能的可能”迈向一个二次度功能</a:t>
            </a:r>
          </a:p>
          <a:p>
            <a:r>
              <a:rPr lang="zh-CN" altLang="en-US" dirty="0"/>
              <a:t>打火机的功能并非是打火的功能，而是“钻燧取火”</a:t>
            </a:r>
          </a:p>
          <a:p>
            <a:r>
              <a:rPr lang="zh-CN" altLang="en-US" dirty="0"/>
              <a:t>形式的彼此相关，被赋予了对应的风格化形式：圆满的论述</a:t>
            </a:r>
          </a:p>
          <a:p>
            <a:r>
              <a:rPr lang="zh-CN" altLang="en-US" dirty="0"/>
              <a:t>系统通过“自然理念”创造功能物的内在目的性</a:t>
            </a:r>
          </a:p>
          <a:p>
            <a:r>
              <a:rPr lang="zh-CN" altLang="en-US" dirty="0"/>
              <a:t>形式作为物品矛盾生活方式的虚假解决方式</a:t>
            </a:r>
          </a:p>
          <a:p>
            <a:endParaRPr lang="zh-CN" altLang="en-US" dirty="0"/>
          </a:p>
        </p:txBody>
      </p:sp>
    </p:spTree>
    <p:extLst>
      <p:ext uri="{BB962C8B-B14F-4D97-AF65-F5344CB8AC3E}">
        <p14:creationId xmlns:p14="http://schemas.microsoft.com/office/powerpoint/2010/main" val="691688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A09A-420B-600B-4841-D68BF1BB85E1}"/>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CF9677F-ED21-AAF5-ADFC-2CF618CC7F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91408" y="112876"/>
            <a:ext cx="3251835" cy="5781040"/>
          </a:xfrm>
          <a:prstGeom prst="rect">
            <a:avLst/>
          </a:prstGeom>
        </p:spPr>
      </p:pic>
      <p:pic>
        <p:nvPicPr>
          <p:cNvPr id="3" name="图片 2">
            <a:extLst>
              <a:ext uri="{FF2B5EF4-FFF2-40B4-BE49-F238E27FC236}">
                <a16:creationId xmlns:a16="http://schemas.microsoft.com/office/drawing/2014/main" id="{2A585CD5-34E0-0D52-FC25-2F6CF895A1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0044" y="112876"/>
            <a:ext cx="3640455" cy="6471920"/>
          </a:xfrm>
          <a:prstGeom prst="rect">
            <a:avLst/>
          </a:prstGeom>
        </p:spPr>
      </p:pic>
    </p:spTree>
    <p:extLst>
      <p:ext uri="{BB962C8B-B14F-4D97-AF65-F5344CB8AC3E}">
        <p14:creationId xmlns:p14="http://schemas.microsoft.com/office/powerpoint/2010/main" val="380466287"/>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213991" y="220068"/>
            <a:ext cx="3615092" cy="502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666" b="1" dirty="0">
                <a:solidFill>
                  <a:srgbClr val="000000"/>
                </a:solidFill>
              </a:rPr>
              <a:t>结论：自然性和功能性</a:t>
            </a:r>
            <a:endParaRPr lang="zh-CN" altLang="zh-CN" sz="2666" b="1" dirty="0">
              <a:solidFill>
                <a:srgbClr val="000000"/>
              </a:solidFill>
            </a:endParaRPr>
          </a:p>
        </p:txBody>
      </p:sp>
      <p:sp>
        <p:nvSpPr>
          <p:cNvPr id="16387" name="Text Box 3"/>
          <p:cNvSpPr txBox="1">
            <a:spLocks noChangeArrowheads="1"/>
          </p:cNvSpPr>
          <p:nvPr/>
        </p:nvSpPr>
        <p:spPr bwMode="auto">
          <a:xfrm>
            <a:off x="4508992" y="641154"/>
            <a:ext cx="3158237"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zh-CN" sz="1333">
                <a:solidFill>
                  <a:srgbClr val="808080"/>
                </a:solidFill>
              </a:rPr>
              <a:t>This is a good space for a short subtitle</a:t>
            </a:r>
          </a:p>
        </p:txBody>
      </p:sp>
      <p:sp>
        <p:nvSpPr>
          <p:cNvPr id="16388" name="Line 4"/>
          <p:cNvSpPr>
            <a:spLocks noChangeShapeType="1"/>
          </p:cNvSpPr>
          <p:nvPr/>
        </p:nvSpPr>
        <p:spPr bwMode="auto">
          <a:xfrm>
            <a:off x="1881"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389" name="Line 5"/>
          <p:cNvSpPr>
            <a:spLocks noChangeShapeType="1"/>
          </p:cNvSpPr>
          <p:nvPr/>
        </p:nvSpPr>
        <p:spPr bwMode="auto">
          <a:xfrm>
            <a:off x="9244628"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9462" name="Rectangle 6"/>
          <p:cNvSpPr>
            <a:spLocks noChangeArrowheads="1"/>
          </p:cNvSpPr>
          <p:nvPr/>
        </p:nvSpPr>
        <p:spPr bwMode="auto">
          <a:xfrm>
            <a:off x="1881" y="1978472"/>
            <a:ext cx="12188238" cy="3537975"/>
          </a:xfrm>
          <a:prstGeom prst="rect">
            <a:avLst/>
          </a:prstGeom>
          <a:blipFill dpi="0" rotWithShape="1">
            <a:blip r:embed="rId2"/>
            <a:srcRect/>
            <a:stretch>
              <a:fillRect b="-68481"/>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sz="2399">
              <a:solidFill>
                <a:srgbClr val="000000"/>
              </a:solidFill>
            </a:endParaRPr>
          </a:p>
        </p:txBody>
      </p:sp>
      <p:sp>
        <p:nvSpPr>
          <p:cNvPr id="16393" name="Rectangle 7"/>
          <p:cNvSpPr>
            <a:spLocks noChangeArrowheads="1"/>
          </p:cNvSpPr>
          <p:nvPr/>
        </p:nvSpPr>
        <p:spPr bwMode="auto">
          <a:xfrm>
            <a:off x="1881" y="1982707"/>
            <a:ext cx="12188238" cy="3527395"/>
          </a:xfrm>
          <a:prstGeom prst="rect">
            <a:avLst/>
          </a:prstGeom>
          <a:solidFill>
            <a:srgbClr val="000000">
              <a:alpha val="8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6394" name="Text Box 8"/>
          <p:cNvSpPr txBox="1">
            <a:spLocks noChangeArrowheads="1"/>
          </p:cNvSpPr>
          <p:nvPr/>
        </p:nvSpPr>
        <p:spPr bwMode="auto">
          <a:xfrm>
            <a:off x="1296883" y="2949726"/>
            <a:ext cx="5867339" cy="2315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800" dirty="0">
                <a:solidFill>
                  <a:srgbClr val="FFFFFF"/>
                </a:solidFill>
                <a:latin typeface="微软雅黑" panose="020B0503020204020204" pitchFamily="34" charset="-122"/>
                <a:ea typeface="微软雅黑" panose="020B0503020204020204" pitchFamily="34" charset="-122"/>
              </a:rPr>
              <a:t>整个系统乃是建立于功能性的概念之上（解放）</a:t>
            </a:r>
            <a:endParaRPr lang="en-US" altLang="zh-CN" sz="1800" dirty="0">
              <a:solidFill>
                <a:srgbClr val="FFFFFF"/>
              </a:solidFill>
              <a:latin typeface="微软雅黑" panose="020B0503020204020204" pitchFamily="34" charset="-122"/>
              <a:ea typeface="微软雅黑" panose="020B0503020204020204" pitchFamily="34" charset="-122"/>
            </a:endParaRPr>
          </a:p>
          <a:p>
            <a:pPr fontAlgn="base">
              <a:lnSpc>
                <a:spcPct val="120000"/>
              </a:lnSpc>
              <a:spcBef>
                <a:spcPct val="0"/>
              </a:spcBef>
              <a:spcAft>
                <a:spcPct val="0"/>
              </a:spcAft>
              <a:buFontTx/>
              <a:buNone/>
            </a:pPr>
            <a:r>
              <a:rPr lang="zh-CN" altLang="en-US" sz="1800" dirty="0">
                <a:solidFill>
                  <a:schemeClr val="bg1"/>
                </a:solidFill>
                <a:latin typeface="微软雅黑" panose="020B0503020204020204" pitchFamily="34" charset="-122"/>
                <a:ea typeface="微软雅黑" panose="020B0503020204020204" pitchFamily="34" charset="-122"/>
              </a:rPr>
              <a:t>功能化不代表任何目的，而是适应一个体制或一个系统</a:t>
            </a:r>
            <a:endParaRPr lang="en-US" altLang="zh-CN" sz="1800" dirty="0">
              <a:solidFill>
                <a:schemeClr val="bg1"/>
              </a:solidFill>
              <a:latin typeface="微软雅黑" panose="020B0503020204020204" pitchFamily="34" charset="-122"/>
              <a:ea typeface="微软雅黑" panose="020B0503020204020204" pitchFamily="34" charset="-122"/>
            </a:endParaRPr>
          </a:p>
          <a:p>
            <a:pPr fontAlgn="base">
              <a:lnSpc>
                <a:spcPct val="120000"/>
              </a:lnSpc>
              <a:spcBef>
                <a:spcPct val="0"/>
              </a:spcBef>
              <a:spcAft>
                <a:spcPct val="0"/>
              </a:spcAft>
              <a:buFontTx/>
              <a:buNone/>
            </a:pPr>
            <a:r>
              <a:rPr lang="zh-CN" altLang="en-US" sz="1800" dirty="0">
                <a:solidFill>
                  <a:schemeClr val="bg1"/>
                </a:solidFill>
                <a:latin typeface="微软雅黑" panose="020B0503020204020204" pitchFamily="34" charset="-122"/>
                <a:ea typeface="微软雅黑" panose="020B0503020204020204" pitchFamily="34" charset="-122"/>
              </a:rPr>
              <a:t>具有了超越物品的功能性的可能以迈向二次度功能</a:t>
            </a:r>
            <a:endParaRPr lang="en-US" altLang="zh-CN" sz="1800" dirty="0">
              <a:solidFill>
                <a:schemeClr val="bg1"/>
              </a:solidFill>
              <a:latin typeface="微软雅黑" panose="020B0503020204020204" pitchFamily="34" charset="-122"/>
              <a:ea typeface="微软雅黑" panose="020B0503020204020204" pitchFamily="34" charset="-122"/>
            </a:endParaRPr>
          </a:p>
          <a:p>
            <a:pPr lvl="0" algn="just">
              <a:lnSpc>
                <a:spcPct val="90000"/>
              </a:lnSpc>
              <a:spcBef>
                <a:spcPts val="1000"/>
              </a:spcBef>
              <a:buNone/>
            </a:pPr>
            <a:r>
              <a:rPr lang="zh-CN" altLang="en-US" sz="1800" kern="100" dirty="0">
                <a:solidFill>
                  <a:schemeClr val="bg1"/>
                </a:solidFill>
                <a:latin typeface="微软雅黑" pitchFamily="34" charset="-122"/>
                <a:ea typeface="微软雅黑" pitchFamily="34" charset="-122"/>
                <a:cs typeface="华文宋体" panose="02010600040101010101" pitchFamily="2" charset="-122"/>
              </a:rPr>
              <a:t>物品才</a:t>
            </a:r>
            <a:r>
              <a:rPr lang="zh-CN" altLang="zh-CN" sz="1800" kern="100" dirty="0">
                <a:solidFill>
                  <a:schemeClr val="bg1"/>
                </a:solidFill>
                <a:latin typeface="微软雅黑" pitchFamily="34" charset="-122"/>
                <a:ea typeface="微软雅黑" pitchFamily="34" charset="-122"/>
                <a:cs typeface="华文宋体" panose="02010600040101010101" pitchFamily="2" charset="-122"/>
              </a:rPr>
              <a:t>有可能在一个普遍的记号体系中成为排列组合</a:t>
            </a:r>
            <a:endParaRPr lang="zh-CN" altLang="zh-CN" sz="1800" kern="100" dirty="0">
              <a:solidFill>
                <a:schemeClr val="bg1"/>
              </a:solidFill>
              <a:latin typeface="微软雅黑" pitchFamily="34" charset="-122"/>
              <a:ea typeface="微软雅黑" pitchFamily="34" charset="-122"/>
              <a:cs typeface="Times New Roman" panose="02020603050405020304" pitchFamily="18" charset="0"/>
            </a:endParaRPr>
          </a:p>
          <a:p>
            <a:pPr marL="228600" lvl="0" indent="-228600">
              <a:lnSpc>
                <a:spcPct val="90000"/>
              </a:lnSpc>
              <a:spcBef>
                <a:spcPts val="1000"/>
              </a:spcBef>
              <a:buFont typeface="Arial" panose="020B0604020202020204" pitchFamily="34" charset="0"/>
              <a:buChar char="•"/>
            </a:pPr>
            <a:endParaRPr lang="zh-CN" altLang="en-US" sz="2800" dirty="0">
              <a:solidFill>
                <a:prstClr val="black"/>
              </a:solidFill>
              <a:latin typeface="等线"/>
              <a:ea typeface="等线"/>
            </a:endParaRPr>
          </a:p>
          <a:p>
            <a:pPr fontAlgn="base">
              <a:lnSpc>
                <a:spcPct val="120000"/>
              </a:lnSpc>
              <a:spcBef>
                <a:spcPct val="0"/>
              </a:spcBef>
              <a:spcAft>
                <a:spcPct val="0"/>
              </a:spcAft>
              <a:buFontTx/>
              <a:buNone/>
            </a:pPr>
            <a:endParaRPr lang="en-US" altLang="zh-CN" sz="1800" dirty="0">
              <a:solidFill>
                <a:schemeClr val="bg1"/>
              </a:solidFill>
              <a:latin typeface="微软雅黑" panose="020B0503020204020204" pitchFamily="34" charset="-122"/>
              <a:ea typeface="微软雅黑" panose="020B0503020204020204" pitchFamily="34" charset="-122"/>
            </a:endParaRPr>
          </a:p>
        </p:txBody>
      </p:sp>
      <p:sp>
        <p:nvSpPr>
          <p:cNvPr id="16395" name="Oval 9"/>
          <p:cNvSpPr>
            <a:spLocks noChangeArrowheads="1"/>
          </p:cNvSpPr>
          <p:nvPr/>
        </p:nvSpPr>
        <p:spPr bwMode="auto">
          <a:xfrm>
            <a:off x="7619532" y="2719080"/>
            <a:ext cx="2154102" cy="2154102"/>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grpSp>
        <p:nvGrpSpPr>
          <p:cNvPr id="16396" name="Group 10"/>
          <p:cNvGrpSpPr>
            <a:grpSpLocks/>
          </p:cNvGrpSpPr>
          <p:nvPr/>
        </p:nvGrpSpPr>
        <p:grpSpPr bwMode="auto">
          <a:xfrm>
            <a:off x="8066011" y="3193065"/>
            <a:ext cx="1197664" cy="1159575"/>
            <a:chOff x="0" y="0"/>
            <a:chExt cx="484" cy="468"/>
          </a:xfrm>
        </p:grpSpPr>
        <p:sp>
          <p:nvSpPr>
            <p:cNvPr id="16399" name="Freeform 11"/>
            <p:cNvSpPr>
              <a:spLocks noChangeArrowheads="1"/>
            </p:cNvSpPr>
            <p:nvPr/>
          </p:nvSpPr>
          <p:spPr bwMode="auto">
            <a:xfrm>
              <a:off x="156" y="71"/>
              <a:ext cx="215" cy="180"/>
            </a:xfrm>
            <a:custGeom>
              <a:avLst/>
              <a:gdLst>
                <a:gd name="T0" fmla="*/ 319 w 91"/>
                <a:gd name="T1" fmla="*/ 1037 h 76"/>
                <a:gd name="T2" fmla="*/ 184 w 91"/>
                <a:gd name="T3" fmla="*/ 1009 h 76"/>
                <a:gd name="T4" fmla="*/ 0 w 91"/>
                <a:gd name="T5" fmla="*/ 1222 h 76"/>
                <a:gd name="T6" fmla="*/ 184 w 91"/>
                <a:gd name="T7" fmla="*/ 1447 h 76"/>
                <a:gd name="T8" fmla="*/ 369 w 91"/>
                <a:gd name="T9" fmla="*/ 1381 h 76"/>
                <a:gd name="T10" fmla="*/ 1373 w 91"/>
                <a:gd name="T11" fmla="*/ 2070 h 76"/>
                <a:gd name="T12" fmla="*/ 1373 w 91"/>
                <a:gd name="T13" fmla="*/ 2165 h 76"/>
                <a:gd name="T14" fmla="*/ 1585 w 91"/>
                <a:gd name="T15" fmla="*/ 2390 h 76"/>
                <a:gd name="T16" fmla="*/ 1831 w 91"/>
                <a:gd name="T17" fmla="*/ 2165 h 76"/>
                <a:gd name="T18" fmla="*/ 1585 w 91"/>
                <a:gd name="T19" fmla="*/ 1952 h 76"/>
                <a:gd name="T20" fmla="*/ 1441 w 91"/>
                <a:gd name="T21" fmla="*/ 2020 h 76"/>
                <a:gd name="T22" fmla="*/ 406 w 91"/>
                <a:gd name="T23" fmla="*/ 1291 h 76"/>
                <a:gd name="T24" fmla="*/ 406 w 91"/>
                <a:gd name="T25" fmla="*/ 1222 h 76"/>
                <a:gd name="T26" fmla="*/ 369 w 91"/>
                <a:gd name="T27" fmla="*/ 1106 h 76"/>
                <a:gd name="T28" fmla="*/ 938 w 91"/>
                <a:gd name="T29" fmla="*/ 573 h 76"/>
                <a:gd name="T30" fmla="*/ 1056 w 91"/>
                <a:gd name="T31" fmla="*/ 599 h 76"/>
                <a:gd name="T32" fmla="*/ 1151 w 91"/>
                <a:gd name="T33" fmla="*/ 573 h 76"/>
                <a:gd name="T34" fmla="*/ 1585 w 91"/>
                <a:gd name="T35" fmla="*/ 1078 h 76"/>
                <a:gd name="T36" fmla="*/ 1585 w 91"/>
                <a:gd name="T37" fmla="*/ 1168 h 76"/>
                <a:gd name="T38" fmla="*/ 1781 w 91"/>
                <a:gd name="T39" fmla="*/ 1381 h 76"/>
                <a:gd name="T40" fmla="*/ 1992 w 91"/>
                <a:gd name="T41" fmla="*/ 1168 h 76"/>
                <a:gd name="T42" fmla="*/ 1926 w 91"/>
                <a:gd name="T43" fmla="*/ 1037 h 76"/>
                <a:gd name="T44" fmla="*/ 2556 w 91"/>
                <a:gd name="T45" fmla="*/ 438 h 76"/>
                <a:gd name="T46" fmla="*/ 2613 w 91"/>
                <a:gd name="T47" fmla="*/ 438 h 76"/>
                <a:gd name="T48" fmla="*/ 2835 w 91"/>
                <a:gd name="T49" fmla="*/ 225 h 76"/>
                <a:gd name="T50" fmla="*/ 2613 w 91"/>
                <a:gd name="T51" fmla="*/ 0 h 76"/>
                <a:gd name="T52" fmla="*/ 2400 w 91"/>
                <a:gd name="T53" fmla="*/ 225 h 76"/>
                <a:gd name="T54" fmla="*/ 2467 w 91"/>
                <a:gd name="T55" fmla="*/ 369 h 76"/>
                <a:gd name="T56" fmla="*/ 1869 w 91"/>
                <a:gd name="T57" fmla="*/ 971 h 76"/>
                <a:gd name="T58" fmla="*/ 1781 w 91"/>
                <a:gd name="T59" fmla="*/ 971 h 76"/>
                <a:gd name="T60" fmla="*/ 1687 w 91"/>
                <a:gd name="T61" fmla="*/ 1009 h 76"/>
                <a:gd name="T62" fmla="*/ 1212 w 91"/>
                <a:gd name="T63" fmla="*/ 476 h 76"/>
                <a:gd name="T64" fmla="*/ 1250 w 91"/>
                <a:gd name="T65" fmla="*/ 369 h 76"/>
                <a:gd name="T66" fmla="*/ 1056 w 91"/>
                <a:gd name="T67" fmla="*/ 156 h 76"/>
                <a:gd name="T68" fmla="*/ 843 w 91"/>
                <a:gd name="T69" fmla="*/ 369 h 76"/>
                <a:gd name="T70" fmla="*/ 872 w 91"/>
                <a:gd name="T71" fmla="*/ 476 h 76"/>
                <a:gd name="T72" fmla="*/ 319 w 91"/>
                <a:gd name="T73" fmla="*/ 1037 h 7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1" h="76">
                  <a:moveTo>
                    <a:pt x="10" y="33"/>
                  </a:moveTo>
                  <a:cubicBezTo>
                    <a:pt x="9" y="33"/>
                    <a:pt x="8" y="32"/>
                    <a:pt x="6" y="32"/>
                  </a:cubicBezTo>
                  <a:cubicBezTo>
                    <a:pt x="3" y="32"/>
                    <a:pt x="0" y="36"/>
                    <a:pt x="0" y="39"/>
                  </a:cubicBezTo>
                  <a:cubicBezTo>
                    <a:pt x="0" y="43"/>
                    <a:pt x="3" y="46"/>
                    <a:pt x="6" y="46"/>
                  </a:cubicBezTo>
                  <a:cubicBezTo>
                    <a:pt x="9" y="46"/>
                    <a:pt x="11" y="45"/>
                    <a:pt x="12" y="44"/>
                  </a:cubicBezTo>
                  <a:cubicBezTo>
                    <a:pt x="44" y="66"/>
                    <a:pt x="44" y="66"/>
                    <a:pt x="44" y="66"/>
                  </a:cubicBezTo>
                  <a:cubicBezTo>
                    <a:pt x="44" y="67"/>
                    <a:pt x="44" y="68"/>
                    <a:pt x="44" y="69"/>
                  </a:cubicBezTo>
                  <a:cubicBezTo>
                    <a:pt x="44" y="73"/>
                    <a:pt x="47" y="76"/>
                    <a:pt x="51" y="76"/>
                  </a:cubicBezTo>
                  <a:cubicBezTo>
                    <a:pt x="55" y="76"/>
                    <a:pt x="59" y="73"/>
                    <a:pt x="59" y="69"/>
                  </a:cubicBezTo>
                  <a:cubicBezTo>
                    <a:pt x="59" y="65"/>
                    <a:pt x="55" y="62"/>
                    <a:pt x="51" y="62"/>
                  </a:cubicBezTo>
                  <a:cubicBezTo>
                    <a:pt x="49" y="62"/>
                    <a:pt x="47" y="63"/>
                    <a:pt x="46" y="64"/>
                  </a:cubicBezTo>
                  <a:cubicBezTo>
                    <a:pt x="13" y="41"/>
                    <a:pt x="13" y="41"/>
                    <a:pt x="13" y="41"/>
                  </a:cubicBezTo>
                  <a:cubicBezTo>
                    <a:pt x="13" y="41"/>
                    <a:pt x="13" y="40"/>
                    <a:pt x="13" y="39"/>
                  </a:cubicBezTo>
                  <a:cubicBezTo>
                    <a:pt x="13" y="38"/>
                    <a:pt x="13" y="36"/>
                    <a:pt x="12" y="35"/>
                  </a:cubicBezTo>
                  <a:cubicBezTo>
                    <a:pt x="30" y="18"/>
                    <a:pt x="30" y="18"/>
                    <a:pt x="30" y="18"/>
                  </a:cubicBezTo>
                  <a:cubicBezTo>
                    <a:pt x="31" y="18"/>
                    <a:pt x="32" y="19"/>
                    <a:pt x="34" y="19"/>
                  </a:cubicBezTo>
                  <a:cubicBezTo>
                    <a:pt x="35" y="19"/>
                    <a:pt x="36" y="18"/>
                    <a:pt x="37" y="18"/>
                  </a:cubicBezTo>
                  <a:cubicBezTo>
                    <a:pt x="51" y="34"/>
                    <a:pt x="51" y="34"/>
                    <a:pt x="51" y="34"/>
                  </a:cubicBezTo>
                  <a:cubicBezTo>
                    <a:pt x="51" y="35"/>
                    <a:pt x="51" y="36"/>
                    <a:pt x="51" y="37"/>
                  </a:cubicBezTo>
                  <a:cubicBezTo>
                    <a:pt x="51" y="41"/>
                    <a:pt x="54" y="44"/>
                    <a:pt x="57" y="44"/>
                  </a:cubicBezTo>
                  <a:cubicBezTo>
                    <a:pt x="61" y="44"/>
                    <a:pt x="64" y="41"/>
                    <a:pt x="64" y="37"/>
                  </a:cubicBezTo>
                  <a:cubicBezTo>
                    <a:pt x="64" y="36"/>
                    <a:pt x="64" y="34"/>
                    <a:pt x="62" y="33"/>
                  </a:cubicBezTo>
                  <a:cubicBezTo>
                    <a:pt x="82" y="14"/>
                    <a:pt x="82" y="14"/>
                    <a:pt x="82" y="14"/>
                  </a:cubicBezTo>
                  <a:cubicBezTo>
                    <a:pt x="82" y="14"/>
                    <a:pt x="83" y="14"/>
                    <a:pt x="84" y="14"/>
                  </a:cubicBezTo>
                  <a:cubicBezTo>
                    <a:pt x="88" y="14"/>
                    <a:pt x="91" y="11"/>
                    <a:pt x="91" y="7"/>
                  </a:cubicBezTo>
                  <a:cubicBezTo>
                    <a:pt x="91" y="3"/>
                    <a:pt x="88" y="0"/>
                    <a:pt x="84" y="0"/>
                  </a:cubicBezTo>
                  <a:cubicBezTo>
                    <a:pt x="80" y="0"/>
                    <a:pt x="77" y="3"/>
                    <a:pt x="77" y="7"/>
                  </a:cubicBezTo>
                  <a:cubicBezTo>
                    <a:pt x="77" y="9"/>
                    <a:pt x="78" y="11"/>
                    <a:pt x="79" y="12"/>
                  </a:cubicBezTo>
                  <a:cubicBezTo>
                    <a:pt x="60" y="31"/>
                    <a:pt x="60" y="31"/>
                    <a:pt x="60" y="31"/>
                  </a:cubicBezTo>
                  <a:cubicBezTo>
                    <a:pt x="59" y="31"/>
                    <a:pt x="58" y="31"/>
                    <a:pt x="57" y="31"/>
                  </a:cubicBezTo>
                  <a:cubicBezTo>
                    <a:pt x="56" y="31"/>
                    <a:pt x="55" y="31"/>
                    <a:pt x="54" y="32"/>
                  </a:cubicBezTo>
                  <a:cubicBezTo>
                    <a:pt x="39" y="15"/>
                    <a:pt x="39" y="15"/>
                    <a:pt x="39" y="15"/>
                  </a:cubicBezTo>
                  <a:cubicBezTo>
                    <a:pt x="40" y="14"/>
                    <a:pt x="40" y="13"/>
                    <a:pt x="40" y="12"/>
                  </a:cubicBezTo>
                  <a:cubicBezTo>
                    <a:pt x="40" y="8"/>
                    <a:pt x="37" y="5"/>
                    <a:pt x="34" y="5"/>
                  </a:cubicBezTo>
                  <a:cubicBezTo>
                    <a:pt x="30" y="5"/>
                    <a:pt x="27" y="8"/>
                    <a:pt x="27" y="12"/>
                  </a:cubicBezTo>
                  <a:cubicBezTo>
                    <a:pt x="27" y="13"/>
                    <a:pt x="27" y="14"/>
                    <a:pt x="28" y="15"/>
                  </a:cubicBezTo>
                  <a:lnTo>
                    <a:pt x="10"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400" name="Freeform 12"/>
            <p:cNvSpPr>
              <a:spLocks noChangeArrowheads="1"/>
            </p:cNvSpPr>
            <p:nvPr/>
          </p:nvSpPr>
          <p:spPr bwMode="auto">
            <a:xfrm>
              <a:off x="0" y="189"/>
              <a:ext cx="217" cy="161"/>
            </a:xfrm>
            <a:custGeom>
              <a:avLst/>
              <a:gdLst>
                <a:gd name="T0" fmla="*/ 2191 w 92"/>
                <a:gd name="T1" fmla="*/ 0 h 68"/>
                <a:gd name="T2" fmla="*/ 1576 w 92"/>
                <a:gd name="T3" fmla="*/ 1037 h 68"/>
                <a:gd name="T4" fmla="*/ 1524 w 92"/>
                <a:gd name="T5" fmla="*/ 573 h 68"/>
                <a:gd name="T6" fmla="*/ 1613 w 92"/>
                <a:gd name="T7" fmla="*/ 410 h 68"/>
                <a:gd name="T8" fmla="*/ 1429 w 92"/>
                <a:gd name="T9" fmla="*/ 225 h 68"/>
                <a:gd name="T10" fmla="*/ 1236 w 92"/>
                <a:gd name="T11" fmla="*/ 410 h 68"/>
                <a:gd name="T12" fmla="*/ 1323 w 92"/>
                <a:gd name="T13" fmla="*/ 573 h 68"/>
                <a:gd name="T14" fmla="*/ 1274 w 92"/>
                <a:gd name="T15" fmla="*/ 1037 h 68"/>
                <a:gd name="T16" fmla="*/ 656 w 92"/>
                <a:gd name="T17" fmla="*/ 0 h 68"/>
                <a:gd name="T18" fmla="*/ 28 w 92"/>
                <a:gd name="T19" fmla="*/ 661 h 68"/>
                <a:gd name="T20" fmla="*/ 0 w 92"/>
                <a:gd name="T21" fmla="*/ 1979 h 68"/>
                <a:gd name="T22" fmla="*/ 1429 w 92"/>
                <a:gd name="T23" fmla="*/ 2136 h 68"/>
                <a:gd name="T24" fmla="*/ 2849 w 92"/>
                <a:gd name="T25" fmla="*/ 1979 h 68"/>
                <a:gd name="T26" fmla="*/ 2849 w 92"/>
                <a:gd name="T27" fmla="*/ 661 h 68"/>
                <a:gd name="T28" fmla="*/ 2191 w 92"/>
                <a:gd name="T29" fmla="*/ 0 h 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2" h="68">
                  <a:moveTo>
                    <a:pt x="71" y="0"/>
                  </a:moveTo>
                  <a:cubicBezTo>
                    <a:pt x="51" y="33"/>
                    <a:pt x="51" y="33"/>
                    <a:pt x="51" y="33"/>
                  </a:cubicBezTo>
                  <a:cubicBezTo>
                    <a:pt x="49" y="18"/>
                    <a:pt x="49" y="18"/>
                    <a:pt x="49" y="18"/>
                  </a:cubicBezTo>
                  <a:cubicBezTo>
                    <a:pt x="51" y="17"/>
                    <a:pt x="52" y="15"/>
                    <a:pt x="52" y="13"/>
                  </a:cubicBezTo>
                  <a:cubicBezTo>
                    <a:pt x="52" y="10"/>
                    <a:pt x="49" y="7"/>
                    <a:pt x="46" y="7"/>
                  </a:cubicBezTo>
                  <a:cubicBezTo>
                    <a:pt x="43" y="7"/>
                    <a:pt x="40" y="10"/>
                    <a:pt x="40" y="13"/>
                  </a:cubicBezTo>
                  <a:cubicBezTo>
                    <a:pt x="40" y="15"/>
                    <a:pt x="41" y="17"/>
                    <a:pt x="43" y="18"/>
                  </a:cubicBezTo>
                  <a:cubicBezTo>
                    <a:pt x="41" y="33"/>
                    <a:pt x="41" y="33"/>
                    <a:pt x="41" y="33"/>
                  </a:cubicBezTo>
                  <a:cubicBezTo>
                    <a:pt x="21" y="0"/>
                    <a:pt x="21" y="0"/>
                    <a:pt x="21" y="0"/>
                  </a:cubicBezTo>
                  <a:cubicBezTo>
                    <a:pt x="10" y="4"/>
                    <a:pt x="2" y="12"/>
                    <a:pt x="1" y="21"/>
                  </a:cubicBezTo>
                  <a:cubicBezTo>
                    <a:pt x="0" y="63"/>
                    <a:pt x="0" y="63"/>
                    <a:pt x="0" y="63"/>
                  </a:cubicBezTo>
                  <a:cubicBezTo>
                    <a:pt x="0" y="63"/>
                    <a:pt x="24" y="68"/>
                    <a:pt x="46" y="68"/>
                  </a:cubicBezTo>
                  <a:cubicBezTo>
                    <a:pt x="68" y="68"/>
                    <a:pt x="92" y="63"/>
                    <a:pt x="92" y="63"/>
                  </a:cubicBezTo>
                  <a:cubicBezTo>
                    <a:pt x="92" y="21"/>
                    <a:pt x="92" y="21"/>
                    <a:pt x="92" y="21"/>
                  </a:cubicBezTo>
                  <a:cubicBezTo>
                    <a:pt x="90" y="12"/>
                    <a:pt x="82" y="4"/>
                    <a:pt x="7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401" name="Freeform 13"/>
            <p:cNvSpPr>
              <a:spLocks noChangeArrowheads="1"/>
            </p:cNvSpPr>
            <p:nvPr/>
          </p:nvSpPr>
          <p:spPr bwMode="auto">
            <a:xfrm>
              <a:off x="31" y="29"/>
              <a:ext cx="156" cy="163"/>
            </a:xfrm>
            <a:custGeom>
              <a:avLst/>
              <a:gdLst>
                <a:gd name="T0" fmla="*/ 279 w 66"/>
                <a:gd name="T1" fmla="*/ 1344 h 69"/>
                <a:gd name="T2" fmla="*/ 279 w 66"/>
                <a:gd name="T3" fmla="*/ 1344 h 69"/>
                <a:gd name="T4" fmla="*/ 1028 w 66"/>
                <a:gd name="T5" fmla="*/ 2147 h 69"/>
                <a:gd name="T6" fmla="*/ 1782 w 66"/>
                <a:gd name="T7" fmla="*/ 1344 h 69"/>
                <a:gd name="T8" fmla="*/ 1782 w 66"/>
                <a:gd name="T9" fmla="*/ 1344 h 69"/>
                <a:gd name="T10" fmla="*/ 2033 w 66"/>
                <a:gd name="T11" fmla="*/ 1122 h 69"/>
                <a:gd name="T12" fmla="*/ 1900 w 66"/>
                <a:gd name="T13" fmla="*/ 803 h 69"/>
                <a:gd name="T14" fmla="*/ 1877 w 66"/>
                <a:gd name="T15" fmla="*/ 803 h 69"/>
                <a:gd name="T16" fmla="*/ 1877 w 66"/>
                <a:gd name="T17" fmla="*/ 775 h 69"/>
                <a:gd name="T18" fmla="*/ 1028 w 66"/>
                <a:gd name="T19" fmla="*/ 0 h 69"/>
                <a:gd name="T20" fmla="*/ 225 w 66"/>
                <a:gd name="T21" fmla="*/ 775 h 69"/>
                <a:gd name="T22" fmla="*/ 225 w 66"/>
                <a:gd name="T23" fmla="*/ 803 h 69"/>
                <a:gd name="T24" fmla="*/ 156 w 66"/>
                <a:gd name="T25" fmla="*/ 803 h 69"/>
                <a:gd name="T26" fmla="*/ 28 w 66"/>
                <a:gd name="T27" fmla="*/ 1122 h 69"/>
                <a:gd name="T28" fmla="*/ 279 w 66"/>
                <a:gd name="T29" fmla="*/ 1344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6" h="69">
                  <a:moveTo>
                    <a:pt x="9" y="43"/>
                  </a:moveTo>
                  <a:cubicBezTo>
                    <a:pt x="9" y="43"/>
                    <a:pt x="9" y="43"/>
                    <a:pt x="9" y="43"/>
                  </a:cubicBezTo>
                  <a:cubicBezTo>
                    <a:pt x="12" y="57"/>
                    <a:pt x="22" y="69"/>
                    <a:pt x="33" y="69"/>
                  </a:cubicBezTo>
                  <a:cubicBezTo>
                    <a:pt x="45" y="69"/>
                    <a:pt x="54" y="57"/>
                    <a:pt x="57" y="43"/>
                  </a:cubicBezTo>
                  <a:cubicBezTo>
                    <a:pt x="57" y="43"/>
                    <a:pt x="57" y="43"/>
                    <a:pt x="57" y="43"/>
                  </a:cubicBezTo>
                  <a:cubicBezTo>
                    <a:pt x="61" y="44"/>
                    <a:pt x="64" y="40"/>
                    <a:pt x="65" y="36"/>
                  </a:cubicBezTo>
                  <a:cubicBezTo>
                    <a:pt x="66" y="31"/>
                    <a:pt x="65" y="26"/>
                    <a:pt x="61" y="26"/>
                  </a:cubicBezTo>
                  <a:cubicBezTo>
                    <a:pt x="61" y="26"/>
                    <a:pt x="60" y="26"/>
                    <a:pt x="60" y="26"/>
                  </a:cubicBezTo>
                  <a:cubicBezTo>
                    <a:pt x="60" y="25"/>
                    <a:pt x="60" y="25"/>
                    <a:pt x="60" y="25"/>
                  </a:cubicBezTo>
                  <a:cubicBezTo>
                    <a:pt x="60" y="11"/>
                    <a:pt x="48" y="0"/>
                    <a:pt x="33" y="0"/>
                  </a:cubicBezTo>
                  <a:cubicBezTo>
                    <a:pt x="19" y="0"/>
                    <a:pt x="7" y="11"/>
                    <a:pt x="7" y="25"/>
                  </a:cubicBezTo>
                  <a:cubicBezTo>
                    <a:pt x="7" y="25"/>
                    <a:pt x="7" y="25"/>
                    <a:pt x="7" y="26"/>
                  </a:cubicBezTo>
                  <a:cubicBezTo>
                    <a:pt x="6" y="26"/>
                    <a:pt x="6" y="26"/>
                    <a:pt x="5" y="26"/>
                  </a:cubicBezTo>
                  <a:cubicBezTo>
                    <a:pt x="2" y="26"/>
                    <a:pt x="0" y="31"/>
                    <a:pt x="1" y="36"/>
                  </a:cubicBezTo>
                  <a:cubicBezTo>
                    <a:pt x="2" y="40"/>
                    <a:pt x="5" y="44"/>
                    <a:pt x="9" y="4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402" name="Freeform 14"/>
            <p:cNvSpPr>
              <a:spLocks noChangeArrowheads="1"/>
            </p:cNvSpPr>
            <p:nvPr/>
          </p:nvSpPr>
          <p:spPr bwMode="auto">
            <a:xfrm>
              <a:off x="340" y="109"/>
              <a:ext cx="144" cy="106"/>
            </a:xfrm>
            <a:custGeom>
              <a:avLst/>
              <a:gdLst>
                <a:gd name="T0" fmla="*/ 1867 w 61"/>
                <a:gd name="T1" fmla="*/ 455 h 45"/>
                <a:gd name="T2" fmla="*/ 1459 w 61"/>
                <a:gd name="T3" fmla="*/ 0 h 45"/>
                <a:gd name="T4" fmla="*/ 1053 w 61"/>
                <a:gd name="T5" fmla="*/ 676 h 45"/>
                <a:gd name="T6" fmla="*/ 999 w 61"/>
                <a:gd name="T7" fmla="*/ 365 h 45"/>
                <a:gd name="T8" fmla="*/ 1053 w 61"/>
                <a:gd name="T9" fmla="*/ 271 h 45"/>
                <a:gd name="T10" fmla="*/ 937 w 61"/>
                <a:gd name="T11" fmla="*/ 155 h 45"/>
                <a:gd name="T12" fmla="*/ 840 w 61"/>
                <a:gd name="T13" fmla="*/ 271 h 45"/>
                <a:gd name="T14" fmla="*/ 869 w 61"/>
                <a:gd name="T15" fmla="*/ 365 h 45"/>
                <a:gd name="T16" fmla="*/ 840 w 61"/>
                <a:gd name="T17" fmla="*/ 676 h 45"/>
                <a:gd name="T18" fmla="*/ 434 w 61"/>
                <a:gd name="T19" fmla="*/ 0 h 45"/>
                <a:gd name="T20" fmla="*/ 0 w 61"/>
                <a:gd name="T21" fmla="*/ 455 h 45"/>
                <a:gd name="T22" fmla="*/ 0 w 61"/>
                <a:gd name="T23" fmla="*/ 1293 h 45"/>
                <a:gd name="T24" fmla="*/ 937 w 61"/>
                <a:gd name="T25" fmla="*/ 1387 h 45"/>
                <a:gd name="T26" fmla="*/ 1896 w 61"/>
                <a:gd name="T27" fmla="*/ 1293 h 45"/>
                <a:gd name="T28" fmla="*/ 1867 w 61"/>
                <a:gd name="T29" fmla="*/ 455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1" h="45">
                  <a:moveTo>
                    <a:pt x="60" y="15"/>
                  </a:moveTo>
                  <a:cubicBezTo>
                    <a:pt x="59" y="9"/>
                    <a:pt x="54" y="3"/>
                    <a:pt x="47" y="0"/>
                  </a:cubicBezTo>
                  <a:cubicBezTo>
                    <a:pt x="34" y="22"/>
                    <a:pt x="34" y="22"/>
                    <a:pt x="34" y="22"/>
                  </a:cubicBezTo>
                  <a:cubicBezTo>
                    <a:pt x="32" y="12"/>
                    <a:pt x="32" y="12"/>
                    <a:pt x="32" y="12"/>
                  </a:cubicBezTo>
                  <a:cubicBezTo>
                    <a:pt x="33" y="12"/>
                    <a:pt x="34" y="10"/>
                    <a:pt x="34" y="9"/>
                  </a:cubicBezTo>
                  <a:cubicBezTo>
                    <a:pt x="34" y="7"/>
                    <a:pt x="32" y="5"/>
                    <a:pt x="30" y="5"/>
                  </a:cubicBezTo>
                  <a:cubicBezTo>
                    <a:pt x="28" y="5"/>
                    <a:pt x="27" y="7"/>
                    <a:pt x="27" y="9"/>
                  </a:cubicBezTo>
                  <a:cubicBezTo>
                    <a:pt x="27" y="10"/>
                    <a:pt x="27" y="12"/>
                    <a:pt x="28" y="12"/>
                  </a:cubicBezTo>
                  <a:cubicBezTo>
                    <a:pt x="27" y="22"/>
                    <a:pt x="27" y="22"/>
                    <a:pt x="27" y="22"/>
                  </a:cubicBezTo>
                  <a:cubicBezTo>
                    <a:pt x="14" y="0"/>
                    <a:pt x="14" y="0"/>
                    <a:pt x="14" y="0"/>
                  </a:cubicBezTo>
                  <a:cubicBezTo>
                    <a:pt x="7" y="3"/>
                    <a:pt x="2" y="9"/>
                    <a:pt x="0" y="15"/>
                  </a:cubicBezTo>
                  <a:cubicBezTo>
                    <a:pt x="0" y="42"/>
                    <a:pt x="0" y="42"/>
                    <a:pt x="0" y="42"/>
                  </a:cubicBezTo>
                  <a:cubicBezTo>
                    <a:pt x="0" y="42"/>
                    <a:pt x="16" y="45"/>
                    <a:pt x="30" y="45"/>
                  </a:cubicBezTo>
                  <a:cubicBezTo>
                    <a:pt x="45" y="45"/>
                    <a:pt x="61" y="42"/>
                    <a:pt x="61" y="42"/>
                  </a:cubicBezTo>
                  <a:lnTo>
                    <a:pt x="6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403" name="Freeform 15"/>
            <p:cNvSpPr>
              <a:spLocks noChangeArrowheads="1"/>
            </p:cNvSpPr>
            <p:nvPr/>
          </p:nvSpPr>
          <p:spPr bwMode="auto">
            <a:xfrm>
              <a:off x="359" y="0"/>
              <a:ext cx="104" cy="107"/>
            </a:xfrm>
            <a:custGeom>
              <a:avLst/>
              <a:gdLst>
                <a:gd name="T0" fmla="*/ 184 w 44"/>
                <a:gd name="T1" fmla="*/ 927 h 45"/>
                <a:gd name="T2" fmla="*/ 225 w 44"/>
                <a:gd name="T3" fmla="*/ 927 h 45"/>
                <a:gd name="T4" fmla="*/ 688 w 44"/>
                <a:gd name="T5" fmla="*/ 1436 h 45"/>
                <a:gd name="T6" fmla="*/ 1189 w 44"/>
                <a:gd name="T7" fmla="*/ 927 h 45"/>
                <a:gd name="T8" fmla="*/ 1189 w 44"/>
                <a:gd name="T9" fmla="*/ 927 h 45"/>
                <a:gd name="T10" fmla="*/ 1373 w 44"/>
                <a:gd name="T11" fmla="*/ 768 h 45"/>
                <a:gd name="T12" fmla="*/ 1279 w 44"/>
                <a:gd name="T13" fmla="*/ 537 h 45"/>
                <a:gd name="T14" fmla="*/ 1257 w 44"/>
                <a:gd name="T15" fmla="*/ 537 h 45"/>
                <a:gd name="T16" fmla="*/ 1257 w 44"/>
                <a:gd name="T17" fmla="*/ 537 h 45"/>
                <a:gd name="T18" fmla="*/ 688 w 44"/>
                <a:gd name="T19" fmla="*/ 0 h 45"/>
                <a:gd name="T20" fmla="*/ 156 w 44"/>
                <a:gd name="T21" fmla="*/ 537 h 45"/>
                <a:gd name="T22" fmla="*/ 156 w 44"/>
                <a:gd name="T23" fmla="*/ 537 h 45"/>
                <a:gd name="T24" fmla="*/ 118 w 44"/>
                <a:gd name="T25" fmla="*/ 537 h 45"/>
                <a:gd name="T26" fmla="*/ 28 w 44"/>
                <a:gd name="T27" fmla="*/ 768 h 45"/>
                <a:gd name="T28" fmla="*/ 184 w 44"/>
                <a:gd name="T29" fmla="*/ 927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 h="45">
                  <a:moveTo>
                    <a:pt x="6" y="29"/>
                  </a:moveTo>
                  <a:cubicBezTo>
                    <a:pt x="6" y="29"/>
                    <a:pt x="7" y="29"/>
                    <a:pt x="7" y="29"/>
                  </a:cubicBezTo>
                  <a:cubicBezTo>
                    <a:pt x="9" y="38"/>
                    <a:pt x="15" y="45"/>
                    <a:pt x="22" y="45"/>
                  </a:cubicBezTo>
                  <a:cubicBezTo>
                    <a:pt x="30" y="45"/>
                    <a:pt x="36" y="38"/>
                    <a:pt x="38" y="29"/>
                  </a:cubicBezTo>
                  <a:cubicBezTo>
                    <a:pt x="38" y="29"/>
                    <a:pt x="38" y="29"/>
                    <a:pt x="38" y="29"/>
                  </a:cubicBezTo>
                  <a:cubicBezTo>
                    <a:pt x="41" y="29"/>
                    <a:pt x="43" y="27"/>
                    <a:pt x="44" y="24"/>
                  </a:cubicBezTo>
                  <a:cubicBezTo>
                    <a:pt x="44" y="21"/>
                    <a:pt x="43" y="18"/>
                    <a:pt x="41" y="17"/>
                  </a:cubicBezTo>
                  <a:cubicBezTo>
                    <a:pt x="41" y="17"/>
                    <a:pt x="40" y="17"/>
                    <a:pt x="40" y="17"/>
                  </a:cubicBezTo>
                  <a:cubicBezTo>
                    <a:pt x="40" y="17"/>
                    <a:pt x="40" y="17"/>
                    <a:pt x="40" y="17"/>
                  </a:cubicBezTo>
                  <a:cubicBezTo>
                    <a:pt x="40" y="7"/>
                    <a:pt x="32" y="0"/>
                    <a:pt x="22" y="0"/>
                  </a:cubicBezTo>
                  <a:cubicBezTo>
                    <a:pt x="13" y="0"/>
                    <a:pt x="5" y="7"/>
                    <a:pt x="5" y="17"/>
                  </a:cubicBezTo>
                  <a:cubicBezTo>
                    <a:pt x="5" y="17"/>
                    <a:pt x="5" y="17"/>
                    <a:pt x="5" y="17"/>
                  </a:cubicBezTo>
                  <a:cubicBezTo>
                    <a:pt x="5" y="17"/>
                    <a:pt x="4" y="17"/>
                    <a:pt x="4" y="17"/>
                  </a:cubicBezTo>
                  <a:cubicBezTo>
                    <a:pt x="2" y="18"/>
                    <a:pt x="0" y="21"/>
                    <a:pt x="1" y="24"/>
                  </a:cubicBezTo>
                  <a:cubicBezTo>
                    <a:pt x="2" y="27"/>
                    <a:pt x="4" y="29"/>
                    <a:pt x="6"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404" name="Freeform 16"/>
            <p:cNvSpPr>
              <a:spLocks noChangeArrowheads="1"/>
            </p:cNvSpPr>
            <p:nvPr/>
          </p:nvSpPr>
          <p:spPr bwMode="auto">
            <a:xfrm>
              <a:off x="243" y="355"/>
              <a:ext cx="154" cy="113"/>
            </a:xfrm>
            <a:custGeom>
              <a:avLst/>
              <a:gdLst>
                <a:gd name="T0" fmla="*/ 1571 w 65"/>
                <a:gd name="T1" fmla="*/ 0 h 48"/>
                <a:gd name="T2" fmla="*/ 1128 w 65"/>
                <a:gd name="T3" fmla="*/ 704 h 48"/>
                <a:gd name="T4" fmla="*/ 1106 w 65"/>
                <a:gd name="T5" fmla="*/ 405 h 48"/>
                <a:gd name="T6" fmla="*/ 1128 w 65"/>
                <a:gd name="T7" fmla="*/ 271 h 48"/>
                <a:gd name="T8" fmla="*/ 1009 w 65"/>
                <a:gd name="T9" fmla="*/ 184 h 48"/>
                <a:gd name="T10" fmla="*/ 877 w 65"/>
                <a:gd name="T11" fmla="*/ 271 h 48"/>
                <a:gd name="T12" fmla="*/ 943 w 65"/>
                <a:gd name="T13" fmla="*/ 405 h 48"/>
                <a:gd name="T14" fmla="*/ 915 w 65"/>
                <a:gd name="T15" fmla="*/ 704 h 48"/>
                <a:gd name="T16" fmla="*/ 476 w 65"/>
                <a:gd name="T17" fmla="*/ 0 h 48"/>
                <a:gd name="T18" fmla="*/ 28 w 65"/>
                <a:gd name="T19" fmla="*/ 454 h 48"/>
                <a:gd name="T20" fmla="*/ 0 w 65"/>
                <a:gd name="T21" fmla="*/ 1358 h 48"/>
                <a:gd name="T22" fmla="*/ 1009 w 65"/>
                <a:gd name="T23" fmla="*/ 1474 h 48"/>
                <a:gd name="T24" fmla="*/ 2049 w 65"/>
                <a:gd name="T25" fmla="*/ 1358 h 48"/>
                <a:gd name="T26" fmla="*/ 2021 w 65"/>
                <a:gd name="T27" fmla="*/ 454 h 48"/>
                <a:gd name="T28" fmla="*/ 1571 w 65"/>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5" h="48">
                  <a:moveTo>
                    <a:pt x="50" y="0"/>
                  </a:moveTo>
                  <a:cubicBezTo>
                    <a:pt x="36" y="23"/>
                    <a:pt x="36" y="23"/>
                    <a:pt x="36" y="23"/>
                  </a:cubicBezTo>
                  <a:cubicBezTo>
                    <a:pt x="35" y="13"/>
                    <a:pt x="35" y="13"/>
                    <a:pt x="35" y="13"/>
                  </a:cubicBezTo>
                  <a:cubicBezTo>
                    <a:pt x="36" y="12"/>
                    <a:pt x="36" y="11"/>
                    <a:pt x="36" y="9"/>
                  </a:cubicBezTo>
                  <a:cubicBezTo>
                    <a:pt x="36" y="7"/>
                    <a:pt x="35" y="6"/>
                    <a:pt x="32" y="6"/>
                  </a:cubicBezTo>
                  <a:cubicBezTo>
                    <a:pt x="30" y="6"/>
                    <a:pt x="28" y="7"/>
                    <a:pt x="28" y="9"/>
                  </a:cubicBezTo>
                  <a:cubicBezTo>
                    <a:pt x="28" y="11"/>
                    <a:pt x="29" y="12"/>
                    <a:pt x="30" y="13"/>
                  </a:cubicBezTo>
                  <a:cubicBezTo>
                    <a:pt x="29" y="23"/>
                    <a:pt x="29" y="23"/>
                    <a:pt x="29" y="23"/>
                  </a:cubicBezTo>
                  <a:cubicBezTo>
                    <a:pt x="15" y="0"/>
                    <a:pt x="15" y="0"/>
                    <a:pt x="15" y="0"/>
                  </a:cubicBezTo>
                  <a:cubicBezTo>
                    <a:pt x="7" y="3"/>
                    <a:pt x="2" y="9"/>
                    <a:pt x="1" y="15"/>
                  </a:cubicBezTo>
                  <a:cubicBezTo>
                    <a:pt x="0" y="44"/>
                    <a:pt x="0" y="44"/>
                    <a:pt x="0" y="44"/>
                  </a:cubicBezTo>
                  <a:cubicBezTo>
                    <a:pt x="0" y="44"/>
                    <a:pt x="17" y="48"/>
                    <a:pt x="32" y="48"/>
                  </a:cubicBezTo>
                  <a:cubicBezTo>
                    <a:pt x="48" y="48"/>
                    <a:pt x="65" y="44"/>
                    <a:pt x="65" y="44"/>
                  </a:cubicBezTo>
                  <a:cubicBezTo>
                    <a:pt x="64" y="15"/>
                    <a:pt x="64" y="15"/>
                    <a:pt x="64" y="15"/>
                  </a:cubicBezTo>
                  <a:cubicBezTo>
                    <a:pt x="63" y="9"/>
                    <a:pt x="58" y="3"/>
                    <a:pt x="5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405" name="Freeform 17"/>
            <p:cNvSpPr>
              <a:spLocks noChangeArrowheads="1"/>
            </p:cNvSpPr>
            <p:nvPr/>
          </p:nvSpPr>
          <p:spPr bwMode="auto">
            <a:xfrm>
              <a:off x="264" y="239"/>
              <a:ext cx="112" cy="114"/>
            </a:xfrm>
            <a:custGeom>
              <a:avLst/>
              <a:gdLst>
                <a:gd name="T0" fmla="*/ 772 w 47"/>
                <a:gd name="T1" fmla="*/ 0 h 48"/>
                <a:gd name="T2" fmla="*/ 164 w 47"/>
                <a:gd name="T3" fmla="*/ 575 h 48"/>
                <a:gd name="T4" fmla="*/ 164 w 47"/>
                <a:gd name="T5" fmla="*/ 575 h 48"/>
                <a:gd name="T6" fmla="*/ 136 w 47"/>
                <a:gd name="T7" fmla="*/ 575 h 48"/>
                <a:gd name="T8" fmla="*/ 29 w 47"/>
                <a:gd name="T9" fmla="*/ 791 h 48"/>
                <a:gd name="T10" fmla="*/ 188 w 47"/>
                <a:gd name="T11" fmla="*/ 952 h 48"/>
                <a:gd name="T12" fmla="*/ 234 w 47"/>
                <a:gd name="T13" fmla="*/ 952 h 48"/>
                <a:gd name="T14" fmla="*/ 772 w 47"/>
                <a:gd name="T15" fmla="*/ 1530 h 48"/>
                <a:gd name="T16" fmla="*/ 1284 w 47"/>
                <a:gd name="T17" fmla="*/ 952 h 48"/>
                <a:gd name="T18" fmla="*/ 1284 w 47"/>
                <a:gd name="T19" fmla="*/ 952 h 48"/>
                <a:gd name="T20" fmla="*/ 1487 w 47"/>
                <a:gd name="T21" fmla="*/ 791 h 48"/>
                <a:gd name="T22" fmla="*/ 1380 w 47"/>
                <a:gd name="T23" fmla="*/ 575 h 48"/>
                <a:gd name="T24" fmla="*/ 1351 w 47"/>
                <a:gd name="T25" fmla="*/ 575 h 48"/>
                <a:gd name="T26" fmla="*/ 1351 w 47"/>
                <a:gd name="T27" fmla="*/ 575 h 48"/>
                <a:gd name="T28" fmla="*/ 772 w 47"/>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48">
                  <a:moveTo>
                    <a:pt x="24" y="0"/>
                  </a:moveTo>
                  <a:cubicBezTo>
                    <a:pt x="13" y="0"/>
                    <a:pt x="5" y="8"/>
                    <a:pt x="5" y="18"/>
                  </a:cubicBezTo>
                  <a:cubicBezTo>
                    <a:pt x="5" y="18"/>
                    <a:pt x="5" y="18"/>
                    <a:pt x="5" y="18"/>
                  </a:cubicBezTo>
                  <a:cubicBezTo>
                    <a:pt x="5" y="18"/>
                    <a:pt x="4" y="18"/>
                    <a:pt x="4" y="18"/>
                  </a:cubicBezTo>
                  <a:cubicBezTo>
                    <a:pt x="1" y="19"/>
                    <a:pt x="0" y="22"/>
                    <a:pt x="1" y="25"/>
                  </a:cubicBezTo>
                  <a:cubicBezTo>
                    <a:pt x="2" y="29"/>
                    <a:pt x="4" y="31"/>
                    <a:pt x="6" y="30"/>
                  </a:cubicBezTo>
                  <a:cubicBezTo>
                    <a:pt x="7" y="30"/>
                    <a:pt x="7" y="30"/>
                    <a:pt x="7" y="30"/>
                  </a:cubicBezTo>
                  <a:cubicBezTo>
                    <a:pt x="9" y="40"/>
                    <a:pt x="16" y="48"/>
                    <a:pt x="24" y="48"/>
                  </a:cubicBezTo>
                  <a:cubicBezTo>
                    <a:pt x="31" y="48"/>
                    <a:pt x="38" y="40"/>
                    <a:pt x="40" y="30"/>
                  </a:cubicBezTo>
                  <a:cubicBezTo>
                    <a:pt x="40" y="30"/>
                    <a:pt x="40" y="30"/>
                    <a:pt x="40" y="30"/>
                  </a:cubicBezTo>
                  <a:cubicBezTo>
                    <a:pt x="43" y="31"/>
                    <a:pt x="45" y="29"/>
                    <a:pt x="46" y="25"/>
                  </a:cubicBezTo>
                  <a:cubicBezTo>
                    <a:pt x="47" y="22"/>
                    <a:pt x="45" y="19"/>
                    <a:pt x="43" y="18"/>
                  </a:cubicBezTo>
                  <a:cubicBezTo>
                    <a:pt x="43" y="18"/>
                    <a:pt x="42" y="18"/>
                    <a:pt x="42" y="18"/>
                  </a:cubicBezTo>
                  <a:cubicBezTo>
                    <a:pt x="42" y="18"/>
                    <a:pt x="42" y="18"/>
                    <a:pt x="42" y="18"/>
                  </a:cubicBezTo>
                  <a:cubicBezTo>
                    <a:pt x="42" y="8"/>
                    <a:pt x="34"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spTree>
    <p:extLst>
      <p:ext uri="{BB962C8B-B14F-4D97-AF65-F5344CB8AC3E}">
        <p14:creationId xmlns:p14="http://schemas.microsoft.com/office/powerpoint/2010/main" val="175654444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213991" y="220068"/>
            <a:ext cx="3615092" cy="502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666" b="1" dirty="0">
                <a:solidFill>
                  <a:srgbClr val="000000"/>
                </a:solidFill>
              </a:rPr>
              <a:t>结论：自然性和功能性</a:t>
            </a:r>
            <a:endParaRPr lang="zh-CN" altLang="zh-CN" sz="2666" b="1" dirty="0">
              <a:solidFill>
                <a:srgbClr val="000000"/>
              </a:solidFill>
            </a:endParaRPr>
          </a:p>
        </p:txBody>
      </p:sp>
      <p:sp>
        <p:nvSpPr>
          <p:cNvPr id="16387" name="Text Box 3"/>
          <p:cNvSpPr txBox="1">
            <a:spLocks noChangeArrowheads="1"/>
          </p:cNvSpPr>
          <p:nvPr/>
        </p:nvSpPr>
        <p:spPr bwMode="auto">
          <a:xfrm>
            <a:off x="6456336" y="722641"/>
            <a:ext cx="1415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zh-CN" sz="1600" kern="100">
                <a:solidFill>
                  <a:prstClr val="black"/>
                </a:solidFill>
                <a:latin typeface="华文宋体" panose="02010600040101010101" pitchFamily="2" charset="-122"/>
                <a:cs typeface="华文宋体" panose="02010600040101010101" pitchFamily="2" charset="-122"/>
              </a:rPr>
              <a:t>功能性的暧昧</a:t>
            </a:r>
            <a:endParaRPr lang="zh-CN" altLang="zh-CN" sz="1333" dirty="0">
              <a:solidFill>
                <a:srgbClr val="808080"/>
              </a:solidFill>
            </a:endParaRPr>
          </a:p>
        </p:txBody>
      </p:sp>
      <p:sp>
        <p:nvSpPr>
          <p:cNvPr id="16388" name="Line 4"/>
          <p:cNvSpPr>
            <a:spLocks noChangeShapeType="1"/>
          </p:cNvSpPr>
          <p:nvPr/>
        </p:nvSpPr>
        <p:spPr bwMode="auto">
          <a:xfrm>
            <a:off x="1881"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389" name="Line 5"/>
          <p:cNvSpPr>
            <a:spLocks noChangeShapeType="1"/>
          </p:cNvSpPr>
          <p:nvPr/>
        </p:nvSpPr>
        <p:spPr bwMode="auto">
          <a:xfrm>
            <a:off x="9244628"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9462" name="Rectangle 6"/>
          <p:cNvSpPr>
            <a:spLocks noChangeArrowheads="1"/>
          </p:cNvSpPr>
          <p:nvPr/>
        </p:nvSpPr>
        <p:spPr bwMode="auto">
          <a:xfrm>
            <a:off x="1881" y="1978472"/>
            <a:ext cx="12188238" cy="3537975"/>
          </a:xfrm>
          <a:prstGeom prst="rect">
            <a:avLst/>
          </a:prstGeom>
          <a:blipFill dpi="0" rotWithShape="1">
            <a:blip r:embed="rId2"/>
            <a:srcRect/>
            <a:stretch>
              <a:fillRect b="-68481"/>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sz="2399">
              <a:solidFill>
                <a:srgbClr val="000000"/>
              </a:solidFill>
            </a:endParaRPr>
          </a:p>
        </p:txBody>
      </p:sp>
      <p:sp>
        <p:nvSpPr>
          <p:cNvPr id="16393" name="Rectangle 7"/>
          <p:cNvSpPr>
            <a:spLocks noChangeArrowheads="1"/>
          </p:cNvSpPr>
          <p:nvPr/>
        </p:nvSpPr>
        <p:spPr bwMode="auto">
          <a:xfrm>
            <a:off x="0" y="1978472"/>
            <a:ext cx="12188238" cy="3527395"/>
          </a:xfrm>
          <a:prstGeom prst="rect">
            <a:avLst/>
          </a:prstGeom>
          <a:solidFill>
            <a:srgbClr val="000000">
              <a:alpha val="8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6394" name="Text Box 8"/>
          <p:cNvSpPr txBox="1">
            <a:spLocks noChangeArrowheads="1"/>
          </p:cNvSpPr>
          <p:nvPr/>
        </p:nvSpPr>
        <p:spPr bwMode="auto">
          <a:xfrm>
            <a:off x="1474626" y="2555099"/>
            <a:ext cx="5867339"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0" algn="just">
              <a:lnSpc>
                <a:spcPct val="90000"/>
              </a:lnSpc>
              <a:spcBef>
                <a:spcPts val="1000"/>
              </a:spcBef>
              <a:buNone/>
            </a:pPr>
            <a:r>
              <a:rPr lang="en-US" altLang="zh-CN" sz="2800" kern="100" dirty="0">
                <a:solidFill>
                  <a:prstClr val="white"/>
                </a:solidFill>
                <a:latin typeface="华文宋体" panose="02010600040101010101" pitchFamily="2" charset="-122"/>
                <a:cs typeface="华文宋体" panose="02010600040101010101" pitchFamily="2" charset="-122"/>
              </a:rPr>
              <a:t> </a:t>
            </a:r>
            <a:r>
              <a:rPr lang="zh-CN" altLang="zh-CN" sz="2400" kern="100" dirty="0">
                <a:solidFill>
                  <a:prstClr val="white"/>
                </a:solidFill>
                <a:latin typeface="华文宋体" panose="02010600040101010101" pitchFamily="2" charset="-122"/>
                <a:cs typeface="华文宋体" panose="02010600040101010101" pitchFamily="2" charset="-122"/>
              </a:rPr>
              <a:t>超越传统体系的三个面向：</a:t>
            </a:r>
            <a:endParaRPr lang="zh-CN" altLang="zh-CN" sz="2400" kern="100" dirty="0">
              <a:solidFill>
                <a:prstClr val="white"/>
              </a:solidFill>
              <a:latin typeface="Times New Roman" panose="02020603050405020304" pitchFamily="18" charset="0"/>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zh-CN" sz="2400" kern="100" dirty="0">
                <a:solidFill>
                  <a:prstClr val="white"/>
                </a:solidFill>
                <a:latin typeface="华文宋体" panose="02010600040101010101" pitchFamily="2" charset="-122"/>
                <a:cs typeface="华文宋体" panose="02010600040101010101" pitchFamily="2" charset="-122"/>
              </a:rPr>
              <a:t>物的基本功能</a:t>
            </a:r>
            <a:endParaRPr lang="en-US" altLang="zh-CN" sz="2400" kern="100" dirty="0">
              <a:solidFill>
                <a:prstClr val="white"/>
              </a:solidFill>
              <a:latin typeface="华文宋体" panose="0201060004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400" kern="100" dirty="0">
                <a:solidFill>
                  <a:prstClr val="white"/>
                </a:solidFill>
                <a:latin typeface="华文宋体" panose="02010600040101010101" pitchFamily="2" charset="-122"/>
                <a:cs typeface="华文宋体" panose="02010600040101010101" pitchFamily="2" charset="-122"/>
              </a:rPr>
              <a:t>冲动和初等需要</a:t>
            </a:r>
            <a:endParaRPr lang="en-US" altLang="zh-CN" sz="2400" kern="100" dirty="0">
              <a:solidFill>
                <a:prstClr val="white"/>
              </a:solidFill>
              <a:latin typeface="华文宋体" panose="0201060004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400" kern="100" dirty="0">
                <a:solidFill>
                  <a:schemeClr val="bg1"/>
                </a:solidFill>
                <a:latin typeface="华文宋体" panose="02010600040101010101" pitchFamily="2" charset="-122"/>
                <a:cs typeface="华文宋体" panose="02010600040101010101" pitchFamily="2" charset="-122"/>
              </a:rPr>
              <a:t>前两者间的象征关系</a:t>
            </a:r>
            <a:endParaRPr lang="zh-CN" altLang="zh-CN" sz="2400" kern="1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97107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9659" y="0"/>
            <a:ext cx="8492682" cy="6858000"/>
          </a:xfrm>
          <a:prstGeom prst="rect">
            <a:avLst/>
          </a:prstGeom>
        </p:spPr>
      </p:pic>
    </p:spTree>
    <p:extLst>
      <p:ext uri="{BB962C8B-B14F-4D97-AF65-F5344CB8AC3E}">
        <p14:creationId xmlns:p14="http://schemas.microsoft.com/office/powerpoint/2010/main" val="3343607456"/>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stretch>
            <a:fillRect/>
          </a:stretch>
        </p:blipFill>
        <p:spPr>
          <a:xfrm>
            <a:off x="0" y="2056979"/>
            <a:ext cx="2447627" cy="4351338"/>
          </a:xfrm>
          <a:prstGeom prst="rect">
            <a:avLst/>
          </a:prstGeom>
        </p:spPr>
      </p:pic>
      <p:pic>
        <p:nvPicPr>
          <p:cNvPr id="5" name="图片 4"/>
          <p:cNvPicPr>
            <a:picLocks noChangeAspect="1"/>
          </p:cNvPicPr>
          <p:nvPr/>
        </p:nvPicPr>
        <p:blipFill>
          <a:blip r:embed="rId3"/>
          <a:stretch>
            <a:fillRect/>
          </a:stretch>
        </p:blipFill>
        <p:spPr>
          <a:xfrm>
            <a:off x="2447627" y="145567"/>
            <a:ext cx="3695183" cy="6569214"/>
          </a:xfrm>
          <a:prstGeom prst="rect">
            <a:avLst/>
          </a:prstGeom>
        </p:spPr>
      </p:pic>
      <p:pic>
        <p:nvPicPr>
          <p:cNvPr id="6" name="图片 5"/>
          <p:cNvPicPr>
            <a:picLocks noChangeAspect="1"/>
          </p:cNvPicPr>
          <p:nvPr/>
        </p:nvPicPr>
        <p:blipFill>
          <a:blip r:embed="rId4"/>
          <a:stretch>
            <a:fillRect/>
          </a:stretch>
        </p:blipFill>
        <p:spPr>
          <a:xfrm>
            <a:off x="6142810" y="145567"/>
            <a:ext cx="3096681" cy="5505211"/>
          </a:xfrm>
          <a:prstGeom prst="rect">
            <a:avLst/>
          </a:prstGeom>
        </p:spPr>
      </p:pic>
      <p:pic>
        <p:nvPicPr>
          <p:cNvPr id="7" name="图片 6"/>
          <p:cNvPicPr>
            <a:picLocks noChangeAspect="1"/>
          </p:cNvPicPr>
          <p:nvPr/>
        </p:nvPicPr>
        <p:blipFill>
          <a:blip r:embed="rId5"/>
          <a:stretch>
            <a:fillRect/>
          </a:stretch>
        </p:blipFill>
        <p:spPr>
          <a:xfrm>
            <a:off x="9279015" y="1536141"/>
            <a:ext cx="2912985" cy="5178640"/>
          </a:xfrm>
          <a:prstGeom prst="rect">
            <a:avLst/>
          </a:prstGeom>
        </p:spPr>
      </p:pic>
    </p:spTree>
    <p:extLst>
      <p:ext uri="{BB962C8B-B14F-4D97-AF65-F5344CB8AC3E}">
        <p14:creationId xmlns:p14="http://schemas.microsoft.com/office/powerpoint/2010/main" val="31718035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946674" y="220196"/>
            <a:ext cx="3615092" cy="46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0" algn="just">
              <a:lnSpc>
                <a:spcPct val="90000"/>
              </a:lnSpc>
              <a:spcBef>
                <a:spcPts val="1000"/>
              </a:spcBef>
              <a:buNone/>
            </a:pPr>
            <a:r>
              <a:rPr lang="zh-CN" altLang="en-US" sz="2666" b="1" dirty="0">
                <a:solidFill>
                  <a:srgbClr val="000000"/>
                </a:solidFill>
              </a:rPr>
              <a:t>结论：自然性和功能性</a:t>
            </a:r>
            <a:endParaRPr lang="zh-CN" altLang="zh-CN" sz="2666" b="1" dirty="0">
              <a:solidFill>
                <a:srgbClr val="000000"/>
              </a:solidFill>
            </a:endParaRPr>
          </a:p>
        </p:txBody>
      </p:sp>
      <p:sp>
        <p:nvSpPr>
          <p:cNvPr id="16387" name="Text Box 3"/>
          <p:cNvSpPr txBox="1">
            <a:spLocks noChangeArrowheads="1"/>
          </p:cNvSpPr>
          <p:nvPr/>
        </p:nvSpPr>
        <p:spPr bwMode="auto">
          <a:xfrm>
            <a:off x="5145121" y="776104"/>
            <a:ext cx="53880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zh-CN" sz="1800" kern="100" dirty="0">
                <a:solidFill>
                  <a:prstClr val="black"/>
                </a:solidFill>
                <a:latin typeface="华文宋体" panose="02010600040101010101" pitchFamily="2" charset="-122"/>
                <a:cs typeface="华文宋体" panose="02010600040101010101" pitchFamily="2" charset="-122"/>
              </a:rPr>
              <a:t>否认和传统体系紧密联系的</a:t>
            </a:r>
            <a:r>
              <a:rPr lang="zh-CN" altLang="en-US" sz="1800" kern="100" dirty="0">
                <a:solidFill>
                  <a:prstClr val="black"/>
                </a:solidFill>
                <a:latin typeface="华文宋体" panose="02010600040101010101" pitchFamily="2" charset="-122"/>
                <a:cs typeface="华文宋体" panose="02010600040101010101" pitchFamily="2" charset="-122"/>
              </a:rPr>
              <a:t>象征性</a:t>
            </a:r>
            <a:r>
              <a:rPr lang="zh-CN" altLang="en-US" sz="1200" kern="100" dirty="0">
                <a:solidFill>
                  <a:prstClr val="black"/>
                </a:solidFill>
                <a:latin typeface="华文宋体" panose="02010600040101010101" pitchFamily="2" charset="-122"/>
                <a:cs typeface="华文宋体" panose="02010600040101010101" pitchFamily="2" charset="-122"/>
              </a:rPr>
              <a:t>（案例：座椅</a:t>
            </a:r>
            <a:r>
              <a:rPr lang="en-US" altLang="zh-CN" sz="1200" kern="100" dirty="0">
                <a:solidFill>
                  <a:prstClr val="black"/>
                </a:solidFill>
                <a:latin typeface="华文宋体" panose="02010600040101010101" pitchFamily="2" charset="-122"/>
                <a:cs typeface="华文宋体" panose="02010600040101010101" pitchFamily="2" charset="-122"/>
              </a:rPr>
              <a:t>-</a:t>
            </a:r>
            <a:r>
              <a:rPr lang="zh-CN" altLang="en-US" sz="1200" kern="100" dirty="0">
                <a:solidFill>
                  <a:prstClr val="black"/>
                </a:solidFill>
                <a:latin typeface="华文宋体" panose="02010600040101010101" pitchFamily="2" charset="-122"/>
                <a:cs typeface="华文宋体" panose="02010600040101010101" pitchFamily="2" charset="-122"/>
              </a:rPr>
              <a:t>海豚抱椅）</a:t>
            </a:r>
            <a:endParaRPr lang="zh-CN" altLang="zh-CN" sz="1200" dirty="0">
              <a:solidFill>
                <a:srgbClr val="808080"/>
              </a:solidFill>
            </a:endParaRPr>
          </a:p>
        </p:txBody>
      </p:sp>
      <p:sp>
        <p:nvSpPr>
          <p:cNvPr id="16388" name="Line 4"/>
          <p:cNvSpPr>
            <a:spLocks noChangeShapeType="1"/>
          </p:cNvSpPr>
          <p:nvPr/>
        </p:nvSpPr>
        <p:spPr bwMode="auto">
          <a:xfrm>
            <a:off x="1881"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6389" name="Line 5"/>
          <p:cNvSpPr>
            <a:spLocks noChangeShapeType="1"/>
          </p:cNvSpPr>
          <p:nvPr/>
        </p:nvSpPr>
        <p:spPr bwMode="auto">
          <a:xfrm>
            <a:off x="9244628"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9462" name="Rectangle 6"/>
          <p:cNvSpPr>
            <a:spLocks noChangeArrowheads="1"/>
          </p:cNvSpPr>
          <p:nvPr/>
        </p:nvSpPr>
        <p:spPr bwMode="auto">
          <a:xfrm>
            <a:off x="1881" y="1978472"/>
            <a:ext cx="12188238" cy="3537975"/>
          </a:xfrm>
          <a:prstGeom prst="rect">
            <a:avLst/>
          </a:prstGeom>
          <a:blipFill dpi="0" rotWithShape="1">
            <a:blip r:embed="rId2"/>
            <a:srcRect/>
            <a:stretch>
              <a:fillRect b="-68481"/>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sz="2399">
              <a:solidFill>
                <a:srgbClr val="000000"/>
              </a:solidFill>
            </a:endParaRPr>
          </a:p>
        </p:txBody>
      </p:sp>
      <p:sp>
        <p:nvSpPr>
          <p:cNvPr id="16393" name="Rectangle 7"/>
          <p:cNvSpPr>
            <a:spLocks noChangeArrowheads="1"/>
          </p:cNvSpPr>
          <p:nvPr/>
        </p:nvSpPr>
        <p:spPr bwMode="auto">
          <a:xfrm>
            <a:off x="1881" y="1988458"/>
            <a:ext cx="12188238" cy="3527395"/>
          </a:xfrm>
          <a:prstGeom prst="rect">
            <a:avLst/>
          </a:prstGeom>
          <a:solidFill>
            <a:srgbClr val="000000">
              <a:alpha val="8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6394" name="Text Box 8"/>
          <p:cNvSpPr txBox="1">
            <a:spLocks noChangeArrowheads="1"/>
          </p:cNvSpPr>
          <p:nvPr/>
        </p:nvSpPr>
        <p:spPr bwMode="auto">
          <a:xfrm>
            <a:off x="172720" y="2216545"/>
            <a:ext cx="11866880" cy="329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28600" lvl="0" indent="-228600" algn="just">
              <a:lnSpc>
                <a:spcPct val="90000"/>
              </a:lnSpc>
              <a:spcBef>
                <a:spcPts val="1000"/>
              </a:spcBef>
              <a:buFont typeface="Arial" panose="020B0604020202020204" pitchFamily="34" charset="0"/>
              <a:buChar char="•"/>
            </a:pPr>
            <a:r>
              <a:rPr lang="zh-CN" altLang="zh-CN" sz="2400" kern="100" dirty="0">
                <a:solidFill>
                  <a:prstClr val="white"/>
                </a:solidFill>
                <a:latin typeface="华文宋体" panose="02010600040101010101" pitchFamily="2" charset="-122"/>
                <a:cs typeface="华文宋体" panose="02010600040101010101" pitchFamily="2" charset="-122"/>
              </a:rPr>
              <a:t>物的功能体系，其系统一致性，来自于各物品在系统中失去自我个殊价值</a:t>
            </a:r>
            <a:endParaRPr lang="en-US" altLang="zh-CN" sz="2400" kern="100" dirty="0">
              <a:solidFill>
                <a:prstClr val="white"/>
              </a:solidFill>
              <a:latin typeface="华文宋体" panose="02010600040101010101" pitchFamily="2" charset="-122"/>
              <a:cs typeface="华文宋体" panose="02010600040101010101" pitchFamily="2" charset="-122"/>
            </a:endParaRPr>
          </a:p>
          <a:p>
            <a:pPr marL="228600" indent="-228600" algn="just">
              <a:lnSpc>
                <a:spcPct val="90000"/>
              </a:lnSpc>
              <a:spcBef>
                <a:spcPts val="1000"/>
              </a:spcBef>
              <a:buFont typeface="Arial" panose="020B0604020202020204" pitchFamily="34" charset="0"/>
              <a:buChar char="•"/>
            </a:pPr>
            <a:r>
              <a:rPr lang="zh-CN" altLang="zh-CN" sz="2400" kern="100" dirty="0">
                <a:solidFill>
                  <a:prstClr val="white"/>
                </a:solidFill>
                <a:latin typeface="华文宋体" panose="02010600040101010101" pitchFamily="2" charset="-122"/>
                <a:cs typeface="华文宋体" panose="02010600040101010101" pitchFamily="2" charset="-122"/>
              </a:rPr>
              <a:t>物体的物质性不再和需要的物质性直接相关联</a:t>
            </a:r>
            <a:endParaRPr lang="en-US" altLang="zh-CN" sz="2400" kern="100" dirty="0">
              <a:solidFill>
                <a:prstClr val="white"/>
              </a:solidFill>
              <a:latin typeface="华文宋体" panose="02010600040101010101" pitchFamily="2" charset="-122"/>
              <a:cs typeface="华文宋体" panose="02010600040101010101" pitchFamily="2" charset="-122"/>
            </a:endParaRPr>
          </a:p>
          <a:p>
            <a:pPr marL="228600" lvl="0" indent="-228600" algn="just">
              <a:lnSpc>
                <a:spcPct val="90000"/>
              </a:lnSpc>
              <a:spcBef>
                <a:spcPts val="1000"/>
              </a:spcBef>
              <a:buFont typeface="Arial" panose="020B0604020202020204" pitchFamily="34" charset="0"/>
              <a:buChar char="•"/>
            </a:pPr>
            <a:r>
              <a:rPr lang="zh-CN" altLang="en-US" sz="2400" kern="100" dirty="0">
                <a:solidFill>
                  <a:prstClr val="white"/>
                </a:solidFill>
                <a:latin typeface="华文宋体" panose="02010600040101010101" pitchFamily="2" charset="-122"/>
                <a:cs typeface="华文宋体" panose="02010600040101010101" pitchFamily="2" charset="-122"/>
              </a:rPr>
              <a:t>自然（传统、文化等）体制无处不在</a:t>
            </a:r>
            <a:r>
              <a:rPr lang="en-US" altLang="zh-CN" sz="2400" kern="100" dirty="0">
                <a:solidFill>
                  <a:prstClr val="white"/>
                </a:solidFill>
                <a:latin typeface="华文宋体" panose="02010600040101010101" pitchFamily="2" charset="-122"/>
                <a:cs typeface="华文宋体" panose="02010600040101010101" pitchFamily="2" charset="-122"/>
              </a:rPr>
              <a:t>——</a:t>
            </a:r>
            <a:r>
              <a:rPr lang="zh-CN" altLang="zh-CN" sz="2400" kern="100" dirty="0">
                <a:solidFill>
                  <a:prstClr val="white"/>
                </a:solidFill>
                <a:latin typeface="华文宋体" panose="02010600040101010101" pitchFamily="2" charset="-122"/>
                <a:cs typeface="华文宋体" panose="02010600040101010101" pitchFamily="2" charset="-122"/>
              </a:rPr>
              <a:t>作为记号的</a:t>
            </a:r>
            <a:r>
              <a:rPr lang="zh-CN" altLang="en-US" sz="2400" kern="100" dirty="0">
                <a:solidFill>
                  <a:prstClr val="white"/>
                </a:solidFill>
                <a:latin typeface="华文宋体" panose="02010600040101010101" pitchFamily="2" charset="-122"/>
                <a:cs typeface="华文宋体" panose="02010600040101010101" pitchFamily="2" charset="-122"/>
              </a:rPr>
              <a:t>样态存在</a:t>
            </a:r>
            <a:endParaRPr lang="en-US" altLang="zh-CN" sz="2400" kern="100" dirty="0">
              <a:solidFill>
                <a:prstClr val="white"/>
              </a:solidFill>
              <a:latin typeface="华文宋体" panose="02010600040101010101" pitchFamily="2" charset="-122"/>
              <a:cs typeface="华文宋体" panose="02010600040101010101" pitchFamily="2" charset="-122"/>
            </a:endParaRPr>
          </a:p>
          <a:p>
            <a:pPr marL="228600" indent="-228600" algn="just">
              <a:lnSpc>
                <a:spcPct val="90000"/>
              </a:lnSpc>
              <a:spcBef>
                <a:spcPts val="1000"/>
              </a:spcBef>
              <a:buFont typeface="Arial" panose="020B0604020202020204" pitchFamily="34" charset="0"/>
              <a:buChar char="•"/>
            </a:pPr>
            <a:r>
              <a:rPr lang="zh-CN" altLang="en-US" sz="2400" kern="100" dirty="0">
                <a:solidFill>
                  <a:prstClr val="white"/>
                </a:solidFill>
                <a:latin typeface="华文宋体" panose="02010600040101010101" pitchFamily="2" charset="-122"/>
                <a:cs typeface="华文宋体" panose="02010600040101010101" pitchFamily="2" charset="-122"/>
              </a:rPr>
              <a:t>记号构成的抽象体系完成联结：人和功能性</a:t>
            </a:r>
            <a:endParaRPr lang="en-US" altLang="zh-CN" sz="2400" kern="100" dirty="0">
              <a:solidFill>
                <a:prstClr val="white"/>
              </a:solidFill>
              <a:latin typeface="华文宋体" panose="02010600040101010101" pitchFamily="2" charset="-122"/>
              <a:cs typeface="华文宋体" panose="02010600040101010101" pitchFamily="2" charset="-122"/>
            </a:endParaRPr>
          </a:p>
          <a:p>
            <a:pPr marL="228600" indent="-228600" algn="just">
              <a:lnSpc>
                <a:spcPct val="90000"/>
              </a:lnSpc>
              <a:spcBef>
                <a:spcPts val="1000"/>
              </a:spcBef>
              <a:buFont typeface="Arial" panose="020B0604020202020204" pitchFamily="34" charset="0"/>
              <a:buChar char="•"/>
            </a:pPr>
            <a:r>
              <a:rPr lang="zh-CN" altLang="en-US" sz="2400" kern="100" dirty="0">
                <a:solidFill>
                  <a:prstClr val="white"/>
                </a:solidFill>
                <a:latin typeface="华文宋体" panose="02010600040101010101" pitchFamily="2" charset="-122"/>
                <a:cs typeface="Times New Roman" panose="02020603050405020304" pitchFamily="18" charset="0"/>
              </a:rPr>
              <a:t>透过记号浮现的是持续被征服、被提炼、抽象的不断被系统化的“自然”：</a:t>
            </a:r>
            <a:r>
              <a:rPr lang="zh-CN" altLang="en-US" kern="100" dirty="0">
                <a:solidFill>
                  <a:prstClr val="white"/>
                </a:solidFill>
                <a:latin typeface="华文宋体" panose="02010600040101010101" pitchFamily="2" charset="-122"/>
                <a:cs typeface="Times New Roman" panose="02020603050405020304" pitchFamily="18" charset="0"/>
              </a:rPr>
              <a:t>自然性</a:t>
            </a:r>
            <a:endParaRPr lang="en-US" altLang="zh-CN" kern="100" dirty="0">
              <a:solidFill>
                <a:prstClr val="white"/>
              </a:solidFill>
              <a:latin typeface="华文宋体" panose="0201060004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endParaRPr lang="zh-CN" altLang="zh-CN" sz="2400" kern="100" dirty="0">
              <a:solidFill>
                <a:prstClr val="white"/>
              </a:solidFill>
              <a:latin typeface="Times New Roman" panose="02020603050405020304" pitchFamily="18" charset="0"/>
              <a:cs typeface="Times New Roman" panose="02020603050405020304" pitchFamily="18" charset="0"/>
            </a:endParaRPr>
          </a:p>
          <a:p>
            <a:pPr marL="228600" indent="-228600" algn="just">
              <a:lnSpc>
                <a:spcPct val="90000"/>
              </a:lnSpc>
              <a:spcBef>
                <a:spcPts val="1000"/>
              </a:spcBef>
              <a:buFont typeface="Arial" panose="020B0604020202020204" pitchFamily="34" charset="0"/>
              <a:buChar char="•"/>
            </a:pPr>
            <a:endParaRPr lang="zh-CN" altLang="zh-CN" sz="2400" kern="100" dirty="0">
              <a:solidFill>
                <a:prstClr val="whit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2163555"/>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4F52E-E20A-D8F6-2790-8509D3F2712F}"/>
            </a:ext>
          </a:extLst>
        </p:cNvPr>
        <p:cNvGrpSpPr/>
        <p:nvPr/>
      </p:nvGrpSpPr>
      <p:grpSpPr>
        <a:xfrm>
          <a:off x="0" y="0"/>
          <a:ext cx="0" cy="0"/>
          <a:chOff x="0" y="0"/>
          <a:chExt cx="0" cy="0"/>
        </a:xfrm>
      </p:grpSpPr>
      <p:pic>
        <p:nvPicPr>
          <p:cNvPr id="22" name="图片 21">
            <a:extLst>
              <a:ext uri="{FF2B5EF4-FFF2-40B4-BE49-F238E27FC236}">
                <a16:creationId xmlns:a16="http://schemas.microsoft.com/office/drawing/2014/main" id="{149D3D45-67C9-F95C-C5A0-DDD9FAC2B19B}"/>
              </a:ext>
            </a:extLst>
          </p:cNvPr>
          <p:cNvPicPr>
            <a:picLocks noChangeAspect="1"/>
          </p:cNvPicPr>
          <p:nvPr/>
        </p:nvPicPr>
        <p:blipFill>
          <a:blip r:embed="rId2"/>
          <a:stretch>
            <a:fillRect/>
          </a:stretch>
        </p:blipFill>
        <p:spPr>
          <a:xfrm>
            <a:off x="509364" y="5412757"/>
            <a:ext cx="11482164" cy="1022997"/>
          </a:xfrm>
          <a:prstGeom prst="rect">
            <a:avLst/>
          </a:prstGeom>
        </p:spPr>
      </p:pic>
      <p:pic>
        <p:nvPicPr>
          <p:cNvPr id="8" name="内容占位符 7">
            <a:extLst>
              <a:ext uri="{FF2B5EF4-FFF2-40B4-BE49-F238E27FC236}">
                <a16:creationId xmlns:a16="http://schemas.microsoft.com/office/drawing/2014/main" id="{E72C5692-E2B5-34A7-6629-7865C6928687}"/>
              </a:ext>
            </a:extLst>
          </p:cNvPr>
          <p:cNvPicPr>
            <a:picLocks noGrp="1" noChangeAspect="1"/>
          </p:cNvPicPr>
          <p:nvPr>
            <p:ph idx="1"/>
          </p:nvPr>
        </p:nvPicPr>
        <p:blipFill>
          <a:blip r:embed="rId3"/>
          <a:stretch>
            <a:fillRect/>
          </a:stretch>
        </p:blipFill>
        <p:spPr>
          <a:xfrm>
            <a:off x="920552" y="422245"/>
            <a:ext cx="10623074" cy="4726625"/>
          </a:xfrm>
          <a:prstGeom prst="rect">
            <a:avLst/>
          </a:prstGeom>
        </p:spPr>
      </p:pic>
      <p:sp>
        <p:nvSpPr>
          <p:cNvPr id="2" name="文本框 1">
            <a:extLst>
              <a:ext uri="{FF2B5EF4-FFF2-40B4-BE49-F238E27FC236}">
                <a16:creationId xmlns:a16="http://schemas.microsoft.com/office/drawing/2014/main" id="{E8F6BC8B-A466-B831-E917-21BD1CE840E2}"/>
              </a:ext>
            </a:extLst>
          </p:cNvPr>
          <p:cNvSpPr txBox="1"/>
          <p:nvPr/>
        </p:nvSpPr>
        <p:spPr>
          <a:xfrm>
            <a:off x="5928258" y="5096148"/>
            <a:ext cx="1583324" cy="369332"/>
          </a:xfrm>
          <a:prstGeom prst="rect">
            <a:avLst/>
          </a:prstGeom>
          <a:noFill/>
        </p:spPr>
        <p:txBody>
          <a:bodyPr wrap="square" rtlCol="0">
            <a:spAutoFit/>
          </a:bodyPr>
          <a:lstStyle/>
          <a:p>
            <a:r>
              <a:rPr lang="zh-CN" altLang="en-US" dirty="0"/>
              <a:t>生产的强制</a:t>
            </a:r>
          </a:p>
        </p:txBody>
      </p:sp>
      <p:sp>
        <p:nvSpPr>
          <p:cNvPr id="3" name="文本框 2">
            <a:extLst>
              <a:ext uri="{FF2B5EF4-FFF2-40B4-BE49-F238E27FC236}">
                <a16:creationId xmlns:a16="http://schemas.microsoft.com/office/drawing/2014/main" id="{2EC49898-97CB-16BD-C33B-9F44F22FF9F5}"/>
              </a:ext>
            </a:extLst>
          </p:cNvPr>
          <p:cNvSpPr txBox="1"/>
          <p:nvPr/>
        </p:nvSpPr>
        <p:spPr>
          <a:xfrm>
            <a:off x="5406619" y="6295914"/>
            <a:ext cx="2387259" cy="369332"/>
          </a:xfrm>
          <a:prstGeom prst="rect">
            <a:avLst/>
          </a:prstGeom>
          <a:noFill/>
        </p:spPr>
        <p:txBody>
          <a:bodyPr wrap="square" rtlCol="0">
            <a:spAutoFit/>
          </a:bodyPr>
          <a:lstStyle/>
          <a:p>
            <a:r>
              <a:rPr lang="zh-CN" altLang="en-US" dirty="0"/>
              <a:t>       仿真的消费</a:t>
            </a:r>
          </a:p>
        </p:txBody>
      </p:sp>
    </p:spTree>
    <p:extLst>
      <p:ext uri="{BB962C8B-B14F-4D97-AF65-F5344CB8AC3E}">
        <p14:creationId xmlns:p14="http://schemas.microsoft.com/office/powerpoint/2010/main" val="283573257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3841</TotalTime>
  <Words>2573</Words>
  <Application>Microsoft Office PowerPoint</Application>
  <PresentationFormat>宽屏</PresentationFormat>
  <Paragraphs>229</Paragraphs>
  <Slides>44</Slides>
  <Notes>4</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44</vt:i4>
      </vt:variant>
    </vt:vector>
  </HeadingPairs>
  <TitlesOfParts>
    <vt:vector size="59" baseType="lpstr">
      <vt:lpstr>等线</vt:lpstr>
      <vt:lpstr>等线 Light</vt:lpstr>
      <vt:lpstr>黑体</vt:lpstr>
      <vt:lpstr>华文宋体</vt:lpstr>
      <vt:lpstr>宋体</vt:lpstr>
      <vt:lpstr>微软雅黑</vt:lpstr>
      <vt:lpstr>Arial</vt:lpstr>
      <vt:lpstr>Arial Black</vt:lpstr>
      <vt:lpstr>Calibri</vt:lpstr>
      <vt:lpstr>Times</vt:lpstr>
      <vt:lpstr>Times New Roman</vt:lpstr>
      <vt:lpstr>Office 主题​​</vt:lpstr>
      <vt:lpstr>1_默认设计模板</vt:lpstr>
      <vt:lpstr>Office 主题</vt:lpstr>
      <vt:lpstr>1_Office 主题​​</vt:lpstr>
      <vt:lpstr>PowerPoint 演示文稿</vt:lpstr>
      <vt:lpstr>从功能-审美的充分条件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材质新材质于实用层面展开的前景之外，它们如何改变了材料的“意义”</vt:lpstr>
      <vt:lpstr>PowerPoint 演示文稿</vt:lpstr>
      <vt:lpstr>气氛的逻辑一贯性不再是自然的，它存在于一个由记号形成的文化体系中</vt:lpstr>
      <vt:lpstr>PowerPoint 演示文稿</vt:lpstr>
      <vt:lpstr>PowerPoint 演示文稿</vt:lpstr>
      <vt:lpstr>PowerPoint 演示文稿</vt:lpstr>
      <vt:lpstr>PowerPoint 演示文稿</vt:lpstr>
      <vt:lpstr>PowerPoint 演示文稿</vt:lpstr>
      <vt:lpstr>PowerPoint 演示文稿</vt:lpstr>
      <vt:lpstr>操控——人与物之间的中介者：人的手势动作</vt:lpstr>
      <vt:lpstr>PowerPoint 演示文稿</vt:lpstr>
      <vt:lpstr>PowerPoint 演示文稿</vt:lpstr>
      <vt:lpstr>PowerPoint 演示文稿</vt:lpstr>
      <vt:lpstr>迷你化 </vt:lpstr>
      <vt:lpstr>PowerPoint 演示文稿</vt:lpstr>
      <vt:lpstr>PowerPoint 演示文稿</vt:lpstr>
      <vt:lpstr>PowerPoint 演示文稿</vt:lpstr>
      <vt:lpstr>PowerPoint 演示文稿</vt:lpstr>
      <vt:lpstr>      力量的抽象化（后果：人的退化-宝马概念汽车）</vt:lpstr>
      <vt:lpstr>象征面向的终结 人需要手势               </vt:lpstr>
      <vt:lpstr>PowerPoint 演示文稿</vt:lpstr>
      <vt:lpstr>P57打火机和汽车的翅翼 </vt:lpstr>
      <vt:lpstr>功能性形式：打火机案例p57</vt:lpstr>
      <vt:lpstr>引申意义的嫁接</vt:lpstr>
      <vt:lpstr>功能主义神话（小艾、智能家居）：世界权威的模式(原欲被压抑和转化)</vt:lpstr>
      <vt:lpstr>P72提问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20</cp:revision>
  <dcterms:created xsi:type="dcterms:W3CDTF">2025-10-16T02:58:34Z</dcterms:created>
  <dcterms:modified xsi:type="dcterms:W3CDTF">2026-10-13T10:26:05Z</dcterms:modified>
</cp:coreProperties>
</file>