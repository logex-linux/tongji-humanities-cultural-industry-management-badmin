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7"/>
  </p:normalViewPr>
  <p:slideViewPr>
    <p:cSldViewPr snapToGrid="0">
      <p:cViewPr varScale="1">
        <p:scale>
          <a:sx n="112" d="100"/>
          <a:sy n="112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7742D13-FF85-40C7-8DCD-C7E5EBE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CB359B6-8C41-4A09-AD8F-A59F4598F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39C6ACC-C77D-49C4-BC37-1D0B13FB8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6E1D189-C6BD-4E68-AB23-0D1582E0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EF90419-0D55-42A2-BE8E-D191460B4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C0339DC-5188-4BA6-9B76-9028EBA0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7BBA1D0-1927-43F7-A948-0B69059A5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934CFA3-57F7-4469-A867-9F202DA204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0C02D47-0285-4F50-A051-6AB8C59F8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0B613CD-035F-4483-BB29-BEE25AA2A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5640F48-2119-4505-947D-B60499E630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20" t="4101" r="11589" b="57235"/>
          <a:stretch/>
        </p:blipFill>
        <p:spPr>
          <a:xfrm>
            <a:off x="4572000" y="0"/>
            <a:ext cx="7620000" cy="6858000"/>
          </a:xfrm>
          <a:prstGeom prst="rect">
            <a:avLst/>
          </a:prstGeom>
        </p:spPr>
      </p:pic>
      <p:sp>
        <p:nvSpPr>
          <p:cNvPr id="2" name="course">
            <a:extLst>
              <a:ext uri="{FF2B5EF4-FFF2-40B4-BE49-F238E27FC236}">
                <a16:creationId xmlns:a16="http://schemas.microsoft.com/office/drawing/2014/main" id="{0786BF93-39C2-4439-966B-79499C52ABBA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3733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艺术概论心得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B6B2925-8C00-4C6F-9C3C-C9724EAC6FE9}"/>
              </a:ext>
            </a:extLst>
          </p:cNvPr>
          <p:cNvSpPr>
            <a:spLocks noGrp="1"/>
          </p:cNvSpPr>
          <p:nvPr/>
        </p:nvSpPr>
        <p:spPr>
          <a:xfrm>
            <a:off x="476250" y="2514600"/>
            <a:ext cx="401955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70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无面的</a:t>
            </a:r>
            <a:r>
              <a:rPr sz="705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佛</a:t>
            </a:r>
          </a:p>
        </p:txBody>
      </p:sp>
      <p:sp>
        <p:nvSpPr>
          <p:cNvPr id="4" name="author">
            <a:extLst>
              <a:ext uri="{FF2B5EF4-FFF2-40B4-BE49-F238E27FC236}">
                <a16:creationId xmlns:a16="http://schemas.microsoft.com/office/drawing/2014/main" id="{0FF6B8C1-0F67-477C-9A99-3E73AD714DA8}"/>
              </a:ext>
            </a:extLst>
          </p:cNvPr>
          <p:cNvSpPr>
            <a:spLocks noGrp="1"/>
          </p:cNvSpPr>
          <p:nvPr/>
        </p:nvSpPr>
        <p:spPr>
          <a:xfrm>
            <a:off x="533400" y="5581650"/>
            <a:ext cx="3733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某同学 2000000</a:t>
            </a:r>
          </a:p>
          <a:p>
            <a:pPr algn="l">
              <a:lnSpc>
                <a:spcPct val="125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文化产业管理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365FA38-FB47-49EE-BFC8-900B71D1348F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3EEE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0214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B2DCD96-C66F-4ECE-8FC3-211359DE5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85" t="29291" r="18698" b="25015"/>
          <a:stretch/>
        </p:blipFill>
        <p:spPr>
          <a:xfrm>
            <a:off x="0" y="0"/>
            <a:ext cx="79248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7EE6D2D4-FFF2-41AC-BEA5-DC5133FF75B8}"/>
              </a:ext>
            </a:extLst>
          </p:cNvPr>
          <p:cNvSpPr>
            <a:spLocks noGrp="1"/>
          </p:cNvSpPr>
          <p:nvPr/>
        </p:nvSpPr>
        <p:spPr>
          <a:xfrm>
            <a:off x="8382000" y="1971675"/>
            <a:ext cx="33528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自外而内</a:t>
            </a:r>
          </a:p>
          <a:p>
            <a:pPr algn="l">
              <a:lnSpc>
                <a:spcPct val="125000"/>
              </a:lnSpc>
              <a:buNone/>
              <a:defRPr sz="43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435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损毁？</a:t>
            </a:r>
          </a:p>
        </p:txBody>
      </p:sp>
      <p:sp>
        <p:nvSpPr>
          <p:cNvPr id="3" name="image-caption">
            <a:extLst>
              <a:ext uri="{FF2B5EF4-FFF2-40B4-BE49-F238E27FC236}">
                <a16:creationId xmlns:a16="http://schemas.microsoft.com/office/drawing/2014/main" id="{2DA2E904-F2BB-4ED7-A343-B3634FE509D1}"/>
              </a:ext>
            </a:extLst>
          </p:cNvPr>
          <p:cNvSpPr>
            <a:spLocks noGrp="1"/>
          </p:cNvSpPr>
          <p:nvPr/>
        </p:nvSpPr>
        <p:spPr>
          <a:xfrm>
            <a:off x="8382000" y="5219700"/>
            <a:ext cx="335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图片，丝路上的</a:t>
            </a:r>
          </a:p>
          <a:p>
            <a:pPr algn="l">
              <a:lnSpc>
                <a:spcPct val="125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小型画作一例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40634C43-A9C7-4906-ABED-0CD60B8E02B6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593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C4C5CAF-2CC1-4D90-9307-B87C254C14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83" t="4101" r="3889" b="68366"/>
          <a:stretch/>
        </p:blipFill>
        <p:spPr>
          <a:xfrm>
            <a:off x="228600" y="190500"/>
            <a:ext cx="11734800" cy="6057900"/>
          </a:xfrm>
          <a:prstGeom prst="rect">
            <a:avLst/>
          </a:prstGeom>
        </p:spPr>
      </p:pic>
      <p:sp>
        <p:nvSpPr>
          <p:cNvPr id="2" name="image-caption">
            <a:extLst>
              <a:ext uri="{FF2B5EF4-FFF2-40B4-BE49-F238E27FC236}">
                <a16:creationId xmlns:a16="http://schemas.microsoft.com/office/drawing/2014/main" id="{8F61188B-367F-40D5-BAC1-2A00F55B6BFE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莫高窟壁画一则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9B919800-84A7-4AC2-956B-36739F0734CE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27086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725CEC0-9827-41E7-8078-B8273BA97C7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112776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4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1. 自然的、岁月的损毁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8944C62-7DC8-4842-8D70-C2994100D3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4" t="28998" r="19967" b="38781"/>
          <a:stretch/>
        </p:blipFill>
        <p:spPr>
          <a:xfrm>
            <a:off x="228600" y="1314450"/>
            <a:ext cx="8610600" cy="4991100"/>
          </a:xfrm>
          <a:prstGeom prst="rect">
            <a:avLst/>
          </a:prstGeom>
        </p:spPr>
      </p:pic>
      <p:sp>
        <p:nvSpPr>
          <p:cNvPr id="3" name="point-one">
            <a:extLst>
              <a:ext uri="{FF2B5EF4-FFF2-40B4-BE49-F238E27FC236}">
                <a16:creationId xmlns:a16="http://schemas.microsoft.com/office/drawing/2014/main" id="{AADA20B1-C916-4A0C-9B07-7BD463469BFE}"/>
              </a:ext>
            </a:extLst>
          </p:cNvPr>
          <p:cNvSpPr>
            <a:spLocks noGrp="1"/>
          </p:cNvSpPr>
          <p:nvPr/>
        </p:nvSpPr>
        <p:spPr>
          <a:xfrm>
            <a:off x="9201150" y="2705100"/>
            <a:ext cx="2667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均匀而斑驳的</a:t>
            </a:r>
          </a:p>
          <a:p>
            <a:pPr algn="l">
              <a:lnSpc>
                <a:spcPct val="125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风化损毁</a:t>
            </a:r>
          </a:p>
        </p:txBody>
      </p:sp>
      <p:sp>
        <p:nvSpPr>
          <p:cNvPr id="4" name="point-two">
            <a:extLst>
              <a:ext uri="{FF2B5EF4-FFF2-40B4-BE49-F238E27FC236}">
                <a16:creationId xmlns:a16="http://schemas.microsoft.com/office/drawing/2014/main" id="{2E04E566-F033-4D11-9CF4-D6F3E17F4C9B}"/>
              </a:ext>
            </a:extLst>
          </p:cNvPr>
          <p:cNvSpPr>
            <a:spLocks noGrp="1"/>
          </p:cNvSpPr>
          <p:nvPr/>
        </p:nvSpPr>
        <p:spPr>
          <a:xfrm>
            <a:off x="9201150" y="4000500"/>
            <a:ext cx="266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颜料的自然变色</a:t>
            </a:r>
          </a:p>
        </p:txBody>
      </p:sp>
      <p:sp>
        <p:nvSpPr>
          <p:cNvPr id="5" name="image-caption">
            <a:extLst>
              <a:ext uri="{FF2B5EF4-FFF2-40B4-BE49-F238E27FC236}">
                <a16:creationId xmlns:a16="http://schemas.microsoft.com/office/drawing/2014/main" id="{F6C7D129-F59E-49BC-BF5C-1AA1B1A8B28B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28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莫高窟说法图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79221C22-CD7A-462E-8FEA-A2BFB21D80E0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032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60F5A8-15D5-45A7-B772-551685B134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26" t="19592" r="18806" b="35737"/>
          <a:stretch/>
        </p:blipFill>
        <p:spPr>
          <a:xfrm>
            <a:off x="228600" y="171450"/>
            <a:ext cx="11734800" cy="6115050"/>
          </a:xfrm>
          <a:prstGeom prst="rect">
            <a:avLst/>
          </a:prstGeom>
        </p:spPr>
      </p:pic>
      <p:sp>
        <p:nvSpPr>
          <p:cNvPr id="2" name="image-caption">
            <a:extLst>
              <a:ext uri="{FF2B5EF4-FFF2-40B4-BE49-F238E27FC236}">
                <a16:creationId xmlns:a16="http://schemas.microsoft.com/office/drawing/2014/main" id="{9F85BF1E-090B-4B5A-85DB-9BE344AD6F86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744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莫高窟说法图</a:t>
            </a:r>
          </a:p>
        </p:txBody>
      </p:sp>
    </p:spTree>
    <p:extLst>
      <p:ext uri="{BB962C8B-B14F-4D97-AF65-F5344CB8AC3E}">
        <p14:creationId xmlns:p14="http://schemas.microsoft.com/office/powerpoint/2010/main" val="202661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1F9FE750-0C5B-42A6-B8E2-BB0C648F333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11277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2. 人为的破坏、盗取、损伤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551110F-EC26-4835-A886-C2967322823D}"/>
              </a:ext>
            </a:extLst>
          </p:cNvPr>
          <p:cNvSpPr>
            <a:spLocks noGrp="1"/>
          </p:cNvSpPr>
          <p:nvPr/>
        </p:nvSpPr>
        <p:spPr>
          <a:xfrm>
            <a:off x="457200" y="1304925"/>
            <a:ext cx="914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破坏：</a:t>
            </a:r>
          </a:p>
        </p:txBody>
      </p:sp>
      <p:sp>
        <p:nvSpPr>
          <p:cNvPr id="3" name="damage-explanation">
            <a:extLst>
              <a:ext uri="{FF2B5EF4-FFF2-40B4-BE49-F238E27FC236}">
                <a16:creationId xmlns:a16="http://schemas.microsoft.com/office/drawing/2014/main" id="{AF08A01E-5675-4DAB-B317-1556541E92ED}"/>
              </a:ext>
            </a:extLst>
          </p:cNvPr>
          <p:cNvSpPr>
            <a:spLocks noGrp="1"/>
          </p:cNvSpPr>
          <p:nvPr/>
        </p:nvSpPr>
        <p:spPr>
          <a:xfrm>
            <a:off x="1409700" y="1304925"/>
            <a:ext cx="5543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宗教性否定、象征性羞辱</a:t>
            </a:r>
          </a:p>
        </p:txBody>
      </p:sp>
      <p:sp>
        <p:nvSpPr>
          <p:cNvPr id="4" name="damage-example">
            <a:extLst>
              <a:ext uri="{FF2B5EF4-FFF2-40B4-BE49-F238E27FC236}">
                <a16:creationId xmlns:a16="http://schemas.microsoft.com/office/drawing/2014/main" id="{6E8D50AA-E2C6-4C75-B59B-8552CAA4276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64960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Eg.新疆柏孜克里克第51窟和</a:t>
            </a:r>
          </a:p>
          <a:p>
            <a:pPr algn="l">
              <a:lnSpc>
                <a:spcPct val="125000"/>
              </a:lnSpc>
              <a:buNone/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阿富汗巴米扬N(a)窟的相关遗存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C4AEE701-C867-4650-AB40-F9D40ABA3782}"/>
              </a:ext>
            </a:extLst>
          </p:cNvPr>
          <p:cNvSpPr>
            <a:spLocks noGrp="1"/>
          </p:cNvSpPr>
          <p:nvPr/>
        </p:nvSpPr>
        <p:spPr>
          <a:xfrm>
            <a:off x="457200" y="2733675"/>
            <a:ext cx="914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盗取：</a:t>
            </a:r>
          </a:p>
        </p:txBody>
      </p:sp>
      <p:sp>
        <p:nvSpPr>
          <p:cNvPr id="6" name="theft-explanation">
            <a:extLst>
              <a:ext uri="{FF2B5EF4-FFF2-40B4-BE49-F238E27FC236}">
                <a16:creationId xmlns:a16="http://schemas.microsoft.com/office/drawing/2014/main" id="{A0F13E09-B64A-4B75-8E07-B35B8C34D11A}"/>
              </a:ext>
            </a:extLst>
          </p:cNvPr>
          <p:cNvSpPr>
            <a:spLocks noGrp="1"/>
          </p:cNvSpPr>
          <p:nvPr/>
        </p:nvSpPr>
        <p:spPr>
          <a:xfrm>
            <a:off x="1409700" y="2733675"/>
            <a:ext cx="5543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经济因素的考量与不充足的保护</a:t>
            </a:r>
          </a:p>
        </p:txBody>
      </p:sp>
      <p:sp>
        <p:nvSpPr>
          <p:cNvPr id="7" name="theft-example">
            <a:extLst>
              <a:ext uri="{FF2B5EF4-FFF2-40B4-BE49-F238E27FC236}">
                <a16:creationId xmlns:a16="http://schemas.microsoft.com/office/drawing/2014/main" id="{E0D749EB-C6A0-4C33-B33B-625CF27D5D9F}"/>
              </a:ext>
            </a:extLst>
          </p:cNvPr>
          <p:cNvSpPr>
            <a:spLocks noGrp="1"/>
          </p:cNvSpPr>
          <p:nvPr/>
        </p:nvSpPr>
        <p:spPr>
          <a:xfrm>
            <a:off x="457200" y="3181350"/>
            <a:ext cx="64960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Eg. 1924年华尔纳在敦煌莫高窟的壁画揭取活动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5AC590C-4379-4EA1-BA91-B6D9B2B540F8}"/>
              </a:ext>
            </a:extLst>
          </p:cNvPr>
          <p:cNvSpPr>
            <a:spLocks noGrp="1"/>
          </p:cNvSpPr>
          <p:nvPr/>
        </p:nvSpPr>
        <p:spPr>
          <a:xfrm>
            <a:off x="457200" y="4162425"/>
            <a:ext cx="914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损伤：</a:t>
            </a:r>
          </a:p>
        </p:txBody>
      </p:sp>
      <p:sp>
        <p:nvSpPr>
          <p:cNvPr id="9" name="injury-explanation">
            <a:extLst>
              <a:ext uri="{FF2B5EF4-FFF2-40B4-BE49-F238E27FC236}">
                <a16:creationId xmlns:a16="http://schemas.microsoft.com/office/drawing/2014/main" id="{2A6F73F0-BFC4-4916-BEEF-D6FC992E89B4}"/>
              </a:ext>
            </a:extLst>
          </p:cNvPr>
          <p:cNvSpPr>
            <a:spLocks noGrp="1"/>
          </p:cNvSpPr>
          <p:nvPr/>
        </p:nvSpPr>
        <p:spPr>
          <a:xfrm>
            <a:off x="1409700" y="4162425"/>
            <a:ext cx="55435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宗教活动的火烛可能产生灰土，</a:t>
            </a:r>
          </a:p>
          <a:p>
            <a:pPr algn="l">
              <a:lnSpc>
                <a:spcPct val="125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火焰可能灼伤画面。</a:t>
            </a:r>
          </a:p>
        </p:txBody>
      </p:sp>
      <p:sp>
        <p:nvSpPr>
          <p:cNvPr id="10" name="source-title">
            <a:extLst>
              <a:ext uri="{FF2B5EF4-FFF2-40B4-BE49-F238E27FC236}">
                <a16:creationId xmlns:a16="http://schemas.microsoft.com/office/drawing/2014/main" id="{1CB80549-B498-4FCC-8F3D-39BCBEB3E510}"/>
              </a:ext>
            </a:extLst>
          </p:cNvPr>
          <p:cNvSpPr>
            <a:spLocks noGrp="1"/>
          </p:cNvSpPr>
          <p:nvPr/>
        </p:nvSpPr>
        <p:spPr>
          <a:xfrm>
            <a:off x="457200" y="5200650"/>
            <a:ext cx="64960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来自A reliability-oriented decision-support framework for pigment indication on sooty murals from VNIR–SWIR reflectance spectra 证实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FD1362F-92A3-4E74-893B-6D957FC877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28" t="32689" r="19141" b="24546"/>
          <a:stretch/>
        </p:blipFill>
        <p:spPr>
          <a:xfrm>
            <a:off x="6812280" y="830580"/>
            <a:ext cx="5151120" cy="5151120"/>
          </a:xfrm>
          <a:prstGeom prst="rect">
            <a:avLst/>
          </a:prstGeom>
        </p:spPr>
      </p:pic>
      <p:sp>
        <p:nvSpPr>
          <p:cNvPr id="12" name="image-caption">
            <a:extLst>
              <a:ext uri="{FF2B5EF4-FFF2-40B4-BE49-F238E27FC236}">
                <a16:creationId xmlns:a16="http://schemas.microsoft.com/office/drawing/2014/main" id="{D8B0648C-6B1B-4DBA-A863-DA590999E942}"/>
              </a:ext>
            </a:extLst>
          </p:cNvPr>
          <p:cNvSpPr>
            <a:spLocks noGrp="1"/>
          </p:cNvSpPr>
          <p:nvPr/>
        </p:nvSpPr>
        <p:spPr>
          <a:xfrm>
            <a:off x="7524750" y="6191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广药寺壁画一则</a:t>
            </a:r>
          </a:p>
        </p:txBody>
      </p:sp>
      <p:sp>
        <p:nvSpPr>
          <p:cNvPr id="13" name="page-number">
            <a:extLst>
              <a:ext uri="{FF2B5EF4-FFF2-40B4-BE49-F238E27FC236}">
                <a16:creationId xmlns:a16="http://schemas.microsoft.com/office/drawing/2014/main" id="{DECA3894-11D4-4C04-801F-91D14CF41BA9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3898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A4C9ACD-12C7-4C9E-8BDB-BD4306BCC3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11" t="28047" r="12334" b="21301"/>
          <a:stretch>
            <a:fillRect/>
          </a:stretch>
        </p:blipFill>
        <p:spPr>
          <a:xfrm>
            <a:off x="140043" y="-130825"/>
            <a:ext cx="11911914" cy="6522100"/>
          </a:xfrm>
          <a:prstGeom prst="rect">
            <a:avLst/>
          </a:prstGeom>
        </p:spPr>
      </p:pic>
      <p:sp>
        <p:nvSpPr>
          <p:cNvPr id="2" name="image-caption">
            <a:extLst>
              <a:ext uri="{FF2B5EF4-FFF2-40B4-BE49-F238E27FC236}">
                <a16:creationId xmlns:a16="http://schemas.microsoft.com/office/drawing/2014/main" id="{0DBADDCD-C14A-4925-9B62-5BE042F8B955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药师佛佛会图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3D339079-02D7-4770-8937-3DC15BEAF065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7758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0B88D3B-9F82-8C86-A135-102105A5A7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000"/>
          <a:stretch/>
        </p:blipFill>
        <p:spPr>
          <a:xfrm>
            <a:off x="2960275" y="0"/>
            <a:ext cx="62714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61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3A76AD-C8A2-4FA8-8378-13FCAC522D1B}"/>
              </a:ext>
            </a:extLst>
          </p:cNvPr>
          <p:cNvSpPr>
            <a:spLocks noGrp="1"/>
          </p:cNvSpPr>
          <p:nvPr/>
        </p:nvSpPr>
        <p:spPr>
          <a:xfrm>
            <a:off x="990600" y="1466850"/>
            <a:ext cx="10287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51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5175" b="0" dirty="0" err="1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学习艺术</a:t>
            </a:r>
            <a:r>
              <a:rPr lang="zh-CN" altLang="en-US" sz="5175" b="0" dirty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（</a:t>
            </a:r>
            <a:r>
              <a:rPr sz="5175" b="0" dirty="0" err="1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概论</a:t>
            </a:r>
            <a:r>
              <a:rPr lang="zh-CN" altLang="en-US" sz="5175" b="0" dirty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）</a:t>
            </a:r>
            <a:endParaRPr sz="5175" b="0" dirty="0">
              <a:solidFill>
                <a:srgbClr val="26231F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6AAEC50-0162-4FBC-B4FF-81A285D46F74}"/>
              </a:ext>
            </a:extLst>
          </p:cNvPr>
          <p:cNvSpPr>
            <a:spLocks noGrp="1"/>
          </p:cNvSpPr>
          <p:nvPr/>
        </p:nvSpPr>
        <p:spPr>
          <a:xfrm>
            <a:off x="990600" y="3057525"/>
            <a:ext cx="10287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35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525" b="0" dirty="0" err="1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学习对于民族的</a:t>
            </a:r>
            <a:endParaRPr sz="3525" b="0" dirty="0">
              <a:solidFill>
                <a:srgbClr val="26231F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916E77E-ECE7-454A-A5B3-3EE6A0F3F828}"/>
              </a:ext>
            </a:extLst>
          </p:cNvPr>
          <p:cNvSpPr>
            <a:spLocks noGrp="1"/>
          </p:cNvSpPr>
          <p:nvPr/>
        </p:nvSpPr>
        <p:spPr>
          <a:xfrm>
            <a:off x="952500" y="3971925"/>
            <a:ext cx="10287000" cy="1495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84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文化资本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D49A6ED1-670F-4ECD-A6E2-A454066521DA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0245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C58A677-3CDD-498F-B77E-0C3326A454DD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102870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42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趣味进行区分，并区分了区分者。</a:t>
            </a:r>
          </a:p>
        </p:txBody>
      </p:sp>
      <p:sp>
        <p:nvSpPr>
          <p:cNvPr id="2" name="quotation-body">
            <a:extLst>
              <a:ext uri="{FF2B5EF4-FFF2-40B4-BE49-F238E27FC236}">
                <a16:creationId xmlns:a16="http://schemas.microsoft.com/office/drawing/2014/main" id="{B218726D-F167-4CBF-A455-C27F61CA6280}"/>
              </a:ext>
            </a:extLst>
          </p:cNvPr>
          <p:cNvSpPr>
            <a:spLocks noGrp="1"/>
          </p:cNvSpPr>
          <p:nvPr/>
        </p:nvSpPr>
        <p:spPr>
          <a:xfrm>
            <a:off x="990600" y="3362325"/>
            <a:ext cx="101727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50000"/>
              </a:lnSpc>
              <a:buNone/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社会主体由其所属的类别而被分类，</a:t>
            </a:r>
          </a:p>
          <a:p>
            <a:pPr algn="l">
              <a:lnSpc>
                <a:spcPct val="150000"/>
              </a:lnSpc>
              <a:buNone/>
              <a:def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因他们自己所制造的区隔区别了自身。</a:t>
            </a:r>
          </a:p>
        </p:txBody>
      </p:sp>
      <p:sp>
        <p:nvSpPr>
          <p:cNvPr id="3" name="attribution">
            <a:extLst>
              <a:ext uri="{FF2B5EF4-FFF2-40B4-BE49-F238E27FC236}">
                <a16:creationId xmlns:a16="http://schemas.microsoft.com/office/drawing/2014/main" id="{4D8E128D-2685-48A3-9F96-48093C598542}"/>
              </a:ext>
            </a:extLst>
          </p:cNvPr>
          <p:cNvSpPr>
            <a:spLocks noGrp="1"/>
          </p:cNvSpPr>
          <p:nvPr/>
        </p:nvSpPr>
        <p:spPr>
          <a:xfrm>
            <a:off x="990600" y="5610225"/>
            <a:ext cx="101727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——布尔迪厄：La distinction（区分：判断力的社会批判）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975A0A64-DE66-47E9-9C23-49F6A28C5E12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39224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9F849F0-F859-45F1-BA69-48C9F089288A}"/>
              </a:ext>
            </a:extLst>
          </p:cNvPr>
          <p:cNvSpPr>
            <a:spLocks noGrp="1"/>
          </p:cNvSpPr>
          <p:nvPr/>
        </p:nvSpPr>
        <p:spPr>
          <a:xfrm>
            <a:off x="457200" y="276225"/>
            <a:ext cx="112776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1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中华民族的文化资本与文化传承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6560955-C27D-4A74-921C-B7689C13B1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68"/>
          <a:stretch/>
        </p:blipFill>
        <p:spPr>
          <a:xfrm>
            <a:off x="228600" y="1085850"/>
            <a:ext cx="5791200" cy="4953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93D384D-C2E4-47DD-A3D6-8C524ED55A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13" t="24581" r="6250" b="20305"/>
          <a:stretch/>
        </p:blipFill>
        <p:spPr>
          <a:xfrm>
            <a:off x="6172200" y="1085850"/>
            <a:ext cx="5791200" cy="4953000"/>
          </a:xfrm>
          <a:prstGeom prst="rect">
            <a:avLst/>
          </a:prstGeom>
        </p:spPr>
      </p:pic>
      <p:sp>
        <p:nvSpPr>
          <p:cNvPr id="4" name="image-caption">
            <a:extLst>
              <a:ext uri="{FF2B5EF4-FFF2-40B4-BE49-F238E27FC236}">
                <a16:creationId xmlns:a16="http://schemas.microsoft.com/office/drawing/2014/main" id="{0158EF97-558E-4FB7-96B8-C6D7A2AEFA20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0591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25000"/>
              </a:lnSpc>
              <a:buNone/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2025年同济大学民族嘉年华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45910F7-A984-4118-B504-7C3F8CA8BC9D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1521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CE431E41-8DFC-4333-A2EC-05496BD7EC41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10515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>
            <a:pPr algn="l">
              <a:lnSpc>
                <a:spcPct val="125000"/>
              </a:lnSpc>
              <a:buNone/>
              <a:def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9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参考内容</a:t>
            </a:r>
          </a:p>
        </p:txBody>
      </p:sp>
      <p:sp>
        <p:nvSpPr>
          <p:cNvPr id="2" name="reference-one">
            <a:extLst>
              <a:ext uri="{FF2B5EF4-FFF2-40B4-BE49-F238E27FC236}">
                <a16:creationId xmlns:a16="http://schemas.microsoft.com/office/drawing/2014/main" id="{B8401B9E-C0DE-41E2-994F-4792C435A05E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1043940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40000"/>
              </a:lnSpc>
              <a:buNone/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[1] MEI Y, CHEN Y, GENG X, et al. Characterizing pigments, dyes, and fibers in murals from Bezeklik Cave 51 and Tuyoq Cave 2[J]. npj Heritage Science, 2025, 13: 251. DOI: 10.1038/s40494-025-01811-x.</a:t>
            </a:r>
          </a:p>
        </p:txBody>
      </p:sp>
      <p:sp>
        <p:nvSpPr>
          <p:cNvPr id="3" name="reference-two">
            <a:extLst>
              <a:ext uri="{FF2B5EF4-FFF2-40B4-BE49-F238E27FC236}">
                <a16:creationId xmlns:a16="http://schemas.microsoft.com/office/drawing/2014/main" id="{5B74EEA9-08B6-4262-BD11-9EC42E6218D1}"/>
              </a:ext>
            </a:extLst>
          </p:cNvPr>
          <p:cNvSpPr>
            <a:spLocks noGrp="1"/>
          </p:cNvSpPr>
          <p:nvPr/>
        </p:nvSpPr>
        <p:spPr>
          <a:xfrm>
            <a:off x="876300" y="3781425"/>
            <a:ext cx="104394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40000"/>
              </a:lnSpc>
              <a:buNone/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[2] 赵莉, 王志兴, 范书财. 克孜尔石窟部分流失壁画原位考证与复原[J]. 中国文化遗产, 2009(3).</a:t>
            </a:r>
          </a:p>
        </p:txBody>
      </p:sp>
      <p:sp>
        <p:nvSpPr>
          <p:cNvPr id="4" name="reference-three">
            <a:extLst>
              <a:ext uri="{FF2B5EF4-FFF2-40B4-BE49-F238E27FC236}">
                <a16:creationId xmlns:a16="http://schemas.microsoft.com/office/drawing/2014/main" id="{211524E5-6DC0-4B6C-A733-06464A0680BD}"/>
              </a:ext>
            </a:extLst>
          </p:cNvPr>
          <p:cNvSpPr>
            <a:spLocks noGrp="1"/>
          </p:cNvSpPr>
          <p:nvPr/>
        </p:nvSpPr>
        <p:spPr>
          <a:xfrm>
            <a:off x="876300" y="5057775"/>
            <a:ext cx="104394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lnSpc>
                <a:spcPct val="140000"/>
              </a:lnSpc>
              <a:buNone/>
              <a:def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[3] BOURDIEU P. La distinction: critique sociale du jugement[M]. Paris: Les Éditions de Minuit, 1979.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1C98C1F1-A912-400C-BB93-57381316EBE9}"/>
              </a:ext>
            </a:extLst>
          </p:cNvPr>
          <p:cNvSpPr>
            <a:spLocks noGrp="1"/>
          </p:cNvSpPr>
          <p:nvPr/>
        </p:nvSpPr>
        <p:spPr>
          <a:xfrm>
            <a:off x="11277600" y="6391275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r">
              <a:lnSpc>
                <a:spcPct val="125000"/>
              </a:lnSpc>
              <a:buNone/>
              <a:def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26313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Mural">
      <a:dk1>
        <a:srgbClr val="26231F"/>
      </a:dk1>
      <a:lt1>
        <a:srgbClr val="F3EEE5"/>
      </a:lt1>
      <a:dk2>
        <a:srgbClr val="23211F"/>
      </a:dk2>
      <a:lt2>
        <a:srgbClr val="E6D8C5"/>
      </a:lt2>
      <a:accent1>
        <a:srgbClr val="82483C"/>
      </a:accent1>
      <a:accent2>
        <a:srgbClr val="6D756A"/>
      </a:accent2>
      <a:accent3>
        <a:srgbClr val="B79C72"/>
      </a:accent3>
      <a:accent4>
        <a:srgbClr val="C6B5A1"/>
      </a:accent4>
      <a:accent5>
        <a:srgbClr val="5F5B55"/>
      </a:accent5>
      <a:accent6>
        <a:srgbClr val="947668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u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Mural">
      <a:dk1>
        <a:srgbClr val="26231F"/>
      </a:dk1>
      <a:lt1>
        <a:srgbClr val="F3EEE5"/>
      </a:lt1>
      <a:dk2>
        <a:srgbClr val="23211F"/>
      </a:dk2>
      <a:lt2>
        <a:srgbClr val="E6D8C5"/>
      </a:lt2>
      <a:accent1>
        <a:srgbClr val="82483C"/>
      </a:accent1>
      <a:accent2>
        <a:srgbClr val="6D756A"/>
      </a:accent2>
      <a:accent3>
        <a:srgbClr val="B79C72"/>
      </a:accent3>
      <a:accent4>
        <a:srgbClr val="C6B5A1"/>
      </a:accent4>
      <a:accent5>
        <a:srgbClr val="5F5B55"/>
      </a:accent5>
      <a:accent6>
        <a:srgbClr val="947668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u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Macintosh PowerPoint</Application>
  <DocSecurity>0</DocSecurity>
  <PresentationFormat>宽屏</PresentationFormat>
  <Paragraphs>52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PingFang SC</vt:lpstr>
      <vt:lpstr>Aptos</vt:lpstr>
      <vt:lpstr>Songti SC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revision>3</cp:revision>
  <dcterms:created xsi:type="dcterms:W3CDTF">2026-10-28T12:34:07Z</dcterms:created>
  <dcterms:modified xsi:type="dcterms:W3CDTF">2026-10-28T15:12:25Z</dcterms:modified>
</cp:coreProperties>
</file>