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4210368b2c4f87" /><Relationship Type="http://schemas.openxmlformats.org/officeDocument/2006/relationships/extended-properties" Target="/docProps/app.xml" Id="R24323b2081274b59" /><Relationship Type="http://schemas.openxmlformats.org/officeDocument/2006/relationships/officeDocument" Target="/ppt/presentation.xml" Id="R42c33bdfc47f41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3e93e3d9774a33"/>
  </p:sldMasterIdLst>
  <p:notesMasterIdLst>
    <p:notesMasterId xmlns:r="http://schemas.openxmlformats.org/officeDocument/2006/relationships" r:id="Rf716bcc8618a457a"/>
  </p:notesMasterIdLst>
  <p:sldIdLst>
    <p:sldId xmlns:r="http://schemas.openxmlformats.org/officeDocument/2006/relationships" id="256" r:id="Rc70906039229496e"/>
    <p:sldId xmlns:r="http://schemas.openxmlformats.org/officeDocument/2006/relationships" id="257" r:id="R1fb0748867924afc"/>
    <p:sldId xmlns:r="http://schemas.openxmlformats.org/officeDocument/2006/relationships" id="258" r:id="Rbbc3683eaab14bdc"/>
    <p:sldId xmlns:r="http://schemas.openxmlformats.org/officeDocument/2006/relationships" id="259" r:id="R61ee4f60430e40d0"/>
    <p:sldId xmlns:r="http://schemas.openxmlformats.org/officeDocument/2006/relationships" id="260" r:id="Rd706a313e8e34eb3"/>
    <p:sldId xmlns:r="http://schemas.openxmlformats.org/officeDocument/2006/relationships" id="261" r:id="R45ff53dc4f9b44a3"/>
    <p:sldId xmlns:r="http://schemas.openxmlformats.org/officeDocument/2006/relationships" id="262" r:id="Rcb1ac8556a1445f8"/>
    <p:sldId xmlns:r="http://schemas.openxmlformats.org/officeDocument/2006/relationships" id="263" r:id="Rfedd3c3e6e2b4a10"/>
    <p:sldId xmlns:r="http://schemas.openxmlformats.org/officeDocument/2006/relationships" id="264" r:id="Rdc349cc0548649ee"/>
    <p:sldId xmlns:r="http://schemas.openxmlformats.org/officeDocument/2006/relationships" id="265" r:id="R80f3eb1c1e4d4b96"/>
    <p:sldId xmlns:r="http://schemas.openxmlformats.org/officeDocument/2006/relationships" id="266" r:id="Rfc32e532c70242a2"/>
    <p:sldId xmlns:r="http://schemas.openxmlformats.org/officeDocument/2006/relationships" id="267" r:id="R0f7fa10fafe7476d"/>
    <p:sldId xmlns:r="http://schemas.openxmlformats.org/officeDocument/2006/relationships" id="268" r:id="R7b117f00f6a442d1"/>
    <p:sldId xmlns:r="http://schemas.openxmlformats.org/officeDocument/2006/relationships" id="269" r:id="R157c2d846dd14b40"/>
    <p:sldId xmlns:r="http://schemas.openxmlformats.org/officeDocument/2006/relationships" id="270" r:id="Rc9ee2c2816a14bb9"/>
    <p:sldId xmlns:r="http://schemas.openxmlformats.org/officeDocument/2006/relationships" id="271" r:id="R8ab9001213c4468d"/>
    <p:sldId xmlns:r="http://schemas.openxmlformats.org/officeDocument/2006/relationships" id="272" r:id="Rb0c7e57d1633405a"/>
    <p:sldId xmlns:r="http://schemas.openxmlformats.org/officeDocument/2006/relationships" id="273" r:id="R7da6b52d8612437e"/>
    <p:sldId xmlns:r="http://schemas.openxmlformats.org/officeDocument/2006/relationships" id="274" r:id="R36a6c48c50124c7e"/>
    <p:sldId xmlns:r="http://schemas.openxmlformats.org/officeDocument/2006/relationships" id="275" r:id="Re8567cff207f4cb7"/>
    <p:sldId xmlns:r="http://schemas.openxmlformats.org/officeDocument/2006/relationships" id="276" r:id="R49cb2a0f917b4106"/>
    <p:sldId xmlns:r="http://schemas.openxmlformats.org/officeDocument/2006/relationships" id="277" r:id="R854723b8f8c54eeb"/>
    <p:sldId xmlns:r="http://schemas.openxmlformats.org/officeDocument/2006/relationships" id="278" r:id="Rc8709ec90c744316"/>
    <p:sldId xmlns:r="http://schemas.openxmlformats.org/officeDocument/2006/relationships" id="279" r:id="Rb2ae2c9535854a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b5b750cc0d4fea" /><Relationship Type="http://schemas.openxmlformats.org/officeDocument/2006/relationships/slideMaster" Target="/ppt/slideMasters/slideMaster1.xml" Id="Ra83e93e3d9774a33" /><Relationship Type="http://schemas.openxmlformats.org/officeDocument/2006/relationships/notesMaster" Target="/ppt/notesMasters/notesMaster1.xml" Id="Rf716bcc8618a457a" /><Relationship Type="http://schemas.openxmlformats.org/officeDocument/2006/relationships/presProps" Target="/ppt/presProps.xml" Id="Rb700df29beba413b" /><Relationship Type="http://schemas.openxmlformats.org/officeDocument/2006/relationships/tableStyles" Target="/ppt/tableStyles.xml" Id="Re434b6b0afd64e81" /><Relationship Type="http://schemas.openxmlformats.org/officeDocument/2006/relationships/slide" Target="/ppt/slides/slide1.xml" Id="Rc70906039229496e" /><Relationship Type="http://schemas.openxmlformats.org/officeDocument/2006/relationships/slide" Target="/ppt/slides/slide2.xml" Id="R1fb0748867924afc" /><Relationship Type="http://schemas.openxmlformats.org/officeDocument/2006/relationships/slide" Target="/ppt/slides/slide3.xml" Id="Rbbc3683eaab14bdc" /><Relationship Type="http://schemas.openxmlformats.org/officeDocument/2006/relationships/slide" Target="/ppt/slides/slide4.xml" Id="R61ee4f60430e40d0" /><Relationship Type="http://schemas.openxmlformats.org/officeDocument/2006/relationships/slide" Target="/ppt/slides/slide5.xml" Id="Rd706a313e8e34eb3" /><Relationship Type="http://schemas.openxmlformats.org/officeDocument/2006/relationships/slide" Target="/ppt/slides/slide6.xml" Id="R45ff53dc4f9b44a3" /><Relationship Type="http://schemas.openxmlformats.org/officeDocument/2006/relationships/slide" Target="/ppt/slides/slide7.xml" Id="Rcb1ac8556a1445f8" /><Relationship Type="http://schemas.openxmlformats.org/officeDocument/2006/relationships/slide" Target="/ppt/slides/slide8.xml" Id="Rfedd3c3e6e2b4a10" /><Relationship Type="http://schemas.openxmlformats.org/officeDocument/2006/relationships/slide" Target="/ppt/slides/slide9.xml" Id="Rdc349cc0548649ee" /><Relationship Type="http://schemas.openxmlformats.org/officeDocument/2006/relationships/slide" Target="/ppt/slides/slide10.xml" Id="R80f3eb1c1e4d4b96" /><Relationship Type="http://schemas.openxmlformats.org/officeDocument/2006/relationships/slide" Target="/ppt/slides/slide11.xml" Id="Rfc32e532c70242a2" /><Relationship Type="http://schemas.openxmlformats.org/officeDocument/2006/relationships/slide" Target="/ppt/slides/slide12.xml" Id="R0f7fa10fafe7476d" /><Relationship Type="http://schemas.openxmlformats.org/officeDocument/2006/relationships/slide" Target="/ppt/slides/slide13.xml" Id="R7b117f00f6a442d1" /><Relationship Type="http://schemas.openxmlformats.org/officeDocument/2006/relationships/slide" Target="/ppt/slides/slide14.xml" Id="R157c2d846dd14b40" /><Relationship Type="http://schemas.openxmlformats.org/officeDocument/2006/relationships/slide" Target="/ppt/slides/slide15.xml" Id="Rc9ee2c2816a14bb9" /><Relationship Type="http://schemas.openxmlformats.org/officeDocument/2006/relationships/slide" Target="/ppt/slides/slide16.xml" Id="R8ab9001213c4468d" /><Relationship Type="http://schemas.openxmlformats.org/officeDocument/2006/relationships/slide" Target="/ppt/slides/slide17.xml" Id="Rb0c7e57d1633405a" /><Relationship Type="http://schemas.openxmlformats.org/officeDocument/2006/relationships/slide" Target="/ppt/slides/slide18.xml" Id="R7da6b52d8612437e" /><Relationship Type="http://schemas.openxmlformats.org/officeDocument/2006/relationships/slide" Target="/ppt/slides/slide19.xml" Id="R36a6c48c50124c7e" /><Relationship Type="http://schemas.openxmlformats.org/officeDocument/2006/relationships/slide" Target="/ppt/slides/slide20.xml" Id="Re8567cff207f4cb7" /><Relationship Type="http://schemas.openxmlformats.org/officeDocument/2006/relationships/slide" Target="/ppt/slides/slide21.xml" Id="R49cb2a0f917b4106" /><Relationship Type="http://schemas.openxmlformats.org/officeDocument/2006/relationships/slide" Target="/ppt/slides/slide22.xml" Id="R854723b8f8c54eeb" /><Relationship Type="http://schemas.openxmlformats.org/officeDocument/2006/relationships/slide" Target="/ppt/slides/slide23.xml" Id="Rc8709ec90c744316" /><Relationship Type="http://schemas.openxmlformats.org/officeDocument/2006/relationships/slide" Target="/ppt/slides/slide24.xml" Id="Rb2ae2c9535854a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3093d2997745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无面的佛·面容与复原">
      <a:dk1>
        <a:srgbClr val="26231F"/>
      </a:dk1>
      <a:lt1>
        <a:srgbClr val="FFFFFF"/>
      </a:lt1>
      <a:dk2>
        <a:srgbClr val="756C60"/>
      </a:dk2>
      <a:lt2>
        <a:srgbClr val="F3EEE5"/>
      </a:lt2>
      <a:accent1>
        <a:srgbClr val="82483C"/>
      </a:accent1>
      <a:accent2>
        <a:srgbClr val="756C60"/>
      </a:accent2>
      <a:accent3>
        <a:srgbClr val="B19A75"/>
      </a:accent3>
      <a:accent4>
        <a:srgbClr val="575E4C"/>
      </a:accent4>
      <a:accent5>
        <a:srgbClr val="725E5C"/>
      </a:accent5>
      <a:accent6>
        <a:srgbClr val="A8785B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无面的佛·面容与复原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9ef2adf12c43e8" /><Relationship Type="http://schemas.openxmlformats.org/officeDocument/2006/relationships/notesMaster" Target="/ppt/notesMasters/notesMaster1.xml" Id="R6a3f0cf9224c40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12ac266d17406b" /><Relationship Type="http://schemas.openxmlformats.org/officeDocument/2006/relationships/notesMaster" Target="/ppt/notesMasters/notesMaster1.xml" Id="Rb16b49a057734d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0b2b9807ec4fc7" /><Relationship Type="http://schemas.openxmlformats.org/officeDocument/2006/relationships/notesMaster" Target="/ppt/notesMasters/notesMaster1.xml" Id="Rdbdcd2266fb845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d81000dfb04f66" /><Relationship Type="http://schemas.openxmlformats.org/officeDocument/2006/relationships/notesMaster" Target="/ppt/notesMasters/notesMaster1.xml" Id="Rb9147a6c0ebf4d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c41c5b60c8465d" /><Relationship Type="http://schemas.openxmlformats.org/officeDocument/2006/relationships/notesMaster" Target="/ppt/notesMasters/notesMaster1.xml" Id="R8cb5d86ab7b345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ccdaea862f4a51" /><Relationship Type="http://schemas.openxmlformats.org/officeDocument/2006/relationships/notesMaster" Target="/ppt/notesMasters/notesMaster1.xml" Id="Rc9892834767442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0d2d4850cf4b53" /><Relationship Type="http://schemas.openxmlformats.org/officeDocument/2006/relationships/notesMaster" Target="/ppt/notesMasters/notesMaster1.xml" Id="R9bfdbb71876941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f0ee0d9a40c4369" /><Relationship Type="http://schemas.openxmlformats.org/officeDocument/2006/relationships/notesMaster" Target="/ppt/notesMasters/notesMaster1.xml" Id="R4f0392f0b1b345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f72c15bdb44d21" /><Relationship Type="http://schemas.openxmlformats.org/officeDocument/2006/relationships/notesMaster" Target="/ppt/notesMasters/notesMaster1.xml" Id="R77cdc05afe9044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e99a4caefb4085" /><Relationship Type="http://schemas.openxmlformats.org/officeDocument/2006/relationships/notesMaster" Target="/ppt/notesMasters/notesMaster1.xml" Id="R52e729775b3c46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e4828d1a3d4232" /><Relationship Type="http://schemas.openxmlformats.org/officeDocument/2006/relationships/notesMaster" Target="/ppt/notesMasters/notesMaster1.xml" Id="Rcf37c736123240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f6910ffcca4a3e" /><Relationship Type="http://schemas.openxmlformats.org/officeDocument/2006/relationships/notesMaster" Target="/ppt/notesMasters/notesMaster1.xml" Id="Ra41cfcb4c86442f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f0242dc7862430a" /><Relationship Type="http://schemas.openxmlformats.org/officeDocument/2006/relationships/notesMaster" Target="/ppt/notesMasters/notesMaster1.xml" Id="Rfc84938bd76044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ad19e4e6fe470e" /><Relationship Type="http://schemas.openxmlformats.org/officeDocument/2006/relationships/notesMaster" Target="/ppt/notesMasters/notesMaster1.xml" Id="R8990f6d1b899461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fa3e47667204704" /><Relationship Type="http://schemas.openxmlformats.org/officeDocument/2006/relationships/notesMaster" Target="/ppt/notesMasters/notesMaster1.xml" Id="Rdf9c18c3230d4a7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259fa9677340ee" /><Relationship Type="http://schemas.openxmlformats.org/officeDocument/2006/relationships/notesMaster" Target="/ppt/notesMasters/notesMaster1.xml" Id="R844e9f5c98bb45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c6ea207d49f47b4" /><Relationship Type="http://schemas.openxmlformats.org/officeDocument/2006/relationships/notesMaster" Target="/ppt/notesMasters/notesMaster1.xml" Id="Ra420aeb7140d426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f9736a5d15b4a3d" /><Relationship Type="http://schemas.openxmlformats.org/officeDocument/2006/relationships/notesMaster" Target="/ppt/notesMasters/notesMaster1.xml" Id="Rda11438654ea42c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59ed2a44f3a425d" /><Relationship Type="http://schemas.openxmlformats.org/officeDocument/2006/relationships/notesMaster" Target="/ppt/notesMasters/notesMaster1.xml" Id="R5edcbfd8b7fc4a6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738685bb5cb41b1" /><Relationship Type="http://schemas.openxmlformats.org/officeDocument/2006/relationships/notesMaster" Target="/ppt/notesMasters/notesMaster1.xml" Id="R47b17dd8eee8475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399bbbff3784865" /><Relationship Type="http://schemas.openxmlformats.org/officeDocument/2006/relationships/notesMaster" Target="/ppt/notesMasters/notesMaster1.xml" Id="Ra98c8a08ed274d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2a2f7d11d524786" /><Relationship Type="http://schemas.openxmlformats.org/officeDocument/2006/relationships/notesMaster" Target="/ppt/notesMasters/notesMaster1.xml" Id="Ra975139155f34fc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26361ee48a34d1f" /><Relationship Type="http://schemas.openxmlformats.org/officeDocument/2006/relationships/notesMaster" Target="/ppt/notesMasters/notesMaster1.xml" Id="Rb97a76767fc9478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8f97dd64f1c4ebb" /><Relationship Type="http://schemas.openxmlformats.org/officeDocument/2006/relationships/notesMaster" Target="/ppt/notesMasters/notesMaster1.xml" Id="R33a86db7799c44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心得从一个关于面容的问题展开：当佛像的面容已经消失，我们是否应该把它重新画出来？如果画出来，它还是原来的艺术作品吗？我原本希望讨论文化遗产的学习与保护，这次把范围缩小到保护，并以付心仪、麻晓娟、孙志军关于敦煌壁画数字化复原的论文作为主要阅读材料。论文研究的是壁画中的人物图像。下文将围绕线描、区域判断与内容填充，讨论一张重新出现的面容是怎样形成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出处：《药师佛佛会图》临摹作品，展厅现场。某同学摄于中国工艺美术馆。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在中国工艺美术馆拍摄的这件作品，展签标明为《说法图》（摹）。它是一件临摹作品，但主尊的面容仍然较难辨认。对我来说，值得继续讨论的是：重新绘制一幅壁画，为什么可以保留它不完整的样子？临摹与复原都需要处理残缺，但怎样处理，取决于这件作品所要保存和呈现的内容。由此，我把原先较宽泛的遗产保护话题，收束到面容的补绘。这里首先面对的是补绘的依据，以及补绘之后图像表达的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出处：《说法图》（摹），名称据现场展签。某同学摄于中国工艺美术馆；文字为个人观展思考。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选择细读的论文是《破损壁画的数字化复原研究——以敦煌壁画为例》，发表于2019年第1期《装饰》。作者以线描图辅助图像处理，并通过人机交互完成复原。实验对象是莫高窟第320窟的一幅菩萨像。论文让我注意到，复原过程中既有来自原壁的残存信息，也有后来引入的轮廓、颜色与纹理，还有操作者对区域和参考材料的选择。因此，我的判断是：讨论重新画出的面容是否仍属于原作，首先需要说明这张脸依据什么形成。后面的阅读将把这些依据逐步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出处：据付心仪等，2019，第21—27页；关于复原依据的讨论为个人阅读分析。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开头把实体修复面临的困难与数字复原联系起来。作者写道，实体修复可以在一定程度上延缓病害，却难以恢复已经破损的内容。这句话承担了提出研究问题的作用。顺着它可以区分两项任务：一项是让原壁的材料继续保存，另一项是让缺失的形象能够被理解。数字图像有条件对后一项进行试验，例如接续断裂的衣纹、整理人物轮廓。它也使我意识到，图像看起来完整与原物得到妥善保存，分别需要相应的工作；讨论保护时，应说明自己正在处理哪一个层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出处：引文及研究起点：付心仪等，2019，第21页；材料保存与形象恢复的区分为个人分析。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者随后评述已有的数字复原方法。这里最关键的一点，是严重的结构缺失会使计算机缺少可供接续的信息。若一张脸只剩下零散痕迹，邻近像素并不能充分确定眉眼与口鼻的组织方式。作者同时指出，完全手工绘制具有较大的自由度，可能影响风格的一致。因此，论文选择在线描参考与人工交互之间建立配合。额外信息解决了部分计算困难，却也带来一个需要继续讨论的问题：不同来源的材料，究竟为复原提供了什么？这使线描的来源成为后文的重要内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出处：据付心仪等，2019，第21—22页“现有的壁画数字化复原方法”；引文见第22页。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在分析敦煌壁画特点时，借助其所引用的临摹研究，提出“线、色、神”三个方面。线条组织人物的形态，色彩与特定的颜料及赋彩方式相关，人物的神貌则需要更细致的整体把握。作者据此强调人工参与，希望复原能够兼顾形与神。这个思路与面容问题直接相连：一条眉线的位置、眼睑的走势以及面部朝向，既是形态信息，也参与人物表情的形成。因此，即使缺失只发生在面部，复原所要理解的内容仍会延伸到人物的整体姿态与画面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出处：据付心仪等，2019，第22页“三、敦煌壁画特点剖析”（文中参引[10][11]）；面容分析为个人理解。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线描能够帮助补足结构，但线描本身也有不同的文献身份。作者在概述中列举了画师当年的线描手稿，以及后世艺术家的线描临摹。它们可以相互参照，证明力却来自各自与具体壁画的关系。图1展示的是敦煌线描资源，不能直接当作第320窟菩萨像的原始底稿。到了实验部分，作者说明，相应线描是邀请敦煌研究院美术所专家关晋文绘制的。这样的专业绘图提供了重要的结构依据，同时也体现了当代研究者对残迹的理解。面容复原因此需要保留材料身份：哪些线来自现存画面，哪些线经过整理或推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出处：图：付心仪等，2019，第22页图1；线描来源见第22页，关晋文绘图说明见第26页。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把准备的数据分为壁画、线描和样式三类。三类数据各自承担不同工作：壁画照片记录现存状态，线描提供结构参考，样式资料为颜色与纹理提供选择。这一区分说明，复原后的完整形象并不是原照片中信息的简单放大，而是不同来源的信息经过配合后形成的结果。对于面容来说，确定轮廓、选择肤色和处理表面纹理，可能需要不同材料。我们因而既要看最后的图像，也要理解这些材料怎样与待复原的部位相接。材料之间的关系，直接影响我们能够怎样描述这个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出处：图：付心仪等，2019，第23页图2；三类数据及准备过程见第23—24页。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与和谐并不是算法自行形成的目标。论文先将实体壁画修复专家定位为典型用户，再通过对保护所5位专家的访谈整理需求。表1明确提出，复原结果应当在视觉上具有完整性与和谐性。对专业工作而言，连贯的形象便于理解绘画结构，也可以帮助展示。因此，这个目标具有实际意义。同时，一旦把完整与和谐作为成果要求，操作者便会面临怎样处理斑驳、断裂和区域差异的选择。论文后面的整区重绘，正是在这样的目标下获得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出处：引文：付心仪等，2019，第23页表1；用户定位与访谈说明见同页。后段为个人分析。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准备材料和确定需求之后，论文把复原组织为三个主要步骤：图像分割、破损标注与内容填充。这个顺序很重要。先要辨认人物与背景等区域，随后确定哪些位置需要处理，最后才决定填入什么。填充依赖已有的区域划分，区域划分又依赖对绘画结构的理解。因此，最终的面容汇集了此前各步的判断。接下来分别看这三个环节，就能够说明人的选择具体发生在什么地方，以及这些选择怎样进入复原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出处：图：付心仪等，2019，第23页图3；各步骤说明见第23—26页。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6呈现的是自动分割与调整后的结果。图中的彩色区域用于区分不同部分，而不是壁画复原后的设色。算法按照图像信息划分区域，但绘画中的结构还需要人来理解。论文举例说，大臂与小臂等部位可能需要归入相关区域，背光与背景则需要区分。操作者通过合并和拆分，使分割更符合绘画内容。由此可见，复原在填色之前就已经包含解释：操作者先要认定这个部分是什么，以及它与周围形体是什么关系，后面的颜色与纹理才有被放置的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出处：图：付心仪等，2019，第24页图6；合并、拆分及具体例子见第25页“图像分割”。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到了破损标注，人工判断更加明确。论文的操作是先调整颜色范围，再点击用户认定为破损的区域。系统按照相应的RGB范围选取像素，用户可以保存、取消并继续迭代。这里的界面显示处理过程中的图像。它所呈现的选择，需要建立在操作者对原壁和病害的认识之上：相近颜色可能对应不同状态，同一病害也可能呈现不同颜色。因此，标注这一步决定了哪些痕迹将进入后面的填充。对面容的复原而言，五官边界与表面损伤的辨认，会直接影响处理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出处：图与操作说明：付心仪等，2019，第25页图7及“破损标注”。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填充需要先指定目标区域与参考区域。参考部分的颜色和纹理被用于补入缺损，用户还可以调整单步填充的尺寸，使纹理的细致程度与处理速度发生变化。这一步把前面的结构依据与表面信息接在一起。线描说明轮廓怎样组织，参考区域则影响轮廓内部呈现什么颜色与纹理。对于一张脸来说，画出眉眼与选择面部表面信息，是相互关联而又各有来源的工作。完整的面容由这些具体操作形成，因此能够追溯到所使用的材料与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出处：图：付心仪等，2019，第25页图8；目标、参考区域与填充说明见第25—26页。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允许用户选择只填充破损部分，或者重新填充整个目标区域。作者给出的条件是，如果破损占比较高，整区重绘能够提高视觉统一性。这一步发生在数字图像中。它说明复原追求的不只是补入空缺，也包括调整一个区域的整体呈现。更统一的颜色与纹理能够改善识读，使人物形象更为连贯；原来斑驳与完整部分之间的差异，也可能在结果图中减弱。由此，我认为应当把原状记录与复原版本并置理解，让观众既能看到连贯形象，也能够追溯它所依据的现存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出处：引文与操作条件：付心仪等，2019，第26页；对原状记录价值的讨论为个人分析。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到最终结果，图9中比较明显的变化发生在服饰与下半身。左图仍能看出人物的基本姿态，但裙裾的衣纹和部分边界较难接续。右图的飘带、裙褶及脚部轮廓变得连续，人物立姿也更容易辨认。这些变化解释了视觉完整性为何有价值：观众能够更顺畅地理解人物结构。与此同时，连贯的线条与纹样汇合了此前的多种信息。它们既来自残存形象，也经过专家线描、参考区域与填充范围的选择。图9因而可以与前面的操作对应起来阅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出处：图：付心仪等，2019，第26页图9；左为破损原图，右为几何复原结果。文字为图像观察。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图9的面容放大，可以看到一个决定案例适用范围的细节：左图并不是一张五官全失的脸。眼、鼻、口和面部朝向仍能辨认，右图是在这些残迹与专家线描的基础上加强轮廓。作者也明确说，这幅菩萨像虽然受到病害侵蚀，却又保存相对完好。因此，论文展示的是在一定残存信息下如何组织复原。我的“面容完全消失”问题，还需要向外推进一步：一旦原图中缺少能够确定五官的痕迹，参考材料与类推所承担的分量便会增加。两种情形对证据的要求并不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出处：图：付心仪等，2019，第26页图9面容局部；案例保存情况及关晋文绘图说明见同页。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复原后，作者邀请来自敦煌研究院相关部门的6位专家评判成果。论文列出原真性、完整性、可识别性与艺术性四个角度，并转述专家对敦煌风格、构图、色彩和纹理规律的认可。这些判断具有实际作用：熟悉壁画的专家能够识别结构与风格上的问题，使复原受到专业知识的约束。不过，风格上的吻合与某一细节的历史形态，仍有不同的材料要求。一张脸可以符合敦煌绘画特征，而其中眉眼的具体形态，还需要回到这幅壁画的残迹及相关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出处：据付心仪等，2019，第26页专家评价段；引文为作者对评价结果的转述。后段为个人分析。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还进行了用户实验。15位被试按照背景分成专家、工程师和设计师三组，每组5人。作者先进行介绍与演示，再让被试完成具体操作任务，最后从易学性、易用性与结果满意度给出5分制评分。表3的总体平均分分别是4.30、3.70和3.98。这些数据帮助我们理解软件是否容易学习、交互是否便利，以及使用者对任务结果是否满意。它们与专家评判一起，支持了论文关于方法可行与使用体验的讨论。至于新增面容与历史图像怎样对应，则仍由前面所讨论的图像和文献材料来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出处：数据：付心仪等，2019，第27页表3“总体评价”；被试构成、任务及5分制说明见第26页。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再把视线放回菩萨的整体姿态。垂下的眼睑、偏向一侧的面部与胸前的手势并置，使面容成为整体表达的一部分。课堂上关于目光、姿态与传神的讨论，帮助我理解这种联系。即使眉眼在局部看来画得清楚，仍需要看它怎样与头部朝向、身体动作相接。如果复原时改变目光方向或口角的走势，人物与其他形象、与观看者之间的关系，也可能随之改变。因此，面容补绘的判断需要同时落在局部形态和整体神貌上。这也是我从这篇技术论文中进一步提出的艺术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出处：图：付心仪等，2019，第26页图9右图局部；课堂参照：《艺术概论》2026-10-14课程笔记。文字为个人形式分析。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在用户反馈部分出现了一段很值得注意的话。设计师组认为，这套系统也可以用于壁画创作，因为用户可以自由选择喜爱的区域进行填充，形成不同作品。这个反馈使原作与新作的问题从论文内部显现出来：同一种操作，在不同目的下能够形成不同性质的结果。依据残迹和相关材料整理形象时，使用者着重解释原作；按照个人喜好重新组合颜色与纹理时，创作的作用便更加突出。因此，成果不能只用软件名称或完成度来命名，还要说明所依据的材料，以及选择这些材料的目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出处：引文：付心仪等，2019，第26页右栏末段，设计师组用户反馈；用途与成果身份的区分为个人分析。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读全文，“原真性”这个词也变得更具体。论文一方面提出保持壁画原状，另一方面又允许为了视觉统一而重绘整个目标区域。两处文字分别触及现存痕迹与完整形象的价值。我的理解是，数字工作的条件允许我们保留多个版本：原状照片作为独立记录保存，复原图像作为依据特定材料形成的解释另行呈现。两者还可以附上区域与来源信息，使观看者了解哪些轮廓来自残迹，哪些经过补绘。这种呈现同时保留了作品的可读性与进一步研究的可能，也使新材料出现后有条件修订已有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出处：据付心仪等，2019，第24页输出要求、第26页重绘说明；版本保存与呈现建议为个人阅读判断。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可以回到面容完全消失的情形。如果保存着同一图像的可靠旧照片或线描记录，复原便有较强的对应材料。如果主要依靠同窟、同时期的同类形象，结果就包含更多比较与类推，需要说明为什么选择这些对象，以及哪些细节仍不能确定。如果连这样的材料也十分有限，一张完整的脸就更多承担当代解释的作用。因此，我并不把“画不画”看成一个脱离材料的选择。我支持保留原状、说明依据并可被修订的数字复原。至于是否直接在原壁上补绘，本文的数字实验还需要与针对原物的研究相衔接，才能形成具体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出处：个人保护判断；材料起点：付心仪等，2019，第22页线描来源、第25—26页操作及案例说明。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于“补绘之后还是不是原来的艺术作品”，我的回答需要分开理解。作为历史物，作品经过修复仍可以延续其身份，而补入的面容包含后人的判断，不能直接等同于古代画师留下的部分。数字复原则形成了一个参照原作的新版本，它的价值在于帮助理解形态、结构与表达。承认其中存在解释，也使这个版本能够接受比较和修订。我的心得由此发生了一点变化：文化遗产保护既关心我们还能看见什么，也关心所看见的形象依据什么形成。当观众面对一张完整的脸时，有机会了解它怎样被画出，学习与保护才在具体作品中接到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出处：个人阅读心得；依据付心仪等，2019，第22、25—27页，并联系《艺术概论》2026-10-14课堂讨论。</a:t>
            </a:r>
          </a:p>
          <a:p xmlns:a="http://schemas.openxmlformats.org/drawingml/2006/main">
            <a:r>
              <a:t>付心仪、麻晓娟、孙志军：《破损壁画的数字化复原研究——以敦煌壁画为例》，《装饰》2019年第1期，第21—27页。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心得的主要材料，是付心仪、麻晓娟、孙志军发表于《装饰》2019年第1期的论文。论文图表与引文的具体页码已列在各页下方。《说法图》（摹）与《药师佛佛会图》临摹作品的照片，为我在中国工艺美术馆拍摄。目光、姿态与传神的课堂联系，依据2026年10月14日的《艺术概论》课程笔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出处：所注页码均为期刊印刷页码；第21—27页对应所读PDF第1—7页。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3cdd15ada94b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4b0c4eff1e42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255c79d79d46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64cdada9b84f8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d0f7b26b9248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7362d0b1764c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653DD6-3C06-4821-827B-2269A1AADB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3A9706-83CA-41B0-B1A9-B500D57156D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10CDA8C-1D93-4766-ADA2-79C0706C93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25AD8E-31B5-48B1-A5AC-245501CA23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653DA33-1AAE-4261-86A8-04D34B8804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C5AD7AB-55E2-40B1-99C1-7D4765844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88487F6-0678-4727-AF84-B65B40FA7E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84430A1-65EF-4D22-B1D0-C769A75494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623A9EE-45D8-4600-B938-B9804A2094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1A3F6E0-EF4B-482E-A9A0-B7E8F55987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ace3ad84d04b07" /><Relationship Type="http://schemas.openxmlformats.org/officeDocument/2006/relationships/slideLayout" Target="/ppt/slideLayouts/slideLayout1.xml" Id="Rb60c5dceb34944ec" /><Relationship Type="http://schemas.openxmlformats.org/officeDocument/2006/relationships/slideLayout" Target="/ppt/slideLayouts/slideLayout2.xml" Id="R9e8cf0afa10a458d" /><Relationship Type="http://schemas.openxmlformats.org/officeDocument/2006/relationships/slideLayout" Target="/ppt/slideLayouts/slideLayout3.xml" Id="R89a72c9362f94411" /><Relationship Type="http://schemas.openxmlformats.org/officeDocument/2006/relationships/slideLayout" Target="/ppt/slideLayouts/slideLayout4.xml" Id="R17ed098d3c154cf6" /><Relationship Type="http://schemas.openxmlformats.org/officeDocument/2006/relationships/slideLayout" Target="/ppt/slideLayouts/slideLayout5.xml" Id="R63142ed6fd44434f" /><Relationship Type="http://schemas.openxmlformats.org/officeDocument/2006/relationships/slideLayout" Target="/ppt/slideLayouts/slideLayout6.xml" Id="Rc48efcca37f046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0c5dceb34944ec"/>
    <p:sldLayoutId xmlns:r="http://schemas.openxmlformats.org/officeDocument/2006/relationships" id="2147483650" r:id="R9e8cf0afa10a458d"/>
    <p:sldLayoutId xmlns:r="http://schemas.openxmlformats.org/officeDocument/2006/relationships" id="2147483651" r:id="R89a72c9362f94411"/>
    <p:sldLayoutId xmlns:r="http://schemas.openxmlformats.org/officeDocument/2006/relationships" id="2147483652" r:id="R17ed098d3c154cf6"/>
    <p:sldLayoutId xmlns:r="http://schemas.openxmlformats.org/officeDocument/2006/relationships" id="2147483653" r:id="R63142ed6fd44434f"/>
    <p:sldLayoutId xmlns:r="http://schemas.openxmlformats.org/officeDocument/2006/relationships" id="2147483654" r:id="Rc48efcca37f046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无面的佛·面容与复原">
      <a:dk1>
        <a:srgbClr val="26231F"/>
      </a:dk1>
      <a:lt1>
        <a:srgbClr val="FFFFFF"/>
      </a:lt1>
      <a:dk2>
        <a:srgbClr val="756C60"/>
      </a:dk2>
      <a:lt2>
        <a:srgbClr val="F3EEE5"/>
      </a:lt2>
      <a:accent1>
        <a:srgbClr val="82483C"/>
      </a:accent1>
      <a:accent2>
        <a:srgbClr val="756C60"/>
      </a:accent2>
      <a:accent3>
        <a:srgbClr val="B19A75"/>
      </a:accent3>
      <a:accent4>
        <a:srgbClr val="575E4C"/>
      </a:accent4>
      <a:accent5>
        <a:srgbClr val="725E5C"/>
      </a:accent5>
      <a:accent6>
        <a:srgbClr val="A8785B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无面的佛·面容与复原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53c73ab47144bc" /><Relationship Type="http://schemas.openxmlformats.org/officeDocument/2006/relationships/image" Target="/ppt/media/image.jpeg" Id="Ra6205ef494ce41d7" /><Relationship Type="http://schemas.openxmlformats.org/officeDocument/2006/relationships/notesSlide" Target="/ppt/notesSlides/notesSlide1.xml" Id="R94d0cedb3a7f46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8aa9ff8bf347d5" /><Relationship Type="http://schemas.openxmlformats.org/officeDocument/2006/relationships/image" Target="/ppt/media/image2.jpeg" Id="R9c60e8f705044ec0" /><Relationship Type="http://schemas.openxmlformats.org/officeDocument/2006/relationships/notesSlide" Target="/ppt/notesSlides/notesSlide2.xml" Id="R5962adc7d20b41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750fee31d84599" /><Relationship Type="http://schemas.openxmlformats.org/officeDocument/2006/relationships/notesSlide" Target="/ppt/notesSlides/notesSlide3.xml" Id="R4d86c1e9b3df4b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abb01673f44326" /><Relationship Type="http://schemas.openxmlformats.org/officeDocument/2006/relationships/notesSlide" Target="/ppt/notesSlides/notesSlide4.xml" Id="R4e240f2acc2c47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b5451da2054df0" /><Relationship Type="http://schemas.openxmlformats.org/officeDocument/2006/relationships/notesSlide" Target="/ppt/notesSlides/notesSlide5.xml" Id="R83e614544a564e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524ecd870a45d4" /><Relationship Type="http://schemas.openxmlformats.org/officeDocument/2006/relationships/notesSlide" Target="/ppt/notesSlides/notesSlide6.xml" Id="R318ced550ac84b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1491f12504357" /><Relationship Type="http://schemas.openxmlformats.org/officeDocument/2006/relationships/image" Target="/ppt/media/image3.jpeg" Id="R3ef0bb2f946d4d88" /><Relationship Type="http://schemas.openxmlformats.org/officeDocument/2006/relationships/notesSlide" Target="/ppt/notesSlides/notesSlide7.xml" Id="Rf254f0580eaa45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7031472eff4e5a" /><Relationship Type="http://schemas.openxmlformats.org/officeDocument/2006/relationships/image" Target="/ppt/media/image4.jpeg" Id="Rdd43467a9c43450f" /><Relationship Type="http://schemas.openxmlformats.org/officeDocument/2006/relationships/notesSlide" Target="/ppt/notesSlides/notesSlide8.xml" Id="R7b87e6b4434f48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49e83550cb47ce" /><Relationship Type="http://schemas.openxmlformats.org/officeDocument/2006/relationships/notesSlide" Target="/ppt/notesSlides/notesSlide9.xml" Id="Rd13e262477bd44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fc152ade5a4e66" /><Relationship Type="http://schemas.openxmlformats.org/officeDocument/2006/relationships/image" Target="/ppt/media/image5.jpeg" Id="Rf209a3f379b749a2" /><Relationship Type="http://schemas.openxmlformats.org/officeDocument/2006/relationships/notesSlide" Target="/ppt/notesSlides/notesSlide10.xml" Id="R7e17eb5b4f68449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1ca394e6c4494" /><Relationship Type="http://schemas.openxmlformats.org/officeDocument/2006/relationships/image" Target="/ppt/media/image6.jpeg" Id="R92ea8249ac464440" /><Relationship Type="http://schemas.openxmlformats.org/officeDocument/2006/relationships/notesSlide" Target="/ppt/notesSlides/notesSlide11.xml" Id="R7e597bdadc0b4b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5807cf875a41a0" /><Relationship Type="http://schemas.openxmlformats.org/officeDocument/2006/relationships/image" Target="/ppt/media/image7.jpeg" Id="Rdd46cee87716414f" /><Relationship Type="http://schemas.openxmlformats.org/officeDocument/2006/relationships/notesSlide" Target="/ppt/notesSlides/notesSlide12.xml" Id="R54603b2c61944c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ae104827d54c7e" /><Relationship Type="http://schemas.openxmlformats.org/officeDocument/2006/relationships/image" Target="/ppt/media/image8.jpeg" Id="R8748b99970fd4ffa" /><Relationship Type="http://schemas.openxmlformats.org/officeDocument/2006/relationships/notesSlide" Target="/ppt/notesSlides/notesSlide13.xml" Id="R75fdb33e9c0444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2b5c45e7724f65" /><Relationship Type="http://schemas.openxmlformats.org/officeDocument/2006/relationships/notesSlide" Target="/ppt/notesSlides/notesSlide14.xml" Id="R1f43c68b7c054c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db1be79754df4" /><Relationship Type="http://schemas.openxmlformats.org/officeDocument/2006/relationships/image" Target="/ppt/media/image9.jpeg" Id="R39ccda75936147a9" /><Relationship Type="http://schemas.openxmlformats.org/officeDocument/2006/relationships/notesSlide" Target="/ppt/notesSlides/notesSlide15.xml" Id="Re9fd7258c229425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2368c84ef74991" /><Relationship Type="http://schemas.openxmlformats.org/officeDocument/2006/relationships/image" Target="/ppt/media/image10.jpeg" Id="R5537551098294d9d" /><Relationship Type="http://schemas.openxmlformats.org/officeDocument/2006/relationships/notesSlide" Target="/ppt/notesSlides/notesSlide16.xml" Id="R6350bc6b843046d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56f4a715e4498" /><Relationship Type="http://schemas.openxmlformats.org/officeDocument/2006/relationships/notesSlide" Target="/ppt/notesSlides/notesSlide17.xml" Id="Rd0e4f0ba3de644d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b716700e724f8f" /><Relationship Type="http://schemas.openxmlformats.org/officeDocument/2006/relationships/notesSlide" Target="/ppt/notesSlides/notesSlide18.xml" Id="R17e848bca99a471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5513cc656e4bf0" /><Relationship Type="http://schemas.openxmlformats.org/officeDocument/2006/relationships/image" Target="/ppt/media/image11.jpeg" Id="R8ad76f4d64d34302" /><Relationship Type="http://schemas.openxmlformats.org/officeDocument/2006/relationships/notesSlide" Target="/ppt/notesSlides/notesSlide19.xml" Id="R6d9df931d68f401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85d947a2724724" /><Relationship Type="http://schemas.openxmlformats.org/officeDocument/2006/relationships/notesSlide" Target="/ppt/notesSlides/notesSlide20.xml" Id="R2518162dbd074d9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724be33774587" /><Relationship Type="http://schemas.openxmlformats.org/officeDocument/2006/relationships/notesSlide" Target="/ppt/notesSlides/notesSlide21.xml" Id="R5c52d96edbcf4ca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760e81af34206" /><Relationship Type="http://schemas.openxmlformats.org/officeDocument/2006/relationships/notesSlide" Target="/ppt/notesSlides/notesSlide22.xml" Id="R3ebc1beabdf949a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849ebedec64556" /><Relationship Type="http://schemas.openxmlformats.org/officeDocument/2006/relationships/notesSlide" Target="/ppt/notesSlides/notesSlide23.xml" Id="R3c6003f3e4fd478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7f181c6f3b4989" /><Relationship Type="http://schemas.openxmlformats.org/officeDocument/2006/relationships/notesSlide" Target="/ppt/notesSlides/notesSlide24.xml" Id="Ra1f21dc1cdd549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50C8D2EC-4846-4D96-8EA1-FAFE756D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《药师佛佛会图》临摹作品，展厅现场。某同学摄于中国工艺美术馆。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CB0B18-C422-4CA0-A430-6E9528AA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course">
            <a:extLst xmlns:a="http://schemas.openxmlformats.org/drawingml/2006/main">
              <a:ext uri="{FF2B5EF4-FFF2-40B4-BE49-F238E27FC236}">
                <a16:creationId xmlns:a16="http://schemas.microsoft.com/office/drawing/2014/main" id="{D7CD4C80-6E1A-471A-AF07-C1CC892CB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82483C"/>
                </a:solidFill>
                <a:latin typeface="PingFang SC"/>
                <a:ea typeface="PingFang SC"/>
                <a:cs typeface="PingFang SC"/>
              </a:rPr>
              <a:t>艺术概论心得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C2A66FA-3E2E-4713-93A0-63470EEA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43624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615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无面的</a:t>
            </a:r>
            <a:r>
              <a:rPr sz="6150" b="0">
                <a:solidFill>
                  <a:srgbClr val="82483C"/>
                </a:solidFill>
                <a:latin typeface="Songti SC"/>
                <a:ea typeface="Songti SC"/>
                <a:cs typeface="Songti SC"/>
              </a:rPr>
              <a:t>佛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A2F6D25-15F8-4DFE-A84B-5911B0B3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43275"/>
            <a:ext cx="42195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消失的面容应当重绘吗？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重绘之后，还是原作吗？</a:t>
            </a:r>
          </a:p>
        </p:txBody>
      </p:sp>
      <p:sp>
        <p:nvSpPr>
          <p:cNvPr id="7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21FBF66A-85F4-4EA8-8A13-8B8C121B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72075"/>
            <a:ext cx="333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某同学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文化产业管理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17600-C482-4285-82E5-AB3D55E77F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05ef494ce41d7"/>
          <a:stretch xmlns:a="http://schemas.openxmlformats.org/drawingml/2006/main"/>
        </p:blipFill>
        <p:spPr>
          <a:xfrm xmlns:a="http://schemas.openxmlformats.org/drawingml/2006/main">
            <a:off x="5067300" y="996331"/>
            <a:ext cx="6591300" cy="494153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129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E4CA73-6A10-46FE-A578-C82C7905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临摹作品中，面容仍然难辨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AD367A8-B91C-4175-85C2-876A0618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《说法图》（摹），名称据现场展签。某同学摄于中国工艺美术馆；文字为个人观展思考。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C6AF530-D1E7-4CF5-B347-661A161D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E0D10-7AC0-493F-B988-39DDFD9AC8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0e8f705044ec0"/>
          <a:stretch xmlns:a="http://schemas.openxmlformats.org/drawingml/2006/main"/>
        </p:blipFill>
        <p:spPr>
          <a:xfrm xmlns:a="http://schemas.openxmlformats.org/drawingml/2006/main">
            <a:off x="533400" y="1325099"/>
            <a:ext cx="3562350" cy="4750728"/>
          </a:xfrm>
          <a:prstGeom xmlns:a="http://schemas.openxmlformats.org/drawingml/2006/main" prst="rect">
            <a:avLst/>
          </a:prstGeom>
        </p:spPr>
      </p:pic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6DCE5295-D828-4FF9-A8A7-AADF196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57375"/>
            <a:ext cx="68484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《说法图》（摹）已被重新绘制，画面中的主尊面容仍较难辨认。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8C20A99-FBC2-426B-8CDF-30EFD1C0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152775"/>
            <a:ext cx="6848475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这个细节把我的保护问题集中到面容上：重新画出五官，需要依据怎样的材料；清晰的面容又会怎样影响我们对原作的理解？</a:t>
            </a:r>
          </a:p>
        </p:txBody>
      </p:sp>
    </p:spTree>
    <p:extLst>
      <p:ext uri="{BB962C8B-B14F-4D97-AF65-F5344CB8AC3E}">
        <p14:creationId xmlns:p14="http://schemas.microsoft.com/office/powerpoint/2010/main" val="2142370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541AEA-4CCB-43DE-B529-504182AA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补回一张脸，需要先说明它的依据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16042DF8-04B0-4395-87DE-A7201503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据付心仪等，2019，第21—27页；关于复原依据的讨论为个人阅读分析。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D8E3A8-14C1-48C3-B569-CC3034C3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5" name="paper-title">
            <a:extLst xmlns:a="http://schemas.openxmlformats.org/drawingml/2006/main">
              <a:ext uri="{FF2B5EF4-FFF2-40B4-BE49-F238E27FC236}">
                <a16:creationId xmlns:a16="http://schemas.microsoft.com/office/drawing/2014/main" id="{4EA4F5C4-39B0-4FD5-A007-C7347E02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09700"/>
            <a:ext cx="1085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0000"/>
              </a:lnSpc>
              <a:buNone/>
              <a:def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4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《破损壁画的数字化复原研究——以敦煌壁画为例》</a:t>
            </a:r>
          </a:p>
        </p:txBody>
      </p:sp>
      <p:sp>
        <p:nvSpPr>
          <p:cNvPr id="6" name="paper-byline">
            <a:extLst xmlns:a="http://schemas.openxmlformats.org/drawingml/2006/main">
              <a:ext uri="{FF2B5EF4-FFF2-40B4-BE49-F238E27FC236}">
                <a16:creationId xmlns:a16="http://schemas.microsoft.com/office/drawing/2014/main" id="{002C7212-ABD5-41D2-AEFD-D00257093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0839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0000"/>
              </a:lnSpc>
              <a:buNone/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付心仪、麻晓娟、孙志军</a:t>
            </a:r>
          </a:p>
          <a:p xmlns:a="http://schemas.openxmlformats.org/drawingml/2006/main">
            <a:pPr algn="l">
              <a:lnSpc>
                <a:spcPct val="140000"/>
              </a:lnSpc>
              <a:buNone/>
              <a:def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《装饰》2019年第1期，第21—27页</a:t>
            </a:r>
          </a:p>
        </p:txBody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1CDEBCAC-8C14-44B2-8250-B491CDE1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论文以线描辅助的交互式方法，复原敦煌莫高窟第320窟的菩萨像。它把轮廓、破损区域和填充内容，交由算法与操作者共同处理。</a:t>
            </a:r>
          </a:p>
        </p:txBody>
      </p:sp>
      <p:sp>
        <p:nvSpPr>
          <p:cNvPr id="8" name="body-2">
            <a:extLst xmlns:a="http://schemas.openxmlformats.org/drawingml/2006/main">
              <a:ext uri="{FF2B5EF4-FFF2-40B4-BE49-F238E27FC236}">
                <a16:creationId xmlns:a16="http://schemas.microsoft.com/office/drawing/2014/main" id="{43E941F2-7662-4F18-AAF3-D47AF29D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48175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完整的面容形成于残存图像、参考材料与当下判断之间。补绘是否接近原作，要回到这些依据之间的关系来讨论。</a:t>
            </a:r>
          </a:p>
        </p:txBody>
      </p:sp>
    </p:spTree>
    <p:extLst>
      <p:ext uri="{BB962C8B-B14F-4D97-AF65-F5344CB8AC3E}">
        <p14:creationId xmlns:p14="http://schemas.microsoft.com/office/powerpoint/2010/main" val="5453902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CE3A72-F2F2-43EC-8396-B8A9F9AE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数字复原回应的是形象信息的缺失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6F24CC9-3EA4-4C2B-A294-2F2A1A34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引文及研究起点：付心仪等，2019，第21页；材料保存与形象恢复的区分为个人分析。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E6F5B31-9B3F-4789-B542-211E1E82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C9909F53-7D9B-4A65-A0BD-62049EC8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14475"/>
            <a:ext cx="1085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“实体修复只能在一定程度上延缓病害对壁画的破坏，并不能修复已经破损的壁画内容。”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2EFE2900-FB8F-4FE9-AD0D-30D0ADA0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作者在引言中以实体保护的困难引出数字复原。“延缓破坏”关乎原壁材料的存续，“复原内容”则关乎形象能否重新被辨认。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88F44A5-8FBE-4073-92C3-07E4A63C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数字图像可以让断裂的轮廓与纹样重新连贯；原壁上的颜料、地仗及病害，仍有各自的保存问题。</a:t>
            </a:r>
          </a:p>
        </p:txBody>
      </p:sp>
    </p:spTree>
    <p:extLst>
      <p:ext uri="{BB962C8B-B14F-4D97-AF65-F5344CB8AC3E}">
        <p14:creationId xmlns:p14="http://schemas.microsoft.com/office/powerpoint/2010/main" val="709972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145F00-07FA-4B40-B07D-BC73F31B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严重缺损使复原需要引入额外材料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313B47F5-2768-4397-B1AE-C678956F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据付心仪等，2019，第21—22页“现有的壁画数字化复原方法”；引文见第22页。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A5865F-97B6-4BBD-8C06-96458220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2B26C619-8B09-4C61-B86D-F6E02A91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14475"/>
            <a:ext cx="1085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“还需要额外的信息输入来辅助计算。”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074FC359-F237-468E-A6C6-8A8BA16C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在作者对既有方法的评述中，自动处理难以凭残存像素补足严重缺失的结构；完全手工绘制又容易使个人选择影响风格的一致。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3CD61205-9239-4586-BD15-97769AA3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线描辅助的交互式复原由此提出：用参考材料补充结构信息，再由操作者调整区域与填充。复原的依据，也随这些材料一同进入结果。</a:t>
            </a:r>
          </a:p>
        </p:txBody>
      </p:sp>
    </p:spTree>
    <p:extLst>
      <p:ext uri="{BB962C8B-B14F-4D97-AF65-F5344CB8AC3E}">
        <p14:creationId xmlns:p14="http://schemas.microsoft.com/office/powerpoint/2010/main" val="10046518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1963280-0013-4FE7-9ABD-F2B2AEC0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面容的复原涉及“线、色、神”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C6CAEDA6-F8D4-49C7-B623-A973D43A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据付心仪等，2019，第22页“三、敦煌壁画特点剖析”（文中参引[10][11]）；面容分析为个人理解。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DF2749-E487-4DEC-97C6-B449F2EC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349842CD-D7D5-4E00-BBCA-445F1DDC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14475"/>
            <a:ext cx="1085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“敦煌壁画的绘画构成可以分为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‘线、色、神’三个部分。”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CB3E1808-0799-4BE4-8EEE-2665226F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论文借助所引临摹研究，将线条理解为形态结构，将色彩联系到颜料与赋彩方式，并以人物神貌说明人工参与的必要。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AECC9C73-95DD-4022-9728-26EC7CEF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面容的轮廓与设色建立形体，眼神、口角及朝向参与人物神貌。补足五官，同时涉及对这些关系的理解。</a:t>
            </a:r>
          </a:p>
        </p:txBody>
      </p:sp>
    </p:spTree>
    <p:extLst>
      <p:ext uri="{BB962C8B-B14F-4D97-AF65-F5344CB8AC3E}">
        <p14:creationId xmlns:p14="http://schemas.microsoft.com/office/powerpoint/2010/main" val="16368534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05648BD-2EAE-4810-81AF-DA8844EE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线描的来源影响复原的证明力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718C5AC8-6428-42F9-836A-CD0C3B66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图：付心仪等，2019，第22页图1；线描来源见第22页，关晋文绘图说明见第26页。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DFAB8C-E22B-42DD-BDC9-E1DA16CB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6B409-ECF8-420C-92DB-3E8CCB76E37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0bb2f946d4d88"/>
          <a:stretch xmlns:a="http://schemas.openxmlformats.org/drawingml/2006/main"/>
        </p:blipFill>
        <p:spPr>
          <a:xfrm xmlns:a="http://schemas.openxmlformats.org/drawingml/2006/main">
            <a:off x="861619" y="1381125"/>
            <a:ext cx="3286913" cy="4676775"/>
          </a:xfrm>
          <a:prstGeom xmlns:a="http://schemas.openxmlformats.org/drawingml/2006/main" prst="rect">
            <a:avLst/>
          </a:prstGeom>
        </p:spPr>
      </p:pic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BEB3302F-8E98-4047-9B3B-426691B0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676400"/>
            <a:ext cx="65151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作者列举的线描来源，包括画师当年的手稿与后来的线描临摹。两者都能提供轮廓参照，却具有不同的时间、作者与用途。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96529837-0019-4540-8DCF-8BCC9C95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95650"/>
            <a:ext cx="65151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图1所示线描与第320窟实验是不同材料。具体实验的相应线描由当代专家关晋文绘制，包含对残存形象的辨认与整理。</a:t>
            </a:r>
          </a:p>
        </p:txBody>
      </p:sp>
    </p:spTree>
    <p:extLst>
      <p:ext uri="{BB962C8B-B14F-4D97-AF65-F5344CB8AC3E}">
        <p14:creationId xmlns:p14="http://schemas.microsoft.com/office/powerpoint/2010/main" val="19587479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FEBF50-1107-4831-B4E5-053A789E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三类数据为复原提供不同的信息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91679386-2EF7-4FEB-8E7A-0DDF0F7D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图：付心仪等，2019，第23页图2；三类数据及准备过程见第23—24页。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E4EB7E-5D25-4B9B-9353-480F4B4C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3BCDA-99A7-48AE-B5F3-07385C19C7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3467a9c43450f"/>
          <a:srcRect xmlns:a="http://schemas.openxmlformats.org/drawingml/2006/main" l="0" t="0" r="54000" b="0"/>
          <a:stretch xmlns:a="http://schemas.openxmlformats.org/drawingml/2006/main"/>
        </p:blipFill>
        <p:spPr>
          <a:xfrm xmlns:a="http://schemas.openxmlformats.org/drawingml/2006/main">
            <a:off x="533400" y="2224862"/>
            <a:ext cx="5857875" cy="2579726"/>
          </a:xfrm>
          <a:prstGeom xmlns:a="http://schemas.openxmlformats.org/drawingml/2006/main" prst="rect">
            <a:avLst/>
          </a:prstGeom>
        </p:spPr>
      </p:pic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341998F6-B092-45F0-9B4D-05FB857F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09725"/>
            <a:ext cx="4648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壁画数据保存采集到的现存图像，是观察残迹的起点。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D295DEAB-80F9-4983-B247-C7012E7A1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52725"/>
            <a:ext cx="4648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线描数据提供轮廓与构图参照，样式数据则供颜色、纹理的选择使用。</a:t>
            </a:r>
          </a:p>
        </p:txBody>
      </p:sp>
      <p:sp>
        <p:nvSpPr>
          <p:cNvPr id="8" name="body-3">
            <a:extLst xmlns:a="http://schemas.openxmlformats.org/drawingml/2006/main">
              <a:ext uri="{FF2B5EF4-FFF2-40B4-BE49-F238E27FC236}">
                <a16:creationId xmlns:a16="http://schemas.microsoft.com/office/drawing/2014/main" id="{B70E1125-92BD-4BDC-A0DE-32C5DAFF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95725"/>
            <a:ext cx="46482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图像的完整依靠这些材料的配合；每种材料与原壁的关系，也需要随复原结果一同说明。</a:t>
            </a:r>
          </a:p>
        </p:txBody>
      </p:sp>
    </p:spTree>
    <p:extLst>
      <p:ext uri="{BB962C8B-B14F-4D97-AF65-F5344CB8AC3E}">
        <p14:creationId xmlns:p14="http://schemas.microsoft.com/office/powerpoint/2010/main" val="10928275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A2CEB-C080-4F36-8E4A-6FCCA8C6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完整与和谐先作为使用需求进入系统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337F4D32-8078-4B80-A5B6-0059E33A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引文：付心仪等，2019，第23页表1；用户定位与访谈说明见同页。后段为个人分析。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08F5F0-330B-441F-98C7-1965EC34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48D58D0D-8F39-4E61-805C-93AA556F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14475"/>
            <a:ext cx="1085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“复原结果具有视觉上的完整性、和谐性”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DC74D27B-4D58-478A-9C42-B92D0DAD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作者将实体壁画修复专家确定为典型用户，并访谈敦煌研究院保护所5位专家。表1把完整、和谐列为结果需求。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5E61DF39-92F3-4DD8-947A-6E89D17E2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这一目标使后续操作朝向更连贯的形象。完整性的追求具有研究与展示价值，也会影响残存痕迹在结果图中的呈现方式。</a:t>
            </a:r>
          </a:p>
        </p:txBody>
      </p:sp>
    </p:spTree>
    <p:extLst>
      <p:ext uri="{BB962C8B-B14F-4D97-AF65-F5344CB8AC3E}">
        <p14:creationId xmlns:p14="http://schemas.microsoft.com/office/powerpoint/2010/main" val="124450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7EFDA1-7E5D-4D4B-A979-A9606D39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复原过程依次处理结构、破损与填充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5D1F8638-0DAF-43EB-8FF5-F57CA549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图：付心仪等，2019，第23页图3；各步骤说明见第23—26页。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37A418-B17B-4EC6-A4D1-880C1CF2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821420-311B-41A9-9049-6AC5305BC3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09a3f379b749a2"/>
          <a:srcRect xmlns:a="http://schemas.openxmlformats.org/drawingml/2006/main" l="45500" t="0" r="0" b="0"/>
          <a:stretch xmlns:a="http://schemas.openxmlformats.org/drawingml/2006/main"/>
        </p:blipFill>
        <p:spPr>
          <a:xfrm xmlns:a="http://schemas.openxmlformats.org/drawingml/2006/main">
            <a:off x="1589560" y="1381125"/>
            <a:ext cx="8917630" cy="3314700"/>
          </a:xfrm>
          <a:prstGeom xmlns:a="http://schemas.openxmlformats.org/drawingml/2006/main" prst="rect">
            <a:avLst/>
          </a:prstGeom>
        </p:spPr>
      </p:pic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419B10FA-D1F3-4DEB-A833-DD33A671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387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图像分割组织结构，破损标注确定位置，内容填充引入参考信息。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380BB75-EC65-48BC-8D78-76DAD322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769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后一步沿用前一步的结果，操作者的判断因此贯穿过程，并共同进入最终图像。</a:t>
            </a:r>
          </a:p>
        </p:txBody>
      </p:sp>
    </p:spTree>
    <p:extLst>
      <p:ext uri="{BB962C8B-B14F-4D97-AF65-F5344CB8AC3E}">
        <p14:creationId xmlns:p14="http://schemas.microsoft.com/office/powerpoint/2010/main" val="1609207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955F72-27D0-4714-AC22-3EC7B286E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区域划分体现了对人物结构的理解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B6F16A5E-E2FE-463A-9164-ADE9CBE0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图：付心仪等，2019，第24页图6；合并、拆分及具体例子见第25页“图像分割”。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2F2756-A01E-44F1-952E-703E5F4A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151AF-5370-4D6D-A7D8-C30AC07F34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a8249ac464440"/>
          <a:srcRect xmlns:a="http://schemas.openxmlformats.org/drawingml/2006/main" l="49000" t="0" r="0" b="0"/>
          <a:stretch xmlns:a="http://schemas.openxmlformats.org/drawingml/2006/main"/>
        </p:blipFill>
        <p:spPr>
          <a:xfrm xmlns:a="http://schemas.openxmlformats.org/drawingml/2006/main">
            <a:off x="862559" y="1333500"/>
            <a:ext cx="4027982" cy="4686300"/>
          </a:xfrm>
          <a:prstGeom xmlns:a="http://schemas.openxmlformats.org/drawingml/2006/main" prst="rect">
            <a:avLst/>
          </a:prstGeom>
        </p:spPr>
      </p:pic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85284B37-B8E2-4FB3-8F50-CEBCEA46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628775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自动分割得到的颜色区域，未必对应绘画中的形体。论文允许合并大臂与小臂等相关区域，并将背光与背景分开。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D274B71-1F76-4E73-ACDF-81AC773A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190875"/>
            <a:ext cx="581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图中的色块是分割标记。区域的重新组织，使后续填充以人物部位及其关系为依据；对画面结构的理解已经进入计算过程。</a:t>
            </a:r>
          </a:p>
        </p:txBody>
      </p:sp>
    </p:spTree>
    <p:extLst>
      <p:ext uri="{BB962C8B-B14F-4D97-AF65-F5344CB8AC3E}">
        <p14:creationId xmlns:p14="http://schemas.microsoft.com/office/powerpoint/2010/main" val="13134579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04FB83-907A-4A95-BBF9-CDC918FE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破损标注以操作者的辨识为前提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908C37B2-DADF-4E61-A22E-3B34B068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图与操作说明：付心仪等，2019，第25页图7及“破损标注”。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690AA3-6047-4D3C-9131-81E9670A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5C46E0-9E26-4536-8B4D-D6570E76FF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6cee87716414f"/>
          <a:srcRect xmlns:a="http://schemas.openxmlformats.org/drawingml/2006/main" l="0" t="0" r="0" b="51000"/>
          <a:stretch xmlns:a="http://schemas.openxmlformats.org/drawingml/2006/main"/>
        </p:blipFill>
        <p:spPr>
          <a:xfrm xmlns:a="http://schemas.openxmlformats.org/drawingml/2006/main">
            <a:off x="789879" y="1590675"/>
            <a:ext cx="6573642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76E8E62F-D1F2-4EE2-A625-DEBCD506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581150"/>
            <a:ext cx="35052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用户选择RGB颜色范围，点击判定为破损的区域，再保存、取消或继续调整。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9D061642-CFB9-41E6-B192-0E1D2BD1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48000"/>
            <a:ext cx="3505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系统据此选取像素，操作者则决定哪些痕迹需要处理。对原壁状态的认识，先于复原图像的生成。</a:t>
            </a:r>
          </a:p>
        </p:txBody>
      </p:sp>
    </p:spTree>
    <p:extLst>
      <p:ext uri="{BB962C8B-B14F-4D97-AF65-F5344CB8AC3E}">
        <p14:creationId xmlns:p14="http://schemas.microsoft.com/office/powerpoint/2010/main" val="18133570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96F98DC-C650-40D2-8833-C69BBBE4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参考区域的选择影响缺损的补入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23B76F4B-EBE5-4044-B9A4-EFAC8D4F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图：付心仪等，2019，第25页图8；目标、参考区域与填充说明见第25—26页。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26EBC3-4D79-4BA5-964D-9164C762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2CE5AB-C165-4097-AA66-74A1ABFD50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8b99970fd4ffa"/>
          <a:srcRect xmlns:a="http://schemas.openxmlformats.org/drawingml/2006/main" l="0" t="50500" r="0" b="0"/>
          <a:stretch xmlns:a="http://schemas.openxmlformats.org/drawingml/2006/main"/>
        </p:blipFill>
        <p:spPr>
          <a:xfrm xmlns:a="http://schemas.openxmlformats.org/drawingml/2006/main">
            <a:off x="823079" y="1590675"/>
            <a:ext cx="6507242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92720FDB-8A97-475C-8035-76B0823B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581150"/>
            <a:ext cx="3505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用户分别指定待填充的目标区域与参考区域。系统取用参考部分的颜色和纹理，填入目标位置。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DA3652B8-41B2-4C5B-B139-92102D6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409950"/>
            <a:ext cx="3505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线描提供的轮廓与参考区域提供的表面信息，在这里结合。重新出现的面容，也由具体的材料选择逐步形成。</a:t>
            </a:r>
          </a:p>
        </p:txBody>
      </p:sp>
    </p:spTree>
    <p:extLst>
      <p:ext uri="{BB962C8B-B14F-4D97-AF65-F5344CB8AC3E}">
        <p14:creationId xmlns:p14="http://schemas.microsoft.com/office/powerpoint/2010/main" val="8354353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F21AC58-2351-4777-BD83-9741EAE31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整区重绘以更统一的视觉效果为目标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56C799B6-2ACB-41F7-9EA5-65AEBC2F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引文与操作条件：付心仪等，2019，第26页；对原状记录价值的讨论为个人分析。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C32C3D-4E06-4815-93C8-B8688EEB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9F2DEBDA-77E9-4F02-AA8C-BCC7E905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14475"/>
            <a:ext cx="1085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“若占比较高，则重绘整个区域能够</a:t>
            </a:r>
          </a:p>
          <a:p xmlns:a="http://schemas.openxmlformats.org/drawingml/2006/main">
            <a:pPr algn="l">
              <a:lnSpc>
                <a:spcPct val="136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使得复原的结果更有视觉上的统一性。”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8ED3D0E2-6FDD-4F71-B3ED-986CBAB9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当目标区域中的破损占比较高，论文允许在数字图像中重绘整个区域。处理范围因此扩展到目标区域的整体。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8E1A0D4E-46AC-46A0-AE41-A08330DC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连续的颜色和纹理使图像更易识读，也改变了原有斑驳在结果图中的可见方式。复原版本越完整，原状记录的独立保存越有意义。</a:t>
            </a:r>
          </a:p>
        </p:txBody>
      </p:sp>
    </p:spTree>
    <p:extLst>
      <p:ext uri="{BB962C8B-B14F-4D97-AF65-F5344CB8AC3E}">
        <p14:creationId xmlns:p14="http://schemas.microsoft.com/office/powerpoint/2010/main" val="16615502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734DEF-A5AC-4E29-B552-041D2734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图9使服饰与身体轮廓重新连贯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F3B62B6A-2611-4CD4-B532-A8422CE1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图：付心仪等，2019，第26页图9；左为破损原图，右为几何复原结果。文字为图像观察。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5A96E8-C2C6-4844-8AC2-B317DD1E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EDB537-7EFE-40EC-93FB-51EF53A847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ccda75936147a9"/>
          <a:stretch xmlns:a="http://schemas.openxmlformats.org/drawingml/2006/main"/>
        </p:blipFill>
        <p:spPr>
          <a:xfrm xmlns:a="http://schemas.openxmlformats.org/drawingml/2006/main">
            <a:off x="667435" y="1295400"/>
            <a:ext cx="3694329" cy="4819650"/>
          </a:xfrm>
          <a:prstGeom xmlns:a="http://schemas.openxmlformats.org/drawingml/2006/main" prst="rect">
            <a:avLst/>
          </a:prstGeom>
        </p:spPr>
      </p:pic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4135904B-4706-4FE1-8E00-986E062F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714500"/>
            <a:ext cx="64389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左图下半身衣纹断续，部分边界难以顺接；右图重新连接裙裾、飘带与脚部，使人物立姿更清楚。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D933D8C5-5C9F-4A8B-BC36-68CE0D89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971800"/>
            <a:ext cx="6438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这种连贯性汇合了线描的结构、参考区域的颜色与纹理，以及操作者对处理范围的选择。完整形象因此呈现了整个复原过程的判断。</a:t>
            </a:r>
          </a:p>
        </p:txBody>
      </p:sp>
    </p:spTree>
    <p:extLst>
      <p:ext uri="{BB962C8B-B14F-4D97-AF65-F5344CB8AC3E}">
        <p14:creationId xmlns:p14="http://schemas.microsoft.com/office/powerpoint/2010/main" val="468187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E7B05A-7DF9-4094-854F-BBB09D76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案例中的菩萨面容仍保有可辨的残迹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BF20B84E-3A2A-4508-B0AE-0E342D03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图：付心仪等，2019，第26页图9面容局部；案例保存情况及关晋文绘图说明见同页。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0EDA03-475B-4ADA-B9F4-BB84D8C7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0960CC-DB8F-4726-B529-C347E0546C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7551098294d9d"/>
          <a:srcRect xmlns:a="http://schemas.openxmlformats.org/drawingml/2006/main" l="0" t="4500" r="0" b="66500"/>
          <a:stretch xmlns:a="http://schemas.openxmlformats.org/drawingml/2006/main"/>
        </p:blipFill>
        <p:spPr>
          <a:xfrm xmlns:a="http://schemas.openxmlformats.org/drawingml/2006/main">
            <a:off x="1642571" y="1333500"/>
            <a:ext cx="8811608" cy="3333750"/>
          </a:xfrm>
          <a:prstGeom xmlns:a="http://schemas.openxmlformats.org/drawingml/2006/main" prst="rect">
            <a:avLst/>
          </a:prstGeom>
        </p:spPr>
      </p:pic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98BD3B69-7458-406D-9A5B-3911137F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左图的眼、鼻、口与面部朝向仍可辨，右图在这些残迹上强化了轮廓。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48E17B8B-F2EC-4E1A-962E-7471639A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这是一幅“又保存相对完好”的形象；面容全失，将更依赖原图之外的材料。</a:t>
            </a:r>
          </a:p>
        </p:txBody>
      </p:sp>
    </p:spTree>
    <p:extLst>
      <p:ext uri="{BB962C8B-B14F-4D97-AF65-F5344CB8AC3E}">
        <p14:creationId xmlns:p14="http://schemas.microsoft.com/office/powerpoint/2010/main" val="138086282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CB25A6-0D0A-4E81-A53B-0522BE51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专业评价肯定了风格与结构的延续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8AB5BDBB-F97B-463E-9E4E-984C6E85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据付心仪等，2019，第26页专家评价段；引文为作者对评价结果的转述。后段为个人分析。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D608A3-945C-4CBD-8F70-D38973E4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7618F45B-4DC4-4225-8B30-69BEA533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14475"/>
            <a:ext cx="1085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“具有非常明显的敦煌壁画特征”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6318DF40-952F-425B-95CA-A152DA17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作者邀请6位专家，从原真性、完整性、可识别性与艺术性四个角度评价成果，并报告其构图、色彩及纹理规律获得认可。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67CF169-0816-41BA-9DA8-4C6087FE7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专业知识为复原提供了风格与结构上的约束。进一步确定某一处五官的历史形态，仍要联系这件壁画自身的残迹与记录。</a:t>
            </a:r>
          </a:p>
        </p:txBody>
      </p:sp>
    </p:spTree>
    <p:extLst>
      <p:ext uri="{BB962C8B-B14F-4D97-AF65-F5344CB8AC3E}">
        <p14:creationId xmlns:p14="http://schemas.microsoft.com/office/powerpoint/2010/main" val="18964977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48490B7-1DA7-4C18-8F04-41A8C2BD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用户评分记录使用体验与满意程度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08C9441E-A91A-488F-AA93-492B0E9E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数据：付心仪等，2019，第27页表3“总体评价”；被试构成、任务及5分制说明见第26页。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C574A7-81CC-4C63-B63E-CCA92AC4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5" name="sample">
            <a:extLst xmlns:a="http://schemas.openxmlformats.org/drawingml/2006/main">
              <a:ext uri="{FF2B5EF4-FFF2-40B4-BE49-F238E27FC236}">
                <a16:creationId xmlns:a16="http://schemas.microsoft.com/office/drawing/2014/main" id="{DA5F3E30-88F8-47A9-89AB-02A28BA4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3827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15位被试分为专家、工程师与设计师三组，完成操作任务后给出评价。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346BA0-6721-4EC0-88F3-2F9C959028DE}"/>
              </a:ext>
            </a:extLst>
          </p:cNvPr>
          <p:cNvGraphicFramePr/>
          <p:nvPr/>
        </p:nvGraphicFramePr>
        <p:xfrm>
          <a:off xmlns:a="http://schemas.openxmlformats.org/drawingml/2006/main" x="619125" y="2466975"/>
          <a:ext xmlns:a="http://schemas.openxmlformats.org/drawingml/2006/main" cx="10858500" cy="2447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2381250"/>
                <a:gridCol w="6286500"/>
              </a:tblGrid>
              <a:tr h="611981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评分项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CABC"/>
                      </a:solidFill>
                      <a:prstDash val="solid"/>
                    </a:lnL>
                    <a:lnR w="6668">
                      <a:solidFill>
                        <a:srgbClr val="D5CABC"/>
                      </a:solidFill>
                      <a:prstDash val="solid"/>
                    </a:lnR>
                    <a:lnT w="6668">
                      <a:solidFill>
                        <a:srgbClr val="D5CABC"/>
                      </a:solidFill>
                      <a:prstDash val="solid"/>
                    </a:lnT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82483C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平均分／满分5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T w="6668">
                      <a:solidFill>
                        <a:srgbClr val="D5CABC"/>
                      </a:solidFill>
                      <a:prstDash val="solid"/>
                    </a:lnT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82483C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所评价的内容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T w="6668">
                      <a:solidFill>
                        <a:srgbClr val="D5CABC"/>
                      </a:solidFill>
                      <a:prstDash val="solid"/>
                    </a:lnT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82483C"/>
                    </a:solidFill>
                  </a:tcPr>
                </a:tc>
              </a:tr>
              <a:tr h="611981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易学性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CABC"/>
                      </a:solidFill>
                      <a:prstDash val="solid"/>
                    </a:lnL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4.30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系统是否容易学习和掌握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</a:tr>
              <a:tr h="611981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易用性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CABC"/>
                      </a:solidFill>
                      <a:prstDash val="solid"/>
                    </a:lnL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3.70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交互操作是否容易使用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</a:tr>
              <a:tr h="611981"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结果满意度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5CABC"/>
                      </a:solidFill>
                      <a:prstDash val="solid"/>
                    </a:lnL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3.98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  <a:tc>
                  <a:txBody>
                    <a:bodyPr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6231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用户对任务结果的满意程度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5CABC"/>
                      </a:solidFill>
                      <a:prstDash val="solid"/>
                    </a:lnR>
                    <a:lnB w="6668">
                      <a:solidFill>
                        <a:srgbClr val="D5CABC"/>
                      </a:solidFill>
                      <a:prstDash val="solid"/>
                    </a:lnB>
                    <a:solidFill>
                      <a:srgbClr val="F3EEE5"/>
                    </a:solidFill>
                  </a:tcPr>
                </a:tc>
              </a:tr>
            </a:tbl>
          </a:graphicData>
        </a:graphic>
      </p:graphicFrame>
      <p:sp>
        <p:nvSpPr>
          <p:cNvPr id="7" name="score-interpretation">
            <a:extLst xmlns:a="http://schemas.openxmlformats.org/drawingml/2006/main">
              <a:ext uri="{FF2B5EF4-FFF2-40B4-BE49-F238E27FC236}">
                <a16:creationId xmlns:a16="http://schemas.microsoft.com/office/drawing/2014/main" id="{C1242057-EEAA-41CD-8D79-33F13FBCF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这些评分反映系统的使用体验与结果满意度。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面容的历史依据仍要回到残迹、线描及相关记录。</a:t>
            </a:r>
          </a:p>
        </p:txBody>
      </p:sp>
    </p:spTree>
    <p:extLst>
      <p:ext uri="{BB962C8B-B14F-4D97-AF65-F5344CB8AC3E}">
        <p14:creationId xmlns:p14="http://schemas.microsoft.com/office/powerpoint/2010/main" val="120389293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CEA882-690D-4D40-9BD6-2E270C13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面容的意义存在于目光、手势与姿态之间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83F61BAE-E0B4-41B9-A356-BFDB2E4E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图：付心仪等，2019，第26页图9右图局部；课堂参照：《艺术概论》2026-10-14课程笔记。文字为个人形式分析。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F6F79B-E64E-4678-863D-3C42977C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A74E8E-418C-47B5-BC5A-89590F94C5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76f4d64d34302"/>
          <a:srcRect xmlns:a="http://schemas.openxmlformats.org/drawingml/2006/main" l="52000" t="4500" r="0" b="40000"/>
          <a:stretch xmlns:a="http://schemas.openxmlformats.org/drawingml/2006/main"/>
        </p:blipFill>
        <p:spPr>
          <a:xfrm xmlns:a="http://schemas.openxmlformats.org/drawingml/2006/main">
            <a:off x="1086843" y="1323975"/>
            <a:ext cx="3169838" cy="4781550"/>
          </a:xfrm>
          <a:prstGeom xmlns:a="http://schemas.openxmlformats.org/drawingml/2006/main" prst="rect">
            <a:avLst/>
          </a:prstGeom>
        </p:spPr>
      </p:pic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C49EF058-7010-40E7-A162-4C2704020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66875"/>
            <a:ext cx="62579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菩萨垂下的眼睑、偏向一侧的面部与胸前的手势，共同构成人物姿态。面容的表达存在于这些部位的联系中。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6683518D-35BC-4EFA-B229-D3809755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67075"/>
            <a:ext cx="625792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若改变目光方向或口角走势，人物与观看者的关系也可能变化。课堂关于目光、姿态与传神的讨论，使我更关注补绘怎样影响整体神貌。</a:t>
            </a:r>
          </a:p>
        </p:txBody>
      </p:sp>
    </p:spTree>
    <p:extLst>
      <p:ext uri="{BB962C8B-B14F-4D97-AF65-F5344CB8AC3E}">
        <p14:creationId xmlns:p14="http://schemas.microsoft.com/office/powerpoint/2010/main" val="167742788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1A19A38-32C3-42DD-9F5E-DB4BC258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参考选择也能使复原工具用于创作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B04636D7-C770-453F-9612-244162F9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引文：付心仪等，2019，第26页右栏末段，设计师组用户反馈；用途与成果身份的区分为个人分析。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CB584E-AD6D-4509-8741-CD17132B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5" name="primary-quote">
            <a:extLst xmlns:a="http://schemas.openxmlformats.org/drawingml/2006/main">
              <a:ext uri="{FF2B5EF4-FFF2-40B4-BE49-F238E27FC236}">
                <a16:creationId xmlns:a16="http://schemas.microsoft.com/office/drawing/2014/main" id="{79A10A03-BE8B-4BD3-AD9A-73A01EB9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14475"/>
            <a:ext cx="1085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36000"/>
              </a:lnSpc>
              <a:buNone/>
              <a:def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700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“用户可以自由选择喜爱的区域对待复原区域进行填充，可以衍生出不同的艺术作品。”</a:t>
            </a:r>
          </a:p>
        </p:txBody>
      </p:sp>
      <p:sp>
        <p:nvSpPr>
          <p:cNvPr id="6" name="body-1">
            <a:extLst xmlns:a="http://schemas.openxmlformats.org/drawingml/2006/main">
              <a:ext uri="{FF2B5EF4-FFF2-40B4-BE49-F238E27FC236}">
                <a16:creationId xmlns:a16="http://schemas.microsoft.com/office/drawing/2014/main" id="{7961A4DF-4515-471E-9EE6-8250FCF1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0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这段话来自设计师组的反馈。同一填充功能既能依据历史材料整理残缺，也能依照创作者的偏好组织新的颜色与纹理。</a:t>
            </a:r>
          </a:p>
        </p:txBody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0007565-C4D9-4046-8DC7-8C261B35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00525"/>
            <a:ext cx="108585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成果的身份因而需要结合使用目的与材料选择来说明：复原方案着重解释原作，创作则允许形成新的表达。</a:t>
            </a:r>
          </a:p>
        </p:txBody>
      </p:sp>
    </p:spTree>
    <p:extLst>
      <p:ext uri="{BB962C8B-B14F-4D97-AF65-F5344CB8AC3E}">
        <p14:creationId xmlns:p14="http://schemas.microsoft.com/office/powerpoint/2010/main" val="1790710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23B963-8598-4493-8227-8FB911A8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原状记录与复原版本应当并存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49601F1D-C3EC-4344-9FF0-32F9B754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据付心仪等，2019，第24页输出要求、第26页重绘说明；版本保存与呈现建议为个人阅读判断。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007149-B25D-4ED3-8DD2-B112BA3FE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74BC56B8-E235-4767-A07B-3EA90FDB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论文提出“保持壁画原状”，也为视觉统一允许整区重绘。把这两处文字并读，可以看到现存痕迹与完整形象各自受到重视。</a:t>
            </a:r>
          </a:p>
        </p:txBody>
      </p:sp>
      <p:sp>
        <p:nvSpPr>
          <p:cNvPr id="6" name="body-2">
            <a:extLst xmlns:a="http://schemas.openxmlformats.org/drawingml/2006/main">
              <a:ext uri="{FF2B5EF4-FFF2-40B4-BE49-F238E27FC236}">
                <a16:creationId xmlns:a16="http://schemas.microsoft.com/office/drawing/2014/main" id="{40C7125C-4B64-4C05-9AF6-D278A966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38450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我的理解是：原状图像应保留为独立记录，复原方案另存为可以比较、可以修订的版本。新增轮廓及其参考来源，也应能够被辨认。</a:t>
            </a:r>
          </a:p>
        </p:txBody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D947CE33-9742-48F4-8DEC-76C869EA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这样，完整形象帮助观众理解作品，残缺记录仍保存着继续研究的线索。</a:t>
            </a:r>
          </a:p>
        </p:txBody>
      </p:sp>
    </p:spTree>
    <p:extLst>
      <p:ext uri="{BB962C8B-B14F-4D97-AF65-F5344CB8AC3E}">
        <p14:creationId xmlns:p14="http://schemas.microsoft.com/office/powerpoint/2010/main" val="88933215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39F93DC-D181-414A-A88B-AEF6140F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面容全失时，补绘程度应随依据改变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5516B041-A178-485A-AA7C-59C2EC68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个人保护判断；材料起点：付心仪等，2019，第22页线描来源、第25—26页操作及案例说明。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18CC30-DBE4-4F25-B362-B6566056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F36E00C1-7088-4E67-83FC-1DC799466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858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若有同一图像的可靠旧照片或线描记录，面容复原可以受到较强的材料约束。</a:t>
            </a:r>
          </a:p>
        </p:txBody>
      </p:sp>
      <p:sp>
        <p:nvSpPr>
          <p:cNvPr id="6" name="body-2">
            <a:extLst xmlns:a="http://schemas.openxmlformats.org/drawingml/2006/main">
              <a:ext uri="{FF2B5EF4-FFF2-40B4-BE49-F238E27FC236}">
                <a16:creationId xmlns:a16="http://schemas.microsoft.com/office/drawing/2014/main" id="{85D0DF75-75DB-4BF8-BEF1-ABDE85AD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28875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若主要借助同窟、同时期的同类形象，补绘包含更多类推，应说明比较对象及推断范围。依据越少，完整面容就越接近当代解释。</a:t>
            </a:r>
          </a:p>
        </p:txBody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DA573ACF-CA82-4E45-A70E-D312A41A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48075"/>
            <a:ext cx="1085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2250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我支持在保留原状的前提下提出可修订的数字方案。是否直接补绘原壁，还需要针对原物另作论证。</a:t>
            </a:r>
          </a:p>
        </p:txBody>
      </p:sp>
    </p:spTree>
    <p:extLst>
      <p:ext uri="{BB962C8B-B14F-4D97-AF65-F5344CB8AC3E}">
        <p14:creationId xmlns:p14="http://schemas.microsoft.com/office/powerpoint/2010/main" val="6842388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898611-8D3C-498F-85D3-89E52DC0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原作的身份与新增面容需要分别理解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5C230618-B1A2-4C00-9A04-E67E335C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个人阅读心得；依据付心仪等，2019，第22、25—27页，并联系《艺术概论》2026-10-14课堂讨论。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B4D474-9B13-4116-981B-F6FC46DE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5" name="body-1">
            <a:extLst xmlns:a="http://schemas.openxmlformats.org/drawingml/2006/main">
              <a:ext uri="{FF2B5EF4-FFF2-40B4-BE49-F238E27FC236}">
                <a16:creationId xmlns:a16="http://schemas.microsoft.com/office/drawing/2014/main" id="{E493989E-2B83-4314-988B-B8B30A5E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9725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作为历史物，作品可以延续自身的身份；补入的面容，则包含后人的判断与解释。数字复原图也是据原作形成的一个新版本。</a:t>
            </a:r>
          </a:p>
        </p:txBody>
      </p:sp>
      <p:sp>
        <p:nvSpPr>
          <p:cNvPr id="6" name="body-2">
            <a:extLst xmlns:a="http://schemas.openxmlformats.org/drawingml/2006/main">
              <a:ext uri="{FF2B5EF4-FFF2-40B4-BE49-F238E27FC236}">
                <a16:creationId xmlns:a16="http://schemas.microsoft.com/office/drawing/2014/main" id="{6DE686B2-6E4F-413F-9F20-2E65FCCC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67025"/>
            <a:ext cx="10858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承认这层解释，不会消除复原的价值。它使我们能够借完整形象学习原作，同时理解哪些部分仍有疑问。</a:t>
            </a:r>
          </a:p>
        </p:txBody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10CD63FC-080E-41FB-8A73-2610CC5C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43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23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我期待的保护，是让观众看见一张完整的脸时，也能够知道它是怎样画出来的。</a:t>
            </a:r>
          </a:p>
        </p:txBody>
      </p:sp>
    </p:spTree>
    <p:extLst>
      <p:ext uri="{BB962C8B-B14F-4D97-AF65-F5344CB8AC3E}">
        <p14:creationId xmlns:p14="http://schemas.microsoft.com/office/powerpoint/2010/main" val="20571862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3EE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892D85-F3B1-4B17-9572-EEB4EECD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"/>
            <a:ext cx="11125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defPPr>
            <a:lvl1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1pPr>
            <a:lvl2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2pPr>
            <a:lvl3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3pPr>
            <a:lvl4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4pPr>
            <a:lvl5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5pPr>
            <a:lvl6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6pPr>
            <a:lvl7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7pPr>
            <a:lvl8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8pPr>
            <a:lvl9pPr algn="l"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defRPr>
            </a:pPr>
            <a:r>
              <a:rPr sz="3225" b="0">
                <a:solidFill>
                  <a:srgbClr val="26231F"/>
                </a:solidFill>
                <a:latin typeface="Songti SC"/>
                <a:ea typeface="Songti SC"/>
                <a:cs typeface="Songti SC"/>
              </a:rPr>
              <a:t>参考文献与图片出处</a:t>
            </a:r>
          </a:p>
        </p:txBody>
      </p:sp>
      <p:sp>
        <p:nvSpPr>
          <p:cNvPr id="3" name="visible-source">
            <a:extLst xmlns:a="http://schemas.openxmlformats.org/drawingml/2006/main">
              <a:ext uri="{FF2B5EF4-FFF2-40B4-BE49-F238E27FC236}">
                <a16:creationId xmlns:a16="http://schemas.microsoft.com/office/drawing/2014/main" id="{D7D770DB-5384-4955-AD9A-F4B49EC4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293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所注页码均为期刊印刷页码；第21—27页对应所读PDF第1—7页。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4CDD33-D1A2-4524-BC92-7519A91B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29375"/>
            <a:ext cx="3143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defPPr>
            <a:lvl1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1pPr>
            <a:lvl2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2pPr>
            <a:lvl3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3pPr>
            <a:lvl4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4pPr>
            <a:lvl5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5pPr>
            <a:lvl6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6pPr>
            <a:lvl7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7pPr>
            <a:lvl8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8pPr>
            <a:lvl9pPr algn="r"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756C60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sp>
        <p:nvSpPr>
          <p:cNvPr id="5" name="reference-paper">
            <a:extLst xmlns:a="http://schemas.openxmlformats.org/drawingml/2006/main">
              <a:ext uri="{FF2B5EF4-FFF2-40B4-BE49-F238E27FC236}">
                <a16:creationId xmlns:a16="http://schemas.microsoft.com/office/drawing/2014/main" id="{374F1688-B284-4CDB-B916-81B3514F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81125"/>
            <a:ext cx="108394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付心仪、麻晓娟、孙志军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《破损壁画的数字化复原研究——以敦煌壁画为例》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《装饰》2019年第1期，第21—27页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DOI：10.16272/j.cnki.cn11-1392/j.2019.01.007</a:t>
            </a:r>
          </a:p>
        </p:txBody>
      </p:sp>
      <p:sp>
        <p:nvSpPr>
          <p:cNvPr id="6" name="reference-figures">
            <a:extLst xmlns:a="http://schemas.openxmlformats.org/drawingml/2006/main">
              <a:ext uri="{FF2B5EF4-FFF2-40B4-BE49-F238E27FC236}">
                <a16:creationId xmlns:a16="http://schemas.microsoft.com/office/drawing/2014/main" id="{C6529C1F-4F32-429F-82D9-9020C7A5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48025"/>
            <a:ext cx="10839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图1—3、图6—9、表1与表3：取自主读论文，具体定位见对应页。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《说法图》（摹）、《药师佛佛会图》临摹作品：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某同学摄于中国工艺美术馆。</a:t>
            </a:r>
          </a:p>
        </p:txBody>
      </p:sp>
      <p:sp>
        <p:nvSpPr>
          <p:cNvPr id="7" name="reference-course">
            <a:extLst xmlns:a="http://schemas.openxmlformats.org/drawingml/2006/main">
              <a:ext uri="{FF2B5EF4-FFF2-40B4-BE49-F238E27FC236}">
                <a16:creationId xmlns:a16="http://schemas.microsoft.com/office/drawing/2014/main" id="{20EE95A6-9DE9-459E-BB60-49CE1D64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108394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defPPr>
            <a:lvl1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1pPr>
            <a:lvl2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2pPr>
            <a:lvl3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3pPr>
            <a:lvl4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4pPr>
            <a:lvl5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5pPr>
            <a:lvl6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6pPr>
            <a:lvl7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7pPr>
            <a:lvl8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8pPr>
            <a:lvl9pPr algn="l"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lvl9pPr>
          </a:lstStyle>
          <a:p xmlns:a="http://schemas.openxmlformats.org/drawingml/2006/main">
            <a:pPr algn="l">
              <a:lnSpc>
                <a:spcPct val="142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《艺术概论》2026-10-14课程笔记：</a:t>
            </a:r>
          </a:p>
          <a:p xmlns:a="http://schemas.openxmlformats.org/drawingml/2006/main">
            <a:pPr algn="l">
              <a:lnSpc>
                <a:spcPct val="142000"/>
              </a:lnSpc>
              <a:buNone/>
              <a:def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26231F"/>
                </a:solidFill>
                <a:latin typeface="PingFang SC"/>
                <a:ea typeface="PingFang SC"/>
                <a:cs typeface="PingFang SC"/>
              </a:rPr>
              <a:t>“五、材料、目光与姿态如何传神”。</a:t>
            </a:r>
          </a:p>
        </p:txBody>
      </p:sp>
    </p:spTree>
    <p:extLst>
      <p:ext uri="{BB962C8B-B14F-4D97-AF65-F5344CB8AC3E}">
        <p14:creationId xmlns:p14="http://schemas.microsoft.com/office/powerpoint/2010/main" val="1710229614"/>
      </p:ext>
    </p:extLst>
  </p:cSld>
</p:sld>
</file>

<file path=ppt/theme/theme1.xml><?xml version="1.0" encoding="utf-8"?>
<a:theme xmlns:a="http://schemas.openxmlformats.org/drawingml/2006/main" name="ChatGPT">
  <a:themeElements>
    <a:clrScheme name="无面的佛·面容与复原">
      <a:dk1>
        <a:srgbClr val="26231F"/>
      </a:dk1>
      <a:lt1>
        <a:srgbClr val="FFFFFF"/>
      </a:lt1>
      <a:dk2>
        <a:srgbClr val="756C60"/>
      </a:dk2>
      <a:lt2>
        <a:srgbClr val="F3EEE5"/>
      </a:lt2>
      <a:accent1>
        <a:srgbClr val="82483C"/>
      </a:accent1>
      <a:accent2>
        <a:srgbClr val="756C60"/>
      </a:accent2>
      <a:accent3>
        <a:srgbClr val="B19A75"/>
      </a:accent3>
      <a:accent4>
        <a:srgbClr val="575E4C"/>
      </a:accent4>
      <a:accent5>
        <a:srgbClr val="725E5C"/>
      </a:accent5>
      <a:accent6>
        <a:srgbClr val="A8785B"/>
      </a:accent6>
      <a:hlink>
        <a:srgbClr val="82483C"/>
      </a:hlink>
      <a:folHlink>
        <a:srgbClr val="82483C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无面的佛·面容与复原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/>
  <lastModifiedBy>Walnut Exporter</lastModifiedBy>
  <dc:title>Presentation</dc:title>
  <dcterms:created xsi:type="dcterms:W3CDTF">2026-10-29T17:00:57.7650000Z</dcterms:created>
  <dcterms:modified xsi:type="dcterms:W3CDTF">2026-10-29T17:00:57.7650000Z</dcterms:modified>
</coreProperties>
</file>