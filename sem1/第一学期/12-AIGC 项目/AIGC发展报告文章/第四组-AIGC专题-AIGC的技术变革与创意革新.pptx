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61" r:id="rId4"/>
    <p:sldId id="268" r:id="rId5"/>
    <p:sldId id="265" r:id="rId6"/>
    <p:sldId id="281" r:id="rId7"/>
  </p:sldIdLst>
  <p:sldSz cx="12192000" cy="6858000"/>
  <p:notesSz cx="6858000" cy="9144000"/>
  <p:embeddedFontLst>
    <p:embeddedFont>
      <p:font typeface="Microsoft YaHei" panose="020B0503020204020204" pitchFamily="34" charset="-122"/>
      <p:regular r:id="rId9"/>
      <p:bold r:id="rId10"/>
    </p:embeddedFont>
    <p:embeddedFont>
      <p:font typeface="Microsoft YaHei" panose="020B0503020204020204" pitchFamily="34" charset="-122"/>
      <p:regular r:id="rId9"/>
      <p:bold r:id="rId10"/>
    </p:embeddedFont>
    <p:embeddedFont>
      <p:font typeface="华文中宋" panose="02010600040101010101" pitchFamily="2" charset="-122"/>
      <p:regular r:id="rId11"/>
    </p:embeddedFont>
    <p:embeddedFont>
      <p:font typeface="Avenir Next Demi Bold" panose="020B0503020202020204" pitchFamily="34" charset="0"/>
      <p:regular r:id="rId12"/>
      <p:bold r:id="rId13"/>
      <p:italic r:id="rId14"/>
      <p:boldItalic r:id="rId15"/>
    </p:embeddedFont>
  </p:embeddedFontLst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75"/>
    <p:restoredTop sz="96015" autoAdjust="0"/>
  </p:normalViewPr>
  <p:slideViewPr>
    <p:cSldViewPr snapToGrid="0">
      <p:cViewPr varScale="1">
        <p:scale>
          <a:sx n="111" d="100"/>
          <a:sy n="111" d="100"/>
        </p:scale>
        <p:origin x="24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75E21-C299-444D-ABE7-28548F92558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95CF5-20F1-4F09-9547-A30511100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895CF5-20F1-4F09-9547-A3051110082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895CF5-20F1-4F09-9547-A3051110082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895CF5-20F1-4F09-9547-A3051110082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895CF5-20F1-4F09-9547-A3051110082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895CF5-20F1-4F09-9547-A3051110082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895CF5-20F1-4F09-9547-A3051110082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60E1-53C9-4EC4-82E4-990370F7E09D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BECBF-22DC-4931-B03F-6067A31109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60E1-53C9-4EC4-82E4-990370F7E09D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BECBF-22DC-4931-B03F-6067A31109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60E1-53C9-4EC4-82E4-990370F7E09D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BECBF-22DC-4931-B03F-6067A31109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760E1-53C9-4EC4-82E4-990370F7E09D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BECBF-22DC-4931-B03F-6067A31109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679440" y="0"/>
            <a:ext cx="41656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3230" y="306705"/>
            <a:ext cx="11313795" cy="6259195"/>
          </a:xfrm>
          <a:prstGeom prst="rect">
            <a:avLst/>
          </a:prstGeom>
        </p:spPr>
      </p:pic>
      <p:grpSp>
        <p:nvGrpSpPr>
          <p:cNvPr id="7" name="组合 6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GrpSpPr/>
          <p:nvPr/>
        </p:nvGrpSpPr>
        <p:grpSpPr>
          <a:xfrm>
            <a:off x="442913" y="2271858"/>
            <a:ext cx="7635857" cy="2328421"/>
            <a:chOff x="332184" y="338931"/>
            <a:chExt cx="5726892" cy="4464845"/>
          </a:xfrm>
        </p:grpSpPr>
        <p:sp>
          <p:nvSpPr>
            <p:cNvPr id="8" name="矩形 7"/>
            <p:cNvSpPr/>
            <p:nvPr/>
          </p:nvSpPr>
          <p:spPr>
            <a:xfrm>
              <a:off x="332184" y="338931"/>
              <a:ext cx="5726892" cy="4464050"/>
            </a:xfrm>
            <a:prstGeom prst="rect">
              <a:avLst/>
            </a:prstGeom>
            <a:solidFill>
              <a:srgbClr val="FCC9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9" name="矩形 8"/>
            <p:cNvSpPr/>
            <p:nvPr/>
          </p:nvSpPr>
          <p:spPr>
            <a:xfrm>
              <a:off x="4259580" y="339726"/>
              <a:ext cx="312420" cy="4464050"/>
            </a:xfrm>
            <a:prstGeom prst="rect">
              <a:avLst/>
            </a:prstGeom>
            <a:gradFill flip="none" rotWithShape="1">
              <a:gsLst>
                <a:gs pos="10000">
                  <a:srgbClr val="FCC95D"/>
                </a:gs>
                <a:gs pos="54000">
                  <a:srgbClr val="FBC03B"/>
                </a:gs>
                <a:gs pos="100000">
                  <a:srgbClr val="FBB51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0" name="矩形 9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SpPr/>
          <p:nvPr/>
        </p:nvSpPr>
        <p:spPr>
          <a:xfrm>
            <a:off x="434975" y="2569408"/>
            <a:ext cx="7635856" cy="110799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dist"/>
            <a:r>
              <a:rPr lang="en-US" altLang="zh-CN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AIGC:</a:t>
            </a:r>
            <a:r>
              <a:rPr lang="zh-CN" altLang="en-US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新的创作内容</a:t>
            </a:r>
            <a:endParaRPr lang="zh-CN" altLang="en-US" sz="6600" b="1" dirty="0">
              <a:solidFill>
                <a:schemeClr val="tx1">
                  <a:lumMod val="85000"/>
                  <a:lumOff val="15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1" name="矩形 10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SpPr/>
          <p:nvPr/>
        </p:nvSpPr>
        <p:spPr>
          <a:xfrm>
            <a:off x="2056402" y="3974953"/>
            <a:ext cx="44088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400" cap="all" dirty="0">
                <a:latin typeface="Times New Roman" panose="02020603050405020304" pitchFamily="18" charset="0"/>
                <a:ea typeface="★日文毛笔行书" panose="03000509000000000000" pitchFamily="65" charset="-128"/>
                <a:cs typeface="Times New Roman" panose="02020603050405020304" pitchFamily="18" charset="0"/>
              </a:rPr>
              <a:t>AI Generated content</a:t>
            </a:r>
          </a:p>
        </p:txBody>
      </p:sp>
      <p:sp>
        <p:nvSpPr>
          <p:cNvPr id="12" name="矩形 11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SpPr/>
          <p:nvPr/>
        </p:nvSpPr>
        <p:spPr>
          <a:xfrm>
            <a:off x="8744771" y="5945913"/>
            <a:ext cx="7244080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+mn-ea"/>
              </a:rPr>
              <a:t>第</a:t>
            </a:r>
            <a:r>
              <a:rPr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+mn-ea"/>
              </a:rPr>
              <a:t>组 组长</a:t>
            </a:r>
            <a:r>
              <a:rPr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charset="-122"/>
                <a:sym typeface="+mn-ea"/>
              </a:rPr>
              <a:t>汇报人：某同学</a:t>
            </a:r>
            <a:endParaRPr lang="en-US" altLang="zh-CN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3" name="图片 12" descr="无背景logo白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538970" y="397510"/>
            <a:ext cx="1963420" cy="99758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GrpSpPr/>
          <p:nvPr/>
        </p:nvGrpSpPr>
        <p:grpSpPr>
          <a:xfrm>
            <a:off x="3779520" y="452966"/>
            <a:ext cx="7980680" cy="5952068"/>
            <a:chOff x="2834640" y="339724"/>
            <a:chExt cx="5985510" cy="4464051"/>
          </a:xfrm>
        </p:grpSpPr>
        <p:sp>
          <p:nvSpPr>
            <p:cNvPr id="2" name="矩形 1"/>
            <p:cNvSpPr/>
            <p:nvPr/>
          </p:nvSpPr>
          <p:spPr>
            <a:xfrm>
              <a:off x="2834640" y="339725"/>
              <a:ext cx="5985510" cy="4464050"/>
            </a:xfrm>
            <a:prstGeom prst="rect">
              <a:avLst/>
            </a:prstGeom>
            <a:solidFill>
              <a:srgbClr val="ECED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9" name="矩形 18"/>
            <p:cNvSpPr/>
            <p:nvPr/>
          </p:nvSpPr>
          <p:spPr>
            <a:xfrm>
              <a:off x="4259580" y="339724"/>
              <a:ext cx="312420" cy="4464051"/>
            </a:xfrm>
            <a:prstGeom prst="rect">
              <a:avLst/>
            </a:prstGeom>
            <a:gradFill flip="none" rotWithShape="1">
              <a:gsLst>
                <a:gs pos="33000">
                  <a:srgbClr val="ECEDEA"/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3" name="矩形 2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SpPr/>
          <p:nvPr/>
        </p:nvSpPr>
        <p:spPr>
          <a:xfrm>
            <a:off x="431800" y="452967"/>
            <a:ext cx="3246120" cy="5952067"/>
          </a:xfrm>
          <a:prstGeom prst="rect">
            <a:avLst/>
          </a:prstGeom>
          <a:noFill/>
          <a:ln w="25400">
            <a:solidFill>
              <a:srgbClr val="FBB5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21" name="组合 20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GrpSpPr/>
          <p:nvPr/>
        </p:nvGrpSpPr>
        <p:grpSpPr>
          <a:xfrm>
            <a:off x="6248400" y="1226459"/>
            <a:ext cx="5562600" cy="4176389"/>
            <a:chOff x="4686300" y="919844"/>
            <a:chExt cx="4171950" cy="3132292"/>
          </a:xfrm>
        </p:grpSpPr>
        <p:sp>
          <p:nvSpPr>
            <p:cNvPr id="4" name="矩形 3"/>
            <p:cNvSpPr/>
            <p:nvPr/>
          </p:nvSpPr>
          <p:spPr>
            <a:xfrm>
              <a:off x="4686300" y="1669224"/>
              <a:ext cx="4171950" cy="23829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Artificial Intelligence Generated Content</a:t>
              </a:r>
            </a:p>
            <a:p>
              <a:pPr>
                <a:lnSpc>
                  <a:spcPct val="150000"/>
                </a:lnSpc>
              </a:pP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AI 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通过学习大规模数据，掌握内容的生成规律，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并在用户指令（</a:t>
              </a:r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Prompt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）下，在概率与模型结构基础上生成新的文本、图像、音频或视频。</a:t>
              </a: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>
                <a:lnSpc>
                  <a:spcPct val="150000"/>
                </a:lnSpc>
              </a:pP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文生文 </a:t>
              </a:r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/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文生图 </a:t>
              </a:r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/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文生视频 </a:t>
              </a:r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——</a:t>
              </a: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生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4728118" y="919844"/>
              <a:ext cx="2537644" cy="499586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 algn="dist"/>
              <a:r>
                <a:rPr lang="zh-CN" altLang="en-US" sz="3735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imSun" panose="02010600030101010101" pitchFamily="2" charset="-122"/>
                  <a:ea typeface="SimSun" panose="02010600030101010101" pitchFamily="2" charset="-122"/>
                </a:rPr>
                <a:t>什么是</a:t>
              </a:r>
              <a:r>
                <a:rPr lang="en-US" altLang="zh-CN" sz="3735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AIGC</a:t>
              </a:r>
              <a:r>
                <a:rPr lang="zh-CN" altLang="en-US" sz="3735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？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0F1649-7507-880F-5D3A-ABE01129B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496" y="1825424"/>
            <a:ext cx="1456204" cy="145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1EF2FAB-2047-D1C3-53BD-8F008DA9A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366" y="3281628"/>
            <a:ext cx="1560465" cy="156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A164C31-16FD-C20A-0E59-7B0DD14EB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755" y="4946459"/>
            <a:ext cx="1354209" cy="135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56C61E2-84DF-FAFF-25AF-2B99D96BF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393" y="563845"/>
            <a:ext cx="1261579" cy="1261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图片包含 室内, 桌子, 建筑, 大&#10;&#10;AI 生成的内容可能不正确。">
            <a:extLst>
              <a:ext uri="{FF2B5EF4-FFF2-40B4-BE49-F238E27FC236}">
                <a16:creationId xmlns:a16="http://schemas.microsoft.com/office/drawing/2014/main" id="{CAC0F274-1277-00A6-2D3C-1743DC07E4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452966"/>
            <a:ext cx="3239335" cy="595206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CC35721-FE87-91B5-0C55-A97D02A8E1C9}"/>
              </a:ext>
            </a:extLst>
          </p:cNvPr>
          <p:cNvSpPr txBox="1"/>
          <p:nvPr/>
        </p:nvSpPr>
        <p:spPr>
          <a:xfrm>
            <a:off x="6058675" y="5762059"/>
            <a:ext cx="60998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[1] Cao Y, et al. A comprehensive survey of AI-generated content (AIGC): A history of generative AI from GAN to ChatGPT[J]. 2023.</a:t>
            </a:r>
            <a:br>
              <a:rPr lang="en" altLang="zh-CN" sz="1600" dirty="0"/>
            </a:br>
            <a:r>
              <a:rPr lang="en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[2] </a:t>
            </a:r>
            <a:r>
              <a:rPr lang="en" altLang="zh-CN" sz="1600" b="0" i="0" dirty="0" err="1">
                <a:solidFill>
                  <a:srgbClr val="0F1115"/>
                </a:solidFill>
                <a:effectLst/>
                <a:latin typeface="quote-cjk-patch"/>
              </a:rPr>
              <a:t>Shneiderman</a:t>
            </a:r>
            <a:r>
              <a:rPr lang="en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 B. Human-Centered AI[M]. Oxford University Press, 2022: 89-95.</a:t>
            </a:r>
            <a:endParaRPr lang="zh-CN" altLang="en-US" sz="16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PicPr>
            <a:picLocks noChangeAspect="1"/>
          </p:cNvPicPr>
          <p:nvPr/>
        </p:nvPicPr>
        <p:blipFill rotWithShape="1">
          <a:blip r:embed="rId3" cstate="print"/>
          <a:srcRect l="433" t="41047" r="73877" b="43586"/>
          <a:stretch>
            <a:fillRect/>
          </a:stretch>
        </p:blipFill>
        <p:spPr>
          <a:xfrm>
            <a:off x="-292624" y="4073252"/>
            <a:ext cx="1717362" cy="702644"/>
          </a:xfrm>
          <a:prstGeom prst="rect">
            <a:avLst/>
          </a:prstGeom>
        </p:spPr>
      </p:pic>
      <p:sp>
        <p:nvSpPr>
          <p:cNvPr id="13" name="矩形 12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SpPr/>
          <p:nvPr/>
        </p:nvSpPr>
        <p:spPr>
          <a:xfrm>
            <a:off x="431800" y="478569"/>
            <a:ext cx="2494280" cy="908473"/>
          </a:xfrm>
          <a:prstGeom prst="rect">
            <a:avLst/>
          </a:prstGeom>
          <a:solidFill>
            <a:srgbClr val="FCC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" name="矩形 9"/>
          <p:cNvSpPr/>
          <p:nvPr/>
        </p:nvSpPr>
        <p:spPr>
          <a:xfrm>
            <a:off x="566057" y="1680493"/>
            <a:ext cx="5196114" cy="3907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/>
              <a:t>一、产品一体化：</a:t>
            </a:r>
            <a:endParaRPr lang="en-US" altLang="zh-CN" sz="2400" dirty="0"/>
          </a:p>
          <a:p>
            <a:pPr algn="just">
              <a:lnSpc>
                <a:spcPct val="150000"/>
              </a:lnSpc>
            </a:pPr>
            <a:r>
              <a:rPr lang="zh-CN" altLang="en-US" sz="2400" dirty="0"/>
              <a:t>      统一入口 </a:t>
            </a:r>
            <a:r>
              <a:rPr lang="en-US" altLang="zh-CN" sz="2400" dirty="0"/>
              <a:t>/ </a:t>
            </a:r>
            <a:r>
              <a:rPr lang="zh-CN" altLang="en-US" sz="2400" dirty="0"/>
              <a:t>复合能力 </a:t>
            </a:r>
            <a:r>
              <a:rPr lang="en-US" altLang="zh-CN" sz="2400" dirty="0"/>
              <a:t>/ </a:t>
            </a:r>
            <a:r>
              <a:rPr lang="zh-CN" altLang="en-US" sz="2400" dirty="0"/>
              <a:t>超级工具化</a:t>
            </a:r>
            <a:endParaRPr lang="en-US" altLang="zh-CN" sz="2400" dirty="0"/>
          </a:p>
          <a:p>
            <a:pPr algn="just">
              <a:lnSpc>
                <a:spcPct val="150000"/>
              </a:lnSpc>
            </a:pPr>
            <a:r>
              <a:rPr lang="zh-CN" altLang="en-US" sz="2400" dirty="0"/>
              <a:t>二、万物赋能性：</a:t>
            </a:r>
            <a:endParaRPr lang="en-US" altLang="zh-CN" sz="2400" dirty="0"/>
          </a:p>
          <a:p>
            <a:pPr algn="just">
              <a:lnSpc>
                <a:spcPct val="150000"/>
              </a:lnSpc>
            </a:pPr>
            <a:r>
              <a:rPr lang="zh-CN" altLang="en-US" sz="2400" dirty="0"/>
              <a:t>      豆包不是单一应用，而是企业可调用的智能能力层 （火山引擎）</a:t>
            </a:r>
            <a:endParaRPr lang="en-US" altLang="zh-CN" sz="2400" dirty="0"/>
          </a:p>
          <a:p>
            <a:pPr algn="just">
              <a:lnSpc>
                <a:spcPct val="150000"/>
              </a:lnSpc>
            </a:pPr>
            <a:r>
              <a:rPr lang="zh-CN" altLang="en-US" sz="2400" dirty="0"/>
              <a:t>三、算法与数据的基因优势：</a:t>
            </a:r>
            <a:endParaRPr lang="en-US" altLang="zh-CN" sz="2400" dirty="0"/>
          </a:p>
          <a:p>
            <a:pPr algn="just">
              <a:lnSpc>
                <a:spcPct val="150000"/>
              </a:lnSpc>
            </a:pPr>
            <a:r>
              <a:rPr lang="zh-CN" altLang="en-US" sz="2400" dirty="0"/>
              <a:t>      算法 </a:t>
            </a:r>
            <a:r>
              <a:rPr lang="en-US" altLang="zh-CN" sz="2400" dirty="0"/>
              <a:t>× </a:t>
            </a:r>
            <a:r>
              <a:rPr lang="zh-CN" altLang="en-US" sz="2400" dirty="0"/>
              <a:t>大规模真实使用场景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苏新诗柳楷简" panose="02010600000101010101" pitchFamily="2" charset="-122"/>
              <a:ea typeface="苏新诗柳楷简" panose="0201060000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00796" y="599250"/>
            <a:ext cx="3762829" cy="667107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r"/>
            <a:r>
              <a:rPr lang="en-US" altLang="zh-CN" sz="3735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AIGC</a:t>
            </a:r>
            <a:r>
              <a:rPr lang="zh-CN" altLang="en-US" sz="3735" b="1" dirty="0">
                <a:solidFill>
                  <a:schemeClr val="tx1">
                    <a:lumMod val="85000"/>
                    <a:lumOff val="1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案例：豆包</a:t>
            </a:r>
          </a:p>
        </p:txBody>
      </p:sp>
      <p:pic>
        <p:nvPicPr>
          <p:cNvPr id="2" name="图片 1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PicPr>
            <a:picLocks noChangeAspect="1"/>
          </p:cNvPicPr>
          <p:nvPr/>
        </p:nvPicPr>
        <p:blipFill rotWithShape="1">
          <a:blip r:embed="rId3" cstate="print"/>
          <a:srcRect t="78912" r="77745"/>
          <a:stretch>
            <a:fillRect/>
          </a:stretch>
        </p:blipFill>
        <p:spPr>
          <a:xfrm>
            <a:off x="4439001" y="778564"/>
            <a:ext cx="1487732" cy="96422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6" b="1826"/>
          <a:stretch/>
        </p:blipFill>
        <p:spPr>
          <a:xfrm>
            <a:off x="7439660" y="0"/>
            <a:ext cx="4752340" cy="6868160"/>
          </a:xfrm>
          <a:prstGeom prst="rect">
            <a:avLst/>
          </a:prstGeom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EB8607FB-BA8D-FAD8-7F61-539AF746A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826" y="326284"/>
            <a:ext cx="1354209" cy="135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DC780D8-9655-8204-05FF-829676A5C10E}"/>
              </a:ext>
            </a:extLst>
          </p:cNvPr>
          <p:cNvSpPr txBox="1"/>
          <p:nvPr/>
        </p:nvSpPr>
        <p:spPr>
          <a:xfrm>
            <a:off x="86904" y="5664263"/>
            <a:ext cx="717042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[3] Oxford University Press.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人机协同模式效能研究（创意生产效率提升 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37%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R]. 2022.</a:t>
            </a:r>
            <a:b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[4]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国务院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. 《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关于深入实施“人工智能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+”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行动的意见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》[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Z]. 2025-08-27.</a:t>
            </a:r>
            <a:b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[5]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景玥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. 《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AIGC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应用赋能千行百业发展报告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》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发布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R].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人民网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, 2025.</a:t>
            </a:r>
            <a:b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[6]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华为云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.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从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4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K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多图融合到企业级生产力，豆包</a:t>
            </a:r>
            <a:r>
              <a:rPr lang="en" altLang="zh-CN" sz="1400" b="0" i="0" dirty="0" err="1">
                <a:solidFill>
                  <a:srgbClr val="0F1115"/>
                </a:solidFill>
                <a:effectLst/>
                <a:latin typeface="quote-cjk-patch"/>
              </a:rPr>
              <a:t>Seedream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 4.0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技术解析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EB/OL]. 2025-11-20.</a:t>
            </a:r>
            <a:b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[7]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智源研究院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.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多模态模型评测榜单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Z]. 2024-12-20.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GrpSpPr/>
          <p:nvPr/>
        </p:nvGrpSpPr>
        <p:grpSpPr>
          <a:xfrm>
            <a:off x="9754974" y="-504229"/>
            <a:ext cx="2802364" cy="1960957"/>
            <a:chOff x="7578656" y="664712"/>
            <a:chExt cx="2802364" cy="1960957"/>
          </a:xfrm>
        </p:grpSpPr>
        <p:sp>
          <p:nvSpPr>
            <p:cNvPr id="30" name="矩形 29"/>
            <p:cNvSpPr/>
            <p:nvPr/>
          </p:nvSpPr>
          <p:spPr>
            <a:xfrm>
              <a:off x="7608912" y="664712"/>
              <a:ext cx="1342797" cy="1445260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 algn="dist"/>
              <a:endParaRPr lang="zh-CN" altLang="en-US" sz="8800" dirty="0">
                <a:solidFill>
                  <a:schemeClr val="bg2">
                    <a:lumMod val="10000"/>
                  </a:schemeClr>
                </a:solidFill>
                <a:latin typeface="康煕字典體(Demo)" pitchFamily="2" charset="-120"/>
                <a:ea typeface="康煕字典體(Demo)" pitchFamily="2" charset="-120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7578656" y="814209"/>
              <a:ext cx="905730" cy="905730"/>
            </a:xfrm>
            <a:prstGeom prst="ellipse">
              <a:avLst/>
            </a:prstGeom>
            <a:noFill/>
            <a:ln w="25400">
              <a:solidFill>
                <a:srgbClr val="FCC9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9475290" y="1719939"/>
              <a:ext cx="905730" cy="905730"/>
            </a:xfrm>
            <a:prstGeom prst="ellipse">
              <a:avLst/>
            </a:prstGeom>
            <a:noFill/>
            <a:ln w="25400">
              <a:solidFill>
                <a:srgbClr val="FCC9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6819368" y="2148376"/>
            <a:ext cx="2579465" cy="64633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dist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康煕字典體(Demo)" pitchFamily="2" charset="-120"/>
                <a:ea typeface="宋体" panose="02010600030101010101" pitchFamily="2" charset="-122"/>
              </a:rPr>
              <a:t>机遇与问题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477E7E-3246-00F0-8394-497F01094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142" y="3186131"/>
            <a:ext cx="565963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机遇</a:t>
            </a:r>
            <a:r>
              <a:rPr kumimoji="0" lang="zh-CN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：效率、普及创作、产业升级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问题</a:t>
            </a:r>
            <a:r>
              <a:rPr kumimoji="0" lang="zh-CN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：伦理、隐私、成本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1AD26D-236F-34E9-A1EA-7695CB8C9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37" y="1456728"/>
            <a:ext cx="5839514" cy="390999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E978B08-92CE-1B1C-59DD-D908D415D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294" y="2358913"/>
            <a:ext cx="3352800" cy="2667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8D0AD88-C615-B429-B4D2-06F552E56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30434"/>
            <a:ext cx="6072472" cy="16520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2BFA4C6-D3F6-D370-4674-A438F3FF00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3494" y="2536713"/>
            <a:ext cx="3403600" cy="2489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CC4800-DD99-8CC8-81F7-D4DF8150F93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6864"/>
          <a:stretch>
            <a:fillRect/>
          </a:stretch>
        </p:blipFill>
        <p:spPr>
          <a:xfrm>
            <a:off x="-150809" y="3034122"/>
            <a:ext cx="6332205" cy="167879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BFF9A3B-EFA0-B09F-B7EF-79ED7E324283}"/>
              </a:ext>
            </a:extLst>
          </p:cNvPr>
          <p:cNvSpPr txBox="1"/>
          <p:nvPr/>
        </p:nvSpPr>
        <p:spPr>
          <a:xfrm>
            <a:off x="92854" y="5466004"/>
            <a:ext cx="110351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[8]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张新新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孟轶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. 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Sora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驱动下的融合出版新技术新业态新模式分析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J].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中国编辑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, 2024(4): 29-36.</a:t>
            </a:r>
            <a:b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[9]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陈永伟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.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超越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ChatGPT</a:t>
            </a:r>
            <a:r>
              <a:rPr lang="zh-CN" altLang="en" sz="1400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生成式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AI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的机遇、风险与挑战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J].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山东大学学报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, 2023(03): 127-143.</a:t>
            </a:r>
            <a:b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[10]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安徽机关事务管理局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.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安徽政务服务牵手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DeepSeek</a:t>
            </a:r>
            <a:r>
              <a:rPr lang="zh-CN" altLang="en" sz="1400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工作有助手，办事当帮手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EB/OL]. 2025.</a:t>
            </a:r>
            <a:b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[11] 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Bishop C M. Pattern recognition and machine learning[M]. Springer, 2006: 128-135.</a:t>
            </a:r>
            <a:b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[12] 《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中华人民共和国个人信息保护法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》[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Z]. 2021-11-01.</a:t>
            </a:r>
            <a:b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[13]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字节跳动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. </a:t>
            </a:r>
            <a:r>
              <a:rPr lang="en" altLang="zh-CN" sz="1400" b="0" i="0" dirty="0" err="1">
                <a:solidFill>
                  <a:srgbClr val="0F1115"/>
                </a:solidFill>
                <a:effectLst/>
                <a:latin typeface="quote-cjk-patch"/>
              </a:rPr>
              <a:t>Seedream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 4.0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图像创作模型技术白皮书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R]. 2025-09-09.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C:/Users/Yuki/Desktop/ppt模板/mmexport1728016888018.jpgmmexport1728016888018"/>
          <p:cNvPicPr>
            <a:picLocks noChangeAspect="1"/>
          </p:cNvPicPr>
          <p:nvPr/>
        </p:nvPicPr>
        <p:blipFill rotWithShape="1">
          <a:blip r:embed="rId3"/>
          <a:srcRect t="1864" b="1864"/>
          <a:stretch>
            <a:fillRect/>
          </a:stretch>
        </p:blipFill>
        <p:spPr>
          <a:xfrm>
            <a:off x="6091873" y="479168"/>
            <a:ext cx="5660574" cy="5902582"/>
          </a:xfrm>
          <a:prstGeom prst="rect">
            <a:avLst/>
          </a:prstGeom>
        </p:spPr>
      </p:pic>
      <p:grpSp>
        <p:nvGrpSpPr>
          <p:cNvPr id="2" name="组合 1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GrpSpPr/>
          <p:nvPr/>
        </p:nvGrpSpPr>
        <p:grpSpPr>
          <a:xfrm>
            <a:off x="442913" y="1554480"/>
            <a:ext cx="11313160" cy="3750310"/>
            <a:chOff x="335280" y="339724"/>
            <a:chExt cx="8484870" cy="4464051"/>
          </a:xfrm>
        </p:grpSpPr>
        <p:sp>
          <p:nvSpPr>
            <p:cNvPr id="3" name="矩形 2"/>
            <p:cNvSpPr/>
            <p:nvPr/>
          </p:nvSpPr>
          <p:spPr>
            <a:xfrm>
              <a:off x="335280" y="339725"/>
              <a:ext cx="8484870" cy="4464050"/>
            </a:xfrm>
            <a:prstGeom prst="rect">
              <a:avLst/>
            </a:prstGeom>
            <a:solidFill>
              <a:srgbClr val="ECED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4" name="矩形 3"/>
            <p:cNvSpPr/>
            <p:nvPr/>
          </p:nvSpPr>
          <p:spPr>
            <a:xfrm>
              <a:off x="4259580" y="339724"/>
              <a:ext cx="312420" cy="4464051"/>
            </a:xfrm>
            <a:prstGeom prst="rect">
              <a:avLst/>
            </a:prstGeom>
            <a:gradFill flip="none" rotWithShape="1">
              <a:gsLst>
                <a:gs pos="33000">
                  <a:srgbClr val="ECEDEA"/>
                </a:gs>
                <a:gs pos="100000">
                  <a:schemeClr val="bg1">
                    <a:lumMod val="8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4" name="矩形 13"/>
          <p:cNvSpPr/>
          <p:nvPr/>
        </p:nvSpPr>
        <p:spPr>
          <a:xfrm>
            <a:off x="1997266" y="1715042"/>
            <a:ext cx="2305494" cy="584775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dist"/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康煕字典體(Demo)" pitchFamily="2" charset="-120"/>
                <a:ea typeface="宋体" panose="02010600030101010101" pitchFamily="2" charset="-122"/>
              </a:rPr>
              <a:t>总结与评价</a:t>
            </a:r>
          </a:p>
        </p:txBody>
      </p:sp>
      <p:grpSp>
        <p:nvGrpSpPr>
          <p:cNvPr id="26" name="组合 25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GrpSpPr/>
          <p:nvPr/>
        </p:nvGrpSpPr>
        <p:grpSpPr>
          <a:xfrm>
            <a:off x="4574769" y="5724802"/>
            <a:ext cx="1037620" cy="414670"/>
            <a:chOff x="4810295" y="5562618"/>
            <a:chExt cx="1037620" cy="414670"/>
          </a:xfrm>
        </p:grpSpPr>
        <p:sp>
          <p:nvSpPr>
            <p:cNvPr id="24" name="矩形 23"/>
            <p:cNvSpPr/>
            <p:nvPr/>
          </p:nvSpPr>
          <p:spPr>
            <a:xfrm>
              <a:off x="4810295" y="5562618"/>
              <a:ext cx="414670" cy="414670"/>
            </a:xfrm>
            <a:prstGeom prst="rect">
              <a:avLst/>
            </a:prstGeom>
            <a:noFill/>
            <a:ln w="25400">
              <a:solidFill>
                <a:srgbClr val="FCC9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5433245" y="5562618"/>
              <a:ext cx="414670" cy="414670"/>
            </a:xfrm>
            <a:prstGeom prst="rect">
              <a:avLst/>
            </a:prstGeom>
            <a:solidFill>
              <a:srgbClr val="FCC95D"/>
            </a:solidFill>
            <a:ln w="25400">
              <a:solidFill>
                <a:srgbClr val="FCC9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GrpSpPr/>
          <p:nvPr/>
        </p:nvGrpSpPr>
        <p:grpSpPr>
          <a:xfrm>
            <a:off x="2695789" y="5724802"/>
            <a:ext cx="1037620" cy="414670"/>
            <a:chOff x="4810295" y="5562618"/>
            <a:chExt cx="1037620" cy="414670"/>
          </a:xfrm>
        </p:grpSpPr>
        <p:sp>
          <p:nvSpPr>
            <p:cNvPr id="28" name="矩形 27"/>
            <p:cNvSpPr/>
            <p:nvPr/>
          </p:nvSpPr>
          <p:spPr>
            <a:xfrm>
              <a:off x="4810295" y="5562618"/>
              <a:ext cx="414670" cy="414670"/>
            </a:xfrm>
            <a:prstGeom prst="rect">
              <a:avLst/>
            </a:prstGeom>
            <a:noFill/>
            <a:ln w="25400">
              <a:solidFill>
                <a:srgbClr val="FCC9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5433245" y="5562618"/>
              <a:ext cx="414670" cy="414670"/>
            </a:xfrm>
            <a:prstGeom prst="rect">
              <a:avLst/>
            </a:prstGeom>
            <a:solidFill>
              <a:srgbClr val="FCC95D"/>
            </a:solidFill>
            <a:ln w="25400">
              <a:solidFill>
                <a:srgbClr val="FCC9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GrpSpPr/>
          <p:nvPr/>
        </p:nvGrpSpPr>
        <p:grpSpPr>
          <a:xfrm>
            <a:off x="816809" y="5724802"/>
            <a:ext cx="1037620" cy="414670"/>
            <a:chOff x="4810295" y="5562618"/>
            <a:chExt cx="1037620" cy="414670"/>
          </a:xfrm>
        </p:grpSpPr>
        <p:sp>
          <p:nvSpPr>
            <p:cNvPr id="31" name="矩形 30"/>
            <p:cNvSpPr/>
            <p:nvPr/>
          </p:nvSpPr>
          <p:spPr>
            <a:xfrm>
              <a:off x="4810295" y="5562618"/>
              <a:ext cx="414670" cy="414670"/>
            </a:xfrm>
            <a:prstGeom prst="rect">
              <a:avLst/>
            </a:prstGeom>
            <a:noFill/>
            <a:ln w="25400">
              <a:solidFill>
                <a:srgbClr val="FCC9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5433245" y="5562618"/>
              <a:ext cx="414670" cy="414670"/>
            </a:xfrm>
            <a:prstGeom prst="rect">
              <a:avLst/>
            </a:prstGeom>
            <a:solidFill>
              <a:srgbClr val="FCC95D"/>
            </a:solidFill>
            <a:ln w="25400">
              <a:solidFill>
                <a:srgbClr val="FCC9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12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SpPr/>
          <p:nvPr/>
        </p:nvSpPr>
        <p:spPr>
          <a:xfrm>
            <a:off x="431800" y="452968"/>
            <a:ext cx="2494280" cy="908473"/>
          </a:xfrm>
          <a:prstGeom prst="rect">
            <a:avLst/>
          </a:prstGeom>
          <a:solidFill>
            <a:srgbClr val="FCC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矩形 5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SpPr/>
          <p:nvPr/>
        </p:nvSpPr>
        <p:spPr>
          <a:xfrm>
            <a:off x="1534792" y="558389"/>
            <a:ext cx="2767968" cy="666115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dist"/>
            <a:r>
              <a:rPr lang="en-US" altLang="zh-CN" sz="3735" b="1" dirty="0">
                <a:solidFill>
                  <a:schemeClr val="tx1">
                    <a:lumMod val="85000"/>
                    <a:lumOff val="15000"/>
                  </a:schemeClr>
                </a:solidFill>
                <a:latin typeface="Avenir Next Demi Bold" panose="020B0503020202020204" pitchFamily="34" charset="0"/>
                <a:ea typeface="康煕字典體(Demo)" pitchFamily="2" charset="-120"/>
              </a:rPr>
              <a:t>TONGJI</a:t>
            </a:r>
            <a:endParaRPr lang="zh-CN" altLang="en-US" sz="3735" b="1" dirty="0">
              <a:solidFill>
                <a:schemeClr val="tx1">
                  <a:lumMod val="85000"/>
                  <a:lumOff val="15000"/>
                </a:schemeClr>
              </a:solidFill>
              <a:latin typeface="Avenir Next Demi Bold" panose="020B0503020202020204" pitchFamily="34" charset="0"/>
              <a:ea typeface="康煕字典體(Demo)" pitchFamily="2" charset="-12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CA4235-36A8-262B-6052-B38A3C5E7592}"/>
              </a:ext>
            </a:extLst>
          </p:cNvPr>
          <p:cNvSpPr txBox="1"/>
          <p:nvPr/>
        </p:nvSpPr>
        <p:spPr>
          <a:xfrm>
            <a:off x="1997266" y="2344078"/>
            <a:ext cx="610099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重塑方式</a:t>
            </a:r>
            <a:endParaRPr lang="en-US" altLang="zh-C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效率红利</a:t>
            </a:r>
            <a:endParaRPr lang="en-US" altLang="zh-C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治理挑战</a:t>
            </a:r>
            <a:endParaRPr lang="en-US" altLang="zh-C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持续观察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32853C2-3215-CA34-2FEB-411C49494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337" y="2200463"/>
            <a:ext cx="3009900" cy="13335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2378A5D-5DDC-E1B1-9FBB-288FCEE3C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9481" y="3646449"/>
            <a:ext cx="3048000" cy="6096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E5DB0A8-00C3-4187-FA19-D051C69AFF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4881" y="4356375"/>
            <a:ext cx="3022600" cy="2921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25E389E-4C31-C822-0288-8F615BE156D2}"/>
              </a:ext>
            </a:extLst>
          </p:cNvPr>
          <p:cNvSpPr txBox="1"/>
          <p:nvPr/>
        </p:nvSpPr>
        <p:spPr>
          <a:xfrm>
            <a:off x="431800" y="4530799"/>
            <a:ext cx="853082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[14]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国家网信办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. 《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生成式人工智能服务管理暂行办法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》[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Z]. 2023-07-13.</a:t>
            </a:r>
            <a:b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[15]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央视网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. 《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人工智能生成合成内容标识办法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》[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Z]. 2025-09-02.</a:t>
            </a:r>
            <a:b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[16] </a:t>
            </a:r>
            <a:r>
              <a:rPr lang="en" altLang="zh-CN" sz="1400" b="0" i="0" dirty="0" err="1">
                <a:solidFill>
                  <a:srgbClr val="0F1115"/>
                </a:solidFill>
                <a:effectLst/>
                <a:latin typeface="quote-cjk-patch"/>
              </a:rPr>
              <a:t>Shneiderman</a:t>
            </a:r>
            <a:r>
              <a:rPr lang="en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 B. Human-Centered AI[M]. Oxford University Press, 2022: 156-162</a:t>
            </a:r>
            <a:r>
              <a:rPr lang="en" altLang="zh-CN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>
              <a:buNone/>
            </a:pPr>
            <a:br>
              <a:rPr lang="en" altLang="zh-CN" dirty="0"/>
            </a:b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3230" y="306705"/>
            <a:ext cx="11313795" cy="6259195"/>
          </a:xfrm>
          <a:prstGeom prst="rect">
            <a:avLst/>
          </a:prstGeom>
        </p:spPr>
      </p:pic>
      <p:grpSp>
        <p:nvGrpSpPr>
          <p:cNvPr id="7" name="组合 6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GrpSpPr/>
          <p:nvPr/>
        </p:nvGrpSpPr>
        <p:grpSpPr>
          <a:xfrm>
            <a:off x="442913" y="2271858"/>
            <a:ext cx="7635857" cy="2328421"/>
            <a:chOff x="332184" y="338931"/>
            <a:chExt cx="5726892" cy="4464845"/>
          </a:xfrm>
        </p:grpSpPr>
        <p:sp>
          <p:nvSpPr>
            <p:cNvPr id="8" name="矩形 7"/>
            <p:cNvSpPr/>
            <p:nvPr/>
          </p:nvSpPr>
          <p:spPr>
            <a:xfrm>
              <a:off x="332184" y="338931"/>
              <a:ext cx="5726892" cy="4464050"/>
            </a:xfrm>
            <a:prstGeom prst="rect">
              <a:avLst/>
            </a:prstGeom>
            <a:solidFill>
              <a:srgbClr val="FCC9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9" name="矩形 8"/>
            <p:cNvSpPr/>
            <p:nvPr/>
          </p:nvSpPr>
          <p:spPr>
            <a:xfrm>
              <a:off x="4259580" y="339726"/>
              <a:ext cx="312420" cy="4464050"/>
            </a:xfrm>
            <a:prstGeom prst="rect">
              <a:avLst/>
            </a:prstGeom>
            <a:gradFill flip="none" rotWithShape="1">
              <a:gsLst>
                <a:gs pos="10000">
                  <a:srgbClr val="FCC95D"/>
                </a:gs>
                <a:gs pos="54000">
                  <a:srgbClr val="FBC03B"/>
                </a:gs>
                <a:gs pos="100000">
                  <a:srgbClr val="FBB51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0" name="矩形 9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SpPr/>
          <p:nvPr/>
        </p:nvSpPr>
        <p:spPr>
          <a:xfrm>
            <a:off x="666468" y="2335324"/>
            <a:ext cx="7188745" cy="1569660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dist"/>
            <a:r>
              <a:rPr lang="zh-CN" altLang="en-US" sz="96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感谢观看</a:t>
            </a:r>
          </a:p>
        </p:txBody>
      </p:sp>
      <p:sp>
        <p:nvSpPr>
          <p:cNvPr id="11" name="矩形 10" descr="e7d195523061f1c0092ce48a5fc95870a0687ac45bc8b2caB227BFDC40F9DB2B7A559DE97B8BDC6E716585DDCE188C7BF488BAA08C98985C74A3E1B5E305210FABE6A8AE2A6A8AB67019A6860E9B7AF504D1E8F9C5C0F93959258F367377361EC1B0C56C458AA00F21DB2A3BC674EA8806358EEAF49A4D0F97243821603B0E475898B55C2170C5BC5A4CC0F2F91A8482"/>
          <p:cNvSpPr/>
          <p:nvPr/>
        </p:nvSpPr>
        <p:spPr>
          <a:xfrm>
            <a:off x="2251075" y="4012565"/>
            <a:ext cx="39490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400" cap="all" dirty="0">
                <a:latin typeface="Times New Roman" panose="02020603050405020304" pitchFamily="18" charset="0"/>
                <a:ea typeface="★日文毛笔行书" panose="03000509000000000000" pitchFamily="65" charset="-128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13" name="图片 12" descr="无背景logo白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538970" y="397510"/>
            <a:ext cx="1963420" cy="99758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hmNjAzMWJlZjFkMmQwODUwMTJkYzE2ODFiYmFmYT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563</Words>
  <Application>Microsoft Macintosh PowerPoint</Application>
  <PresentationFormat>宽屏</PresentationFormat>
  <Paragraphs>39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quote-cjk-patch</vt:lpstr>
      <vt:lpstr>Avenir Next Demi Bold</vt:lpstr>
      <vt:lpstr>Microsoft YaHei</vt:lpstr>
      <vt:lpstr>康煕字典體(Demo)</vt:lpstr>
      <vt:lpstr>Times New Roman</vt:lpstr>
      <vt:lpstr>SimSun</vt:lpstr>
      <vt:lpstr>Microsoft YaHei</vt:lpstr>
      <vt:lpstr>苏新诗柳楷简</vt:lpstr>
      <vt:lpstr>Calibri Light</vt:lpstr>
      <vt:lpstr>华文中宋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宁波麦婕电子商务有限公司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http://www.cssc365.com</dc:subject>
  <dc:creator/>
  <dc:description>http://www.cssc365.com</dc:description>
  <cp:revision>28</cp:revision>
  <dcterms:created xsi:type="dcterms:W3CDTF">2017-06-13T08:44:00Z</dcterms:created>
  <dcterms:modified xsi:type="dcterms:W3CDTF">2025-12-24T12:32:16Z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FDA7D370D1EE4EFAA158F8D63C3CA38C_13</vt:lpwstr>
  </property>
</Properties>
</file>